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19.xml" ContentType="application/vnd.openxmlformats-officedocument.drawingml.chart+xml"/>
  <Override PartName="/ppt/charts/chart22.xml" ContentType="application/vnd.openxmlformats-officedocument.drawingml.chart+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charts/chart229.xml" ContentType="application/vnd.openxmlformats-officedocument.drawingml.chart+xml"/>
  <Override PartName="/ppt/charts/chart23.xml" ContentType="application/vnd.openxmlformats-officedocument.drawingml.chart+xml"/>
  <Override PartName="/ppt/charts/chart230.xml" ContentType="application/vnd.openxmlformats-officedocument.drawingml.chart+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charts/chart239.xml" ContentType="application/vnd.openxmlformats-officedocument.drawingml.chart+xml"/>
  <Override PartName="/ppt/charts/chart24.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chart247.xml" ContentType="application/vnd.openxmlformats-officedocument.drawingml.chart+xml"/>
  <Override PartName="/ppt/charts/chart248.xml" ContentType="application/vnd.openxmlformats-officedocument.drawingml.chart+xml"/>
  <Override PartName="/ppt/charts/chart249.xml" ContentType="application/vnd.openxmlformats-officedocument.drawingml.chart+xml"/>
  <Override PartName="/ppt/charts/chart25.xml" ContentType="application/vnd.openxmlformats-officedocument.drawingml.chart+xml"/>
  <Override PartName="/ppt/charts/chart250.xml" ContentType="application/vnd.openxmlformats-officedocument.drawingml.chart+xml"/>
  <Override PartName="/ppt/charts/chart251.xml" ContentType="application/vnd.openxmlformats-officedocument.drawingml.chart+xml"/>
  <Override PartName="/ppt/charts/chart252.xml" ContentType="application/vnd.openxmlformats-officedocument.drawingml.chart+xml"/>
  <Override PartName="/ppt/charts/chart253.xml" ContentType="application/vnd.openxmlformats-officedocument.drawingml.chart+xml"/>
  <Override PartName="/ppt/charts/chart254.xml" ContentType="application/vnd.openxmlformats-officedocument.drawingml.chart+xml"/>
  <Override PartName="/ppt/charts/chart255.xml" ContentType="application/vnd.openxmlformats-officedocument.drawingml.chart+xml"/>
  <Override PartName="/ppt/charts/chart256.xml" ContentType="application/vnd.openxmlformats-officedocument.drawingml.chart+xml"/>
  <Override PartName="/ppt/charts/chart257.xml" ContentType="application/vnd.openxmlformats-officedocument.drawingml.chart+xml"/>
  <Override PartName="/ppt/charts/chart258.xml" ContentType="application/vnd.openxmlformats-officedocument.drawingml.chart+xml"/>
  <Override PartName="/ppt/charts/chart259.xml" ContentType="application/vnd.openxmlformats-officedocument.drawingml.chart+xml"/>
  <Override PartName="/ppt/charts/chart26.xml" ContentType="application/vnd.openxmlformats-officedocument.drawingml.chart+xml"/>
  <Override PartName="/ppt/charts/chart260.xml" ContentType="application/vnd.openxmlformats-officedocument.drawingml.chart+xml"/>
  <Override PartName="/ppt/charts/chart261.xml" ContentType="application/vnd.openxmlformats-officedocument.drawingml.chart+xml"/>
  <Override PartName="/ppt/charts/chart262.xml" ContentType="application/vnd.openxmlformats-officedocument.drawingml.chart+xml"/>
  <Override PartName="/ppt/charts/chart263.xml" ContentType="application/vnd.openxmlformats-officedocument.drawingml.chart+xml"/>
  <Override PartName="/ppt/charts/chart264.xml" ContentType="application/vnd.openxmlformats-officedocument.drawingml.chart+xml"/>
  <Override PartName="/ppt/charts/chart265.xml" ContentType="application/vnd.openxmlformats-officedocument.drawingml.chart+xml"/>
  <Override PartName="/ppt/charts/chart266.xml" ContentType="application/vnd.openxmlformats-officedocument.drawingml.chart+xml"/>
  <Override PartName="/ppt/charts/chart267.xml" ContentType="application/vnd.openxmlformats-officedocument.drawingml.chart+xml"/>
  <Override PartName="/ppt/charts/chart268.xml" ContentType="application/vnd.openxmlformats-officedocument.drawingml.chart+xml"/>
  <Override PartName="/ppt/charts/chart269.xml" ContentType="application/vnd.openxmlformats-officedocument.drawingml.chart+xml"/>
  <Override PartName="/ppt/charts/chart27.xml" ContentType="application/vnd.openxmlformats-officedocument.drawingml.chart+xml"/>
  <Override PartName="/ppt/charts/chart270.xml" ContentType="application/vnd.openxmlformats-officedocument.drawingml.chart+xml"/>
  <Override PartName="/ppt/charts/chart271.xml" ContentType="application/vnd.openxmlformats-officedocument.drawingml.chart+xml"/>
  <Override PartName="/ppt/charts/chart272.xml" ContentType="application/vnd.openxmlformats-officedocument.drawingml.chart+xml"/>
  <Override PartName="/ppt/charts/chart273.xml" ContentType="application/vnd.openxmlformats-officedocument.drawingml.chart+xml"/>
  <Override PartName="/ppt/charts/chart274.xml" ContentType="application/vnd.openxmlformats-officedocument.drawingml.chart+xml"/>
  <Override PartName="/ppt/charts/chart275.xml" ContentType="application/vnd.openxmlformats-officedocument.drawingml.chart+xml"/>
  <Override PartName="/ppt/charts/chart276.xml" ContentType="application/vnd.openxmlformats-officedocument.drawingml.chart+xml"/>
  <Override PartName="/ppt/charts/chart277.xml" ContentType="application/vnd.openxmlformats-officedocument.drawingml.chart+xml"/>
  <Override PartName="/ppt/charts/chart278.xml" ContentType="application/vnd.openxmlformats-officedocument.drawingml.chart+xml"/>
  <Override PartName="/ppt/charts/chart279.xml" ContentType="application/vnd.openxmlformats-officedocument.drawingml.chart+xml"/>
  <Override PartName="/ppt/charts/chart28.xml" ContentType="application/vnd.openxmlformats-officedocument.drawingml.chart+xml"/>
  <Override PartName="/ppt/charts/chart280.xml" ContentType="application/vnd.openxmlformats-officedocument.drawingml.chart+xml"/>
  <Override PartName="/ppt/charts/chart281.xml" ContentType="application/vnd.openxmlformats-officedocument.drawingml.chart+xml"/>
  <Override PartName="/ppt/charts/chart282.xml" ContentType="application/vnd.openxmlformats-officedocument.drawingml.chart+xml"/>
  <Override PartName="/ppt/charts/chart283.xml" ContentType="application/vnd.openxmlformats-officedocument.drawingml.chart+xml"/>
  <Override PartName="/ppt/charts/chart284.xml" ContentType="application/vnd.openxmlformats-officedocument.drawingml.chart+xml"/>
  <Override PartName="/ppt/charts/chart285.xml" ContentType="application/vnd.openxmlformats-officedocument.drawingml.chart+xml"/>
  <Override PartName="/ppt/charts/chart286.xml" ContentType="application/vnd.openxmlformats-officedocument.drawingml.chart+xml"/>
  <Override PartName="/ppt/charts/chart287.xml" ContentType="application/vnd.openxmlformats-officedocument.drawingml.chart+xml"/>
  <Override PartName="/ppt/charts/chart288.xml" ContentType="application/vnd.openxmlformats-officedocument.drawingml.chart+xml"/>
  <Override PartName="/ppt/charts/chart289.xml" ContentType="application/vnd.openxmlformats-officedocument.drawingml.chart+xml"/>
  <Override PartName="/ppt/charts/chart29.xml" ContentType="application/vnd.openxmlformats-officedocument.drawingml.chart+xml"/>
  <Override PartName="/ppt/charts/chart290.xml" ContentType="application/vnd.openxmlformats-officedocument.drawingml.chart+xml"/>
  <Override PartName="/ppt/charts/chart291.xml" ContentType="application/vnd.openxmlformats-officedocument.drawingml.chart+xml"/>
  <Override PartName="/ppt/charts/chart292.xml" ContentType="application/vnd.openxmlformats-officedocument.drawingml.chart+xml"/>
  <Override PartName="/ppt/charts/chart293.xml" ContentType="application/vnd.openxmlformats-officedocument.drawingml.chart+xml"/>
  <Override PartName="/ppt/charts/chart294.xml" ContentType="application/vnd.openxmlformats-officedocument.drawingml.chart+xml"/>
  <Override PartName="/ppt/charts/chart295.xml" ContentType="application/vnd.openxmlformats-officedocument.drawingml.chart+xml"/>
  <Override PartName="/ppt/charts/chart296.xml" ContentType="application/vnd.openxmlformats-officedocument.drawingml.chart+xml"/>
  <Override PartName="/ppt/charts/chart297.xml" ContentType="application/vnd.openxmlformats-officedocument.drawingml.chart+xml"/>
  <Override PartName="/ppt/charts/chart298.xml" ContentType="application/vnd.openxmlformats-officedocument.drawingml.chart+xml"/>
  <Override PartName="/ppt/charts/chart29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00.xml" ContentType="application/vnd.openxmlformats-officedocument.drawingml.chart+xml"/>
  <Override PartName="/ppt/charts/chart301.xml" ContentType="application/vnd.openxmlformats-officedocument.drawingml.chart+xml"/>
  <Override PartName="/ppt/charts/chart302.xml" ContentType="application/vnd.openxmlformats-officedocument.drawingml.chart+xml"/>
  <Override PartName="/ppt/charts/chart303.xml" ContentType="application/vnd.openxmlformats-officedocument.drawingml.chart+xml"/>
  <Override PartName="/ppt/charts/chart304.xml" ContentType="application/vnd.openxmlformats-officedocument.drawingml.chart+xml"/>
  <Override PartName="/ppt/charts/chart305.xml" ContentType="application/vnd.openxmlformats-officedocument.drawingml.chart+xml"/>
  <Override PartName="/ppt/charts/chart306.xml" ContentType="application/vnd.openxmlformats-officedocument.drawingml.chart+xml"/>
  <Override PartName="/ppt/charts/chart307.xml" ContentType="application/vnd.openxmlformats-officedocument.drawingml.chart+xml"/>
  <Override PartName="/ppt/charts/chart308.xml" ContentType="application/vnd.openxmlformats-officedocument.drawingml.chart+xml"/>
  <Override PartName="/ppt/charts/chart309.xml" ContentType="application/vnd.openxmlformats-officedocument.drawingml.chart+xml"/>
  <Override PartName="/ppt/charts/chart31.xml" ContentType="application/vnd.openxmlformats-officedocument.drawingml.chart+xml"/>
  <Override PartName="/ppt/charts/chart310.xml" ContentType="application/vnd.openxmlformats-officedocument.drawingml.chart+xml"/>
  <Override PartName="/ppt/charts/chart311.xml" ContentType="application/vnd.openxmlformats-officedocument.drawingml.chart+xml"/>
  <Override PartName="/ppt/charts/chart312.xml" ContentType="application/vnd.openxmlformats-officedocument.drawingml.chart+xml"/>
  <Override PartName="/ppt/charts/chart313.xml" ContentType="application/vnd.openxmlformats-officedocument.drawingml.chart+xml"/>
  <Override PartName="/ppt/charts/chart314.xml" ContentType="application/vnd.openxmlformats-officedocument.drawingml.chart+xml"/>
  <Override PartName="/ppt/charts/chart315.xml" ContentType="application/vnd.openxmlformats-officedocument.drawingml.chart+xml"/>
  <Override PartName="/ppt/charts/chart316.xml" ContentType="application/vnd.openxmlformats-officedocument.drawingml.chart+xml"/>
  <Override PartName="/ppt/charts/chart317.xml" ContentType="application/vnd.openxmlformats-officedocument.drawingml.chart+xml"/>
  <Override PartName="/ppt/charts/chart318.xml" ContentType="application/vnd.openxmlformats-officedocument.drawingml.chart+xml"/>
  <Override PartName="/ppt/charts/chart319.xml" ContentType="application/vnd.openxmlformats-officedocument.drawingml.chart+xml"/>
  <Override PartName="/ppt/charts/chart32.xml" ContentType="application/vnd.openxmlformats-officedocument.drawingml.chart+xml"/>
  <Override PartName="/ppt/charts/chart320.xml" ContentType="application/vnd.openxmlformats-officedocument.drawingml.chart+xml"/>
  <Override PartName="/ppt/charts/chart321.xml" ContentType="application/vnd.openxmlformats-officedocument.drawingml.chart+xml"/>
  <Override PartName="/ppt/charts/chart322.xml" ContentType="application/vnd.openxmlformats-officedocument.drawingml.chart+xml"/>
  <Override PartName="/ppt/charts/chart323.xml" ContentType="application/vnd.openxmlformats-officedocument.drawingml.chart+xml"/>
  <Override PartName="/ppt/charts/chart324.xml" ContentType="application/vnd.openxmlformats-officedocument.drawingml.chart+xml"/>
  <Override PartName="/ppt/charts/chart325.xml" ContentType="application/vnd.openxmlformats-officedocument.drawingml.chart+xml"/>
  <Override PartName="/ppt/charts/chart326.xml" ContentType="application/vnd.openxmlformats-officedocument.drawingml.chart+xml"/>
  <Override PartName="/ppt/charts/chart327.xml" ContentType="application/vnd.openxmlformats-officedocument.drawingml.chart+xml"/>
  <Override PartName="/ppt/charts/chart328.xml" ContentType="application/vnd.openxmlformats-officedocument.drawingml.chart+xml"/>
  <Override PartName="/ppt/charts/chart329.xml" ContentType="application/vnd.openxmlformats-officedocument.drawingml.chart+xml"/>
  <Override PartName="/ppt/charts/chart33.xml" ContentType="application/vnd.openxmlformats-officedocument.drawingml.chart+xml"/>
  <Override PartName="/ppt/charts/chart330.xml" ContentType="application/vnd.openxmlformats-officedocument.drawingml.chart+xml"/>
  <Override PartName="/ppt/charts/chart331.xml" ContentType="application/vnd.openxmlformats-officedocument.drawingml.chart+xml"/>
  <Override PartName="/ppt/charts/chart332.xml" ContentType="application/vnd.openxmlformats-officedocument.drawingml.chart+xml"/>
  <Override PartName="/ppt/charts/chart333.xml" ContentType="application/vnd.openxmlformats-officedocument.drawingml.chart+xml"/>
  <Override PartName="/ppt/charts/chart334.xml" ContentType="application/vnd.openxmlformats-officedocument.drawingml.chart+xml"/>
  <Override PartName="/ppt/charts/chart335.xml" ContentType="application/vnd.openxmlformats-officedocument.drawingml.chart+xml"/>
  <Override PartName="/ppt/charts/chart336.xml" ContentType="application/vnd.openxmlformats-officedocument.drawingml.chart+xml"/>
  <Override PartName="/ppt/charts/chart337.xml" ContentType="application/vnd.openxmlformats-officedocument.drawingml.chart+xml"/>
  <Override PartName="/ppt/charts/chart338.xml" ContentType="application/vnd.openxmlformats-officedocument.drawingml.chart+xml"/>
  <Override PartName="/ppt/charts/chart339.xml" ContentType="application/vnd.openxmlformats-officedocument.drawingml.chart+xml"/>
  <Override PartName="/ppt/charts/chart34.xml" ContentType="application/vnd.openxmlformats-officedocument.drawingml.chart+xml"/>
  <Override PartName="/ppt/charts/chart340.xml" ContentType="application/vnd.openxmlformats-officedocument.drawingml.chart+xml"/>
  <Override PartName="/ppt/charts/chart341.xml" ContentType="application/vnd.openxmlformats-officedocument.drawingml.chart+xml"/>
  <Override PartName="/ppt/charts/chart342.xml" ContentType="application/vnd.openxmlformats-officedocument.drawingml.chart+xml"/>
  <Override PartName="/ppt/charts/chart343.xml" ContentType="application/vnd.openxmlformats-officedocument.drawingml.chart+xml"/>
  <Override PartName="/ppt/charts/chart344.xml" ContentType="application/vnd.openxmlformats-officedocument.drawingml.chart+xml"/>
  <Override PartName="/ppt/charts/chart345.xml" ContentType="application/vnd.openxmlformats-officedocument.drawingml.chart+xml"/>
  <Override PartName="/ppt/charts/chart346.xml" ContentType="application/vnd.openxmlformats-officedocument.drawingml.chart+xml"/>
  <Override PartName="/ppt/charts/chart347.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65" r:id="rId17"/>
    <p:sldId id="794" r:id="rId546"/>
    <p:sldId id="782" r:id="rId534"/>
    <p:sldId id="783" r:id="rId535"/>
    <p:sldId id="784" r:id="rId536"/>
    <p:sldId id="785" r:id="rId537"/>
    <p:sldId id="786" r:id="rId538"/>
    <p:sldId id="787" r:id="rId539"/>
    <p:sldId id="788" r:id="rId540"/>
    <p:sldId id="789" r:id="rId541"/>
    <p:sldId id="790" r:id="rId542"/>
    <p:sldId id="791" r:id="rId543"/>
    <p:sldId id="792" r:id="rId544"/>
    <p:sldId id="793" r:id="rId545"/>
    <p:sldId id="803" r:id="rId555"/>
    <p:sldId id="795" r:id="rId547"/>
    <p:sldId id="796" r:id="rId548"/>
    <p:sldId id="797" r:id="rId549"/>
    <p:sldId id="798" r:id="rId550"/>
    <p:sldId id="799" r:id="rId551"/>
    <p:sldId id="800" r:id="rId552"/>
    <p:sldId id="801" r:id="rId553"/>
    <p:sldId id="802" r:id="rId554"/>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586" r:id="rId338"/>
    <p:sldId id="587" r:id="rId339"/>
    <p:sldId id="588" r:id="rId340"/>
    <p:sldId id="589" r:id="rId341"/>
    <p:sldId id="590" r:id="rId342"/>
    <p:sldId id="591" r:id="rId343"/>
    <p:sldId id="592" r:id="rId344"/>
    <p:sldId id="593" r:id="rId345"/>
    <p:sldId id="594" r:id="rId346"/>
    <p:sldId id="595" r:id="rId347"/>
    <p:sldId id="596" r:id="rId348"/>
    <p:sldId id="597" r:id="rId349"/>
    <p:sldId id="598" r:id="rId350"/>
    <p:sldId id="599" r:id="rId351"/>
    <p:sldId id="600" r:id="rId352"/>
    <p:sldId id="601" r:id="rId353"/>
    <p:sldId id="602" r:id="rId354"/>
    <p:sldId id="603" r:id="rId355"/>
    <p:sldId id="604" r:id="rId356"/>
    <p:sldId id="605" r:id="rId357"/>
    <p:sldId id="606" r:id="rId358"/>
    <p:sldId id="607" r:id="rId359"/>
    <p:sldId id="608" r:id="rId360"/>
    <p:sldId id="609" r:id="rId361"/>
    <p:sldId id="610" r:id="rId362"/>
    <p:sldId id="611" r:id="rId363"/>
    <p:sldId id="612" r:id="rId364"/>
    <p:sldId id="613" r:id="rId365"/>
    <p:sldId id="614" r:id="rId366"/>
    <p:sldId id="615" r:id="rId367"/>
    <p:sldId id="616" r:id="rId368"/>
    <p:sldId id="617" r:id="rId369"/>
    <p:sldId id="618" r:id="rId370"/>
    <p:sldId id="619" r:id="rId371"/>
    <p:sldId id="620" r:id="rId372"/>
    <p:sldId id="621" r:id="rId373"/>
    <p:sldId id="622" r:id="rId374"/>
    <p:sldId id="623" r:id="rId375"/>
    <p:sldId id="624" r:id="rId376"/>
    <p:sldId id="625" r:id="rId377"/>
    <p:sldId id="626" r:id="rId378"/>
    <p:sldId id="627" r:id="rId379"/>
    <p:sldId id="628" r:id="rId380"/>
    <p:sldId id="629" r:id="rId381"/>
    <p:sldId id="630" r:id="rId382"/>
    <p:sldId id="631" r:id="rId383"/>
    <p:sldId id="632" r:id="rId384"/>
    <p:sldId id="633" r:id="rId385"/>
    <p:sldId id="634" r:id="rId386"/>
    <p:sldId id="635" r:id="rId387"/>
    <p:sldId id="636" r:id="rId388"/>
    <p:sldId id="637" r:id="rId389"/>
    <p:sldId id="638" r:id="rId390"/>
    <p:sldId id="639" r:id="rId391"/>
    <p:sldId id="640" r:id="rId392"/>
    <p:sldId id="641" r:id="rId393"/>
    <p:sldId id="642" r:id="rId394"/>
    <p:sldId id="643" r:id="rId395"/>
    <p:sldId id="644" r:id="rId396"/>
    <p:sldId id="645" r:id="rId397"/>
    <p:sldId id="646" r:id="rId398"/>
    <p:sldId id="647" r:id="rId399"/>
    <p:sldId id="648" r:id="rId400"/>
    <p:sldId id="649" r:id="rId401"/>
    <p:sldId id="650" r:id="rId402"/>
    <p:sldId id="651" r:id="rId403"/>
    <p:sldId id="652" r:id="rId404"/>
    <p:sldId id="653" r:id="rId405"/>
    <p:sldId id="654" r:id="rId406"/>
    <p:sldId id="655" r:id="rId407"/>
    <p:sldId id="656" r:id="rId408"/>
    <p:sldId id="657" r:id="rId409"/>
    <p:sldId id="658" r:id="rId410"/>
    <p:sldId id="659" r:id="rId411"/>
    <p:sldId id="660" r:id="rId412"/>
    <p:sldId id="661" r:id="rId413"/>
    <p:sldId id="662" r:id="rId414"/>
    <p:sldId id="663" r:id="rId415"/>
    <p:sldId id="664" r:id="rId416"/>
    <p:sldId id="665" r:id="rId417"/>
    <p:sldId id="666" r:id="rId418"/>
    <p:sldId id="667" r:id="rId419"/>
    <p:sldId id="668" r:id="rId420"/>
    <p:sldId id="669" r:id="rId421"/>
    <p:sldId id="670" r:id="rId422"/>
    <p:sldId id="671" r:id="rId423"/>
    <p:sldId id="672" r:id="rId424"/>
    <p:sldId id="673" r:id="rId425"/>
    <p:sldId id="674" r:id="rId426"/>
    <p:sldId id="675" r:id="rId427"/>
    <p:sldId id="676" r:id="rId428"/>
    <p:sldId id="677" r:id="rId429"/>
    <p:sldId id="678" r:id="rId430"/>
    <p:sldId id="679" r:id="rId431"/>
    <p:sldId id="680" r:id="rId432"/>
    <p:sldId id="681" r:id="rId433"/>
    <p:sldId id="682" r:id="rId434"/>
    <p:sldId id="683" r:id="rId435"/>
    <p:sldId id="684" r:id="rId436"/>
    <p:sldId id="685" r:id="rId437"/>
    <p:sldId id="686" r:id="rId438"/>
    <p:sldId id="687" r:id="rId439"/>
    <p:sldId id="688" r:id="rId440"/>
    <p:sldId id="689" r:id="rId441"/>
    <p:sldId id="690" r:id="rId442"/>
    <p:sldId id="691" r:id="rId443"/>
    <p:sldId id="692" r:id="rId444"/>
    <p:sldId id="693" r:id="rId445"/>
    <p:sldId id="694" r:id="rId446"/>
    <p:sldId id="695" r:id="rId447"/>
    <p:sldId id="696" r:id="rId448"/>
    <p:sldId id="697" r:id="rId449"/>
    <p:sldId id="698" r:id="rId450"/>
    <p:sldId id="699" r:id="rId451"/>
    <p:sldId id="700" r:id="rId452"/>
    <p:sldId id="701" r:id="rId453"/>
    <p:sldId id="702" r:id="rId454"/>
    <p:sldId id="703" r:id="rId455"/>
    <p:sldId id="704" r:id="rId456"/>
    <p:sldId id="705" r:id="rId457"/>
    <p:sldId id="706" r:id="rId458"/>
    <p:sldId id="707" r:id="rId459"/>
    <p:sldId id="708" r:id="rId460"/>
    <p:sldId id="709" r:id="rId461"/>
    <p:sldId id="710" r:id="rId462"/>
    <p:sldId id="711" r:id="rId463"/>
    <p:sldId id="712" r:id="rId464"/>
    <p:sldId id="713" r:id="rId465"/>
    <p:sldId id="714" r:id="rId466"/>
    <p:sldId id="715" r:id="rId467"/>
    <p:sldId id="716" r:id="rId468"/>
    <p:sldId id="717" r:id="rId469"/>
    <p:sldId id="718" r:id="rId470"/>
    <p:sldId id="719" r:id="rId471"/>
    <p:sldId id="720" r:id="rId472"/>
    <p:sldId id="721" r:id="rId473"/>
    <p:sldId id="722" r:id="rId474"/>
    <p:sldId id="723" r:id="rId475"/>
    <p:sldId id="724" r:id="rId476"/>
    <p:sldId id="725" r:id="rId477"/>
    <p:sldId id="726" r:id="rId478"/>
    <p:sldId id="727" r:id="rId479"/>
    <p:sldId id="728" r:id="rId480"/>
    <p:sldId id="729" r:id="rId481"/>
    <p:sldId id="730" r:id="rId482"/>
    <p:sldId id="731" r:id="rId483"/>
    <p:sldId id="732" r:id="rId484"/>
    <p:sldId id="733" r:id="rId485"/>
    <p:sldId id="734" r:id="rId486"/>
    <p:sldId id="735" r:id="rId487"/>
    <p:sldId id="736" r:id="rId488"/>
    <p:sldId id="737" r:id="rId489"/>
    <p:sldId id="738" r:id="rId490"/>
    <p:sldId id="739" r:id="rId491"/>
    <p:sldId id="740" r:id="rId492"/>
    <p:sldId id="741" r:id="rId493"/>
    <p:sldId id="742" r:id="rId494"/>
    <p:sldId id="743" r:id="rId495"/>
    <p:sldId id="744" r:id="rId496"/>
    <p:sldId id="745" r:id="rId497"/>
    <p:sldId id="746" r:id="rId498"/>
    <p:sldId id="747" r:id="rId499"/>
    <p:sldId id="748" r:id="rId500"/>
    <p:sldId id="749" r:id="rId501"/>
    <p:sldId id="750" r:id="rId502"/>
    <p:sldId id="751" r:id="rId503"/>
    <p:sldId id="752" r:id="rId504"/>
    <p:sldId id="753" r:id="rId505"/>
    <p:sldId id="754" r:id="rId506"/>
    <p:sldId id="755" r:id="rId507"/>
    <p:sldId id="756" r:id="rId508"/>
    <p:sldId id="757" r:id="rId509"/>
    <p:sldId id="758" r:id="rId510"/>
    <p:sldId id="759" r:id="rId511"/>
    <p:sldId id="760" r:id="rId512"/>
    <p:sldId id="761" r:id="rId513"/>
    <p:sldId id="762" r:id="rId514"/>
    <p:sldId id="763" r:id="rId515"/>
    <p:sldId id="764" r:id="rId516"/>
    <p:sldId id="765" r:id="rId517"/>
    <p:sldId id="766" r:id="rId518"/>
    <p:sldId id="767" r:id="rId519"/>
    <p:sldId id="768" r:id="rId520"/>
    <p:sldId id="769" r:id="rId521"/>
    <p:sldId id="770" r:id="rId522"/>
    <p:sldId id="771" r:id="rId523"/>
    <p:sldId id="772" r:id="rId524"/>
    <p:sldId id="773" r:id="rId525"/>
    <p:sldId id="774" r:id="rId526"/>
    <p:sldId id="775" r:id="rId527"/>
    <p:sldId id="776" r:id="rId528"/>
    <p:sldId id="777" r:id="rId529"/>
    <p:sldId id="778" r:id="rId530"/>
    <p:sldId id="779" r:id="rId531"/>
    <p:sldId id="780" r:id="rId532"/>
    <p:sldId id="781" r:id="rId533"/>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33.xml"/><Relationship Id="rId19" Type="http://schemas.openxmlformats.org/officeDocument/2006/relationships/slide" Target="slides/slide34.xml"/><Relationship Id="rId20" Type="http://schemas.openxmlformats.org/officeDocument/2006/relationships/slide" Target="slides/slide35.xml"/><Relationship Id="rId21" Type="http://schemas.openxmlformats.org/officeDocument/2006/relationships/slide" Target="slides/slide36.xml"/><Relationship Id="rId22" Type="http://schemas.openxmlformats.org/officeDocument/2006/relationships/slide" Target="slides/slide37.xml"/><Relationship Id="rId23" Type="http://schemas.openxmlformats.org/officeDocument/2006/relationships/slide" Target="slides/slide38.xml"/><Relationship Id="rId24" Type="http://schemas.openxmlformats.org/officeDocument/2006/relationships/slide" Target="slides/slide39.xml"/><Relationship Id="rId25" Type="http://schemas.openxmlformats.org/officeDocument/2006/relationships/slide" Target="slides/slide40.xml"/><Relationship Id="rId26" Type="http://schemas.openxmlformats.org/officeDocument/2006/relationships/slide" Target="slides/slide41.xml"/><Relationship Id="rId27" Type="http://schemas.openxmlformats.org/officeDocument/2006/relationships/slide" Target="slides/slide42.xml"/><Relationship Id="rId28" Type="http://schemas.openxmlformats.org/officeDocument/2006/relationships/slide" Target="slides/slide43.xml"/><Relationship Id="rId29" Type="http://schemas.openxmlformats.org/officeDocument/2006/relationships/slide" Target="slides/slide44.xml"/><Relationship Id="rId30" Type="http://schemas.openxmlformats.org/officeDocument/2006/relationships/slide" Target="slides/slide45.xml"/><Relationship Id="rId31" Type="http://schemas.openxmlformats.org/officeDocument/2006/relationships/slide" Target="slides/slide46.xml"/><Relationship Id="rId32" Type="http://schemas.openxmlformats.org/officeDocument/2006/relationships/slide" Target="slides/slide47.xml"/><Relationship Id="rId33" Type="http://schemas.openxmlformats.org/officeDocument/2006/relationships/slide" Target="slides/slide48.xml"/><Relationship Id="rId34" Type="http://schemas.openxmlformats.org/officeDocument/2006/relationships/slide" Target="slides/slide49.xml"/><Relationship Id="rId35" Type="http://schemas.openxmlformats.org/officeDocument/2006/relationships/slide" Target="slides/slide50.xml"/><Relationship Id="rId36" Type="http://schemas.openxmlformats.org/officeDocument/2006/relationships/slide" Target="slides/slide51.xml"/><Relationship Id="rId37" Type="http://schemas.openxmlformats.org/officeDocument/2006/relationships/slide" Target="slides/slide52.xml"/><Relationship Id="rId38" Type="http://schemas.openxmlformats.org/officeDocument/2006/relationships/slide" Target="slides/slide53.xml"/><Relationship Id="rId39" Type="http://schemas.openxmlformats.org/officeDocument/2006/relationships/slide" Target="slides/slide54.xml"/><Relationship Id="rId40" Type="http://schemas.openxmlformats.org/officeDocument/2006/relationships/slide" Target="slides/slide55.xml"/><Relationship Id="rId41" Type="http://schemas.openxmlformats.org/officeDocument/2006/relationships/slide" Target="slides/slide56.xml"/><Relationship Id="rId42" Type="http://schemas.openxmlformats.org/officeDocument/2006/relationships/slide" Target="slides/slide57.xml"/><Relationship Id="rId43" Type="http://schemas.openxmlformats.org/officeDocument/2006/relationships/slide" Target="slides/slide58.xml"/><Relationship Id="rId44" Type="http://schemas.openxmlformats.org/officeDocument/2006/relationships/slide" Target="slides/slide59.xml"/><Relationship Id="rId45" Type="http://schemas.openxmlformats.org/officeDocument/2006/relationships/slide" Target="slides/slide60.xml"/><Relationship Id="rId46" Type="http://schemas.openxmlformats.org/officeDocument/2006/relationships/slide" Target="slides/slide61.xml"/><Relationship Id="rId47" Type="http://schemas.openxmlformats.org/officeDocument/2006/relationships/slide" Target="slides/slide62.xml"/><Relationship Id="rId48" Type="http://schemas.openxmlformats.org/officeDocument/2006/relationships/slide" Target="slides/slide63.xml"/><Relationship Id="rId49" Type="http://schemas.openxmlformats.org/officeDocument/2006/relationships/slide" Target="slides/slide64.xml"/><Relationship Id="rId50" Type="http://schemas.openxmlformats.org/officeDocument/2006/relationships/slide" Target="slides/slide65.xml"/><Relationship Id="rId51" Type="http://schemas.openxmlformats.org/officeDocument/2006/relationships/slide" Target="slides/slide66.xml"/><Relationship Id="rId52" Type="http://schemas.openxmlformats.org/officeDocument/2006/relationships/slide" Target="slides/slide67.xml"/><Relationship Id="rId53" Type="http://schemas.openxmlformats.org/officeDocument/2006/relationships/slide" Target="slides/slide68.xml"/><Relationship Id="rId54" Type="http://schemas.openxmlformats.org/officeDocument/2006/relationships/slide" Target="slides/slide69.xml"/><Relationship Id="rId55" Type="http://schemas.openxmlformats.org/officeDocument/2006/relationships/slide" Target="slides/slide70.xml"/><Relationship Id="rId56" Type="http://schemas.openxmlformats.org/officeDocument/2006/relationships/slide" Target="slides/slide71.xml"/><Relationship Id="rId57" Type="http://schemas.openxmlformats.org/officeDocument/2006/relationships/slide" Target="slides/slide72.xml"/><Relationship Id="rId58" Type="http://schemas.openxmlformats.org/officeDocument/2006/relationships/slide" Target="slides/slide73.xml"/><Relationship Id="rId59" Type="http://schemas.openxmlformats.org/officeDocument/2006/relationships/slide" Target="slides/slide74.xml"/><Relationship Id="rId60" Type="http://schemas.openxmlformats.org/officeDocument/2006/relationships/slide" Target="slides/slide75.xml"/><Relationship Id="rId61" Type="http://schemas.openxmlformats.org/officeDocument/2006/relationships/slide" Target="slides/slide76.xml"/><Relationship Id="rId62" Type="http://schemas.openxmlformats.org/officeDocument/2006/relationships/slide" Target="slides/slide77.xml"/><Relationship Id="rId63" Type="http://schemas.openxmlformats.org/officeDocument/2006/relationships/slide" Target="slides/slide78.xml"/><Relationship Id="rId64" Type="http://schemas.openxmlformats.org/officeDocument/2006/relationships/slide" Target="slides/slide79.xml"/><Relationship Id="rId65" Type="http://schemas.openxmlformats.org/officeDocument/2006/relationships/slide" Target="slides/slide80.xml"/><Relationship Id="rId66" Type="http://schemas.openxmlformats.org/officeDocument/2006/relationships/slide" Target="slides/slide81.xml"/><Relationship Id="rId67" Type="http://schemas.openxmlformats.org/officeDocument/2006/relationships/slide" Target="slides/slide82.xml"/><Relationship Id="rId68" Type="http://schemas.openxmlformats.org/officeDocument/2006/relationships/slide" Target="slides/slide83.xml"/><Relationship Id="rId69" Type="http://schemas.openxmlformats.org/officeDocument/2006/relationships/slide" Target="slides/slide84.xml"/><Relationship Id="rId70" Type="http://schemas.openxmlformats.org/officeDocument/2006/relationships/slide" Target="slides/slide85.xml"/><Relationship Id="rId71" Type="http://schemas.openxmlformats.org/officeDocument/2006/relationships/slide" Target="slides/slide86.xml"/><Relationship Id="rId72" Type="http://schemas.openxmlformats.org/officeDocument/2006/relationships/slide" Target="slides/slide87.xml"/><Relationship Id="rId73" Type="http://schemas.openxmlformats.org/officeDocument/2006/relationships/slide" Target="slides/slide88.xml"/><Relationship Id="rId74" Type="http://schemas.openxmlformats.org/officeDocument/2006/relationships/slide" Target="slides/slide89.xml"/><Relationship Id="rId75" Type="http://schemas.openxmlformats.org/officeDocument/2006/relationships/slide" Target="slides/slide90.xml"/><Relationship Id="rId76" Type="http://schemas.openxmlformats.org/officeDocument/2006/relationships/slide" Target="slides/slide91.xml"/><Relationship Id="rId77" Type="http://schemas.openxmlformats.org/officeDocument/2006/relationships/slide" Target="slides/slide92.xml"/><Relationship Id="rId78" Type="http://schemas.openxmlformats.org/officeDocument/2006/relationships/slide" Target="slides/slide93.xml"/><Relationship Id="rId79" Type="http://schemas.openxmlformats.org/officeDocument/2006/relationships/slide" Target="slides/slide94.xml"/><Relationship Id="rId80" Type="http://schemas.openxmlformats.org/officeDocument/2006/relationships/slide" Target="slides/slide95.xml"/><Relationship Id="rId81" Type="http://schemas.openxmlformats.org/officeDocument/2006/relationships/slide" Target="slides/slide96.xml"/><Relationship Id="rId82" Type="http://schemas.openxmlformats.org/officeDocument/2006/relationships/slide" Target="slides/slide97.xml"/><Relationship Id="rId83" Type="http://schemas.openxmlformats.org/officeDocument/2006/relationships/slide" Target="slides/slide98.xml"/><Relationship Id="rId84" Type="http://schemas.openxmlformats.org/officeDocument/2006/relationships/slide" Target="slides/slide99.xml"/><Relationship Id="rId85" Type="http://schemas.openxmlformats.org/officeDocument/2006/relationships/slide" Target="slides/slide100.xml"/><Relationship Id="rId86" Type="http://schemas.openxmlformats.org/officeDocument/2006/relationships/slide" Target="slides/slide101.xml"/><Relationship Id="rId87" Type="http://schemas.openxmlformats.org/officeDocument/2006/relationships/slide" Target="slides/slide102.xml"/><Relationship Id="rId88" Type="http://schemas.openxmlformats.org/officeDocument/2006/relationships/slide" Target="slides/slide103.xml"/><Relationship Id="rId89" Type="http://schemas.openxmlformats.org/officeDocument/2006/relationships/slide" Target="slides/slide104.xml"/><Relationship Id="rId90" Type="http://schemas.openxmlformats.org/officeDocument/2006/relationships/slide" Target="slides/slide105.xml"/><Relationship Id="rId91" Type="http://schemas.openxmlformats.org/officeDocument/2006/relationships/slide" Target="slides/slide106.xml"/><Relationship Id="rId92" Type="http://schemas.openxmlformats.org/officeDocument/2006/relationships/slide" Target="slides/slide107.xml"/><Relationship Id="rId93" Type="http://schemas.openxmlformats.org/officeDocument/2006/relationships/slide" Target="slides/slide108.xml"/><Relationship Id="rId94" Type="http://schemas.openxmlformats.org/officeDocument/2006/relationships/slide" Target="slides/slide109.xml"/><Relationship Id="rId95" Type="http://schemas.openxmlformats.org/officeDocument/2006/relationships/slide" Target="slides/slide110.xml"/><Relationship Id="rId96" Type="http://schemas.openxmlformats.org/officeDocument/2006/relationships/slide" Target="slides/slide111.xml"/><Relationship Id="rId97" Type="http://schemas.openxmlformats.org/officeDocument/2006/relationships/slide" Target="slides/slide112.xml"/><Relationship Id="rId98" Type="http://schemas.openxmlformats.org/officeDocument/2006/relationships/slide" Target="slides/slide113.xml"/><Relationship Id="rId99" Type="http://schemas.openxmlformats.org/officeDocument/2006/relationships/slide" Target="slides/slide114.xml"/><Relationship Id="rId100" Type="http://schemas.openxmlformats.org/officeDocument/2006/relationships/slide" Target="slides/slide115.xml"/><Relationship Id="rId101" Type="http://schemas.openxmlformats.org/officeDocument/2006/relationships/slide" Target="slides/slide116.xml"/><Relationship Id="rId102" Type="http://schemas.openxmlformats.org/officeDocument/2006/relationships/slide" Target="slides/slide117.xml"/><Relationship Id="rId103" Type="http://schemas.openxmlformats.org/officeDocument/2006/relationships/slide" Target="slides/slide118.xml"/><Relationship Id="rId104" Type="http://schemas.openxmlformats.org/officeDocument/2006/relationships/slide" Target="slides/slide119.xml"/><Relationship Id="rId105" Type="http://schemas.openxmlformats.org/officeDocument/2006/relationships/slide" Target="slides/slide120.xml"/><Relationship Id="rId106" Type="http://schemas.openxmlformats.org/officeDocument/2006/relationships/slide" Target="slides/slide121.xml"/><Relationship Id="rId107" Type="http://schemas.openxmlformats.org/officeDocument/2006/relationships/slide" Target="slides/slide122.xml"/><Relationship Id="rId108" Type="http://schemas.openxmlformats.org/officeDocument/2006/relationships/slide" Target="slides/slide123.xml"/><Relationship Id="rId109" Type="http://schemas.openxmlformats.org/officeDocument/2006/relationships/slide" Target="slides/slide124.xml"/><Relationship Id="rId110" Type="http://schemas.openxmlformats.org/officeDocument/2006/relationships/slide" Target="slides/slide125.xml"/><Relationship Id="rId111" Type="http://schemas.openxmlformats.org/officeDocument/2006/relationships/slide" Target="slides/slide126.xml"/><Relationship Id="rId112" Type="http://schemas.openxmlformats.org/officeDocument/2006/relationships/slide" Target="slides/slide127.xml"/><Relationship Id="rId113" Type="http://schemas.openxmlformats.org/officeDocument/2006/relationships/slide" Target="slides/slide128.xml"/><Relationship Id="rId114" Type="http://schemas.openxmlformats.org/officeDocument/2006/relationships/slide" Target="slides/slide129.xml"/><Relationship Id="rId115" Type="http://schemas.openxmlformats.org/officeDocument/2006/relationships/slide" Target="slides/slide130.xml"/><Relationship Id="rId116" Type="http://schemas.openxmlformats.org/officeDocument/2006/relationships/slide" Target="slides/slide131.xml"/><Relationship Id="rId117" Type="http://schemas.openxmlformats.org/officeDocument/2006/relationships/slide" Target="slides/slide132.xml"/><Relationship Id="rId118" Type="http://schemas.openxmlformats.org/officeDocument/2006/relationships/slide" Target="slides/slide133.xml"/><Relationship Id="rId119" Type="http://schemas.openxmlformats.org/officeDocument/2006/relationships/slide" Target="slides/slide134.xml"/><Relationship Id="rId120" Type="http://schemas.openxmlformats.org/officeDocument/2006/relationships/slide" Target="slides/slide135.xml"/><Relationship Id="rId121" Type="http://schemas.openxmlformats.org/officeDocument/2006/relationships/slide" Target="slides/slide136.xml"/><Relationship Id="rId122" Type="http://schemas.openxmlformats.org/officeDocument/2006/relationships/slide" Target="slides/slide137.xml"/><Relationship Id="rId123" Type="http://schemas.openxmlformats.org/officeDocument/2006/relationships/slide" Target="slides/slide138.xml"/><Relationship Id="rId124" Type="http://schemas.openxmlformats.org/officeDocument/2006/relationships/slide" Target="slides/slide139.xml"/><Relationship Id="rId125" Type="http://schemas.openxmlformats.org/officeDocument/2006/relationships/slide" Target="slides/slide140.xml"/><Relationship Id="rId126" Type="http://schemas.openxmlformats.org/officeDocument/2006/relationships/slide" Target="slides/slide141.xml"/><Relationship Id="rId127" Type="http://schemas.openxmlformats.org/officeDocument/2006/relationships/slide" Target="slides/slide142.xml"/><Relationship Id="rId128" Type="http://schemas.openxmlformats.org/officeDocument/2006/relationships/slide" Target="slides/slide143.xml"/><Relationship Id="rId129" Type="http://schemas.openxmlformats.org/officeDocument/2006/relationships/slide" Target="slides/slide144.xml"/><Relationship Id="rId130" Type="http://schemas.openxmlformats.org/officeDocument/2006/relationships/slide" Target="slides/slide145.xml"/><Relationship Id="rId131" Type="http://schemas.openxmlformats.org/officeDocument/2006/relationships/slide" Target="slides/slide146.xml"/><Relationship Id="rId132" Type="http://schemas.openxmlformats.org/officeDocument/2006/relationships/slide" Target="slides/slide147.xml"/><Relationship Id="rId133" Type="http://schemas.openxmlformats.org/officeDocument/2006/relationships/slide" Target="slides/slide148.xml"/><Relationship Id="rId134" Type="http://schemas.openxmlformats.org/officeDocument/2006/relationships/slide" Target="slides/slide149.xml"/><Relationship Id="rId135" Type="http://schemas.openxmlformats.org/officeDocument/2006/relationships/slide" Target="slides/slide150.xml"/><Relationship Id="rId136" Type="http://schemas.openxmlformats.org/officeDocument/2006/relationships/slide" Target="slides/slide151.xml"/><Relationship Id="rId137" Type="http://schemas.openxmlformats.org/officeDocument/2006/relationships/slide" Target="slides/slide152.xml"/><Relationship Id="rId138" Type="http://schemas.openxmlformats.org/officeDocument/2006/relationships/slide" Target="slides/slide153.xml"/><Relationship Id="rId139" Type="http://schemas.openxmlformats.org/officeDocument/2006/relationships/slide" Target="slides/slide154.xml"/><Relationship Id="rId140" Type="http://schemas.openxmlformats.org/officeDocument/2006/relationships/slide" Target="slides/slide155.xml"/><Relationship Id="rId141" Type="http://schemas.openxmlformats.org/officeDocument/2006/relationships/slide" Target="slides/slide156.xml"/><Relationship Id="rId142" Type="http://schemas.openxmlformats.org/officeDocument/2006/relationships/slide" Target="slides/slide157.xml"/><Relationship Id="rId143" Type="http://schemas.openxmlformats.org/officeDocument/2006/relationships/slide" Target="slides/slide158.xml"/><Relationship Id="rId144" Type="http://schemas.openxmlformats.org/officeDocument/2006/relationships/slide" Target="slides/slide159.xml"/><Relationship Id="rId145" Type="http://schemas.openxmlformats.org/officeDocument/2006/relationships/slide" Target="slides/slide160.xml"/><Relationship Id="rId146" Type="http://schemas.openxmlformats.org/officeDocument/2006/relationships/slide" Target="slides/slide161.xml"/><Relationship Id="rId147" Type="http://schemas.openxmlformats.org/officeDocument/2006/relationships/slide" Target="slides/slide162.xml"/><Relationship Id="rId148" Type="http://schemas.openxmlformats.org/officeDocument/2006/relationships/slide" Target="slides/slide163.xml"/><Relationship Id="rId149" Type="http://schemas.openxmlformats.org/officeDocument/2006/relationships/slide" Target="slides/slide164.xml"/><Relationship Id="rId150" Type="http://schemas.openxmlformats.org/officeDocument/2006/relationships/slide" Target="slides/slide165.xml"/><Relationship Id="rId151" Type="http://schemas.openxmlformats.org/officeDocument/2006/relationships/slide" Target="slides/slide166.xml"/><Relationship Id="rId152" Type="http://schemas.openxmlformats.org/officeDocument/2006/relationships/slide" Target="slides/slide167.xml"/><Relationship Id="rId153" Type="http://schemas.openxmlformats.org/officeDocument/2006/relationships/slide" Target="slides/slide168.xml"/><Relationship Id="rId154" Type="http://schemas.openxmlformats.org/officeDocument/2006/relationships/slide" Target="slides/slide169.xml"/><Relationship Id="rId155" Type="http://schemas.openxmlformats.org/officeDocument/2006/relationships/slide" Target="slides/slide170.xml"/><Relationship Id="rId156" Type="http://schemas.openxmlformats.org/officeDocument/2006/relationships/slide" Target="slides/slide171.xml"/><Relationship Id="rId157" Type="http://schemas.openxmlformats.org/officeDocument/2006/relationships/slide" Target="slides/slide172.xml"/><Relationship Id="rId158" Type="http://schemas.openxmlformats.org/officeDocument/2006/relationships/slide" Target="slides/slide173.xml"/><Relationship Id="rId159" Type="http://schemas.openxmlformats.org/officeDocument/2006/relationships/slide" Target="slides/slide174.xml"/><Relationship Id="rId160" Type="http://schemas.openxmlformats.org/officeDocument/2006/relationships/slide" Target="slides/slide175.xml"/><Relationship Id="rId161" Type="http://schemas.openxmlformats.org/officeDocument/2006/relationships/slide" Target="slides/slide176.xml"/><Relationship Id="rId162" Type="http://schemas.openxmlformats.org/officeDocument/2006/relationships/slide" Target="slides/slide177.xml"/><Relationship Id="rId163" Type="http://schemas.openxmlformats.org/officeDocument/2006/relationships/slide" Target="slides/slide178.xml"/><Relationship Id="rId164" Type="http://schemas.openxmlformats.org/officeDocument/2006/relationships/slide" Target="slides/slide179.xml"/><Relationship Id="rId165" Type="http://schemas.openxmlformats.org/officeDocument/2006/relationships/slide" Target="slides/slide180.xml"/><Relationship Id="rId166" Type="http://schemas.openxmlformats.org/officeDocument/2006/relationships/slide" Target="slides/slide181.xml"/><Relationship Id="rId167" Type="http://schemas.openxmlformats.org/officeDocument/2006/relationships/slide" Target="slides/slide182.xml"/><Relationship Id="rId168" Type="http://schemas.openxmlformats.org/officeDocument/2006/relationships/slide" Target="slides/slide183.xml"/><Relationship Id="rId169" Type="http://schemas.openxmlformats.org/officeDocument/2006/relationships/slide" Target="slides/slide184.xml"/><Relationship Id="rId170" Type="http://schemas.openxmlformats.org/officeDocument/2006/relationships/slide" Target="slides/slide185.xml"/><Relationship Id="rId171" Type="http://schemas.openxmlformats.org/officeDocument/2006/relationships/slide" Target="slides/slide186.xml"/><Relationship Id="rId172" Type="http://schemas.openxmlformats.org/officeDocument/2006/relationships/slide" Target="slides/slide187.xml"/><Relationship Id="rId173" Type="http://schemas.openxmlformats.org/officeDocument/2006/relationships/slide" Target="slides/slide188.xml"/><Relationship Id="rId174" Type="http://schemas.openxmlformats.org/officeDocument/2006/relationships/slide" Target="slides/slide189.xml"/><Relationship Id="rId175" Type="http://schemas.openxmlformats.org/officeDocument/2006/relationships/slide" Target="slides/slide190.xml"/><Relationship Id="rId176" Type="http://schemas.openxmlformats.org/officeDocument/2006/relationships/slide" Target="slides/slide191.xml"/><Relationship Id="rId177" Type="http://schemas.openxmlformats.org/officeDocument/2006/relationships/slide" Target="slides/slide192.xml"/><Relationship Id="rId178" Type="http://schemas.openxmlformats.org/officeDocument/2006/relationships/slide" Target="slides/slide193.xml"/><Relationship Id="rId179" Type="http://schemas.openxmlformats.org/officeDocument/2006/relationships/slide" Target="slides/slide194.xml"/><Relationship Id="rId180" Type="http://schemas.openxmlformats.org/officeDocument/2006/relationships/slide" Target="slides/slide195.xml"/><Relationship Id="rId181" Type="http://schemas.openxmlformats.org/officeDocument/2006/relationships/slide" Target="slides/slide196.xml"/><Relationship Id="rId182" Type="http://schemas.openxmlformats.org/officeDocument/2006/relationships/slide" Target="slides/slide197.xml"/><Relationship Id="rId183" Type="http://schemas.openxmlformats.org/officeDocument/2006/relationships/slide" Target="slides/slide198.xml"/><Relationship Id="rId184" Type="http://schemas.openxmlformats.org/officeDocument/2006/relationships/slide" Target="slides/slide199.xml"/><Relationship Id="rId185" Type="http://schemas.openxmlformats.org/officeDocument/2006/relationships/slide" Target="slides/slide200.xml"/><Relationship Id="rId186" Type="http://schemas.openxmlformats.org/officeDocument/2006/relationships/slide" Target="slides/slide201.xml"/><Relationship Id="rId187" Type="http://schemas.openxmlformats.org/officeDocument/2006/relationships/slide" Target="slides/slide202.xml"/><Relationship Id="rId188" Type="http://schemas.openxmlformats.org/officeDocument/2006/relationships/slide" Target="slides/slide203.xml"/><Relationship Id="rId189" Type="http://schemas.openxmlformats.org/officeDocument/2006/relationships/slide" Target="slides/slide204.xml"/><Relationship Id="rId190" Type="http://schemas.openxmlformats.org/officeDocument/2006/relationships/slide" Target="slides/slide205.xml"/><Relationship Id="rId191" Type="http://schemas.openxmlformats.org/officeDocument/2006/relationships/slide" Target="slides/slide206.xml"/><Relationship Id="rId192" Type="http://schemas.openxmlformats.org/officeDocument/2006/relationships/slide" Target="slides/slide207.xml"/><Relationship Id="rId193" Type="http://schemas.openxmlformats.org/officeDocument/2006/relationships/slide" Target="slides/slide208.xml"/><Relationship Id="rId194" Type="http://schemas.openxmlformats.org/officeDocument/2006/relationships/slide" Target="slides/slide209.xml"/><Relationship Id="rId195" Type="http://schemas.openxmlformats.org/officeDocument/2006/relationships/slide" Target="slides/slide210.xml"/><Relationship Id="rId196" Type="http://schemas.openxmlformats.org/officeDocument/2006/relationships/slide" Target="slides/slide211.xml"/><Relationship Id="rId197" Type="http://schemas.openxmlformats.org/officeDocument/2006/relationships/slide" Target="slides/slide212.xml"/><Relationship Id="rId198" Type="http://schemas.openxmlformats.org/officeDocument/2006/relationships/slide" Target="slides/slide213.xml"/><Relationship Id="rId199" Type="http://schemas.openxmlformats.org/officeDocument/2006/relationships/slide" Target="slides/slide214.xml"/><Relationship Id="rId200" Type="http://schemas.openxmlformats.org/officeDocument/2006/relationships/slide" Target="slides/slide215.xml"/><Relationship Id="rId201" Type="http://schemas.openxmlformats.org/officeDocument/2006/relationships/slide" Target="slides/slide216.xml"/><Relationship Id="rId202" Type="http://schemas.openxmlformats.org/officeDocument/2006/relationships/slide" Target="slides/slide217.xml"/><Relationship Id="rId203" Type="http://schemas.openxmlformats.org/officeDocument/2006/relationships/slide" Target="slides/slide218.xml"/><Relationship Id="rId204" Type="http://schemas.openxmlformats.org/officeDocument/2006/relationships/slide" Target="slides/slide219.xml"/><Relationship Id="rId205" Type="http://schemas.openxmlformats.org/officeDocument/2006/relationships/slide" Target="slides/slide220.xml"/><Relationship Id="rId206" Type="http://schemas.openxmlformats.org/officeDocument/2006/relationships/slide" Target="slides/slide221.xml"/><Relationship Id="rId207" Type="http://schemas.openxmlformats.org/officeDocument/2006/relationships/slide" Target="slides/slide222.xml"/><Relationship Id="rId208" Type="http://schemas.openxmlformats.org/officeDocument/2006/relationships/slide" Target="slides/slide223.xml"/><Relationship Id="rId209" Type="http://schemas.openxmlformats.org/officeDocument/2006/relationships/slide" Target="slides/slide224.xml"/><Relationship Id="rId210" Type="http://schemas.openxmlformats.org/officeDocument/2006/relationships/slide" Target="slides/slide225.xml"/><Relationship Id="rId211" Type="http://schemas.openxmlformats.org/officeDocument/2006/relationships/slide" Target="slides/slide226.xml"/><Relationship Id="rId212" Type="http://schemas.openxmlformats.org/officeDocument/2006/relationships/slide" Target="slides/slide227.xml"/><Relationship Id="rId213" Type="http://schemas.openxmlformats.org/officeDocument/2006/relationships/slide" Target="slides/slide228.xml"/><Relationship Id="rId214" Type="http://schemas.openxmlformats.org/officeDocument/2006/relationships/slide" Target="slides/slide229.xml"/><Relationship Id="rId215" Type="http://schemas.openxmlformats.org/officeDocument/2006/relationships/slide" Target="slides/slide230.xml"/><Relationship Id="rId216" Type="http://schemas.openxmlformats.org/officeDocument/2006/relationships/slide" Target="slides/slide231.xml"/><Relationship Id="rId217" Type="http://schemas.openxmlformats.org/officeDocument/2006/relationships/slide" Target="slides/slide232.xml"/><Relationship Id="rId218" Type="http://schemas.openxmlformats.org/officeDocument/2006/relationships/slide" Target="slides/slide233.xml"/><Relationship Id="rId219" Type="http://schemas.openxmlformats.org/officeDocument/2006/relationships/slide" Target="slides/slide234.xml"/><Relationship Id="rId220" Type="http://schemas.openxmlformats.org/officeDocument/2006/relationships/slide" Target="slides/slide235.xml"/><Relationship Id="rId221" Type="http://schemas.openxmlformats.org/officeDocument/2006/relationships/slide" Target="slides/slide236.xml"/><Relationship Id="rId222" Type="http://schemas.openxmlformats.org/officeDocument/2006/relationships/slide" Target="slides/slide237.xml"/><Relationship Id="rId223" Type="http://schemas.openxmlformats.org/officeDocument/2006/relationships/slide" Target="slides/slide238.xml"/><Relationship Id="rId224" Type="http://schemas.openxmlformats.org/officeDocument/2006/relationships/slide" Target="slides/slide239.xml"/><Relationship Id="rId225" Type="http://schemas.openxmlformats.org/officeDocument/2006/relationships/slide" Target="slides/slide240.xml"/><Relationship Id="rId226" Type="http://schemas.openxmlformats.org/officeDocument/2006/relationships/slide" Target="slides/slide241.xml"/><Relationship Id="rId227" Type="http://schemas.openxmlformats.org/officeDocument/2006/relationships/slide" Target="slides/slide242.xml"/><Relationship Id="rId228" Type="http://schemas.openxmlformats.org/officeDocument/2006/relationships/slide" Target="slides/slide243.xml"/><Relationship Id="rId229" Type="http://schemas.openxmlformats.org/officeDocument/2006/relationships/slide" Target="slides/slide244.xml"/><Relationship Id="rId230" Type="http://schemas.openxmlformats.org/officeDocument/2006/relationships/slide" Target="slides/slide245.xml"/><Relationship Id="rId231" Type="http://schemas.openxmlformats.org/officeDocument/2006/relationships/slide" Target="slides/slide246.xml"/><Relationship Id="rId232" Type="http://schemas.openxmlformats.org/officeDocument/2006/relationships/slide" Target="slides/slide247.xml"/><Relationship Id="rId233" Type="http://schemas.openxmlformats.org/officeDocument/2006/relationships/slide" Target="slides/slide248.xml"/><Relationship Id="rId234" Type="http://schemas.openxmlformats.org/officeDocument/2006/relationships/slide" Target="slides/slide249.xml"/><Relationship Id="rId235" Type="http://schemas.openxmlformats.org/officeDocument/2006/relationships/slide" Target="slides/slide250.xml"/><Relationship Id="rId236" Type="http://schemas.openxmlformats.org/officeDocument/2006/relationships/slide" Target="slides/slide251.xml"/><Relationship Id="rId237" Type="http://schemas.openxmlformats.org/officeDocument/2006/relationships/slide" Target="slides/slide252.xml"/><Relationship Id="rId238" Type="http://schemas.openxmlformats.org/officeDocument/2006/relationships/slide" Target="slides/slide253.xml"/><Relationship Id="rId239" Type="http://schemas.openxmlformats.org/officeDocument/2006/relationships/slide" Target="slides/slide254.xml"/><Relationship Id="rId240" Type="http://schemas.openxmlformats.org/officeDocument/2006/relationships/slide" Target="slides/slide255.xml"/><Relationship Id="rId241" Type="http://schemas.openxmlformats.org/officeDocument/2006/relationships/slide" Target="slides/slide256.xml"/><Relationship Id="rId242" Type="http://schemas.openxmlformats.org/officeDocument/2006/relationships/slide" Target="slides/slide257.xml"/><Relationship Id="rId243" Type="http://schemas.openxmlformats.org/officeDocument/2006/relationships/slide" Target="slides/slide258.xml"/><Relationship Id="rId244" Type="http://schemas.openxmlformats.org/officeDocument/2006/relationships/slide" Target="slides/slide259.xml"/><Relationship Id="rId245" Type="http://schemas.openxmlformats.org/officeDocument/2006/relationships/slide" Target="slides/slide260.xml"/><Relationship Id="rId246" Type="http://schemas.openxmlformats.org/officeDocument/2006/relationships/slide" Target="slides/slide261.xml"/><Relationship Id="rId247" Type="http://schemas.openxmlformats.org/officeDocument/2006/relationships/slide" Target="slides/slide262.xml"/><Relationship Id="rId248" Type="http://schemas.openxmlformats.org/officeDocument/2006/relationships/slide" Target="slides/slide263.xml"/><Relationship Id="rId249" Type="http://schemas.openxmlformats.org/officeDocument/2006/relationships/slide" Target="slides/slide264.xml"/><Relationship Id="rId250" Type="http://schemas.openxmlformats.org/officeDocument/2006/relationships/slide" Target="slides/slide265.xml"/><Relationship Id="rId251" Type="http://schemas.openxmlformats.org/officeDocument/2006/relationships/slide" Target="slides/slide266.xml"/><Relationship Id="rId252" Type="http://schemas.openxmlformats.org/officeDocument/2006/relationships/slide" Target="slides/slide267.xml"/><Relationship Id="rId253" Type="http://schemas.openxmlformats.org/officeDocument/2006/relationships/slide" Target="slides/slide268.xml"/><Relationship Id="rId254" Type="http://schemas.openxmlformats.org/officeDocument/2006/relationships/slide" Target="slides/slide269.xml"/><Relationship Id="rId255" Type="http://schemas.openxmlformats.org/officeDocument/2006/relationships/slide" Target="slides/slide270.xml"/><Relationship Id="rId256" Type="http://schemas.openxmlformats.org/officeDocument/2006/relationships/slide" Target="slides/slide271.xml"/><Relationship Id="rId257" Type="http://schemas.openxmlformats.org/officeDocument/2006/relationships/slide" Target="slides/slide272.xml"/><Relationship Id="rId258" Type="http://schemas.openxmlformats.org/officeDocument/2006/relationships/slide" Target="slides/slide273.xml"/><Relationship Id="rId259" Type="http://schemas.openxmlformats.org/officeDocument/2006/relationships/slide" Target="slides/slide274.xml"/><Relationship Id="rId260" Type="http://schemas.openxmlformats.org/officeDocument/2006/relationships/slide" Target="slides/slide275.xml"/><Relationship Id="rId261" Type="http://schemas.openxmlformats.org/officeDocument/2006/relationships/slide" Target="slides/slide276.xml"/><Relationship Id="rId262" Type="http://schemas.openxmlformats.org/officeDocument/2006/relationships/slide" Target="slides/slide277.xml"/><Relationship Id="rId263" Type="http://schemas.openxmlformats.org/officeDocument/2006/relationships/slide" Target="slides/slide278.xml"/><Relationship Id="rId264" Type="http://schemas.openxmlformats.org/officeDocument/2006/relationships/slide" Target="slides/slide279.xml"/><Relationship Id="rId265" Type="http://schemas.openxmlformats.org/officeDocument/2006/relationships/slide" Target="slides/slide280.xml"/><Relationship Id="rId266" Type="http://schemas.openxmlformats.org/officeDocument/2006/relationships/slide" Target="slides/slide281.xml"/><Relationship Id="rId267" Type="http://schemas.openxmlformats.org/officeDocument/2006/relationships/slide" Target="slides/slide282.xml"/><Relationship Id="rId268" Type="http://schemas.openxmlformats.org/officeDocument/2006/relationships/slide" Target="slides/slide283.xml"/><Relationship Id="rId269" Type="http://schemas.openxmlformats.org/officeDocument/2006/relationships/slide" Target="slides/slide284.xml"/><Relationship Id="rId270" Type="http://schemas.openxmlformats.org/officeDocument/2006/relationships/slide" Target="slides/slide285.xml"/><Relationship Id="rId271" Type="http://schemas.openxmlformats.org/officeDocument/2006/relationships/slide" Target="slides/slide286.xml"/><Relationship Id="rId272" Type="http://schemas.openxmlformats.org/officeDocument/2006/relationships/slide" Target="slides/slide287.xml"/><Relationship Id="rId273" Type="http://schemas.openxmlformats.org/officeDocument/2006/relationships/slide" Target="slides/slide288.xml"/><Relationship Id="rId274" Type="http://schemas.openxmlformats.org/officeDocument/2006/relationships/slide" Target="slides/slide289.xml"/><Relationship Id="rId275" Type="http://schemas.openxmlformats.org/officeDocument/2006/relationships/slide" Target="slides/slide290.xml"/><Relationship Id="rId276" Type="http://schemas.openxmlformats.org/officeDocument/2006/relationships/slide" Target="slides/slide291.xml"/><Relationship Id="rId277" Type="http://schemas.openxmlformats.org/officeDocument/2006/relationships/slide" Target="slides/slide292.xml"/><Relationship Id="rId278" Type="http://schemas.openxmlformats.org/officeDocument/2006/relationships/slide" Target="slides/slide293.xml"/><Relationship Id="rId279" Type="http://schemas.openxmlformats.org/officeDocument/2006/relationships/slide" Target="slides/slide294.xml"/><Relationship Id="rId280" Type="http://schemas.openxmlformats.org/officeDocument/2006/relationships/slide" Target="slides/slide295.xml"/><Relationship Id="rId281" Type="http://schemas.openxmlformats.org/officeDocument/2006/relationships/slide" Target="slides/slide296.xml"/><Relationship Id="rId282" Type="http://schemas.openxmlformats.org/officeDocument/2006/relationships/slide" Target="slides/slide297.xml"/><Relationship Id="rId283" Type="http://schemas.openxmlformats.org/officeDocument/2006/relationships/slide" Target="slides/slide298.xml"/><Relationship Id="rId284" Type="http://schemas.openxmlformats.org/officeDocument/2006/relationships/slide" Target="slides/slide299.xml"/><Relationship Id="rId285" Type="http://schemas.openxmlformats.org/officeDocument/2006/relationships/slide" Target="slides/slide300.xml"/><Relationship Id="rId286" Type="http://schemas.openxmlformats.org/officeDocument/2006/relationships/slide" Target="slides/slide301.xml"/><Relationship Id="rId287" Type="http://schemas.openxmlformats.org/officeDocument/2006/relationships/slide" Target="slides/slide302.xml"/><Relationship Id="rId288" Type="http://schemas.openxmlformats.org/officeDocument/2006/relationships/slide" Target="slides/slide303.xml"/><Relationship Id="rId289" Type="http://schemas.openxmlformats.org/officeDocument/2006/relationships/slide" Target="slides/slide304.xml"/><Relationship Id="rId290" Type="http://schemas.openxmlformats.org/officeDocument/2006/relationships/slide" Target="slides/slide305.xml"/><Relationship Id="rId291" Type="http://schemas.openxmlformats.org/officeDocument/2006/relationships/slide" Target="slides/slide306.xml"/><Relationship Id="rId292" Type="http://schemas.openxmlformats.org/officeDocument/2006/relationships/slide" Target="slides/slide307.xml"/><Relationship Id="rId293" Type="http://schemas.openxmlformats.org/officeDocument/2006/relationships/slide" Target="slides/slide308.xml"/><Relationship Id="rId294" Type="http://schemas.openxmlformats.org/officeDocument/2006/relationships/slide" Target="slides/slide309.xml"/><Relationship Id="rId295" Type="http://schemas.openxmlformats.org/officeDocument/2006/relationships/slide" Target="slides/slide310.xml"/><Relationship Id="rId296" Type="http://schemas.openxmlformats.org/officeDocument/2006/relationships/slide" Target="slides/slide311.xml"/><Relationship Id="rId297" Type="http://schemas.openxmlformats.org/officeDocument/2006/relationships/slide" Target="slides/slide312.xml"/><Relationship Id="rId298" Type="http://schemas.openxmlformats.org/officeDocument/2006/relationships/slide" Target="slides/slide313.xml"/><Relationship Id="rId299" Type="http://schemas.openxmlformats.org/officeDocument/2006/relationships/slide" Target="slides/slide314.xml"/><Relationship Id="rId300" Type="http://schemas.openxmlformats.org/officeDocument/2006/relationships/slide" Target="slides/slide315.xml"/><Relationship Id="rId301" Type="http://schemas.openxmlformats.org/officeDocument/2006/relationships/slide" Target="slides/slide316.xml"/><Relationship Id="rId302" Type="http://schemas.openxmlformats.org/officeDocument/2006/relationships/slide" Target="slides/slide317.xml"/><Relationship Id="rId303" Type="http://schemas.openxmlformats.org/officeDocument/2006/relationships/slide" Target="slides/slide318.xml"/><Relationship Id="rId304" Type="http://schemas.openxmlformats.org/officeDocument/2006/relationships/slide" Target="slides/slide319.xml"/><Relationship Id="rId305" Type="http://schemas.openxmlformats.org/officeDocument/2006/relationships/slide" Target="slides/slide320.xml"/><Relationship Id="rId306" Type="http://schemas.openxmlformats.org/officeDocument/2006/relationships/slide" Target="slides/slide321.xml"/><Relationship Id="rId307" Type="http://schemas.openxmlformats.org/officeDocument/2006/relationships/slide" Target="slides/slide322.xml"/><Relationship Id="rId308" Type="http://schemas.openxmlformats.org/officeDocument/2006/relationships/slide" Target="slides/slide323.xml"/><Relationship Id="rId309" Type="http://schemas.openxmlformats.org/officeDocument/2006/relationships/slide" Target="slides/slide324.xml"/><Relationship Id="rId310" Type="http://schemas.openxmlformats.org/officeDocument/2006/relationships/slide" Target="slides/slide325.xml"/><Relationship Id="rId311" Type="http://schemas.openxmlformats.org/officeDocument/2006/relationships/slide" Target="slides/slide326.xml"/><Relationship Id="rId312" Type="http://schemas.openxmlformats.org/officeDocument/2006/relationships/slide" Target="slides/slide327.xml"/><Relationship Id="rId313" Type="http://schemas.openxmlformats.org/officeDocument/2006/relationships/slide" Target="slides/slide328.xml"/><Relationship Id="rId314" Type="http://schemas.openxmlformats.org/officeDocument/2006/relationships/slide" Target="slides/slide329.xml"/><Relationship Id="rId315" Type="http://schemas.openxmlformats.org/officeDocument/2006/relationships/slide" Target="slides/slide330.xml"/><Relationship Id="rId316" Type="http://schemas.openxmlformats.org/officeDocument/2006/relationships/slide" Target="slides/slide331.xml"/><Relationship Id="rId317" Type="http://schemas.openxmlformats.org/officeDocument/2006/relationships/slide" Target="slides/slide332.xml"/><Relationship Id="rId318" Type="http://schemas.openxmlformats.org/officeDocument/2006/relationships/slide" Target="slides/slide333.xml"/><Relationship Id="rId319" Type="http://schemas.openxmlformats.org/officeDocument/2006/relationships/slide" Target="slides/slide334.xml"/><Relationship Id="rId320" Type="http://schemas.openxmlformats.org/officeDocument/2006/relationships/slide" Target="slides/slide335.xml"/><Relationship Id="rId321" Type="http://schemas.openxmlformats.org/officeDocument/2006/relationships/slide" Target="slides/slide336.xml"/><Relationship Id="rId322" Type="http://schemas.openxmlformats.org/officeDocument/2006/relationships/slide" Target="slides/slide337.xml"/><Relationship Id="rId323" Type="http://schemas.openxmlformats.org/officeDocument/2006/relationships/slide" Target="slides/slide338.xml"/><Relationship Id="rId324" Type="http://schemas.openxmlformats.org/officeDocument/2006/relationships/slide" Target="slides/slide339.xml"/><Relationship Id="rId325" Type="http://schemas.openxmlformats.org/officeDocument/2006/relationships/slide" Target="slides/slide340.xml"/><Relationship Id="rId326" Type="http://schemas.openxmlformats.org/officeDocument/2006/relationships/slide" Target="slides/slide341.xml"/><Relationship Id="rId327" Type="http://schemas.openxmlformats.org/officeDocument/2006/relationships/slide" Target="slides/slide342.xml"/><Relationship Id="rId328" Type="http://schemas.openxmlformats.org/officeDocument/2006/relationships/slide" Target="slides/slide343.xml"/><Relationship Id="rId329" Type="http://schemas.openxmlformats.org/officeDocument/2006/relationships/slide" Target="slides/slide344.xml"/><Relationship Id="rId330" Type="http://schemas.openxmlformats.org/officeDocument/2006/relationships/slide" Target="slides/slide345.xml"/><Relationship Id="rId331" Type="http://schemas.openxmlformats.org/officeDocument/2006/relationships/slide" Target="slides/slide346.xml"/><Relationship Id="rId332" Type="http://schemas.openxmlformats.org/officeDocument/2006/relationships/slide" Target="slides/slide347.xml"/><Relationship Id="rId333" Type="http://schemas.openxmlformats.org/officeDocument/2006/relationships/slide" Target="slides/slide348.xml"/><Relationship Id="rId334" Type="http://schemas.openxmlformats.org/officeDocument/2006/relationships/slide" Target="slides/slide349.xml"/><Relationship Id="rId335" Type="http://schemas.openxmlformats.org/officeDocument/2006/relationships/slide" Target="slides/slide350.xml"/><Relationship Id="rId336" Type="http://schemas.openxmlformats.org/officeDocument/2006/relationships/slide" Target="slides/slide351.xml"/><Relationship Id="rId337" Type="http://schemas.openxmlformats.org/officeDocument/2006/relationships/slide" Target="slides/slide352.xml"/><Relationship Id="rId338" Type="http://schemas.openxmlformats.org/officeDocument/2006/relationships/slide" Target="slides/slide353.xml"/><Relationship Id="rId339" Type="http://schemas.openxmlformats.org/officeDocument/2006/relationships/slide" Target="slides/slide354.xml"/><Relationship Id="rId340" Type="http://schemas.openxmlformats.org/officeDocument/2006/relationships/slide" Target="slides/slide355.xml"/><Relationship Id="rId341" Type="http://schemas.openxmlformats.org/officeDocument/2006/relationships/slide" Target="slides/slide356.xml"/><Relationship Id="rId342" Type="http://schemas.openxmlformats.org/officeDocument/2006/relationships/slide" Target="slides/slide357.xml"/><Relationship Id="rId343" Type="http://schemas.openxmlformats.org/officeDocument/2006/relationships/slide" Target="slides/slide358.xml"/><Relationship Id="rId344" Type="http://schemas.openxmlformats.org/officeDocument/2006/relationships/slide" Target="slides/slide359.xml"/><Relationship Id="rId345" Type="http://schemas.openxmlformats.org/officeDocument/2006/relationships/slide" Target="slides/slide360.xml"/><Relationship Id="rId346" Type="http://schemas.openxmlformats.org/officeDocument/2006/relationships/slide" Target="slides/slide361.xml"/><Relationship Id="rId347" Type="http://schemas.openxmlformats.org/officeDocument/2006/relationships/slide" Target="slides/slide362.xml"/><Relationship Id="rId348" Type="http://schemas.openxmlformats.org/officeDocument/2006/relationships/slide" Target="slides/slide363.xml"/><Relationship Id="rId349" Type="http://schemas.openxmlformats.org/officeDocument/2006/relationships/slide" Target="slides/slide364.xml"/><Relationship Id="rId350" Type="http://schemas.openxmlformats.org/officeDocument/2006/relationships/slide" Target="slides/slide365.xml"/><Relationship Id="rId351" Type="http://schemas.openxmlformats.org/officeDocument/2006/relationships/slide" Target="slides/slide366.xml"/><Relationship Id="rId352" Type="http://schemas.openxmlformats.org/officeDocument/2006/relationships/slide" Target="slides/slide367.xml"/><Relationship Id="rId353" Type="http://schemas.openxmlformats.org/officeDocument/2006/relationships/slide" Target="slides/slide368.xml"/><Relationship Id="rId354" Type="http://schemas.openxmlformats.org/officeDocument/2006/relationships/slide" Target="slides/slide369.xml"/><Relationship Id="rId355" Type="http://schemas.openxmlformats.org/officeDocument/2006/relationships/slide" Target="slides/slide370.xml"/><Relationship Id="rId356" Type="http://schemas.openxmlformats.org/officeDocument/2006/relationships/slide" Target="slides/slide371.xml"/><Relationship Id="rId357" Type="http://schemas.openxmlformats.org/officeDocument/2006/relationships/slide" Target="slides/slide372.xml"/><Relationship Id="rId358" Type="http://schemas.openxmlformats.org/officeDocument/2006/relationships/slide" Target="slides/slide373.xml"/><Relationship Id="rId359" Type="http://schemas.openxmlformats.org/officeDocument/2006/relationships/slide" Target="slides/slide374.xml"/><Relationship Id="rId360" Type="http://schemas.openxmlformats.org/officeDocument/2006/relationships/slide" Target="slides/slide375.xml"/><Relationship Id="rId361" Type="http://schemas.openxmlformats.org/officeDocument/2006/relationships/slide" Target="slides/slide376.xml"/><Relationship Id="rId362" Type="http://schemas.openxmlformats.org/officeDocument/2006/relationships/slide" Target="slides/slide377.xml"/><Relationship Id="rId363" Type="http://schemas.openxmlformats.org/officeDocument/2006/relationships/slide" Target="slides/slide378.xml"/><Relationship Id="rId364" Type="http://schemas.openxmlformats.org/officeDocument/2006/relationships/slide" Target="slides/slide379.xml"/><Relationship Id="rId365" Type="http://schemas.openxmlformats.org/officeDocument/2006/relationships/slide" Target="slides/slide380.xml"/><Relationship Id="rId366" Type="http://schemas.openxmlformats.org/officeDocument/2006/relationships/slide" Target="slides/slide381.xml"/><Relationship Id="rId367" Type="http://schemas.openxmlformats.org/officeDocument/2006/relationships/slide" Target="slides/slide382.xml"/><Relationship Id="rId368" Type="http://schemas.openxmlformats.org/officeDocument/2006/relationships/slide" Target="slides/slide383.xml"/><Relationship Id="rId369" Type="http://schemas.openxmlformats.org/officeDocument/2006/relationships/slide" Target="slides/slide384.xml"/><Relationship Id="rId370" Type="http://schemas.openxmlformats.org/officeDocument/2006/relationships/slide" Target="slides/slide385.xml"/><Relationship Id="rId371" Type="http://schemas.openxmlformats.org/officeDocument/2006/relationships/slide" Target="slides/slide386.xml"/><Relationship Id="rId372" Type="http://schemas.openxmlformats.org/officeDocument/2006/relationships/slide" Target="slides/slide387.xml"/><Relationship Id="rId373" Type="http://schemas.openxmlformats.org/officeDocument/2006/relationships/slide" Target="slides/slide388.xml"/><Relationship Id="rId374" Type="http://schemas.openxmlformats.org/officeDocument/2006/relationships/slide" Target="slides/slide389.xml"/><Relationship Id="rId375" Type="http://schemas.openxmlformats.org/officeDocument/2006/relationships/slide" Target="slides/slide390.xml"/><Relationship Id="rId376" Type="http://schemas.openxmlformats.org/officeDocument/2006/relationships/slide" Target="slides/slide391.xml"/><Relationship Id="rId377" Type="http://schemas.openxmlformats.org/officeDocument/2006/relationships/slide" Target="slides/slide392.xml"/><Relationship Id="rId378" Type="http://schemas.openxmlformats.org/officeDocument/2006/relationships/slide" Target="slides/slide393.xml"/><Relationship Id="rId379" Type="http://schemas.openxmlformats.org/officeDocument/2006/relationships/slide" Target="slides/slide394.xml"/><Relationship Id="rId380" Type="http://schemas.openxmlformats.org/officeDocument/2006/relationships/slide" Target="slides/slide395.xml"/><Relationship Id="rId381" Type="http://schemas.openxmlformats.org/officeDocument/2006/relationships/slide" Target="slides/slide396.xml"/><Relationship Id="rId382" Type="http://schemas.openxmlformats.org/officeDocument/2006/relationships/slide" Target="slides/slide397.xml"/><Relationship Id="rId383" Type="http://schemas.openxmlformats.org/officeDocument/2006/relationships/slide" Target="slides/slide398.xml"/><Relationship Id="rId384" Type="http://schemas.openxmlformats.org/officeDocument/2006/relationships/slide" Target="slides/slide399.xml"/><Relationship Id="rId385" Type="http://schemas.openxmlformats.org/officeDocument/2006/relationships/slide" Target="slides/slide400.xml"/><Relationship Id="rId386" Type="http://schemas.openxmlformats.org/officeDocument/2006/relationships/slide" Target="slides/slide401.xml"/><Relationship Id="rId387" Type="http://schemas.openxmlformats.org/officeDocument/2006/relationships/slide" Target="slides/slide402.xml"/><Relationship Id="rId388" Type="http://schemas.openxmlformats.org/officeDocument/2006/relationships/slide" Target="slides/slide403.xml"/><Relationship Id="rId389" Type="http://schemas.openxmlformats.org/officeDocument/2006/relationships/slide" Target="slides/slide404.xml"/><Relationship Id="rId390" Type="http://schemas.openxmlformats.org/officeDocument/2006/relationships/slide" Target="slides/slide405.xml"/><Relationship Id="rId391" Type="http://schemas.openxmlformats.org/officeDocument/2006/relationships/slide" Target="slides/slide406.xml"/><Relationship Id="rId392" Type="http://schemas.openxmlformats.org/officeDocument/2006/relationships/slide" Target="slides/slide407.xml"/><Relationship Id="rId393" Type="http://schemas.openxmlformats.org/officeDocument/2006/relationships/slide" Target="slides/slide408.xml"/><Relationship Id="rId394" Type="http://schemas.openxmlformats.org/officeDocument/2006/relationships/slide" Target="slides/slide409.xml"/><Relationship Id="rId395" Type="http://schemas.openxmlformats.org/officeDocument/2006/relationships/slide" Target="slides/slide410.xml"/><Relationship Id="rId396" Type="http://schemas.openxmlformats.org/officeDocument/2006/relationships/slide" Target="slides/slide411.xml"/><Relationship Id="rId397" Type="http://schemas.openxmlformats.org/officeDocument/2006/relationships/slide" Target="slides/slide412.xml"/><Relationship Id="rId398" Type="http://schemas.openxmlformats.org/officeDocument/2006/relationships/slide" Target="slides/slide413.xml"/><Relationship Id="rId399" Type="http://schemas.openxmlformats.org/officeDocument/2006/relationships/slide" Target="slides/slide414.xml"/><Relationship Id="rId400" Type="http://schemas.openxmlformats.org/officeDocument/2006/relationships/slide" Target="slides/slide415.xml"/><Relationship Id="rId401" Type="http://schemas.openxmlformats.org/officeDocument/2006/relationships/slide" Target="slides/slide416.xml"/><Relationship Id="rId402" Type="http://schemas.openxmlformats.org/officeDocument/2006/relationships/slide" Target="slides/slide417.xml"/><Relationship Id="rId403" Type="http://schemas.openxmlformats.org/officeDocument/2006/relationships/slide" Target="slides/slide418.xml"/><Relationship Id="rId404" Type="http://schemas.openxmlformats.org/officeDocument/2006/relationships/slide" Target="slides/slide419.xml"/><Relationship Id="rId405" Type="http://schemas.openxmlformats.org/officeDocument/2006/relationships/slide" Target="slides/slide420.xml"/><Relationship Id="rId406" Type="http://schemas.openxmlformats.org/officeDocument/2006/relationships/slide" Target="slides/slide421.xml"/><Relationship Id="rId407" Type="http://schemas.openxmlformats.org/officeDocument/2006/relationships/slide" Target="slides/slide422.xml"/><Relationship Id="rId408" Type="http://schemas.openxmlformats.org/officeDocument/2006/relationships/slide" Target="slides/slide423.xml"/><Relationship Id="rId409" Type="http://schemas.openxmlformats.org/officeDocument/2006/relationships/slide" Target="slides/slide424.xml"/><Relationship Id="rId410" Type="http://schemas.openxmlformats.org/officeDocument/2006/relationships/slide" Target="slides/slide425.xml"/><Relationship Id="rId411" Type="http://schemas.openxmlformats.org/officeDocument/2006/relationships/slide" Target="slides/slide426.xml"/><Relationship Id="rId412" Type="http://schemas.openxmlformats.org/officeDocument/2006/relationships/slide" Target="slides/slide427.xml"/><Relationship Id="rId413" Type="http://schemas.openxmlformats.org/officeDocument/2006/relationships/slide" Target="slides/slide428.xml"/><Relationship Id="rId414" Type="http://schemas.openxmlformats.org/officeDocument/2006/relationships/slide" Target="slides/slide429.xml"/><Relationship Id="rId415" Type="http://schemas.openxmlformats.org/officeDocument/2006/relationships/slide" Target="slides/slide430.xml"/><Relationship Id="rId416" Type="http://schemas.openxmlformats.org/officeDocument/2006/relationships/slide" Target="slides/slide431.xml"/><Relationship Id="rId417" Type="http://schemas.openxmlformats.org/officeDocument/2006/relationships/slide" Target="slides/slide432.xml"/><Relationship Id="rId418" Type="http://schemas.openxmlformats.org/officeDocument/2006/relationships/slide" Target="slides/slide433.xml"/><Relationship Id="rId419" Type="http://schemas.openxmlformats.org/officeDocument/2006/relationships/slide" Target="slides/slide434.xml"/><Relationship Id="rId420" Type="http://schemas.openxmlformats.org/officeDocument/2006/relationships/slide" Target="slides/slide435.xml"/><Relationship Id="rId421" Type="http://schemas.openxmlformats.org/officeDocument/2006/relationships/slide" Target="slides/slide436.xml"/><Relationship Id="rId422" Type="http://schemas.openxmlformats.org/officeDocument/2006/relationships/slide" Target="slides/slide437.xml"/><Relationship Id="rId423" Type="http://schemas.openxmlformats.org/officeDocument/2006/relationships/slide" Target="slides/slide438.xml"/><Relationship Id="rId424" Type="http://schemas.openxmlformats.org/officeDocument/2006/relationships/slide" Target="slides/slide439.xml"/><Relationship Id="rId425" Type="http://schemas.openxmlformats.org/officeDocument/2006/relationships/slide" Target="slides/slide440.xml"/><Relationship Id="rId426" Type="http://schemas.openxmlformats.org/officeDocument/2006/relationships/slide" Target="slides/slide441.xml"/><Relationship Id="rId427" Type="http://schemas.openxmlformats.org/officeDocument/2006/relationships/slide" Target="slides/slide442.xml"/><Relationship Id="rId428" Type="http://schemas.openxmlformats.org/officeDocument/2006/relationships/slide" Target="slides/slide443.xml"/><Relationship Id="rId429" Type="http://schemas.openxmlformats.org/officeDocument/2006/relationships/slide" Target="slides/slide444.xml"/><Relationship Id="rId430" Type="http://schemas.openxmlformats.org/officeDocument/2006/relationships/slide" Target="slides/slide445.xml"/><Relationship Id="rId431" Type="http://schemas.openxmlformats.org/officeDocument/2006/relationships/slide" Target="slides/slide446.xml"/><Relationship Id="rId432" Type="http://schemas.openxmlformats.org/officeDocument/2006/relationships/slide" Target="slides/slide447.xml"/><Relationship Id="rId433" Type="http://schemas.openxmlformats.org/officeDocument/2006/relationships/slide" Target="slides/slide448.xml"/><Relationship Id="rId434" Type="http://schemas.openxmlformats.org/officeDocument/2006/relationships/slide" Target="slides/slide449.xml"/><Relationship Id="rId435" Type="http://schemas.openxmlformats.org/officeDocument/2006/relationships/slide" Target="slides/slide450.xml"/><Relationship Id="rId436" Type="http://schemas.openxmlformats.org/officeDocument/2006/relationships/slide" Target="slides/slide451.xml"/><Relationship Id="rId437" Type="http://schemas.openxmlformats.org/officeDocument/2006/relationships/slide" Target="slides/slide452.xml"/><Relationship Id="rId438" Type="http://schemas.openxmlformats.org/officeDocument/2006/relationships/slide" Target="slides/slide453.xml"/><Relationship Id="rId439" Type="http://schemas.openxmlformats.org/officeDocument/2006/relationships/slide" Target="slides/slide454.xml"/><Relationship Id="rId440" Type="http://schemas.openxmlformats.org/officeDocument/2006/relationships/slide" Target="slides/slide455.xml"/><Relationship Id="rId441" Type="http://schemas.openxmlformats.org/officeDocument/2006/relationships/slide" Target="slides/slide456.xml"/><Relationship Id="rId442" Type="http://schemas.openxmlformats.org/officeDocument/2006/relationships/slide" Target="slides/slide457.xml"/><Relationship Id="rId443" Type="http://schemas.openxmlformats.org/officeDocument/2006/relationships/slide" Target="slides/slide458.xml"/><Relationship Id="rId444" Type="http://schemas.openxmlformats.org/officeDocument/2006/relationships/slide" Target="slides/slide459.xml"/><Relationship Id="rId445" Type="http://schemas.openxmlformats.org/officeDocument/2006/relationships/slide" Target="slides/slide460.xml"/><Relationship Id="rId446" Type="http://schemas.openxmlformats.org/officeDocument/2006/relationships/slide" Target="slides/slide461.xml"/><Relationship Id="rId447" Type="http://schemas.openxmlformats.org/officeDocument/2006/relationships/slide" Target="slides/slide462.xml"/><Relationship Id="rId448" Type="http://schemas.openxmlformats.org/officeDocument/2006/relationships/slide" Target="slides/slide463.xml"/><Relationship Id="rId449" Type="http://schemas.openxmlformats.org/officeDocument/2006/relationships/slide" Target="slides/slide464.xml"/><Relationship Id="rId450" Type="http://schemas.openxmlformats.org/officeDocument/2006/relationships/slide" Target="slides/slide465.xml"/><Relationship Id="rId451" Type="http://schemas.openxmlformats.org/officeDocument/2006/relationships/slide" Target="slides/slide466.xml"/><Relationship Id="rId452" Type="http://schemas.openxmlformats.org/officeDocument/2006/relationships/slide" Target="slides/slide467.xml"/><Relationship Id="rId453" Type="http://schemas.openxmlformats.org/officeDocument/2006/relationships/slide" Target="slides/slide468.xml"/><Relationship Id="rId454" Type="http://schemas.openxmlformats.org/officeDocument/2006/relationships/slide" Target="slides/slide469.xml"/><Relationship Id="rId455" Type="http://schemas.openxmlformats.org/officeDocument/2006/relationships/slide" Target="slides/slide470.xml"/><Relationship Id="rId456" Type="http://schemas.openxmlformats.org/officeDocument/2006/relationships/slide" Target="slides/slide471.xml"/><Relationship Id="rId457" Type="http://schemas.openxmlformats.org/officeDocument/2006/relationships/slide" Target="slides/slide472.xml"/><Relationship Id="rId458" Type="http://schemas.openxmlformats.org/officeDocument/2006/relationships/slide" Target="slides/slide473.xml"/><Relationship Id="rId459" Type="http://schemas.openxmlformats.org/officeDocument/2006/relationships/slide" Target="slides/slide474.xml"/><Relationship Id="rId460" Type="http://schemas.openxmlformats.org/officeDocument/2006/relationships/slide" Target="slides/slide475.xml"/><Relationship Id="rId461" Type="http://schemas.openxmlformats.org/officeDocument/2006/relationships/slide" Target="slides/slide476.xml"/><Relationship Id="rId462" Type="http://schemas.openxmlformats.org/officeDocument/2006/relationships/slide" Target="slides/slide477.xml"/><Relationship Id="rId463" Type="http://schemas.openxmlformats.org/officeDocument/2006/relationships/slide" Target="slides/slide478.xml"/><Relationship Id="rId464" Type="http://schemas.openxmlformats.org/officeDocument/2006/relationships/slide" Target="slides/slide479.xml"/><Relationship Id="rId465" Type="http://schemas.openxmlformats.org/officeDocument/2006/relationships/slide" Target="slides/slide480.xml"/><Relationship Id="rId466" Type="http://schemas.openxmlformats.org/officeDocument/2006/relationships/slide" Target="slides/slide481.xml"/><Relationship Id="rId467" Type="http://schemas.openxmlformats.org/officeDocument/2006/relationships/slide" Target="slides/slide482.xml"/><Relationship Id="rId468" Type="http://schemas.openxmlformats.org/officeDocument/2006/relationships/slide" Target="slides/slide483.xml"/><Relationship Id="rId469" Type="http://schemas.openxmlformats.org/officeDocument/2006/relationships/slide" Target="slides/slide484.xml"/><Relationship Id="rId470" Type="http://schemas.openxmlformats.org/officeDocument/2006/relationships/slide" Target="slides/slide485.xml"/><Relationship Id="rId471" Type="http://schemas.openxmlformats.org/officeDocument/2006/relationships/slide" Target="slides/slide486.xml"/><Relationship Id="rId472" Type="http://schemas.openxmlformats.org/officeDocument/2006/relationships/slide" Target="slides/slide487.xml"/><Relationship Id="rId473" Type="http://schemas.openxmlformats.org/officeDocument/2006/relationships/slide" Target="slides/slide488.xml"/><Relationship Id="rId474" Type="http://schemas.openxmlformats.org/officeDocument/2006/relationships/slide" Target="slides/slide489.xml"/><Relationship Id="rId475" Type="http://schemas.openxmlformats.org/officeDocument/2006/relationships/slide" Target="slides/slide490.xml"/><Relationship Id="rId476" Type="http://schemas.openxmlformats.org/officeDocument/2006/relationships/slide" Target="slides/slide491.xml"/><Relationship Id="rId477" Type="http://schemas.openxmlformats.org/officeDocument/2006/relationships/slide" Target="slides/slide492.xml"/><Relationship Id="rId478" Type="http://schemas.openxmlformats.org/officeDocument/2006/relationships/slide" Target="slides/slide493.xml"/><Relationship Id="rId479" Type="http://schemas.openxmlformats.org/officeDocument/2006/relationships/slide" Target="slides/slide494.xml"/><Relationship Id="rId480" Type="http://schemas.openxmlformats.org/officeDocument/2006/relationships/slide" Target="slides/slide495.xml"/><Relationship Id="rId481" Type="http://schemas.openxmlformats.org/officeDocument/2006/relationships/slide" Target="slides/slide496.xml"/><Relationship Id="rId482" Type="http://schemas.openxmlformats.org/officeDocument/2006/relationships/slide" Target="slides/slide497.xml"/><Relationship Id="rId483" Type="http://schemas.openxmlformats.org/officeDocument/2006/relationships/slide" Target="slides/slide498.xml"/><Relationship Id="rId484" Type="http://schemas.openxmlformats.org/officeDocument/2006/relationships/slide" Target="slides/slide499.xml"/><Relationship Id="rId485" Type="http://schemas.openxmlformats.org/officeDocument/2006/relationships/slide" Target="slides/slide500.xml"/><Relationship Id="rId486" Type="http://schemas.openxmlformats.org/officeDocument/2006/relationships/slide" Target="slides/slide501.xml"/><Relationship Id="rId487" Type="http://schemas.openxmlformats.org/officeDocument/2006/relationships/slide" Target="slides/slide502.xml"/><Relationship Id="rId488" Type="http://schemas.openxmlformats.org/officeDocument/2006/relationships/slide" Target="slides/slide503.xml"/><Relationship Id="rId489" Type="http://schemas.openxmlformats.org/officeDocument/2006/relationships/slide" Target="slides/slide504.xml"/><Relationship Id="rId490" Type="http://schemas.openxmlformats.org/officeDocument/2006/relationships/slide" Target="slides/slide505.xml"/><Relationship Id="rId491" Type="http://schemas.openxmlformats.org/officeDocument/2006/relationships/slide" Target="slides/slide506.xml"/><Relationship Id="rId492" Type="http://schemas.openxmlformats.org/officeDocument/2006/relationships/slide" Target="slides/slide507.xml"/><Relationship Id="rId493" Type="http://schemas.openxmlformats.org/officeDocument/2006/relationships/slide" Target="slides/slide508.xml"/><Relationship Id="rId494" Type="http://schemas.openxmlformats.org/officeDocument/2006/relationships/slide" Target="slides/slide509.xml"/><Relationship Id="rId495" Type="http://schemas.openxmlformats.org/officeDocument/2006/relationships/slide" Target="slides/slide510.xml"/><Relationship Id="rId496" Type="http://schemas.openxmlformats.org/officeDocument/2006/relationships/slide" Target="slides/slide511.xml"/><Relationship Id="rId497" Type="http://schemas.openxmlformats.org/officeDocument/2006/relationships/slide" Target="slides/slide512.xml"/><Relationship Id="rId498" Type="http://schemas.openxmlformats.org/officeDocument/2006/relationships/slide" Target="slides/slide513.xml"/><Relationship Id="rId499" Type="http://schemas.openxmlformats.org/officeDocument/2006/relationships/slide" Target="slides/slide514.xml"/><Relationship Id="rId500" Type="http://schemas.openxmlformats.org/officeDocument/2006/relationships/slide" Target="slides/slide515.xml"/><Relationship Id="rId501" Type="http://schemas.openxmlformats.org/officeDocument/2006/relationships/slide" Target="slides/slide516.xml"/><Relationship Id="rId502" Type="http://schemas.openxmlformats.org/officeDocument/2006/relationships/slide" Target="slides/slide517.xml"/><Relationship Id="rId503" Type="http://schemas.openxmlformats.org/officeDocument/2006/relationships/slide" Target="slides/slide518.xml"/><Relationship Id="rId504" Type="http://schemas.openxmlformats.org/officeDocument/2006/relationships/slide" Target="slides/slide519.xml"/><Relationship Id="rId505" Type="http://schemas.openxmlformats.org/officeDocument/2006/relationships/slide" Target="slides/slide520.xml"/><Relationship Id="rId506" Type="http://schemas.openxmlformats.org/officeDocument/2006/relationships/slide" Target="slides/slide521.xml"/><Relationship Id="rId507" Type="http://schemas.openxmlformats.org/officeDocument/2006/relationships/slide" Target="slides/slide522.xml"/><Relationship Id="rId508" Type="http://schemas.openxmlformats.org/officeDocument/2006/relationships/slide" Target="slides/slide523.xml"/><Relationship Id="rId509" Type="http://schemas.openxmlformats.org/officeDocument/2006/relationships/slide" Target="slides/slide524.xml"/><Relationship Id="rId510" Type="http://schemas.openxmlformats.org/officeDocument/2006/relationships/slide" Target="slides/slide525.xml"/><Relationship Id="rId511" Type="http://schemas.openxmlformats.org/officeDocument/2006/relationships/slide" Target="slides/slide526.xml"/><Relationship Id="rId512" Type="http://schemas.openxmlformats.org/officeDocument/2006/relationships/slide" Target="slides/slide527.xml"/><Relationship Id="rId513" Type="http://schemas.openxmlformats.org/officeDocument/2006/relationships/slide" Target="slides/slide528.xml"/><Relationship Id="rId514" Type="http://schemas.openxmlformats.org/officeDocument/2006/relationships/slide" Target="slides/slide529.xml"/><Relationship Id="rId515" Type="http://schemas.openxmlformats.org/officeDocument/2006/relationships/slide" Target="slides/slide530.xml"/><Relationship Id="rId516" Type="http://schemas.openxmlformats.org/officeDocument/2006/relationships/slide" Target="slides/slide531.xml"/><Relationship Id="rId517" Type="http://schemas.openxmlformats.org/officeDocument/2006/relationships/slide" Target="slides/slide532.xml"/><Relationship Id="rId518" Type="http://schemas.openxmlformats.org/officeDocument/2006/relationships/slide" Target="slides/slide533.xml"/><Relationship Id="rId519" Type="http://schemas.openxmlformats.org/officeDocument/2006/relationships/slide" Target="slides/slide534.xml"/><Relationship Id="rId520" Type="http://schemas.openxmlformats.org/officeDocument/2006/relationships/slide" Target="slides/slide535.xml"/><Relationship Id="rId521" Type="http://schemas.openxmlformats.org/officeDocument/2006/relationships/slide" Target="slides/slide536.xml"/><Relationship Id="rId522" Type="http://schemas.openxmlformats.org/officeDocument/2006/relationships/slide" Target="slides/slide537.xml"/><Relationship Id="rId523" Type="http://schemas.openxmlformats.org/officeDocument/2006/relationships/slide" Target="slides/slide538.xml"/><Relationship Id="rId524" Type="http://schemas.openxmlformats.org/officeDocument/2006/relationships/slide" Target="slides/slide539.xml"/><Relationship Id="rId525" Type="http://schemas.openxmlformats.org/officeDocument/2006/relationships/slide" Target="slides/slide540.xml"/><Relationship Id="rId526" Type="http://schemas.openxmlformats.org/officeDocument/2006/relationships/slide" Target="slides/slide541.xml"/><Relationship Id="rId527" Type="http://schemas.openxmlformats.org/officeDocument/2006/relationships/slide" Target="slides/slide542.xml"/><Relationship Id="rId528" Type="http://schemas.openxmlformats.org/officeDocument/2006/relationships/slide" Target="slides/slide543.xml"/><Relationship Id="rId529" Type="http://schemas.openxmlformats.org/officeDocument/2006/relationships/slide" Target="slides/slide544.xml"/><Relationship Id="rId530" Type="http://schemas.openxmlformats.org/officeDocument/2006/relationships/slide" Target="slides/slide545.xml"/><Relationship Id="rId531" Type="http://schemas.openxmlformats.org/officeDocument/2006/relationships/slide" Target="slides/slide546.xml"/><Relationship Id="rId532" Type="http://schemas.openxmlformats.org/officeDocument/2006/relationships/slide" Target="slides/slide547.xml"/><Relationship Id="rId533" Type="http://schemas.openxmlformats.org/officeDocument/2006/relationships/slide" Target="slides/slide548.xml"/><Relationship Id="rId534" Type="http://schemas.openxmlformats.org/officeDocument/2006/relationships/slide" Target="slides/slide12.xml"/><Relationship Id="rId535" Type="http://schemas.openxmlformats.org/officeDocument/2006/relationships/slide" Target="slides/slide13.xml"/><Relationship Id="rId536" Type="http://schemas.openxmlformats.org/officeDocument/2006/relationships/slide" Target="slides/slide14.xml"/><Relationship Id="rId537" Type="http://schemas.openxmlformats.org/officeDocument/2006/relationships/slide" Target="slides/slide15.xml"/><Relationship Id="rId538" Type="http://schemas.openxmlformats.org/officeDocument/2006/relationships/slide" Target="slides/slide16.xml"/><Relationship Id="rId539" Type="http://schemas.openxmlformats.org/officeDocument/2006/relationships/slide" Target="slides/slide17.xml"/><Relationship Id="rId540" Type="http://schemas.openxmlformats.org/officeDocument/2006/relationships/slide" Target="slides/slide18.xml"/><Relationship Id="rId541" Type="http://schemas.openxmlformats.org/officeDocument/2006/relationships/slide" Target="slides/slide19.xml"/><Relationship Id="rId542" Type="http://schemas.openxmlformats.org/officeDocument/2006/relationships/slide" Target="slides/slide20.xml"/><Relationship Id="rId543" Type="http://schemas.openxmlformats.org/officeDocument/2006/relationships/slide" Target="slides/slide21.xml"/><Relationship Id="rId544" Type="http://schemas.openxmlformats.org/officeDocument/2006/relationships/slide" Target="slides/slide22.xml"/><Relationship Id="rId545" Type="http://schemas.openxmlformats.org/officeDocument/2006/relationships/slide" Target="slides/slide23.xml"/><Relationship Id="rId546" Type="http://schemas.openxmlformats.org/officeDocument/2006/relationships/slide" Target="slides/slide11.xml"/><Relationship Id="rId547" Type="http://schemas.openxmlformats.org/officeDocument/2006/relationships/slide" Target="slides/slide25.xml"/><Relationship Id="rId548" Type="http://schemas.openxmlformats.org/officeDocument/2006/relationships/slide" Target="slides/slide26.xml"/><Relationship Id="rId549" Type="http://schemas.openxmlformats.org/officeDocument/2006/relationships/slide" Target="slides/slide27.xml"/><Relationship Id="rId550" Type="http://schemas.openxmlformats.org/officeDocument/2006/relationships/slide" Target="slides/slide28.xml"/><Relationship Id="rId551" Type="http://schemas.openxmlformats.org/officeDocument/2006/relationships/slide" Target="slides/slide29.xml"/><Relationship Id="rId552" Type="http://schemas.openxmlformats.org/officeDocument/2006/relationships/slide" Target="slides/slide30.xml"/><Relationship Id="rId553" Type="http://schemas.openxmlformats.org/officeDocument/2006/relationships/slide" Target="slides/slide31.xml"/><Relationship Id="rId554" Type="http://schemas.openxmlformats.org/officeDocument/2006/relationships/slide" Target="slides/slide32.xml"/><Relationship Id="rId555" Type="http://schemas.openxmlformats.org/officeDocument/2006/relationships/slide" Target="slides/slide24.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 Id="rId22" Type="http://schemas.openxmlformats.org/officeDocument/2006/relationships/image" Target="../media/image35.png"/><Relationship Id="rId23" Type="http://schemas.openxmlformats.org/officeDocument/2006/relationships/image" Target="../media/image36.png"/></Relationships>
</file>

<file path=ppt/charts/_rels/chart7.xml.rels><?xml version='1.0' encoding='UTF-8' standalone='yes'?>
<Relationships xmlns="http://schemas.openxmlformats.org/package/2006/relationships"><Relationship Id="rId2" Type="http://schemas.openxmlformats.org/officeDocument/2006/relationships/image" Target="../media/image37.png"/><Relationship Id="rId3" Type="http://schemas.openxmlformats.org/officeDocument/2006/relationships/image" Target="../media/image38.png"/><Relationship Id="rId4" Type="http://schemas.openxmlformats.org/officeDocument/2006/relationships/image" Target="../media/image39.png"/><Relationship Id="rId5" Type="http://schemas.openxmlformats.org/officeDocument/2006/relationships/image" Target="../media/image40.png"/><Relationship Id="rId6" Type="http://schemas.openxmlformats.org/officeDocument/2006/relationships/image" Target="../media/image41.png"/><Relationship Id="rId7" Type="http://schemas.openxmlformats.org/officeDocument/2006/relationships/image" Target="../media/image42.png"/><Relationship Id="rId8" Type="http://schemas.openxmlformats.org/officeDocument/2006/relationships/image" Target="../media/image43.png"/><Relationship Id="rId9" Type="http://schemas.openxmlformats.org/officeDocument/2006/relationships/image" Target="../media/image44.png"/></Relationships>
</file>

<file path=ppt/charts/_rels/chart8.xml.rels><?xml version='1.0' encoding='UTF-8' standalone='yes'?>
<Relationships xmlns="http://schemas.openxmlformats.org/package/2006/relationships"><Relationship Id="rId2" Type="http://schemas.openxmlformats.org/officeDocument/2006/relationships/image" Target="../media/image45.png"/><Relationship Id="rId3" Type="http://schemas.openxmlformats.org/officeDocument/2006/relationships/image" Target="../media/image46.png"/><Relationship Id="rId4" Type="http://schemas.openxmlformats.org/officeDocument/2006/relationships/image" Target="../media/image47.png"/><Relationship Id="rId5" Type="http://schemas.openxmlformats.org/officeDocument/2006/relationships/image" Target="../media/image48.png"/><Relationship Id="rId6" Type="http://schemas.openxmlformats.org/officeDocument/2006/relationships/image" Target="../media/image49.png"/><Relationship Id="rId7" Type="http://schemas.openxmlformats.org/officeDocument/2006/relationships/image" Target="../media/image50.png"/><Relationship Id="rId8" Type="http://schemas.openxmlformats.org/officeDocument/2006/relationships/image" Target="../media/image51.png"/><Relationship Id="rId9" Type="http://schemas.openxmlformats.org/officeDocument/2006/relationships/image" Target="../media/image52.png"/><Relationship Id="rId10" Type="http://schemas.openxmlformats.org/officeDocument/2006/relationships/image" Target="../media/image53.png"/><Relationship Id="rId11" Type="http://schemas.openxmlformats.org/officeDocument/2006/relationships/image" Target="../media/image54.png"/></Relationships>
</file>

<file path=ppt/charts/_rels/chart9.xml.rels><?xml version='1.0' encoding='UTF-8' standalone='yes'?>
<Relationships xmlns="http://schemas.openxmlformats.org/package/2006/relationships"><Relationship Id="rId2" Type="http://schemas.openxmlformats.org/officeDocument/2006/relationships/image" Target="../media/image55.png"/><Relationship Id="rId3" Type="http://schemas.openxmlformats.org/officeDocument/2006/relationships/image" Target="../media/image56.png"/></Relationships>
</file>

<file path=ppt/charts/_rels/chart11.xml.rels><?xml version='1.0' encoding='UTF-8' standalone='yes'?>
<Relationships xmlns="http://schemas.openxmlformats.org/package/2006/relationships"><Relationship Id="rId2" Type="http://schemas.openxmlformats.org/officeDocument/2006/relationships/image" Target="../media/image75.png"/><Relationship Id="rId3" Type="http://schemas.openxmlformats.org/officeDocument/2006/relationships/image" Target="../media/image76.png"/><Relationship Id="rId4" Type="http://schemas.openxmlformats.org/officeDocument/2006/relationships/image" Target="../media/image77.png"/><Relationship Id="rId5" Type="http://schemas.openxmlformats.org/officeDocument/2006/relationships/image" Target="../media/image78.png"/><Relationship Id="rId6" Type="http://schemas.openxmlformats.org/officeDocument/2006/relationships/image" Target="../media/image79.png"/><Relationship Id="rId7" Type="http://schemas.openxmlformats.org/officeDocument/2006/relationships/image" Target="../media/image80.png"/><Relationship Id="rId8" Type="http://schemas.openxmlformats.org/officeDocument/2006/relationships/image" Target="../media/image81.png"/><Relationship Id="rId9" Type="http://schemas.openxmlformats.org/officeDocument/2006/relationships/image" Target="../media/image82.png"/><Relationship Id="rId10" Type="http://schemas.openxmlformats.org/officeDocument/2006/relationships/image" Target="../media/image83.png"/><Relationship Id="rId11" Type="http://schemas.openxmlformats.org/officeDocument/2006/relationships/image" Target="../media/image84.png"/></Relationships>
</file>

<file path=ppt/charts/_rels/chart12.xml.rels><?xml version='1.0' encoding='UTF-8' standalone='yes'?>
<Relationships xmlns="http://schemas.openxmlformats.org/package/2006/relationships"><Relationship Id="rId2" Type="http://schemas.openxmlformats.org/officeDocument/2006/relationships/image" Target="../media/image86.png"/><Relationship Id="rId3" Type="http://schemas.openxmlformats.org/officeDocument/2006/relationships/image" Target="../media/image87.png"/><Relationship Id="rId4" Type="http://schemas.openxmlformats.org/officeDocument/2006/relationships/image" Target="../media/image88.png"/><Relationship Id="rId5" Type="http://schemas.openxmlformats.org/officeDocument/2006/relationships/image" Target="../media/image89.png"/><Relationship Id="rId6" Type="http://schemas.openxmlformats.org/officeDocument/2006/relationships/image" Target="../media/image90.png"/><Relationship Id="rId7" Type="http://schemas.openxmlformats.org/officeDocument/2006/relationships/image" Target="../media/image91.png"/><Relationship Id="rId8" Type="http://schemas.openxmlformats.org/officeDocument/2006/relationships/image" Target="../media/image92.png"/><Relationship Id="rId9" Type="http://schemas.openxmlformats.org/officeDocument/2006/relationships/image" Target="../media/image93.png"/><Relationship Id="rId10" Type="http://schemas.openxmlformats.org/officeDocument/2006/relationships/image" Target="../media/image94.png"/><Relationship Id="rId11" Type="http://schemas.openxmlformats.org/officeDocument/2006/relationships/image" Target="../media/image95.png"/><Relationship Id="rId12" Type="http://schemas.openxmlformats.org/officeDocument/2006/relationships/image" Target="../media/image96.png"/></Relationships>
</file>

<file path=ppt/charts/_rels/chart13.xml.rels><?xml version='1.0' encoding='UTF-8' standalone='yes'?>
<Relationships xmlns="http://schemas.openxmlformats.org/package/2006/relationships"><Relationship Id="rId2" Type="http://schemas.openxmlformats.org/officeDocument/2006/relationships/image" Target="../media/image100.png"/></Relationships>
</file>

<file path=ppt/charts/_rels/chart14.xml.rels><?xml version='1.0' encoding='UTF-8' standalone='yes'?>
<Relationships xmlns="http://schemas.openxmlformats.org/package/2006/relationships"><Relationship Id="rId2" Type="http://schemas.openxmlformats.org/officeDocument/2006/relationships/image" Target="../media/image101.png"/></Relationships>
</file>

<file path=ppt/charts/_rels/chart15.xml.rels><?xml version='1.0' encoding='UTF-8' standalone='yes'?>
<Relationships xmlns="http://schemas.openxmlformats.org/package/2006/relationships"><Relationship Id="rId2" Type="http://schemas.openxmlformats.org/officeDocument/2006/relationships/image" Target="../media/image108.png"/><Relationship Id="rId3" Type="http://schemas.openxmlformats.org/officeDocument/2006/relationships/image" Target="../media/image109.png"/><Relationship Id="rId4" Type="http://schemas.openxmlformats.org/officeDocument/2006/relationships/image" Target="../media/image110.png"/><Relationship Id="rId5" Type="http://schemas.openxmlformats.org/officeDocument/2006/relationships/image" Target="../media/image111.png"/><Relationship Id="rId6" Type="http://schemas.openxmlformats.org/officeDocument/2006/relationships/image" Target="../media/image112.png"/><Relationship Id="rId7" Type="http://schemas.openxmlformats.org/officeDocument/2006/relationships/image" Target="../media/image113.png"/><Relationship Id="rId8" Type="http://schemas.openxmlformats.org/officeDocument/2006/relationships/image" Target="../media/image114.png"/><Relationship Id="rId9" Type="http://schemas.openxmlformats.org/officeDocument/2006/relationships/image" Target="../media/image115.png"/><Relationship Id="rId10" Type="http://schemas.openxmlformats.org/officeDocument/2006/relationships/image" Target="../media/image116.png"/><Relationship Id="rId11" Type="http://schemas.openxmlformats.org/officeDocument/2006/relationships/image" Target="../media/image117.png"/></Relationships>
</file>

<file path=ppt/charts/_rels/chart19.xml.rels><?xml version='1.0' encoding='UTF-8' standalone='yes'?>
<Relationships xmlns="http://schemas.openxmlformats.org/package/2006/relationships"><Relationship Id="rId2" Type="http://schemas.openxmlformats.org/officeDocument/2006/relationships/image" Target="../media/image118.png"/><Relationship Id="rId3" Type="http://schemas.openxmlformats.org/officeDocument/2006/relationships/image" Target="../media/image119.png"/><Relationship Id="rId4" Type="http://schemas.openxmlformats.org/officeDocument/2006/relationships/image" Target="../media/image120.png"/><Relationship Id="rId5" Type="http://schemas.openxmlformats.org/officeDocument/2006/relationships/image" Target="../media/image121.png"/><Relationship Id="rId6" Type="http://schemas.openxmlformats.org/officeDocument/2006/relationships/image" Target="../media/image122.png"/><Relationship Id="rId7" Type="http://schemas.openxmlformats.org/officeDocument/2006/relationships/image" Target="../media/image123.png"/></Relationships>
</file>

<file path=ppt/charts/_rels/chart20.xml.rels><?xml version='1.0' encoding='UTF-8' standalone='yes'?>
<Relationships xmlns="http://schemas.openxmlformats.org/package/2006/relationships"><Relationship Id="rId2" Type="http://schemas.openxmlformats.org/officeDocument/2006/relationships/image" Target="../media/image130.png"/><Relationship Id="rId3" Type="http://schemas.openxmlformats.org/officeDocument/2006/relationships/image" Target="../media/image131.png"/><Relationship Id="rId4" Type="http://schemas.openxmlformats.org/officeDocument/2006/relationships/image" Target="../media/image132.png"/><Relationship Id="rId5" Type="http://schemas.openxmlformats.org/officeDocument/2006/relationships/image" Target="../media/image133.png"/><Relationship Id="rId6" Type="http://schemas.openxmlformats.org/officeDocument/2006/relationships/image" Target="../media/image134.png"/><Relationship Id="rId7" Type="http://schemas.openxmlformats.org/officeDocument/2006/relationships/image" Target="../media/image135.png"/><Relationship Id="rId8" Type="http://schemas.openxmlformats.org/officeDocument/2006/relationships/image" Target="../media/image136.png"/><Relationship Id="rId9" Type="http://schemas.openxmlformats.org/officeDocument/2006/relationships/image" Target="../media/image137.png"/><Relationship Id="rId10" Type="http://schemas.openxmlformats.org/officeDocument/2006/relationships/image" Target="../media/image138.png"/><Relationship Id="rId11" Type="http://schemas.openxmlformats.org/officeDocument/2006/relationships/image" Target="../media/image139.png"/><Relationship Id="rId12" Type="http://schemas.openxmlformats.org/officeDocument/2006/relationships/image" Target="../media/image140.png"/><Relationship Id="rId13" Type="http://schemas.openxmlformats.org/officeDocument/2006/relationships/image" Target="../media/image141.png"/></Relationships>
</file>

<file path=ppt/charts/_rels/chart24.xml.rels><?xml version='1.0' encoding='UTF-8' standalone='yes'?>
<Relationships xmlns="http://schemas.openxmlformats.org/package/2006/relationships"><Relationship Id="rId2" Type="http://schemas.openxmlformats.org/officeDocument/2006/relationships/image" Target="../media/image142.png"/><Relationship Id="rId3" Type="http://schemas.openxmlformats.org/officeDocument/2006/relationships/image" Target="../media/image143.png"/><Relationship Id="rId4" Type="http://schemas.openxmlformats.org/officeDocument/2006/relationships/image" Target="../media/image144.png"/><Relationship Id="rId5" Type="http://schemas.openxmlformats.org/officeDocument/2006/relationships/image" Target="../media/image145.png"/><Relationship Id="rId6" Type="http://schemas.openxmlformats.org/officeDocument/2006/relationships/image" Target="../media/image146.png"/><Relationship Id="rId7" Type="http://schemas.openxmlformats.org/officeDocument/2006/relationships/image" Target="../media/image147.png"/></Relationships>
</file>

<file path=ppt/charts/_rels/chart25.xml.rels><?xml version='1.0' encoding='UTF-8' standalone='yes'?>
<Relationships xmlns="http://schemas.openxmlformats.org/package/2006/relationships"><Relationship Id="rId2" Type="http://schemas.openxmlformats.org/officeDocument/2006/relationships/image" Target="../media/image169.png"/><Relationship Id="rId3" Type="http://schemas.openxmlformats.org/officeDocument/2006/relationships/image" Target="../media/image170.png"/><Relationship Id="rId4" Type="http://schemas.openxmlformats.org/officeDocument/2006/relationships/image" Target="../media/image171.png"/><Relationship Id="rId5" Type="http://schemas.openxmlformats.org/officeDocument/2006/relationships/image" Target="../media/image172.png"/><Relationship Id="rId6" Type="http://schemas.openxmlformats.org/officeDocument/2006/relationships/image" Target="../media/image173.png"/><Relationship Id="rId7" Type="http://schemas.openxmlformats.org/officeDocument/2006/relationships/image" Target="../media/image174.png"/><Relationship Id="rId8" Type="http://schemas.openxmlformats.org/officeDocument/2006/relationships/image" Target="../media/image175.png"/><Relationship Id="rId9" Type="http://schemas.openxmlformats.org/officeDocument/2006/relationships/image" Target="../media/image176.png"/><Relationship Id="rId10" Type="http://schemas.openxmlformats.org/officeDocument/2006/relationships/image" Target="../media/image177.png"/><Relationship Id="rId11" Type="http://schemas.openxmlformats.org/officeDocument/2006/relationships/image" Target="../media/image178.png"/><Relationship Id="rId12" Type="http://schemas.openxmlformats.org/officeDocument/2006/relationships/image" Target="../media/image179.png"/><Relationship Id="rId13" Type="http://schemas.openxmlformats.org/officeDocument/2006/relationships/image" Target="../media/image180.png"/><Relationship Id="rId14" Type="http://schemas.openxmlformats.org/officeDocument/2006/relationships/image" Target="../media/image181.png"/><Relationship Id="rId15" Type="http://schemas.openxmlformats.org/officeDocument/2006/relationships/image" Target="../media/image182.png"/><Relationship Id="rId16" Type="http://schemas.openxmlformats.org/officeDocument/2006/relationships/image" Target="../media/image183.png"/><Relationship Id="rId17" Type="http://schemas.openxmlformats.org/officeDocument/2006/relationships/image" Target="../media/image184.png"/><Relationship Id="rId18" Type="http://schemas.openxmlformats.org/officeDocument/2006/relationships/image" Target="../media/image185.png"/><Relationship Id="rId19" Type="http://schemas.openxmlformats.org/officeDocument/2006/relationships/image" Target="../media/image186.png"/><Relationship Id="rId20" Type="http://schemas.openxmlformats.org/officeDocument/2006/relationships/image" Target="../media/image187.png"/><Relationship Id="rId21" Type="http://schemas.openxmlformats.org/officeDocument/2006/relationships/image" Target="../media/image188.png"/><Relationship Id="rId22" Type="http://schemas.openxmlformats.org/officeDocument/2006/relationships/image" Target="../media/image189.png"/><Relationship Id="rId23" Type="http://schemas.openxmlformats.org/officeDocument/2006/relationships/image" Target="../media/image190.png"/><Relationship Id="rId24" Type="http://schemas.openxmlformats.org/officeDocument/2006/relationships/image" Target="../media/image191.png"/><Relationship Id="rId25" Type="http://schemas.openxmlformats.org/officeDocument/2006/relationships/image" Target="../media/image192.png"/><Relationship Id="rId26" Type="http://schemas.openxmlformats.org/officeDocument/2006/relationships/image" Target="../media/image193.png"/><Relationship Id="rId27" Type="http://schemas.openxmlformats.org/officeDocument/2006/relationships/image" Target="../media/image194.png"/><Relationship Id="rId28" Type="http://schemas.openxmlformats.org/officeDocument/2006/relationships/image" Target="../media/image195.png"/><Relationship Id="rId29" Type="http://schemas.openxmlformats.org/officeDocument/2006/relationships/image" Target="../media/image196.png"/><Relationship Id="rId30" Type="http://schemas.openxmlformats.org/officeDocument/2006/relationships/image" Target="../media/image197.png"/><Relationship Id="rId31" Type="http://schemas.openxmlformats.org/officeDocument/2006/relationships/image" Target="../media/image198.png"/><Relationship Id="rId32" Type="http://schemas.openxmlformats.org/officeDocument/2006/relationships/image" Target="../media/image199.png"/><Relationship Id="rId33" Type="http://schemas.openxmlformats.org/officeDocument/2006/relationships/image" Target="../media/image200.png"/><Relationship Id="rId34" Type="http://schemas.openxmlformats.org/officeDocument/2006/relationships/image" Target="../media/image201.png"/><Relationship Id="rId35" Type="http://schemas.openxmlformats.org/officeDocument/2006/relationships/image" Target="../media/image202.png"/><Relationship Id="rId36" Type="http://schemas.openxmlformats.org/officeDocument/2006/relationships/image" Target="../media/image203.png"/><Relationship Id="rId37" Type="http://schemas.openxmlformats.org/officeDocument/2006/relationships/image" Target="../media/image204.png"/><Relationship Id="rId38" Type="http://schemas.openxmlformats.org/officeDocument/2006/relationships/image" Target="../media/image205.png"/><Relationship Id="rId39" Type="http://schemas.openxmlformats.org/officeDocument/2006/relationships/image" Target="../media/image206.png"/><Relationship Id="rId40" Type="http://schemas.openxmlformats.org/officeDocument/2006/relationships/image" Target="../media/image207.png"/><Relationship Id="rId41" Type="http://schemas.openxmlformats.org/officeDocument/2006/relationships/image" Target="../media/image208.png"/><Relationship Id="rId42" Type="http://schemas.openxmlformats.org/officeDocument/2006/relationships/image" Target="../media/image209.png"/><Relationship Id="rId43" Type="http://schemas.openxmlformats.org/officeDocument/2006/relationships/image" Target="../media/image210.png"/><Relationship Id="rId44" Type="http://schemas.openxmlformats.org/officeDocument/2006/relationships/image" Target="../media/image211.png"/></Relationships>
</file>

<file path=ppt/charts/_rels/chart35.xml.rels><?xml version='1.0' encoding='UTF-8' standalone='yes'?>
<Relationships xmlns="http://schemas.openxmlformats.org/package/2006/relationships"><Relationship Id="rId2" Type="http://schemas.openxmlformats.org/officeDocument/2006/relationships/image" Target="../media/image212.png"/><Relationship Id="rId3" Type="http://schemas.openxmlformats.org/officeDocument/2006/relationships/image" Target="../media/image213.png"/><Relationship Id="rId4" Type="http://schemas.openxmlformats.org/officeDocument/2006/relationships/image" Target="../media/image214.png"/><Relationship Id="rId5" Type="http://schemas.openxmlformats.org/officeDocument/2006/relationships/image" Target="../media/image215.png"/><Relationship Id="rId6" Type="http://schemas.openxmlformats.org/officeDocument/2006/relationships/image" Target="../media/image216.png"/><Relationship Id="rId7" Type="http://schemas.openxmlformats.org/officeDocument/2006/relationships/image" Target="../media/image217.png"/><Relationship Id="rId8" Type="http://schemas.openxmlformats.org/officeDocument/2006/relationships/image" Target="../media/image218.png"/><Relationship Id="rId9" Type="http://schemas.openxmlformats.org/officeDocument/2006/relationships/image" Target="../media/image219.png"/><Relationship Id="rId10" Type="http://schemas.openxmlformats.org/officeDocument/2006/relationships/image" Target="../media/image220.png"/><Relationship Id="rId11" Type="http://schemas.openxmlformats.org/officeDocument/2006/relationships/image" Target="../media/image221.png"/><Relationship Id="rId12" Type="http://schemas.openxmlformats.org/officeDocument/2006/relationships/image" Target="../media/image222.png"/><Relationship Id="rId13" Type="http://schemas.openxmlformats.org/officeDocument/2006/relationships/image" Target="../media/image223.png"/><Relationship Id="rId14" Type="http://schemas.openxmlformats.org/officeDocument/2006/relationships/image" Target="../media/image224.png"/><Relationship Id="rId15" Type="http://schemas.openxmlformats.org/officeDocument/2006/relationships/image" Target="../media/image225.png"/><Relationship Id="rId16" Type="http://schemas.openxmlformats.org/officeDocument/2006/relationships/image" Target="../media/image226.png"/><Relationship Id="rId17" Type="http://schemas.openxmlformats.org/officeDocument/2006/relationships/image" Target="../media/image227.png"/><Relationship Id="rId18" Type="http://schemas.openxmlformats.org/officeDocument/2006/relationships/image" Target="../media/image228.png"/><Relationship Id="rId19" Type="http://schemas.openxmlformats.org/officeDocument/2006/relationships/image" Target="../media/image229.png"/><Relationship Id="rId20" Type="http://schemas.openxmlformats.org/officeDocument/2006/relationships/image" Target="../media/image230.png"/><Relationship Id="rId21" Type="http://schemas.openxmlformats.org/officeDocument/2006/relationships/image" Target="../media/image231.png"/><Relationship Id="rId22" Type="http://schemas.openxmlformats.org/officeDocument/2006/relationships/image" Target="../media/image232.png"/></Relationships>
</file>

<file path=ppt/charts/_rels/chart36.xml.rels><?xml version='1.0' encoding='UTF-8' standalone='yes'?>
<Relationships xmlns="http://schemas.openxmlformats.org/package/2006/relationships"><Relationship Id="rId2" Type="http://schemas.openxmlformats.org/officeDocument/2006/relationships/image" Target="../media/image243.png"/><Relationship Id="rId3" Type="http://schemas.openxmlformats.org/officeDocument/2006/relationships/image" Target="../media/image244.png"/><Relationship Id="rId4" Type="http://schemas.openxmlformats.org/officeDocument/2006/relationships/image" Target="../media/image245.png"/><Relationship Id="rId5" Type="http://schemas.openxmlformats.org/officeDocument/2006/relationships/image" Target="../media/image246.png"/><Relationship Id="rId6" Type="http://schemas.openxmlformats.org/officeDocument/2006/relationships/image" Target="../media/image247.png"/><Relationship Id="rId7" Type="http://schemas.openxmlformats.org/officeDocument/2006/relationships/image" Target="../media/image248.png"/><Relationship Id="rId8" Type="http://schemas.openxmlformats.org/officeDocument/2006/relationships/image" Target="../media/image249.png"/><Relationship Id="rId9" Type="http://schemas.openxmlformats.org/officeDocument/2006/relationships/image" Target="../media/image250.png"/><Relationship Id="rId10" Type="http://schemas.openxmlformats.org/officeDocument/2006/relationships/image" Target="../media/image251.png"/><Relationship Id="rId11" Type="http://schemas.openxmlformats.org/officeDocument/2006/relationships/image" Target="../media/image252.png"/><Relationship Id="rId12" Type="http://schemas.openxmlformats.org/officeDocument/2006/relationships/image" Target="../media/image253.png"/><Relationship Id="rId13" Type="http://schemas.openxmlformats.org/officeDocument/2006/relationships/image" Target="../media/image254.png"/><Relationship Id="rId14" Type="http://schemas.openxmlformats.org/officeDocument/2006/relationships/image" Target="../media/image255.png"/><Relationship Id="rId15" Type="http://schemas.openxmlformats.org/officeDocument/2006/relationships/image" Target="../media/image256.png"/><Relationship Id="rId16" Type="http://schemas.openxmlformats.org/officeDocument/2006/relationships/image" Target="../media/image257.png"/><Relationship Id="rId17" Type="http://schemas.openxmlformats.org/officeDocument/2006/relationships/image" Target="../media/image258.png"/><Relationship Id="rId18" Type="http://schemas.openxmlformats.org/officeDocument/2006/relationships/image" Target="../media/image259.png"/><Relationship Id="rId19" Type="http://schemas.openxmlformats.org/officeDocument/2006/relationships/image" Target="../media/image260.png"/><Relationship Id="rId20" Type="http://schemas.openxmlformats.org/officeDocument/2006/relationships/image" Target="../media/image261.png"/><Relationship Id="rId21" Type="http://schemas.openxmlformats.org/officeDocument/2006/relationships/image" Target="../media/image262.png"/><Relationship Id="rId22" Type="http://schemas.openxmlformats.org/officeDocument/2006/relationships/image" Target="../media/image263.png"/><Relationship Id="rId23" Type="http://schemas.openxmlformats.org/officeDocument/2006/relationships/image" Target="../media/image264.png"/></Relationships>
</file>

<file path=ppt/charts/_rels/chart42.xml.rels><?xml version='1.0' encoding='UTF-8' standalone='yes'?>
<Relationships xmlns="http://schemas.openxmlformats.org/package/2006/relationships"><Relationship Id="rId2" Type="http://schemas.openxmlformats.org/officeDocument/2006/relationships/image" Target="../media/image265.png"/><Relationship Id="rId3" Type="http://schemas.openxmlformats.org/officeDocument/2006/relationships/image" Target="../media/image266.png"/><Relationship Id="rId4" Type="http://schemas.openxmlformats.org/officeDocument/2006/relationships/image" Target="../media/image267.png"/><Relationship Id="rId5" Type="http://schemas.openxmlformats.org/officeDocument/2006/relationships/image" Target="../media/image268.png"/><Relationship Id="rId6" Type="http://schemas.openxmlformats.org/officeDocument/2006/relationships/image" Target="../media/image269.png"/><Relationship Id="rId7" Type="http://schemas.openxmlformats.org/officeDocument/2006/relationships/image" Target="../media/image270.png"/><Relationship Id="rId8" Type="http://schemas.openxmlformats.org/officeDocument/2006/relationships/image" Target="../media/image271.png"/><Relationship Id="rId9" Type="http://schemas.openxmlformats.org/officeDocument/2006/relationships/image" Target="../media/image272.png"/><Relationship Id="rId10" Type="http://schemas.openxmlformats.org/officeDocument/2006/relationships/image" Target="../media/image273.png"/><Relationship Id="rId11" Type="http://schemas.openxmlformats.org/officeDocument/2006/relationships/image" Target="../media/image274.png"/><Relationship Id="rId12" Type="http://schemas.openxmlformats.org/officeDocument/2006/relationships/image" Target="../media/image275.png"/><Relationship Id="rId13" Type="http://schemas.openxmlformats.org/officeDocument/2006/relationships/image" Target="../media/image276.png"/></Relationships>
</file>

<file path=ppt/charts/_rels/chart43.xml.rels><?xml version='1.0' encoding='UTF-8' standalone='yes'?>
<Relationships xmlns="http://schemas.openxmlformats.org/package/2006/relationships"><Relationship Id="rId2" Type="http://schemas.openxmlformats.org/officeDocument/2006/relationships/image" Target="../media/image296.png"/><Relationship Id="rId3" Type="http://schemas.openxmlformats.org/officeDocument/2006/relationships/image" Target="../media/image297.png"/><Relationship Id="rId4" Type="http://schemas.openxmlformats.org/officeDocument/2006/relationships/image" Target="../media/image298.png"/><Relationship Id="rId5" Type="http://schemas.openxmlformats.org/officeDocument/2006/relationships/image" Target="../media/image299.png"/><Relationship Id="rId6" Type="http://schemas.openxmlformats.org/officeDocument/2006/relationships/image" Target="../media/image300.png"/><Relationship Id="rId7" Type="http://schemas.openxmlformats.org/officeDocument/2006/relationships/image" Target="../media/image301.png"/><Relationship Id="rId8" Type="http://schemas.openxmlformats.org/officeDocument/2006/relationships/image" Target="../media/image302.png"/><Relationship Id="rId9" Type="http://schemas.openxmlformats.org/officeDocument/2006/relationships/image" Target="../media/image303.png"/><Relationship Id="rId10" Type="http://schemas.openxmlformats.org/officeDocument/2006/relationships/image" Target="../media/image304.png"/><Relationship Id="rId11" Type="http://schemas.openxmlformats.org/officeDocument/2006/relationships/image" Target="../media/image305.png"/><Relationship Id="rId12" Type="http://schemas.openxmlformats.org/officeDocument/2006/relationships/image" Target="../media/image306.png"/><Relationship Id="rId13" Type="http://schemas.openxmlformats.org/officeDocument/2006/relationships/image" Target="../media/image307.png"/><Relationship Id="rId14" Type="http://schemas.openxmlformats.org/officeDocument/2006/relationships/image" Target="../media/image308.png"/><Relationship Id="rId15" Type="http://schemas.openxmlformats.org/officeDocument/2006/relationships/image" Target="../media/image309.png"/><Relationship Id="rId16" Type="http://schemas.openxmlformats.org/officeDocument/2006/relationships/image" Target="../media/image310.png"/><Relationship Id="rId17" Type="http://schemas.openxmlformats.org/officeDocument/2006/relationships/image" Target="../media/image311.png"/><Relationship Id="rId18" Type="http://schemas.openxmlformats.org/officeDocument/2006/relationships/image" Target="../media/image312.png"/><Relationship Id="rId19" Type="http://schemas.openxmlformats.org/officeDocument/2006/relationships/image" Target="../media/image313.png"/><Relationship Id="rId20" Type="http://schemas.openxmlformats.org/officeDocument/2006/relationships/image" Target="../media/image314.png"/><Relationship Id="rId21" Type="http://schemas.openxmlformats.org/officeDocument/2006/relationships/image" Target="../media/image315.png"/><Relationship Id="rId22" Type="http://schemas.openxmlformats.org/officeDocument/2006/relationships/image" Target="../media/image316.png"/><Relationship Id="rId23" Type="http://schemas.openxmlformats.org/officeDocument/2006/relationships/image" Target="../media/image317.png"/><Relationship Id="rId24" Type="http://schemas.openxmlformats.org/officeDocument/2006/relationships/image" Target="../media/image318.png"/><Relationship Id="rId25" Type="http://schemas.openxmlformats.org/officeDocument/2006/relationships/image" Target="../media/image319.png"/><Relationship Id="rId26" Type="http://schemas.openxmlformats.org/officeDocument/2006/relationships/image" Target="../media/image320.png"/><Relationship Id="rId27" Type="http://schemas.openxmlformats.org/officeDocument/2006/relationships/image" Target="../media/image321.png"/><Relationship Id="rId28" Type="http://schemas.openxmlformats.org/officeDocument/2006/relationships/image" Target="../media/image322.png"/><Relationship Id="rId29" Type="http://schemas.openxmlformats.org/officeDocument/2006/relationships/image" Target="../media/image323.png"/><Relationship Id="rId30" Type="http://schemas.openxmlformats.org/officeDocument/2006/relationships/image" Target="../media/image324.png"/><Relationship Id="rId31" Type="http://schemas.openxmlformats.org/officeDocument/2006/relationships/image" Target="../media/image325.png"/><Relationship Id="rId32" Type="http://schemas.openxmlformats.org/officeDocument/2006/relationships/image" Target="../media/image326.png"/><Relationship Id="rId33" Type="http://schemas.openxmlformats.org/officeDocument/2006/relationships/image" Target="../media/image327.png"/><Relationship Id="rId34" Type="http://schemas.openxmlformats.org/officeDocument/2006/relationships/image" Target="../media/image328.png"/><Relationship Id="rId35" Type="http://schemas.openxmlformats.org/officeDocument/2006/relationships/image" Target="../media/image329.png"/><Relationship Id="rId36" Type="http://schemas.openxmlformats.org/officeDocument/2006/relationships/image" Target="../media/image330.png"/><Relationship Id="rId37" Type="http://schemas.openxmlformats.org/officeDocument/2006/relationships/image" Target="../media/image331.png"/><Relationship Id="rId38" Type="http://schemas.openxmlformats.org/officeDocument/2006/relationships/image" Target="../media/image332.png"/><Relationship Id="rId39" Type="http://schemas.openxmlformats.org/officeDocument/2006/relationships/image" Target="../media/image333.png"/><Relationship Id="rId40" Type="http://schemas.openxmlformats.org/officeDocument/2006/relationships/image" Target="../media/image334.png"/><Relationship Id="rId41" Type="http://schemas.openxmlformats.org/officeDocument/2006/relationships/image" Target="../media/image335.png"/></Relationships>
</file>

<file path=ppt/charts/_rels/chart52.xml.rels><?xml version='1.0' encoding='UTF-8' standalone='yes'?>
<Relationships xmlns="http://schemas.openxmlformats.org/package/2006/relationships"><Relationship Id="rId2" Type="http://schemas.openxmlformats.org/officeDocument/2006/relationships/image" Target="../media/image336.png"/><Relationship Id="rId3" Type="http://schemas.openxmlformats.org/officeDocument/2006/relationships/image" Target="../media/image337.png"/><Relationship Id="rId4" Type="http://schemas.openxmlformats.org/officeDocument/2006/relationships/image" Target="../media/image338.png"/><Relationship Id="rId5" Type="http://schemas.openxmlformats.org/officeDocument/2006/relationships/image" Target="../media/image339.png"/><Relationship Id="rId6" Type="http://schemas.openxmlformats.org/officeDocument/2006/relationships/image" Target="../media/image340.png"/><Relationship Id="rId7" Type="http://schemas.openxmlformats.org/officeDocument/2006/relationships/image" Target="../media/image341.png"/><Relationship Id="rId8" Type="http://schemas.openxmlformats.org/officeDocument/2006/relationships/image" Target="../media/image342.png"/><Relationship Id="rId9" Type="http://schemas.openxmlformats.org/officeDocument/2006/relationships/image" Target="../media/image343.png"/><Relationship Id="rId10" Type="http://schemas.openxmlformats.org/officeDocument/2006/relationships/image" Target="../media/image344.png"/><Relationship Id="rId11" Type="http://schemas.openxmlformats.org/officeDocument/2006/relationships/image" Target="../media/image345.png"/><Relationship Id="rId12" Type="http://schemas.openxmlformats.org/officeDocument/2006/relationships/image" Target="../media/image346.png"/><Relationship Id="rId13" Type="http://schemas.openxmlformats.org/officeDocument/2006/relationships/image" Target="../media/image347.png"/><Relationship Id="rId14" Type="http://schemas.openxmlformats.org/officeDocument/2006/relationships/image" Target="../media/image348.png"/><Relationship Id="rId15" Type="http://schemas.openxmlformats.org/officeDocument/2006/relationships/image" Target="../media/image349.png"/><Relationship Id="rId16" Type="http://schemas.openxmlformats.org/officeDocument/2006/relationships/image" Target="../media/image350.png"/><Relationship Id="rId17" Type="http://schemas.openxmlformats.org/officeDocument/2006/relationships/image" Target="../media/image351.png"/><Relationship Id="rId18" Type="http://schemas.openxmlformats.org/officeDocument/2006/relationships/image" Target="../media/image352.png"/><Relationship Id="rId19" Type="http://schemas.openxmlformats.org/officeDocument/2006/relationships/image" Target="../media/image353.png"/><Relationship Id="rId20" Type="http://schemas.openxmlformats.org/officeDocument/2006/relationships/image" Target="../media/image354.png"/><Relationship Id="rId21" Type="http://schemas.openxmlformats.org/officeDocument/2006/relationships/image" Target="../media/image355.png"/><Relationship Id="rId22" Type="http://schemas.openxmlformats.org/officeDocument/2006/relationships/image" Target="../media/image356.png"/></Relationships>
</file>

<file path=ppt/charts/_rels/chart53.xml.rels><?xml version='1.0' encoding='UTF-8' standalone='yes'?>
<Relationships xmlns="http://schemas.openxmlformats.org/package/2006/relationships"><Relationship Id="rId2" Type="http://schemas.openxmlformats.org/officeDocument/2006/relationships/image" Target="../media/image365.png"/><Relationship Id="rId3" Type="http://schemas.openxmlformats.org/officeDocument/2006/relationships/image" Target="../media/image366.png"/><Relationship Id="rId4" Type="http://schemas.openxmlformats.org/officeDocument/2006/relationships/image" Target="../media/image367.png"/><Relationship Id="rId5" Type="http://schemas.openxmlformats.org/officeDocument/2006/relationships/image" Target="../media/image368.png"/><Relationship Id="rId6" Type="http://schemas.openxmlformats.org/officeDocument/2006/relationships/image" Target="../media/image369.png"/><Relationship Id="rId7" Type="http://schemas.openxmlformats.org/officeDocument/2006/relationships/image" Target="../media/image370.png"/><Relationship Id="rId8" Type="http://schemas.openxmlformats.org/officeDocument/2006/relationships/image" Target="../media/image371.png"/><Relationship Id="rId9" Type="http://schemas.openxmlformats.org/officeDocument/2006/relationships/image" Target="../media/image372.png"/><Relationship Id="rId10" Type="http://schemas.openxmlformats.org/officeDocument/2006/relationships/image" Target="../media/image373.png"/><Relationship Id="rId11" Type="http://schemas.openxmlformats.org/officeDocument/2006/relationships/image" Target="../media/image374.png"/><Relationship Id="rId12" Type="http://schemas.openxmlformats.org/officeDocument/2006/relationships/image" Target="../media/image375.png"/><Relationship Id="rId13" Type="http://schemas.openxmlformats.org/officeDocument/2006/relationships/image" Target="../media/image376.png"/><Relationship Id="rId14" Type="http://schemas.openxmlformats.org/officeDocument/2006/relationships/image" Target="../media/image377.png"/><Relationship Id="rId15" Type="http://schemas.openxmlformats.org/officeDocument/2006/relationships/image" Target="../media/image378.png"/><Relationship Id="rId16" Type="http://schemas.openxmlformats.org/officeDocument/2006/relationships/image" Target="../media/image379.png"/></Relationships>
</file>

<file path=ppt/charts/_rels/chart58.xml.rels><?xml version='1.0' encoding='UTF-8' standalone='yes'?>
<Relationships xmlns="http://schemas.openxmlformats.org/package/2006/relationships"><Relationship Id="rId2" Type="http://schemas.openxmlformats.org/officeDocument/2006/relationships/image" Target="../media/image380.png"/><Relationship Id="rId3" Type="http://schemas.openxmlformats.org/officeDocument/2006/relationships/image" Target="../media/image381.png"/><Relationship Id="rId4" Type="http://schemas.openxmlformats.org/officeDocument/2006/relationships/image" Target="../media/image382.png"/><Relationship Id="rId5" Type="http://schemas.openxmlformats.org/officeDocument/2006/relationships/image" Target="../media/image383.png"/><Relationship Id="rId6" Type="http://schemas.openxmlformats.org/officeDocument/2006/relationships/image" Target="../media/image384.png"/><Relationship Id="rId7" Type="http://schemas.openxmlformats.org/officeDocument/2006/relationships/image" Target="../media/image385.png"/><Relationship Id="rId8" Type="http://schemas.openxmlformats.org/officeDocument/2006/relationships/image" Target="../media/image386.png"/><Relationship Id="rId9" Type="http://schemas.openxmlformats.org/officeDocument/2006/relationships/image" Target="../media/image387.png"/><Relationship Id="rId10" Type="http://schemas.openxmlformats.org/officeDocument/2006/relationships/image" Target="../media/image388.png"/></Relationships>
</file>

<file path=ppt/charts/_rels/chart59.xml.rels><?xml version='1.0' encoding='UTF-8' standalone='yes'?>
<Relationships xmlns="http://schemas.openxmlformats.org/package/2006/relationships"><Relationship Id="rId2" Type="http://schemas.openxmlformats.org/officeDocument/2006/relationships/image" Target="../media/image393.png"/><Relationship Id="rId3" Type="http://schemas.openxmlformats.org/officeDocument/2006/relationships/image" Target="../media/image394.png"/><Relationship Id="rId4" Type="http://schemas.openxmlformats.org/officeDocument/2006/relationships/image" Target="../media/image395.png"/><Relationship Id="rId5" Type="http://schemas.openxmlformats.org/officeDocument/2006/relationships/image" Target="../media/image396.png"/><Relationship Id="rId6" Type="http://schemas.openxmlformats.org/officeDocument/2006/relationships/image" Target="../media/image397.png"/><Relationship Id="rId7" Type="http://schemas.openxmlformats.org/officeDocument/2006/relationships/image" Target="../media/image398.png"/><Relationship Id="rId8" Type="http://schemas.openxmlformats.org/officeDocument/2006/relationships/image" Target="../media/image399.png"/><Relationship Id="rId9" Type="http://schemas.openxmlformats.org/officeDocument/2006/relationships/image" Target="../media/image400.png"/><Relationship Id="rId10" Type="http://schemas.openxmlformats.org/officeDocument/2006/relationships/image" Target="../media/image401.png"/><Relationship Id="rId11" Type="http://schemas.openxmlformats.org/officeDocument/2006/relationships/image" Target="../media/image402.png"/><Relationship Id="rId12" Type="http://schemas.openxmlformats.org/officeDocument/2006/relationships/image" Target="../media/image403.png"/><Relationship Id="rId13" Type="http://schemas.openxmlformats.org/officeDocument/2006/relationships/image" Target="../media/image404.png"/></Relationships>
</file>

<file path=ppt/charts/_rels/chart63.xml.rels><?xml version='1.0' encoding='UTF-8' standalone='yes'?>
<Relationships xmlns="http://schemas.openxmlformats.org/package/2006/relationships"><Relationship Id="rId2" Type="http://schemas.openxmlformats.org/officeDocument/2006/relationships/image" Target="../media/image405.png"/><Relationship Id="rId3" Type="http://schemas.openxmlformats.org/officeDocument/2006/relationships/image" Target="../media/image406.png"/><Relationship Id="rId4" Type="http://schemas.openxmlformats.org/officeDocument/2006/relationships/image" Target="../media/image407.png"/><Relationship Id="rId5" Type="http://schemas.openxmlformats.org/officeDocument/2006/relationships/image" Target="../media/image408.png"/><Relationship Id="rId6" Type="http://schemas.openxmlformats.org/officeDocument/2006/relationships/image" Target="../media/image409.png"/><Relationship Id="rId7" Type="http://schemas.openxmlformats.org/officeDocument/2006/relationships/image" Target="../media/image410.png"/></Relationships>
</file>

<file path=ppt/charts/_rels/chart64.xml.rels><?xml version='1.0' encoding='UTF-8' standalone='yes'?>
<Relationships xmlns="http://schemas.openxmlformats.org/package/2006/relationships"><Relationship Id="rId2" Type="http://schemas.openxmlformats.org/officeDocument/2006/relationships/image" Target="../media/image428.png"/><Relationship Id="rId3" Type="http://schemas.openxmlformats.org/officeDocument/2006/relationships/image" Target="../media/image429.png"/><Relationship Id="rId4" Type="http://schemas.openxmlformats.org/officeDocument/2006/relationships/image" Target="../media/image430.png"/><Relationship Id="rId5" Type="http://schemas.openxmlformats.org/officeDocument/2006/relationships/image" Target="../media/image431.png"/><Relationship Id="rId6" Type="http://schemas.openxmlformats.org/officeDocument/2006/relationships/image" Target="../media/image432.png"/><Relationship Id="rId7" Type="http://schemas.openxmlformats.org/officeDocument/2006/relationships/image" Target="../media/image433.png"/><Relationship Id="rId8" Type="http://schemas.openxmlformats.org/officeDocument/2006/relationships/image" Target="../media/image434.png"/><Relationship Id="rId9" Type="http://schemas.openxmlformats.org/officeDocument/2006/relationships/image" Target="../media/image435.png"/><Relationship Id="rId10" Type="http://schemas.openxmlformats.org/officeDocument/2006/relationships/image" Target="../media/image436.png"/><Relationship Id="rId11" Type="http://schemas.openxmlformats.org/officeDocument/2006/relationships/image" Target="../media/image437.png"/><Relationship Id="rId12" Type="http://schemas.openxmlformats.org/officeDocument/2006/relationships/image" Target="../media/image438.png"/><Relationship Id="rId13" Type="http://schemas.openxmlformats.org/officeDocument/2006/relationships/image" Target="../media/image439.png"/><Relationship Id="rId14" Type="http://schemas.openxmlformats.org/officeDocument/2006/relationships/image" Target="../media/image440.png"/><Relationship Id="rId15" Type="http://schemas.openxmlformats.org/officeDocument/2006/relationships/image" Target="../media/image441.png"/><Relationship Id="rId16" Type="http://schemas.openxmlformats.org/officeDocument/2006/relationships/image" Target="../media/image442.png"/><Relationship Id="rId17" Type="http://schemas.openxmlformats.org/officeDocument/2006/relationships/image" Target="../media/image443.png"/><Relationship Id="rId18" Type="http://schemas.openxmlformats.org/officeDocument/2006/relationships/image" Target="../media/image444.png"/><Relationship Id="rId19" Type="http://schemas.openxmlformats.org/officeDocument/2006/relationships/image" Target="../media/image445.png"/><Relationship Id="rId20" Type="http://schemas.openxmlformats.org/officeDocument/2006/relationships/image" Target="../media/image446.png"/><Relationship Id="rId21" Type="http://schemas.openxmlformats.org/officeDocument/2006/relationships/image" Target="../media/image447.png"/><Relationship Id="rId22" Type="http://schemas.openxmlformats.org/officeDocument/2006/relationships/image" Target="../media/image448.png"/><Relationship Id="rId23" Type="http://schemas.openxmlformats.org/officeDocument/2006/relationships/image" Target="../media/image449.png"/><Relationship Id="rId24" Type="http://schemas.openxmlformats.org/officeDocument/2006/relationships/image" Target="../media/image450.png"/><Relationship Id="rId25" Type="http://schemas.openxmlformats.org/officeDocument/2006/relationships/image" Target="../media/image451.png"/><Relationship Id="rId26" Type="http://schemas.openxmlformats.org/officeDocument/2006/relationships/image" Target="../media/image452.png"/><Relationship Id="rId27" Type="http://schemas.openxmlformats.org/officeDocument/2006/relationships/image" Target="../media/image453.png"/><Relationship Id="rId28" Type="http://schemas.openxmlformats.org/officeDocument/2006/relationships/image" Target="../media/image454.png"/><Relationship Id="rId29" Type="http://schemas.openxmlformats.org/officeDocument/2006/relationships/image" Target="../media/image455.png"/><Relationship Id="rId30" Type="http://schemas.openxmlformats.org/officeDocument/2006/relationships/image" Target="../media/image456.png"/><Relationship Id="rId31" Type="http://schemas.openxmlformats.org/officeDocument/2006/relationships/image" Target="../media/image457.png"/><Relationship Id="rId32" Type="http://schemas.openxmlformats.org/officeDocument/2006/relationships/image" Target="../media/image458.png"/><Relationship Id="rId33" Type="http://schemas.openxmlformats.org/officeDocument/2006/relationships/image" Target="../media/image459.png"/><Relationship Id="rId34" Type="http://schemas.openxmlformats.org/officeDocument/2006/relationships/image" Target="../media/image460.png"/><Relationship Id="rId35" Type="http://schemas.openxmlformats.org/officeDocument/2006/relationships/image" Target="../media/image461.png"/><Relationship Id="rId36" Type="http://schemas.openxmlformats.org/officeDocument/2006/relationships/image" Target="../media/image462.png"/></Relationships>
</file>

<file path=ppt/charts/_rels/chart72.xml.rels><?xml version='1.0' encoding='UTF-8' standalone='yes'?>
<Relationships xmlns="http://schemas.openxmlformats.org/package/2006/relationships"><Relationship Id="rId2" Type="http://schemas.openxmlformats.org/officeDocument/2006/relationships/image" Target="../media/image463.png"/><Relationship Id="rId3" Type="http://schemas.openxmlformats.org/officeDocument/2006/relationships/image" Target="../media/image464.png"/><Relationship Id="rId4" Type="http://schemas.openxmlformats.org/officeDocument/2006/relationships/image" Target="../media/image465.png"/><Relationship Id="rId5" Type="http://schemas.openxmlformats.org/officeDocument/2006/relationships/image" Target="../media/image466.png"/><Relationship Id="rId6" Type="http://schemas.openxmlformats.org/officeDocument/2006/relationships/image" Target="../media/image467.png"/><Relationship Id="rId7" Type="http://schemas.openxmlformats.org/officeDocument/2006/relationships/image" Target="../media/image468.png"/><Relationship Id="rId8" Type="http://schemas.openxmlformats.org/officeDocument/2006/relationships/image" Target="../media/image469.png"/><Relationship Id="rId9" Type="http://schemas.openxmlformats.org/officeDocument/2006/relationships/image" Target="../media/image470.png"/><Relationship Id="rId10" Type="http://schemas.openxmlformats.org/officeDocument/2006/relationships/image" Target="../media/image471.png"/><Relationship Id="rId11" Type="http://schemas.openxmlformats.org/officeDocument/2006/relationships/image" Target="../media/image472.png"/><Relationship Id="rId12" Type="http://schemas.openxmlformats.org/officeDocument/2006/relationships/image" Target="../media/image473.png"/><Relationship Id="rId13" Type="http://schemas.openxmlformats.org/officeDocument/2006/relationships/image" Target="../media/image474.png"/><Relationship Id="rId14" Type="http://schemas.openxmlformats.org/officeDocument/2006/relationships/image" Target="../media/image475.png"/><Relationship Id="rId15" Type="http://schemas.openxmlformats.org/officeDocument/2006/relationships/image" Target="../media/image476.png"/><Relationship Id="rId16" Type="http://schemas.openxmlformats.org/officeDocument/2006/relationships/image" Target="../media/image477.png"/><Relationship Id="rId17" Type="http://schemas.openxmlformats.org/officeDocument/2006/relationships/image" Target="../media/image478.png"/></Relationships>
</file>

<file path=ppt/charts/_rels/chart73.xml.rels><?xml version='1.0' encoding='UTF-8' standalone='yes'?>
<Relationships xmlns="http://schemas.openxmlformats.org/package/2006/relationships"><Relationship Id="rId2" Type="http://schemas.openxmlformats.org/officeDocument/2006/relationships/image" Target="../media/image488.png"/><Relationship Id="rId3" Type="http://schemas.openxmlformats.org/officeDocument/2006/relationships/image" Target="../media/image489.png"/><Relationship Id="rId4" Type="http://schemas.openxmlformats.org/officeDocument/2006/relationships/image" Target="../media/image490.png"/><Relationship Id="rId5" Type="http://schemas.openxmlformats.org/officeDocument/2006/relationships/image" Target="../media/image491.png"/><Relationship Id="rId6" Type="http://schemas.openxmlformats.org/officeDocument/2006/relationships/image" Target="../media/image492.png"/><Relationship Id="rId7" Type="http://schemas.openxmlformats.org/officeDocument/2006/relationships/image" Target="../media/image493.png"/><Relationship Id="rId8" Type="http://schemas.openxmlformats.org/officeDocument/2006/relationships/image" Target="../media/image494.png"/><Relationship Id="rId9" Type="http://schemas.openxmlformats.org/officeDocument/2006/relationships/image" Target="../media/image495.png"/><Relationship Id="rId10" Type="http://schemas.openxmlformats.org/officeDocument/2006/relationships/image" Target="../media/image496.png"/><Relationship Id="rId11" Type="http://schemas.openxmlformats.org/officeDocument/2006/relationships/image" Target="../media/image497.png"/><Relationship Id="rId12" Type="http://schemas.openxmlformats.org/officeDocument/2006/relationships/image" Target="../media/image498.png"/><Relationship Id="rId13" Type="http://schemas.openxmlformats.org/officeDocument/2006/relationships/image" Target="../media/image499.png"/><Relationship Id="rId14" Type="http://schemas.openxmlformats.org/officeDocument/2006/relationships/image" Target="../media/image500.png"/><Relationship Id="rId15" Type="http://schemas.openxmlformats.org/officeDocument/2006/relationships/image" Target="../media/image501.png"/><Relationship Id="rId16" Type="http://schemas.openxmlformats.org/officeDocument/2006/relationships/image" Target="../media/image502.png"/><Relationship Id="rId17" Type="http://schemas.openxmlformats.org/officeDocument/2006/relationships/image" Target="../media/image503.png"/><Relationship Id="rId18" Type="http://schemas.openxmlformats.org/officeDocument/2006/relationships/image" Target="../media/image504.png"/><Relationship Id="rId19" Type="http://schemas.openxmlformats.org/officeDocument/2006/relationships/image" Target="../media/image505.png"/><Relationship Id="rId20" Type="http://schemas.openxmlformats.org/officeDocument/2006/relationships/image" Target="../media/image506.png"/><Relationship Id="rId21" Type="http://schemas.openxmlformats.org/officeDocument/2006/relationships/image" Target="../media/image507.png"/><Relationship Id="rId22" Type="http://schemas.openxmlformats.org/officeDocument/2006/relationships/image" Target="../media/image508.png"/><Relationship Id="rId23" Type="http://schemas.openxmlformats.org/officeDocument/2006/relationships/image" Target="../media/image509.png"/></Relationships>
</file>

<file path=ppt/charts/_rels/chart79.xml.rels><?xml version='1.0' encoding='UTF-8' standalone='yes'?>
<Relationships xmlns="http://schemas.openxmlformats.org/package/2006/relationships"><Relationship Id="rId2" Type="http://schemas.openxmlformats.org/officeDocument/2006/relationships/image" Target="../media/image510.png"/><Relationship Id="rId3" Type="http://schemas.openxmlformats.org/officeDocument/2006/relationships/image" Target="../media/image511.png"/><Relationship Id="rId4" Type="http://schemas.openxmlformats.org/officeDocument/2006/relationships/image" Target="../media/image512.png"/><Relationship Id="rId5" Type="http://schemas.openxmlformats.org/officeDocument/2006/relationships/image" Target="../media/image513.png"/><Relationship Id="rId6" Type="http://schemas.openxmlformats.org/officeDocument/2006/relationships/image" Target="../media/image514.png"/><Relationship Id="rId7" Type="http://schemas.openxmlformats.org/officeDocument/2006/relationships/image" Target="../media/image515.png"/><Relationship Id="rId8" Type="http://schemas.openxmlformats.org/officeDocument/2006/relationships/image" Target="../media/image516.png"/><Relationship Id="rId9" Type="http://schemas.openxmlformats.org/officeDocument/2006/relationships/image" Target="../media/image517.png"/><Relationship Id="rId10" Type="http://schemas.openxmlformats.org/officeDocument/2006/relationships/image" Target="../media/image518.png"/><Relationship Id="rId11" Type="http://schemas.openxmlformats.org/officeDocument/2006/relationships/image" Target="../media/image519.png"/></Relationships>
</file>

<file path=ppt/charts/_rels/chart80.xml.rels><?xml version='1.0' encoding='UTF-8' standalone='yes'?>
<Relationships xmlns="http://schemas.openxmlformats.org/package/2006/relationships"><Relationship Id="rId2" Type="http://schemas.openxmlformats.org/officeDocument/2006/relationships/image" Target="../media/image528.png"/><Relationship Id="rId3" Type="http://schemas.openxmlformats.org/officeDocument/2006/relationships/image" Target="../media/image529.png"/><Relationship Id="rId4" Type="http://schemas.openxmlformats.org/officeDocument/2006/relationships/image" Target="../media/image530.png"/><Relationship Id="rId5" Type="http://schemas.openxmlformats.org/officeDocument/2006/relationships/image" Target="../media/image531.png"/><Relationship Id="rId6" Type="http://schemas.openxmlformats.org/officeDocument/2006/relationships/image" Target="../media/image532.png"/><Relationship Id="rId7" Type="http://schemas.openxmlformats.org/officeDocument/2006/relationships/image" Target="../media/image533.png"/><Relationship Id="rId8" Type="http://schemas.openxmlformats.org/officeDocument/2006/relationships/image" Target="../media/image534.png"/><Relationship Id="rId9" Type="http://schemas.openxmlformats.org/officeDocument/2006/relationships/image" Target="../media/image535.png"/><Relationship Id="rId10" Type="http://schemas.openxmlformats.org/officeDocument/2006/relationships/image" Target="../media/image536.png"/><Relationship Id="rId11" Type="http://schemas.openxmlformats.org/officeDocument/2006/relationships/image" Target="../media/image537.png"/><Relationship Id="rId12" Type="http://schemas.openxmlformats.org/officeDocument/2006/relationships/image" Target="../media/image538.png"/><Relationship Id="rId13" Type="http://schemas.openxmlformats.org/officeDocument/2006/relationships/image" Target="../media/image539.png"/><Relationship Id="rId14" Type="http://schemas.openxmlformats.org/officeDocument/2006/relationships/image" Target="../media/image540.png"/><Relationship Id="rId15" Type="http://schemas.openxmlformats.org/officeDocument/2006/relationships/image" Target="../media/image541.png"/><Relationship Id="rId16" Type="http://schemas.openxmlformats.org/officeDocument/2006/relationships/image" Target="../media/image542.png"/><Relationship Id="rId17" Type="http://schemas.openxmlformats.org/officeDocument/2006/relationships/image" Target="../media/image543.png"/><Relationship Id="rId18" Type="http://schemas.openxmlformats.org/officeDocument/2006/relationships/image" Target="../media/image544.png"/><Relationship Id="rId19" Type="http://schemas.openxmlformats.org/officeDocument/2006/relationships/image" Target="../media/image545.png"/></Relationships>
</file>

<file path=ppt/charts/_rels/chart85.xml.rels><?xml version='1.0' encoding='UTF-8' standalone='yes'?>
<Relationships xmlns="http://schemas.openxmlformats.org/package/2006/relationships"><Relationship Id="rId2" Type="http://schemas.openxmlformats.org/officeDocument/2006/relationships/image" Target="../media/image546.png"/><Relationship Id="rId3" Type="http://schemas.openxmlformats.org/officeDocument/2006/relationships/image" Target="../media/image547.png"/><Relationship Id="rId4" Type="http://schemas.openxmlformats.org/officeDocument/2006/relationships/image" Target="../media/image548.png"/><Relationship Id="rId5" Type="http://schemas.openxmlformats.org/officeDocument/2006/relationships/image" Target="../media/image549.png"/><Relationship Id="rId6" Type="http://schemas.openxmlformats.org/officeDocument/2006/relationships/image" Target="../media/image550.png"/><Relationship Id="rId7" Type="http://schemas.openxmlformats.org/officeDocument/2006/relationships/image" Target="../media/image551.png"/><Relationship Id="rId8" Type="http://schemas.openxmlformats.org/officeDocument/2006/relationships/image" Target="../media/image552.png"/><Relationship Id="rId9" Type="http://schemas.openxmlformats.org/officeDocument/2006/relationships/image" Target="../media/image553.png"/><Relationship Id="rId10" Type="http://schemas.openxmlformats.org/officeDocument/2006/relationships/image" Target="../media/image554.png"/></Relationships>
</file>

<file path=ppt/charts/_rels/chart86.xml.rels><?xml version='1.0' encoding='UTF-8' standalone='yes'?>
<Relationships xmlns="http://schemas.openxmlformats.org/package/2006/relationships"><Relationship Id="rId2" Type="http://schemas.openxmlformats.org/officeDocument/2006/relationships/image" Target="../media/image565.png"/><Relationship Id="rId3" Type="http://schemas.openxmlformats.org/officeDocument/2006/relationships/image" Target="../media/image566.png"/><Relationship Id="rId4" Type="http://schemas.openxmlformats.org/officeDocument/2006/relationships/image" Target="../media/image567.png"/><Relationship Id="rId5" Type="http://schemas.openxmlformats.org/officeDocument/2006/relationships/image" Target="../media/image568.png"/><Relationship Id="rId6" Type="http://schemas.openxmlformats.org/officeDocument/2006/relationships/image" Target="../media/image569.png"/><Relationship Id="rId7" Type="http://schemas.openxmlformats.org/officeDocument/2006/relationships/image" Target="../media/image570.png"/><Relationship Id="rId8" Type="http://schemas.openxmlformats.org/officeDocument/2006/relationships/image" Target="../media/image571.png"/><Relationship Id="rId9" Type="http://schemas.openxmlformats.org/officeDocument/2006/relationships/image" Target="../media/image572.png"/><Relationship Id="rId10" Type="http://schemas.openxmlformats.org/officeDocument/2006/relationships/image" Target="../media/image573.png"/><Relationship Id="rId11" Type="http://schemas.openxmlformats.org/officeDocument/2006/relationships/image" Target="../media/image574.png"/><Relationship Id="rId12" Type="http://schemas.openxmlformats.org/officeDocument/2006/relationships/image" Target="../media/image575.png"/><Relationship Id="rId13" Type="http://schemas.openxmlformats.org/officeDocument/2006/relationships/image" Target="../media/image576.png"/><Relationship Id="rId14" Type="http://schemas.openxmlformats.org/officeDocument/2006/relationships/image" Target="../media/image577.png"/><Relationship Id="rId15" Type="http://schemas.openxmlformats.org/officeDocument/2006/relationships/image" Target="../media/image578.png"/><Relationship Id="rId16" Type="http://schemas.openxmlformats.org/officeDocument/2006/relationships/image" Target="../media/image579.png"/><Relationship Id="rId17" Type="http://schemas.openxmlformats.org/officeDocument/2006/relationships/image" Target="../media/image580.png"/><Relationship Id="rId18" Type="http://schemas.openxmlformats.org/officeDocument/2006/relationships/image" Target="../media/image581.png"/><Relationship Id="rId19" Type="http://schemas.openxmlformats.org/officeDocument/2006/relationships/image" Target="../media/image582.png"/><Relationship Id="rId20" Type="http://schemas.openxmlformats.org/officeDocument/2006/relationships/image" Target="../media/image583.png"/></Relationships>
</file>

<file path=ppt/charts/_rels/chart92.xml.rels><?xml version='1.0' encoding='UTF-8' standalone='yes'?>
<Relationships xmlns="http://schemas.openxmlformats.org/package/2006/relationships"><Relationship Id="rId2" Type="http://schemas.openxmlformats.org/officeDocument/2006/relationships/image" Target="../media/image584.png"/><Relationship Id="rId3" Type="http://schemas.openxmlformats.org/officeDocument/2006/relationships/image" Target="../media/image585.png"/><Relationship Id="rId4" Type="http://schemas.openxmlformats.org/officeDocument/2006/relationships/image" Target="../media/image586.png"/><Relationship Id="rId5" Type="http://schemas.openxmlformats.org/officeDocument/2006/relationships/image" Target="../media/image587.png"/><Relationship Id="rId6" Type="http://schemas.openxmlformats.org/officeDocument/2006/relationships/image" Target="../media/image588.png"/><Relationship Id="rId7" Type="http://schemas.openxmlformats.org/officeDocument/2006/relationships/image" Target="../media/image589.png"/><Relationship Id="rId8" Type="http://schemas.openxmlformats.org/officeDocument/2006/relationships/image" Target="../media/image590.png"/><Relationship Id="rId9" Type="http://schemas.openxmlformats.org/officeDocument/2006/relationships/image" Target="../media/image591.png"/><Relationship Id="rId10" Type="http://schemas.openxmlformats.org/officeDocument/2006/relationships/image" Target="../media/image592.png"/><Relationship Id="rId11" Type="http://schemas.openxmlformats.org/officeDocument/2006/relationships/image" Target="../media/image593.png"/><Relationship Id="rId12" Type="http://schemas.openxmlformats.org/officeDocument/2006/relationships/image" Target="../media/image594.png"/></Relationships>
</file>

<file path=ppt/charts/_rels/chart93.xml.rels><?xml version='1.0' encoding='UTF-8' standalone='yes'?>
<Relationships xmlns="http://schemas.openxmlformats.org/package/2006/relationships"><Relationship Id="rId2" Type="http://schemas.openxmlformats.org/officeDocument/2006/relationships/image" Target="../media/image605.png"/><Relationship Id="rId3" Type="http://schemas.openxmlformats.org/officeDocument/2006/relationships/image" Target="../media/image606.png"/><Relationship Id="rId4" Type="http://schemas.openxmlformats.org/officeDocument/2006/relationships/image" Target="../media/image607.png"/><Relationship Id="rId5" Type="http://schemas.openxmlformats.org/officeDocument/2006/relationships/image" Target="../media/image608.png"/><Relationship Id="rId6" Type="http://schemas.openxmlformats.org/officeDocument/2006/relationships/image" Target="../media/image609.png"/><Relationship Id="rId7" Type="http://schemas.openxmlformats.org/officeDocument/2006/relationships/image" Target="../media/image610.png"/><Relationship Id="rId8" Type="http://schemas.openxmlformats.org/officeDocument/2006/relationships/image" Target="../media/image611.png"/><Relationship Id="rId9" Type="http://schemas.openxmlformats.org/officeDocument/2006/relationships/image" Target="../media/image612.png"/><Relationship Id="rId10" Type="http://schemas.openxmlformats.org/officeDocument/2006/relationships/image" Target="../media/image613.png"/><Relationship Id="rId11" Type="http://schemas.openxmlformats.org/officeDocument/2006/relationships/image" Target="../media/image614.png"/><Relationship Id="rId12" Type="http://schemas.openxmlformats.org/officeDocument/2006/relationships/image" Target="../media/image615.png"/><Relationship Id="rId13" Type="http://schemas.openxmlformats.org/officeDocument/2006/relationships/image" Target="../media/image616.png"/><Relationship Id="rId14" Type="http://schemas.openxmlformats.org/officeDocument/2006/relationships/image" Target="../media/image617.png"/><Relationship Id="rId15" Type="http://schemas.openxmlformats.org/officeDocument/2006/relationships/image" Target="../media/image618.png"/><Relationship Id="rId16" Type="http://schemas.openxmlformats.org/officeDocument/2006/relationships/image" Target="../media/image619.png"/><Relationship Id="rId17" Type="http://schemas.openxmlformats.org/officeDocument/2006/relationships/image" Target="../media/image620.png"/><Relationship Id="rId18" Type="http://schemas.openxmlformats.org/officeDocument/2006/relationships/image" Target="../media/image621.png"/><Relationship Id="rId19" Type="http://schemas.openxmlformats.org/officeDocument/2006/relationships/image" Target="../media/image622.png"/><Relationship Id="rId20" Type="http://schemas.openxmlformats.org/officeDocument/2006/relationships/image" Target="../media/image623.png"/><Relationship Id="rId21" Type="http://schemas.openxmlformats.org/officeDocument/2006/relationships/image" Target="../media/image624.png"/><Relationship Id="rId22" Type="http://schemas.openxmlformats.org/officeDocument/2006/relationships/image" Target="../media/image625.png"/><Relationship Id="rId23" Type="http://schemas.openxmlformats.org/officeDocument/2006/relationships/image" Target="../media/image626.png"/><Relationship Id="rId24" Type="http://schemas.openxmlformats.org/officeDocument/2006/relationships/image" Target="../media/image627.png"/></Relationships>
</file>

<file path=ppt/charts/_rels/chart99.xml.rels><?xml version='1.0' encoding='UTF-8' standalone='yes'?>
<Relationships xmlns="http://schemas.openxmlformats.org/package/2006/relationships"><Relationship Id="rId2" Type="http://schemas.openxmlformats.org/officeDocument/2006/relationships/image" Target="../media/image628.png"/><Relationship Id="rId3" Type="http://schemas.openxmlformats.org/officeDocument/2006/relationships/image" Target="../media/image629.png"/><Relationship Id="rId4" Type="http://schemas.openxmlformats.org/officeDocument/2006/relationships/image" Target="../media/image630.png"/><Relationship Id="rId5" Type="http://schemas.openxmlformats.org/officeDocument/2006/relationships/image" Target="../media/image631.png"/><Relationship Id="rId6" Type="http://schemas.openxmlformats.org/officeDocument/2006/relationships/image" Target="../media/image632.png"/><Relationship Id="rId7" Type="http://schemas.openxmlformats.org/officeDocument/2006/relationships/image" Target="../media/image633.png"/><Relationship Id="rId8" Type="http://schemas.openxmlformats.org/officeDocument/2006/relationships/image" Target="../media/image634.png"/><Relationship Id="rId9" Type="http://schemas.openxmlformats.org/officeDocument/2006/relationships/image" Target="../media/image635.png"/><Relationship Id="rId10" Type="http://schemas.openxmlformats.org/officeDocument/2006/relationships/image" Target="../media/image636.png"/><Relationship Id="rId11" Type="http://schemas.openxmlformats.org/officeDocument/2006/relationships/image" Target="../media/image637.png"/><Relationship Id="rId12" Type="http://schemas.openxmlformats.org/officeDocument/2006/relationships/image" Target="../media/image638.png"/><Relationship Id="rId13" Type="http://schemas.openxmlformats.org/officeDocument/2006/relationships/image" Target="../media/image639.png"/></Relationships>
</file>

<file path=ppt/charts/_rels/chart100.xml.rels><?xml version='1.0' encoding='UTF-8' standalone='yes'?>
<Relationships xmlns="http://schemas.openxmlformats.org/package/2006/relationships"><Relationship Id="rId2" Type="http://schemas.openxmlformats.org/officeDocument/2006/relationships/image" Target="../media/image647.png"/><Relationship Id="rId3" Type="http://schemas.openxmlformats.org/officeDocument/2006/relationships/image" Target="../media/image648.png"/><Relationship Id="rId4" Type="http://schemas.openxmlformats.org/officeDocument/2006/relationships/image" Target="../media/image649.png"/><Relationship Id="rId5" Type="http://schemas.openxmlformats.org/officeDocument/2006/relationships/image" Target="../media/image650.png"/><Relationship Id="rId6" Type="http://schemas.openxmlformats.org/officeDocument/2006/relationships/image" Target="../media/image651.png"/><Relationship Id="rId7" Type="http://schemas.openxmlformats.org/officeDocument/2006/relationships/image" Target="../media/image652.png"/><Relationship Id="rId8" Type="http://schemas.openxmlformats.org/officeDocument/2006/relationships/image" Target="../media/image653.png"/><Relationship Id="rId9" Type="http://schemas.openxmlformats.org/officeDocument/2006/relationships/image" Target="../media/image654.png"/><Relationship Id="rId10" Type="http://schemas.openxmlformats.org/officeDocument/2006/relationships/image" Target="../media/image655.png"/><Relationship Id="rId11" Type="http://schemas.openxmlformats.org/officeDocument/2006/relationships/image" Target="../media/image656.png"/><Relationship Id="rId12" Type="http://schemas.openxmlformats.org/officeDocument/2006/relationships/image" Target="../media/image657.png"/><Relationship Id="rId13" Type="http://schemas.openxmlformats.org/officeDocument/2006/relationships/image" Target="../media/image658.png"/><Relationship Id="rId14" Type="http://schemas.openxmlformats.org/officeDocument/2006/relationships/image" Target="../media/image659.png"/><Relationship Id="rId15" Type="http://schemas.openxmlformats.org/officeDocument/2006/relationships/image" Target="../media/image660.png"/><Relationship Id="rId16" Type="http://schemas.openxmlformats.org/officeDocument/2006/relationships/image" Target="../media/image661.png"/><Relationship Id="rId17" Type="http://schemas.openxmlformats.org/officeDocument/2006/relationships/image" Target="../media/image662.png"/><Relationship Id="rId18" Type="http://schemas.openxmlformats.org/officeDocument/2006/relationships/image" Target="../media/image663.png"/><Relationship Id="rId19" Type="http://schemas.openxmlformats.org/officeDocument/2006/relationships/image" Target="../media/image664.png"/></Relationships>
</file>

<file path=ppt/charts/_rels/chart105.xml.rels><?xml version='1.0' encoding='UTF-8' standalone='yes'?>
<Relationships xmlns="http://schemas.openxmlformats.org/package/2006/relationships"><Relationship Id="rId2" Type="http://schemas.openxmlformats.org/officeDocument/2006/relationships/image" Target="../media/image665.png"/><Relationship Id="rId3" Type="http://schemas.openxmlformats.org/officeDocument/2006/relationships/image" Target="../media/image666.png"/><Relationship Id="rId4" Type="http://schemas.openxmlformats.org/officeDocument/2006/relationships/image" Target="../media/image667.png"/><Relationship Id="rId5" Type="http://schemas.openxmlformats.org/officeDocument/2006/relationships/image" Target="../media/image668.png"/><Relationship Id="rId6" Type="http://schemas.openxmlformats.org/officeDocument/2006/relationships/image" Target="../media/image669.png"/><Relationship Id="rId7" Type="http://schemas.openxmlformats.org/officeDocument/2006/relationships/image" Target="../media/image670.png"/><Relationship Id="rId8" Type="http://schemas.openxmlformats.org/officeDocument/2006/relationships/image" Target="../media/image671.png"/><Relationship Id="rId9" Type="http://schemas.openxmlformats.org/officeDocument/2006/relationships/image" Target="../media/image672.png"/><Relationship Id="rId10" Type="http://schemas.openxmlformats.org/officeDocument/2006/relationships/image" Target="../media/image673.png"/></Relationships>
</file>

<file path=ppt/charts/_rels/chart106.xml.rels><?xml version='1.0' encoding='UTF-8' standalone='yes'?>
<Relationships xmlns="http://schemas.openxmlformats.org/package/2006/relationships"><Relationship Id="rId2" Type="http://schemas.openxmlformats.org/officeDocument/2006/relationships/image" Target="../media/image678.png"/><Relationship Id="rId3" Type="http://schemas.openxmlformats.org/officeDocument/2006/relationships/image" Target="../media/image679.png"/><Relationship Id="rId4" Type="http://schemas.openxmlformats.org/officeDocument/2006/relationships/image" Target="../media/image680.png"/><Relationship Id="rId5" Type="http://schemas.openxmlformats.org/officeDocument/2006/relationships/image" Target="../media/image681.png"/><Relationship Id="rId6" Type="http://schemas.openxmlformats.org/officeDocument/2006/relationships/image" Target="../media/image682.png"/><Relationship Id="rId7" Type="http://schemas.openxmlformats.org/officeDocument/2006/relationships/image" Target="../media/image683.png"/><Relationship Id="rId8" Type="http://schemas.openxmlformats.org/officeDocument/2006/relationships/image" Target="../media/image684.png"/><Relationship Id="rId9" Type="http://schemas.openxmlformats.org/officeDocument/2006/relationships/image" Target="../media/image685.png"/><Relationship Id="rId10" Type="http://schemas.openxmlformats.org/officeDocument/2006/relationships/image" Target="../media/image686.png"/><Relationship Id="rId11" Type="http://schemas.openxmlformats.org/officeDocument/2006/relationships/image" Target="../media/image687.png"/><Relationship Id="rId12" Type="http://schemas.openxmlformats.org/officeDocument/2006/relationships/image" Target="../media/image688.png"/><Relationship Id="rId13" Type="http://schemas.openxmlformats.org/officeDocument/2006/relationships/image" Target="../media/image689.png"/></Relationships>
</file>

<file path=ppt/charts/_rels/chart110.xml.rels><?xml version='1.0' encoding='UTF-8' standalone='yes'?>
<Relationships xmlns="http://schemas.openxmlformats.org/package/2006/relationships"><Relationship Id="rId2" Type="http://schemas.openxmlformats.org/officeDocument/2006/relationships/image" Target="../media/image690.png"/><Relationship Id="rId3" Type="http://schemas.openxmlformats.org/officeDocument/2006/relationships/image" Target="../media/image691.png"/><Relationship Id="rId4" Type="http://schemas.openxmlformats.org/officeDocument/2006/relationships/image" Target="../media/image692.png"/><Relationship Id="rId5" Type="http://schemas.openxmlformats.org/officeDocument/2006/relationships/image" Target="../media/image693.png"/><Relationship Id="rId6" Type="http://schemas.openxmlformats.org/officeDocument/2006/relationships/image" Target="../media/image694.png"/><Relationship Id="rId7" Type="http://schemas.openxmlformats.org/officeDocument/2006/relationships/image" Target="../media/image695.png"/></Relationships>
</file>

<file path=ppt/charts/_rels/chart111.xml.rels><?xml version='1.0' encoding='UTF-8' standalone='yes'?>
<Relationships xmlns="http://schemas.openxmlformats.org/package/2006/relationships"><Relationship Id="rId2" Type="http://schemas.openxmlformats.org/officeDocument/2006/relationships/image" Target="../media/image708.png"/><Relationship Id="rId3" Type="http://schemas.openxmlformats.org/officeDocument/2006/relationships/image" Target="../media/image709.png"/><Relationship Id="rId4" Type="http://schemas.openxmlformats.org/officeDocument/2006/relationships/image" Target="../media/image710.png"/><Relationship Id="rId5" Type="http://schemas.openxmlformats.org/officeDocument/2006/relationships/image" Target="../media/image711.png"/><Relationship Id="rId6" Type="http://schemas.openxmlformats.org/officeDocument/2006/relationships/image" Target="../media/image712.png"/><Relationship Id="rId7" Type="http://schemas.openxmlformats.org/officeDocument/2006/relationships/image" Target="../media/image713.png"/><Relationship Id="rId8" Type="http://schemas.openxmlformats.org/officeDocument/2006/relationships/image" Target="../media/image714.png"/><Relationship Id="rId9" Type="http://schemas.openxmlformats.org/officeDocument/2006/relationships/image" Target="../media/image715.png"/><Relationship Id="rId10" Type="http://schemas.openxmlformats.org/officeDocument/2006/relationships/image" Target="../media/image716.png"/><Relationship Id="rId11" Type="http://schemas.openxmlformats.org/officeDocument/2006/relationships/image" Target="../media/image717.png"/><Relationship Id="rId12" Type="http://schemas.openxmlformats.org/officeDocument/2006/relationships/image" Target="../media/image718.png"/><Relationship Id="rId13" Type="http://schemas.openxmlformats.org/officeDocument/2006/relationships/image" Target="../media/image719.png"/><Relationship Id="rId14" Type="http://schemas.openxmlformats.org/officeDocument/2006/relationships/image" Target="../media/image720.png"/><Relationship Id="rId15" Type="http://schemas.openxmlformats.org/officeDocument/2006/relationships/image" Target="../media/image721.png"/><Relationship Id="rId16" Type="http://schemas.openxmlformats.org/officeDocument/2006/relationships/image" Target="../media/image722.png"/><Relationship Id="rId17" Type="http://schemas.openxmlformats.org/officeDocument/2006/relationships/image" Target="../media/image723.png"/><Relationship Id="rId18" Type="http://schemas.openxmlformats.org/officeDocument/2006/relationships/image" Target="../media/image724.png"/><Relationship Id="rId19" Type="http://schemas.openxmlformats.org/officeDocument/2006/relationships/image" Target="../media/image725.png"/><Relationship Id="rId20" Type="http://schemas.openxmlformats.org/officeDocument/2006/relationships/image" Target="../media/image726.png"/><Relationship Id="rId21" Type="http://schemas.openxmlformats.org/officeDocument/2006/relationships/image" Target="../media/image727.png"/><Relationship Id="rId22" Type="http://schemas.openxmlformats.org/officeDocument/2006/relationships/image" Target="../media/image728.png"/><Relationship Id="rId23" Type="http://schemas.openxmlformats.org/officeDocument/2006/relationships/image" Target="../media/image729.png"/><Relationship Id="rId24" Type="http://schemas.openxmlformats.org/officeDocument/2006/relationships/image" Target="../media/image730.png"/></Relationships>
</file>

<file path=ppt/charts/_rels/chart117.xml.rels><?xml version='1.0' encoding='UTF-8' standalone='yes'?>
<Relationships xmlns="http://schemas.openxmlformats.org/package/2006/relationships"><Relationship Id="rId2" Type="http://schemas.openxmlformats.org/officeDocument/2006/relationships/image" Target="../media/image731.png"/><Relationship Id="rId3" Type="http://schemas.openxmlformats.org/officeDocument/2006/relationships/image" Target="../media/image732.png"/><Relationship Id="rId4" Type="http://schemas.openxmlformats.org/officeDocument/2006/relationships/image" Target="../media/image733.png"/><Relationship Id="rId5" Type="http://schemas.openxmlformats.org/officeDocument/2006/relationships/image" Target="../media/image734.png"/><Relationship Id="rId6" Type="http://schemas.openxmlformats.org/officeDocument/2006/relationships/image" Target="../media/image735.png"/><Relationship Id="rId7" Type="http://schemas.openxmlformats.org/officeDocument/2006/relationships/image" Target="../media/image736.png"/><Relationship Id="rId8" Type="http://schemas.openxmlformats.org/officeDocument/2006/relationships/image" Target="../media/image737.png"/><Relationship Id="rId9" Type="http://schemas.openxmlformats.org/officeDocument/2006/relationships/image" Target="../media/image738.png"/><Relationship Id="rId10" Type="http://schemas.openxmlformats.org/officeDocument/2006/relationships/image" Target="../media/image739.png"/><Relationship Id="rId11" Type="http://schemas.openxmlformats.org/officeDocument/2006/relationships/image" Target="../media/image740.png"/><Relationship Id="rId12" Type="http://schemas.openxmlformats.org/officeDocument/2006/relationships/image" Target="../media/image741.png"/><Relationship Id="rId13" Type="http://schemas.openxmlformats.org/officeDocument/2006/relationships/image" Target="../media/image742.png"/></Relationships>
</file>

<file path=ppt/charts/_rels/chart118.xml.rels><?xml version='1.0' encoding='UTF-8' standalone='yes'?>
<Relationships xmlns="http://schemas.openxmlformats.org/package/2006/relationships"><Relationship Id="rId2" Type="http://schemas.openxmlformats.org/officeDocument/2006/relationships/image" Target="../media/image749.png"/><Relationship Id="rId3" Type="http://schemas.openxmlformats.org/officeDocument/2006/relationships/image" Target="../media/image750.png"/><Relationship Id="rId4" Type="http://schemas.openxmlformats.org/officeDocument/2006/relationships/image" Target="../media/image751.png"/><Relationship Id="rId5" Type="http://schemas.openxmlformats.org/officeDocument/2006/relationships/image" Target="../media/image752.png"/><Relationship Id="rId6" Type="http://schemas.openxmlformats.org/officeDocument/2006/relationships/image" Target="../media/image753.png"/><Relationship Id="rId7" Type="http://schemas.openxmlformats.org/officeDocument/2006/relationships/image" Target="../media/image754.png"/><Relationship Id="rId8" Type="http://schemas.openxmlformats.org/officeDocument/2006/relationships/image" Target="../media/image755.png"/><Relationship Id="rId9" Type="http://schemas.openxmlformats.org/officeDocument/2006/relationships/image" Target="../media/image756.png"/><Relationship Id="rId10" Type="http://schemas.openxmlformats.org/officeDocument/2006/relationships/image" Target="../media/image757.png"/><Relationship Id="rId11" Type="http://schemas.openxmlformats.org/officeDocument/2006/relationships/image" Target="../media/image758.png"/><Relationship Id="rId12" Type="http://schemas.openxmlformats.org/officeDocument/2006/relationships/image" Target="../media/image759.png"/><Relationship Id="rId13" Type="http://schemas.openxmlformats.org/officeDocument/2006/relationships/image" Target="../media/image760.png"/><Relationship Id="rId14" Type="http://schemas.openxmlformats.org/officeDocument/2006/relationships/image" Target="../media/image761.png"/><Relationship Id="rId15" Type="http://schemas.openxmlformats.org/officeDocument/2006/relationships/image" Target="../media/image762.png"/><Relationship Id="rId16" Type="http://schemas.openxmlformats.org/officeDocument/2006/relationships/image" Target="../media/image763.png"/><Relationship Id="rId17" Type="http://schemas.openxmlformats.org/officeDocument/2006/relationships/image" Target="../media/image764.png"/><Relationship Id="rId18" Type="http://schemas.openxmlformats.org/officeDocument/2006/relationships/image" Target="../media/image765.png"/></Relationships>
</file>

<file path=ppt/charts/_rels/chart123.xml.rels><?xml version='1.0' encoding='UTF-8' standalone='yes'?>
<Relationships xmlns="http://schemas.openxmlformats.org/package/2006/relationships"><Relationship Id="rId2" Type="http://schemas.openxmlformats.org/officeDocument/2006/relationships/image" Target="../media/image766.png"/><Relationship Id="rId3" Type="http://schemas.openxmlformats.org/officeDocument/2006/relationships/image" Target="../media/image767.png"/><Relationship Id="rId4" Type="http://schemas.openxmlformats.org/officeDocument/2006/relationships/image" Target="../media/image768.png"/><Relationship Id="rId5" Type="http://schemas.openxmlformats.org/officeDocument/2006/relationships/image" Target="../media/image769.png"/><Relationship Id="rId6" Type="http://schemas.openxmlformats.org/officeDocument/2006/relationships/image" Target="../media/image770.png"/><Relationship Id="rId7" Type="http://schemas.openxmlformats.org/officeDocument/2006/relationships/image" Target="../media/image771.png"/><Relationship Id="rId8" Type="http://schemas.openxmlformats.org/officeDocument/2006/relationships/image" Target="../media/image772.png"/><Relationship Id="rId9" Type="http://schemas.openxmlformats.org/officeDocument/2006/relationships/image" Target="../media/image773.png"/><Relationship Id="rId10" Type="http://schemas.openxmlformats.org/officeDocument/2006/relationships/image" Target="../media/image774.png"/></Relationships>
</file>

<file path=ppt/charts/_rels/chart124.xml.rels><?xml version='1.0' encoding='UTF-8' standalone='yes'?>
<Relationships xmlns="http://schemas.openxmlformats.org/package/2006/relationships"><Relationship Id="rId2" Type="http://schemas.openxmlformats.org/officeDocument/2006/relationships/image" Target="../media/image782.png"/><Relationship Id="rId3" Type="http://schemas.openxmlformats.org/officeDocument/2006/relationships/image" Target="../media/image783.png"/><Relationship Id="rId4" Type="http://schemas.openxmlformats.org/officeDocument/2006/relationships/image" Target="../media/image784.png"/><Relationship Id="rId5" Type="http://schemas.openxmlformats.org/officeDocument/2006/relationships/image" Target="../media/image785.png"/><Relationship Id="rId6" Type="http://schemas.openxmlformats.org/officeDocument/2006/relationships/image" Target="../media/image786.png"/><Relationship Id="rId7" Type="http://schemas.openxmlformats.org/officeDocument/2006/relationships/image" Target="../media/image787.png"/><Relationship Id="rId8" Type="http://schemas.openxmlformats.org/officeDocument/2006/relationships/image" Target="../media/image788.png"/><Relationship Id="rId9" Type="http://schemas.openxmlformats.org/officeDocument/2006/relationships/image" Target="../media/image789.png"/><Relationship Id="rId10" Type="http://schemas.openxmlformats.org/officeDocument/2006/relationships/image" Target="../media/image790.png"/><Relationship Id="rId11" Type="http://schemas.openxmlformats.org/officeDocument/2006/relationships/image" Target="../media/image791.png"/><Relationship Id="rId12" Type="http://schemas.openxmlformats.org/officeDocument/2006/relationships/image" Target="../media/image792.png"/><Relationship Id="rId13" Type="http://schemas.openxmlformats.org/officeDocument/2006/relationships/image" Target="../media/image793.png"/><Relationship Id="rId14" Type="http://schemas.openxmlformats.org/officeDocument/2006/relationships/image" Target="../media/image794.png"/><Relationship Id="rId15" Type="http://schemas.openxmlformats.org/officeDocument/2006/relationships/image" Target="../media/image795.png"/><Relationship Id="rId16" Type="http://schemas.openxmlformats.org/officeDocument/2006/relationships/image" Target="../media/image796.png"/><Relationship Id="rId17" Type="http://schemas.openxmlformats.org/officeDocument/2006/relationships/image" Target="../media/image797.png"/></Relationships>
</file>

<file path=ppt/charts/_rels/chart129.xml.rels><?xml version='1.0' encoding='UTF-8' standalone='yes'?>
<Relationships xmlns="http://schemas.openxmlformats.org/package/2006/relationships"><Relationship Id="rId2" Type="http://schemas.openxmlformats.org/officeDocument/2006/relationships/image" Target="../media/image798.png"/><Relationship Id="rId3" Type="http://schemas.openxmlformats.org/officeDocument/2006/relationships/image" Target="../media/image799.png"/><Relationship Id="rId4" Type="http://schemas.openxmlformats.org/officeDocument/2006/relationships/image" Target="../media/image800.png"/><Relationship Id="rId5" Type="http://schemas.openxmlformats.org/officeDocument/2006/relationships/image" Target="../media/image801.png"/><Relationship Id="rId6" Type="http://schemas.openxmlformats.org/officeDocument/2006/relationships/image" Target="../media/image802.png"/><Relationship Id="rId7" Type="http://schemas.openxmlformats.org/officeDocument/2006/relationships/image" Target="../media/image803.png"/><Relationship Id="rId8" Type="http://schemas.openxmlformats.org/officeDocument/2006/relationships/image" Target="../media/image804.png"/><Relationship Id="rId9" Type="http://schemas.openxmlformats.org/officeDocument/2006/relationships/image" Target="../media/image805.png"/></Relationships>
</file>

<file path=ppt/charts/_rels/chart134.xml.rels><?xml version='1.0' encoding='UTF-8' standalone='yes'?>
<Relationships xmlns="http://schemas.openxmlformats.org/package/2006/relationships"><Relationship Id="rId2" Type="http://schemas.openxmlformats.org/officeDocument/2006/relationships/image" Target="../media/image806.png"/></Relationships>
</file>

<file path=ppt/charts/_rels/chart136.xml.rels><?xml version='1.0' encoding='UTF-8' standalone='yes'?>
<Relationships xmlns="http://schemas.openxmlformats.org/package/2006/relationships"><Relationship Id="rId2" Type="http://schemas.openxmlformats.org/officeDocument/2006/relationships/image" Target="../media/image807.png"/></Relationships>
</file>

<file path=ppt/charts/_rels/chart138.xml.rels><?xml version='1.0' encoding='UTF-8' standalone='yes'?>
<Relationships xmlns="http://schemas.openxmlformats.org/package/2006/relationships"><Relationship Id="rId2" Type="http://schemas.openxmlformats.org/officeDocument/2006/relationships/image" Target="../media/image808.png"/><Relationship Id="rId3" Type="http://schemas.openxmlformats.org/officeDocument/2006/relationships/image" Target="../media/image809.png"/><Relationship Id="rId4" Type="http://schemas.openxmlformats.org/officeDocument/2006/relationships/image" Target="../media/image810.png"/><Relationship Id="rId5" Type="http://schemas.openxmlformats.org/officeDocument/2006/relationships/image" Target="../media/image811.png"/><Relationship Id="rId6" Type="http://schemas.openxmlformats.org/officeDocument/2006/relationships/image" Target="../media/image812.png"/><Relationship Id="rId7" Type="http://schemas.openxmlformats.org/officeDocument/2006/relationships/image" Target="../media/image813.png"/><Relationship Id="rId8" Type="http://schemas.openxmlformats.org/officeDocument/2006/relationships/image" Target="../media/image814.png"/><Relationship Id="rId9" Type="http://schemas.openxmlformats.org/officeDocument/2006/relationships/image" Target="../media/image815.png"/><Relationship Id="rId10" Type="http://schemas.openxmlformats.org/officeDocument/2006/relationships/image" Target="../media/image816.png"/><Relationship Id="rId11" Type="http://schemas.openxmlformats.org/officeDocument/2006/relationships/image" Target="../media/image817.png"/></Relationships>
</file>

<file path=ppt/charts/_rels/chart139.xml.rels><?xml version='1.0' encoding='UTF-8' standalone='yes'?>
<Relationships xmlns="http://schemas.openxmlformats.org/package/2006/relationships"><Relationship Id="rId2" Type="http://schemas.openxmlformats.org/officeDocument/2006/relationships/image" Target="../media/image818.png"/><Relationship Id="rId3" Type="http://schemas.openxmlformats.org/officeDocument/2006/relationships/image" Target="../media/image819.png"/><Relationship Id="rId4" Type="http://schemas.openxmlformats.org/officeDocument/2006/relationships/image" Target="../media/image820.png"/><Relationship Id="rId5" Type="http://schemas.openxmlformats.org/officeDocument/2006/relationships/image" Target="../media/image821.png"/><Relationship Id="rId6" Type="http://schemas.openxmlformats.org/officeDocument/2006/relationships/image" Target="../media/image822.png"/><Relationship Id="rId7" Type="http://schemas.openxmlformats.org/officeDocument/2006/relationships/image" Target="../media/image823.png"/><Relationship Id="rId8" Type="http://schemas.openxmlformats.org/officeDocument/2006/relationships/image" Target="../media/image824.png"/><Relationship Id="rId9" Type="http://schemas.openxmlformats.org/officeDocument/2006/relationships/image" Target="../media/image825.png"/><Relationship Id="rId10" Type="http://schemas.openxmlformats.org/officeDocument/2006/relationships/image" Target="../media/image826.png"/><Relationship Id="rId11" Type="http://schemas.openxmlformats.org/officeDocument/2006/relationships/image" Target="../media/image827.png"/><Relationship Id="rId12" Type="http://schemas.openxmlformats.org/officeDocument/2006/relationships/image" Target="../media/image828.png"/><Relationship Id="rId13" Type="http://schemas.openxmlformats.org/officeDocument/2006/relationships/image" Target="../media/image829.png"/><Relationship Id="rId14" Type="http://schemas.openxmlformats.org/officeDocument/2006/relationships/image" Target="../media/image830.png"/><Relationship Id="rId15" Type="http://schemas.openxmlformats.org/officeDocument/2006/relationships/image" Target="../media/image831.png"/><Relationship Id="rId16" Type="http://schemas.openxmlformats.org/officeDocument/2006/relationships/image" Target="../media/image832.png"/><Relationship Id="rId17" Type="http://schemas.openxmlformats.org/officeDocument/2006/relationships/image" Target="../media/image833.png"/><Relationship Id="rId18" Type="http://schemas.openxmlformats.org/officeDocument/2006/relationships/image" Target="../media/image834.png"/><Relationship Id="rId19" Type="http://schemas.openxmlformats.org/officeDocument/2006/relationships/image" Target="../media/image835.png"/><Relationship Id="rId20" Type="http://schemas.openxmlformats.org/officeDocument/2006/relationships/image" Target="../media/image836.png"/><Relationship Id="rId21" Type="http://schemas.openxmlformats.org/officeDocument/2006/relationships/image" Target="../media/image837.png"/><Relationship Id="rId22" Type="http://schemas.openxmlformats.org/officeDocument/2006/relationships/image" Target="../media/image838.png"/><Relationship Id="rId23" Type="http://schemas.openxmlformats.org/officeDocument/2006/relationships/image" Target="../media/image839.png"/></Relationships>
</file>

<file path=ppt/charts/_rels/chart140.xml.rels><?xml version='1.0' encoding='UTF-8' standalone='yes'?>
<Relationships xmlns="http://schemas.openxmlformats.org/package/2006/relationships"><Relationship Id="rId2" Type="http://schemas.openxmlformats.org/officeDocument/2006/relationships/image" Target="../media/image840.png"/><Relationship Id="rId3" Type="http://schemas.openxmlformats.org/officeDocument/2006/relationships/image" Target="../media/image841.png"/></Relationships>
</file>

<file path=ppt/charts/_rels/chart141.xml.rels><?xml version='1.0' encoding='UTF-8' standalone='yes'?>
<Relationships xmlns="http://schemas.openxmlformats.org/package/2006/relationships"><Relationship Id="rId2" Type="http://schemas.openxmlformats.org/officeDocument/2006/relationships/image" Target="../media/image842.png"/><Relationship Id="rId3" Type="http://schemas.openxmlformats.org/officeDocument/2006/relationships/image" Target="../media/image843.png"/></Relationships>
</file>

<file path=ppt/charts/_rels/chart142.xml.rels><?xml version='1.0' encoding='UTF-8' standalone='yes'?>
<Relationships xmlns="http://schemas.openxmlformats.org/package/2006/relationships"><Relationship Id="rId2" Type="http://schemas.openxmlformats.org/officeDocument/2006/relationships/image" Target="../media/image844.png"/><Relationship Id="rId3" Type="http://schemas.openxmlformats.org/officeDocument/2006/relationships/image" Target="../media/image845.png"/></Relationships>
</file>

<file path=ppt/charts/_rels/chart144.xml.rels><?xml version='1.0' encoding='UTF-8' standalone='yes'?>
<Relationships xmlns="http://schemas.openxmlformats.org/package/2006/relationships"><Relationship Id="rId2" Type="http://schemas.openxmlformats.org/officeDocument/2006/relationships/image" Target="../media/image850.png"/><Relationship Id="rId3" Type="http://schemas.openxmlformats.org/officeDocument/2006/relationships/image" Target="../media/image851.png"/><Relationship Id="rId4" Type="http://schemas.openxmlformats.org/officeDocument/2006/relationships/image" Target="../media/image852.png"/><Relationship Id="rId5" Type="http://schemas.openxmlformats.org/officeDocument/2006/relationships/image" Target="../media/image853.png"/></Relationships>
</file>

<file path=ppt/charts/_rels/chart145.xml.rels><?xml version='1.0' encoding='UTF-8' standalone='yes'?>
<Relationships xmlns="http://schemas.openxmlformats.org/package/2006/relationships"><Relationship Id="rId2" Type="http://schemas.openxmlformats.org/officeDocument/2006/relationships/image" Target="../media/image854.png"/><Relationship Id="rId3" Type="http://schemas.openxmlformats.org/officeDocument/2006/relationships/image" Target="../media/image855.png"/><Relationship Id="rId4" Type="http://schemas.openxmlformats.org/officeDocument/2006/relationships/image" Target="../media/image856.png"/><Relationship Id="rId5" Type="http://schemas.openxmlformats.org/officeDocument/2006/relationships/image" Target="../media/image857.png"/></Relationships>
</file>

<file path=ppt/charts/_rels/chart146.xml.rels><?xml version='1.0' encoding='UTF-8' standalone='yes'?>
<Relationships xmlns="http://schemas.openxmlformats.org/package/2006/relationships"><Relationship Id="rId2" Type="http://schemas.openxmlformats.org/officeDocument/2006/relationships/image" Target="../media/image858.png"/><Relationship Id="rId3" Type="http://schemas.openxmlformats.org/officeDocument/2006/relationships/image" Target="../media/image859.png"/><Relationship Id="rId4" Type="http://schemas.openxmlformats.org/officeDocument/2006/relationships/image" Target="../media/image860.png"/><Relationship Id="rId5" Type="http://schemas.openxmlformats.org/officeDocument/2006/relationships/image" Target="../media/image861.png"/><Relationship Id="rId6" Type="http://schemas.openxmlformats.org/officeDocument/2006/relationships/image" Target="../media/image862.png"/><Relationship Id="rId7" Type="http://schemas.openxmlformats.org/officeDocument/2006/relationships/image" Target="../media/image863.png"/><Relationship Id="rId8" Type="http://schemas.openxmlformats.org/officeDocument/2006/relationships/image" Target="../media/image864.png"/><Relationship Id="rId9" Type="http://schemas.openxmlformats.org/officeDocument/2006/relationships/image" Target="../media/image865.png"/><Relationship Id="rId10" Type="http://schemas.openxmlformats.org/officeDocument/2006/relationships/image" Target="../media/image866.png"/><Relationship Id="rId11" Type="http://schemas.openxmlformats.org/officeDocument/2006/relationships/image" Target="../media/image867.png"/><Relationship Id="rId12" Type="http://schemas.openxmlformats.org/officeDocument/2006/relationships/image" Target="../media/image868.png"/><Relationship Id="rId13" Type="http://schemas.openxmlformats.org/officeDocument/2006/relationships/image" Target="../media/image869.png"/><Relationship Id="rId14" Type="http://schemas.openxmlformats.org/officeDocument/2006/relationships/image" Target="../media/image870.png"/><Relationship Id="rId15" Type="http://schemas.openxmlformats.org/officeDocument/2006/relationships/image" Target="../media/image871.png"/><Relationship Id="rId16" Type="http://schemas.openxmlformats.org/officeDocument/2006/relationships/image" Target="../media/image872.png"/><Relationship Id="rId17" Type="http://schemas.openxmlformats.org/officeDocument/2006/relationships/image" Target="../media/image873.png"/><Relationship Id="rId18" Type="http://schemas.openxmlformats.org/officeDocument/2006/relationships/image" Target="../media/image874.png"/><Relationship Id="rId19" Type="http://schemas.openxmlformats.org/officeDocument/2006/relationships/image" Target="../media/image875.png"/><Relationship Id="rId20" Type="http://schemas.openxmlformats.org/officeDocument/2006/relationships/image" Target="../media/image876.png"/><Relationship Id="rId21" Type="http://schemas.openxmlformats.org/officeDocument/2006/relationships/image" Target="../media/image877.png"/><Relationship Id="rId22" Type="http://schemas.openxmlformats.org/officeDocument/2006/relationships/image" Target="../media/image878.png"/><Relationship Id="rId23" Type="http://schemas.openxmlformats.org/officeDocument/2006/relationships/image" Target="../media/image879.png"/><Relationship Id="rId24" Type="http://schemas.openxmlformats.org/officeDocument/2006/relationships/image" Target="../media/image880.png"/><Relationship Id="rId25" Type="http://schemas.openxmlformats.org/officeDocument/2006/relationships/image" Target="../media/image881.png"/><Relationship Id="rId26" Type="http://schemas.openxmlformats.org/officeDocument/2006/relationships/image" Target="../media/image882.png"/><Relationship Id="rId27" Type="http://schemas.openxmlformats.org/officeDocument/2006/relationships/image" Target="../media/image883.png"/><Relationship Id="rId28" Type="http://schemas.openxmlformats.org/officeDocument/2006/relationships/image" Target="../media/image884.png"/><Relationship Id="rId29" Type="http://schemas.openxmlformats.org/officeDocument/2006/relationships/image" Target="../media/image885.png"/><Relationship Id="rId30" Type="http://schemas.openxmlformats.org/officeDocument/2006/relationships/image" Target="../media/image886.png"/><Relationship Id="rId31" Type="http://schemas.openxmlformats.org/officeDocument/2006/relationships/image" Target="../media/image887.png"/><Relationship Id="rId32" Type="http://schemas.openxmlformats.org/officeDocument/2006/relationships/image" Target="../media/image888.png"/><Relationship Id="rId33" Type="http://schemas.openxmlformats.org/officeDocument/2006/relationships/image" Target="../media/image889.png"/></Relationships>
</file>

<file path=ppt/charts/_rels/chart147.xml.rels><?xml version='1.0' encoding='UTF-8' standalone='yes'?>
<Relationships xmlns="http://schemas.openxmlformats.org/package/2006/relationships"><Relationship Id="rId2" Type="http://schemas.openxmlformats.org/officeDocument/2006/relationships/image" Target="../media/image890.png"/><Relationship Id="rId3" Type="http://schemas.openxmlformats.org/officeDocument/2006/relationships/image" Target="../media/image891.png"/><Relationship Id="rId4" Type="http://schemas.openxmlformats.org/officeDocument/2006/relationships/image" Target="../media/image892.png"/><Relationship Id="rId5" Type="http://schemas.openxmlformats.org/officeDocument/2006/relationships/image" Target="../media/image893.png"/><Relationship Id="rId6" Type="http://schemas.openxmlformats.org/officeDocument/2006/relationships/image" Target="../media/image894.png"/><Relationship Id="rId7" Type="http://schemas.openxmlformats.org/officeDocument/2006/relationships/image" Target="../media/image895.png"/><Relationship Id="rId8" Type="http://schemas.openxmlformats.org/officeDocument/2006/relationships/image" Target="../media/image896.png"/><Relationship Id="rId9" Type="http://schemas.openxmlformats.org/officeDocument/2006/relationships/image" Target="../media/image897.png"/><Relationship Id="rId10" Type="http://schemas.openxmlformats.org/officeDocument/2006/relationships/image" Target="../media/image898.png"/><Relationship Id="rId11" Type="http://schemas.openxmlformats.org/officeDocument/2006/relationships/image" Target="../media/image899.png"/><Relationship Id="rId12" Type="http://schemas.openxmlformats.org/officeDocument/2006/relationships/image" Target="../media/image900.png"/><Relationship Id="rId13" Type="http://schemas.openxmlformats.org/officeDocument/2006/relationships/image" Target="../media/image901.png"/><Relationship Id="rId14" Type="http://schemas.openxmlformats.org/officeDocument/2006/relationships/image" Target="../media/image902.png"/><Relationship Id="rId15" Type="http://schemas.openxmlformats.org/officeDocument/2006/relationships/image" Target="../media/image903.png"/><Relationship Id="rId16" Type="http://schemas.openxmlformats.org/officeDocument/2006/relationships/image" Target="../media/image904.png"/><Relationship Id="rId17" Type="http://schemas.openxmlformats.org/officeDocument/2006/relationships/image" Target="../media/image905.png"/><Relationship Id="rId18" Type="http://schemas.openxmlformats.org/officeDocument/2006/relationships/image" Target="../media/image906.png"/><Relationship Id="rId19" Type="http://schemas.openxmlformats.org/officeDocument/2006/relationships/image" Target="../media/image907.png"/><Relationship Id="rId20" Type="http://schemas.openxmlformats.org/officeDocument/2006/relationships/image" Target="../media/image908.png"/><Relationship Id="rId21" Type="http://schemas.openxmlformats.org/officeDocument/2006/relationships/image" Target="../media/image909.png"/><Relationship Id="rId22" Type="http://schemas.openxmlformats.org/officeDocument/2006/relationships/image" Target="../media/image910.png"/><Relationship Id="rId23" Type="http://schemas.openxmlformats.org/officeDocument/2006/relationships/image" Target="../media/image911.png"/><Relationship Id="rId24" Type="http://schemas.openxmlformats.org/officeDocument/2006/relationships/image" Target="../media/image912.png"/><Relationship Id="rId25" Type="http://schemas.openxmlformats.org/officeDocument/2006/relationships/image" Target="../media/image913.png"/><Relationship Id="rId26" Type="http://schemas.openxmlformats.org/officeDocument/2006/relationships/image" Target="../media/image914.png"/><Relationship Id="rId27" Type="http://schemas.openxmlformats.org/officeDocument/2006/relationships/image" Target="../media/image915.png"/><Relationship Id="rId28" Type="http://schemas.openxmlformats.org/officeDocument/2006/relationships/image" Target="../media/image916.png"/><Relationship Id="rId29" Type="http://schemas.openxmlformats.org/officeDocument/2006/relationships/image" Target="../media/image917.png"/><Relationship Id="rId30" Type="http://schemas.openxmlformats.org/officeDocument/2006/relationships/image" Target="../media/image918.png"/><Relationship Id="rId31" Type="http://schemas.openxmlformats.org/officeDocument/2006/relationships/image" Target="../media/image919.png"/><Relationship Id="rId32" Type="http://schemas.openxmlformats.org/officeDocument/2006/relationships/image" Target="../media/image920.png"/><Relationship Id="rId33" Type="http://schemas.openxmlformats.org/officeDocument/2006/relationships/image" Target="../media/image921.png"/></Relationships>
</file>

<file path=ppt/charts/_rels/chart148.xml.rels><?xml version='1.0' encoding='UTF-8' standalone='yes'?>
<Relationships xmlns="http://schemas.openxmlformats.org/package/2006/relationships"><Relationship Id="rId2" Type="http://schemas.openxmlformats.org/officeDocument/2006/relationships/image" Target="../media/image927.png"/><Relationship Id="rId3" Type="http://schemas.openxmlformats.org/officeDocument/2006/relationships/image" Target="../media/image928.png"/><Relationship Id="rId4" Type="http://schemas.openxmlformats.org/officeDocument/2006/relationships/image" Target="../media/image929.png"/><Relationship Id="rId5" Type="http://schemas.openxmlformats.org/officeDocument/2006/relationships/image" Target="../media/image930.png"/></Relationships>
</file>

<file path=ppt/charts/_rels/chart152.xml.rels><?xml version='1.0' encoding='UTF-8' standalone='yes'?>
<Relationships xmlns="http://schemas.openxmlformats.org/package/2006/relationships"><Relationship Id="rId2" Type="http://schemas.openxmlformats.org/officeDocument/2006/relationships/image" Target="../media/image931.png"/><Relationship Id="rId3" Type="http://schemas.openxmlformats.org/officeDocument/2006/relationships/image" Target="../media/image932.png"/><Relationship Id="rId4" Type="http://schemas.openxmlformats.org/officeDocument/2006/relationships/image" Target="../media/image933.png"/><Relationship Id="rId5" Type="http://schemas.openxmlformats.org/officeDocument/2006/relationships/image" Target="../media/image934.png"/><Relationship Id="rId6" Type="http://schemas.openxmlformats.org/officeDocument/2006/relationships/image" Target="../media/image935.png"/><Relationship Id="rId7" Type="http://schemas.openxmlformats.org/officeDocument/2006/relationships/image" Target="../media/image936.png"/></Relationships>
</file>

<file path=ppt/charts/_rels/chart153.xml.rels><?xml version='1.0' encoding='UTF-8' standalone='yes'?>
<Relationships xmlns="http://schemas.openxmlformats.org/package/2006/relationships"><Relationship Id="rId2" Type="http://schemas.openxmlformats.org/officeDocument/2006/relationships/image" Target="../media/image941.png"/><Relationship Id="rId3" Type="http://schemas.openxmlformats.org/officeDocument/2006/relationships/image" Target="../media/image942.png"/><Relationship Id="rId4" Type="http://schemas.openxmlformats.org/officeDocument/2006/relationships/image" Target="../media/image943.png"/><Relationship Id="rId5" Type="http://schemas.openxmlformats.org/officeDocument/2006/relationships/image" Target="../media/image944.png"/></Relationships>
</file>

<file path=ppt/charts/_rels/chart157.xml.rels><?xml version='1.0' encoding='UTF-8' standalone='yes'?>
<Relationships xmlns="http://schemas.openxmlformats.org/package/2006/relationships"><Relationship Id="rId2" Type="http://schemas.openxmlformats.org/officeDocument/2006/relationships/image" Target="../media/image945.png"/><Relationship Id="rId3" Type="http://schemas.openxmlformats.org/officeDocument/2006/relationships/image" Target="../media/image946.png"/><Relationship Id="rId4" Type="http://schemas.openxmlformats.org/officeDocument/2006/relationships/image" Target="../media/image947.png"/><Relationship Id="rId5" Type="http://schemas.openxmlformats.org/officeDocument/2006/relationships/image" Target="../media/image948.png"/><Relationship Id="rId6" Type="http://schemas.openxmlformats.org/officeDocument/2006/relationships/image" Target="../media/image949.png"/><Relationship Id="rId7" Type="http://schemas.openxmlformats.org/officeDocument/2006/relationships/image" Target="../media/image950.png"/></Relationships>
</file>

<file path=ppt/charts/_rels/chart158.xml.rels><?xml version='1.0' encoding='UTF-8' standalone='yes'?>
<Relationships xmlns="http://schemas.openxmlformats.org/package/2006/relationships"><Relationship Id="rId2" Type="http://schemas.openxmlformats.org/officeDocument/2006/relationships/image" Target="../media/image969.png"/><Relationship Id="rId3" Type="http://schemas.openxmlformats.org/officeDocument/2006/relationships/image" Target="../media/image970.png"/><Relationship Id="rId4" Type="http://schemas.openxmlformats.org/officeDocument/2006/relationships/image" Target="../media/image971.png"/><Relationship Id="rId5" Type="http://schemas.openxmlformats.org/officeDocument/2006/relationships/image" Target="../media/image972.png"/><Relationship Id="rId6" Type="http://schemas.openxmlformats.org/officeDocument/2006/relationships/image" Target="../media/image973.png"/><Relationship Id="rId7" Type="http://schemas.openxmlformats.org/officeDocument/2006/relationships/image" Target="../media/image974.png"/><Relationship Id="rId8" Type="http://schemas.openxmlformats.org/officeDocument/2006/relationships/image" Target="../media/image975.png"/><Relationship Id="rId9" Type="http://schemas.openxmlformats.org/officeDocument/2006/relationships/image" Target="../media/image976.png"/><Relationship Id="rId10" Type="http://schemas.openxmlformats.org/officeDocument/2006/relationships/image" Target="../media/image977.png"/><Relationship Id="rId11" Type="http://schemas.openxmlformats.org/officeDocument/2006/relationships/image" Target="../media/image978.png"/><Relationship Id="rId12" Type="http://schemas.openxmlformats.org/officeDocument/2006/relationships/image" Target="../media/image979.png"/><Relationship Id="rId13" Type="http://schemas.openxmlformats.org/officeDocument/2006/relationships/image" Target="../media/image980.png"/><Relationship Id="rId14" Type="http://schemas.openxmlformats.org/officeDocument/2006/relationships/image" Target="../media/image981.png"/><Relationship Id="rId15" Type="http://schemas.openxmlformats.org/officeDocument/2006/relationships/image" Target="../media/image982.png"/><Relationship Id="rId16" Type="http://schemas.openxmlformats.org/officeDocument/2006/relationships/image" Target="../media/image983.png"/><Relationship Id="rId17" Type="http://schemas.openxmlformats.org/officeDocument/2006/relationships/image" Target="../media/image984.png"/></Relationships>
</file>

<file path=ppt/charts/_rels/chart168.xml.rels><?xml version='1.0' encoding='UTF-8' standalone='yes'?>
<Relationships xmlns="http://schemas.openxmlformats.org/package/2006/relationships"><Relationship Id="rId2" Type="http://schemas.openxmlformats.org/officeDocument/2006/relationships/image" Target="../media/image985.png"/><Relationship Id="rId3" Type="http://schemas.openxmlformats.org/officeDocument/2006/relationships/image" Target="../media/image986.png"/><Relationship Id="rId4" Type="http://schemas.openxmlformats.org/officeDocument/2006/relationships/image" Target="../media/image987.png"/><Relationship Id="rId5" Type="http://schemas.openxmlformats.org/officeDocument/2006/relationships/image" Target="../media/image988.png"/><Relationship Id="rId6" Type="http://schemas.openxmlformats.org/officeDocument/2006/relationships/image" Target="../media/image989.png"/><Relationship Id="rId7" Type="http://schemas.openxmlformats.org/officeDocument/2006/relationships/image" Target="../media/image990.png"/><Relationship Id="rId8" Type="http://schemas.openxmlformats.org/officeDocument/2006/relationships/image" Target="../media/image991.png"/><Relationship Id="rId9" Type="http://schemas.openxmlformats.org/officeDocument/2006/relationships/image" Target="../media/image992.png"/><Relationship Id="rId10" Type="http://schemas.openxmlformats.org/officeDocument/2006/relationships/image" Target="../media/image993.png"/><Relationship Id="rId11" Type="http://schemas.openxmlformats.org/officeDocument/2006/relationships/image" Target="../media/image994.png"/><Relationship Id="rId12" Type="http://schemas.openxmlformats.org/officeDocument/2006/relationships/image" Target="../media/image995.png"/><Relationship Id="rId13" Type="http://schemas.openxmlformats.org/officeDocument/2006/relationships/image" Target="../media/image996.png"/><Relationship Id="rId14" Type="http://schemas.openxmlformats.org/officeDocument/2006/relationships/image" Target="../media/image997.png"/><Relationship Id="rId15" Type="http://schemas.openxmlformats.org/officeDocument/2006/relationships/image" Target="../media/image998.png"/><Relationship Id="rId16" Type="http://schemas.openxmlformats.org/officeDocument/2006/relationships/image" Target="../media/image999.png"/><Relationship Id="rId17" Type="http://schemas.openxmlformats.org/officeDocument/2006/relationships/image" Target="../media/image1000.png"/><Relationship Id="rId18" Type="http://schemas.openxmlformats.org/officeDocument/2006/relationships/image" Target="../media/image1001.png"/><Relationship Id="rId19" Type="http://schemas.openxmlformats.org/officeDocument/2006/relationships/image" Target="../media/image1002.png"/><Relationship Id="rId20" Type="http://schemas.openxmlformats.org/officeDocument/2006/relationships/image" Target="../media/image1003.png"/><Relationship Id="rId21" Type="http://schemas.openxmlformats.org/officeDocument/2006/relationships/image" Target="../media/image1004.png"/><Relationship Id="rId22" Type="http://schemas.openxmlformats.org/officeDocument/2006/relationships/image" Target="../media/image1005.png"/><Relationship Id="rId23" Type="http://schemas.openxmlformats.org/officeDocument/2006/relationships/image" Target="../media/image1006.png"/></Relationships>
</file>

<file path=ppt/charts/_rels/chart169.xml.rels><?xml version='1.0' encoding='UTF-8' standalone='yes'?>
<Relationships xmlns="http://schemas.openxmlformats.org/package/2006/relationships"><Relationship Id="rId2" Type="http://schemas.openxmlformats.org/officeDocument/2006/relationships/image" Target="../media/image1016.png"/><Relationship Id="rId3" Type="http://schemas.openxmlformats.org/officeDocument/2006/relationships/image" Target="../media/image1017.png"/><Relationship Id="rId4" Type="http://schemas.openxmlformats.org/officeDocument/2006/relationships/image" Target="../media/image1018.png"/><Relationship Id="rId5" Type="http://schemas.openxmlformats.org/officeDocument/2006/relationships/image" Target="../media/image1019.png"/><Relationship Id="rId6" Type="http://schemas.openxmlformats.org/officeDocument/2006/relationships/image" Target="../media/image1020.png"/><Relationship Id="rId7" Type="http://schemas.openxmlformats.org/officeDocument/2006/relationships/image" Target="../media/image1021.png"/><Relationship Id="rId8" Type="http://schemas.openxmlformats.org/officeDocument/2006/relationships/image" Target="../media/image1022.png"/><Relationship Id="rId9" Type="http://schemas.openxmlformats.org/officeDocument/2006/relationships/image" Target="../media/image1023.png"/></Relationships>
</file>

<file path=ppt/charts/_rels/chart175.xml.rels><?xml version='1.0' encoding='UTF-8' standalone='yes'?>
<Relationships xmlns="http://schemas.openxmlformats.org/package/2006/relationships"><Relationship Id="rId2" Type="http://schemas.openxmlformats.org/officeDocument/2006/relationships/image" Target="../media/image1024.png"/><Relationship Id="rId3" Type="http://schemas.openxmlformats.org/officeDocument/2006/relationships/image" Target="../media/image1025.png"/><Relationship Id="rId4" Type="http://schemas.openxmlformats.org/officeDocument/2006/relationships/image" Target="../media/image1026.png"/><Relationship Id="rId5" Type="http://schemas.openxmlformats.org/officeDocument/2006/relationships/image" Target="../media/image1027.png"/><Relationship Id="rId6" Type="http://schemas.openxmlformats.org/officeDocument/2006/relationships/image" Target="../media/image1028.png"/><Relationship Id="rId7" Type="http://schemas.openxmlformats.org/officeDocument/2006/relationships/image" Target="../media/image1029.png"/><Relationship Id="rId8" Type="http://schemas.openxmlformats.org/officeDocument/2006/relationships/image" Target="../media/image1030.png"/><Relationship Id="rId9" Type="http://schemas.openxmlformats.org/officeDocument/2006/relationships/image" Target="../media/image1031.png"/><Relationship Id="rId10" Type="http://schemas.openxmlformats.org/officeDocument/2006/relationships/image" Target="../media/image1032.png"/><Relationship Id="rId11" Type="http://schemas.openxmlformats.org/officeDocument/2006/relationships/image" Target="../media/image1033.png"/><Relationship Id="rId12" Type="http://schemas.openxmlformats.org/officeDocument/2006/relationships/image" Target="../media/image1034.png"/><Relationship Id="rId13" Type="http://schemas.openxmlformats.org/officeDocument/2006/relationships/image" Target="../media/image1035.png"/></Relationships>
</file>

<file path=ppt/charts/_rels/chart176.xml.rels><?xml version='1.0' encoding='UTF-8' standalone='yes'?>
<Relationships xmlns="http://schemas.openxmlformats.org/package/2006/relationships"><Relationship Id="rId2" Type="http://schemas.openxmlformats.org/officeDocument/2006/relationships/image" Target="../media/image1053.png"/><Relationship Id="rId3" Type="http://schemas.openxmlformats.org/officeDocument/2006/relationships/image" Target="../media/image1054.png"/><Relationship Id="rId4" Type="http://schemas.openxmlformats.org/officeDocument/2006/relationships/image" Target="../media/image1055.png"/><Relationship Id="rId5" Type="http://schemas.openxmlformats.org/officeDocument/2006/relationships/image" Target="../media/image1056.png"/><Relationship Id="rId6" Type="http://schemas.openxmlformats.org/officeDocument/2006/relationships/image" Target="../media/image1057.png"/><Relationship Id="rId7" Type="http://schemas.openxmlformats.org/officeDocument/2006/relationships/image" Target="../media/image1058.png"/><Relationship Id="rId8" Type="http://schemas.openxmlformats.org/officeDocument/2006/relationships/image" Target="../media/image1059.png"/><Relationship Id="rId9" Type="http://schemas.openxmlformats.org/officeDocument/2006/relationships/image" Target="../media/image1060.png"/><Relationship Id="rId10" Type="http://schemas.openxmlformats.org/officeDocument/2006/relationships/image" Target="../media/image1061.png"/><Relationship Id="rId11" Type="http://schemas.openxmlformats.org/officeDocument/2006/relationships/image" Target="../media/image1062.png"/><Relationship Id="rId12" Type="http://schemas.openxmlformats.org/officeDocument/2006/relationships/image" Target="../media/image1063.png"/><Relationship Id="rId13" Type="http://schemas.openxmlformats.org/officeDocument/2006/relationships/image" Target="../media/image1064.png"/><Relationship Id="rId14" Type="http://schemas.openxmlformats.org/officeDocument/2006/relationships/image" Target="../media/image1065.png"/><Relationship Id="rId15" Type="http://schemas.openxmlformats.org/officeDocument/2006/relationships/image" Target="../media/image1066.png"/></Relationships>
</file>

<file path=ppt/charts/_rels/chart185.xml.rels><?xml version='1.0' encoding='UTF-8' standalone='yes'?>
<Relationships xmlns="http://schemas.openxmlformats.org/package/2006/relationships"><Relationship Id="rId2" Type="http://schemas.openxmlformats.org/officeDocument/2006/relationships/image" Target="../media/image1067.png"/><Relationship Id="rId3" Type="http://schemas.openxmlformats.org/officeDocument/2006/relationships/image" Target="../media/image1068.png"/><Relationship Id="rId4" Type="http://schemas.openxmlformats.org/officeDocument/2006/relationships/image" Target="../media/image1069.png"/><Relationship Id="rId5" Type="http://schemas.openxmlformats.org/officeDocument/2006/relationships/image" Target="../media/image1070.png"/><Relationship Id="rId6" Type="http://schemas.openxmlformats.org/officeDocument/2006/relationships/image" Target="../media/image1071.png"/><Relationship Id="rId7" Type="http://schemas.openxmlformats.org/officeDocument/2006/relationships/image" Target="../media/image1072.png"/><Relationship Id="rId8" Type="http://schemas.openxmlformats.org/officeDocument/2006/relationships/image" Target="../media/image1073.png"/><Relationship Id="rId9" Type="http://schemas.openxmlformats.org/officeDocument/2006/relationships/image" Target="../media/image1074.png"/><Relationship Id="rId10" Type="http://schemas.openxmlformats.org/officeDocument/2006/relationships/image" Target="../media/image1075.png"/><Relationship Id="rId11" Type="http://schemas.openxmlformats.org/officeDocument/2006/relationships/image" Target="../media/image1076.png"/><Relationship Id="rId12" Type="http://schemas.openxmlformats.org/officeDocument/2006/relationships/image" Target="../media/image1077.png"/><Relationship Id="rId13" Type="http://schemas.openxmlformats.org/officeDocument/2006/relationships/image" Target="../media/image1078.png"/><Relationship Id="rId14" Type="http://schemas.openxmlformats.org/officeDocument/2006/relationships/image" Target="../media/image1079.png"/><Relationship Id="rId15" Type="http://schemas.openxmlformats.org/officeDocument/2006/relationships/image" Target="../media/image1080.png"/><Relationship Id="rId16" Type="http://schemas.openxmlformats.org/officeDocument/2006/relationships/image" Target="../media/image1081.png"/><Relationship Id="rId17" Type="http://schemas.openxmlformats.org/officeDocument/2006/relationships/image" Target="../media/image1082.png"/><Relationship Id="rId18" Type="http://schemas.openxmlformats.org/officeDocument/2006/relationships/image" Target="../media/image1083.png"/><Relationship Id="rId19" Type="http://schemas.openxmlformats.org/officeDocument/2006/relationships/image" Target="../media/image1084.png"/><Relationship Id="rId20" Type="http://schemas.openxmlformats.org/officeDocument/2006/relationships/image" Target="../media/image1085.png"/><Relationship Id="rId21" Type="http://schemas.openxmlformats.org/officeDocument/2006/relationships/image" Target="../media/image1086.png"/></Relationships>
</file>

<file path=ppt/charts/_rels/chart186.xml.rels><?xml version='1.0' encoding='UTF-8' standalone='yes'?>
<Relationships xmlns="http://schemas.openxmlformats.org/package/2006/relationships"><Relationship Id="rId2" Type="http://schemas.openxmlformats.org/officeDocument/2006/relationships/image" Target="../media/image1093.png"/><Relationship Id="rId3" Type="http://schemas.openxmlformats.org/officeDocument/2006/relationships/image" Target="../media/image1094.png"/><Relationship Id="rId4" Type="http://schemas.openxmlformats.org/officeDocument/2006/relationships/image" Target="../media/image1095.png"/><Relationship Id="rId5" Type="http://schemas.openxmlformats.org/officeDocument/2006/relationships/image" Target="../media/image1096.png"/><Relationship Id="rId6" Type="http://schemas.openxmlformats.org/officeDocument/2006/relationships/image" Target="../media/image1097.png"/><Relationship Id="rId7" Type="http://schemas.openxmlformats.org/officeDocument/2006/relationships/image" Target="../media/image1098.png"/></Relationships>
</file>

<file path=ppt/charts/_rels/chart191.xml.rels><?xml version='1.0' encoding='UTF-8' standalone='yes'?>
<Relationships xmlns="http://schemas.openxmlformats.org/package/2006/relationships"><Relationship Id="rId2" Type="http://schemas.openxmlformats.org/officeDocument/2006/relationships/image" Target="../media/image1099.png"/><Relationship Id="rId3" Type="http://schemas.openxmlformats.org/officeDocument/2006/relationships/image" Target="../media/image1100.png"/><Relationship Id="rId4" Type="http://schemas.openxmlformats.org/officeDocument/2006/relationships/image" Target="../media/image1101.png"/><Relationship Id="rId5" Type="http://schemas.openxmlformats.org/officeDocument/2006/relationships/image" Target="../media/image1102.png"/><Relationship Id="rId6" Type="http://schemas.openxmlformats.org/officeDocument/2006/relationships/image" Target="../media/image1103.png"/><Relationship Id="rId7" Type="http://schemas.openxmlformats.org/officeDocument/2006/relationships/image" Target="../media/image1104.png"/><Relationship Id="rId8" Type="http://schemas.openxmlformats.org/officeDocument/2006/relationships/image" Target="../media/image1105.png"/><Relationship Id="rId9" Type="http://schemas.openxmlformats.org/officeDocument/2006/relationships/image" Target="../media/image1106.png"/><Relationship Id="rId10" Type="http://schemas.openxmlformats.org/officeDocument/2006/relationships/image" Target="../media/image1107.png"/></Relationships>
</file>

<file path=ppt/charts/_rels/chart192.xml.rels><?xml version='1.0' encoding='UTF-8' standalone='yes'?>
<Relationships xmlns="http://schemas.openxmlformats.org/package/2006/relationships"><Relationship Id="rId2" Type="http://schemas.openxmlformats.org/officeDocument/2006/relationships/image" Target="../media/image1113.png"/><Relationship Id="rId3" Type="http://schemas.openxmlformats.org/officeDocument/2006/relationships/image" Target="../media/image1114.png"/><Relationship Id="rId4" Type="http://schemas.openxmlformats.org/officeDocument/2006/relationships/image" Target="../media/image1115.png"/><Relationship Id="rId5" Type="http://schemas.openxmlformats.org/officeDocument/2006/relationships/image" Target="../media/image1116.png"/></Relationships>
</file>

<file path=ppt/charts/_rels/chart196.xml.rels><?xml version='1.0' encoding='UTF-8' standalone='yes'?>
<Relationships xmlns="http://schemas.openxmlformats.org/package/2006/relationships"><Relationship Id="rId2" Type="http://schemas.openxmlformats.org/officeDocument/2006/relationships/image" Target="../media/image1117.png"/><Relationship Id="rId3" Type="http://schemas.openxmlformats.org/officeDocument/2006/relationships/image" Target="../media/image1118.png"/><Relationship Id="rId4" Type="http://schemas.openxmlformats.org/officeDocument/2006/relationships/image" Target="../media/image1119.png"/><Relationship Id="rId5" Type="http://schemas.openxmlformats.org/officeDocument/2006/relationships/image" Target="../media/image1120.png"/><Relationship Id="rId6" Type="http://schemas.openxmlformats.org/officeDocument/2006/relationships/image" Target="../media/image1121.png"/><Relationship Id="rId7" Type="http://schemas.openxmlformats.org/officeDocument/2006/relationships/image" Target="../media/image1122.png"/></Relationships>
</file>

<file path=ppt/charts/_rels/chart197.xml.rels><?xml version='1.0' encoding='UTF-8' standalone='yes'?>
<Relationships xmlns="http://schemas.openxmlformats.org/package/2006/relationships"><Relationship Id="rId2" Type="http://schemas.openxmlformats.org/officeDocument/2006/relationships/image" Target="../media/image1137.png"/><Relationship Id="rId3" Type="http://schemas.openxmlformats.org/officeDocument/2006/relationships/image" Target="../media/image1138.png"/><Relationship Id="rId4" Type="http://schemas.openxmlformats.org/officeDocument/2006/relationships/image" Target="../media/image1139.png"/><Relationship Id="rId5" Type="http://schemas.openxmlformats.org/officeDocument/2006/relationships/image" Target="../media/image1140.png"/><Relationship Id="rId6" Type="http://schemas.openxmlformats.org/officeDocument/2006/relationships/image" Target="../media/image1141.png"/><Relationship Id="rId7" Type="http://schemas.openxmlformats.org/officeDocument/2006/relationships/image" Target="../media/image1142.png"/><Relationship Id="rId8" Type="http://schemas.openxmlformats.org/officeDocument/2006/relationships/image" Target="../media/image1143.png"/><Relationship Id="rId9" Type="http://schemas.openxmlformats.org/officeDocument/2006/relationships/image" Target="../media/image1144.png"/><Relationship Id="rId10" Type="http://schemas.openxmlformats.org/officeDocument/2006/relationships/image" Target="../media/image1145.png"/><Relationship Id="rId11" Type="http://schemas.openxmlformats.org/officeDocument/2006/relationships/image" Target="../media/image1146.png"/><Relationship Id="rId12" Type="http://schemas.openxmlformats.org/officeDocument/2006/relationships/image" Target="../media/image1147.png"/><Relationship Id="rId13" Type="http://schemas.openxmlformats.org/officeDocument/2006/relationships/image" Target="../media/image1148.png"/></Relationships>
</file>

<file path=ppt/charts/_rels/chart205.xml.rels><?xml version='1.0' encoding='UTF-8' standalone='yes'?>
<Relationships xmlns="http://schemas.openxmlformats.org/package/2006/relationships"><Relationship Id="rId2" Type="http://schemas.openxmlformats.org/officeDocument/2006/relationships/image" Target="../media/image1149.png"/><Relationship Id="rId3" Type="http://schemas.openxmlformats.org/officeDocument/2006/relationships/image" Target="../media/image1150.png"/><Relationship Id="rId4" Type="http://schemas.openxmlformats.org/officeDocument/2006/relationships/image" Target="../media/image1151.png"/><Relationship Id="rId5" Type="http://schemas.openxmlformats.org/officeDocument/2006/relationships/image" Target="../media/image1152.png"/><Relationship Id="rId6" Type="http://schemas.openxmlformats.org/officeDocument/2006/relationships/image" Target="../media/image1153.png"/><Relationship Id="rId7" Type="http://schemas.openxmlformats.org/officeDocument/2006/relationships/image" Target="../media/image1154.png"/><Relationship Id="rId8" Type="http://schemas.openxmlformats.org/officeDocument/2006/relationships/image" Target="../media/image1155.png"/><Relationship Id="rId9" Type="http://schemas.openxmlformats.org/officeDocument/2006/relationships/image" Target="../media/image1156.png"/><Relationship Id="rId10" Type="http://schemas.openxmlformats.org/officeDocument/2006/relationships/image" Target="../media/image1157.png"/><Relationship Id="rId11" Type="http://schemas.openxmlformats.org/officeDocument/2006/relationships/image" Target="../media/image1158.png"/><Relationship Id="rId12" Type="http://schemas.openxmlformats.org/officeDocument/2006/relationships/image" Target="../media/image1159.png"/><Relationship Id="rId13" Type="http://schemas.openxmlformats.org/officeDocument/2006/relationships/image" Target="../media/image1160.png"/><Relationship Id="rId14" Type="http://schemas.openxmlformats.org/officeDocument/2006/relationships/image" Target="../media/image1161.png"/><Relationship Id="rId15" Type="http://schemas.openxmlformats.org/officeDocument/2006/relationships/image" Target="../media/image1162.png"/><Relationship Id="rId16" Type="http://schemas.openxmlformats.org/officeDocument/2006/relationships/image" Target="../media/image1163.png"/><Relationship Id="rId17" Type="http://schemas.openxmlformats.org/officeDocument/2006/relationships/image" Target="../media/image1164.png"/><Relationship Id="rId18" Type="http://schemas.openxmlformats.org/officeDocument/2006/relationships/image" Target="../media/image1165.png"/></Relationships>
</file>

<file path=ppt/charts/_rels/chart206.xml.rels><?xml version='1.0' encoding='UTF-8' standalone='yes'?>
<Relationships xmlns="http://schemas.openxmlformats.org/package/2006/relationships"><Relationship Id="rId2" Type="http://schemas.openxmlformats.org/officeDocument/2006/relationships/image" Target="../media/image1175.png"/><Relationship Id="rId3" Type="http://schemas.openxmlformats.org/officeDocument/2006/relationships/image" Target="../media/image1176.png"/><Relationship Id="rId4" Type="http://schemas.openxmlformats.org/officeDocument/2006/relationships/image" Target="../media/image1177.png"/><Relationship Id="rId5" Type="http://schemas.openxmlformats.org/officeDocument/2006/relationships/image" Target="../media/image1178.png"/><Relationship Id="rId6" Type="http://schemas.openxmlformats.org/officeDocument/2006/relationships/image" Target="../media/image1179.png"/><Relationship Id="rId7" Type="http://schemas.openxmlformats.org/officeDocument/2006/relationships/image" Target="../media/image1180.png"/><Relationship Id="rId8" Type="http://schemas.openxmlformats.org/officeDocument/2006/relationships/image" Target="../media/image1181.png"/><Relationship Id="rId9" Type="http://schemas.openxmlformats.org/officeDocument/2006/relationships/image" Target="../media/image1182.png"/></Relationships>
</file>

<file path=ppt/charts/_rels/chart212.xml.rels><?xml version='1.0' encoding='UTF-8' standalone='yes'?>
<Relationships xmlns="http://schemas.openxmlformats.org/package/2006/relationships"><Relationship Id="rId2" Type="http://schemas.openxmlformats.org/officeDocument/2006/relationships/image" Target="../media/image1183.png"/><Relationship Id="rId3" Type="http://schemas.openxmlformats.org/officeDocument/2006/relationships/image" Target="../media/image1184.png"/><Relationship Id="rId4" Type="http://schemas.openxmlformats.org/officeDocument/2006/relationships/image" Target="../media/image1185.png"/><Relationship Id="rId5" Type="http://schemas.openxmlformats.org/officeDocument/2006/relationships/image" Target="../media/image1186.png"/><Relationship Id="rId6" Type="http://schemas.openxmlformats.org/officeDocument/2006/relationships/image" Target="../media/image1187.png"/><Relationship Id="rId7" Type="http://schemas.openxmlformats.org/officeDocument/2006/relationships/image" Target="../media/image1188.png"/><Relationship Id="rId8" Type="http://schemas.openxmlformats.org/officeDocument/2006/relationships/image" Target="../media/image1189.png"/><Relationship Id="rId9" Type="http://schemas.openxmlformats.org/officeDocument/2006/relationships/image" Target="../media/image1190.png"/><Relationship Id="rId10" Type="http://schemas.openxmlformats.org/officeDocument/2006/relationships/image" Target="../media/image1191.png"/><Relationship Id="rId11" Type="http://schemas.openxmlformats.org/officeDocument/2006/relationships/image" Target="../media/image1192.png"/></Relationships>
</file>

<file path=ppt/charts/_rels/chart213.xml.rels><?xml version='1.0' encoding='UTF-8' standalone='yes'?>
<Relationships xmlns="http://schemas.openxmlformats.org/package/2006/relationships"><Relationship Id="rId2" Type="http://schemas.openxmlformats.org/officeDocument/2006/relationships/image" Target="../media/image1200.png"/><Relationship Id="rId3" Type="http://schemas.openxmlformats.org/officeDocument/2006/relationships/image" Target="../media/image1201.png"/><Relationship Id="rId4" Type="http://schemas.openxmlformats.org/officeDocument/2006/relationships/image" Target="../media/image1202.png"/><Relationship Id="rId5" Type="http://schemas.openxmlformats.org/officeDocument/2006/relationships/image" Target="../media/image1203.png"/><Relationship Id="rId6" Type="http://schemas.openxmlformats.org/officeDocument/2006/relationships/image" Target="../media/image1204.png"/><Relationship Id="rId7" Type="http://schemas.openxmlformats.org/officeDocument/2006/relationships/image" Target="../media/image1205.png"/></Relationships>
</file>

<file path=ppt/charts/_rels/chart218.xml.rels><?xml version='1.0' encoding='UTF-8' standalone='yes'?>
<Relationships xmlns="http://schemas.openxmlformats.org/package/2006/relationships"><Relationship Id="rId2" Type="http://schemas.openxmlformats.org/officeDocument/2006/relationships/image" Target="../media/image1206.png"/><Relationship Id="rId3" Type="http://schemas.openxmlformats.org/officeDocument/2006/relationships/image" Target="../media/image1207.png"/><Relationship Id="rId4" Type="http://schemas.openxmlformats.org/officeDocument/2006/relationships/image" Target="../media/image1208.png"/><Relationship Id="rId5" Type="http://schemas.openxmlformats.org/officeDocument/2006/relationships/image" Target="../media/image1209.png"/><Relationship Id="rId6" Type="http://schemas.openxmlformats.org/officeDocument/2006/relationships/image" Target="../media/image1210.png"/><Relationship Id="rId7" Type="http://schemas.openxmlformats.org/officeDocument/2006/relationships/image" Target="../media/image1211.png"/><Relationship Id="rId8" Type="http://schemas.openxmlformats.org/officeDocument/2006/relationships/image" Target="../media/image1212.png"/><Relationship Id="rId9" Type="http://schemas.openxmlformats.org/officeDocument/2006/relationships/image" Target="../media/image1213.png"/><Relationship Id="rId10" Type="http://schemas.openxmlformats.org/officeDocument/2006/relationships/image" Target="../media/image1214.png"/></Relationships>
</file>

<file path=ppt/charts/_rels/chart219.xml.rels><?xml version='1.0' encoding='UTF-8' standalone='yes'?>
<Relationships xmlns="http://schemas.openxmlformats.org/package/2006/relationships"><Relationship Id="rId2" Type="http://schemas.openxmlformats.org/officeDocument/2006/relationships/image" Target="../media/image1224.png"/><Relationship Id="rId3" Type="http://schemas.openxmlformats.org/officeDocument/2006/relationships/image" Target="../media/image1225.png"/><Relationship Id="rId4" Type="http://schemas.openxmlformats.org/officeDocument/2006/relationships/image" Target="../media/image1226.png"/><Relationship Id="rId5" Type="http://schemas.openxmlformats.org/officeDocument/2006/relationships/image" Target="../media/image1227.png"/><Relationship Id="rId6" Type="http://schemas.openxmlformats.org/officeDocument/2006/relationships/image" Target="../media/image1228.png"/><Relationship Id="rId7" Type="http://schemas.openxmlformats.org/officeDocument/2006/relationships/image" Target="../media/image1229.png"/><Relationship Id="rId8" Type="http://schemas.openxmlformats.org/officeDocument/2006/relationships/image" Target="../media/image1230.png"/><Relationship Id="rId9" Type="http://schemas.openxmlformats.org/officeDocument/2006/relationships/image" Target="../media/image1231.png"/></Relationships>
</file>

<file path=ppt/charts/_rels/chart225.xml.rels><?xml version='1.0' encoding='UTF-8' standalone='yes'?>
<Relationships xmlns="http://schemas.openxmlformats.org/package/2006/relationships"><Relationship Id="rId2" Type="http://schemas.openxmlformats.org/officeDocument/2006/relationships/image" Target="../media/image1232.png"/><Relationship Id="rId3" Type="http://schemas.openxmlformats.org/officeDocument/2006/relationships/image" Target="../media/image1233.png"/><Relationship Id="rId4" Type="http://schemas.openxmlformats.org/officeDocument/2006/relationships/image" Target="../media/image1234.png"/><Relationship Id="rId5" Type="http://schemas.openxmlformats.org/officeDocument/2006/relationships/image" Target="../media/image1235.png"/><Relationship Id="rId6" Type="http://schemas.openxmlformats.org/officeDocument/2006/relationships/image" Target="../media/image1236.png"/><Relationship Id="rId7" Type="http://schemas.openxmlformats.org/officeDocument/2006/relationships/image" Target="../media/image1237.png"/><Relationship Id="rId8" Type="http://schemas.openxmlformats.org/officeDocument/2006/relationships/image" Target="../media/image1238.png"/><Relationship Id="rId9" Type="http://schemas.openxmlformats.org/officeDocument/2006/relationships/image" Target="../media/image1239.png"/><Relationship Id="rId10" Type="http://schemas.openxmlformats.org/officeDocument/2006/relationships/image" Target="../media/image1240.png"/><Relationship Id="rId11" Type="http://schemas.openxmlformats.org/officeDocument/2006/relationships/image" Target="../media/image1241.png"/><Relationship Id="rId12" Type="http://schemas.openxmlformats.org/officeDocument/2006/relationships/image" Target="../media/image1242.png"/><Relationship Id="rId13" Type="http://schemas.openxmlformats.org/officeDocument/2006/relationships/image" Target="../media/image1243.png"/></Relationships>
</file>

<file path=ppt/charts/_rels/chart226.xml.rels><?xml version='1.0' encoding='UTF-8' standalone='yes'?>
<Relationships xmlns="http://schemas.openxmlformats.org/package/2006/relationships"><Relationship Id="rId2" Type="http://schemas.openxmlformats.org/officeDocument/2006/relationships/image" Target="../media/image1252.png"/><Relationship Id="rId3" Type="http://schemas.openxmlformats.org/officeDocument/2006/relationships/image" Target="../media/image1253.png"/><Relationship Id="rId4" Type="http://schemas.openxmlformats.org/officeDocument/2006/relationships/image" Target="../media/image1254.png"/><Relationship Id="rId5" Type="http://schemas.openxmlformats.org/officeDocument/2006/relationships/image" Target="../media/image1255.png"/><Relationship Id="rId6" Type="http://schemas.openxmlformats.org/officeDocument/2006/relationships/image" Target="../media/image1256.png"/><Relationship Id="rId7" Type="http://schemas.openxmlformats.org/officeDocument/2006/relationships/image" Target="../media/image1257.png"/><Relationship Id="rId8" Type="http://schemas.openxmlformats.org/officeDocument/2006/relationships/image" Target="../media/image1258.png"/><Relationship Id="rId9" Type="http://schemas.openxmlformats.org/officeDocument/2006/relationships/image" Target="../media/image1259.png"/></Relationships>
</file>

<file path=ppt/charts/_rels/chart232.xml.rels><?xml version='1.0' encoding='UTF-8' standalone='yes'?>
<Relationships xmlns="http://schemas.openxmlformats.org/package/2006/relationships"><Relationship Id="rId2" Type="http://schemas.openxmlformats.org/officeDocument/2006/relationships/image" Target="../media/image1260.png"/><Relationship Id="rId3" Type="http://schemas.openxmlformats.org/officeDocument/2006/relationships/image" Target="../media/image1261.png"/><Relationship Id="rId4" Type="http://schemas.openxmlformats.org/officeDocument/2006/relationships/image" Target="../media/image1262.png"/><Relationship Id="rId5" Type="http://schemas.openxmlformats.org/officeDocument/2006/relationships/image" Target="../media/image1263.png"/><Relationship Id="rId6" Type="http://schemas.openxmlformats.org/officeDocument/2006/relationships/image" Target="../media/image1264.png"/><Relationship Id="rId7" Type="http://schemas.openxmlformats.org/officeDocument/2006/relationships/image" Target="../media/image1265.png"/><Relationship Id="rId8" Type="http://schemas.openxmlformats.org/officeDocument/2006/relationships/image" Target="../media/image1266.png"/><Relationship Id="rId9" Type="http://schemas.openxmlformats.org/officeDocument/2006/relationships/image" Target="../media/image1267.png"/><Relationship Id="rId10" Type="http://schemas.openxmlformats.org/officeDocument/2006/relationships/image" Target="../media/image1268.png"/><Relationship Id="rId11" Type="http://schemas.openxmlformats.org/officeDocument/2006/relationships/image" Target="../media/image1269.png"/><Relationship Id="rId12" Type="http://schemas.openxmlformats.org/officeDocument/2006/relationships/image" Target="../media/image1270.png"/><Relationship Id="rId13" Type="http://schemas.openxmlformats.org/officeDocument/2006/relationships/image" Target="../media/image1271.png"/></Relationships>
</file>

<file path=ppt/charts/_rels/chart233.xml.rels><?xml version='1.0' encoding='UTF-8' standalone='yes'?>
<Relationships xmlns="http://schemas.openxmlformats.org/package/2006/relationships"><Relationship Id="rId2" Type="http://schemas.openxmlformats.org/officeDocument/2006/relationships/image" Target="../media/image1278.png"/><Relationship Id="rId3" Type="http://schemas.openxmlformats.org/officeDocument/2006/relationships/image" Target="../media/image1279.png"/><Relationship Id="rId4" Type="http://schemas.openxmlformats.org/officeDocument/2006/relationships/image" Target="../media/image1280.png"/><Relationship Id="rId5" Type="http://schemas.openxmlformats.org/officeDocument/2006/relationships/image" Target="../media/image1281.png"/><Relationship Id="rId6" Type="http://schemas.openxmlformats.org/officeDocument/2006/relationships/image" Target="../media/image1282.png"/><Relationship Id="rId7" Type="http://schemas.openxmlformats.org/officeDocument/2006/relationships/image" Target="../media/image1283.png"/></Relationships>
</file>

<file path=ppt/charts/_rels/chart238.xml.rels><?xml version='1.0' encoding='UTF-8' standalone='yes'?>
<Relationships xmlns="http://schemas.openxmlformats.org/package/2006/relationships"><Relationship Id="rId2" Type="http://schemas.openxmlformats.org/officeDocument/2006/relationships/image" Target="../media/image1284.png"/><Relationship Id="rId3" Type="http://schemas.openxmlformats.org/officeDocument/2006/relationships/image" Target="../media/image1285.png"/><Relationship Id="rId4" Type="http://schemas.openxmlformats.org/officeDocument/2006/relationships/image" Target="../media/image1286.png"/><Relationship Id="rId5" Type="http://schemas.openxmlformats.org/officeDocument/2006/relationships/image" Target="../media/image1287.png"/><Relationship Id="rId6" Type="http://schemas.openxmlformats.org/officeDocument/2006/relationships/image" Target="../media/image1288.png"/><Relationship Id="rId7" Type="http://schemas.openxmlformats.org/officeDocument/2006/relationships/image" Target="../media/image1289.png"/><Relationship Id="rId8" Type="http://schemas.openxmlformats.org/officeDocument/2006/relationships/image" Target="../media/image1290.png"/><Relationship Id="rId9" Type="http://schemas.openxmlformats.org/officeDocument/2006/relationships/image" Target="../media/image1291.png"/><Relationship Id="rId10" Type="http://schemas.openxmlformats.org/officeDocument/2006/relationships/image" Target="../media/image1292.png"/></Relationships>
</file>

<file path=ppt/charts/_rels/chart239.xml.rels><?xml version='1.0' encoding='UTF-8' standalone='yes'?>
<Relationships xmlns="http://schemas.openxmlformats.org/package/2006/relationships"><Relationship Id="rId2" Type="http://schemas.openxmlformats.org/officeDocument/2006/relationships/image" Target="../media/image1297.png"/><Relationship Id="rId3" Type="http://schemas.openxmlformats.org/officeDocument/2006/relationships/image" Target="../media/image1298.png"/><Relationship Id="rId4" Type="http://schemas.openxmlformats.org/officeDocument/2006/relationships/image" Target="../media/image1299.png"/><Relationship Id="rId5" Type="http://schemas.openxmlformats.org/officeDocument/2006/relationships/image" Target="../media/image1300.png"/></Relationships>
</file>

<file path=ppt/charts/_rels/chart243.xml.rels><?xml version='1.0' encoding='UTF-8' standalone='yes'?>
<Relationships xmlns="http://schemas.openxmlformats.org/package/2006/relationships"><Relationship Id="rId2" Type="http://schemas.openxmlformats.org/officeDocument/2006/relationships/image" Target="../media/image1301.png"/><Relationship Id="rId3" Type="http://schemas.openxmlformats.org/officeDocument/2006/relationships/image" Target="../media/image1302.png"/><Relationship Id="rId4" Type="http://schemas.openxmlformats.org/officeDocument/2006/relationships/image" Target="../media/image1303.png"/><Relationship Id="rId5" Type="http://schemas.openxmlformats.org/officeDocument/2006/relationships/image" Target="../media/image1304.png"/><Relationship Id="rId6" Type="http://schemas.openxmlformats.org/officeDocument/2006/relationships/image" Target="../media/image1305.png"/><Relationship Id="rId7" Type="http://schemas.openxmlformats.org/officeDocument/2006/relationships/image" Target="../media/image1306.png"/></Relationships>
</file>

<file path=ppt/charts/_rels/chart244.xml.rels><?xml version='1.0' encoding='UTF-8' standalone='yes'?>
<Relationships xmlns="http://schemas.openxmlformats.org/package/2006/relationships"><Relationship Id="rId2" Type="http://schemas.openxmlformats.org/officeDocument/2006/relationships/image" Target="../media/image1317.png"/><Relationship Id="rId3" Type="http://schemas.openxmlformats.org/officeDocument/2006/relationships/image" Target="../media/image1318.png"/><Relationship Id="rId4" Type="http://schemas.openxmlformats.org/officeDocument/2006/relationships/image" Target="../media/image1319.png"/><Relationship Id="rId5" Type="http://schemas.openxmlformats.org/officeDocument/2006/relationships/image" Target="../media/image1320.png"/><Relationship Id="rId6" Type="http://schemas.openxmlformats.org/officeDocument/2006/relationships/image" Target="../media/image1321.png"/><Relationship Id="rId7" Type="http://schemas.openxmlformats.org/officeDocument/2006/relationships/image" Target="../media/image1322.png"/><Relationship Id="rId8" Type="http://schemas.openxmlformats.org/officeDocument/2006/relationships/image" Target="../media/image1323.png"/><Relationship Id="rId9" Type="http://schemas.openxmlformats.org/officeDocument/2006/relationships/image" Target="../media/image1324.png"/></Relationships>
</file>

<file path=ppt/charts/_rels/chart250.xml.rels><?xml version='1.0' encoding='UTF-8' standalone='yes'?>
<Relationships xmlns="http://schemas.openxmlformats.org/package/2006/relationships"><Relationship Id="rId2" Type="http://schemas.openxmlformats.org/officeDocument/2006/relationships/image" Target="../media/image1325.png"/><Relationship Id="rId3" Type="http://schemas.openxmlformats.org/officeDocument/2006/relationships/image" Target="../media/image1326.png"/><Relationship Id="rId4" Type="http://schemas.openxmlformats.org/officeDocument/2006/relationships/image" Target="../media/image1327.png"/><Relationship Id="rId5" Type="http://schemas.openxmlformats.org/officeDocument/2006/relationships/image" Target="../media/image1328.png"/><Relationship Id="rId6" Type="http://schemas.openxmlformats.org/officeDocument/2006/relationships/image" Target="../media/image1329.png"/><Relationship Id="rId7" Type="http://schemas.openxmlformats.org/officeDocument/2006/relationships/image" Target="../media/image1330.png"/><Relationship Id="rId8" Type="http://schemas.openxmlformats.org/officeDocument/2006/relationships/image" Target="../media/image1331.png"/><Relationship Id="rId9" Type="http://schemas.openxmlformats.org/officeDocument/2006/relationships/image" Target="../media/image1332.png"/><Relationship Id="rId10" Type="http://schemas.openxmlformats.org/officeDocument/2006/relationships/image" Target="../media/image1333.png"/><Relationship Id="rId11" Type="http://schemas.openxmlformats.org/officeDocument/2006/relationships/image" Target="../media/image1334.png"/><Relationship Id="rId12" Type="http://schemas.openxmlformats.org/officeDocument/2006/relationships/image" Target="../media/image1335.png"/><Relationship Id="rId13" Type="http://schemas.openxmlformats.org/officeDocument/2006/relationships/image" Target="../media/image1336.png"/></Relationships>
</file>

<file path=ppt/charts/_rels/chart251.xml.rels><?xml version='1.0' encoding='UTF-8' standalone='yes'?>
<Relationships xmlns="http://schemas.openxmlformats.org/package/2006/relationships"><Relationship Id="rId2" Type="http://schemas.openxmlformats.org/officeDocument/2006/relationships/image" Target="../media/image1343.png"/><Relationship Id="rId3" Type="http://schemas.openxmlformats.org/officeDocument/2006/relationships/image" Target="../media/image1344.png"/><Relationship Id="rId4" Type="http://schemas.openxmlformats.org/officeDocument/2006/relationships/image" Target="../media/image1345.png"/><Relationship Id="rId5" Type="http://schemas.openxmlformats.org/officeDocument/2006/relationships/image" Target="../media/image1346.png"/><Relationship Id="rId6" Type="http://schemas.openxmlformats.org/officeDocument/2006/relationships/image" Target="../media/image1347.png"/><Relationship Id="rId7" Type="http://schemas.openxmlformats.org/officeDocument/2006/relationships/image" Target="../media/image1348.png"/></Relationships>
</file>

<file path=ppt/charts/_rels/chart256.xml.rels><?xml version='1.0' encoding='UTF-8' standalone='yes'?>
<Relationships xmlns="http://schemas.openxmlformats.org/package/2006/relationships"><Relationship Id="rId2" Type="http://schemas.openxmlformats.org/officeDocument/2006/relationships/image" Target="../media/image1349.png"/><Relationship Id="rId3" Type="http://schemas.openxmlformats.org/officeDocument/2006/relationships/image" Target="../media/image1350.png"/><Relationship Id="rId4" Type="http://schemas.openxmlformats.org/officeDocument/2006/relationships/image" Target="../media/image1351.png"/><Relationship Id="rId5" Type="http://schemas.openxmlformats.org/officeDocument/2006/relationships/image" Target="../media/image1352.png"/><Relationship Id="rId6" Type="http://schemas.openxmlformats.org/officeDocument/2006/relationships/image" Target="../media/image1353.png"/><Relationship Id="rId7" Type="http://schemas.openxmlformats.org/officeDocument/2006/relationships/image" Target="../media/image1354.png"/><Relationship Id="rId8" Type="http://schemas.openxmlformats.org/officeDocument/2006/relationships/image" Target="../media/image1355.png"/><Relationship Id="rId9" Type="http://schemas.openxmlformats.org/officeDocument/2006/relationships/image" Target="../media/image1356.png"/><Relationship Id="rId10" Type="http://schemas.openxmlformats.org/officeDocument/2006/relationships/image" Target="../media/image1357.png"/></Relationships>
</file>

<file path=ppt/charts/_rels/chart257.xml.rels><?xml version='1.0' encoding='UTF-8' standalone='yes'?>
<Relationships xmlns="http://schemas.openxmlformats.org/package/2006/relationships"><Relationship Id="rId2" Type="http://schemas.openxmlformats.org/officeDocument/2006/relationships/image" Target="../media/image1364.png"/><Relationship Id="rId3" Type="http://schemas.openxmlformats.org/officeDocument/2006/relationships/image" Target="../media/image1365.png"/><Relationship Id="rId4" Type="http://schemas.openxmlformats.org/officeDocument/2006/relationships/image" Target="../media/image1366.png"/><Relationship Id="rId5" Type="http://schemas.openxmlformats.org/officeDocument/2006/relationships/image" Target="../media/image1367.png"/><Relationship Id="rId6" Type="http://schemas.openxmlformats.org/officeDocument/2006/relationships/image" Target="../media/image1368.png"/><Relationship Id="rId7" Type="http://schemas.openxmlformats.org/officeDocument/2006/relationships/image" Target="../media/image1369.png"/></Relationships>
</file>

<file path=ppt/charts/_rels/chart262.xml.rels><?xml version='1.0' encoding='UTF-8' standalone='yes'?>
<Relationships xmlns="http://schemas.openxmlformats.org/package/2006/relationships"><Relationship Id="rId2" Type="http://schemas.openxmlformats.org/officeDocument/2006/relationships/image" Target="../media/image1370.png"/><Relationship Id="rId3" Type="http://schemas.openxmlformats.org/officeDocument/2006/relationships/image" Target="../media/image1371.png"/><Relationship Id="rId4" Type="http://schemas.openxmlformats.org/officeDocument/2006/relationships/image" Target="../media/image1372.png"/><Relationship Id="rId5" Type="http://schemas.openxmlformats.org/officeDocument/2006/relationships/image" Target="../media/image1373.png"/><Relationship Id="rId6" Type="http://schemas.openxmlformats.org/officeDocument/2006/relationships/image" Target="../media/image1374.png"/><Relationship Id="rId7" Type="http://schemas.openxmlformats.org/officeDocument/2006/relationships/image" Target="../media/image1375.png"/><Relationship Id="rId8" Type="http://schemas.openxmlformats.org/officeDocument/2006/relationships/image" Target="../media/image1376.png"/><Relationship Id="rId9" Type="http://schemas.openxmlformats.org/officeDocument/2006/relationships/image" Target="../media/image1377.png"/></Relationships>
</file>

<file path=ppt/charts/_rels/chart330.xml.rels><?xml version='1.0' encoding='UTF-8' standalone='yes'?>
<Relationships xmlns="http://schemas.openxmlformats.org/package/2006/relationships"><Relationship Id="rId2" Type="http://schemas.openxmlformats.org/officeDocument/2006/relationships/image" Target="../media/image1378.png"/><Relationship Id="rId3" Type="http://schemas.openxmlformats.org/officeDocument/2006/relationships/image" Target="../media/image1379.png"/><Relationship Id="rId4" Type="http://schemas.openxmlformats.org/officeDocument/2006/relationships/image" Target="../media/image1380.png"/><Relationship Id="rId5" Type="http://schemas.openxmlformats.org/officeDocument/2006/relationships/image" Target="../media/image1381.png"/><Relationship Id="rId6" Type="http://schemas.openxmlformats.org/officeDocument/2006/relationships/image" Target="../media/image1382.png"/><Relationship Id="rId7" Type="http://schemas.openxmlformats.org/officeDocument/2006/relationships/image" Target="../media/image1383.png"/><Relationship Id="rId8" Type="http://schemas.openxmlformats.org/officeDocument/2006/relationships/image" Target="../media/image1384.png"/><Relationship Id="rId9" Type="http://schemas.openxmlformats.org/officeDocument/2006/relationships/image" Target="../media/image1385.png"/><Relationship Id="rId10" Type="http://schemas.openxmlformats.org/officeDocument/2006/relationships/image" Target="../media/image1386.png"/><Relationship Id="rId11" Type="http://schemas.openxmlformats.org/officeDocument/2006/relationships/image" Target="../media/image1387.png"/></Relationships>
</file>

<file path=ppt/charts/_rels/chart331.xml.rels><?xml version='1.0' encoding='UTF-8' standalone='yes'?>
<Relationships xmlns="http://schemas.openxmlformats.org/package/2006/relationships"><Relationship Id="rId2" Type="http://schemas.openxmlformats.org/officeDocument/2006/relationships/image" Target="../media/image1388.png"/><Relationship Id="rId3" Type="http://schemas.openxmlformats.org/officeDocument/2006/relationships/image" Target="../media/image1389.png"/><Relationship Id="rId4" Type="http://schemas.openxmlformats.org/officeDocument/2006/relationships/image" Target="../media/image1390.png"/><Relationship Id="rId5" Type="http://schemas.openxmlformats.org/officeDocument/2006/relationships/image" Target="../media/image1391.png"/><Relationship Id="rId6" Type="http://schemas.openxmlformats.org/officeDocument/2006/relationships/image" Target="../media/image1392.png"/><Relationship Id="rId7" Type="http://schemas.openxmlformats.org/officeDocument/2006/relationships/image" Target="../media/image1393.png"/><Relationship Id="rId8" Type="http://schemas.openxmlformats.org/officeDocument/2006/relationships/image" Target="../media/image1394.png"/><Relationship Id="rId9" Type="http://schemas.openxmlformats.org/officeDocument/2006/relationships/image" Target="../media/image1395.png"/><Relationship Id="rId10" Type="http://schemas.openxmlformats.org/officeDocument/2006/relationships/image" Target="../media/image1396.png"/><Relationship Id="rId11" Type="http://schemas.openxmlformats.org/officeDocument/2006/relationships/image" Target="../media/image1397.png"/><Relationship Id="rId12" Type="http://schemas.openxmlformats.org/officeDocument/2006/relationships/image" Target="../media/image1398.png"/></Relationships>
</file>

<file path=ppt/charts/_rels/chart332.xml.rels><?xml version='1.0' encoding='UTF-8' standalone='yes'?>
<Relationships xmlns="http://schemas.openxmlformats.org/package/2006/relationships"><Relationship Id="rId2" Type="http://schemas.openxmlformats.org/officeDocument/2006/relationships/image" Target="../media/image1399.png"/><Relationship Id="rId3" Type="http://schemas.openxmlformats.org/officeDocument/2006/relationships/image" Target="../media/image1400.png"/><Relationship Id="rId4" Type="http://schemas.openxmlformats.org/officeDocument/2006/relationships/image" Target="../media/image1401.png"/><Relationship Id="rId5" Type="http://schemas.openxmlformats.org/officeDocument/2006/relationships/image" Target="../media/image1402.png"/><Relationship Id="rId6" Type="http://schemas.openxmlformats.org/officeDocument/2006/relationships/image" Target="../media/image1403.png"/><Relationship Id="rId7" Type="http://schemas.openxmlformats.org/officeDocument/2006/relationships/image" Target="../media/image1404.png"/><Relationship Id="rId8" Type="http://schemas.openxmlformats.org/officeDocument/2006/relationships/image" Target="../media/image1405.png"/><Relationship Id="rId9" Type="http://schemas.openxmlformats.org/officeDocument/2006/relationships/image" Target="../media/image1406.png"/><Relationship Id="rId10" Type="http://schemas.openxmlformats.org/officeDocument/2006/relationships/image" Target="../media/image1407.png"/><Relationship Id="rId11" Type="http://schemas.openxmlformats.org/officeDocument/2006/relationships/image" Target="../media/image1408.png"/></Relationships>
</file>

<file path=ppt/charts/_rels/chart333.xml.rels><?xml version='1.0' encoding='UTF-8' standalone='yes'?>
<Relationships xmlns="http://schemas.openxmlformats.org/package/2006/relationships"><Relationship Id="rId2" Type="http://schemas.openxmlformats.org/officeDocument/2006/relationships/image" Target="../media/image1409.png"/><Relationship Id="rId3" Type="http://schemas.openxmlformats.org/officeDocument/2006/relationships/image" Target="../media/image1410.png"/><Relationship Id="rId4" Type="http://schemas.openxmlformats.org/officeDocument/2006/relationships/image" Target="../media/image1411.png"/><Relationship Id="rId5" Type="http://schemas.openxmlformats.org/officeDocument/2006/relationships/image" Target="../media/image1412.png"/><Relationship Id="rId6" Type="http://schemas.openxmlformats.org/officeDocument/2006/relationships/image" Target="../media/image1413.png"/><Relationship Id="rId7" Type="http://schemas.openxmlformats.org/officeDocument/2006/relationships/image" Target="../media/image1414.png"/><Relationship Id="rId8" Type="http://schemas.openxmlformats.org/officeDocument/2006/relationships/image" Target="../media/image1415.png"/><Relationship Id="rId9" Type="http://schemas.openxmlformats.org/officeDocument/2006/relationships/image" Target="../media/image1416.png"/><Relationship Id="rId10" Type="http://schemas.openxmlformats.org/officeDocument/2006/relationships/image" Target="../media/image1417.png"/><Relationship Id="rId11" Type="http://schemas.openxmlformats.org/officeDocument/2006/relationships/image" Target="../media/image1418.png"/></Relationships>
</file>

<file path=ppt/charts/_rels/chart334.xml.rels><?xml version='1.0' encoding='UTF-8' standalone='yes'?>
<Relationships xmlns="http://schemas.openxmlformats.org/package/2006/relationships"><Relationship Id="rId2" Type="http://schemas.openxmlformats.org/officeDocument/2006/relationships/image" Target="../media/image1419.png"/><Relationship Id="rId3" Type="http://schemas.openxmlformats.org/officeDocument/2006/relationships/image" Target="../media/image1420.png"/><Relationship Id="rId4" Type="http://schemas.openxmlformats.org/officeDocument/2006/relationships/image" Target="../media/image1421.png"/><Relationship Id="rId5" Type="http://schemas.openxmlformats.org/officeDocument/2006/relationships/image" Target="../media/image1422.png"/><Relationship Id="rId6" Type="http://schemas.openxmlformats.org/officeDocument/2006/relationships/image" Target="../media/image1423.png"/><Relationship Id="rId7" Type="http://schemas.openxmlformats.org/officeDocument/2006/relationships/image" Target="../media/image1424.png"/><Relationship Id="rId8" Type="http://schemas.openxmlformats.org/officeDocument/2006/relationships/image" Target="../media/image1425.png"/><Relationship Id="rId9" Type="http://schemas.openxmlformats.org/officeDocument/2006/relationships/image" Target="../media/image1426.png"/><Relationship Id="rId10" Type="http://schemas.openxmlformats.org/officeDocument/2006/relationships/image" Target="../media/image1427.png"/></Relationships>
</file>

<file path=ppt/charts/_rels/chart335.xml.rels><?xml version='1.0' encoding='UTF-8' standalone='yes'?>
<Relationships xmlns="http://schemas.openxmlformats.org/package/2006/relationships"><Relationship Id="rId2" Type="http://schemas.openxmlformats.org/officeDocument/2006/relationships/image" Target="../media/image1428.png"/><Relationship Id="rId3" Type="http://schemas.openxmlformats.org/officeDocument/2006/relationships/image" Target="../media/image1429.png"/><Relationship Id="rId4" Type="http://schemas.openxmlformats.org/officeDocument/2006/relationships/image" Target="../media/image1430.png"/><Relationship Id="rId5" Type="http://schemas.openxmlformats.org/officeDocument/2006/relationships/image" Target="../media/image1431.png"/><Relationship Id="rId6" Type="http://schemas.openxmlformats.org/officeDocument/2006/relationships/image" Target="../media/image1432.png"/><Relationship Id="rId7" Type="http://schemas.openxmlformats.org/officeDocument/2006/relationships/image" Target="../media/image1433.png"/><Relationship Id="rId8" Type="http://schemas.openxmlformats.org/officeDocument/2006/relationships/image" Target="../media/image1434.png"/><Relationship Id="rId9" Type="http://schemas.openxmlformats.org/officeDocument/2006/relationships/image" Target="../media/image1435.png"/><Relationship Id="rId10" Type="http://schemas.openxmlformats.org/officeDocument/2006/relationships/image" Target="../media/image1436.png"/><Relationship Id="rId11" Type="http://schemas.openxmlformats.org/officeDocument/2006/relationships/image" Target="../media/image1437.png"/><Relationship Id="rId12" Type="http://schemas.openxmlformats.org/officeDocument/2006/relationships/image" Target="../media/image1438.png"/></Relationships>
</file>

<file path=ppt/charts/_rels/chart336.xml.rels><?xml version='1.0' encoding='UTF-8' standalone='yes'?>
<Relationships xmlns="http://schemas.openxmlformats.org/package/2006/relationships"><Relationship Id="rId2" Type="http://schemas.openxmlformats.org/officeDocument/2006/relationships/image" Target="../media/image1439.png"/></Relationships>
</file>

<file path=ppt/charts/_rels/chart337.xml.rels><?xml version='1.0' encoding='UTF-8' standalone='yes'?>
<Relationships xmlns="http://schemas.openxmlformats.org/package/2006/relationships"><Relationship Id="rId2" Type="http://schemas.openxmlformats.org/officeDocument/2006/relationships/image" Target="../media/image1440.png"/><Relationship Id="rId3" Type="http://schemas.openxmlformats.org/officeDocument/2006/relationships/image" Target="../media/image1441.png"/><Relationship Id="rId4" Type="http://schemas.openxmlformats.org/officeDocument/2006/relationships/image" Target="../media/image1442.png"/><Relationship Id="rId5" Type="http://schemas.openxmlformats.org/officeDocument/2006/relationships/image" Target="../media/image1443.png"/><Relationship Id="rId6" Type="http://schemas.openxmlformats.org/officeDocument/2006/relationships/image" Target="../media/image1444.png"/></Relationships>
</file>

<file path=ppt/charts/_rels/chart338.xml.rels><?xml version='1.0' encoding='UTF-8' standalone='yes'?>
<Relationships xmlns="http://schemas.openxmlformats.org/package/2006/relationships"><Relationship Id="rId2" Type="http://schemas.openxmlformats.org/officeDocument/2006/relationships/image" Target="../media/image1445.png"/><Relationship Id="rId3" Type="http://schemas.openxmlformats.org/officeDocument/2006/relationships/image" Target="../media/image1446.png"/></Relationships>
</file>

<file path=ppt/charts/_rels/chart339.xml.rels><?xml version='1.0' encoding='UTF-8' standalone='yes'?>
<Relationships xmlns="http://schemas.openxmlformats.org/package/2006/relationships"><Relationship Id="rId2" Type="http://schemas.openxmlformats.org/officeDocument/2006/relationships/image" Target="../media/image1447.png"/><Relationship Id="rId3" Type="http://schemas.openxmlformats.org/officeDocument/2006/relationships/image" Target="../media/image1448.png"/><Relationship Id="rId4" Type="http://schemas.openxmlformats.org/officeDocument/2006/relationships/image" Target="../media/image1449.png"/><Relationship Id="rId5" Type="http://schemas.openxmlformats.org/officeDocument/2006/relationships/image" Target="../media/image1450.png"/><Relationship Id="rId6" Type="http://schemas.openxmlformats.org/officeDocument/2006/relationships/image" Target="../media/image1451.png"/><Relationship Id="rId7" Type="http://schemas.openxmlformats.org/officeDocument/2006/relationships/image" Target="../media/image1452.png"/><Relationship Id="rId8" Type="http://schemas.openxmlformats.org/officeDocument/2006/relationships/image" Target="../media/image1453.png"/><Relationship Id="rId9" Type="http://schemas.openxmlformats.org/officeDocument/2006/relationships/image" Target="../media/image1454.png"/><Relationship Id="rId10" Type="http://schemas.openxmlformats.org/officeDocument/2006/relationships/image" Target="../media/image1455.png"/><Relationship Id="rId11" Type="http://schemas.openxmlformats.org/officeDocument/2006/relationships/image" Target="../media/image1456.png"/></Relationships>
</file>

<file path=ppt/charts/_rels/chart340.xml.rels><?xml version='1.0' encoding='UTF-8' standalone='yes'?>
<Relationships xmlns="http://schemas.openxmlformats.org/package/2006/relationships"><Relationship Id="rId2" Type="http://schemas.openxmlformats.org/officeDocument/2006/relationships/image" Target="../media/image1457.png"/></Relationships>
</file>

<file path=ppt/charts/_rels/chart341.xml.rels><?xml version='1.0' encoding='UTF-8' standalone='yes'?>
<Relationships xmlns="http://schemas.openxmlformats.org/package/2006/relationships"><Relationship Id="rId2" Type="http://schemas.openxmlformats.org/officeDocument/2006/relationships/image" Target="../media/image1458.png"/><Relationship Id="rId3" Type="http://schemas.openxmlformats.org/officeDocument/2006/relationships/image" Target="../media/image1459.png"/><Relationship Id="rId4" Type="http://schemas.openxmlformats.org/officeDocument/2006/relationships/image" Target="../media/image1460.png"/><Relationship Id="rId5" Type="http://schemas.openxmlformats.org/officeDocument/2006/relationships/image" Target="../media/image1461.png"/><Relationship Id="rId6" Type="http://schemas.openxmlformats.org/officeDocument/2006/relationships/image" Target="../media/image1462.png"/></Relationships>
</file>

<file path=ppt/charts/_rels/chart342.xml.rels><?xml version='1.0' encoding='UTF-8' standalone='yes'?>
<Relationships xmlns="http://schemas.openxmlformats.org/package/2006/relationships"><Relationship Id="rId2" Type="http://schemas.openxmlformats.org/officeDocument/2006/relationships/image" Target="../media/image1463.png"/><Relationship Id="rId3" Type="http://schemas.openxmlformats.org/officeDocument/2006/relationships/image" Target="../media/image1464.png"/></Relationships>
</file>

<file path=ppt/charts/_rels/chart343.xml.rels><?xml version='1.0' encoding='UTF-8' standalone='yes'?>
<Relationships xmlns="http://schemas.openxmlformats.org/package/2006/relationships"><Relationship Id="rId2" Type="http://schemas.openxmlformats.org/officeDocument/2006/relationships/image" Target="../media/image1465.png"/><Relationship Id="rId3" Type="http://schemas.openxmlformats.org/officeDocument/2006/relationships/image" Target="../media/image1466.png"/><Relationship Id="rId4" Type="http://schemas.openxmlformats.org/officeDocument/2006/relationships/image" Target="../media/image1467.png"/><Relationship Id="rId5" Type="http://schemas.openxmlformats.org/officeDocument/2006/relationships/image" Target="../media/image1468.png"/><Relationship Id="rId6" Type="http://schemas.openxmlformats.org/officeDocument/2006/relationships/image" Target="../media/image1469.png"/><Relationship Id="rId7" Type="http://schemas.openxmlformats.org/officeDocument/2006/relationships/image" Target="../media/image1470.png"/><Relationship Id="rId8" Type="http://schemas.openxmlformats.org/officeDocument/2006/relationships/image" Target="../media/image1471.png"/><Relationship Id="rId9" Type="http://schemas.openxmlformats.org/officeDocument/2006/relationships/image" Target="../media/image1472.png"/><Relationship Id="rId10" Type="http://schemas.openxmlformats.org/officeDocument/2006/relationships/image" Target="../media/image1473.png"/><Relationship Id="rId11" Type="http://schemas.openxmlformats.org/officeDocument/2006/relationships/image" Target="../media/image1474.png"/></Relationships>
</file>

<file path=ppt/charts/_rels/chart344.xml.rels><?xml version='1.0' encoding='UTF-8' standalone='yes'?>
<Relationships xmlns="http://schemas.openxmlformats.org/package/2006/relationships"><Relationship Id="rId2" Type="http://schemas.openxmlformats.org/officeDocument/2006/relationships/image" Target="../media/image1475.png"/></Relationships>
</file>

<file path=ppt/charts/_rels/chart345.xml.rels><?xml version='1.0' encoding='UTF-8' standalone='yes'?>
<Relationships xmlns="http://schemas.openxmlformats.org/package/2006/relationships"><Relationship Id="rId2" Type="http://schemas.openxmlformats.org/officeDocument/2006/relationships/image" Target="../media/image1476.png"/><Relationship Id="rId3" Type="http://schemas.openxmlformats.org/officeDocument/2006/relationships/image" Target="../media/image1477.png"/><Relationship Id="rId4" Type="http://schemas.openxmlformats.org/officeDocument/2006/relationships/image" Target="../media/image1478.png"/><Relationship Id="rId5" Type="http://schemas.openxmlformats.org/officeDocument/2006/relationships/image" Target="../media/image1479.png"/><Relationship Id="rId6" Type="http://schemas.openxmlformats.org/officeDocument/2006/relationships/image" Target="../media/image1480.png"/></Relationships>
</file>

<file path=ppt/charts/_rels/chart346.xml.rels><?xml version='1.0' encoding='UTF-8' standalone='yes'?>
<Relationships xmlns="http://schemas.openxmlformats.org/package/2006/relationships"><Relationship Id="rId2" Type="http://schemas.openxmlformats.org/officeDocument/2006/relationships/image" Target="../media/image1481.png"/><Relationship Id="rId3" Type="http://schemas.openxmlformats.org/officeDocument/2006/relationships/image" Target="../media/image1482.png"/></Relationships>
</file>

<file path=ppt/charts/_rels/chart347.xml.rels><?xml version='1.0' encoding='UTF-8' standalone='yes'?>
<Relationships xmlns="http://schemas.openxmlformats.org/package/2006/relationships"><Relationship Id="rId2" Type="http://schemas.openxmlformats.org/officeDocument/2006/relationships/image" Target="../media/image1483.png"/><Relationship Id="rId3" Type="http://schemas.openxmlformats.org/officeDocument/2006/relationships/image" Target="../media/image1484.png"/><Relationship Id="rId4" Type="http://schemas.openxmlformats.org/officeDocument/2006/relationships/image" Target="../media/image1485.png"/><Relationship Id="rId5" Type="http://schemas.openxmlformats.org/officeDocument/2006/relationships/image" Target="../media/image1486.png"/><Relationship Id="rId6" Type="http://schemas.openxmlformats.org/officeDocument/2006/relationships/image" Target="../media/image1487.png"/><Relationship Id="rId7" Type="http://schemas.openxmlformats.org/officeDocument/2006/relationships/image" Target="../media/image1488.png"/><Relationship Id="rId8" Type="http://schemas.openxmlformats.org/officeDocument/2006/relationships/image" Target="../media/image1489.png"/><Relationship Id="rId9" Type="http://schemas.openxmlformats.org/officeDocument/2006/relationships/image" Target="../media/image1490.png"/><Relationship Id="rId10" Type="http://schemas.openxmlformats.org/officeDocument/2006/relationships/image" Target="../media/image1491.png"/><Relationship Id="rId11" Type="http://schemas.openxmlformats.org/officeDocument/2006/relationships/image" Target="../media/image1492.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3.3257257001855445</c:v>
                </c:pt>
                <c:pt idx="1">
                  <c:v>4.198811629149746</c:v>
                </c:pt>
                <c:pt idx="2">
                  <c:v>3.9069663342705896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542431350477664"/>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2240013.0409999997</c:v>
                </c:pt>
                <c:pt idx="2">
                  <c:v>0.0</c:v>
                </c:pt>
                <c:pt idx="3">
                  <c:v>2638109.8030000003</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2240013.0409999997</c:v>
                </c:pt>
                <c:pt idx="1">
                  <c:v>398096.76200000057</c:v>
                </c:pt>
                <c:pt idx="2">
                  <c:v>2638109.8030000003</c:v>
                </c:pt>
                <c:pt idx="3">
                  <c:v>1342233.46</c:v>
                </c:pt>
                <c:pt idx="4">
                  <c:v>3980343.2630000003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4.1136781538467115</c:v>
                </c:pt>
                <c:pt idx="1">
                  <c:v>4.9944145569506215</c:v>
                </c:pt>
                <c:pt idx="2">
                  <c:v>4.700011022228323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5926272151748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8910.202</c:v>
                </c:pt>
                <c:pt idx="2">
                  <c:v>0.0</c:v>
                </c:pt>
                <c:pt idx="3">
                  <c:v>10900.0</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8910.202</c:v>
                </c:pt>
                <c:pt idx="1">
                  <c:v>1989.7980000000007</c:v>
                </c:pt>
                <c:pt idx="2">
                  <c:v>10900.0</c:v>
                </c:pt>
                <c:pt idx="3">
                  <c:v>6845.508999999998</c:v>
                </c:pt>
                <c:pt idx="4">
                  <c:v>17745.509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quot;;&quot;MMMMMMMM&quot;;&quot;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quot;;&quot;MMMMMMMM&quot;;&quot;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8910.202</c:v>
                </c:pt>
                <c:pt idx="1">
                  <c:v>9274.852</c:v>
                </c:pt>
                <c:pt idx="2">
                  <c:v>9655.396999999999</c:v>
                </c:pt>
                <c:pt idx="3">
                  <c:v>10052.589</c:v>
                </c:pt>
                <c:pt idx="4">
                  <c:v>10467.184000000001</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2240013.0409999997</c:v>
                </c:pt>
                <c:pt idx="1">
                  <c:v>2314048.926</c:v>
                </c:pt>
                <c:pt idx="2">
                  <c:v>2390768.506</c:v>
                </c:pt>
                <c:pt idx="3">
                  <c:v>2470277.571</c:v>
                </c:pt>
                <c:pt idx="4">
                  <c:v>2552686.3710000003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235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528517"/>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M&quot;;&quot;MMMMMMMM&quot;;&quot;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quot;;&quot;MMMMMMMM&quot;;&quot;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quot;;&quot;MMMMMMMM&quot;;&quot;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quot;;&quot;MMMMMMMM&quot;;&quot;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quot;;&quot;MMMMMMMM&quot;;&quot;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quot;;&quot;MMMMMMMM&quot;;&quot;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quot;;&quot;MMMMMMMM&quot;;&quot;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quot;;&quot;MMMMMMMM&quot;;&quot;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quot;;&quot;MMMMMMMM&quot;;&quot;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quot;;&quot;MMMMMMMM&quot;;&quot;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quot;;&quot;MMMMMMMM&quot;;&quot;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10900.0</c:v>
                </c:pt>
                <c:pt idx="1">
                  <c:v>11439.086</c:v>
                </c:pt>
                <c:pt idx="2">
                  <c:v>12006.056</c:v>
                </c:pt>
                <c:pt idx="3">
                  <c:v>12602.421999999999</c:v>
                </c:pt>
                <c:pt idx="4">
                  <c:v>13229.767</c:v>
                </c:pt>
                <c:pt idx="5">
                  <c:v>13889.776999999998</c:v>
                </c:pt>
                <c:pt idx="6">
                  <c:v>14584.228</c:v>
                </c:pt>
                <c:pt idx="7">
                  <c:v>15314.991000000002</c:v>
                </c:pt>
                <c:pt idx="8">
                  <c:v>16084.041000000001</c:v>
                </c:pt>
                <c:pt idx="9">
                  <c:v>16893.478</c:v>
                </c:pt>
                <c:pt idx="10">
                  <c:v>17745.509</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2638109.8030000003</c:v>
                </c:pt>
                <c:pt idx="1">
                  <c:v>2747625.829</c:v>
                </c:pt>
                <c:pt idx="2">
                  <c:v>2861974.708</c:v>
                </c:pt>
                <c:pt idx="3">
                  <c:v>2981382.3720000004</c:v>
                </c:pt>
                <c:pt idx="4">
                  <c:v>3106085.876</c:v>
                </c:pt>
                <c:pt idx="5">
                  <c:v>3236333.938</c:v>
                </c:pt>
                <c:pt idx="6">
                  <c:v>3372387.5530000003</c:v>
                </c:pt>
                <c:pt idx="7">
                  <c:v>3514520.619</c:v>
                </c:pt>
                <c:pt idx="8">
                  <c:v>3663020.605</c:v>
                </c:pt>
                <c:pt idx="9">
                  <c:v>3818189.238</c:v>
                </c:pt>
                <c:pt idx="10">
                  <c:v>3980343.2630000003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0940"/>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5759094"/>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Poland</c:v>
                </c:pt>
                <c:pt idx="1">
                  <c:v>France</c:v>
                </c:pt>
                <c:pt idx="2">
                  <c:v>Australia</c:v>
                </c:pt>
                <c:pt idx="3">
                  <c:v>Rest of MEA</c:v>
                </c:pt>
                <c:pt idx="4">
                  <c:v>Netherlands</c:v>
                </c:pt>
                <c:pt idx="5">
                  <c:v>Germany</c:v>
                </c:pt>
                <c:pt idx="6">
                  <c:v>Saudi Arabia</c:v>
                </c:pt>
                <c:pt idx="7">
                  <c:v>Rest of LATAM</c:v>
                </c:pt>
                <c:pt idx="8">
                  <c:v>India</c:v>
                </c:pt>
              </c:strCache>
            </c:strRef>
          </c:cat>
          <c:val>
            <c:numRef>
              <c:numCache>
                <c:formatCode>General</c:formatCode>
                <c:ptCount val="9"/>
                <c:pt idx="0">
                  <c:v>119.25612142088795</c:v>
                </c:pt>
                <c:pt idx="1">
                  <c:v>122.97427328206352</c:v>
                </c:pt>
                <c:pt idx="2">
                  <c:v>127.3976129653076</c:v>
                </c:pt>
                <c:pt idx="3">
                  <c:v>127.43102803071645</c:v>
                </c:pt>
                <c:pt idx="4">
                  <c:v>127.69086905692264</c:v>
                </c:pt>
                <c:pt idx="5">
                  <c:v>131.04241477228166</c:v>
                </c:pt>
                <c:pt idx="6">
                  <c:v>131.4246376031995</c:v>
                </c:pt>
                <c:pt idx="7">
                  <c:v>133.81794534457742</c:v>
                </c:pt>
                <c:pt idx="8">
                  <c:v>135.41754590509254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UAE</c:v>
                </c:pt>
                <c:pt idx="1">
                  <c:v>Japan</c:v>
                </c:pt>
                <c:pt idx="2">
                  <c:v>U.K.</c:v>
                </c:pt>
                <c:pt idx="3">
                  <c:v>France</c:v>
                </c:pt>
                <c:pt idx="4">
                  <c:v>Brazil</c:v>
                </c:pt>
                <c:pt idx="5">
                  <c:v>India</c:v>
                </c:pt>
                <c:pt idx="6">
                  <c:v>China</c:v>
                </c:pt>
                <c:pt idx="7">
                  <c:v>Canada</c:v>
                </c:pt>
                <c:pt idx="8">
                  <c:v>Germany</c:v>
                </c:pt>
                <c:pt idx="9">
                  <c:v>U.S.</c:v>
                </c:pt>
              </c:strCache>
            </c:strRef>
          </c:cat>
          <c:val>
            <c:numRef>
              <c:numCache>
                <c:formatCode>General</c:formatCode>
                <c:ptCount val="10"/>
                <c:pt idx="0">
                  <c:v>2.7732196393285005</c:v>
                </c:pt>
                <c:pt idx="1">
                  <c:v>3.0427686239255554</c:v>
                </c:pt>
                <c:pt idx="2">
                  <c:v>3.3640449526835785</c:v>
                </c:pt>
                <c:pt idx="3">
                  <c:v>3.71677255847593</c:v>
                </c:pt>
                <c:pt idx="4">
                  <c:v>6.167459570939138</c:v>
                </c:pt>
                <c:pt idx="5">
                  <c:v>7.168656121845723</c:v>
                </c:pt>
                <c:pt idx="6">
                  <c:v>7.648415917647614</c:v>
                </c:pt>
                <c:pt idx="7">
                  <c:v>9.150773156532262</c:v>
                </c:pt>
                <c:pt idx="8">
                  <c:v>14.278689868058022</c:v>
                </c:pt>
                <c:pt idx="9">
                  <c:v>16.5044995193199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MMM&quot;;&quot;MMMMMMMM&quot;;&quot;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10235.621</c:v>
                </c:pt>
                <c:pt idx="1">
                  <c:v>7509.888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0.05583517608325135</c:v>
                </c:pt>
                <c:pt idx="1">
                  <c:v>0.05696867431302756</c:v>
                </c:pt>
                <c:pt idx="2">
                  <c:v>0.05797748773752838</c:v>
                </c:pt>
                <c:pt idx="3">
                  <c:v>0.05948881871056332</c:v>
                </c:pt>
                <c:pt idx="4">
                  <c:v>0.06112483448887365</c:v>
                </c:pt>
                <c:pt idx="5">
                  <c:v>0.06288931339989194</c:v>
                </c:pt>
                <c:pt idx="6">
                  <c:v>0.06440064437292689</c:v>
                </c:pt>
                <c:pt idx="7">
                  <c:v>0.06500139843470829</c:v>
                </c:pt>
                <c:pt idx="8">
                  <c:v>0.06500139843470829</c:v>
                </c:pt>
                <c:pt idx="9">
                  <c:v>0.06404170326683109</c:v>
                </c:pt>
                <c:pt idx="10">
                  <c:v>0.06326336781571809</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0.044007582150851154</c:v>
                </c:pt>
                <c:pt idx="1">
                  <c:v>0.04471976916618909</c:v>
                </c:pt>
                <c:pt idx="2">
                  <c:v>0.0457855595248067</c:v>
                </c:pt>
                <c:pt idx="3">
                  <c:v>0.04649276621136604</c:v>
                </c:pt>
                <c:pt idx="4">
                  <c:v>0.04724977618571126</c:v>
                </c:pt>
                <c:pt idx="5">
                  <c:v>0.04888830435386636</c:v>
                </c:pt>
                <c:pt idx="6">
                  <c:v>0.05000887832904842</c:v>
                </c:pt>
                <c:pt idx="7">
                  <c:v>0.051607563866974834</c:v>
                </c:pt>
                <c:pt idx="8">
                  <c:v>0.053290914994137226</c:v>
                </c:pt>
                <c:pt idx="9">
                  <c:v>0.053993141351917975</c:v>
                </c:pt>
                <c:pt idx="10">
                  <c:v>0.054785013627713305</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0.040800227156733704</c:v>
                </c:pt>
                <c:pt idx="1">
                  <c:v>0.04045243322392847</c:v>
                </c:pt>
                <c:pt idx="2">
                  <c:v>0.04005247020120245</c:v>
                </c:pt>
                <c:pt idx="3">
                  <c:v>0.03909603688598805</c:v>
                </c:pt>
                <c:pt idx="4">
                  <c:v>0.038246840033388595</c:v>
                </c:pt>
                <c:pt idx="5">
                  <c:v>0.03721794964883977</c:v>
                </c:pt>
                <c:pt idx="6">
                  <c:v>0.03596299320796754</c:v>
                </c:pt>
                <c:pt idx="7">
                  <c:v>0.034568919193973216</c:v>
                </c:pt>
                <c:pt idx="8">
                  <c:v>0.0347341213120557</c:v>
                </c:pt>
                <c:pt idx="9">
                  <c:v>0.033235709118219804</c:v>
                </c:pt>
                <c:pt idx="10">
                  <c:v>0.03125618198400333</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35.58616854887598</c:v>
                </c:pt>
                <c:pt idx="1">
                  <c:v>32.65375202892395</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25.082456850261742</c:v>
                </c:pt>
                <c:pt idx="1">
                  <c:v>26.581809409134877</c:v>
                </c:pt>
              </c:numCache>
            </c:numRef>
          </c:val>
        </c:ser>
        <c:ser>
          <c:idx val="2"/>
          <c:order val="2"/>
          <c:tx>
            <c:strRef>
              <c:strCache>
                <c:ptCount val="1"/>
                <c:pt idx="0">
                  <c:v>East Asia</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12.959205398168944</c:v>
                </c:pt>
                <c:pt idx="1">
                  <c:v>12.804937396676985</c:v>
                </c:pt>
              </c:numCache>
            </c:numRef>
          </c:val>
        </c:ser>
        <c:ser>
          <c:idx val="3"/>
          <c:order val="3"/>
          <c:tx>
            <c:strRef>
              <c:strCache>
                <c:ptCount val="1"/>
                <c:pt idx="0">
                  <c:v>South Asia &amp; Pacific</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11.781534060733712</c:v>
                </c:pt>
                <c:pt idx="1">
                  <c:v>12.784653467712742</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7.792098636919398</c:v>
                </c:pt>
                <c:pt idx="1">
                  <c:v>8.422647114794833</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6.798536505040234</c:v>
                </c:pt>
                <c:pt idx="1">
                  <c:v>6.752200582756624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33.0</c:v>
                </c:pt>
                <c:pt idx="1">
                  <c:v>30.166697388054644</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27.000009174311927</c:v>
                </c:pt>
                <c:pt idx="1">
                  <c:v>28.49338951055166</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11.999990825688075</c:v>
                </c:pt>
                <c:pt idx="1">
                  <c:v>13.041784262147683</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13.000009174311927</c:v>
                </c:pt>
                <c:pt idx="1">
                  <c:v>12.755469566976075</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7.999990825688073</c:v>
                </c:pt>
                <c:pt idx="1">
                  <c:v>8.60414880181797</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7.000000000000001</c:v>
                </c:pt>
                <c:pt idx="1">
                  <c:v>6.938510470451989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829578.725</c:v>
                </c:pt>
                <c:pt idx="1">
                  <c:v>850339.716</c:v>
                </c:pt>
                <c:pt idx="2">
                  <c:v>871628.714</c:v>
                </c:pt>
                <c:pt idx="3">
                  <c:v>893459.382</c:v>
                </c:pt>
                <c:pt idx="4">
                  <c:v>915845.747</c:v>
                </c:pt>
                <c:pt idx="5">
                  <c:v>938802.201</c:v>
                </c:pt>
                <c:pt idx="6">
                  <c:v>969801.731</c:v>
                </c:pt>
                <c:pt idx="7">
                  <c:v>1001834.583</c:v>
                </c:pt>
                <c:pt idx="8">
                  <c:v>1034935.551</c:v>
                </c:pt>
                <c:pt idx="9">
                  <c:v>1069140.613</c:v>
                </c:pt>
                <c:pt idx="10">
                  <c:v>1104486.97</c:v>
                </c:pt>
                <c:pt idx="11">
                  <c:v>1141013.091</c:v>
                </c:pt>
                <c:pt idx="12">
                  <c:v>1178758.755</c:v>
                </c:pt>
                <c:pt idx="13">
                  <c:v>1217765.098</c:v>
                </c:pt>
                <c:pt idx="14">
                  <c:v>1258074.657</c:v>
                </c:pt>
                <c:pt idx="15">
                  <c:v>1299731.419</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546059.039</c:v>
                </c:pt>
                <c:pt idx="1">
                  <c:v>567303.39</c:v>
                </c:pt>
                <c:pt idx="2">
                  <c:v>589448.544</c:v>
                </c:pt>
                <c:pt idx="3">
                  <c:v>612534.948</c:v>
                </c:pt>
                <c:pt idx="4">
                  <c:v>636604.923</c:v>
                </c:pt>
                <c:pt idx="5">
                  <c:v>661702.753</c:v>
                </c:pt>
                <c:pt idx="6">
                  <c:v>693131.622</c:v>
                </c:pt>
                <c:pt idx="7">
                  <c:v>726140.823</c:v>
                </c:pt>
                <c:pt idx="8">
                  <c:v>760813.17</c:v>
                </c:pt>
                <c:pt idx="9">
                  <c:v>797235.958</c:v>
                </c:pt>
                <c:pt idx="10">
                  <c:v>835501.18</c:v>
                </c:pt>
                <c:pt idx="11">
                  <c:v>875705.805</c:v>
                </c:pt>
                <c:pt idx="12">
                  <c:v>917952.037</c:v>
                </c:pt>
                <c:pt idx="13">
                  <c:v>962347.617</c:v>
                </c:pt>
                <c:pt idx="14">
                  <c:v>1009006.113</c:v>
                </c:pt>
                <c:pt idx="15">
                  <c:v>1058047.26</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291064.227</c:v>
                </c:pt>
                <c:pt idx="1">
                  <c:v>300576.418</c:v>
                </c:pt>
                <c:pt idx="2">
                  <c:v>310403.204</c:v>
                </c:pt>
                <c:pt idx="3">
                  <c:v>320555.1</c:v>
                </c:pt>
                <c:pt idx="4">
                  <c:v>331042.977</c:v>
                </c:pt>
                <c:pt idx="5">
                  <c:v>341878.068</c:v>
                </c:pt>
                <c:pt idx="6">
                  <c:v>355788.001</c:v>
                </c:pt>
                <c:pt idx="7">
                  <c:v>370268.204</c:v>
                </c:pt>
                <c:pt idx="8">
                  <c:v>385342.219</c:v>
                </c:pt>
                <c:pt idx="9">
                  <c:v>401034.564</c:v>
                </c:pt>
                <c:pt idx="10">
                  <c:v>417370.776</c:v>
                </c:pt>
                <c:pt idx="11">
                  <c:v>434377.452</c:v>
                </c:pt>
                <c:pt idx="12">
                  <c:v>452082.3</c:v>
                </c:pt>
                <c:pt idx="13">
                  <c:v>470514.172</c:v>
                </c:pt>
                <c:pt idx="14">
                  <c:v>489703.124</c:v>
                </c:pt>
                <c:pt idx="15">
                  <c:v>509680.463</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253292.923</c:v>
                </c:pt>
                <c:pt idx="1">
                  <c:v>263816.859</c:v>
                </c:pt>
                <c:pt idx="2">
                  <c:v>274808.294</c:v>
                </c:pt>
                <c:pt idx="3">
                  <c:v>286288.929</c:v>
                </c:pt>
                <c:pt idx="4">
                  <c:v>298281.493</c:v>
                </c:pt>
                <c:pt idx="5">
                  <c:v>310809.805</c:v>
                </c:pt>
                <c:pt idx="6">
                  <c:v>326368.02</c:v>
                </c:pt>
                <c:pt idx="7">
                  <c:v>342740.682</c:v>
                </c:pt>
                <c:pt idx="8">
                  <c:v>359971.817</c:v>
                </c:pt>
                <c:pt idx="9">
                  <c:v>378107.892</c:v>
                </c:pt>
                <c:pt idx="10">
                  <c:v>397197.942</c:v>
                </c:pt>
                <c:pt idx="11">
                  <c:v>417293.72</c:v>
                </c:pt>
                <c:pt idx="12">
                  <c:v>438449.85</c:v>
                </c:pt>
                <c:pt idx="13">
                  <c:v>460723.987</c:v>
                </c:pt>
                <c:pt idx="14">
                  <c:v>484176.985</c:v>
                </c:pt>
                <c:pt idx="15">
                  <c:v>508873.093</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167338.713</c:v>
                </c:pt>
                <c:pt idx="1">
                  <c:v>174359.954</c:v>
                </c:pt>
                <c:pt idx="2">
                  <c:v>181679.95</c:v>
                </c:pt>
                <c:pt idx="3">
                  <c:v>189311.58</c:v>
                </c:pt>
                <c:pt idx="4">
                  <c:v>197268.292</c:v>
                </c:pt>
                <c:pt idx="5">
                  <c:v>205564.118</c:v>
                </c:pt>
                <c:pt idx="6">
                  <c:v>215846.788</c:v>
                </c:pt>
                <c:pt idx="7">
                  <c:v>226648.909</c:v>
                </c:pt>
                <c:pt idx="8">
                  <c:v>237996.978</c:v>
                </c:pt>
                <c:pt idx="9">
                  <c:v>249918.847</c:v>
                </c:pt>
                <c:pt idx="10">
                  <c:v>262443.808</c:v>
                </c:pt>
                <c:pt idx="11">
                  <c:v>275602.66</c:v>
                </c:pt>
                <c:pt idx="12">
                  <c:v>289427.787</c:v>
                </c:pt>
                <c:pt idx="13">
                  <c:v>303953.249</c:v>
                </c:pt>
                <c:pt idx="14">
                  <c:v>319214.855</c:v>
                </c:pt>
                <c:pt idx="15">
                  <c:v>335250.267</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152679.414</c:v>
                </c:pt>
                <c:pt idx="1">
                  <c:v>157652.589</c:v>
                </c:pt>
                <c:pt idx="2">
                  <c:v>162799.8</c:v>
                </c:pt>
                <c:pt idx="3">
                  <c:v>168127.632</c:v>
                </c:pt>
                <c:pt idx="4">
                  <c:v>173642.939</c:v>
                </c:pt>
                <c:pt idx="5">
                  <c:v>179352.858</c:v>
                </c:pt>
                <c:pt idx="6">
                  <c:v>186689.667</c:v>
                </c:pt>
                <c:pt idx="7">
                  <c:v>194341.507</c:v>
                </c:pt>
                <c:pt idx="8">
                  <c:v>202322.637</c:v>
                </c:pt>
                <c:pt idx="9">
                  <c:v>210648.002</c:v>
                </c:pt>
                <c:pt idx="10">
                  <c:v>219333.262</c:v>
                </c:pt>
                <c:pt idx="11">
                  <c:v>228394.825</c:v>
                </c:pt>
                <c:pt idx="12">
                  <c:v>237849.89</c:v>
                </c:pt>
                <c:pt idx="13">
                  <c:v>247716.482</c:v>
                </c:pt>
                <c:pt idx="14">
                  <c:v>258013.504</c:v>
                </c:pt>
                <c:pt idx="15">
                  <c:v>268760.761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3065.726</c:v>
                </c:pt>
                <c:pt idx="1">
                  <c:v>3165.233</c:v>
                </c:pt>
                <c:pt idx="2">
                  <c:v>3268.003</c:v>
                </c:pt>
                <c:pt idx="3">
                  <c:v>3374.146</c:v>
                </c:pt>
                <c:pt idx="4">
                  <c:v>3483.774</c:v>
                </c:pt>
                <c:pt idx="5">
                  <c:v>3597.0</c:v>
                </c:pt>
                <c:pt idx="6">
                  <c:v>3742.722</c:v>
                </c:pt>
                <c:pt idx="7">
                  <c:v>3894.387</c:v>
                </c:pt>
                <c:pt idx="8">
                  <c:v>4052.241</c:v>
                </c:pt>
                <c:pt idx="9">
                  <c:v>4216.537</c:v>
                </c:pt>
                <c:pt idx="10">
                  <c:v>4387.542</c:v>
                </c:pt>
                <c:pt idx="11">
                  <c:v>4565.529</c:v>
                </c:pt>
                <c:pt idx="12">
                  <c:v>4750.786</c:v>
                </c:pt>
                <c:pt idx="13">
                  <c:v>4943.613</c:v>
                </c:pt>
                <c:pt idx="14">
                  <c:v>5144.321</c:v>
                </c:pt>
                <c:pt idx="15">
                  <c:v>5353.234</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2342.875</c:v>
                </c:pt>
                <c:pt idx="1">
                  <c:v>2451.597</c:v>
                </c:pt>
                <c:pt idx="2">
                  <c:v>2565.686</c:v>
                </c:pt>
                <c:pt idx="3">
                  <c:v>2685.419</c:v>
                </c:pt>
                <c:pt idx="4">
                  <c:v>2811.088</c:v>
                </c:pt>
                <c:pt idx="5">
                  <c:v>2943.001</c:v>
                </c:pt>
                <c:pt idx="6">
                  <c:v>3105.025</c:v>
                </c:pt>
                <c:pt idx="7">
                  <c:v>3276.359</c:v>
                </c:pt>
                <c:pt idx="8">
                  <c:v>3457.56</c:v>
                </c:pt>
                <c:pt idx="9">
                  <c:v>3649.214</c:v>
                </c:pt>
                <c:pt idx="10">
                  <c:v>3851.941</c:v>
                </c:pt>
                <c:pt idx="11">
                  <c:v>4066.408</c:v>
                </c:pt>
                <c:pt idx="12">
                  <c:v>4293.309</c:v>
                </c:pt>
                <c:pt idx="13">
                  <c:v>4533.39</c:v>
                </c:pt>
                <c:pt idx="14">
                  <c:v>4787.442</c:v>
                </c:pt>
                <c:pt idx="15">
                  <c:v>5056.297</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1165.472</c:v>
                </c:pt>
                <c:pt idx="1">
                  <c:v>1211.894</c:v>
                </c:pt>
                <c:pt idx="2">
                  <c:v>1260.181</c:v>
                </c:pt>
                <c:pt idx="3">
                  <c:v>1310.408</c:v>
                </c:pt>
                <c:pt idx="4">
                  <c:v>1362.653</c:v>
                </c:pt>
                <c:pt idx="5">
                  <c:v>1417.001</c:v>
                </c:pt>
                <c:pt idx="6">
                  <c:v>1484.868</c:v>
                </c:pt>
                <c:pt idx="7">
                  <c:v>1556.006</c:v>
                </c:pt>
                <c:pt idx="8">
                  <c:v>1630.571</c:v>
                </c:pt>
                <c:pt idx="9">
                  <c:v>1708.73</c:v>
                </c:pt>
                <c:pt idx="10">
                  <c:v>1790.657</c:v>
                </c:pt>
                <c:pt idx="11">
                  <c:v>1876.535</c:v>
                </c:pt>
                <c:pt idx="12">
                  <c:v>1966.555</c:v>
                </c:pt>
                <c:pt idx="13">
                  <c:v>2060.917</c:v>
                </c:pt>
                <c:pt idx="14">
                  <c:v>2159.833</c:v>
                </c:pt>
                <c:pt idx="15">
                  <c:v>2263.523</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1025.065</c:v>
                </c:pt>
                <c:pt idx="1">
                  <c:v>1076.053</c:v>
                </c:pt>
                <c:pt idx="2">
                  <c:v>1129.694</c:v>
                </c:pt>
                <c:pt idx="3">
                  <c:v>1186.133</c:v>
                </c:pt>
                <c:pt idx="4">
                  <c:v>1245.514</c:v>
                </c:pt>
                <c:pt idx="5">
                  <c:v>1307.999</c:v>
                </c:pt>
                <c:pt idx="6">
                  <c:v>1384.22</c:v>
                </c:pt>
                <c:pt idx="7">
                  <c:v>1465.025</c:v>
                </c:pt>
                <c:pt idx="8">
                  <c:v>1550.696</c:v>
                </c:pt>
                <c:pt idx="9">
                  <c:v>1641.528</c:v>
                </c:pt>
                <c:pt idx="10">
                  <c:v>1737.848</c:v>
                </c:pt>
                <c:pt idx="11">
                  <c:v>1839.989</c:v>
                </c:pt>
                <c:pt idx="12">
                  <c:v>1948.315</c:v>
                </c:pt>
                <c:pt idx="13">
                  <c:v>2063.203</c:v>
                </c:pt>
                <c:pt idx="14">
                  <c:v>2185.064</c:v>
                </c:pt>
                <c:pt idx="15">
                  <c:v>2314.331</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685.04</c:v>
                </c:pt>
                <c:pt idx="1">
                  <c:v>718.882</c:v>
                </c:pt>
                <c:pt idx="2">
                  <c:v>754.41</c:v>
                </c:pt>
                <c:pt idx="3">
                  <c:v>791.714</c:v>
                </c:pt>
                <c:pt idx="4">
                  <c:v>830.878</c:v>
                </c:pt>
                <c:pt idx="5">
                  <c:v>871.999</c:v>
                </c:pt>
                <c:pt idx="6">
                  <c:v>922.153</c:v>
                </c:pt>
                <c:pt idx="7">
                  <c:v>975.211</c:v>
                </c:pt>
                <c:pt idx="8">
                  <c:v>1031.343</c:v>
                </c:pt>
                <c:pt idx="9">
                  <c:v>1090.731</c:v>
                </c:pt>
                <c:pt idx="10">
                  <c:v>1153.561</c:v>
                </c:pt>
                <c:pt idx="11">
                  <c:v>1220.038</c:v>
                </c:pt>
                <c:pt idx="12">
                  <c:v>1290.373</c:v>
                </c:pt>
                <c:pt idx="13">
                  <c:v>1364.792</c:v>
                </c:pt>
                <c:pt idx="14">
                  <c:v>1443.534</c:v>
                </c:pt>
                <c:pt idx="15">
                  <c:v>1526.85</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626.024</c:v>
                </c:pt>
                <c:pt idx="1">
                  <c:v>651.193</c:v>
                </c:pt>
                <c:pt idx="2">
                  <c:v>677.423</c:v>
                </c:pt>
                <c:pt idx="3">
                  <c:v>704.769</c:v>
                </c:pt>
                <c:pt idx="4">
                  <c:v>733.277</c:v>
                </c:pt>
                <c:pt idx="5">
                  <c:v>763.0</c:v>
                </c:pt>
                <c:pt idx="6">
                  <c:v>800.098</c:v>
                </c:pt>
                <c:pt idx="7">
                  <c:v>839.068</c:v>
                </c:pt>
                <c:pt idx="8">
                  <c:v>880.011</c:v>
                </c:pt>
                <c:pt idx="9">
                  <c:v>923.027</c:v>
                </c:pt>
                <c:pt idx="10">
                  <c:v>968.228</c:v>
                </c:pt>
                <c:pt idx="11">
                  <c:v>1015.729</c:v>
                </c:pt>
                <c:pt idx="12">
                  <c:v>1065.653</c:v>
                </c:pt>
                <c:pt idx="13">
                  <c:v>1118.126</c:v>
                </c:pt>
                <c:pt idx="14">
                  <c:v>1173.284</c:v>
                </c:pt>
                <c:pt idx="15">
                  <c:v>1231.274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Sweet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57.58620745666684</c:v>
                </c:pt>
                <c:pt idx="1">
                  <c:v>55.98159609653863</c:v>
                </c:pt>
                <c:pt idx="2">
                  <c:v>57.08861805247837</c:v>
                </c:pt>
                <c:pt idx="3">
                  <c:v>58.14302275690038</c:v>
                </c:pt>
                <c:pt idx="4">
                  <c:v>58.31039988355114</c:v>
                </c:pt>
                <c:pt idx="5">
                  <c:v>57.640652360797226</c:v>
                </c:pt>
              </c:numCache>
            </c:numRef>
          </c:val>
        </c:ser>
        <c:ser>
          <c:idx val="1"/>
          <c:order val="1"/>
          <c:tx>
            <c:strRef>
              <c:strCache>
                <c:ptCount val="1"/>
                <c:pt idx="0">
                  <c:v>Savoury muffins</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42.41379254333317</c:v>
                </c:pt>
                <c:pt idx="1">
                  <c:v>44.018403903461376</c:v>
                </c:pt>
                <c:pt idx="2">
                  <c:v>42.91138194752163</c:v>
                </c:pt>
                <c:pt idx="3">
                  <c:v>41.85697724309962</c:v>
                </c:pt>
                <c:pt idx="4">
                  <c:v>41.68960011644885</c:v>
                </c:pt>
                <c:pt idx="5">
                  <c:v>42.359347639202774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Sweet muffins</c:v>
                </c:pt>
              </c:strCache>
            </c:strRef>
          </c:tx>
          <c:spPr>
            <a:solidFill>
              <a:srgbClr val="3D85C6"/>
            </a:solidFill>
          </c:spPr>
          <c:invertIfNegative val="0"/>
          <c:xVal>
            <c:numRef>
              <c:numCache>
                <c:formatCode>General</c:formatCode>
                <c:ptCount val="1"/>
                <c:pt idx="0">
                  <c:v>107.99974077981456</c:v>
                </c:pt>
              </c:numCache>
            </c:numRef>
          </c:xVal>
          <c:yVal>
            <c:numRef>
              <c:numCache>
                <c:formatCode>General</c:formatCode>
                <c:ptCount val="1"/>
                <c:pt idx="0">
                  <c:v>111.06077064220183</c:v>
                </c:pt>
              </c:numCache>
            </c:numRef>
          </c:yVal>
          <c:bubbleSize>
            <c:numRef>
              <c:numCache>
                <c:formatCode>General</c:formatCode>
                <c:ptCount val="1"/>
                <c:pt idx="0">
                  <c:v>10235.621</c:v>
                </c:pt>
              </c:numCache>
            </c:numRef>
          </c:bubbleSize>
          <c:bubble3D val="0"/>
        </c:ser>
        <c:ser>
          <c:idx val="1"/>
          <c:order val="1"/>
          <c:tx>
            <c:strRef>
              <c:strCache>
                <c:ptCount val="1"/>
                <c:pt idx="0">
                  <c:v>Savoury muffins</c:v>
                </c:pt>
              </c:strCache>
            </c:strRef>
          </c:tx>
          <c:spPr>
            <a:solidFill>
              <a:srgbClr val="9E7E0A"/>
            </a:solidFill>
          </c:spPr>
          <c:invertIfNegative val="0"/>
          <c:xVal>
            <c:numRef>
              <c:numCache>
                <c:formatCode>General</c:formatCode>
                <c:ptCount val="1"/>
                <c:pt idx="0">
                  <c:v>89.6096270615963</c:v>
                </c:pt>
              </c:numCache>
            </c:numRef>
          </c:xVal>
          <c:yVal>
            <c:numRef>
              <c:numCache>
                <c:formatCode>General</c:formatCode>
                <c:ptCount val="1"/>
                <c:pt idx="0">
                  <c:v>88.93922935779817</c:v>
                </c:pt>
              </c:numCache>
            </c:numRef>
          </c:yVal>
          <c:bubbleSize>
            <c:numRef>
              <c:numCache>
                <c:formatCode>General</c:formatCode>
                <c:ptCount val="1"/>
                <c:pt idx="0">
                  <c:v>7509.888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6052.812</c:v>
                </c:pt>
                <c:pt idx="2">
                  <c:v>6718.45</c:v>
                </c:pt>
                <c:pt idx="3">
                  <c:v>7459.991</c:v>
                </c:pt>
                <c:pt idx="4">
                  <c:v>8286.444</c:v>
                </c:pt>
                <c:pt idx="5">
                  <c:v>9207.875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6052.812</c:v>
                </c:pt>
                <c:pt idx="1">
                  <c:v>665.6379999999999</c:v>
                </c:pt>
                <c:pt idx="2">
                  <c:v>741.5410000000002</c:v>
                </c:pt>
                <c:pt idx="3">
                  <c:v>826.4529999999995</c:v>
                </c:pt>
                <c:pt idx="4">
                  <c:v>921.4310000000005</c:v>
                </c:pt>
                <c:pt idx="5">
                  <c:v>1027.7459999999992</c:v>
                </c:pt>
                <c:pt idx="6">
                  <c:v>10235.621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4847.188</c:v>
                </c:pt>
                <c:pt idx="2">
                  <c:v>5287.606</c:v>
                </c:pt>
                <c:pt idx="3">
                  <c:v>5769.776</c:v>
                </c:pt>
                <c:pt idx="4">
                  <c:v>6297.784</c:v>
                </c:pt>
                <c:pt idx="5">
                  <c:v>6876.166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4847.188</c:v>
                </c:pt>
                <c:pt idx="1">
                  <c:v>440.41799999999967</c:v>
                </c:pt>
                <c:pt idx="2">
                  <c:v>482.1700000000001</c:v>
                </c:pt>
                <c:pt idx="3">
                  <c:v>528.0079999999998</c:v>
                </c:pt>
                <c:pt idx="4">
                  <c:v>578.3820000000005</c:v>
                </c:pt>
                <c:pt idx="5">
                  <c:v>633.7219999999998</c:v>
                </c:pt>
                <c:pt idx="6">
                  <c:v>7509.888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54.46273833073594</c:v>
                </c:pt>
                <c:pt idx="1">
                  <c:v>55.530385321100916</c:v>
                </c:pt>
                <c:pt idx="2">
                  <c:v>57.68006429119615</c:v>
                </c:pt>
              </c:numCache>
            </c:numRef>
          </c:val>
        </c:ser>
        <c:ser>
          <c:idx val="1"/>
          <c:order val="1"/>
          <c:tx>
            <c:strRef>
              <c:strCache>
                <c:ptCount val="1"/>
                <c:pt idx="0">
                  <c:v>Savoury muffins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45.53726166926407</c:v>
                </c:pt>
                <c:pt idx="1">
                  <c:v>44.469614678899084</c:v>
                </c:pt>
                <c:pt idx="2">
                  <c:v>42.31993570880385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Sweet Muffins Flavours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54.17518765116457</c:v>
                </c:pt>
                <c:pt idx="1">
                  <c:v>56.39715754658285</c:v>
                </c:pt>
                <c:pt idx="2">
                  <c:v>53.5493564677717</c:v>
                </c:pt>
                <c:pt idx="3">
                  <c:v>53.41271408454538</c:v>
                </c:pt>
                <c:pt idx="4">
                  <c:v>54.363895158848464</c:v>
                </c:pt>
                <c:pt idx="5">
                  <c:v>54.74483274969859</c:v>
                </c:pt>
              </c:numCache>
            </c:numRef>
          </c:val>
        </c:ser>
        <c:ser>
          <c:idx val="1"/>
          <c:order val="1"/>
          <c:tx>
            <c:strRef>
              <c:strCache>
                <c:ptCount val="1"/>
                <c:pt idx="0">
                  <c:v>Savoury Muffins Flavours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45.824812348835444</c:v>
                </c:pt>
                <c:pt idx="1">
                  <c:v>43.60284245341717</c:v>
                </c:pt>
                <c:pt idx="2">
                  <c:v>46.4506435322283</c:v>
                </c:pt>
                <c:pt idx="3">
                  <c:v>46.587285915454615</c:v>
                </c:pt>
                <c:pt idx="4">
                  <c:v>45.63610484115153</c:v>
                </c:pt>
                <c:pt idx="5">
                  <c:v>45.2551672503014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Sweet Muffins Flavours</c:v>
                </c:pt>
              </c:strCache>
            </c:strRef>
          </c:tx>
          <c:spPr>
            <a:solidFill>
              <a:srgbClr val="3D85C6"/>
            </a:solidFill>
          </c:spPr>
          <c:invertIfNegative val="0"/>
          <c:xVal>
            <c:numRef>
              <c:numCache>
                <c:formatCode>General</c:formatCode>
                <c:ptCount val="1"/>
                <c:pt idx="0">
                  <c:v>88.32587040978127</c:v>
                </c:pt>
              </c:numCache>
            </c:numRef>
          </c:xVal>
          <c:yVal>
            <c:numRef>
              <c:numCache>
                <c:formatCode>General</c:formatCode>
                <c:ptCount val="1"/>
                <c:pt idx="0">
                  <c:v>115.05746788990825</c:v>
                </c:pt>
              </c:numCache>
            </c:numRef>
          </c:yVal>
          <c:bubbleSize>
            <c:numRef>
              <c:numCache>
                <c:formatCode>General</c:formatCode>
                <c:ptCount val="1"/>
                <c:pt idx="0">
                  <c:v>9655.813</c:v>
                </c:pt>
              </c:numCache>
            </c:numRef>
          </c:bubbleSize>
          <c:bubble3D val="0"/>
        </c:ser>
        <c:ser>
          <c:idx val="1"/>
          <c:order val="1"/>
          <c:tx>
            <c:strRef>
              <c:strCache>
                <c:ptCount val="1"/>
                <c:pt idx="0">
                  <c:v>Savoury Muffins Flavours</c:v>
                </c:pt>
              </c:strCache>
            </c:strRef>
          </c:tx>
          <c:spPr>
            <a:solidFill>
              <a:srgbClr val="9E7E0A"/>
            </a:solidFill>
          </c:spPr>
          <c:invertIfNegative val="0"/>
          <c:xVal>
            <c:numRef>
              <c:numCache>
                <c:formatCode>General</c:formatCode>
                <c:ptCount val="1"/>
                <c:pt idx="0">
                  <c:v>114.93688503525155</c:v>
                </c:pt>
              </c:numCache>
            </c:numRef>
          </c:xVal>
          <c:yVal>
            <c:numRef>
              <c:numCache>
                <c:formatCode>General</c:formatCode>
                <c:ptCount val="1"/>
                <c:pt idx="0">
                  <c:v>84.94253211009175</c:v>
                </c:pt>
              </c:numCache>
            </c:numRef>
          </c:yVal>
          <c:bubbleSize>
            <c:numRef>
              <c:numCache>
                <c:formatCode>General</c:formatCode>
                <c:ptCount val="1"/>
                <c:pt idx="0">
                  <c:v>8089.696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6270.632</c:v>
                </c:pt>
                <c:pt idx="2">
                  <c:v>6833.23</c:v>
                </c:pt>
                <c:pt idx="3">
                  <c:v>7447.88</c:v>
                </c:pt>
                <c:pt idx="4">
                  <c:v>8119.483</c:v>
                </c:pt>
                <c:pt idx="5">
                  <c:v>8853.508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6270.632</c:v>
                </c:pt>
                <c:pt idx="1">
                  <c:v>562.598</c:v>
                </c:pt>
                <c:pt idx="2">
                  <c:v>614.6500000000005</c:v>
                </c:pt>
                <c:pt idx="3">
                  <c:v>671.6030000000001</c:v>
                </c:pt>
                <c:pt idx="4">
                  <c:v>734.0249999999996</c:v>
                </c:pt>
                <c:pt idx="5">
                  <c:v>802.3050000000003</c:v>
                </c:pt>
                <c:pt idx="6">
                  <c:v>9655.813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4629.368</c:v>
                </c:pt>
                <c:pt idx="2">
                  <c:v>5172.826</c:v>
                </c:pt>
                <c:pt idx="3">
                  <c:v>5781.887</c:v>
                </c:pt>
                <c:pt idx="4">
                  <c:v>6464.745</c:v>
                </c:pt>
                <c:pt idx="5">
                  <c:v>7230.532999999999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4629.368</c:v>
                </c:pt>
                <c:pt idx="1">
                  <c:v>543.4579999999996</c:v>
                </c:pt>
                <c:pt idx="2">
                  <c:v>609.0609999999997</c:v>
                </c:pt>
                <c:pt idx="3">
                  <c:v>682.8580000000002</c:v>
                </c:pt>
                <c:pt idx="4">
                  <c:v>765.7879999999996</c:v>
                </c:pt>
                <c:pt idx="5">
                  <c:v>859.1630000000005</c:v>
                </c:pt>
                <c:pt idx="6">
                  <c:v>8089.696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 Flavours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59.044183285631455</c:v>
                </c:pt>
                <c:pt idx="1">
                  <c:v>57.528733944954126</c:v>
                </c:pt>
                <c:pt idx="2">
                  <c:v>54.41271366180593</c:v>
                </c:pt>
              </c:numCache>
            </c:numRef>
          </c:val>
        </c:ser>
        <c:ser>
          <c:idx val="1"/>
          <c:order val="1"/>
          <c:tx>
            <c:strRef>
              <c:strCache>
                <c:ptCount val="1"/>
                <c:pt idx="0">
                  <c:v>Savoury Muffins Flavours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40.95581671436854</c:v>
                </c:pt>
                <c:pt idx="1">
                  <c:v>42.471266055045874</c:v>
                </c:pt>
                <c:pt idx="2">
                  <c:v>45.587286338194076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Wheat-based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16.85230095007285</c:v>
                </c:pt>
                <c:pt idx="1">
                  <c:v>16.39800897272162</c:v>
                </c:pt>
                <c:pt idx="2">
                  <c:v>16.816793997675305</c:v>
                </c:pt>
                <c:pt idx="3">
                  <c:v>15.237621584812198</c:v>
                </c:pt>
                <c:pt idx="4">
                  <c:v>17.012806011988616</c:v>
                </c:pt>
                <c:pt idx="5">
                  <c:v>17.71004219131837</c:v>
                </c:pt>
              </c:numCache>
            </c:numRef>
          </c:val>
        </c:ser>
        <c:ser>
          <c:idx val="1"/>
          <c:order val="1"/>
          <c:tx>
            <c:strRef>
              <c:strCache>
                <c:ptCount val="1"/>
                <c:pt idx="0">
                  <c:v>Oat-based</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22.11863484488424</c:v>
                </c:pt>
                <c:pt idx="1">
                  <c:v>20.31450371680257</c:v>
                </c:pt>
                <c:pt idx="2">
                  <c:v>22.351529010308266</c:v>
                </c:pt>
                <c:pt idx="3">
                  <c:v>22.673420526277358</c:v>
                </c:pt>
                <c:pt idx="4">
                  <c:v>20.115392746905496</c:v>
                </c:pt>
                <c:pt idx="5">
                  <c:v>23.222934024554128</c:v>
                </c:pt>
              </c:numCache>
            </c:numRef>
          </c:val>
        </c:ser>
        <c:ser>
          <c:idx val="2"/>
          <c:order val="2"/>
          <c:tx>
            <c:strRef>
              <c:strCache>
                <c:ptCount val="1"/>
                <c:pt idx="0">
                  <c:v>Rice-based</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17.204618955650812</c:v>
                </c:pt>
                <c:pt idx="1">
                  <c:v>19.274322952483875</c:v>
                </c:pt>
                <c:pt idx="2">
                  <c:v>17.22014753108318</c:v>
                </c:pt>
                <c:pt idx="3">
                  <c:v>16.454301480643867</c:v>
                </c:pt>
                <c:pt idx="4">
                  <c:v>16.979184569260866</c:v>
                </c:pt>
                <c:pt idx="5">
                  <c:v>15.50868129433535</c:v>
                </c:pt>
              </c:numCache>
            </c:numRef>
          </c:val>
        </c:ser>
        <c:ser>
          <c:idx val="3"/>
          <c:order val="3"/>
          <c:tx>
            <c:strRef>
              <c:strCache>
                <c:ptCount val="1"/>
                <c:pt idx="0">
                  <c:v>Corn-based</c:v>
                </c:pt>
              </c:strCache>
            </c:strRef>
          </c:tx>
          <c:spPr>
            <a:solidFill>
              <a:srgbClr val="40315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14.023523602382573</c:v>
                </c:pt>
                <c:pt idx="1">
                  <c:v>15.299931230965717</c:v>
                </c:pt>
                <c:pt idx="2">
                  <c:v>14.327797862005376</c:v>
                </c:pt>
                <c:pt idx="3">
                  <c:v>16.096401076596216</c:v>
                </c:pt>
                <c:pt idx="4">
                  <c:v>16.71525624384802</c:v>
                </c:pt>
                <c:pt idx="5">
                  <c:v>14.067963403056918</c:v>
                </c:pt>
              </c:numCache>
            </c:numRef>
          </c:val>
        </c:ser>
        <c:ser>
          <c:idx val="4"/>
          <c:order val="4"/>
          <c:tx>
            <c:strRef>
              <c:strCache>
                <c:ptCount val="1"/>
                <c:pt idx="0">
                  <c:v>Millet-based</c:v>
                </c:pt>
              </c:strCache>
            </c:strRef>
          </c:tx>
          <c:spPr>
            <a:solidFill>
              <a:srgbClr val="A35313"/>
            </a:solidFill>
            <a:ln>
              <a:noFill/>
            </a:ln>
          </c:spPr>
          <c:dLbls>
            <c:dLbl>
              <c:idx val="0"/>
              <c:numFmt formatCode="&quot;MMM&quot;;&quot;MMM&quot;;&quot;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7.600176727519625</c:v>
                </c:pt>
                <c:pt idx="1">
                  <c:v>6.6822543144382225</c:v>
                </c:pt>
                <c:pt idx="2">
                  <c:v>9.005210019955618</c:v>
                </c:pt>
                <c:pt idx="3">
                  <c:v>7.809038551529578</c:v>
                </c:pt>
                <c:pt idx="4">
                  <c:v>8.52730763244327</c:v>
                </c:pt>
                <c:pt idx="5">
                  <c:v>7.946691663394501</c:v>
                </c:pt>
              </c:numCache>
            </c:numRef>
          </c:val>
        </c:ser>
        <c:ser>
          <c:idx val="5"/>
          <c:order val="5"/>
          <c:tx>
            <c:strRef>
              <c:strCache>
                <c:ptCount val="1"/>
                <c:pt idx="0">
                  <c:v>Almond and other nut flour-based</c:v>
                </c:pt>
              </c:strCache>
            </c:strRef>
          </c:tx>
          <c:spPr>
            <a:solidFill>
              <a:srgbClr val="808080"/>
            </a:solidFill>
            <a:ln>
              <a:noFill/>
            </a:ln>
          </c:spPr>
          <c:dLbls>
            <c:dLbl>
              <c:idx val="0"/>
              <c:numFmt formatCode="&quot;MMM&quot;;&quot;MMM&quot;;&quot;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3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2.364136658452952</c:v>
                </c:pt>
                <c:pt idx="1">
                  <c:v>2.4911418934407443</c:v>
                </c:pt>
                <c:pt idx="2">
                  <c:v>2.642031912200583</c:v>
                </c:pt>
                <c:pt idx="3">
                  <c:v>2.3958111436955214</c:v>
                </c:pt>
                <c:pt idx="4">
                  <c:v>2.8112865996597907</c:v>
                </c:pt>
                <c:pt idx="5">
                  <c:v>3.062728063073649</c:v>
                </c:pt>
              </c:numCache>
            </c:numRef>
          </c:val>
        </c:ser>
        <c:ser>
          <c:idx val="6"/>
          <c:order val="6"/>
          <c:tx>
            <c:strRef>
              <c:strCache>
                <c:ptCount val="1"/>
                <c:pt idx="0">
                  <c:v>Other single-flour bases</c:v>
                </c:pt>
              </c:strCache>
            </c:strRef>
          </c:tx>
          <c:spPr>
            <a:solidFill>
              <a:srgbClr val="0E72A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13.981372139751183</c:v>
                </c:pt>
                <c:pt idx="1">
                  <c:v>13.177260372662673</c:v>
                </c:pt>
                <c:pt idx="2">
                  <c:v>12.00827206085381</c:v>
                </c:pt>
                <c:pt idx="3">
                  <c:v>13.394756411248002</c:v>
                </c:pt>
                <c:pt idx="4">
                  <c:v>12.427315879585397</c:v>
                </c:pt>
                <c:pt idx="5">
                  <c:v>13.318808779888942</c:v>
                </c:pt>
              </c:numCache>
            </c:numRef>
          </c:val>
        </c:ser>
        <c:ser>
          <c:idx val="7"/>
          <c:order val="7"/>
          <c:tx>
            <c:strRef>
              <c:strCache>
                <c:ptCount val="1"/>
                <c:pt idx="0">
                  <c:v>Multigrain and blended flour bases</c:v>
                </c:pt>
              </c:strCache>
            </c:strRef>
          </c:tx>
          <c:spPr>
            <a:solidFill>
              <a:srgbClr val="A86F00"/>
            </a:solidFill>
            <a:ln>
              <a:noFill/>
            </a:ln>
          </c:spPr>
          <c:dLbls>
            <c:dLbl>
              <c:idx val="0"/>
              <c:numFmt formatCode="&quot;MMM&quot;;&quot;MMM&quot;;&quot;MMM&quot;" sourceLinked="0"/>
              <c:spPr>
                <a:blipFill>
                  <a:blip r:embed="rId4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4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4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4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4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5.855236121285757</c:v>
                </c:pt>
                <c:pt idx="1">
                  <c:v>6.3625765464845925</c:v>
                </c:pt>
                <c:pt idx="2">
                  <c:v>5.628217605917854</c:v>
                </c:pt>
                <c:pt idx="3">
                  <c:v>5.93864922519726</c:v>
                </c:pt>
                <c:pt idx="4">
                  <c:v>5.4114503163085566</c:v>
                </c:pt>
                <c:pt idx="5">
                  <c:v>5.162150580378141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Wheat-based</c:v>
                </c:pt>
              </c:strCache>
            </c:strRef>
          </c:tx>
          <c:spPr>
            <a:solidFill>
              <a:srgbClr val="3D85C6"/>
            </a:solidFill>
          </c:spPr>
          <c:invertIfNegative val="0"/>
          <c:xVal>
            <c:numRef>
              <c:numCache>
                <c:formatCode>General</c:formatCode>
                <c:ptCount val="1"/>
                <c:pt idx="0">
                  <c:v>102.71025982099815</c:v>
                </c:pt>
              </c:numCache>
            </c:numRef>
          </c:xVal>
          <c:yVal>
            <c:numRef>
              <c:numCache>
                <c:formatCode>General</c:formatCode>
                <c:ptCount val="1"/>
                <c:pt idx="0">
                  <c:v>133.4896880733945</c:v>
                </c:pt>
              </c:numCache>
            </c:numRef>
          </c:yVal>
          <c:bubbleSize>
            <c:numRef>
              <c:numCache>
                <c:formatCode>General</c:formatCode>
                <c:ptCount val="1"/>
                <c:pt idx="0">
                  <c:v>2999.45</c:v>
                </c:pt>
              </c:numCache>
            </c:numRef>
          </c:bubbleSize>
          <c:bubble3D val="0"/>
        </c:ser>
        <c:ser>
          <c:idx val="1"/>
          <c:order val="1"/>
          <c:tx>
            <c:strRef>
              <c:strCache>
                <c:ptCount val="1"/>
                <c:pt idx="0">
                  <c:v>Oat-based</c:v>
                </c:pt>
              </c:strCache>
            </c:strRef>
          </c:tx>
          <c:spPr>
            <a:solidFill>
              <a:srgbClr val="9E7E0A"/>
            </a:solidFill>
          </c:spPr>
          <c:invertIfNegative val="0"/>
          <c:xVal>
            <c:numRef>
              <c:numCache>
                <c:formatCode>General</c:formatCode>
                <c:ptCount val="1"/>
                <c:pt idx="0">
                  <c:v>134.00924223017014</c:v>
                </c:pt>
              </c:numCache>
            </c:numRef>
          </c:xVal>
          <c:yVal>
            <c:numRef>
              <c:numCache>
                <c:formatCode>General</c:formatCode>
                <c:ptCount val="1"/>
                <c:pt idx="0">
                  <c:v>148.73174311926604</c:v>
                </c:pt>
              </c:numCache>
            </c:numRef>
          </c:yVal>
          <c:bubbleSize>
            <c:numRef>
              <c:numCache>
                <c:formatCode>General</c:formatCode>
                <c:ptCount val="1"/>
                <c:pt idx="0">
                  <c:v>3873.455</c:v>
                </c:pt>
              </c:numCache>
            </c:numRef>
          </c:bubbleSize>
          <c:bubble3D val="0"/>
        </c:ser>
        <c:ser>
          <c:idx val="2"/>
          <c:order val="2"/>
          <c:tx>
            <c:strRef>
              <c:strCache>
                <c:ptCount val="1"/>
                <c:pt idx="0">
                  <c:v>Rice-based</c:v>
                </c:pt>
              </c:strCache>
            </c:strRef>
          </c:tx>
          <c:spPr>
            <a:solidFill>
              <a:srgbClr val="008189"/>
            </a:solidFill>
          </c:spPr>
          <c:invertIfNegative val="0"/>
          <c:xVal>
            <c:numRef>
              <c:numCache>
                <c:formatCode>General</c:formatCode>
                <c:ptCount val="1"/>
                <c:pt idx="0">
                  <c:v>73.0082838727054</c:v>
                </c:pt>
              </c:numCache>
            </c:numRef>
          </c:xVal>
          <c:yVal>
            <c:numRef>
              <c:numCache>
                <c:formatCode>General</c:formatCode>
                <c:ptCount val="1"/>
                <c:pt idx="0">
                  <c:v>152.1298348623853</c:v>
                </c:pt>
              </c:numCache>
            </c:numRef>
          </c:yVal>
          <c:bubbleSize>
            <c:numRef>
              <c:numCache>
                <c:formatCode>General</c:formatCode>
                <c:ptCount val="1"/>
                <c:pt idx="0">
                  <c:v>2965.449</c:v>
                </c:pt>
              </c:numCache>
            </c:numRef>
          </c:bubbleSize>
          <c:bubble3D val="0"/>
        </c:ser>
        <c:ser>
          <c:idx val="3"/>
          <c:order val="3"/>
          <c:tx>
            <c:strRef>
              <c:strCache>
                <c:ptCount val="1"/>
                <c:pt idx="0">
                  <c:v>Corn-based</c:v>
                </c:pt>
              </c:strCache>
            </c:strRef>
          </c:tx>
          <c:spPr>
            <a:solidFill>
              <a:srgbClr val="40315E"/>
            </a:solidFill>
          </c:spPr>
          <c:invertIfNegative val="0"/>
          <c:xVal>
            <c:numRef>
              <c:numCache>
                <c:formatCode>General</c:formatCode>
                <c:ptCount val="1"/>
                <c:pt idx="0">
                  <c:v>83.84179268872505</c:v>
                </c:pt>
              </c:numCache>
            </c:numRef>
          </c:xVal>
          <c:yVal>
            <c:numRef>
              <c:numCache>
                <c:formatCode>General</c:formatCode>
                <c:ptCount val="1"/>
                <c:pt idx="0">
                  <c:v>131.55163302752294</c:v>
                </c:pt>
              </c:numCache>
            </c:numRef>
          </c:yVal>
          <c:bubbleSize>
            <c:numRef>
              <c:numCache>
                <c:formatCode>General</c:formatCode>
                <c:ptCount val="1"/>
                <c:pt idx="0">
                  <c:v>2701.376</c:v>
                </c:pt>
              </c:numCache>
            </c:numRef>
          </c:bubbleSize>
          <c:bubble3D val="0"/>
        </c:ser>
        <c:ser>
          <c:idx val="4"/>
          <c:order val="4"/>
          <c:tx>
            <c:strRef>
              <c:strCache>
                <c:ptCount val="1"/>
                <c:pt idx="0">
                  <c:v>Millet-based</c:v>
                </c:pt>
              </c:strCache>
            </c:strRef>
          </c:tx>
          <c:spPr>
            <a:solidFill>
              <a:srgbClr val="A35313"/>
            </a:solidFill>
          </c:spPr>
          <c:invertIfNegative val="0"/>
          <c:xVal>
            <c:numRef>
              <c:numCache>
                <c:formatCode>General</c:formatCode>
                <c:ptCount val="1"/>
                <c:pt idx="0">
                  <c:v>136.06241881879652</c:v>
                </c:pt>
              </c:numCache>
            </c:numRef>
          </c:xVal>
          <c:yVal>
            <c:numRef>
              <c:numCache>
                <c:formatCode>General</c:formatCode>
                <c:ptCount val="1"/>
                <c:pt idx="0">
                  <c:v>54.64007339449542</c:v>
                </c:pt>
              </c:numCache>
            </c:numRef>
          </c:yVal>
          <c:bubbleSize>
            <c:numRef>
              <c:numCache>
                <c:formatCode>General</c:formatCode>
                <c:ptCount val="1"/>
                <c:pt idx="0">
                  <c:v>1436.74</c:v>
                </c:pt>
              </c:numCache>
            </c:numRef>
          </c:bubbleSize>
          <c:bubble3D val="0"/>
        </c:ser>
        <c:ser>
          <c:idx val="5"/>
          <c:order val="5"/>
          <c:tx>
            <c:strRef>
              <c:strCache>
                <c:ptCount val="1"/>
                <c:pt idx="0">
                  <c:v>Almond and other nut flour-based</c:v>
                </c:pt>
              </c:strCache>
            </c:strRef>
          </c:tx>
          <c:spPr>
            <a:solidFill>
              <a:srgbClr val="808080"/>
            </a:solidFill>
          </c:spPr>
          <c:invertIfNegative val="0"/>
          <c:xVal>
            <c:numRef>
              <c:numCache>
                <c:formatCode>General</c:formatCode>
                <c:ptCount val="1"/>
                <c:pt idx="0">
                  <c:v>102.90525707784496</c:v>
                </c:pt>
              </c:numCache>
            </c:numRef>
          </c:xVal>
          <c:yVal>
            <c:numRef>
              <c:numCache>
                <c:formatCode>General</c:formatCode>
                <c:ptCount val="1"/>
                <c:pt idx="0">
                  <c:v>21.720293577981653</c:v>
                </c:pt>
              </c:numCache>
            </c:numRef>
          </c:yVal>
          <c:bubbleSize>
            <c:numRef>
              <c:numCache>
                <c:formatCode>General</c:formatCode>
                <c:ptCount val="1"/>
                <c:pt idx="0">
                  <c:v>488.497</c:v>
                </c:pt>
              </c:numCache>
            </c:numRef>
          </c:bubbleSize>
          <c:bubble3D val="0"/>
        </c:ser>
        <c:ser>
          <c:idx val="6"/>
          <c:order val="6"/>
          <c:tx>
            <c:strRef>
              <c:strCache>
                <c:ptCount val="1"/>
                <c:pt idx="0">
                  <c:v>Other single-flour bases</c:v>
                </c:pt>
              </c:strCache>
            </c:strRef>
          </c:tx>
          <c:spPr>
            <a:solidFill>
              <a:srgbClr val="0E72AE"/>
            </a:solidFill>
          </c:spPr>
          <c:invertIfNegative val="0"/>
          <c:xVal>
            <c:numRef>
              <c:numCache>
                <c:formatCode>General</c:formatCode>
                <c:ptCount val="1"/>
                <c:pt idx="0">
                  <c:v>114.3047335642003</c:v>
                </c:pt>
              </c:numCache>
            </c:numRef>
          </c:xVal>
          <c:yVal>
            <c:numRef>
              <c:numCache>
                <c:formatCode>General</c:formatCode>
                <c:ptCount val="1"/>
                <c:pt idx="0">
                  <c:v>96.74245871559633</c:v>
                </c:pt>
              </c:numCache>
            </c:numRef>
          </c:yVal>
          <c:bubbleSize>
            <c:numRef>
              <c:numCache>
                <c:formatCode>General</c:formatCode>
                <c:ptCount val="1"/>
                <c:pt idx="0">
                  <c:v>2296.504</c:v>
                </c:pt>
              </c:numCache>
            </c:numRef>
          </c:bubbleSize>
          <c:bubble3D val="0"/>
        </c:ser>
        <c:ser>
          <c:idx val="7"/>
          <c:order val="7"/>
          <c:tx>
            <c:strRef>
              <c:strCache>
                <c:ptCount val="1"/>
                <c:pt idx="0">
                  <c:v>Multigrain and blended flour bases</c:v>
                </c:pt>
              </c:strCache>
            </c:strRef>
          </c:tx>
          <c:spPr>
            <a:solidFill>
              <a:srgbClr val="A86F00"/>
            </a:solidFill>
          </c:spPr>
          <c:invertIfNegative val="0"/>
          <c:xVal>
            <c:numRef>
              <c:numCache>
                <c:formatCode>General</c:formatCode>
                <c:ptCount val="1"/>
                <c:pt idx="0">
                  <c:v>34.12089990755227</c:v>
                </c:pt>
              </c:numCache>
            </c:numRef>
          </c:xVal>
          <c:yVal>
            <c:numRef>
              <c:numCache>
                <c:formatCode>General</c:formatCode>
                <c:ptCount val="1"/>
                <c:pt idx="0">
                  <c:v>60.9942752293578</c:v>
                </c:pt>
              </c:numCache>
            </c:numRef>
          </c:yVal>
          <c:bubbleSize>
            <c:numRef>
              <c:numCache>
                <c:formatCode>General</c:formatCode>
                <c:ptCount val="1"/>
                <c:pt idx="0">
                  <c:v>984.038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1818.797</c:v>
                </c:pt>
                <c:pt idx="2">
                  <c:v>2008.4930000000002</c:v>
                </c:pt>
                <c:pt idx="3">
                  <c:v>2218.904</c:v>
                </c:pt>
                <c:pt idx="4">
                  <c:v>2452.385</c:v>
                </c:pt>
                <c:pt idx="5">
                  <c:v>2711.585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1818.797</c:v>
                </c:pt>
                <c:pt idx="1">
                  <c:v>189.69600000000014</c:v>
                </c:pt>
                <c:pt idx="2">
                  <c:v>210.41099999999983</c:v>
                </c:pt>
                <c:pt idx="3">
                  <c:v>233.48100000000022</c:v>
                </c:pt>
                <c:pt idx="4">
                  <c:v>259.1999999999998</c:v>
                </c:pt>
                <c:pt idx="5">
                  <c:v>287.8649999999998</c:v>
                </c:pt>
                <c:pt idx="6">
                  <c:v>2999.45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2026.47</c:v>
                </c:pt>
                <c:pt idx="2">
                  <c:v>2311.307</c:v>
                </c:pt>
                <c:pt idx="3">
                  <c:v>2633.321</c:v>
                </c:pt>
                <c:pt idx="4">
                  <c:v>2997.294</c:v>
                </c:pt>
                <c:pt idx="5">
                  <c:v>3408.639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2026.47</c:v>
                </c:pt>
                <c:pt idx="1">
                  <c:v>284.83699999999976</c:v>
                </c:pt>
                <c:pt idx="2">
                  <c:v>322.0140000000001</c:v>
                </c:pt>
                <c:pt idx="3">
                  <c:v>363.97299999999996</c:v>
                </c:pt>
                <c:pt idx="4">
                  <c:v>411.34500000000025</c:v>
                </c:pt>
                <c:pt idx="5">
                  <c:v>464.8159999999998</c:v>
                </c:pt>
                <c:pt idx="6">
                  <c:v>3873.455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2072.769</c:v>
                </c:pt>
                <c:pt idx="2">
                  <c:v>2227.013</c:v>
                </c:pt>
                <c:pt idx="3">
                  <c:v>2392.619</c:v>
                </c:pt>
                <c:pt idx="4">
                  <c:v>2570.35</c:v>
                </c:pt>
                <c:pt idx="5">
                  <c:v>2761.009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2072.769</c:v>
                </c:pt>
                <c:pt idx="1">
                  <c:v>154.24400000000014</c:v>
                </c:pt>
                <c:pt idx="2">
                  <c:v>165.60600000000022</c:v>
                </c:pt>
                <c:pt idx="3">
                  <c:v>177.73099999999977</c:v>
                </c:pt>
                <c:pt idx="4">
                  <c:v>190.6590000000001</c:v>
                </c:pt>
                <c:pt idx="5">
                  <c:v>204.44000000000005</c:v>
                </c:pt>
                <c:pt idx="6">
                  <c:v>2965.449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1792.391</c:v>
                </c:pt>
                <c:pt idx="2">
                  <c:v>1944.444</c:v>
                </c:pt>
                <c:pt idx="3">
                  <c:v>2110.051</c:v>
                </c:pt>
                <c:pt idx="4">
                  <c:v>2290.473</c:v>
                </c:pt>
                <c:pt idx="5">
                  <c:v>2487.077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1792.391</c:v>
                </c:pt>
                <c:pt idx="1">
                  <c:v>152.05299999999988</c:v>
                </c:pt>
                <c:pt idx="2">
                  <c:v>165.60699999999997</c:v>
                </c:pt>
                <c:pt idx="3">
                  <c:v>180.42200000000003</c:v>
                </c:pt>
                <c:pt idx="4">
                  <c:v>196.60400000000027</c:v>
                </c:pt>
                <c:pt idx="5">
                  <c:v>214.29899999999998</c:v>
                </c:pt>
                <c:pt idx="6">
                  <c:v>2701.376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744.471</c:v>
                </c:pt>
                <c:pt idx="2">
                  <c:v>850.785</c:v>
                </c:pt>
                <c:pt idx="3">
                  <c:v>971.199</c:v>
                </c:pt>
                <c:pt idx="4">
                  <c:v>1107.559</c:v>
                </c:pt>
                <c:pt idx="5">
                  <c:v>1261.951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744.471</c:v>
                </c:pt>
                <c:pt idx="1">
                  <c:v>106.31399999999996</c:v>
                </c:pt>
                <c:pt idx="2">
                  <c:v>120.41399999999999</c:v>
                </c:pt>
                <c:pt idx="3">
                  <c:v>136.36</c:v>
                </c:pt>
                <c:pt idx="4">
                  <c:v>154.39200000000005</c:v>
                </c:pt>
                <c:pt idx="5">
                  <c:v>174.789</c:v>
                </c:pt>
                <c:pt idx="6">
                  <c:v>1436.74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295.939</c:v>
                </c:pt>
                <c:pt idx="2">
                  <c:v>326.878</c:v>
                </c:pt>
                <c:pt idx="3">
                  <c:v>361.191</c:v>
                </c:pt>
                <c:pt idx="4">
                  <c:v>399.269</c:v>
                </c:pt>
                <c:pt idx="5">
                  <c:v>441.546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295.939</c:v>
                </c:pt>
                <c:pt idx="1">
                  <c:v>30.938999999999965</c:v>
                </c:pt>
                <c:pt idx="2">
                  <c:v>34.31299999999999</c:v>
                </c:pt>
                <c:pt idx="3">
                  <c:v>38.07800000000003</c:v>
                </c:pt>
                <c:pt idx="4">
                  <c:v>42.27699999999999</c:v>
                </c:pt>
                <c:pt idx="5">
                  <c:v>46.95100000000002</c:v>
                </c:pt>
                <c:pt idx="6">
                  <c:v>488.497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1318.116</c:v>
                </c:pt>
                <c:pt idx="2">
                  <c:v>1472.417</c:v>
                </c:pt>
                <c:pt idx="3">
                  <c:v>1645.032</c:v>
                </c:pt>
                <c:pt idx="4">
                  <c:v>1838.196</c:v>
                </c:pt>
                <c:pt idx="5">
                  <c:v>2054.41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1318.116</c:v>
                </c:pt>
                <c:pt idx="1">
                  <c:v>154.30099999999993</c:v>
                </c:pt>
                <c:pt idx="2">
                  <c:v>172.615</c:v>
                </c:pt>
                <c:pt idx="3">
                  <c:v>193.164</c:v>
                </c:pt>
                <c:pt idx="4">
                  <c:v>216.21399999999994</c:v>
                </c:pt>
                <c:pt idx="5">
                  <c:v>242.09400000000005</c:v>
                </c:pt>
                <c:pt idx="6">
                  <c:v>2296.504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831.047</c:v>
                </c:pt>
                <c:pt idx="2">
                  <c:v>864.719</c:v>
                </c:pt>
                <c:pt idx="3">
                  <c:v>897.45</c:v>
                </c:pt>
                <c:pt idx="4">
                  <c:v>928.702</c:v>
                </c:pt>
                <c:pt idx="5">
                  <c:v>957.824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831.047</c:v>
                </c:pt>
                <c:pt idx="1">
                  <c:v>33.672000000000025</c:v>
                </c:pt>
                <c:pt idx="2">
                  <c:v>32.730999999999995</c:v>
                </c:pt>
                <c:pt idx="3">
                  <c:v>31.251999999999953</c:v>
                </c:pt>
                <c:pt idx="4">
                  <c:v>29.121999999999957</c:v>
                </c:pt>
                <c:pt idx="5">
                  <c:v>26.214000000000055</c:v>
                </c:pt>
                <c:pt idx="6">
                  <c:v>984.038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Oat-based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16.913320259181557</c:v>
                </c:pt>
                <c:pt idx="1">
                  <c:v>18.591467889908255</c:v>
                </c:pt>
                <c:pt idx="2">
                  <c:v>21.82780443209603</c:v>
                </c:pt>
              </c:numCache>
            </c:numRef>
          </c:val>
        </c:ser>
        <c:ser>
          <c:idx val="1"/>
          <c:order val="1"/>
          <c:tx>
            <c:strRef>
              <c:strCache>
                <c:ptCount val="1"/>
                <c:pt idx="0">
                  <c:v>Wheat-based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16.580420960153315</c:v>
                </c:pt>
                <c:pt idx="1">
                  <c:v>16.68621100917431</c:v>
                </c:pt>
                <c:pt idx="2">
                  <c:v>16.90258645159178</c:v>
                </c:pt>
              </c:numCache>
            </c:numRef>
          </c:val>
        </c:ser>
        <c:ser>
          <c:idx val="2"/>
          <c:order val="2"/>
          <c:tx>
            <c:strRef>
              <c:strCache>
                <c:ptCount val="1"/>
                <c:pt idx="0">
                  <c:v>Rice-based</c:v>
                </c:pt>
              </c:strCache>
            </c:strRef>
          </c:tx>
          <c:spPr>
            <a:solidFill>
              <a:srgbClr val="008189"/>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20.197690243161716</c:v>
                </c:pt>
                <c:pt idx="1">
                  <c:v>19.016229357798164</c:v>
                </c:pt>
                <c:pt idx="2">
                  <c:v>16.710983043653467</c:v>
                </c:pt>
              </c:numCache>
            </c:numRef>
          </c:val>
        </c:ser>
        <c:ser>
          <c:idx val="3"/>
          <c:order val="3"/>
          <c:tx>
            <c:strRef>
              <c:strCache>
                <c:ptCount val="1"/>
                <c:pt idx="0">
                  <c:v>Corn-based</c:v>
                </c:pt>
              </c:strCache>
            </c:strRef>
          </c:tx>
          <c:spPr>
            <a:solidFill>
              <a:srgbClr val="40315E"/>
            </a:solidFill>
            <a:ln>
              <a:noFill/>
            </a:ln>
          </c:spPr>
          <c:dLbls>
            <c:dLbl>
              <c:idx val="0"/>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17.074786856684057</c:v>
                </c:pt>
                <c:pt idx="1">
                  <c:v>16.443954128440367</c:v>
                </c:pt>
                <c:pt idx="2">
                  <c:v>15.222871319160248</c:v>
                </c:pt>
              </c:numCache>
            </c:numRef>
          </c:val>
        </c:ser>
        <c:ser>
          <c:idx val="4"/>
          <c:order val="4"/>
          <c:tx>
            <c:strRef>
              <c:strCache>
                <c:ptCount val="1"/>
                <c:pt idx="0">
                  <c:v>Other single-flour bases</c:v>
                </c:pt>
              </c:strCache>
            </c:strRef>
          </c:tx>
          <c:spPr>
            <a:solidFill>
              <a:srgbClr val="A35313"/>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11.66160991636329</c:v>
                </c:pt>
                <c:pt idx="1">
                  <c:v>12.092807339449541</c:v>
                </c:pt>
                <c:pt idx="2">
                  <c:v>12.941325041733096</c:v>
                </c:pt>
              </c:numCache>
            </c:numRef>
          </c:val>
        </c:ser>
        <c:ser>
          <c:idx val="5"/>
          <c:order val="5"/>
          <c:tx>
            <c:strRef>
              <c:strCache>
                <c:ptCount val="1"/>
                <c:pt idx="0">
                  <c:v>Millet-based</c:v>
                </c:pt>
              </c:strCache>
            </c:strRef>
          </c:tx>
          <c:spPr>
            <a:solidFill>
              <a:srgbClr val="808080"/>
            </a:solidFill>
            <a:ln>
              <a:noFill/>
            </a:ln>
          </c:spPr>
          <c:dLbls>
            <c:dLbl>
              <c:idx val="0"/>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6.182250413626987</c:v>
                </c:pt>
                <c:pt idx="1">
                  <c:v>6.830009174311927</c:v>
                </c:pt>
                <c:pt idx="2">
                  <c:v>8.096358351851165</c:v>
                </c:pt>
              </c:numCache>
            </c:numRef>
          </c:val>
        </c:ser>
        <c:ser>
          <c:idx val="6"/>
          <c:order val="6"/>
          <c:tx>
            <c:strRef>
              <c:strCache>
                <c:ptCount val="1"/>
                <c:pt idx="0">
                  <c:v>Multigrain and blended flour bases</c:v>
                </c:pt>
              </c:strCache>
            </c:strRef>
          </c:tx>
          <c:spPr>
            <a:solidFill>
              <a:srgbClr val="0E72AE"/>
            </a:solidFill>
            <a:ln>
              <a:noFill/>
            </a:ln>
          </c:spPr>
          <c:dLbls>
            <c:dLbl>
              <c:idx val="0"/>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8.693731073661407</c:v>
                </c:pt>
                <c:pt idx="1">
                  <c:v>7.624284403669725</c:v>
                </c:pt>
                <c:pt idx="2">
                  <c:v>5.545279090050334</c:v>
                </c:pt>
              </c:numCache>
            </c:numRef>
          </c:val>
        </c:ser>
        <c:ser>
          <c:idx val="7"/>
          <c:order val="7"/>
          <c:tx>
            <c:strRef>
              <c:strCache>
                <c:ptCount val="1"/>
                <c:pt idx="0">
                  <c:v>Almond and other nut flour-based</c:v>
                </c:pt>
              </c:strCache>
            </c:strRef>
          </c:tx>
          <c:spPr>
            <a:solidFill>
              <a:srgbClr val="A86F00"/>
            </a:solidFill>
            <a:ln>
              <a:noFill/>
            </a:ln>
          </c:spPr>
          <c:dLbls>
            <c:dLbl>
              <c:idx val="0"/>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2.6961902771676782</c:v>
                </c:pt>
                <c:pt idx="1">
                  <c:v>2.7150366972477067</c:v>
                </c:pt>
                <c:pt idx="2">
                  <c:v>2.7527922698638854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17.57090623208157</c:v>
                </c:pt>
                <c:pt idx="1">
                  <c:v>16.844287258080364</c:v>
                </c:pt>
                <c:pt idx="2">
                  <c:v>19.96180290635439</c:v>
                </c:pt>
                <c:pt idx="3">
                  <c:v>17.624747713270054</c:v>
                </c:pt>
                <c:pt idx="4">
                  <c:v>19.143416614965457</c:v>
                </c:pt>
                <c:pt idx="5">
                  <c:v>18.19374979685177</c:v>
                </c:pt>
              </c:numCache>
            </c:numRef>
          </c:val>
        </c:ser>
        <c:ser>
          <c:idx val="1"/>
          <c:order val="1"/>
          <c:tx>
            <c:strRef>
              <c:strCache>
                <c:ptCount val="1"/>
                <c:pt idx="0">
                  <c:v>Gluten-free</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48.347727638202386</c:v>
                </c:pt>
                <c:pt idx="1">
                  <c:v>50.90329763892982</c:v>
                </c:pt>
                <c:pt idx="2">
                  <c:v>45.72915760078426</c:v>
                </c:pt>
                <c:pt idx="3">
                  <c:v>50.66829247847434</c:v>
                </c:pt>
                <c:pt idx="4">
                  <c:v>45.563344083624834</c:v>
                </c:pt>
                <c:pt idx="5">
                  <c:v>47.52706494802955</c:v>
                </c:pt>
              </c:numCache>
            </c:numRef>
          </c:val>
        </c:ser>
        <c:ser>
          <c:idx val="2"/>
          <c:order val="2"/>
          <c:tx>
            <c:strRef>
              <c:strCache>
                <c:ptCount val="1"/>
                <c:pt idx="0">
                  <c:v>Vegan</c:v>
                </c:pt>
              </c:strCache>
            </c:strRef>
          </c:tx>
          <c:spPr>
            <a:solidFill>
              <a:srgbClr val="008189"/>
            </a:solidFill>
            <a:ln>
              <a:noFill/>
            </a:ln>
          </c:spPr>
          <c:dLbls>
            <c:dLbl>
              <c:idx val="0"/>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5.074093987203499</c:v>
                </c:pt>
                <c:pt idx="1">
                  <c:v>3.8282738972394146</c:v>
                </c:pt>
                <c:pt idx="2">
                  <c:v>4.943090925075646</c:v>
                </c:pt>
                <c:pt idx="3">
                  <c:v>4.959835045203128</c:v>
                </c:pt>
                <c:pt idx="4">
                  <c:v>4.7425022699418165</c:v>
                </c:pt>
                <c:pt idx="5">
                  <c:v>5.03940235005606</c:v>
                </c:pt>
              </c:numCache>
            </c:numRef>
          </c:val>
        </c:ser>
        <c:ser>
          <c:idx val="3"/>
          <c:order val="3"/>
          <c:tx>
            <c:strRef>
              <c:strCache>
                <c:ptCount val="1"/>
                <c:pt idx="0">
                  <c:v>Gluten-free and vegan</c:v>
                </c:pt>
              </c:strCache>
            </c:strRef>
          </c:tx>
          <c:spPr>
            <a:solidFill>
              <a:srgbClr val="40315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29.00727214251255</c:v>
                </c:pt>
                <c:pt idx="1">
                  <c:v>28.424141205750402</c:v>
                </c:pt>
                <c:pt idx="2">
                  <c:v>29.36594856778571</c:v>
                </c:pt>
                <c:pt idx="3">
                  <c:v>26.747124763052476</c:v>
                </c:pt>
                <c:pt idx="4">
                  <c:v>30.55073703146789</c:v>
                </c:pt>
                <c:pt idx="5">
                  <c:v>29.23978290506262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c:v>
                </c:pt>
              </c:strCache>
            </c:strRef>
          </c:tx>
          <c:spPr>
            <a:solidFill>
              <a:srgbClr val="3D85C6"/>
            </a:solidFill>
          </c:spPr>
          <c:invertIfNegative val="0"/>
          <c:xVal>
            <c:numRef>
              <c:numCache>
                <c:formatCode>General</c:formatCode>
                <c:ptCount val="1"/>
                <c:pt idx="0">
                  <c:v>123.11944327301727</c:v>
                </c:pt>
              </c:numCache>
            </c:numRef>
          </c:xVal>
          <c:yVal>
            <c:numRef>
              <c:numCache>
                <c:formatCode>General</c:formatCode>
                <c:ptCount val="1"/>
                <c:pt idx="0">
                  <c:v>66.17658715596329</c:v>
                </c:pt>
              </c:numCache>
            </c:numRef>
          </c:yVal>
          <c:bubbleSize>
            <c:numRef>
              <c:numCache>
                <c:formatCode>General</c:formatCode>
                <c:ptCount val="1"/>
                <c:pt idx="0">
                  <c:v>3275.17</c:v>
                </c:pt>
              </c:numCache>
            </c:numRef>
          </c:bubbleSize>
          <c:bubble3D val="0"/>
        </c:ser>
        <c:ser>
          <c:idx val="1"/>
          <c:order val="1"/>
          <c:tx>
            <c:strRef>
              <c:strCache>
                <c:ptCount val="1"/>
                <c:pt idx="0">
                  <c:v>Gluten-free</c:v>
                </c:pt>
              </c:strCache>
            </c:strRef>
          </c:tx>
          <c:spPr>
            <a:solidFill>
              <a:srgbClr val="9E7E0A"/>
            </a:solidFill>
          </c:spPr>
          <c:invertIfNegative val="0"/>
          <c:xVal>
            <c:numRef>
              <c:numCache>
                <c:formatCode>General</c:formatCode>
                <c:ptCount val="1"/>
                <c:pt idx="0">
                  <c:v>109.08794041952822</c:v>
                </c:pt>
              </c:numCache>
            </c:numRef>
          </c:xVal>
          <c:yVal>
            <c:numRef>
              <c:numCache>
                <c:formatCode>General</c:formatCode>
                <c:ptCount val="1"/>
                <c:pt idx="0">
                  <c:v>181.96033027522935</c:v>
                </c:pt>
              </c:numCache>
            </c:numRef>
          </c:yVal>
          <c:bubbleSize>
            <c:numRef>
              <c:numCache>
                <c:formatCode>General</c:formatCode>
                <c:ptCount val="1"/>
                <c:pt idx="0">
                  <c:v>8428.285</c:v>
                </c:pt>
              </c:numCache>
            </c:numRef>
          </c:bubbleSize>
          <c:bubble3D val="0"/>
        </c:ser>
        <c:ser>
          <c:idx val="2"/>
          <c:order val="2"/>
          <c:tx>
            <c:strRef>
              <c:strCache>
                <c:ptCount val="1"/>
                <c:pt idx="0">
                  <c:v>Vegan</c:v>
                </c:pt>
              </c:strCache>
            </c:strRef>
          </c:tx>
          <c:spPr>
            <a:solidFill>
              <a:srgbClr val="008189"/>
            </a:solidFill>
          </c:spPr>
          <c:invertIfNegative val="0"/>
          <c:xVal>
            <c:numRef>
              <c:numCache>
                <c:formatCode>General</c:formatCode>
                <c:ptCount val="1"/>
                <c:pt idx="0">
                  <c:v>43.6809565536532</c:v>
                </c:pt>
              </c:numCache>
            </c:numRef>
          </c:xVal>
          <c:yVal>
            <c:numRef>
              <c:numCache>
                <c:formatCode>General</c:formatCode>
                <c:ptCount val="1"/>
                <c:pt idx="0">
                  <c:v>25.349688073394493</c:v>
                </c:pt>
              </c:numCache>
            </c:numRef>
          </c:yVal>
          <c:bubbleSize>
            <c:numRef>
              <c:numCache>
                <c:formatCode>General</c:formatCode>
                <c:ptCount val="1"/>
                <c:pt idx="0">
                  <c:v>857.169</c:v>
                </c:pt>
              </c:numCache>
            </c:numRef>
          </c:bubbleSize>
          <c:bubble3D val="0"/>
        </c:ser>
        <c:ser>
          <c:idx val="3"/>
          <c:order val="3"/>
          <c:tx>
            <c:strRef>
              <c:strCache>
                <c:ptCount val="1"/>
                <c:pt idx="0">
                  <c:v>Gluten-free and vegan</c:v>
                </c:pt>
              </c:strCache>
            </c:strRef>
          </c:tx>
          <c:spPr>
            <a:solidFill>
              <a:srgbClr val="40315E"/>
            </a:solidFill>
          </c:spPr>
          <c:invertIfNegative val="0"/>
          <c:xVal>
            <c:numRef>
              <c:numCache>
                <c:formatCode>General</c:formatCode>
                <c:ptCount val="1"/>
                <c:pt idx="0">
                  <c:v>83.40176873790008</c:v>
                </c:pt>
              </c:numCache>
            </c:numRef>
          </c:xVal>
          <c:yVal>
            <c:numRef>
              <c:numCache>
                <c:formatCode>General</c:formatCode>
                <c:ptCount val="1"/>
                <c:pt idx="0">
                  <c:v>126.51339449541284</c:v>
                </c:pt>
              </c:numCache>
            </c:numRef>
          </c:yVal>
          <c:bubbleSize>
            <c:numRef>
              <c:numCache>
                <c:formatCode>General</c:formatCode>
                <c:ptCount val="1"/>
                <c:pt idx="0">
                  <c:v>5184.885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1803.312</c:v>
                </c:pt>
                <c:pt idx="2">
                  <c:v>2037.598</c:v>
                </c:pt>
                <c:pt idx="3">
                  <c:v>2298.573</c:v>
                </c:pt>
                <c:pt idx="4">
                  <c:v>2589.404</c:v>
                </c:pt>
                <c:pt idx="5">
                  <c:v>2913.618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1803.312</c:v>
                </c:pt>
                <c:pt idx="1">
                  <c:v>234.28600000000006</c:v>
                </c:pt>
                <c:pt idx="2">
                  <c:v>260.9749999999999</c:v>
                </c:pt>
                <c:pt idx="3">
                  <c:v>290.83100000000013</c:v>
                </c:pt>
                <c:pt idx="4">
                  <c:v>324.21399999999994</c:v>
                </c:pt>
                <c:pt idx="5">
                  <c:v>361.55200000000013</c:v>
                </c:pt>
                <c:pt idx="6">
                  <c:v>3275.17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4958.419</c:v>
                </c:pt>
                <c:pt idx="2">
                  <c:v>5515.737</c:v>
                </c:pt>
                <c:pt idx="3">
                  <c:v>6134.021</c:v>
                </c:pt>
                <c:pt idx="4">
                  <c:v>6820.219</c:v>
                </c:pt>
                <c:pt idx="5">
                  <c:v>7582.078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4958.419</c:v>
                </c:pt>
                <c:pt idx="1">
                  <c:v>557.3180000000002</c:v>
                </c:pt>
                <c:pt idx="2">
                  <c:v>618.2839999999997</c:v>
                </c:pt>
                <c:pt idx="3">
                  <c:v>686.1980000000003</c:v>
                </c:pt>
                <c:pt idx="4">
                  <c:v>761.8590000000004</c:v>
                </c:pt>
                <c:pt idx="5">
                  <c:v>846.2069999999994</c:v>
                </c:pt>
                <c:pt idx="6">
                  <c:v>8428.285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690.779</c:v>
                </c:pt>
                <c:pt idx="2">
                  <c:v>720.308</c:v>
                </c:pt>
                <c:pt idx="3">
                  <c:v>751.648</c:v>
                </c:pt>
                <c:pt idx="4">
                  <c:v>784.858</c:v>
                </c:pt>
                <c:pt idx="5">
                  <c:v>820.013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690.779</c:v>
                </c:pt>
                <c:pt idx="1">
                  <c:v>29.528999999999996</c:v>
                </c:pt>
                <c:pt idx="2">
                  <c:v>31.340000000000032</c:v>
                </c:pt>
                <c:pt idx="3">
                  <c:v>33.20999999999992</c:v>
                </c:pt>
                <c:pt idx="4">
                  <c:v>35.155000000000086</c:v>
                </c:pt>
                <c:pt idx="5">
                  <c:v>37.15599999999995</c:v>
                </c:pt>
                <c:pt idx="6">
                  <c:v>857.169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3447.49</c:v>
                </c:pt>
                <c:pt idx="2">
                  <c:v>3732.413</c:v>
                </c:pt>
                <c:pt idx="3">
                  <c:v>4045.525</c:v>
                </c:pt>
                <c:pt idx="4">
                  <c:v>4389.747</c:v>
                </c:pt>
                <c:pt idx="5">
                  <c:v>4768.332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3447.49</c:v>
                </c:pt>
                <c:pt idx="1">
                  <c:v>284.92300000000023</c:v>
                </c:pt>
                <c:pt idx="2">
                  <c:v>313.1120000000001</c:v>
                </c:pt>
                <c:pt idx="3">
                  <c:v>344.2220000000002</c:v>
                </c:pt>
                <c:pt idx="4">
                  <c:v>378.58500000000004</c:v>
                </c:pt>
                <c:pt idx="5">
                  <c:v>416.5529999999999</c:v>
                </c:pt>
                <c:pt idx="6">
                  <c:v>5184.885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(base)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44.225102865232465</c:v>
                </c:pt>
                <c:pt idx="1">
                  <c:v>45.49008256880734</c:v>
                </c:pt>
                <c:pt idx="2">
                  <c:v>47.49531275772365</c:v>
                </c:pt>
              </c:numCache>
            </c:numRef>
          </c:val>
        </c:ser>
        <c:ser>
          <c:idx val="1"/>
          <c:order val="1"/>
          <c:tx>
            <c:strRef>
              <c:strCache>
                <c:ptCount val="1"/>
                <c:pt idx="0">
                  <c:v>and vegan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33.139764957068316</c:v>
                </c:pt>
                <c:pt idx="1">
                  <c:v>31.62834862385321</c:v>
                </c:pt>
                <c:pt idx="2">
                  <c:v>29.218012286939754</c:v>
                </c:pt>
              </c:numCache>
            </c:numRef>
          </c:val>
        </c:ser>
        <c:ser>
          <c:idx val="2"/>
          <c:order val="2"/>
          <c:tx>
            <c:strRef>
              <c:strCache>
                <c:ptCount val="1"/>
                <c:pt idx="0">
                  <c:v>Conventional</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15.353131163580802</c:v>
                </c:pt>
                <c:pt idx="1">
                  <c:v>16.544146788990822</c:v>
                </c:pt>
                <c:pt idx="2">
                  <c:v>18.456331683695293</c:v>
                </c:pt>
              </c:numCache>
            </c:numRef>
          </c:val>
        </c:ser>
        <c:ser>
          <c:idx val="3"/>
          <c:order val="3"/>
          <c:tx>
            <c:strRef>
              <c:strCache>
                <c:ptCount val="1"/>
                <c:pt idx="0">
                  <c:v>Vegan</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7.282001014118424</c:v>
                </c:pt>
                <c:pt idx="1">
                  <c:v>6.337422018348623</c:v>
                </c:pt>
                <c:pt idx="2">
                  <c:v>4.830343271641292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Standard / indulgent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20.04094945560452</c:v>
                </c:pt>
                <c:pt idx="1">
                  <c:v>18.964731309558896</c:v>
                </c:pt>
                <c:pt idx="2">
                  <c:v>16.131446422236486</c:v>
                </c:pt>
                <c:pt idx="3">
                  <c:v>18.17657024859452</c:v>
                </c:pt>
                <c:pt idx="4">
                  <c:v>19.143772606711988</c:v>
                </c:pt>
                <c:pt idx="5">
                  <c:v>18.49700573522473</c:v>
                </c:pt>
              </c:numCache>
            </c:numRef>
          </c:val>
        </c:ser>
        <c:ser>
          <c:idx val="1"/>
          <c:order val="1"/>
          <c:tx>
            <c:strRef>
              <c:strCache>
                <c:ptCount val="1"/>
                <c:pt idx="0">
                  <c:v>Protein-enriched</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22.734663446154148</c:v>
                </c:pt>
                <c:pt idx="1">
                  <c:v>23.931492942987198</c:v>
                </c:pt>
                <c:pt idx="2">
                  <c:v>25.542218921566068</c:v>
                </c:pt>
                <c:pt idx="3">
                  <c:v>24.217624877340363</c:v>
                </c:pt>
                <c:pt idx="4">
                  <c:v>21.570311237650795</c:v>
                </c:pt>
                <c:pt idx="5">
                  <c:v>24.465920974125176</c:v>
                </c:pt>
              </c:numCache>
            </c:numRef>
          </c:val>
        </c:ser>
        <c:ser>
          <c:idx val="2"/>
          <c:order val="2"/>
          <c:tx>
            <c:strRef>
              <c:strCache>
                <c:ptCount val="1"/>
                <c:pt idx="0">
                  <c:v>Fibre-enriched</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4.410066321549874</c:v>
                </c:pt>
                <c:pt idx="1">
                  <c:v>3.2760258047614372</c:v>
                </c:pt>
                <c:pt idx="2">
                  <c:v>4.205302972401871</c:v>
                </c:pt>
                <c:pt idx="3">
                  <c:v>4.731345689099787</c:v>
                </c:pt>
                <c:pt idx="4">
                  <c:v>3.5536876097270387</c:v>
                </c:pt>
                <c:pt idx="5">
                  <c:v>3.89082562055012</c:v>
                </c:pt>
              </c:numCache>
            </c:numRef>
          </c:val>
        </c:ser>
        <c:ser>
          <c:idx val="3"/>
          <c:order val="3"/>
          <c:tx>
            <c:strRef>
              <c:strCache>
                <c:ptCount val="1"/>
                <c:pt idx="0">
                  <c:v>Reduced-sugar</c:v>
                </c:pt>
              </c:strCache>
            </c:strRef>
          </c:tx>
          <c:spPr>
            <a:solidFill>
              <a:srgbClr val="40315E"/>
            </a:solidFill>
            <a:ln>
              <a:noFill/>
            </a:ln>
          </c:spPr>
          <c:dLbls>
            <c:dLbl>
              <c:idx val="0"/>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19.921154836372736</c:v>
                </c:pt>
                <c:pt idx="1">
                  <c:v>16.57104496184956</c:v>
                </c:pt>
                <c:pt idx="2">
                  <c:v>19.11069602562024</c:v>
                </c:pt>
                <c:pt idx="3">
                  <c:v>19.07328726962565</c:v>
                </c:pt>
                <c:pt idx="4">
                  <c:v>16.919298846566964</c:v>
                </c:pt>
                <c:pt idx="5">
                  <c:v>20.177522596621035</c:v>
                </c:pt>
              </c:numCache>
            </c:numRef>
          </c:val>
        </c:ser>
        <c:ser>
          <c:idx val="4"/>
          <c:order val="4"/>
          <c:tx>
            <c:strRef>
              <c:strCache>
                <c:ptCount val="1"/>
                <c:pt idx="0">
                  <c:v>No-added-sugar</c:v>
                </c:pt>
              </c:strCache>
            </c:strRef>
          </c:tx>
          <c:spPr>
            <a:solidFill>
              <a:srgbClr val="A35313"/>
            </a:solidFill>
            <a:ln>
              <a:noFill/>
            </a:ln>
          </c:spPr>
          <c:dLbls>
            <c:dLbl>
              <c:idx val="0"/>
              <c:numFmt formatCode="&quot;MMM&quot;;&quot;MMM&quot;;&quot;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7.986849393392535</c:v>
                </c:pt>
                <c:pt idx="1">
                  <c:v>8.816059206863805</c:v>
                </c:pt>
                <c:pt idx="2">
                  <c:v>8.886677979415273</c:v>
                </c:pt>
                <c:pt idx="3">
                  <c:v>8.24523371980931</c:v>
                </c:pt>
                <c:pt idx="4">
                  <c:v>9.288299322607038</c:v>
                </c:pt>
                <c:pt idx="5">
                  <c:v>7.593727455216791</c:v>
                </c:pt>
              </c:numCache>
            </c:numRef>
          </c:val>
        </c:ser>
        <c:ser>
          <c:idx val="5"/>
          <c:order val="5"/>
          <c:tx>
            <c:strRef>
              <c:strCache>
                <c:ptCount val="1"/>
                <c:pt idx="0">
                  <c:v>Reduced-fat</c:v>
                </c:pt>
              </c:strCache>
            </c:strRef>
          </c:tx>
          <c:spPr>
            <a:solidFill>
              <a:srgbClr val="808080"/>
            </a:solidFill>
            <a:ln>
              <a:noFill/>
            </a:ln>
          </c:spPr>
          <c:dLbls>
            <c:dLbl>
              <c:idx val="0"/>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12.917677137663915</c:v>
                </c:pt>
                <c:pt idx="1">
                  <c:v>14.855290303566168</c:v>
                </c:pt>
                <c:pt idx="2">
                  <c:v>13.475409792610899</c:v>
                </c:pt>
                <c:pt idx="3">
                  <c:v>13.693374024718159</c:v>
                </c:pt>
                <c:pt idx="4">
                  <c:v>16.15615142860477</c:v>
                </c:pt>
                <c:pt idx="5">
                  <c:v>14.002021955326446</c:v>
                </c:pt>
              </c:numCache>
            </c:numRef>
          </c:val>
        </c:ser>
        <c:ser>
          <c:idx val="6"/>
          <c:order val="6"/>
          <c:tx>
            <c:strRef>
              <c:strCache>
                <c:ptCount val="1"/>
                <c:pt idx="0">
                  <c:v>Other nutrition-focused formulations</c:v>
                </c:pt>
              </c:strCache>
            </c:strRef>
          </c:tx>
          <c:spPr>
            <a:solidFill>
              <a:srgbClr val="0E72AE"/>
            </a:solidFill>
            <a:ln>
              <a:noFill/>
            </a:ln>
          </c:spPr>
          <c:dLbls>
            <c:dLbl>
              <c:idx val="0"/>
              <c:numFmt formatCode="&quot;MMMM&quot;;&quot;MMMM&quot;;&quot;M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4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4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11.988639409262278</c:v>
                </c:pt>
                <c:pt idx="1">
                  <c:v>13.585355470412944</c:v>
                </c:pt>
                <c:pt idx="2">
                  <c:v>12.648247886149155</c:v>
                </c:pt>
                <c:pt idx="3">
                  <c:v>11.862564170812211</c:v>
                </c:pt>
                <c:pt idx="4">
                  <c:v>13.36847894813141</c:v>
                </c:pt>
                <c:pt idx="5">
                  <c:v>11.372975662935715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Standard / indulgent</c:v>
                </c:pt>
              </c:strCache>
            </c:strRef>
          </c:tx>
          <c:spPr>
            <a:solidFill>
              <a:srgbClr val="3D85C6"/>
            </a:solidFill>
          </c:spPr>
          <c:invertIfNegative val="0"/>
          <c:xVal>
            <c:numRef>
              <c:numCache>
                <c:formatCode>General</c:formatCode>
                <c:ptCount val="1"/>
                <c:pt idx="0">
                  <c:v>92.73917802414121</c:v>
                </c:pt>
              </c:numCache>
            </c:numRef>
          </c:xVal>
          <c:yVal>
            <c:numRef>
              <c:numCache>
                <c:formatCode>General</c:formatCode>
                <c:ptCount val="1"/>
                <c:pt idx="0">
                  <c:v>133.95116513761468</c:v>
                </c:pt>
              </c:numCache>
            </c:numRef>
          </c:yVal>
          <c:bubbleSize>
            <c:numRef>
              <c:numCache>
                <c:formatCode>General</c:formatCode>
                <c:ptCount val="1"/>
                <c:pt idx="0">
                  <c:v>3280.281</c:v>
                </c:pt>
              </c:numCache>
            </c:numRef>
          </c:bubbleSize>
          <c:bubble3D val="0"/>
        </c:ser>
        <c:ser>
          <c:idx val="1"/>
          <c:order val="1"/>
          <c:tx>
            <c:strRef>
              <c:strCache>
                <c:ptCount val="1"/>
                <c:pt idx="0">
                  <c:v>Protein-enriched</c:v>
                </c:pt>
              </c:strCache>
            </c:strRef>
          </c:tx>
          <c:spPr>
            <a:solidFill>
              <a:srgbClr val="9E7E0A"/>
            </a:solidFill>
          </c:spPr>
          <c:invertIfNegative val="0"/>
          <c:xVal>
            <c:numRef>
              <c:numCache>
                <c:formatCode>General</c:formatCode>
                <c:ptCount val="1"/>
                <c:pt idx="0">
                  <c:v>124.62612336779469</c:v>
                </c:pt>
              </c:numCache>
            </c:numRef>
          </c:xVal>
          <c:yVal>
            <c:numRef>
              <c:numCache>
                <c:formatCode>General</c:formatCode>
                <c:ptCount val="1"/>
                <c:pt idx="0">
                  <c:v>146.91188990825688</c:v>
                </c:pt>
              </c:numCache>
            </c:numRef>
          </c:yVal>
          <c:bubbleSize>
            <c:numRef>
              <c:numCache>
                <c:formatCode>General</c:formatCode>
                <c:ptCount val="1"/>
                <c:pt idx="0">
                  <c:v>4184.331</c:v>
                </c:pt>
              </c:numCache>
            </c:numRef>
          </c:bubbleSize>
          <c:bubble3D val="0"/>
        </c:ser>
        <c:ser>
          <c:idx val="2"/>
          <c:order val="2"/>
          <c:tx>
            <c:strRef>
              <c:strCache>
                <c:ptCount val="1"/>
                <c:pt idx="0">
                  <c:v>Fibre-enriched</c:v>
                </c:pt>
              </c:strCache>
            </c:strRef>
          </c:tx>
          <c:spPr>
            <a:solidFill>
              <a:srgbClr val="008189"/>
            </a:solidFill>
          </c:spPr>
          <c:invertIfNegative val="0"/>
          <c:xVal>
            <c:numRef>
              <c:numCache>
                <c:formatCode>General</c:formatCode>
                <c:ptCount val="1"/>
                <c:pt idx="0">
                  <c:v>148.0187284444254</c:v>
                </c:pt>
              </c:numCache>
            </c:numRef>
          </c:xVal>
          <c:yVal>
            <c:numRef>
              <c:numCache>
                <c:formatCode>General</c:formatCode>
                <c:ptCount val="1"/>
                <c:pt idx="0">
                  <c:v>21.935302752293577</c:v>
                </c:pt>
              </c:numCache>
            </c:numRef>
          </c:yVal>
          <c:bubbleSize>
            <c:numRef>
              <c:numCache>
                <c:formatCode>General</c:formatCode>
                <c:ptCount val="1"/>
                <c:pt idx="0">
                  <c:v>696.977</c:v>
                </c:pt>
              </c:numCache>
            </c:numRef>
          </c:bubbleSize>
          <c:bubble3D val="0"/>
        </c:ser>
        <c:ser>
          <c:idx val="3"/>
          <c:order val="3"/>
          <c:tx>
            <c:strRef>
              <c:strCache>
                <c:ptCount val="1"/>
                <c:pt idx="0">
                  <c:v>Reduced-sugar</c:v>
                </c:pt>
              </c:strCache>
            </c:strRef>
          </c:tx>
          <c:spPr>
            <a:solidFill>
              <a:srgbClr val="40315E"/>
            </a:solidFill>
          </c:spPr>
          <c:invertIfNegative val="0"/>
          <c:xVal>
            <c:numRef>
              <c:numCache>
                <c:formatCode>General</c:formatCode>
                <c:ptCount val="1"/>
                <c:pt idx="0">
                  <c:v>118.18928963853594</c:v>
                </c:pt>
              </c:numCache>
            </c:numRef>
          </c:xVal>
          <c:yVal>
            <c:numRef>
              <c:numCache>
                <c:formatCode>General</c:formatCode>
                <c:ptCount val="1"/>
                <c:pt idx="0">
                  <c:v>119.71573394495411</c:v>
                </c:pt>
              </c:numCache>
            </c:numRef>
          </c:yVal>
          <c:bubbleSize>
            <c:numRef>
              <c:numCache>
                <c:formatCode>General</c:formatCode>
                <c:ptCount val="1"/>
                <c:pt idx="0">
                  <c:v>3307.933</c:v>
                </c:pt>
              </c:numCache>
            </c:numRef>
          </c:bubbleSize>
          <c:bubble3D val="0"/>
        </c:ser>
        <c:ser>
          <c:idx val="4"/>
          <c:order val="4"/>
          <c:tx>
            <c:strRef>
              <c:strCache>
                <c:ptCount val="1"/>
                <c:pt idx="0">
                  <c:v>No-added-sugar</c:v>
                </c:pt>
              </c:strCache>
            </c:strRef>
          </c:tx>
          <c:spPr>
            <a:solidFill>
              <a:srgbClr val="A35313"/>
            </a:solidFill>
          </c:spPr>
          <c:invertIfNegative val="0"/>
          <c:xVal>
            <c:numRef>
              <c:numCache>
                <c:formatCode>General</c:formatCode>
                <c:ptCount val="1"/>
                <c:pt idx="0">
                  <c:v>87.55424254938319</c:v>
                </c:pt>
              </c:numCache>
            </c:numRef>
          </c:xVal>
          <c:yVal>
            <c:numRef>
              <c:numCache>
                <c:formatCode>General</c:formatCode>
                <c:ptCount val="1"/>
                <c:pt idx="0">
                  <c:v>62.8347614678899</c:v>
                </c:pt>
              </c:numCache>
            </c:numRef>
          </c:yVal>
          <c:bubbleSize>
            <c:numRef>
              <c:numCache>
                <c:formatCode>General</c:formatCode>
                <c:ptCount val="1"/>
                <c:pt idx="0">
                  <c:v>1501.076</c:v>
                </c:pt>
              </c:numCache>
            </c:numRef>
          </c:bubbleSize>
          <c:bubble3D val="0"/>
        </c:ser>
        <c:ser>
          <c:idx val="5"/>
          <c:order val="5"/>
          <c:tx>
            <c:strRef>
              <c:strCache>
                <c:ptCount val="1"/>
                <c:pt idx="0">
                  <c:v>Reduced-fat</c:v>
                </c:pt>
              </c:strCache>
            </c:strRef>
          </c:tx>
          <c:spPr>
            <a:solidFill>
              <a:srgbClr val="808080"/>
            </a:solidFill>
          </c:spPr>
          <c:invertIfNegative val="0"/>
          <c:xVal>
            <c:numRef>
              <c:numCache>
                <c:formatCode>General</c:formatCode>
                <c:ptCount val="1"/>
                <c:pt idx="0">
                  <c:v>94.76374496425942</c:v>
                </c:pt>
              </c:numCache>
            </c:numRef>
          </c:xVal>
          <c:yVal>
            <c:numRef>
              <c:numCache>
                <c:formatCode>General</c:formatCode>
                <c:ptCount val="1"/>
                <c:pt idx="0">
                  <c:v>104.11022935779815</c:v>
                </c:pt>
              </c:numCache>
            </c:numRef>
          </c:yVal>
          <c:bubbleSize>
            <c:numRef>
              <c:numCache>
                <c:formatCode>General</c:formatCode>
                <c:ptCount val="1"/>
                <c:pt idx="0">
                  <c:v>2574.263</c:v>
                </c:pt>
              </c:numCache>
            </c:numRef>
          </c:bubbleSize>
          <c:bubble3D val="0"/>
        </c:ser>
        <c:ser>
          <c:idx val="6"/>
          <c:order val="6"/>
          <c:tx>
            <c:strRef>
              <c:strCache>
                <c:ptCount val="1"/>
                <c:pt idx="0">
                  <c:v>Other nutrition-focused formulations</c:v>
                </c:pt>
              </c:strCache>
            </c:strRef>
          </c:tx>
          <c:spPr>
            <a:solidFill>
              <a:srgbClr val="0E72AE"/>
            </a:solidFill>
          </c:spPr>
          <c:invertIfNegative val="0"/>
          <c:xVal>
            <c:numRef>
              <c:numCache>
                <c:formatCode>General</c:formatCode>
                <c:ptCount val="1"/>
                <c:pt idx="0">
                  <c:v>49.80094285914397</c:v>
                </c:pt>
              </c:numCache>
            </c:numRef>
          </c:xVal>
          <c:yVal>
            <c:numRef>
              <c:numCache>
                <c:formatCode>General</c:formatCode>
                <c:ptCount val="1"/>
                <c:pt idx="0">
                  <c:v>110.54091743119263</c:v>
                </c:pt>
              </c:numCache>
            </c:numRef>
          </c:yVal>
          <c:bubbleSize>
            <c:numRef>
              <c:numCache>
                <c:formatCode>General</c:formatCode>
                <c:ptCount val="1"/>
                <c:pt idx="0">
                  <c:v>2200.648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8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2085.811</c:v>
                </c:pt>
                <c:pt idx="2">
                  <c:v>2282.78</c:v>
                </c:pt>
                <c:pt idx="3">
                  <c:v>2498.777</c:v>
                </c:pt>
                <c:pt idx="4">
                  <c:v>2735.648</c:v>
                </c:pt>
                <c:pt idx="5">
                  <c:v>2995.408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2085.811</c:v>
                </c:pt>
                <c:pt idx="1">
                  <c:v>196.96900000000005</c:v>
                </c:pt>
                <c:pt idx="2">
                  <c:v>215.99699999999984</c:v>
                </c:pt>
                <c:pt idx="3">
                  <c:v>236.8710000000001</c:v>
                </c:pt>
                <c:pt idx="4">
                  <c:v>259.75999999999976</c:v>
                </c:pt>
                <c:pt idx="5">
                  <c:v>284.87300000000005</c:v>
                </c:pt>
                <c:pt idx="6">
                  <c:v>3280.281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2287.628</c:v>
                </c:pt>
                <c:pt idx="2">
                  <c:v>2578.152</c:v>
                </c:pt>
                <c:pt idx="3">
                  <c:v>2907.291</c:v>
                </c:pt>
                <c:pt idx="4">
                  <c:v>3280.428</c:v>
                </c:pt>
                <c:pt idx="5">
                  <c:v>3703.755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2287.628</c:v>
                </c:pt>
                <c:pt idx="1">
                  <c:v>290.5239999999999</c:v>
                </c:pt>
                <c:pt idx="2">
                  <c:v>329.1390000000001</c:v>
                </c:pt>
                <c:pt idx="3">
                  <c:v>373.1369999999997</c:v>
                </c:pt>
                <c:pt idx="4">
                  <c:v>423.3270000000002</c:v>
                </c:pt>
                <c:pt idx="5">
                  <c:v>480.576</c:v>
                </c:pt>
                <c:pt idx="6">
                  <c:v>4184.331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341.564</c:v>
                </c:pt>
                <c:pt idx="2">
                  <c:v>394.141</c:v>
                </c:pt>
                <c:pt idx="3">
                  <c:v>454.664</c:v>
                </c:pt>
                <c:pt idx="4">
                  <c:v>524.34</c:v>
                </c:pt>
                <c:pt idx="5">
                  <c:v>604.569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341.564</c:v>
                </c:pt>
                <c:pt idx="1">
                  <c:v>52.577</c:v>
                </c:pt>
                <c:pt idx="2">
                  <c:v>60.52299999999997</c:v>
                </c:pt>
                <c:pt idx="3">
                  <c:v>69.67600000000004</c:v>
                </c:pt>
                <c:pt idx="4">
                  <c:v>80.22899999999993</c:v>
                </c:pt>
                <c:pt idx="5">
                  <c:v>92.40800000000002</c:v>
                </c:pt>
                <c:pt idx="6">
                  <c:v>696.977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1864.145</c:v>
                </c:pt>
                <c:pt idx="2">
                  <c:v>2088.042</c:v>
                </c:pt>
                <c:pt idx="3">
                  <c:v>2340.302</c:v>
                </c:pt>
                <c:pt idx="4">
                  <c:v>2624.716</c:v>
                </c:pt>
                <c:pt idx="5">
                  <c:v>2945.613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1864.145</c:v>
                </c:pt>
                <c:pt idx="1">
                  <c:v>223.89699999999993</c:v>
                </c:pt>
                <c:pt idx="2">
                  <c:v>252.26000000000022</c:v>
                </c:pt>
                <c:pt idx="3">
                  <c:v>284.41399999999976</c:v>
                </c:pt>
                <c:pt idx="4">
                  <c:v>320.89699999999993</c:v>
                </c:pt>
                <c:pt idx="5">
                  <c:v>362.32000000000016</c:v>
                </c:pt>
                <c:pt idx="6">
                  <c:v>3307.933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978.427</c:v>
                </c:pt>
                <c:pt idx="2">
                  <c:v>1066.03</c:v>
                </c:pt>
                <c:pt idx="3">
                  <c:v>1161.421</c:v>
                </c:pt>
                <c:pt idx="4">
                  <c:v>1265.256</c:v>
                </c:pt>
                <c:pt idx="5">
                  <c:v>1378.23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978.427</c:v>
                </c:pt>
                <c:pt idx="1">
                  <c:v>87.60299999999995</c:v>
                </c:pt>
                <c:pt idx="2">
                  <c:v>95.39100000000008</c:v>
                </c:pt>
                <c:pt idx="3">
                  <c:v>103.83500000000004</c:v>
                </c:pt>
                <c:pt idx="4">
                  <c:v>112.97399999999993</c:v>
                </c:pt>
                <c:pt idx="5">
                  <c:v>122.846</c:v>
                </c:pt>
                <c:pt idx="6">
                  <c:v>1501.076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1621.145</c:v>
                </c:pt>
                <c:pt idx="2">
                  <c:v>1777.388</c:v>
                </c:pt>
                <c:pt idx="3">
                  <c:v>1949.163</c:v>
                </c:pt>
                <c:pt idx="4">
                  <c:v>2138.053</c:v>
                </c:pt>
                <c:pt idx="5">
                  <c:v>2345.778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1621.145</c:v>
                </c:pt>
                <c:pt idx="1">
                  <c:v>156.24299999999994</c:v>
                </c:pt>
                <c:pt idx="2">
                  <c:v>171.7750000000001</c:v>
                </c:pt>
                <c:pt idx="3">
                  <c:v>188.88999999999987</c:v>
                </c:pt>
                <c:pt idx="4">
                  <c:v>207.7249999999999</c:v>
                </c:pt>
                <c:pt idx="5">
                  <c:v>228.48500000000013</c:v>
                </c:pt>
                <c:pt idx="6">
                  <c:v>2574.263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1721.28</c:v>
                </c:pt>
                <c:pt idx="2">
                  <c:v>1819.523</c:v>
                </c:pt>
                <c:pt idx="3">
                  <c:v>1918.149</c:v>
                </c:pt>
                <c:pt idx="4">
                  <c:v>2015.787</c:v>
                </c:pt>
                <c:pt idx="5">
                  <c:v>2110.688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1721.28</c:v>
                </c:pt>
                <c:pt idx="1">
                  <c:v>98.24299999999994</c:v>
                </c:pt>
                <c:pt idx="2">
                  <c:v>98.62599999999998</c:v>
                </c:pt>
                <c:pt idx="3">
                  <c:v>97.63800000000015</c:v>
                </c:pt>
                <c:pt idx="4">
                  <c:v>94.90100000000007</c:v>
                </c:pt>
                <c:pt idx="5">
                  <c:v>89.96000000000004</c:v>
                </c:pt>
                <c:pt idx="6">
                  <c:v>2200.648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Protein-enriched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19.83386010777309</c:v>
                </c:pt>
                <c:pt idx="1">
                  <c:v>20.987412844036697</c:v>
                </c:pt>
                <c:pt idx="2">
                  <c:v>23.579661761181377</c:v>
                </c:pt>
              </c:numCache>
            </c:numRef>
          </c:val>
        </c:ser>
        <c:ser>
          <c:idx val="1"/>
          <c:order val="1"/>
          <c:tx>
            <c:strRef>
              <c:strCache>
                <c:ptCount val="1"/>
                <c:pt idx="0">
                  <c:v>Reduced-sugar</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16.41477937312757</c:v>
                </c:pt>
                <c:pt idx="1">
                  <c:v>17.10224770642202</c:v>
                </c:pt>
                <c:pt idx="2">
                  <c:v>18.64095867861553</c:v>
                </c:pt>
              </c:numCache>
            </c:numRef>
          </c:val>
        </c:ser>
        <c:ser>
          <c:idx val="2"/>
          <c:order val="2"/>
          <c:tx>
            <c:strRef>
              <c:strCache>
                <c:ptCount val="1"/>
                <c:pt idx="0">
                  <c:v>Standard / indulgent</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19.426417044192714</c:v>
                </c:pt>
                <c:pt idx="1">
                  <c:v>19.135880733944955</c:v>
                </c:pt>
                <c:pt idx="2">
                  <c:v>18.485133337116448</c:v>
                </c:pt>
              </c:numCache>
            </c:numRef>
          </c:val>
        </c:ser>
        <c:ser>
          <c:idx val="3"/>
          <c:order val="3"/>
          <c:tx>
            <c:strRef>
              <c:strCache>
                <c:ptCount val="1"/>
                <c:pt idx="0">
                  <c:v>Reduced-fat</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15.036033975436247</c:v>
                </c:pt>
                <c:pt idx="1">
                  <c:v>14.87288990825688</c:v>
                </c:pt>
                <c:pt idx="2">
                  <c:v>14.506560504970581</c:v>
                </c:pt>
              </c:numCache>
            </c:numRef>
          </c:val>
        </c:ser>
        <c:ser>
          <c:idx val="4"/>
          <c:order val="4"/>
          <c:tx>
            <c:strRef>
              <c:strCache>
                <c:ptCount val="1"/>
                <c:pt idx="0">
                  <c:v>Other nutrition-focused formulations</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17.30235745497128</c:v>
                </c:pt>
                <c:pt idx="1">
                  <c:v>15.791559633027521</c:v>
                </c:pt>
                <c:pt idx="2">
                  <c:v>12.401154568178347</c:v>
                </c:pt>
              </c:numCache>
            </c:numRef>
          </c:val>
        </c:ser>
        <c:ser>
          <c:idx val="5"/>
          <c:order val="5"/>
          <c:tx>
            <c:strRef>
              <c:strCache>
                <c:ptCount val="1"/>
                <c:pt idx="0">
                  <c:v>No-added-sugar</c:v>
                </c:pt>
              </c:strCache>
            </c:strRef>
          </c:tx>
          <c:spPr>
            <a:solidFill>
              <a:srgbClr val="808080"/>
            </a:solidFill>
            <a:ln>
              <a:noFill/>
            </a:ln>
          </c:spPr>
          <c:dLbls>
            <c:dLbl>
              <c:idx val="0"/>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9.20745680064268</c:v>
                </c:pt>
                <c:pt idx="1">
                  <c:v>8.976394495412844</c:v>
                </c:pt>
                <c:pt idx="2">
                  <c:v>8.458906419646796</c:v>
                </c:pt>
              </c:numCache>
            </c:numRef>
          </c:val>
        </c:ser>
        <c:ser>
          <c:idx val="6"/>
          <c:order val="6"/>
          <c:tx>
            <c:strRef>
              <c:strCache>
                <c:ptCount val="1"/>
                <c:pt idx="0">
                  <c:v>Fibre-enriched</c:v>
                </c:pt>
              </c:strCache>
            </c:strRef>
          </c:tx>
          <c:spPr>
            <a:solidFill>
              <a:srgbClr val="0E72A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2.7790952438564243</c:v>
                </c:pt>
                <c:pt idx="1">
                  <c:v>3.1336146788990824</c:v>
                </c:pt>
                <c:pt idx="2">
                  <c:v>3.927624730290914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Organic-certified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16.099665874533205</c:v>
                </c:pt>
                <c:pt idx="1">
                  <c:v>16.90428005370534</c:v>
                </c:pt>
                <c:pt idx="2">
                  <c:v>17.952899086954275</c:v>
                </c:pt>
                <c:pt idx="3">
                  <c:v>16.050729130794167</c:v>
                </c:pt>
                <c:pt idx="4">
                  <c:v>15.606163957536515</c:v>
                </c:pt>
                <c:pt idx="5">
                  <c:v>13.679730794506648</c:v>
                </c:pt>
              </c:numCache>
            </c:numRef>
          </c:val>
        </c:ser>
        <c:ser>
          <c:idx val="1"/>
          <c:order val="1"/>
          <c:tx>
            <c:strRef>
              <c:strCache>
                <c:ptCount val="1"/>
                <c:pt idx="0">
                  <c:v>Conventional / non-organic</c:v>
                </c:pt>
              </c:strCache>
            </c:strRef>
          </c:tx>
          <c:spPr>
            <a:solidFill>
              <a:srgbClr val="9E7E0A"/>
            </a:solidFill>
            <a:ln>
              <a:noFill/>
            </a:ln>
          </c:spPr>
          <c:dLbls>
            <c:dLbl>
              <c:idx val="0"/>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1.5092497689385138</c:v>
                </c:pt>
                <c:pt idx="1">
                  <c:v>1.5781510953924747</c:v>
                </c:pt>
                <c:pt idx="2">
                  <c:v>1.2939563680156994</c:v>
                </c:pt>
                <c:pt idx="3">
                  <c:v>1.724213174347144</c:v>
                </c:pt>
                <c:pt idx="4">
                  <c:v>1.6913761197176513</c:v>
                </c:pt>
                <c:pt idx="5">
                  <c:v>1.510376718073598</c:v>
                </c:pt>
              </c:numCache>
            </c:numRef>
          </c:val>
        </c:ser>
        <c:ser>
          <c:idx val="2"/>
          <c:order val="2"/>
          <c:tx>
            <c:strRef>
              <c:strCache>
                <c:ptCount val="1"/>
                <c:pt idx="0">
                  <c:v>Additional claim mapping</c:v>
                </c:pt>
              </c:strCache>
            </c:strRef>
          </c:tx>
          <c:spPr>
            <a:solidFill>
              <a:srgbClr val="008189"/>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82.39108435652828</c:v>
                </c:pt>
                <c:pt idx="1">
                  <c:v>81.51756885090218</c:v>
                </c:pt>
                <c:pt idx="2">
                  <c:v>80.75314454503003</c:v>
                </c:pt>
                <c:pt idx="3">
                  <c:v>82.22505769485868</c:v>
                </c:pt>
                <c:pt idx="4">
                  <c:v>82.70245992274585</c:v>
                </c:pt>
                <c:pt idx="5">
                  <c:v>84.80989248741975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Organic-certified</c:v>
                </c:pt>
              </c:strCache>
            </c:strRef>
          </c:tx>
          <c:spPr>
            <a:solidFill>
              <a:srgbClr val="3D85C6"/>
            </a:solidFill>
          </c:spPr>
          <c:invertIfNegative val="0"/>
          <c:xVal>
            <c:numRef>
              <c:numCache>
                <c:formatCode>General</c:formatCode>
                <c:ptCount val="1"/>
                <c:pt idx="0">
                  <c:v>67.96817505042651</c:v>
                </c:pt>
              </c:numCache>
            </c:numRef>
          </c:xVal>
          <c:yVal>
            <c:numRef>
              <c:numCache>
                <c:formatCode>General</c:formatCode>
                <c:ptCount val="1"/>
                <c:pt idx="0">
                  <c:v>54.31593577981651</c:v>
                </c:pt>
              </c:numCache>
            </c:numRef>
          </c:yVal>
          <c:bubbleSize>
            <c:numRef>
              <c:numCache>
                <c:formatCode>General</c:formatCode>
                <c:ptCount val="1"/>
                <c:pt idx="0">
                  <c:v>2755.571</c:v>
                </c:pt>
              </c:numCache>
            </c:numRef>
          </c:bubbleSize>
          <c:bubble3D val="0"/>
        </c:ser>
        <c:ser>
          <c:idx val="1"/>
          <c:order val="1"/>
          <c:tx>
            <c:strRef>
              <c:strCache>
                <c:ptCount val="1"/>
                <c:pt idx="0">
                  <c:v>Conventional / non-organic</c:v>
                </c:pt>
              </c:strCache>
            </c:strRef>
          </c:tx>
          <c:spPr>
            <a:solidFill>
              <a:srgbClr val="9E7E0A"/>
            </a:solidFill>
          </c:spPr>
          <c:invertIfNegative val="0"/>
          <c:xVal>
            <c:numRef>
              <c:numCache>
                <c:formatCode>General</c:formatCode>
                <c:ptCount val="1"/>
                <c:pt idx="0">
                  <c:v>61.66954799273161</c:v>
                </c:pt>
              </c:numCache>
            </c:numRef>
          </c:xVal>
          <c:yVal>
            <c:numRef>
              <c:numCache>
                <c:formatCode>General</c:formatCode>
                <c:ptCount val="1"/>
                <c:pt idx="0">
                  <c:v>5.654311926605505</c:v>
                </c:pt>
              </c:numCache>
            </c:numRef>
          </c:yVal>
          <c:bubbleSize>
            <c:numRef>
              <c:numCache>
                <c:formatCode>General</c:formatCode>
                <c:ptCount val="1"/>
                <c:pt idx="0">
                  <c:v>278.247</c:v>
                </c:pt>
              </c:numCache>
            </c:numRef>
          </c:bubbleSize>
          <c:bubble3D val="0"/>
        </c:ser>
        <c:ser>
          <c:idx val="2"/>
          <c:order val="2"/>
          <c:tx>
            <c:strRef>
              <c:strCache>
                <c:ptCount val="1"/>
                <c:pt idx="0">
                  <c:v>Additional claim mapping</c:v>
                </c:pt>
              </c:strCache>
            </c:strRef>
          </c:tx>
          <c:spPr>
            <a:solidFill>
              <a:srgbClr val="008189"/>
            </a:solidFill>
          </c:spPr>
          <c:invertIfNegative val="0"/>
          <c:xVal>
            <c:numRef>
              <c:numCache>
                <c:formatCode>General</c:formatCode>
                <c:ptCount val="1"/>
                <c:pt idx="0">
                  <c:v>107.4824484430546</c:v>
                </c:pt>
              </c:numCache>
            </c:numRef>
          </c:xVal>
          <c:yVal>
            <c:numRef>
              <c:numCache>
                <c:formatCode>General</c:formatCode>
                <c:ptCount val="1"/>
                <c:pt idx="0">
                  <c:v>240.02975229357796</c:v>
                </c:pt>
              </c:numCache>
            </c:numRef>
          </c:yVal>
          <c:bubbleSize>
            <c:numRef>
              <c:numCache>
                <c:formatCode>General</c:formatCode>
                <c:ptCount val="1"/>
                <c:pt idx="0">
                  <c:v>14711.691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1973.479</c:v>
                </c:pt>
                <c:pt idx="2">
                  <c:v>2113.133</c:v>
                </c:pt>
                <c:pt idx="3">
                  <c:v>2261.044</c:v>
                </c:pt>
                <c:pt idx="4">
                  <c:v>2417.372</c:v>
                </c:pt>
                <c:pt idx="5">
                  <c:v>2582.224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1973.479</c:v>
                </c:pt>
                <c:pt idx="1">
                  <c:v>139.65399999999977</c:v>
                </c:pt>
                <c:pt idx="2">
                  <c:v>147.91100000000006</c:v>
                </c:pt>
                <c:pt idx="3">
                  <c:v>156.32799999999997</c:v>
                </c:pt>
                <c:pt idx="4">
                  <c:v>164.85200000000032</c:v>
                </c:pt>
                <c:pt idx="5">
                  <c:v>173.34699999999975</c:v>
                </c:pt>
                <c:pt idx="6">
                  <c:v>2755.571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205.44</c:v>
                </c:pt>
                <c:pt idx="2">
                  <c:v>218.855</c:v>
                </c:pt>
                <c:pt idx="3">
                  <c:v>232.88</c:v>
                </c:pt>
                <c:pt idx="4">
                  <c:v>247.48</c:v>
                </c:pt>
                <c:pt idx="5">
                  <c:v>262.629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205.44</c:v>
                </c:pt>
                <c:pt idx="1">
                  <c:v>13.414999999999992</c:v>
                </c:pt>
                <c:pt idx="2">
                  <c:v>14.025000000000006</c:v>
                </c:pt>
                <c:pt idx="3">
                  <c:v>14.599999999999994</c:v>
                </c:pt>
                <c:pt idx="4">
                  <c:v>15.14900000000003</c:v>
                </c:pt>
                <c:pt idx="5">
                  <c:v>15.617999999999995</c:v>
                </c:pt>
                <c:pt idx="6">
                  <c:v>278.247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8721.081</c:v>
                </c:pt>
                <c:pt idx="2">
                  <c:v>9674.068</c:v>
                </c:pt>
                <c:pt idx="3">
                  <c:v>10735.843</c:v>
                </c:pt>
                <c:pt idx="4">
                  <c:v>11919.376</c:v>
                </c:pt>
                <c:pt idx="5">
                  <c:v>13239.188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8721.081</c:v>
                </c:pt>
                <c:pt idx="1">
                  <c:v>952.9869999999992</c:v>
                </c:pt>
                <c:pt idx="2">
                  <c:v>1061.7750000000015</c:v>
                </c:pt>
                <c:pt idx="3">
                  <c:v>1183.5329999999994</c:v>
                </c:pt>
                <c:pt idx="4">
                  <c:v>1319.812</c:v>
                </c:pt>
                <c:pt idx="5">
                  <c:v>1472.5030000000006</c:v>
                </c:pt>
                <c:pt idx="6">
                  <c:v>14711.691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Additional claim mapping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78.61890224262032</c:v>
                </c:pt>
                <c:pt idx="1">
                  <c:v>80.00991743119266</c:v>
                </c:pt>
                <c:pt idx="2">
                  <c:v>82.90374201157036</c:v>
                </c:pt>
              </c:numCache>
            </c:numRef>
          </c:val>
        </c:ser>
        <c:ser>
          <c:idx val="1"/>
          <c:order val="1"/>
          <c:tx>
            <c:strRef>
              <c:strCache>
                <c:ptCount val="1"/>
                <c:pt idx="0">
                  <c:v>Organic-certified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19.3445670479749</c:v>
                </c:pt>
                <c:pt idx="1">
                  <c:v>18.105311926605506</c:v>
                </c:pt>
                <c:pt idx="2">
                  <c:v>15.528272533630902</c:v>
                </c:pt>
              </c:numCache>
            </c:numRef>
          </c:val>
        </c:ser>
        <c:ser>
          <c:idx val="2"/>
          <c:order val="2"/>
          <c:tx>
            <c:strRef>
              <c:strCache>
                <c:ptCount val="1"/>
                <c:pt idx="0">
                  <c:v>Conventional / non-organic</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2.0365307094047926</c:v>
                </c:pt>
                <c:pt idx="1">
                  <c:v>1.8847706422018349</c:v>
                </c:pt>
                <c:pt idx="2">
                  <c:v>1.5679854547987322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Unfilled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36.21898943695717</c:v>
                </c:pt>
                <c:pt idx="1">
                  <c:v>35.53453187935946</c:v>
                </c:pt>
                <c:pt idx="2">
                  <c:v>37.44905618365706</c:v>
                </c:pt>
                <c:pt idx="3">
                  <c:v>38.515147573964136</c:v>
                </c:pt>
                <c:pt idx="4">
                  <c:v>37.10683925410236</c:v>
                </c:pt>
                <c:pt idx="5">
                  <c:v>35.655101196771895</c:v>
                </c:pt>
              </c:numCache>
            </c:numRef>
          </c:val>
        </c:ser>
        <c:ser>
          <c:idx val="1"/>
          <c:order val="1"/>
          <c:tx>
            <c:strRef>
              <c:strCache>
                <c:ptCount val="1"/>
                <c:pt idx="0">
                  <c:v>Filled muffins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63.78101056304284</c:v>
                </c:pt>
                <c:pt idx="1">
                  <c:v>64.46546812064054</c:v>
                </c:pt>
                <c:pt idx="2">
                  <c:v>62.55094381634293</c:v>
                </c:pt>
                <c:pt idx="3">
                  <c:v>61.48485242603585</c:v>
                </c:pt>
                <c:pt idx="4">
                  <c:v>62.89316074589764</c:v>
                </c:pt>
                <c:pt idx="5">
                  <c:v>64.34489880322812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Unfilled muffins</c:v>
                </c:pt>
              </c:strCache>
            </c:strRef>
          </c:tx>
          <c:spPr>
            <a:solidFill>
              <a:srgbClr val="3D85C6"/>
            </a:solidFill>
          </c:spPr>
          <c:invertIfNegative val="0"/>
          <c:xVal>
            <c:numRef>
              <c:numCache>
                <c:formatCode>General</c:formatCode>
                <c:ptCount val="1"/>
                <c:pt idx="0">
                  <c:v>95.19421257435849</c:v>
                </c:pt>
              </c:numCache>
            </c:numRef>
          </c:xVal>
          <c:yVal>
            <c:numRef>
              <c:numCache>
                <c:formatCode>General</c:formatCode>
                <c:ptCount val="1"/>
                <c:pt idx="0">
                  <c:v>75.09787155963302</c:v>
                </c:pt>
              </c:numCache>
            </c:numRef>
          </c:yVal>
          <c:bubbleSize>
            <c:numRef>
              <c:numCache>
                <c:formatCode>General</c:formatCode>
                <c:ptCount val="1"/>
                <c:pt idx="0">
                  <c:v>6512.483</c:v>
                </c:pt>
              </c:numCache>
            </c:numRef>
          </c:bubbleSize>
          <c:bubble3D val="0"/>
        </c:ser>
        <c:ser>
          <c:idx val="1"/>
          <c:order val="1"/>
          <c:tx>
            <c:strRef>
              <c:strCache>
                <c:ptCount val="1"/>
                <c:pt idx="0">
                  <c:v>Filled muffins</c:v>
                </c:pt>
              </c:strCache>
            </c:strRef>
          </c:tx>
          <c:spPr>
            <a:solidFill>
              <a:srgbClr val="9E7E0A"/>
            </a:solidFill>
          </c:spPr>
          <c:invertIfNegative val="0"/>
          <c:xVal>
            <c:numRef>
              <c:numCache>
                <c:formatCode>General</c:formatCode>
                <c:ptCount val="1"/>
                <c:pt idx="0">
                  <c:v>102.84259429822207</c:v>
                </c:pt>
              </c:numCache>
            </c:numRef>
          </c:xVal>
          <c:yVal>
            <c:numRef>
              <c:numCache>
                <c:formatCode>General</c:formatCode>
                <c:ptCount val="1"/>
                <c:pt idx="0">
                  <c:v>124.90212844036697</c:v>
                </c:pt>
              </c:numCache>
            </c:numRef>
          </c:yVal>
          <c:bubbleSize>
            <c:numRef>
              <c:numCache>
                <c:formatCode>General</c:formatCode>
                <c:ptCount val="1"/>
                <c:pt idx="0">
                  <c:v>11233.026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4092.834</c:v>
                </c:pt>
                <c:pt idx="2">
                  <c:v>4488.3060000000005</c:v>
                </c:pt>
                <c:pt idx="3">
                  <c:v>4923.603</c:v>
                </c:pt>
                <c:pt idx="4">
                  <c:v>5402.9</c:v>
                </c:pt>
                <c:pt idx="5">
                  <c:v>5930.817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4092.834</c:v>
                </c:pt>
                <c:pt idx="1">
                  <c:v>395.47200000000066</c:v>
                </c:pt>
                <c:pt idx="2">
                  <c:v>435.29699999999957</c:v>
                </c:pt>
                <c:pt idx="3">
                  <c:v>479.29699999999957</c:v>
                </c:pt>
                <c:pt idx="4">
                  <c:v>527.9170000000004</c:v>
                </c:pt>
                <c:pt idx="5">
                  <c:v>581.6660000000002</c:v>
                </c:pt>
                <c:pt idx="6">
                  <c:v>6512.483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6807.166</c:v>
                </c:pt>
                <c:pt idx="2">
                  <c:v>7517.75</c:v>
                </c:pt>
                <c:pt idx="3">
                  <c:v>8306.164</c:v>
                </c:pt>
                <c:pt idx="4">
                  <c:v>9181.328</c:v>
                </c:pt>
                <c:pt idx="5">
                  <c:v>10153.224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6807.166</c:v>
                </c:pt>
                <c:pt idx="1">
                  <c:v>710.5839999999998</c:v>
                </c:pt>
                <c:pt idx="2">
                  <c:v>788.4140000000007</c:v>
                </c:pt>
                <c:pt idx="3">
                  <c:v>875.1639999999989</c:v>
                </c:pt>
                <c:pt idx="4">
                  <c:v>971.8960000000006</c:v>
                </c:pt>
                <c:pt idx="5">
                  <c:v>1079.8019999999997</c:v>
                </c:pt>
                <c:pt idx="6">
                  <c:v>11233.026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Filled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62.04832393249895</c:v>
                </c:pt>
                <c:pt idx="1">
                  <c:v>62.45106422018348</c:v>
                </c:pt>
                <c:pt idx="2">
                  <c:v>63.30066948206445</c:v>
                </c:pt>
              </c:numCache>
            </c:numRef>
          </c:val>
        </c:ser>
        <c:ser>
          <c:idx val="1"/>
          <c:order val="1"/>
          <c:tx>
            <c:strRef>
              <c:strCache>
                <c:ptCount val="1"/>
                <c:pt idx="0">
                  <c:v>Unfilled muffins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37.95167606750105</c:v>
                </c:pt>
                <c:pt idx="1">
                  <c:v>37.54893577981651</c:v>
                </c:pt>
                <c:pt idx="2">
                  <c:v>36.69933051793556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Untopped</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7.364567106915276</c:v>
                </c:pt>
                <c:pt idx="1">
                  <c:v>6.594491927825262</c:v>
                </c:pt>
                <c:pt idx="2">
                  <c:v>8.24975049955313</c:v>
                </c:pt>
                <c:pt idx="3">
                  <c:v>7.566160588092195</c:v>
                </c:pt>
                <c:pt idx="4">
                  <c:v>6.352850712685589</c:v>
                </c:pt>
                <c:pt idx="5">
                  <c:v>6.9924087009833675</c:v>
                </c:pt>
              </c:numCache>
            </c:numRef>
          </c:val>
        </c:ser>
        <c:ser>
          <c:idx val="1"/>
          <c:order val="1"/>
          <c:tx>
            <c:strRef>
              <c:strCache>
                <c:ptCount val="1"/>
                <c:pt idx="0">
                  <c:v>Crumb / streusel-topped</c:v>
                </c:pt>
              </c:strCache>
            </c:strRef>
          </c:tx>
          <c:spPr>
            <a:solidFill>
              <a:srgbClr val="9E7E0A"/>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4.417944340577321</c:v>
                </c:pt>
                <c:pt idx="1">
                  <c:v>4.618593836984642</c:v>
                </c:pt>
                <c:pt idx="2">
                  <c:v>5.654459883994993</c:v>
                </c:pt>
                <c:pt idx="3">
                  <c:v>4.93127387569021</c:v>
                </c:pt>
                <c:pt idx="4">
                  <c:v>4.330046276949317</c:v>
                </c:pt>
                <c:pt idx="5">
                  <c:v>5.54143532675762</c:v>
                </c:pt>
              </c:numCache>
            </c:numRef>
          </c:val>
        </c:ser>
        <c:ser>
          <c:idx val="2"/>
          <c:order val="2"/>
          <c:tx>
            <c:strRef>
              <c:strCache>
                <c:ptCount val="1"/>
                <c:pt idx="0">
                  <c:v>Sugar-topped</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8.452545899612922</c:v>
                </c:pt>
                <c:pt idx="1">
                  <c:v>8.870812457019353</c:v>
                </c:pt>
                <c:pt idx="2">
                  <c:v>9.310972320581676</c:v>
                </c:pt>
                <c:pt idx="3">
                  <c:v>7.830124558673759</c:v>
                </c:pt>
                <c:pt idx="4">
                  <c:v>8.268303859524075</c:v>
                </c:pt>
                <c:pt idx="5">
                  <c:v>8.891709198589115</c:v>
                </c:pt>
              </c:numCache>
            </c:numRef>
          </c:val>
        </c:ser>
        <c:ser>
          <c:idx val="3"/>
          <c:order val="3"/>
          <c:tx>
            <c:strRef>
              <c:strCache>
                <c:ptCount val="1"/>
                <c:pt idx="0">
                  <c:v>Nut and seed-topped</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34.79802221114066</c:v>
                </c:pt>
                <c:pt idx="1">
                  <c:v>42.820381831876084</c:v>
                </c:pt>
                <c:pt idx="2">
                  <c:v>37.27618407235093</c:v>
                </c:pt>
                <c:pt idx="3">
                  <c:v>36.57290162902368</c:v>
                </c:pt>
                <c:pt idx="4">
                  <c:v>41.751542680344926</c:v>
                </c:pt>
                <c:pt idx="5">
                  <c:v>36.834145490370865</c:v>
                </c:pt>
              </c:numCache>
            </c:numRef>
          </c:val>
        </c:ser>
        <c:ser>
          <c:idx val="4"/>
          <c:order val="4"/>
          <c:tx>
            <c:strRef>
              <c:strCache>
                <c:ptCount val="1"/>
                <c:pt idx="0">
                  <c:v>Glazed / drizzled</c:v>
                </c:pt>
              </c:strCache>
            </c:strRef>
          </c:tx>
          <c:spPr>
            <a:solidFill>
              <a:srgbClr val="A35313"/>
            </a:solidFill>
            <a:ln>
              <a:noFill/>
            </a:ln>
          </c:spPr>
          <c:dLbls>
            <c:dLbl>
              <c:idx val="0"/>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34.58141729623138</c:v>
                </c:pt>
                <c:pt idx="1">
                  <c:v>26.12005108556833</c:v>
                </c:pt>
                <c:pt idx="2">
                  <c:v>27.695897059583668</c:v>
                </c:pt>
                <c:pt idx="3">
                  <c:v>31.088595365140076</c:v>
                </c:pt>
                <c:pt idx="4">
                  <c:v>28.802224236432316</c:v>
                </c:pt>
                <c:pt idx="5">
                  <c:v>32.12962482118286</c:v>
                </c:pt>
              </c:numCache>
            </c:numRef>
          </c:val>
        </c:ser>
        <c:ser>
          <c:idx val="5"/>
          <c:order val="5"/>
          <c:tx>
            <c:strRef>
              <c:strCache>
                <c:ptCount val="1"/>
                <c:pt idx="0">
                  <c:v>Other toppings</c:v>
                </c:pt>
              </c:strCache>
            </c:strRef>
          </c:tx>
          <c:spPr>
            <a:solidFill>
              <a:srgbClr val="808080"/>
            </a:solidFill>
            <a:ln>
              <a:noFill/>
            </a:ln>
          </c:spPr>
          <c:dLbls>
            <c:dLbl>
              <c:idx val="0"/>
              <c:numFmt formatCode="&quot;MMMM&quot;;&quot;MMMM&quot;;&quot;M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10.385503145522442</c:v>
                </c:pt>
                <c:pt idx="1">
                  <c:v>10.975668860726334</c:v>
                </c:pt>
                <c:pt idx="2">
                  <c:v>11.8127361639356</c:v>
                </c:pt>
                <c:pt idx="3">
                  <c:v>12.010943983380077</c:v>
                </c:pt>
                <c:pt idx="4">
                  <c:v>10.495032234063782</c:v>
                </c:pt>
                <c:pt idx="5">
                  <c:v>9.61067646211617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Untopped</c:v>
                </c:pt>
              </c:strCache>
            </c:strRef>
          </c:tx>
          <c:spPr>
            <a:solidFill>
              <a:srgbClr val="3D85C6"/>
            </a:solidFill>
          </c:spPr>
          <c:invertIfNegative val="0"/>
          <c:xVal>
            <c:numRef>
              <c:numCache>
                <c:formatCode>General</c:formatCode>
                <c:ptCount val="1"/>
                <c:pt idx="0">
                  <c:v>39.759596871487105</c:v>
                </c:pt>
              </c:numCache>
            </c:numRef>
          </c:xVal>
          <c:yVal>
            <c:numRef>
              <c:numCache>
                <c:formatCode>General</c:formatCode>
                <c:ptCount val="1"/>
                <c:pt idx="0">
                  <c:v>56.46814678899082</c:v>
                </c:pt>
              </c:numCache>
            </c:numRef>
          </c:yVal>
          <c:bubbleSize>
            <c:numRef>
              <c:numCache>
                <c:formatCode>General</c:formatCode>
                <c:ptCount val="1"/>
                <c:pt idx="0">
                  <c:v>1248.746</c:v>
                </c:pt>
              </c:numCache>
            </c:numRef>
          </c:bubbleSize>
          <c:bubble3D val="0"/>
        </c:ser>
        <c:ser>
          <c:idx val="1"/>
          <c:order val="1"/>
          <c:tx>
            <c:strRef>
              <c:strCache>
                <c:ptCount val="1"/>
                <c:pt idx="0">
                  <c:v>Crumb / streusel-topped</c:v>
                </c:pt>
              </c:strCache>
            </c:strRef>
          </c:tx>
          <c:spPr>
            <a:solidFill>
              <a:srgbClr val="9E7E0A"/>
            </a:solidFill>
          </c:spPr>
          <c:invertIfNegative val="0"/>
          <c:xVal>
            <c:numRef>
              <c:numCache>
                <c:formatCode>General</c:formatCode>
                <c:ptCount val="1"/>
                <c:pt idx="0">
                  <c:v>46.15050211182437</c:v>
                </c:pt>
              </c:numCache>
            </c:numRef>
          </c:xVal>
          <c:yVal>
            <c:numRef>
              <c:numCache>
                <c:formatCode>General</c:formatCode>
                <c:ptCount val="1"/>
                <c:pt idx="0">
                  <c:v>38.68398165137615</c:v>
                </c:pt>
              </c:numCache>
            </c:numRef>
          </c:yVal>
          <c:bubbleSize>
            <c:numRef>
              <c:numCache>
                <c:formatCode>General</c:formatCode>
                <c:ptCount val="1"/>
                <c:pt idx="0">
                  <c:v>882.618</c:v>
                </c:pt>
              </c:numCache>
            </c:numRef>
          </c:bubbleSize>
          <c:bubble3D val="0"/>
        </c:ser>
        <c:ser>
          <c:idx val="2"/>
          <c:order val="2"/>
          <c:tx>
            <c:strRef>
              <c:strCache>
                <c:ptCount val="1"/>
                <c:pt idx="0">
                  <c:v>Sugar-topped</c:v>
                </c:pt>
              </c:strCache>
            </c:strRef>
          </c:tx>
          <c:spPr>
            <a:solidFill>
              <a:srgbClr val="008189"/>
            </a:solidFill>
          </c:spPr>
          <c:invertIfNegative val="0"/>
          <c:xVal>
            <c:numRef>
              <c:numCache>
                <c:formatCode>General</c:formatCode>
                <c:ptCount val="1"/>
                <c:pt idx="0">
                  <c:v>48.945491448183375</c:v>
                </c:pt>
              </c:numCache>
            </c:numRef>
          </c:xVal>
          <c:yVal>
            <c:numRef>
              <c:numCache>
                <c:formatCode>General</c:formatCode>
                <c:ptCount val="1"/>
                <c:pt idx="0">
                  <c:v>65.9574495412844</c:v>
                </c:pt>
              </c:numCache>
            </c:numRef>
          </c:yVal>
          <c:bubbleSize>
            <c:numRef>
              <c:numCache>
                <c:formatCode>General</c:formatCode>
                <c:ptCount val="1"/>
                <c:pt idx="0">
                  <c:v>1525.553</c:v>
                </c:pt>
              </c:numCache>
            </c:numRef>
          </c:bubbleSize>
          <c:bubble3D val="0"/>
        </c:ser>
        <c:ser>
          <c:idx val="3"/>
          <c:order val="3"/>
          <c:tx>
            <c:strRef>
              <c:strCache>
                <c:ptCount val="1"/>
                <c:pt idx="0">
                  <c:v>Nut and seed-topped</c:v>
                </c:pt>
              </c:strCache>
            </c:strRef>
          </c:tx>
          <c:spPr>
            <a:solidFill>
              <a:srgbClr val="40315E"/>
            </a:solidFill>
          </c:spPr>
          <c:invertIfNegative val="0"/>
          <c:xVal>
            <c:numRef>
              <c:numCache>
                <c:formatCode>General</c:formatCode>
                <c:ptCount val="1"/>
                <c:pt idx="0">
                  <c:v>125.76702715783321</c:v>
                </c:pt>
              </c:numCache>
            </c:numRef>
          </c:xVal>
          <c:yVal>
            <c:numRef>
              <c:numCache>
                <c:formatCode>General</c:formatCode>
                <c:ptCount val="1"/>
                <c:pt idx="0">
                  <c:v>205.20302752293577</c:v>
                </c:pt>
              </c:numCache>
            </c:numRef>
          </c:yVal>
          <c:bubbleSize>
            <c:numRef>
              <c:numCache>
                <c:formatCode>General</c:formatCode>
                <c:ptCount val="1"/>
                <c:pt idx="0">
                  <c:v>6855.335</c:v>
                </c:pt>
              </c:numCache>
            </c:numRef>
          </c:bubbleSize>
          <c:bubble3D val="0"/>
        </c:ser>
        <c:ser>
          <c:idx val="4"/>
          <c:order val="4"/>
          <c:tx>
            <c:strRef>
              <c:strCache>
                <c:ptCount val="1"/>
                <c:pt idx="0">
                  <c:v>Glazed / drizzled</c:v>
                </c:pt>
              </c:strCache>
            </c:strRef>
          </c:tx>
          <c:spPr>
            <a:solidFill>
              <a:srgbClr val="A35313"/>
            </a:solidFill>
          </c:spPr>
          <c:invertIfNegative val="0"/>
          <c:xVal>
            <c:numRef>
              <c:numCache>
                <c:formatCode>General</c:formatCode>
                <c:ptCount val="1"/>
                <c:pt idx="0">
                  <c:v>103.94122561523156</c:v>
                </c:pt>
              </c:numCache>
            </c:numRef>
          </c:xVal>
          <c:yVal>
            <c:numRef>
              <c:numCache>
                <c:formatCode>General</c:formatCode>
                <c:ptCount val="1"/>
                <c:pt idx="0">
                  <c:v>177.4447155963303</c:v>
                </c:pt>
              </c:numCache>
            </c:numRef>
          </c:yVal>
          <c:bubbleSize>
            <c:numRef>
              <c:numCache>
                <c:formatCode>General</c:formatCode>
                <c:ptCount val="1"/>
                <c:pt idx="0">
                  <c:v>5347.302</c:v>
                </c:pt>
              </c:numCache>
            </c:numRef>
          </c:bubbleSize>
          <c:bubble3D val="0"/>
        </c:ser>
        <c:ser>
          <c:idx val="5"/>
          <c:order val="5"/>
          <c:tx>
            <c:strRef>
              <c:strCache>
                <c:ptCount val="1"/>
                <c:pt idx="0">
                  <c:v>Other toppings</c:v>
                </c:pt>
              </c:strCache>
            </c:strRef>
          </c:tx>
          <c:spPr>
            <a:solidFill>
              <a:srgbClr val="808080"/>
            </a:solidFill>
          </c:spPr>
          <c:invertIfNegative val="0"/>
          <c:xVal>
            <c:numRef>
              <c:numCache>
                <c:formatCode>General</c:formatCode>
                <c:ptCount val="1"/>
                <c:pt idx="0">
                  <c:v>126.56116117411077</c:v>
                </c:pt>
              </c:numCache>
            </c:numRef>
          </c:xVal>
          <c:yVal>
            <c:numRef>
              <c:numCache>
                <c:formatCode>General</c:formatCode>
                <c:ptCount val="1"/>
                <c:pt idx="0">
                  <c:v>56.24267889908256</c:v>
                </c:pt>
              </c:numCache>
            </c:numRef>
          </c:yVal>
          <c:bubbleSize>
            <c:numRef>
              <c:numCache>
                <c:formatCode>General</c:formatCode>
                <c:ptCount val="1"/>
                <c:pt idx="0">
                  <c:v>1885.955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1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1025.838</c:v>
                </c:pt>
                <c:pt idx="2">
                  <c:v>1071.744</c:v>
                </c:pt>
                <c:pt idx="3">
                  <c:v>1117.518</c:v>
                </c:pt>
                <c:pt idx="4">
                  <c:v>1162.677</c:v>
                </c:pt>
                <c:pt idx="5">
                  <c:v>1206.649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1025.838</c:v>
                </c:pt>
                <c:pt idx="1">
                  <c:v>45.90599999999995</c:v>
                </c:pt>
                <c:pt idx="2">
                  <c:v>45.774000000000115</c:v>
                </c:pt>
                <c:pt idx="3">
                  <c:v>45.15899999999988</c:v>
                </c:pt>
                <c:pt idx="4">
                  <c:v>43.97199999999998</c:v>
                </c:pt>
                <c:pt idx="5">
                  <c:v>42.09700000000021</c:v>
                </c:pt>
                <c:pt idx="6">
                  <c:v>1248.746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702.759</c:v>
                </c:pt>
                <c:pt idx="2">
                  <c:v>737.861</c:v>
                </c:pt>
                <c:pt idx="3">
                  <c:v>773.626</c:v>
                </c:pt>
                <c:pt idx="4">
                  <c:v>809.846</c:v>
                </c:pt>
                <c:pt idx="5">
                  <c:v>846.279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702.759</c:v>
                </c:pt>
                <c:pt idx="1">
                  <c:v>35.101999999999975</c:v>
                </c:pt>
                <c:pt idx="2">
                  <c:v>35.764999999999986</c:v>
                </c:pt>
                <c:pt idx="3">
                  <c:v>36.22000000000003</c:v>
                </c:pt>
                <c:pt idx="4">
                  <c:v>36.43299999999999</c:v>
                </c:pt>
                <c:pt idx="5">
                  <c:v>36.339000000000055</c:v>
                </c:pt>
                <c:pt idx="6">
                  <c:v>882.618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1198.227</c:v>
                </c:pt>
                <c:pt idx="2">
                  <c:v>1260.926</c:v>
                </c:pt>
                <c:pt idx="3">
                  <c:v>1325.309</c:v>
                </c:pt>
                <c:pt idx="4">
                  <c:v>1391.114</c:v>
                </c:pt>
                <c:pt idx="5">
                  <c:v>1457.998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1198.227</c:v>
                </c:pt>
                <c:pt idx="1">
                  <c:v>62.69899999999984</c:v>
                </c:pt>
                <c:pt idx="2">
                  <c:v>64.38300000000004</c:v>
                </c:pt>
                <c:pt idx="3">
                  <c:v>65.80500000000006</c:v>
                </c:pt>
                <c:pt idx="4">
                  <c:v>66.88400000000001</c:v>
                </c:pt>
                <c:pt idx="5">
                  <c:v>67.55500000000006</c:v>
                </c:pt>
                <c:pt idx="6">
                  <c:v>1525.553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3727.855</c:v>
                </c:pt>
                <c:pt idx="2">
                  <c:v>4214.889</c:v>
                </c:pt>
                <c:pt idx="3">
                  <c:v>4763.015</c:v>
                </c:pt>
                <c:pt idx="4">
                  <c:v>5379.885</c:v>
                </c:pt>
                <c:pt idx="5">
                  <c:v>6074.101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3727.855</c:v>
                </c:pt>
                <c:pt idx="1">
                  <c:v>487.0340000000001</c:v>
                </c:pt>
                <c:pt idx="2">
                  <c:v>548.1260000000002</c:v>
                </c:pt>
                <c:pt idx="3">
                  <c:v>616.8699999999999</c:v>
                </c:pt>
                <c:pt idx="4">
                  <c:v>694.2159999999994</c:v>
                </c:pt>
                <c:pt idx="5">
                  <c:v>781.2340000000004</c:v>
                </c:pt>
                <c:pt idx="6">
                  <c:v>6855.335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3223.579</c:v>
                </c:pt>
                <c:pt idx="2">
                  <c:v>3564.559</c:v>
                </c:pt>
                <c:pt idx="3">
                  <c:v>3942.917</c:v>
                </c:pt>
                <c:pt idx="4">
                  <c:v>4362.897</c:v>
                </c:pt>
                <c:pt idx="5">
                  <c:v>4829.254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3223.579</c:v>
                </c:pt>
                <c:pt idx="1">
                  <c:v>340.98</c:v>
                </c:pt>
                <c:pt idx="2">
                  <c:v>378.3579999999997</c:v>
                </c:pt>
                <c:pt idx="3">
                  <c:v>419.98</c:v>
                </c:pt>
                <c:pt idx="4">
                  <c:v>466.35699999999997</c:v>
                </c:pt>
                <c:pt idx="5">
                  <c:v>518.0479999999998</c:v>
                </c:pt>
                <c:pt idx="6">
                  <c:v>5347.302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1021.742</c:v>
                </c:pt>
                <c:pt idx="2">
                  <c:v>1156.077</c:v>
                </c:pt>
                <c:pt idx="3">
                  <c:v>1307.382</c:v>
                </c:pt>
                <c:pt idx="4">
                  <c:v>1477.809</c:v>
                </c:pt>
                <c:pt idx="5">
                  <c:v>1669.76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1021.742</c:v>
                </c:pt>
                <c:pt idx="1">
                  <c:v>134.33500000000004</c:v>
                </c:pt>
                <c:pt idx="2">
                  <c:v>151.30500000000006</c:v>
                </c:pt>
                <c:pt idx="3">
                  <c:v>170.4269999999999</c:v>
                </c:pt>
                <c:pt idx="4">
                  <c:v>191.95100000000002</c:v>
                </c:pt>
                <c:pt idx="5">
                  <c:v>216.19499999999994</c:v>
                </c:pt>
                <c:pt idx="6">
                  <c:v>1885.955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Nut and seed-topped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31.89185834395225</c:v>
                </c:pt>
                <c:pt idx="1">
                  <c:v>34.20050458715596</c:v>
                </c:pt>
                <c:pt idx="2">
                  <c:v>38.63137991702577</c:v>
                </c:pt>
              </c:numCache>
            </c:numRef>
          </c:val>
        </c:ser>
        <c:ser>
          <c:idx val="1"/>
          <c:order val="1"/>
          <c:tx>
            <c:strRef>
              <c:strCache>
                <c:ptCount val="1"/>
                <c:pt idx="0">
                  <c:v>Glazed / drizzled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29.276867123775652</c:v>
                </c:pt>
                <c:pt idx="1">
                  <c:v>29.57411926605505</c:v>
                </c:pt>
                <c:pt idx="2">
                  <c:v>30.1332692119454</c:v>
                </c:pt>
              </c:numCache>
            </c:numRef>
          </c:val>
        </c:ser>
        <c:ser>
          <c:idx val="2"/>
          <c:order val="2"/>
          <c:tx>
            <c:strRef>
              <c:strCache>
                <c:ptCount val="1"/>
                <c:pt idx="0">
                  <c:v>Other toppings</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8.725402633969466</c:v>
                </c:pt>
                <c:pt idx="1">
                  <c:v>9.37377981651376</c:v>
                </c:pt>
                <c:pt idx="2">
                  <c:v>10.627787571492032</c:v>
                </c:pt>
              </c:numCache>
            </c:numRef>
          </c:val>
        </c:ser>
        <c:ser>
          <c:idx val="3"/>
          <c:order val="3"/>
          <c:tx>
            <c:strRef>
              <c:strCache>
                <c:ptCount val="1"/>
                <c:pt idx="0">
                  <c:v>Sugar-topped</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12.244548440091481</c:v>
                </c:pt>
                <c:pt idx="1">
                  <c:v>10.992908256880735</c:v>
                </c:pt>
                <c:pt idx="2">
                  <c:v>8.596839910311957</c:v>
                </c:pt>
              </c:numCache>
            </c:numRef>
          </c:val>
        </c:ser>
        <c:ser>
          <c:idx val="4"/>
          <c:order val="4"/>
          <c:tx>
            <c:strRef>
              <c:strCache>
                <c:ptCount val="1"/>
                <c:pt idx="0">
                  <c:v>Untopped</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10.64455104384839</c:v>
                </c:pt>
                <c:pt idx="1">
                  <c:v>9.411357798165138</c:v>
                </c:pt>
                <c:pt idx="2">
                  <c:v>7.036969184710341</c:v>
                </c:pt>
              </c:numCache>
            </c:numRef>
          </c:val>
        </c:ser>
        <c:ser>
          <c:idx val="5"/>
          <c:order val="5"/>
          <c:tx>
            <c:strRef>
              <c:strCache>
                <c:ptCount val="1"/>
                <c:pt idx="0">
                  <c:v>Crumb / streusel-topped</c:v>
                </c:pt>
              </c:strCache>
            </c:strRef>
          </c:tx>
          <c:spPr>
            <a:solidFill>
              <a:srgbClr val="808080"/>
            </a:solidFill>
            <a:ln>
              <a:noFill/>
            </a:ln>
          </c:spPr>
          <c:dLbls>
            <c:dLbl>
              <c:idx val="0"/>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7.216772414362772</c:v>
                </c:pt>
                <c:pt idx="1">
                  <c:v>6.447330275229358</c:v>
                </c:pt>
                <c:pt idx="2">
                  <c:v>4.973754204514506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Mini / bite-sized - below 30 g</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7.776335730308609</c:v>
                </c:pt>
                <c:pt idx="1">
                  <c:v>7.4360284245341735</c:v>
                </c:pt>
                <c:pt idx="2">
                  <c:v>8.421120527602326</c:v>
                </c:pt>
                <c:pt idx="3">
                  <c:v>7.138175135708763</c:v>
                </c:pt>
                <c:pt idx="4">
                  <c:v>7.328386762090913</c:v>
                </c:pt>
                <c:pt idx="5">
                  <c:v>5.920346467200948</c:v>
                </c:pt>
              </c:numCache>
            </c:numRef>
          </c:val>
        </c:ser>
        <c:ser>
          <c:idx val="1"/>
          <c:order val="1"/>
          <c:tx>
            <c:strRef>
              <c:strCache>
                <c:ptCount val="1"/>
                <c:pt idx="0">
                  <c:v>Small - 30 g to below 60 g</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23.245678865955107</c:v>
                </c:pt>
                <c:pt idx="1">
                  <c:v>26.295444870157514</c:v>
                </c:pt>
                <c:pt idx="2">
                  <c:v>24.361846555126675</c:v>
                </c:pt>
                <c:pt idx="3">
                  <c:v>21.657187325408508</c:v>
                </c:pt>
                <c:pt idx="4">
                  <c:v>24.036641834923856</c:v>
                </c:pt>
                <c:pt idx="5">
                  <c:v>22.23739892558405</c:v>
                </c:pt>
              </c:numCache>
            </c:numRef>
          </c:val>
        </c:ser>
        <c:ser>
          <c:idx val="2"/>
          <c:order val="2"/>
          <c:tx>
            <c:strRef>
              <c:strCache>
                <c:ptCount val="1"/>
                <c:pt idx="0">
                  <c:v>Standard - 60 g to below 100 g</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40.892928787581</c:v>
                </c:pt>
                <c:pt idx="1">
                  <c:v>42.23152241543047</c:v>
                </c:pt>
                <c:pt idx="2">
                  <c:v>39.771807045919125</c:v>
                </c:pt>
                <c:pt idx="3">
                  <c:v>42.50649539759006</c:v>
                </c:pt>
                <c:pt idx="4">
                  <c:v>42.50403012323049</c:v>
                </c:pt>
                <c:pt idx="5">
                  <c:v>44.29238475284286</c:v>
                </c:pt>
              </c:numCache>
            </c:numRef>
          </c:val>
        </c:ser>
        <c:ser>
          <c:idx val="3"/>
          <c:order val="3"/>
          <c:tx>
            <c:strRef>
              <c:strCache>
                <c:ptCount val="1"/>
                <c:pt idx="0">
                  <c:v>Large / jumbo - 100 g and above</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28.085056616155303</c:v>
                </c:pt>
                <c:pt idx="1">
                  <c:v>24.037004289877856</c:v>
                </c:pt>
                <c:pt idx="2">
                  <c:v>27.44522587135187</c:v>
                </c:pt>
                <c:pt idx="3">
                  <c:v>28.698142141292664</c:v>
                </c:pt>
                <c:pt idx="4">
                  <c:v>26.130941279754726</c:v>
                </c:pt>
                <c:pt idx="5">
                  <c:v>27.54986985437214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Mini / bite-sized - below 30 g</c:v>
                </c:pt>
              </c:strCache>
            </c:strRef>
          </c:tx>
          <c:spPr>
            <a:solidFill>
              <a:srgbClr val="3D85C6"/>
            </a:solidFill>
          </c:spPr>
          <c:invertIfNegative val="0"/>
          <c:xVal>
            <c:numRef>
              <c:numCache>
                <c:formatCode>General</c:formatCode>
                <c:ptCount val="1"/>
                <c:pt idx="0">
                  <c:v>135.79403545366864</c:v>
                </c:pt>
              </c:numCache>
            </c:numRef>
          </c:xVal>
          <c:yVal>
            <c:numRef>
              <c:numCache>
                <c:formatCode>General</c:formatCode>
                <c:ptCount val="1"/>
                <c:pt idx="0">
                  <c:v>23.847999999999995</c:v>
                </c:pt>
              </c:numCache>
            </c:numRef>
          </c:yVal>
          <c:bubbleSize>
            <c:numRef>
              <c:numCache>
                <c:formatCode>General</c:formatCode>
                <c:ptCount val="1"/>
                <c:pt idx="0">
                  <c:v>1252.575</c:v>
                </c:pt>
              </c:numCache>
            </c:numRef>
          </c:bubbleSize>
          <c:bubble3D val="0"/>
        </c:ser>
        <c:ser>
          <c:idx val="1"/>
          <c:order val="1"/>
          <c:tx>
            <c:strRef>
              <c:strCache>
                <c:ptCount val="1"/>
                <c:pt idx="0">
                  <c:v>Small - 30 g to below 60 g</c:v>
                </c:pt>
              </c:strCache>
            </c:strRef>
          </c:tx>
          <c:spPr>
            <a:solidFill>
              <a:srgbClr val="9E7E0A"/>
            </a:solidFill>
          </c:spPr>
          <c:invertIfNegative val="0"/>
          <c:xVal>
            <c:numRef>
              <c:numCache>
                <c:formatCode>General</c:formatCode>
                <c:ptCount val="1"/>
                <c:pt idx="0">
                  <c:v>58.7513888589663</c:v>
                </c:pt>
              </c:numCache>
            </c:numRef>
          </c:xVal>
          <c:yVal>
            <c:numRef>
              <c:numCache>
                <c:formatCode>General</c:formatCode>
                <c:ptCount val="1"/>
                <c:pt idx="0">
                  <c:v>113.94040366972476</c:v>
                </c:pt>
              </c:numCache>
            </c:numRef>
          </c:yVal>
          <c:bubbleSize>
            <c:numRef>
              <c:numCache>
                <c:formatCode>General</c:formatCode>
                <c:ptCount val="1"/>
                <c:pt idx="0">
                  <c:v>4146.149</c:v>
                </c:pt>
              </c:numCache>
            </c:numRef>
          </c:bubbleSize>
          <c:bubble3D val="0"/>
        </c:ser>
        <c:ser>
          <c:idx val="2"/>
          <c:order val="2"/>
          <c:tx>
            <c:strRef>
              <c:strCache>
                <c:ptCount val="1"/>
                <c:pt idx="0">
                  <c:v>Standard - 60 g to below 100 g</c:v>
                </c:pt>
              </c:strCache>
            </c:strRef>
          </c:tx>
          <c:spPr>
            <a:solidFill>
              <a:srgbClr val="008189"/>
            </a:solidFill>
          </c:spPr>
          <c:invertIfNegative val="0"/>
          <c:xVal>
            <c:numRef>
              <c:numCache>
                <c:formatCode>General</c:formatCode>
                <c:ptCount val="1"/>
                <c:pt idx="0">
                  <c:v>99.89370300994264</c:v>
                </c:pt>
              </c:numCache>
            </c:numRef>
          </c:xVal>
          <c:yVal>
            <c:numRef>
              <c:numCache>
                <c:formatCode>General</c:formatCode>
                <c:ptCount val="1"/>
                <c:pt idx="0">
                  <c:v>170.32649541284403</c:v>
                </c:pt>
              </c:numCache>
            </c:numRef>
          </c:yVal>
          <c:bubbleSize>
            <c:numRef>
              <c:numCache>
                <c:formatCode>General</c:formatCode>
                <c:ptCount val="1"/>
                <c:pt idx="0">
                  <c:v>7552.506</c:v>
                </c:pt>
              </c:numCache>
            </c:numRef>
          </c:bubbleSize>
          <c:bubble3D val="0"/>
        </c:ser>
        <c:ser>
          <c:idx val="3"/>
          <c:order val="3"/>
          <c:tx>
            <c:strRef>
              <c:strCache>
                <c:ptCount val="1"/>
                <c:pt idx="0">
                  <c:v>Large / jumbo - 100 g and above</c:v>
                </c:pt>
              </c:strCache>
            </c:strRef>
          </c:tx>
          <c:spPr>
            <a:solidFill>
              <a:srgbClr val="40315E"/>
            </a:solidFill>
          </c:spPr>
          <c:invertIfNegative val="0"/>
          <c:xVal>
            <c:numRef>
              <c:numCache>
                <c:formatCode>General</c:formatCode>
                <c:ptCount val="1"/>
                <c:pt idx="0">
                  <c:v>134.37984596113145</c:v>
                </c:pt>
              </c:numCache>
            </c:numRef>
          </c:xVal>
          <c:yVal>
            <c:numRef>
              <c:numCache>
                <c:formatCode>General</c:formatCode>
                <c:ptCount val="1"/>
                <c:pt idx="0">
                  <c:v>91.88510091743119</c:v>
                </c:pt>
              </c:numCache>
            </c:numRef>
          </c:yVal>
          <c:bubbleSize>
            <c:numRef>
              <c:numCache>
                <c:formatCode>General</c:formatCode>
                <c:ptCount val="1"/>
                <c:pt idx="0">
                  <c:v>4794.279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649.858</c:v>
                </c:pt>
                <c:pt idx="2">
                  <c:v>740.886</c:v>
                </c:pt>
                <c:pt idx="3">
                  <c:v>844.705</c:v>
                </c:pt>
                <c:pt idx="4">
                  <c:v>963.141</c:v>
                </c:pt>
                <c:pt idx="5">
                  <c:v>1098.301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649.858</c:v>
                </c:pt>
                <c:pt idx="1">
                  <c:v>91.02800000000002</c:v>
                </c:pt>
                <c:pt idx="2">
                  <c:v>103.81900000000007</c:v>
                </c:pt>
                <c:pt idx="3">
                  <c:v>118.43599999999992</c:v>
                </c:pt>
                <c:pt idx="4">
                  <c:v>135.15999999999997</c:v>
                </c:pt>
                <c:pt idx="5">
                  <c:v>154.27400000000011</c:v>
                </c:pt>
                <c:pt idx="6">
                  <c:v>1252.575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3104.876</c:v>
                </c:pt>
                <c:pt idx="2">
                  <c:v>3302.679</c:v>
                </c:pt>
                <c:pt idx="3">
                  <c:v>3507.061</c:v>
                </c:pt>
                <c:pt idx="4">
                  <c:v>3716.877</c:v>
                </c:pt>
                <c:pt idx="5">
                  <c:v>3930.58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3104.876</c:v>
                </c:pt>
                <c:pt idx="1">
                  <c:v>197.80299999999988</c:v>
                </c:pt>
                <c:pt idx="2">
                  <c:v>204.38200000000006</c:v>
                </c:pt>
                <c:pt idx="3">
                  <c:v>209.8159999999998</c:v>
                </c:pt>
                <c:pt idx="4">
                  <c:v>213.70299999999997</c:v>
                </c:pt>
                <c:pt idx="5">
                  <c:v>215.56900000000041</c:v>
                </c:pt>
                <c:pt idx="6">
                  <c:v>4146.149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4641.397</c:v>
                </c:pt>
                <c:pt idx="2">
                  <c:v>5111.906</c:v>
                </c:pt>
                <c:pt idx="3">
                  <c:v>5632.394</c:v>
                </c:pt>
                <c:pt idx="4">
                  <c:v>6208.411</c:v>
                </c:pt>
                <c:pt idx="5">
                  <c:v>6846.14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4641.397</c:v>
                </c:pt>
                <c:pt idx="1">
                  <c:v>470.509</c:v>
                </c:pt>
                <c:pt idx="2">
                  <c:v>520.4880000000003</c:v>
                </c:pt>
                <c:pt idx="3">
                  <c:v>576.0169999999998</c:v>
                </c:pt>
                <c:pt idx="4">
                  <c:v>637.7290000000003</c:v>
                </c:pt>
                <c:pt idx="5">
                  <c:v>706.366</c:v>
                </c:pt>
                <c:pt idx="6">
                  <c:v>7552.506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2503.869</c:v>
                </c:pt>
                <c:pt idx="2">
                  <c:v>2850.585</c:v>
                </c:pt>
                <c:pt idx="3">
                  <c:v>3245.607</c:v>
                </c:pt>
                <c:pt idx="4">
                  <c:v>3695.799</c:v>
                </c:pt>
                <c:pt idx="5">
                  <c:v>4209.02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2503.869</c:v>
                </c:pt>
                <c:pt idx="1">
                  <c:v>346.7159999999999</c:v>
                </c:pt>
                <c:pt idx="2">
                  <c:v>395.02199999999993</c:v>
                </c:pt>
                <c:pt idx="3">
                  <c:v>450.192</c:v>
                </c:pt>
                <c:pt idx="4">
                  <c:v>513.2210000000005</c:v>
                </c:pt>
                <c:pt idx="5">
                  <c:v>585.259</c:v>
                </c:pt>
                <c:pt idx="6">
                  <c:v>4794.279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Standard - 60 g to below 100 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42.590179212547596</c:v>
                </c:pt>
                <c:pt idx="1">
                  <c:v>42.581623853211006</c:v>
                </c:pt>
                <c:pt idx="2">
                  <c:v>42.56009788166685</c:v>
                </c:pt>
              </c:numCache>
            </c:numRef>
          </c:val>
        </c:ser>
        <c:ser>
          <c:idx val="1"/>
          <c:order val="1"/>
          <c:tx>
            <c:strRef>
              <c:strCache>
                <c:ptCount val="1"/>
                <c:pt idx="0">
                  <c:v>Large / jumbo - 100 g and above</c:v>
                </c:pt>
              </c:strCache>
            </c:strRef>
          </c:tx>
          <c:spPr>
            <a:solidFill>
              <a:srgbClr val="9E7E0A"/>
            </a:solidFill>
            <a:ln>
              <a:noFill/>
            </a:ln>
          </c:spPr>
          <c:dLbls>
            <c:dLbl>
              <c:idx val="0"/>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21.117366362737904</c:v>
                </c:pt>
                <c:pt idx="1">
                  <c:v>22.971275229357797</c:v>
                </c:pt>
                <c:pt idx="2">
                  <c:v>27.01685818085015</c:v>
                </c:pt>
              </c:numCache>
            </c:numRef>
          </c:val>
        </c:ser>
        <c:ser>
          <c:idx val="2"/>
          <c:order val="2"/>
          <c:tx>
            <c:strRef>
              <c:strCache>
                <c:ptCount val="1"/>
                <c:pt idx="0">
                  <c:v>Small - 30 g to below 60 g</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30.83187115174269</c:v>
                </c:pt>
                <c:pt idx="1">
                  <c:v>28.485100917431193</c:v>
                </c:pt>
                <c:pt idx="2">
                  <c:v>23.36449746242838</c:v>
                </c:pt>
              </c:numCache>
            </c:numRef>
          </c:val>
        </c:ser>
        <c:ser>
          <c:idx val="3"/>
          <c:order val="3"/>
          <c:tx>
            <c:strRef>
              <c:strCache>
                <c:ptCount val="1"/>
                <c:pt idx="0">
                  <c:v>Mini / bite-sized - below 30 g</c:v>
                </c:pt>
              </c:strCache>
            </c:strRef>
          </c:tx>
          <c:spPr>
            <a:solidFill>
              <a:srgbClr val="40315E"/>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5.460583272971814</c:v>
                </c:pt>
                <c:pt idx="1">
                  <c:v>5.961999999999999</c:v>
                </c:pt>
                <c:pt idx="2">
                  <c:v>7.0585464750546185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Ambient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14.390947912487393</c:v>
                </c:pt>
                <c:pt idx="1">
                  <c:v>17.925663948652453</c:v>
                </c:pt>
                <c:pt idx="2">
                  <c:v>15.654049020045303</c:v>
                </c:pt>
                <c:pt idx="3">
                  <c:v>14.710298570083536</c:v>
                </c:pt>
                <c:pt idx="4">
                  <c:v>15.055840272040982</c:v>
                </c:pt>
                <c:pt idx="5">
                  <c:v>11.387378171774294</c:v>
                </c:pt>
              </c:numCache>
            </c:numRef>
          </c:val>
        </c:ser>
        <c:ser>
          <c:idx val="1"/>
          <c:order val="1"/>
          <c:tx>
            <c:strRef>
              <c:strCache>
                <c:ptCount val="1"/>
                <c:pt idx="0">
                  <c:v>Chilled</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36.451431606612346</c:v>
                </c:pt>
                <c:pt idx="1">
                  <c:v>31.070373645086292</c:v>
                </c:pt>
                <c:pt idx="2">
                  <c:v>31.474564208095078</c:v>
                </c:pt>
                <c:pt idx="3">
                  <c:v>36.81055129970605</c:v>
                </c:pt>
                <c:pt idx="4">
                  <c:v>34.418508248229884</c:v>
                </c:pt>
                <c:pt idx="5">
                  <c:v>37.6850703705461</c:v>
                </c:pt>
              </c:numCache>
            </c:numRef>
          </c:val>
        </c:ser>
        <c:ser>
          <c:idx val="2"/>
          <c:order val="2"/>
          <c:tx>
            <c:strRef>
              <c:strCache>
                <c:ptCount val="1"/>
                <c:pt idx="0">
                  <c:v>Frozen</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49.15762048090027</c:v>
                </c:pt>
                <c:pt idx="1">
                  <c:v>51.00396240626126</c:v>
                </c:pt>
                <c:pt idx="2">
                  <c:v>52.87138677185962</c:v>
                </c:pt>
                <c:pt idx="3">
                  <c:v>48.479150130210414</c:v>
                </c:pt>
                <c:pt idx="4">
                  <c:v>50.52565147972914</c:v>
                </c:pt>
                <c:pt idx="5">
                  <c:v>50.9275514576796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Ambient</c:v>
                </c:pt>
              </c:strCache>
            </c:strRef>
          </c:tx>
          <c:spPr>
            <a:solidFill>
              <a:srgbClr val="3D85C6"/>
            </a:solidFill>
          </c:spPr>
          <c:invertIfNegative val="0"/>
          <c:xVal>
            <c:numRef>
              <c:numCache>
                <c:formatCode>General</c:formatCode>
                <c:ptCount val="1"/>
                <c:pt idx="0">
                  <c:v>130.82600194522095</c:v>
                </c:pt>
              </c:numCache>
            </c:numRef>
          </c:xVal>
          <c:yVal>
            <c:numRef>
              <c:numCache>
                <c:formatCode>General</c:formatCode>
                <c:ptCount val="1"/>
                <c:pt idx="0">
                  <c:v>36.78024770642202</c:v>
                </c:pt>
              </c:numCache>
            </c:numRef>
          </c:yVal>
          <c:bubbleSize>
            <c:numRef>
              <c:numCache>
                <c:formatCode>General</c:formatCode>
                <c:ptCount val="1"/>
                <c:pt idx="0">
                  <c:v>2516.529</c:v>
                </c:pt>
              </c:numCache>
            </c:numRef>
          </c:bubbleSize>
          <c:bubble3D val="0"/>
        </c:ser>
        <c:ser>
          <c:idx val="1"/>
          <c:order val="1"/>
          <c:tx>
            <c:strRef>
              <c:strCache>
                <c:ptCount val="1"/>
                <c:pt idx="0">
                  <c:v>Chilled</c:v>
                </c:pt>
              </c:strCache>
            </c:strRef>
          </c:tx>
          <c:spPr>
            <a:solidFill>
              <a:srgbClr val="9E7E0A"/>
            </a:solidFill>
          </c:spPr>
          <c:invertIfNegative val="0"/>
          <c:xVal>
            <c:numRef>
              <c:numCache>
                <c:formatCode>General</c:formatCode>
                <c:ptCount val="1"/>
                <c:pt idx="0">
                  <c:v>125.43612358252747</c:v>
                </c:pt>
              </c:numCache>
            </c:numRef>
          </c:xVal>
          <c:yVal>
            <c:numRef>
              <c:numCache>
                <c:formatCode>General</c:formatCode>
                <c:ptCount val="1"/>
                <c:pt idx="0">
                  <c:v>93.61588073394496</c:v>
                </c:pt>
              </c:numCache>
            </c:numRef>
          </c:yVal>
          <c:bubbleSize>
            <c:numRef>
              <c:numCache>
                <c:formatCode>General</c:formatCode>
                <c:ptCount val="1"/>
                <c:pt idx="0">
                  <c:v>6245.239</c:v>
                </c:pt>
              </c:numCache>
            </c:numRef>
          </c:bubbleSize>
          <c:bubble3D val="0"/>
        </c:ser>
        <c:ser>
          <c:idx val="2"/>
          <c:order val="2"/>
          <c:tx>
            <c:strRef>
              <c:strCache>
                <c:ptCount val="1"/>
                <c:pt idx="0">
                  <c:v>Frozen</c:v>
                </c:pt>
              </c:strCache>
            </c:strRef>
          </c:tx>
          <c:spPr>
            <a:solidFill>
              <a:srgbClr val="008189"/>
            </a:solidFill>
          </c:spPr>
          <c:invertIfNegative val="0"/>
          <c:xVal>
            <c:numRef>
              <c:numCache>
                <c:formatCode>General</c:formatCode>
                <c:ptCount val="1"/>
                <c:pt idx="0">
                  <c:v>76.91912402326028</c:v>
                </c:pt>
              </c:numCache>
            </c:numRef>
          </c:xVal>
          <c:yVal>
            <c:numRef>
              <c:numCache>
                <c:formatCode>General</c:formatCode>
                <c:ptCount val="1"/>
                <c:pt idx="0">
                  <c:v>169.60387155963303</c:v>
                </c:pt>
              </c:numCache>
            </c:numRef>
          </c:yVal>
          <c:bubbleSize>
            <c:numRef>
              <c:numCache>
                <c:formatCode>General</c:formatCode>
                <c:ptCount val="1"/>
                <c:pt idx="0">
                  <c:v>8983.741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1336.349</c:v>
                </c:pt>
                <c:pt idx="2">
                  <c:v>1516.529</c:v>
                </c:pt>
                <c:pt idx="3">
                  <c:v>1721.055</c:v>
                </c:pt>
                <c:pt idx="4">
                  <c:v>1953.269</c:v>
                </c:pt>
                <c:pt idx="5">
                  <c:v>2216.983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1336.349</c:v>
                </c:pt>
                <c:pt idx="1">
                  <c:v>180.18000000000006</c:v>
                </c:pt>
                <c:pt idx="2">
                  <c:v>204.52600000000007</c:v>
                </c:pt>
                <c:pt idx="3">
                  <c:v>232.21399999999994</c:v>
                </c:pt>
                <c:pt idx="4">
                  <c:v>263.71400000000017</c:v>
                </c:pt>
                <c:pt idx="5">
                  <c:v>299.5459999999998</c:v>
                </c:pt>
                <c:pt idx="6">
                  <c:v>2516.529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3401.377</c:v>
                </c:pt>
                <c:pt idx="2">
                  <c:v>3839.543</c:v>
                </c:pt>
                <c:pt idx="3">
                  <c:v>4334.853</c:v>
                </c:pt>
                <c:pt idx="4">
                  <c:v>4894.937</c:v>
                </c:pt>
                <c:pt idx="5">
                  <c:v>5528.448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3401.377</c:v>
                </c:pt>
                <c:pt idx="1">
                  <c:v>438.16600000000017</c:v>
                </c:pt>
                <c:pt idx="2">
                  <c:v>495.30999999999995</c:v>
                </c:pt>
                <c:pt idx="3">
                  <c:v>560.0839999999998</c:v>
                </c:pt>
                <c:pt idx="4">
                  <c:v>633.5110000000004</c:v>
                </c:pt>
                <c:pt idx="5">
                  <c:v>716.7909999999993</c:v>
                </c:pt>
                <c:pt idx="6">
                  <c:v>6245.239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6162.274</c:v>
                </c:pt>
                <c:pt idx="2">
                  <c:v>6649.984</c:v>
                </c:pt>
                <c:pt idx="3">
                  <c:v>7173.859</c:v>
                </c:pt>
                <c:pt idx="4">
                  <c:v>7736.022</c:v>
                </c:pt>
                <c:pt idx="5">
                  <c:v>8338.61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6162.274</c:v>
                </c:pt>
                <c:pt idx="1">
                  <c:v>487.71000000000004</c:v>
                </c:pt>
                <c:pt idx="2">
                  <c:v>523.875</c:v>
                </c:pt>
                <c:pt idx="3">
                  <c:v>562.1629999999996</c:v>
                </c:pt>
                <c:pt idx="4">
                  <c:v>602.5880000000006</c:v>
                </c:pt>
                <c:pt idx="5">
                  <c:v>645.1309999999994</c:v>
                </c:pt>
                <c:pt idx="6">
                  <c:v>8983.741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Frozen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59.32589407063947</c:v>
                </c:pt>
                <c:pt idx="1">
                  <c:v>56.53462385321101</c:v>
                </c:pt>
                <c:pt idx="2">
                  <c:v>50.62543430002487</c:v>
                </c:pt>
              </c:numCache>
            </c:numRef>
          </c:val>
        </c:ser>
        <c:ser>
          <c:idx val="1"/>
          <c:order val="1"/>
          <c:tx>
            <c:strRef>
              <c:strCache>
                <c:ptCount val="1"/>
                <c:pt idx="0">
                  <c:v>Chilled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29.315631677037178</c:v>
                </c:pt>
                <c:pt idx="1">
                  <c:v>31.205293577981653</c:v>
                </c:pt>
                <c:pt idx="2">
                  <c:v>35.193349483522844</c:v>
                </c:pt>
              </c:numCache>
            </c:numRef>
          </c:val>
        </c:ser>
        <c:ser>
          <c:idx val="2"/>
          <c:order val="2"/>
          <c:tx>
            <c:strRef>
              <c:strCache>
                <c:ptCount val="1"/>
                <c:pt idx="0">
                  <c:v>Ambient</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11.358474252323349</c:v>
                </c:pt>
                <c:pt idx="1">
                  <c:v>12.260082568807338</c:v>
                </c:pt>
                <c:pt idx="2">
                  <c:v>14.181216216452288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Up to 7 days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59.18373976872735</c:v>
                </c:pt>
                <c:pt idx="1">
                  <c:v>58.77171955332875</c:v>
                </c:pt>
                <c:pt idx="2">
                  <c:v>62.12444052921043</c:v>
                </c:pt>
                <c:pt idx="3">
                  <c:v>58.53376202453322</c:v>
                </c:pt>
                <c:pt idx="4">
                  <c:v>62.757270785319776</c:v>
                </c:pt>
                <c:pt idx="5">
                  <c:v>57.88749380281153</c:v>
                </c:pt>
              </c:numCache>
            </c:numRef>
          </c:val>
        </c:ser>
        <c:ser>
          <c:idx val="1"/>
          <c:order val="1"/>
          <c:tx>
            <c:strRef>
              <c:strCache>
                <c:ptCount val="1"/>
                <c:pt idx="0">
                  <c:v>8-30 days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11.562332998179121</c:v>
                </c:pt>
                <c:pt idx="1">
                  <c:v>10.352621410092674</c:v>
                </c:pt>
                <c:pt idx="2">
                  <c:v>11.770677832741262</c:v>
                </c:pt>
                <c:pt idx="3">
                  <c:v>11.928155479920548</c:v>
                </c:pt>
                <c:pt idx="4">
                  <c:v>10.897243575683945</c:v>
                </c:pt>
                <c:pt idx="5">
                  <c:v>14.931609565358059</c:v>
                </c:pt>
              </c:numCache>
            </c:numRef>
          </c:val>
        </c:ser>
        <c:ser>
          <c:idx val="2"/>
          <c:order val="2"/>
          <c:tx>
            <c:strRef>
              <c:strCache>
                <c:ptCount val="1"/>
                <c:pt idx="0">
                  <c:v>31-90 days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14.607796477469675</c:v>
                </c:pt>
                <c:pt idx="1">
                  <c:v>16.493237711628517</c:v>
                </c:pt>
                <c:pt idx="2">
                  <c:v>15.054364369171418</c:v>
                </c:pt>
                <c:pt idx="3">
                  <c:v>14.635546946396172</c:v>
                </c:pt>
                <c:pt idx="4">
                  <c:v>14.939866071949492</c:v>
                </c:pt>
                <c:pt idx="5">
                  <c:v>15.25844003830208</c:v>
                </c:pt>
              </c:numCache>
            </c:numRef>
          </c:val>
        </c:ser>
        <c:ser>
          <c:idx val="3"/>
          <c:order val="3"/>
          <c:tx>
            <c:strRef>
              <c:strCache>
                <c:ptCount val="1"/>
                <c:pt idx="0">
                  <c:v>More than 90 days</c:v>
                </c:pt>
              </c:strCache>
            </c:strRef>
          </c:tx>
          <c:spPr>
            <a:solidFill>
              <a:srgbClr val="40315E"/>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14.64613075562385</c:v>
                </c:pt>
                <c:pt idx="1">
                  <c:v>14.382421324950062</c:v>
                </c:pt>
                <c:pt idx="2">
                  <c:v>11.05051726887688</c:v>
                </c:pt>
                <c:pt idx="3">
                  <c:v>14.902535549150056</c:v>
                </c:pt>
                <c:pt idx="4">
                  <c:v>11.405619567046795</c:v>
                </c:pt>
                <c:pt idx="5">
                  <c:v>11.922456593528322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Up to 7 days</c:v>
                </c:pt>
              </c:strCache>
            </c:strRef>
          </c:tx>
          <c:spPr>
            <a:solidFill>
              <a:srgbClr val="3D85C6"/>
            </a:solidFill>
          </c:spPr>
          <c:invertIfNegative val="0"/>
          <c:xVal>
            <c:numRef>
              <c:numCache>
                <c:formatCode>General</c:formatCode>
                <c:ptCount val="1"/>
                <c:pt idx="0">
                  <c:v>105.97279776830366</c:v>
                </c:pt>
              </c:numCache>
            </c:numRef>
          </c:xVal>
          <c:yVal>
            <c:numRef>
              <c:numCache>
                <c:formatCode>General</c:formatCode>
                <c:ptCount val="1"/>
                <c:pt idx="0">
                  <c:v>233.54242201834862</c:v>
                </c:pt>
              </c:numCache>
            </c:numRef>
          </c:yVal>
          <c:bubbleSize>
            <c:numRef>
              <c:numCache>
                <c:formatCode>General</c:formatCode>
                <c:ptCount val="1"/>
                <c:pt idx="0">
                  <c:v>10658.983</c:v>
                </c:pt>
              </c:numCache>
            </c:numRef>
          </c:bubbleSize>
          <c:bubble3D val="0"/>
        </c:ser>
        <c:ser>
          <c:idx val="1"/>
          <c:order val="1"/>
          <c:tx>
            <c:strRef>
              <c:strCache>
                <c:ptCount val="1"/>
                <c:pt idx="0">
                  <c:v>8-30 days</c:v>
                </c:pt>
              </c:strCache>
            </c:strRef>
          </c:tx>
          <c:spPr>
            <a:solidFill>
              <a:srgbClr val="9E7E0A"/>
            </a:solidFill>
          </c:spPr>
          <c:invertIfNegative val="0"/>
          <c:xVal>
            <c:numRef>
              <c:numCache>
                <c:formatCode>General</c:formatCode>
                <c:ptCount val="1"/>
                <c:pt idx="0">
                  <c:v>52.111019884940326</c:v>
                </c:pt>
              </c:numCache>
            </c:numRef>
          </c:xVal>
          <c:yVal>
            <c:numRef>
              <c:numCache>
                <c:formatCode>General</c:formatCode>
                <c:ptCount val="1"/>
                <c:pt idx="0">
                  <c:v>62.249357798165136</c:v>
                </c:pt>
              </c:numCache>
            </c:numRef>
          </c:yVal>
          <c:bubbleSize>
            <c:numRef>
              <c:numCache>
                <c:formatCode>General</c:formatCode>
                <c:ptCount val="1"/>
                <c:pt idx="0">
                  <c:v>2193.243</c:v>
                </c:pt>
              </c:numCache>
            </c:numRef>
          </c:bubbleSize>
          <c:bubble3D val="0"/>
        </c:ser>
        <c:ser>
          <c:idx val="2"/>
          <c:order val="2"/>
          <c:tx>
            <c:strRef>
              <c:strCache>
                <c:ptCount val="1"/>
                <c:pt idx="0">
                  <c:v>31-90 days</c:v>
                </c:pt>
              </c:strCache>
            </c:strRef>
          </c:tx>
          <c:spPr>
            <a:solidFill>
              <a:srgbClr val="008189"/>
            </a:solidFill>
          </c:spPr>
          <c:invertIfNegative val="0"/>
          <c:xVal>
            <c:numRef>
              <c:numCache>
                <c:formatCode>General</c:formatCode>
                <c:ptCount val="1"/>
                <c:pt idx="0">
                  <c:v>126.96584776574942</c:v>
                </c:pt>
              </c:numCache>
            </c:numRef>
          </c:xVal>
          <c:yVal>
            <c:numRef>
              <c:numCache>
                <c:formatCode>General</c:formatCode>
                <c:ptCount val="1"/>
                <c:pt idx="0">
                  <c:v>53.247743119266055</c:v>
                </c:pt>
              </c:numCache>
            </c:numRef>
          </c:yVal>
          <c:bubbleSize>
            <c:numRef>
              <c:numCache>
                <c:formatCode>General</c:formatCode>
                <c:ptCount val="1"/>
                <c:pt idx="0">
                  <c:v>2683.387</c:v>
                </c:pt>
              </c:numCache>
            </c:numRef>
          </c:bubbleSize>
          <c:bubble3D val="0"/>
        </c:ser>
        <c:ser>
          <c:idx val="3"/>
          <c:order val="3"/>
          <c:tx>
            <c:strRef>
              <c:strCache>
                <c:ptCount val="1"/>
                <c:pt idx="0">
                  <c:v>More than 90 days</c:v>
                </c:pt>
              </c:strCache>
            </c:strRef>
          </c:tx>
          <c:spPr>
            <a:solidFill>
              <a:srgbClr val="40315E"/>
            </a:solidFill>
          </c:spPr>
          <c:invertIfNegative val="0"/>
          <c:xVal>
            <c:numRef>
              <c:numCache>
                <c:formatCode>General</c:formatCode>
                <c:ptCount val="1"/>
                <c:pt idx="0">
                  <c:v>95.2180570669929</c:v>
                </c:pt>
              </c:numCache>
            </c:numRef>
          </c:xVal>
          <c:yVal>
            <c:numRef>
              <c:numCache>
                <c:formatCode>General</c:formatCode>
                <c:ptCount val="1"/>
                <c:pt idx="0">
                  <c:v>50.960477064220186</c:v>
                </c:pt>
              </c:numCache>
            </c:numRef>
          </c:yVal>
          <c:bubbleSize>
            <c:numRef>
              <c:numCache>
                <c:formatCode>General</c:formatCode>
                <c:ptCount val="1"/>
                <c:pt idx="0">
                  <c:v>2209.896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6364.031</c:v>
                </c:pt>
                <c:pt idx="2">
                  <c:v>7049.275</c:v>
                </c:pt>
                <c:pt idx="3">
                  <c:v>7811.738</c:v>
                </c:pt>
                <c:pt idx="4">
                  <c:v>8660.501</c:v>
                </c:pt>
                <c:pt idx="5">
                  <c:v>9605.771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6364.031</c:v>
                </c:pt>
                <c:pt idx="1">
                  <c:v>685.2439999999997</c:v>
                </c:pt>
                <c:pt idx="2">
                  <c:v>762.4630000000006</c:v>
                </c:pt>
                <c:pt idx="3">
                  <c:v>848.7629999999999</c:v>
                </c:pt>
                <c:pt idx="4">
                  <c:v>945.2700000000004</c:v>
                </c:pt>
                <c:pt idx="5">
                  <c:v>1053.2119999999995</c:v>
                </c:pt>
                <c:pt idx="6">
                  <c:v>10658.983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1696.295</c:v>
                </c:pt>
                <c:pt idx="2">
                  <c:v>1793.376</c:v>
                </c:pt>
                <c:pt idx="3">
                  <c:v>1892.447</c:v>
                </c:pt>
                <c:pt idx="4">
                  <c:v>1992.788</c:v>
                </c:pt>
                <c:pt idx="5">
                  <c:v>2093.45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1696.295</c:v>
                </c:pt>
                <c:pt idx="1">
                  <c:v>97.0809999999999</c:v>
                </c:pt>
                <c:pt idx="2">
                  <c:v>99.07099999999991</c:v>
                </c:pt>
                <c:pt idx="3">
                  <c:v>100.34100000000012</c:v>
                </c:pt>
                <c:pt idx="4">
                  <c:v>100.66199999999981</c:v>
                </c:pt>
                <c:pt idx="5">
                  <c:v>99.79300000000012</c:v>
                </c:pt>
                <c:pt idx="6">
                  <c:v>2193.243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1451.001</c:v>
                </c:pt>
                <c:pt idx="2">
                  <c:v>1640.377</c:v>
                </c:pt>
                <c:pt idx="3">
                  <c:v>1854.717</c:v>
                </c:pt>
                <c:pt idx="4">
                  <c:v>2097.373</c:v>
                </c:pt>
                <c:pt idx="5">
                  <c:v>2372.144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1451.001</c:v>
                </c:pt>
                <c:pt idx="1">
                  <c:v>189.37599999999998</c:v>
                </c:pt>
                <c:pt idx="2">
                  <c:v>214.34000000000015</c:v>
                </c:pt>
                <c:pt idx="3">
                  <c:v>242.65599999999995</c:v>
                </c:pt>
                <c:pt idx="4">
                  <c:v>274.77099999999973</c:v>
                </c:pt>
                <c:pt idx="5">
                  <c:v>311.2430000000004</c:v>
                </c:pt>
                <c:pt idx="6">
                  <c:v>2683.387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1388.673</c:v>
                </c:pt>
                <c:pt idx="2">
                  <c:v>1523.028</c:v>
                </c:pt>
                <c:pt idx="3">
                  <c:v>1670.865</c:v>
                </c:pt>
                <c:pt idx="4">
                  <c:v>1833.566</c:v>
                </c:pt>
                <c:pt idx="5">
                  <c:v>2012.676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1388.673</c:v>
                </c:pt>
                <c:pt idx="1">
                  <c:v>134.35500000000002</c:v>
                </c:pt>
                <c:pt idx="2">
                  <c:v>147.837</c:v>
                </c:pt>
                <c:pt idx="3">
                  <c:v>162.70100000000002</c:v>
                </c:pt>
                <c:pt idx="4">
                  <c:v>179.1099999999999</c:v>
                </c:pt>
                <c:pt idx="5">
                  <c:v>197.22000000000025</c:v>
                </c:pt>
                <c:pt idx="6">
                  <c:v>2209.896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Up to 7 days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57.578896640053735</c:v>
                </c:pt>
                <c:pt idx="1">
                  <c:v>58.385605504587154</c:v>
                </c:pt>
                <c:pt idx="2">
                  <c:v>60.065805945605725</c:v>
                </c:pt>
              </c:numCache>
            </c:numRef>
          </c:val>
        </c:ser>
        <c:ser>
          <c:idx val="1"/>
          <c:order val="1"/>
          <c:tx>
            <c:strRef>
              <c:strCache>
                <c:ptCount val="1"/>
                <c:pt idx="0">
                  <c:v>31-90 days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12.457181105433975</c:v>
                </c:pt>
                <c:pt idx="1">
                  <c:v>13.311935779816514</c:v>
                </c:pt>
                <c:pt idx="2">
                  <c:v>15.121499191710983</c:v>
                </c:pt>
              </c:numCache>
            </c:numRef>
          </c:val>
        </c:ser>
        <c:ser>
          <c:idx val="2"/>
          <c:order val="2"/>
          <c:tx>
            <c:strRef>
              <c:strCache>
                <c:ptCount val="1"/>
                <c:pt idx="0">
                  <c:v>More than 90 days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12.870628522226546</c:v>
                </c:pt>
                <c:pt idx="1">
                  <c:v>12.740119266055046</c:v>
                </c:pt>
                <c:pt idx="2">
                  <c:v>12.453269162355388</c:v>
                </c:pt>
              </c:numCache>
            </c:numRef>
          </c:val>
        </c:ser>
        <c:ser>
          <c:idx val="3"/>
          <c:order val="3"/>
          <c:tx>
            <c:strRef>
              <c:strCache>
                <c:ptCount val="1"/>
                <c:pt idx="0">
                  <c:v>8-30 days</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17.09329373228576</c:v>
                </c:pt>
                <c:pt idx="1">
                  <c:v>15.562339449541284</c:v>
                </c:pt>
                <c:pt idx="2">
                  <c:v>12.359425700327895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Flexible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13.060374863759</c:v>
                </c:pt>
                <c:pt idx="1">
                  <c:v>10.956217048171071</c:v>
                </c:pt>
                <c:pt idx="2">
                  <c:v>13.431054157611829</c:v>
                </c:pt>
                <c:pt idx="3">
                  <c:v>14.292769703210128</c:v>
                </c:pt>
                <c:pt idx="4">
                  <c:v>13.209469301348395</c:v>
                </c:pt>
                <c:pt idx="5">
                  <c:v>13.622307562120392</c:v>
                </c:pt>
              </c:numCache>
            </c:numRef>
          </c:val>
        </c:ser>
        <c:ser>
          <c:idx val="1"/>
          <c:order val="1"/>
          <c:tx>
            <c:strRef>
              <c:strCache>
                <c:ptCount val="1"/>
                <c:pt idx="0">
                  <c:v>Rigid plastic packs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49.22779170192824</c:v>
                </c:pt>
                <c:pt idx="1">
                  <c:v>49.432229754068835</c:v>
                </c:pt>
                <c:pt idx="2">
                  <c:v>47.59434739563062</c:v>
                </c:pt>
                <c:pt idx="3">
                  <c:v>50.45916076827386</c:v>
                </c:pt>
                <c:pt idx="4">
                  <c:v>48.96276860318925</c:v>
                </c:pt>
                <c:pt idx="5">
                  <c:v>48.7508859130761</c:v>
                </c:pt>
              </c:numCache>
            </c:numRef>
          </c:val>
        </c:ser>
        <c:ser>
          <c:idx val="2"/>
          <c:order val="2"/>
          <c:tx>
            <c:strRef>
              <c:strCache>
                <c:ptCount val="1"/>
                <c:pt idx="0">
                  <c:v>Paperboard packs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32.39457667424147</c:v>
                </c:pt>
                <c:pt idx="1">
                  <c:v>33.7430657890428</c:v>
                </c:pt>
                <c:pt idx="2">
                  <c:v>32.3319003164536</c:v>
                </c:pt>
                <c:pt idx="3">
                  <c:v>29.38469043537852</c:v>
                </c:pt>
                <c:pt idx="4">
                  <c:v>32.47609861525144</c:v>
                </c:pt>
                <c:pt idx="5">
                  <c:v>31.991876312524358</c:v>
                </c:pt>
              </c:numCache>
            </c:numRef>
          </c:val>
        </c:ser>
        <c:ser>
          <c:idx val="3"/>
          <c:order val="3"/>
          <c:tx>
            <c:strRef>
              <c:strCache>
                <c:ptCount val="1"/>
                <c:pt idx="0">
                  <c:v>Other packaging formats</c:v>
                </c:pt>
              </c:strCache>
            </c:strRef>
          </c:tx>
          <c:spPr>
            <a:solidFill>
              <a:srgbClr val="40315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5.317256760071276</c:v>
                </c:pt>
                <c:pt idx="1">
                  <c:v>5.868487408717294</c:v>
                </c:pt>
                <c:pt idx="2">
                  <c:v>6.642698130303956</c:v>
                </c:pt>
                <c:pt idx="3">
                  <c:v>5.8633790931375</c:v>
                </c:pt>
                <c:pt idx="4">
                  <c:v>5.351663480210913</c:v>
                </c:pt>
                <c:pt idx="5">
                  <c:v>5.634930212279158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Flexible packs</c:v>
                </c:pt>
              </c:strCache>
            </c:strRef>
          </c:tx>
          <c:spPr>
            <a:solidFill>
              <a:srgbClr val="3D85C6"/>
            </a:solidFill>
          </c:spPr>
          <c:invertIfNegative val="0"/>
          <c:xVal>
            <c:numRef>
              <c:numCache>
                <c:formatCode>General</c:formatCode>
                <c:ptCount val="1"/>
                <c:pt idx="0">
                  <c:v>124.40976519919357</c:v>
                </c:pt>
              </c:numCache>
            </c:numRef>
          </c:xVal>
          <c:yVal>
            <c:numRef>
              <c:numCache>
                <c:formatCode>General</c:formatCode>
                <c:ptCount val="1"/>
                <c:pt idx="0">
                  <c:v>47.397247706422</c:v>
                </c:pt>
              </c:numCache>
            </c:numRef>
          </c:yVal>
          <c:bubbleSize>
            <c:numRef>
              <c:numCache>
                <c:formatCode>General</c:formatCode>
                <c:ptCount val="1"/>
                <c:pt idx="0">
                  <c:v>2360.035</c:v>
                </c:pt>
              </c:numCache>
            </c:numRef>
          </c:bubbleSize>
          <c:bubble3D val="0"/>
        </c:ser>
        <c:ser>
          <c:idx val="1"/>
          <c:order val="1"/>
          <c:tx>
            <c:strRef>
              <c:strCache>
                <c:ptCount val="1"/>
                <c:pt idx="0">
                  <c:v>Rigid plastic packs</c:v>
                </c:pt>
              </c:strCache>
            </c:strRef>
          </c:tx>
          <c:spPr>
            <a:solidFill>
              <a:srgbClr val="9E7E0A"/>
            </a:solidFill>
          </c:spPr>
          <c:invertIfNegative val="0"/>
          <c:xVal>
            <c:numRef>
              <c:numCache>
                <c:formatCode>General</c:formatCode>
                <c:ptCount val="1"/>
                <c:pt idx="0">
                  <c:v>105.55742059554625</c:v>
                </c:pt>
              </c:numCache>
            </c:numRef>
          </c:xVal>
          <c:yVal>
            <c:numRef>
              <c:numCache>
                <c:formatCode>General</c:formatCode>
                <c:ptCount val="1"/>
                <c:pt idx="0">
                  <c:v>190.80836697247705</c:v>
                </c:pt>
              </c:numCache>
            </c:numRef>
          </c:yVal>
          <c:bubbleSize>
            <c:numRef>
              <c:numCache>
                <c:formatCode>General</c:formatCode>
                <c:ptCount val="1"/>
                <c:pt idx="0">
                  <c:v>8691.438</c:v>
                </c:pt>
              </c:numCache>
            </c:numRef>
          </c:bubbleSize>
          <c:bubble3D val="0"/>
        </c:ser>
        <c:ser>
          <c:idx val="2"/>
          <c:order val="2"/>
          <c:tx>
            <c:strRef>
              <c:strCache>
                <c:ptCount val="1"/>
                <c:pt idx="0">
                  <c:v>Paperboard packs</c:v>
                </c:pt>
              </c:strCache>
            </c:strRef>
          </c:tx>
          <c:spPr>
            <a:solidFill>
              <a:srgbClr val="008189"/>
            </a:solidFill>
          </c:spPr>
          <c:invertIfNegative val="0"/>
          <c:xVal>
            <c:numRef>
              <c:numCache>
                <c:formatCode>General</c:formatCode>
                <c:ptCount val="1"/>
                <c:pt idx="0">
                  <c:v>73.72602553424416</c:v>
                </c:pt>
              </c:numCache>
            </c:numRef>
          </c:xVal>
          <c:yVal>
            <c:numRef>
              <c:numCache>
                <c:formatCode>General</c:formatCode>
                <c:ptCount val="1"/>
                <c:pt idx="0">
                  <c:v>145.2081100917431</c:v>
                </c:pt>
              </c:numCache>
            </c:numRef>
          </c:yVal>
          <c:bubbleSize>
            <c:numRef>
              <c:numCache>
                <c:formatCode>General</c:formatCode>
                <c:ptCount val="1"/>
                <c:pt idx="0">
                  <c:v>5680.659</c:v>
                </c:pt>
              </c:numCache>
            </c:numRef>
          </c:bubbleSize>
          <c:bubble3D val="0"/>
        </c:ser>
        <c:ser>
          <c:idx val="3"/>
          <c:order val="3"/>
          <c:tx>
            <c:strRef>
              <c:strCache>
                <c:ptCount val="1"/>
                <c:pt idx="0">
                  <c:v>Other packaging formats</c:v>
                </c:pt>
              </c:strCache>
            </c:strRef>
          </c:tx>
          <c:spPr>
            <a:solidFill>
              <a:srgbClr val="40315E"/>
            </a:solidFill>
          </c:spPr>
          <c:invertIfNegative val="0"/>
          <c:xVal>
            <c:numRef>
              <c:numCache>
                <c:formatCode>General</c:formatCode>
                <c:ptCount val="1"/>
                <c:pt idx="0">
                  <c:v>168.36922419998086</c:v>
                </c:pt>
              </c:numCache>
            </c:numRef>
          </c:xVal>
          <c:yVal>
            <c:numRef>
              <c:numCache>
                <c:formatCode>General</c:formatCode>
                <c:ptCount val="1"/>
                <c:pt idx="0">
                  <c:v>16.586275229357796</c:v>
                </c:pt>
              </c:numCache>
            </c:numRef>
          </c:yVal>
          <c:bubbleSize>
            <c:numRef>
              <c:numCache>
                <c:formatCode>General</c:formatCode>
                <c:ptCount val="1"/>
                <c:pt idx="0">
                  <c:v>1013.377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0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1291.5749999999998</c:v>
                </c:pt>
                <c:pt idx="2">
                  <c:v>1454.871</c:v>
                </c:pt>
                <c:pt idx="3">
                  <c:v>1640.019</c:v>
                </c:pt>
                <c:pt idx="4">
                  <c:v>1850.136</c:v>
                </c:pt>
                <c:pt idx="5">
                  <c:v>2088.767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1291.5749999999998</c:v>
                </c:pt>
                <c:pt idx="1">
                  <c:v>163.29600000000028</c:v>
                </c:pt>
                <c:pt idx="2">
                  <c:v>185.1479999999999</c:v>
                </c:pt>
                <c:pt idx="3">
                  <c:v>210.11699999999996</c:v>
                </c:pt>
                <c:pt idx="4">
                  <c:v>238.63099999999986</c:v>
                </c:pt>
                <c:pt idx="5">
                  <c:v>271.26800000000003</c:v>
                </c:pt>
                <c:pt idx="6">
                  <c:v>2360.035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5199.528</c:v>
                </c:pt>
                <c:pt idx="2">
                  <c:v>5755.236000000001</c:v>
                </c:pt>
                <c:pt idx="3">
                  <c:v>6374.112</c:v>
                </c:pt>
                <c:pt idx="4">
                  <c:v>7063.8150000000005</c:v>
                </c:pt>
                <c:pt idx="5">
                  <c:v>7832.998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5199.528</c:v>
                </c:pt>
                <c:pt idx="1">
                  <c:v>555.7080000000005</c:v>
                </c:pt>
                <c:pt idx="2">
                  <c:v>618.8759999999993</c:v>
                </c:pt>
                <c:pt idx="3">
                  <c:v>689.7030000000004</c:v>
                </c:pt>
                <c:pt idx="4">
                  <c:v>769.1829999999991</c:v>
                </c:pt>
                <c:pt idx="5">
                  <c:v>858.4400000000005</c:v>
                </c:pt>
                <c:pt idx="6">
                  <c:v>8691.438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3956.9210000000003</c:v>
                </c:pt>
                <c:pt idx="2">
                  <c:v>4263.307</c:v>
                </c:pt>
                <c:pt idx="3">
                  <c:v>4588.929</c:v>
                </c:pt>
                <c:pt idx="4">
                  <c:v>4933.884</c:v>
                </c:pt>
                <c:pt idx="5">
                  <c:v>5297.999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3956.9210000000003</c:v>
                </c:pt>
                <c:pt idx="1">
                  <c:v>306.3859999999995</c:v>
                </c:pt>
                <c:pt idx="2">
                  <c:v>325.6220000000003</c:v>
                </c:pt>
                <c:pt idx="3">
                  <c:v>344.9549999999999</c:v>
                </c:pt>
                <c:pt idx="4">
                  <c:v>364.1149999999998</c:v>
                </c:pt>
                <c:pt idx="5">
                  <c:v>382.65999999999985</c:v>
                </c:pt>
                <c:pt idx="6">
                  <c:v>5680.659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451.976</c:v>
                </c:pt>
                <c:pt idx="2">
                  <c:v>532.642</c:v>
                </c:pt>
                <c:pt idx="3">
                  <c:v>626.707</c:v>
                </c:pt>
                <c:pt idx="4">
                  <c:v>736.393</c:v>
                </c:pt>
                <c:pt idx="5">
                  <c:v>864.277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451.976</c:v>
                </c:pt>
                <c:pt idx="1">
                  <c:v>80.66600000000005</c:v>
                </c:pt>
                <c:pt idx="2">
                  <c:v>94.06499999999994</c:v>
                </c:pt>
                <c:pt idx="3">
                  <c:v>109.68600000000004</c:v>
                </c:pt>
                <c:pt idx="4">
                  <c:v>127.88400000000001</c:v>
                </c:pt>
                <c:pt idx="5">
                  <c:v>149.0999999999999</c:v>
                </c:pt>
                <c:pt idx="6">
                  <c:v>1013.377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Rigid plastic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47.15732595063502</c:v>
                </c:pt>
                <c:pt idx="1">
                  <c:v>47.70209174311927</c:v>
                </c:pt>
                <c:pt idx="2">
                  <c:v>48.97824007189651</c:v>
                </c:pt>
              </c:numCache>
            </c:numRef>
          </c:val>
        </c:ser>
        <c:ser>
          <c:idx val="1"/>
          <c:order val="1"/>
          <c:tx>
            <c:strRef>
              <c:strCache>
                <c:ptCount val="1"/>
                <c:pt idx="0">
                  <c:v>Paperboard packs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38.15809114091914</c:v>
                </c:pt>
                <c:pt idx="1">
                  <c:v>36.30202752293578</c:v>
                </c:pt>
                <c:pt idx="2">
                  <c:v>32.011812115392125</c:v>
                </c:pt>
              </c:numCache>
            </c:numRef>
          </c:val>
        </c:ser>
        <c:ser>
          <c:idx val="2"/>
          <c:order val="2"/>
          <c:tx>
            <c:strRef>
              <c:strCache>
                <c:ptCount val="1"/>
                <c:pt idx="0">
                  <c:v>Flexible packs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11.218982465268464</c:v>
                </c:pt>
                <c:pt idx="1">
                  <c:v>11.849311926605504</c:v>
                </c:pt>
                <c:pt idx="2">
                  <c:v>13.299336750498394</c:v>
                </c:pt>
              </c:numCache>
            </c:numRef>
          </c:val>
        </c:ser>
        <c:ser>
          <c:idx val="3"/>
          <c:order val="3"/>
          <c:tx>
            <c:strRef>
              <c:strCache>
                <c:ptCount val="1"/>
                <c:pt idx="0">
                  <c:v>Other packaging formats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3.465600443177382</c:v>
                </c:pt>
                <c:pt idx="1">
                  <c:v>4.146568807339449</c:v>
                </c:pt>
                <c:pt idx="2">
                  <c:v>5.710611062212981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Single-muffin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28.53036773293353</c:v>
                </c:pt>
                <c:pt idx="1">
                  <c:v>26.129678750368402</c:v>
                </c:pt>
                <c:pt idx="2">
                  <c:v>26.151269503336174</c:v>
                </c:pt>
                <c:pt idx="3">
                  <c:v>26.47326592436432</c:v>
                </c:pt>
                <c:pt idx="4">
                  <c:v>25.65308169199713</c:v>
                </c:pt>
                <c:pt idx="5">
                  <c:v>29.15424582598108</c:v>
                </c:pt>
              </c:numCache>
            </c:numRef>
          </c:val>
        </c:ser>
        <c:ser>
          <c:idx val="1"/>
          <c:order val="1"/>
          <c:tx>
            <c:strRef>
              <c:strCache>
                <c:ptCount val="1"/>
                <c:pt idx="0">
                  <c:v>Multipacks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60.390538580364726</c:v>
                </c:pt>
                <c:pt idx="1">
                  <c:v>62.58696008121295</c:v>
                </c:pt>
                <c:pt idx="2">
                  <c:v>61.18643371417034</c:v>
                </c:pt>
                <c:pt idx="3">
                  <c:v>61.85714143741756</c:v>
                </c:pt>
                <c:pt idx="4">
                  <c:v>61.99424203127308</c:v>
                </c:pt>
                <c:pt idx="5">
                  <c:v>58.39219806195658</c:v>
                </c:pt>
              </c:numCache>
            </c:numRef>
          </c:val>
        </c:ser>
        <c:ser>
          <c:idx val="2"/>
          <c:order val="2"/>
          <c:tx>
            <c:strRef>
              <c:strCache>
                <c:ptCount val="1"/>
                <c:pt idx="0">
                  <c:v>Bulk foodservice packs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11.079093686701741</c:v>
                </c:pt>
                <c:pt idx="1">
                  <c:v>11.283361168418638</c:v>
                </c:pt>
                <c:pt idx="2">
                  <c:v>12.662296782493481</c:v>
                </c:pt>
                <c:pt idx="3">
                  <c:v>11.669592638218129</c:v>
                </c:pt>
                <c:pt idx="4">
                  <c:v>12.352676276729788</c:v>
                </c:pt>
                <c:pt idx="5">
                  <c:v>12.453556112062355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Single-muffin packs</c:v>
                </c:pt>
              </c:strCache>
            </c:strRef>
          </c:tx>
          <c:spPr>
            <a:solidFill>
              <a:srgbClr val="3D85C6"/>
            </a:solidFill>
          </c:spPr>
          <c:invertIfNegative val="0"/>
          <c:xVal>
            <c:numRef>
              <c:numCache>
                <c:formatCode>General</c:formatCode>
                <c:ptCount val="1"/>
                <c:pt idx="0">
                  <c:v>83.78016655210156</c:v>
                </c:pt>
              </c:numCache>
            </c:numRef>
          </c:xVal>
          <c:yVal>
            <c:numRef>
              <c:numCache>
                <c:formatCode>General</c:formatCode>
                <c:ptCount val="1"/>
                <c:pt idx="0">
                  <c:v>87.91354128440368</c:v>
                </c:pt>
              </c:numCache>
            </c:numRef>
          </c:yVal>
          <c:bubbleSize>
            <c:numRef>
              <c:numCache>
                <c:formatCode>General</c:formatCode>
                <c:ptCount val="1"/>
                <c:pt idx="0">
                  <c:v>4812.658</c:v>
                </c:pt>
              </c:numCache>
            </c:numRef>
          </c:bubbleSize>
          <c:bubble3D val="0"/>
        </c:ser>
        <c:ser>
          <c:idx val="1"/>
          <c:order val="1"/>
          <c:tx>
            <c:strRef>
              <c:strCache>
                <c:ptCount val="1"/>
                <c:pt idx="0">
                  <c:v>Multipacks</c:v>
                </c:pt>
              </c:strCache>
            </c:strRef>
          </c:tx>
          <c:spPr>
            <a:solidFill>
              <a:srgbClr val="9E7E0A"/>
            </a:solidFill>
          </c:spPr>
          <c:invertIfNegative val="0"/>
          <c:xVal>
            <c:numRef>
              <c:numCache>
                <c:formatCode>General</c:formatCode>
                <c:ptCount val="1"/>
                <c:pt idx="0">
                  <c:v>118.78130352238708</c:v>
                </c:pt>
              </c:numCache>
            </c:numRef>
          </c:xVal>
          <c:yVal>
            <c:numRef>
              <c:numCache>
                <c:formatCode>General</c:formatCode>
                <c:ptCount val="1"/>
                <c:pt idx="0">
                  <c:v>166.67543119266057</c:v>
                </c:pt>
              </c:numCache>
            </c:numRef>
          </c:yVal>
          <c:bubbleSize>
            <c:numRef>
              <c:numCache>
                <c:formatCode>General</c:formatCode>
                <c:ptCount val="1"/>
                <c:pt idx="0">
                  <c:v>10776.214</c:v>
                </c:pt>
              </c:numCache>
            </c:numRef>
          </c:bubbleSize>
          <c:bubble3D val="0"/>
        </c:ser>
        <c:ser>
          <c:idx val="2"/>
          <c:order val="2"/>
          <c:tx>
            <c:strRef>
              <c:strCache>
                <c:ptCount val="1"/>
                <c:pt idx="0">
                  <c:v>Bulk foodservice packs</c:v>
                </c:pt>
              </c:strCache>
            </c:strRef>
          </c:tx>
          <c:spPr>
            <a:solidFill>
              <a:srgbClr val="008189"/>
            </a:solidFill>
          </c:spPr>
          <c:invertIfNegative val="0"/>
          <c:xVal>
            <c:numRef>
              <c:numCache>
                <c:formatCode>General</c:formatCode>
                <c:ptCount val="1"/>
                <c:pt idx="0">
                  <c:v>54.347359815952004</c:v>
                </c:pt>
              </c:numCache>
            </c:numRef>
          </c:xVal>
          <c:yVal>
            <c:numRef>
              <c:numCache>
                <c:formatCode>General</c:formatCode>
                <c:ptCount val="1"/>
                <c:pt idx="0">
                  <c:v>45.41102752293579</c:v>
                </c:pt>
              </c:numCache>
            </c:numRef>
          </c:yVal>
          <c:bubbleSize>
            <c:numRef>
              <c:numCache>
                <c:formatCode>General</c:formatCode>
                <c:ptCount val="1"/>
                <c:pt idx="0">
                  <c:v>2156.637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3194.192</c:v>
                </c:pt>
                <c:pt idx="2">
                  <c:v>3467.663</c:v>
                </c:pt>
                <c:pt idx="3">
                  <c:v>3764.321</c:v>
                </c:pt>
                <c:pt idx="4">
                  <c:v>4086.025</c:v>
                </c:pt>
                <c:pt idx="5">
                  <c:v>4434.765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3194.192</c:v>
                </c:pt>
                <c:pt idx="1">
                  <c:v>273.471</c:v>
                </c:pt>
                <c:pt idx="2">
                  <c:v>296.6579999999999</c:v>
                </c:pt>
                <c:pt idx="3">
                  <c:v>321.7040000000002</c:v>
                </c:pt>
                <c:pt idx="4">
                  <c:v>348.74000000000024</c:v>
                </c:pt>
                <c:pt idx="5">
                  <c:v>377.89300000000003</c:v>
                </c:pt>
                <c:pt idx="6">
                  <c:v>4812.658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6055.874</c:v>
                </c:pt>
                <c:pt idx="2">
                  <c:v>6789.99</c:v>
                </c:pt>
                <c:pt idx="3">
                  <c:v>7616.267</c:v>
                </c:pt>
                <c:pt idx="4">
                  <c:v>8546.702000000001</c:v>
                </c:pt>
                <c:pt idx="5">
                  <c:v>9594.875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6055.874</c:v>
                </c:pt>
                <c:pt idx="1">
                  <c:v>734.116</c:v>
                </c:pt>
                <c:pt idx="2">
                  <c:v>826.277</c:v>
                </c:pt>
                <c:pt idx="3">
                  <c:v>930.4350000000013</c:v>
                </c:pt>
                <c:pt idx="4">
                  <c:v>1048.1729999999989</c:v>
                </c:pt>
                <c:pt idx="5">
                  <c:v>1181.339</c:v>
                </c:pt>
                <c:pt idx="6">
                  <c:v>10776.214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1649.934</c:v>
                </c:pt>
                <c:pt idx="2">
                  <c:v>1748.403</c:v>
                </c:pt>
                <c:pt idx="3">
                  <c:v>1849.179</c:v>
                </c:pt>
                <c:pt idx="4">
                  <c:v>1951.501</c:v>
                </c:pt>
                <c:pt idx="5">
                  <c:v>2054.401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1649.934</c:v>
                </c:pt>
                <c:pt idx="1">
                  <c:v>98.46900000000005</c:v>
                </c:pt>
                <c:pt idx="2">
                  <c:v>100.77600000000007</c:v>
                </c:pt>
                <c:pt idx="3">
                  <c:v>102.32199999999989</c:v>
                </c:pt>
                <c:pt idx="4">
                  <c:v>102.89999999999986</c:v>
                </c:pt>
                <c:pt idx="5">
                  <c:v>102.23600000000033</c:v>
                </c:pt>
                <c:pt idx="6">
                  <c:v>2156.637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Multipacks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53.14506898945726</c:v>
                </c:pt>
                <c:pt idx="1">
                  <c:v>55.55847706422018</c:v>
                </c:pt>
                <c:pt idx="2">
                  <c:v>60.72642943068017</c:v>
                </c:pt>
              </c:numCache>
            </c:numRef>
          </c:val>
        </c:ser>
        <c:ser>
          <c:idx val="1"/>
          <c:order val="1"/>
          <c:tx>
            <c:strRef>
              <c:strCache>
                <c:ptCount val="1"/>
                <c:pt idx="0">
                  <c:v>Single-muffin packs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30.328515560028823</c:v>
                </c:pt>
                <c:pt idx="1">
                  <c:v>29.304513761467888</c:v>
                </c:pt>
                <c:pt idx="2">
                  <c:v>27.12042804745696</c:v>
                </c:pt>
              </c:numCache>
            </c:numRef>
          </c:val>
        </c:ser>
        <c:ser>
          <c:idx val="2"/>
          <c:order val="2"/>
          <c:tx>
            <c:strRef>
              <c:strCache>
                <c:ptCount val="1"/>
                <c:pt idx="0">
                  <c:v>Bulk foodservice packs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16.526415450513916</c:v>
                </c:pt>
                <c:pt idx="1">
                  <c:v>15.137009174311927</c:v>
                </c:pt>
                <c:pt idx="2">
                  <c:v>12.153142521862856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Individually wrapped muffins within an outer pack</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49.03376502711826</c:v>
                </c:pt>
                <c:pt idx="1">
                  <c:v>49.504731964502085</c:v>
                </c:pt>
                <c:pt idx="2">
                  <c:v>50.32358849457239</c:v>
                </c:pt>
                <c:pt idx="3">
                  <c:v>45.94969345352934</c:v>
                </c:pt>
                <c:pt idx="4">
                  <c:v>44.87900928288033</c:v>
                </c:pt>
                <c:pt idx="5">
                  <c:v>55.47695094217813</c:v>
                </c:pt>
              </c:numCache>
            </c:numRef>
          </c:val>
        </c:ser>
        <c:ser>
          <c:idx val="1"/>
          <c:order val="1"/>
          <c:tx>
            <c:strRef>
              <c:strCache>
                <c:ptCount val="1"/>
                <c:pt idx="0">
                  <c:v>Shared pack without individual wrapping</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50.96623497288175</c:v>
                </c:pt>
                <c:pt idx="1">
                  <c:v>50.49526803549792</c:v>
                </c:pt>
                <c:pt idx="2">
                  <c:v>49.676411505427595</c:v>
                </c:pt>
                <c:pt idx="3">
                  <c:v>54.05030654647066</c:v>
                </c:pt>
                <c:pt idx="4">
                  <c:v>55.12099071711965</c:v>
                </c:pt>
                <c:pt idx="5">
                  <c:v>44.523049057821865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Individually wrapped muffins within an outer pack</c:v>
                </c:pt>
              </c:strCache>
            </c:strRef>
          </c:tx>
          <c:spPr>
            <a:solidFill>
              <a:srgbClr val="3D85C6"/>
            </a:solidFill>
          </c:spPr>
          <c:invertIfNegative val="0"/>
          <c:xVal>
            <c:numRef>
              <c:numCache>
                <c:formatCode>General</c:formatCode>
                <c:ptCount val="1"/>
                <c:pt idx="0">
                  <c:v>103.60035816710888</c:v>
                </c:pt>
              </c:numCache>
            </c:numRef>
          </c:xVal>
          <c:yVal>
            <c:numRef>
              <c:numCache>
                <c:formatCode>General</c:formatCode>
                <c:ptCount val="1"/>
                <c:pt idx="0">
                  <c:v>97.50999999999999</c:v>
                </c:pt>
              </c:numCache>
            </c:numRef>
          </c:yVal>
          <c:bubbleSize>
            <c:numRef>
              <c:numCache>
                <c:formatCode>General</c:formatCode>
                <c:ptCount val="1"/>
                <c:pt idx="0">
                  <c:v>8801.144</c:v>
                </c:pt>
              </c:numCache>
            </c:numRef>
          </c:bubbleSize>
          <c:bubble3D val="0"/>
        </c:ser>
        <c:ser>
          <c:idx val="1"/>
          <c:order val="1"/>
          <c:tx>
            <c:strRef>
              <c:strCache>
                <c:ptCount val="1"/>
                <c:pt idx="0">
                  <c:v>Shared pack without individual wrapping</c:v>
                </c:pt>
              </c:strCache>
            </c:strRef>
          </c:tx>
          <c:spPr>
            <a:solidFill>
              <a:srgbClr val="9E7E0A"/>
            </a:solidFill>
          </c:spPr>
          <c:invertIfNegative val="0"/>
          <c:xVal>
            <c:numRef>
              <c:numCache>
                <c:formatCode>General</c:formatCode>
                <c:ptCount val="1"/>
                <c:pt idx="0">
                  <c:v>96.52228825126711</c:v>
                </c:pt>
              </c:numCache>
            </c:numRef>
          </c:xVal>
          <c:yVal>
            <c:numRef>
              <c:numCache>
                <c:formatCode>General</c:formatCode>
                <c:ptCount val="1"/>
                <c:pt idx="0">
                  <c:v>102.49</c:v>
                </c:pt>
              </c:numCache>
            </c:numRef>
          </c:yVal>
          <c:bubbleSize>
            <c:numRef>
              <c:numCache>
                <c:formatCode>General</c:formatCode>
                <c:ptCount val="1"/>
                <c:pt idx="0">
                  <c:v>8944.365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5314.295</c:v>
                </c:pt>
                <c:pt idx="2">
                  <c:v>5879.283</c:v>
                </c:pt>
                <c:pt idx="3">
                  <c:v>6503.39</c:v>
                </c:pt>
                <c:pt idx="4">
                  <c:v>7193.31</c:v>
                </c:pt>
                <c:pt idx="5">
                  <c:v>7956.464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5314.295</c:v>
                </c:pt>
                <c:pt idx="1">
                  <c:v>564.9880000000003</c:v>
                </c:pt>
                <c:pt idx="2">
                  <c:v>624.107</c:v>
                </c:pt>
                <c:pt idx="3">
                  <c:v>689.9200000000001</c:v>
                </c:pt>
                <c:pt idx="4">
                  <c:v>763.1539999999995</c:v>
                </c:pt>
                <c:pt idx="5">
                  <c:v>844.6800000000003</c:v>
                </c:pt>
                <c:pt idx="6">
                  <c:v>8801.144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5585.705</c:v>
                </c:pt>
                <c:pt idx="2">
                  <c:v>6126.773</c:v>
                </c:pt>
                <c:pt idx="3">
                  <c:v>6726.377</c:v>
                </c:pt>
                <c:pt idx="4">
                  <c:v>7390.918</c:v>
                </c:pt>
                <c:pt idx="5">
                  <c:v>8127.577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5585.705</c:v>
                </c:pt>
                <c:pt idx="1">
                  <c:v>541.0680000000002</c:v>
                </c:pt>
                <c:pt idx="2">
                  <c:v>599.6040000000003</c:v>
                </c:pt>
                <c:pt idx="3">
                  <c:v>664.5409999999993</c:v>
                </c:pt>
                <c:pt idx="4">
                  <c:v>736.6590000000006</c:v>
                </c:pt>
                <c:pt idx="5">
                  <c:v>816.7879999999996</c:v>
                </c:pt>
                <c:pt idx="6">
                  <c:v>8944.365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Shared pack without individual wrapping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51.92661176480623</c:v>
                </c:pt>
                <c:pt idx="1">
                  <c:v>51.245</c:v>
                </c:pt>
                <c:pt idx="2">
                  <c:v>50.4035415383126</c:v>
                </c:pt>
              </c:numCache>
            </c:numRef>
          </c:val>
        </c:ser>
        <c:ser>
          <c:idx val="1"/>
          <c:order val="1"/>
          <c:tx>
            <c:strRef>
              <c:strCache>
                <c:ptCount val="1"/>
                <c:pt idx="0">
                  <c:v>Individually wrapped muffins within an outer pack</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48.07338823519377</c:v>
                </c:pt>
                <c:pt idx="1">
                  <c:v>48.754999999999995</c:v>
                </c:pt>
                <c:pt idx="2">
                  <c:v>49.59645846168741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Economy / value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15.264758291005903</c:v>
                </c:pt>
                <c:pt idx="1">
                  <c:v>13.069325735992402</c:v>
                </c:pt>
                <c:pt idx="2">
                  <c:v>15.703617767524339</c:v>
                </c:pt>
                <c:pt idx="3">
                  <c:v>19.392818054115853</c:v>
                </c:pt>
                <c:pt idx="4">
                  <c:v>15.975960272903272</c:v>
                </c:pt>
                <c:pt idx="5">
                  <c:v>15.867361673336156</c:v>
                </c:pt>
              </c:numCache>
            </c:numRef>
          </c:val>
        </c:ser>
        <c:ser>
          <c:idx val="1"/>
          <c:order val="1"/>
          <c:tx>
            <c:strRef>
              <c:strCache>
                <c:ptCount val="1"/>
                <c:pt idx="0">
                  <c:v>Mid-range</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29.931112002689897</c:v>
                </c:pt>
                <c:pt idx="1">
                  <c:v>34.263876608704194</c:v>
                </c:pt>
                <c:pt idx="2">
                  <c:v>30.32109680352265</c:v>
                </c:pt>
                <c:pt idx="3">
                  <c:v>28.67878449538981</c:v>
                </c:pt>
                <c:pt idx="4">
                  <c:v>29.90637219293091</c:v>
                </c:pt>
                <c:pt idx="5">
                  <c:v>32.64226820647107</c:v>
                </c:pt>
              </c:numCache>
            </c:numRef>
          </c:val>
        </c:ser>
        <c:ser>
          <c:idx val="2"/>
          <c:order val="2"/>
          <c:tx>
            <c:strRef>
              <c:strCache>
                <c:ptCount val="1"/>
                <c:pt idx="0">
                  <c:v>Premium</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31.334861290013432</c:v>
                </c:pt>
                <c:pt idx="1">
                  <c:v>32.81337393981072</c:v>
                </c:pt>
                <c:pt idx="2">
                  <c:v>29.628680600992347</c:v>
                </c:pt>
                <c:pt idx="3">
                  <c:v>31.154359510372544</c:v>
                </c:pt>
                <c:pt idx="4">
                  <c:v>31.63099398631053</c:v>
                </c:pt>
                <c:pt idx="5">
                  <c:v>31.717275949454105</c:v>
                </c:pt>
              </c:numCache>
            </c:numRef>
          </c:val>
        </c:ser>
        <c:ser>
          <c:idx val="3"/>
          <c:order val="3"/>
          <c:tx>
            <c:strRef>
              <c:strCache>
                <c:ptCount val="1"/>
                <c:pt idx="0">
                  <c:v>Super-premium / speciality</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23.46926841629077</c:v>
                </c:pt>
                <c:pt idx="1">
                  <c:v>19.85342371549268</c:v>
                </c:pt>
                <c:pt idx="2">
                  <c:v>24.34660482796066</c:v>
                </c:pt>
                <c:pt idx="3">
                  <c:v>20.774037940121787</c:v>
                </c:pt>
                <c:pt idx="4">
                  <c:v>22.486673547855276</c:v>
                </c:pt>
                <c:pt idx="5">
                  <c:v>19.77309417073866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Economy / value</c:v>
                </c:pt>
              </c:strCache>
            </c:strRef>
          </c:tx>
          <c:spPr>
            <a:solidFill>
              <a:srgbClr val="3D85C6"/>
            </a:solidFill>
          </c:spPr>
          <c:invertIfNegative val="0"/>
          <c:xVal>
            <c:numRef>
              <c:numCache>
                <c:formatCode>General</c:formatCode>
                <c:ptCount val="1"/>
                <c:pt idx="0">
                  <c:v>41.795492000783966</c:v>
                </c:pt>
              </c:numCache>
            </c:numRef>
          </c:xVal>
          <c:yVal>
            <c:numRef>
              <c:numCache>
                <c:formatCode>General</c:formatCode>
                <c:ptCount val="1"/>
                <c:pt idx="0">
                  <c:v>85.0353394495413</c:v>
                </c:pt>
              </c:numCache>
            </c:numRef>
          </c:yVal>
          <c:bubbleSize>
            <c:numRef>
              <c:numCache>
                <c:formatCode>General</c:formatCode>
                <c:ptCount val="1"/>
                <c:pt idx="0">
                  <c:v>2848.978</c:v>
                </c:pt>
              </c:numCache>
            </c:numRef>
          </c:bubbleSize>
          <c:bubble3D val="0"/>
        </c:ser>
        <c:ser>
          <c:idx val="1"/>
          <c:order val="1"/>
          <c:tx>
            <c:strRef>
              <c:strCache>
                <c:ptCount val="1"/>
                <c:pt idx="0">
                  <c:v>Mid-range</c:v>
                </c:pt>
              </c:strCache>
            </c:strRef>
          </c:tx>
          <c:spPr>
            <a:solidFill>
              <a:srgbClr val="9E7E0A"/>
            </a:solidFill>
          </c:spPr>
          <c:invertIfNegative val="0"/>
          <c:xVal>
            <c:numRef>
              <c:numCache>
                <c:formatCode>General</c:formatCode>
                <c:ptCount val="1"/>
                <c:pt idx="0">
                  <c:v>150.93035664034667</c:v>
                </c:pt>
              </c:numCache>
            </c:numRef>
          </c:xVal>
          <c:yVal>
            <c:numRef>
              <c:numCache>
                <c:formatCode>General</c:formatCode>
                <c:ptCount val="1"/>
                <c:pt idx="0">
                  <c:v>97.60601834862386</c:v>
                </c:pt>
              </c:numCache>
            </c:numRef>
          </c:yVal>
          <c:bubbleSize>
            <c:numRef>
              <c:numCache>
                <c:formatCode>General</c:formatCode>
                <c:ptCount val="1"/>
                <c:pt idx="0">
                  <c:v>5501.311</c:v>
                </c:pt>
              </c:numCache>
            </c:numRef>
          </c:bubbleSize>
          <c:bubble3D val="0"/>
        </c:ser>
        <c:ser>
          <c:idx val="2"/>
          <c:order val="2"/>
          <c:tx>
            <c:strRef>
              <c:strCache>
                <c:ptCount val="1"/>
                <c:pt idx="0">
                  <c:v>Premium</c:v>
                </c:pt>
              </c:strCache>
            </c:strRef>
          </c:tx>
          <c:spPr>
            <a:solidFill>
              <a:srgbClr val="008189"/>
            </a:solidFill>
          </c:spPr>
          <c:invertIfNegative val="0"/>
          <c:xVal>
            <c:numRef>
              <c:numCache>
                <c:formatCode>General</c:formatCode>
                <c:ptCount val="1"/>
                <c:pt idx="0">
                  <c:v>60.643342363194044</c:v>
                </c:pt>
              </c:numCache>
            </c:numRef>
          </c:xVal>
          <c:yVal>
            <c:numRef>
              <c:numCache>
                <c:formatCode>General</c:formatCode>
                <c:ptCount val="1"/>
                <c:pt idx="0">
                  <c:v>151.82785321100917</c:v>
                </c:pt>
              </c:numCache>
            </c:numRef>
          </c:yVal>
          <c:bubbleSize>
            <c:numRef>
              <c:numCache>
                <c:formatCode>General</c:formatCode>
                <c:ptCount val="1"/>
                <c:pt idx="0">
                  <c:v>5575.753</c:v>
                </c:pt>
              </c:numCache>
            </c:numRef>
          </c:bubbleSize>
          <c:bubble3D val="0"/>
        </c:ser>
        <c:ser>
          <c:idx val="3"/>
          <c:order val="3"/>
          <c:tx>
            <c:strRef>
              <c:strCache>
                <c:ptCount val="1"/>
                <c:pt idx="0">
                  <c:v>Super-premium / speciality</c:v>
                </c:pt>
              </c:strCache>
            </c:strRef>
          </c:tx>
          <c:spPr>
            <a:solidFill>
              <a:srgbClr val="40315E"/>
            </a:solidFill>
          </c:spPr>
          <c:invertIfNegative val="0"/>
          <c:xVal>
            <c:numRef>
              <c:numCache>
                <c:formatCode>General</c:formatCode>
                <c:ptCount val="1"/>
                <c:pt idx="0">
                  <c:v>158.16496336581196</c:v>
                </c:pt>
              </c:numCache>
            </c:numRef>
          </c:xVal>
          <c:yVal>
            <c:numRef>
              <c:numCache>
                <c:formatCode>General</c:formatCode>
                <c:ptCount val="1"/>
                <c:pt idx="0">
                  <c:v>65.53078899082568</c:v>
                </c:pt>
              </c:numCache>
            </c:numRef>
          </c:yVal>
          <c:bubbleSize>
            <c:numRef>
              <c:numCache>
                <c:formatCode>General</c:formatCode>
                <c:ptCount val="1"/>
                <c:pt idx="0">
                  <c:v>3819.467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1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2317.213</c:v>
                </c:pt>
                <c:pt idx="2">
                  <c:v>2429.911</c:v>
                </c:pt>
                <c:pt idx="3">
                  <c:v>2541.306</c:v>
                </c:pt>
                <c:pt idx="4">
                  <c:v>2649.724</c:v>
                </c:pt>
                <c:pt idx="5">
                  <c:v>2753.119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2317.213</c:v>
                </c:pt>
                <c:pt idx="1">
                  <c:v>112.69799999999987</c:v>
                </c:pt>
                <c:pt idx="2">
                  <c:v>111.39499999999998</c:v>
                </c:pt>
                <c:pt idx="3">
                  <c:v>108.41800000000012</c:v>
                </c:pt>
                <c:pt idx="4">
                  <c:v>103.39499999999998</c:v>
                </c:pt>
                <c:pt idx="5">
                  <c:v>95.85899999999992</c:v>
                </c:pt>
                <c:pt idx="6">
                  <c:v>2848.978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2659.764</c:v>
                </c:pt>
                <c:pt idx="2">
                  <c:v>3085.432</c:v>
                </c:pt>
                <c:pt idx="3">
                  <c:v>3573.018</c:v>
                </c:pt>
                <c:pt idx="4">
                  <c:v>4131.286</c:v>
                </c:pt>
                <c:pt idx="5">
                  <c:v>4770.244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2659.764</c:v>
                </c:pt>
                <c:pt idx="1">
                  <c:v>425.66799999999967</c:v>
                </c:pt>
                <c:pt idx="2">
                  <c:v>487.58600000000024</c:v>
                </c:pt>
                <c:pt idx="3">
                  <c:v>558.268</c:v>
                </c:pt>
                <c:pt idx="4">
                  <c:v>638.9579999999996</c:v>
                </c:pt>
                <c:pt idx="5">
                  <c:v>731.067</c:v>
                </c:pt>
                <c:pt idx="6">
                  <c:v>5501.311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4137.309</c:v>
                </c:pt>
                <c:pt idx="2">
                  <c:v>4402.756</c:v>
                </c:pt>
                <c:pt idx="3">
                  <c:v>4679.993</c:v>
                </c:pt>
                <c:pt idx="4">
                  <c:v>4968.503</c:v>
                </c:pt>
                <c:pt idx="5">
                  <c:v>5267.466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4137.309</c:v>
                </c:pt>
                <c:pt idx="1">
                  <c:v>265.4470000000001</c:v>
                </c:pt>
                <c:pt idx="2">
                  <c:v>277.2370000000001</c:v>
                </c:pt>
                <c:pt idx="3">
                  <c:v>288.5099999999993</c:v>
                </c:pt>
                <c:pt idx="4">
                  <c:v>298.96300000000065</c:v>
                </c:pt>
                <c:pt idx="5">
                  <c:v>308.28699999999935</c:v>
                </c:pt>
                <c:pt idx="6">
                  <c:v>5575.753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1785.714</c:v>
                </c:pt>
                <c:pt idx="2">
                  <c:v>2087.957</c:v>
                </c:pt>
                <c:pt idx="3">
                  <c:v>2435.45</c:v>
                </c:pt>
                <c:pt idx="4">
                  <c:v>2834.715</c:v>
                </c:pt>
                <c:pt idx="5">
                  <c:v>3293.212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1785.714</c:v>
                </c:pt>
                <c:pt idx="1">
                  <c:v>302.24299999999994</c:v>
                </c:pt>
                <c:pt idx="2">
                  <c:v>347.49299999999994</c:v>
                </c:pt>
                <c:pt idx="3">
                  <c:v>399.2650000000003</c:v>
                </c:pt>
                <c:pt idx="4">
                  <c:v>458.49699999999984</c:v>
                </c:pt>
                <c:pt idx="5">
                  <c:v>526.2550000000001</c:v>
                </c:pt>
                <c:pt idx="6">
                  <c:v>3819.467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Premium</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41.12623933778381</c:v>
                </c:pt>
                <c:pt idx="1">
                  <c:v>37.95696330275229</c:v>
                </c:pt>
                <c:pt idx="2">
                  <c:v>31.420642822924943</c:v>
                </c:pt>
              </c:numCache>
            </c:numRef>
          </c:val>
        </c:ser>
        <c:ser>
          <c:idx val="1"/>
          <c:order val="1"/>
          <c:tx>
            <c:strRef>
              <c:strCache>
                <c:ptCount val="1"/>
                <c:pt idx="0">
                  <c:v>Mid-range</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21.204715673112684</c:v>
                </c:pt>
                <c:pt idx="1">
                  <c:v>24.401504587155966</c:v>
                </c:pt>
                <c:pt idx="2">
                  <c:v>31.001145134805657</c:v>
                </c:pt>
              </c:numCache>
            </c:numRef>
          </c:val>
        </c:ser>
        <c:ser>
          <c:idx val="2"/>
          <c:order val="2"/>
          <c:tx>
            <c:strRef>
              <c:strCache>
                <c:ptCount val="1"/>
                <c:pt idx="0">
                  <c:v>Super-premium / speciality</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13.904039437040819</c:v>
                </c:pt>
                <c:pt idx="1">
                  <c:v>16.38269724770642</c:v>
                </c:pt>
                <c:pt idx="2">
                  <c:v>21.52356970994746</c:v>
                </c:pt>
              </c:numCache>
            </c:numRef>
          </c:val>
        </c:ser>
        <c:ser>
          <c:idx val="3"/>
          <c:order val="3"/>
          <c:tx>
            <c:strRef>
              <c:strCache>
                <c:ptCount val="1"/>
                <c:pt idx="0">
                  <c:v>Economy / value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23.76500555206268</c:v>
                </c:pt>
                <c:pt idx="1">
                  <c:v>21.258834862385324</c:v>
                </c:pt>
                <c:pt idx="2">
                  <c:v>16.054642332321944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Manufacturer brands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41.03099716228882</c:v>
                </c:pt>
                <c:pt idx="1">
                  <c:v>42.258768051871506</c:v>
                </c:pt>
                <c:pt idx="2">
                  <c:v>41.19609122593409</c:v>
                </c:pt>
                <c:pt idx="3">
                  <c:v>46.07171575716697</c:v>
                </c:pt>
                <c:pt idx="4">
                  <c:v>42.94977134452346</c:v>
                </c:pt>
                <c:pt idx="5">
                  <c:v>39.132643930752884</c:v>
                </c:pt>
              </c:numCache>
            </c:numRef>
          </c:val>
        </c:ser>
        <c:ser>
          <c:idx val="1"/>
          <c:order val="1"/>
          <c:tx>
            <c:strRef>
              <c:strCache>
                <c:ptCount val="1"/>
                <c:pt idx="0">
                  <c:v>Retailer private labels</c:v>
                </c:pt>
              </c:strCache>
            </c:strRef>
          </c:tx>
          <c:spPr>
            <a:solidFill>
              <a:srgbClr val="9E7E0A"/>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42.925051613207124</c:v>
                </c:pt>
                <c:pt idx="1">
                  <c:v>43.602318498870225</c:v>
                </c:pt>
                <c:pt idx="2">
                  <c:v>45.0341790209333</c:v>
                </c:pt>
                <c:pt idx="3">
                  <c:v>39.36714324787595</c:v>
                </c:pt>
                <c:pt idx="4">
                  <c:v>43.005642271409286</c:v>
                </c:pt>
                <c:pt idx="5">
                  <c:v>44.37297155327041</c:v>
                </c:pt>
              </c:numCache>
            </c:numRef>
          </c:val>
        </c:ser>
        <c:ser>
          <c:idx val="2"/>
          <c:order val="2"/>
          <c:tx>
            <c:strRef>
              <c:strCache>
                <c:ptCount val="1"/>
                <c:pt idx="0">
                  <c:v>Foodservice / operator brands</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16.043951224504045</c:v>
                </c:pt>
                <c:pt idx="1">
                  <c:v>14.138913449258277</c:v>
                </c:pt>
                <c:pt idx="2">
                  <c:v>13.769729753132617</c:v>
                </c:pt>
                <c:pt idx="3">
                  <c:v>14.561140994957073</c:v>
                </c:pt>
                <c:pt idx="4">
                  <c:v>14.044586384067232</c:v>
                </c:pt>
                <c:pt idx="5">
                  <c:v>16.494384515976694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Manufacturer brands</c:v>
                </c:pt>
              </c:strCache>
            </c:strRef>
          </c:tx>
          <c:spPr>
            <a:solidFill>
              <a:srgbClr val="3D85C6"/>
            </a:solidFill>
          </c:spPr>
          <c:invertIfNegative val="0"/>
          <c:xVal>
            <c:numRef>
              <c:numCache>
                <c:formatCode>General</c:formatCode>
                <c:ptCount val="1"/>
                <c:pt idx="0">
                  <c:v>94.03901539728679</c:v>
                </c:pt>
              </c:numCache>
            </c:numRef>
          </c:xVal>
          <c:yVal>
            <c:numRef>
              <c:numCache>
                <c:formatCode>General</c:formatCode>
                <c:ptCount val="1"/>
                <c:pt idx="0">
                  <c:v>128.97836697247706</c:v>
                </c:pt>
              </c:numCache>
            </c:numRef>
          </c:yVal>
          <c:bubbleSize>
            <c:numRef>
              <c:numCache>
                <c:formatCode>General</c:formatCode>
                <c:ptCount val="1"/>
                <c:pt idx="0">
                  <c:v>7415.697</c:v>
                </c:pt>
              </c:numCache>
            </c:numRef>
          </c:bubbleSize>
          <c:bubble3D val="0"/>
        </c:ser>
        <c:ser>
          <c:idx val="1"/>
          <c:order val="1"/>
          <c:tx>
            <c:strRef>
              <c:strCache>
                <c:ptCount val="1"/>
                <c:pt idx="0">
                  <c:v>Retailer private labels</c:v>
                </c:pt>
              </c:strCache>
            </c:strRef>
          </c:tx>
          <c:spPr>
            <a:solidFill>
              <a:srgbClr val="9E7E0A"/>
            </a:solidFill>
          </c:spPr>
          <c:invertIfNegative val="0"/>
          <c:xVal>
            <c:numRef>
              <c:numCache>
                <c:formatCode>General</c:formatCode>
                <c:ptCount val="1"/>
                <c:pt idx="0">
                  <c:v>106.79201786662267</c:v>
                </c:pt>
              </c:numCache>
            </c:numRef>
          </c:xVal>
          <c:yVal>
            <c:numRef>
              <c:numCache>
                <c:formatCode>General</c:formatCode>
                <c:ptCount val="1"/>
                <c:pt idx="0">
                  <c:v>125.62596330275228</c:v>
                </c:pt>
              </c:numCache>
            </c:numRef>
          </c:yVal>
          <c:bubbleSize>
            <c:numRef>
              <c:numCache>
                <c:formatCode>General</c:formatCode>
                <c:ptCount val="1"/>
                <c:pt idx="0">
                  <c:v>7674.594</c:v>
                </c:pt>
              </c:numCache>
            </c:numRef>
          </c:bubbleSize>
          <c:bubble3D val="0"/>
        </c:ser>
        <c:ser>
          <c:idx val="2"/>
          <c:order val="2"/>
          <c:tx>
            <c:strRef>
              <c:strCache>
                <c:ptCount val="1"/>
                <c:pt idx="0">
                  <c:v>Foodservice / operator brands</c:v>
                </c:pt>
              </c:strCache>
            </c:strRef>
          </c:tx>
          <c:spPr>
            <a:solidFill>
              <a:srgbClr val="008189"/>
            </a:solidFill>
          </c:spPr>
          <c:invertIfNegative val="0"/>
          <c:xVal>
            <c:numRef>
              <c:numCache>
                <c:formatCode>General</c:formatCode>
                <c:ptCount val="1"/>
                <c:pt idx="0">
                  <c:v>97.63842296952382</c:v>
                </c:pt>
              </c:numCache>
            </c:numRef>
          </c:xVal>
          <c:yVal>
            <c:numRef>
              <c:numCache>
                <c:formatCode>General</c:formatCode>
                <c:ptCount val="1"/>
                <c:pt idx="0">
                  <c:v>45.395669724770634</c:v>
                </c:pt>
              </c:numCache>
            </c:numRef>
          </c:yVal>
          <c:bubbleSize>
            <c:numRef>
              <c:numCache>
                <c:formatCode>General</c:formatCode>
                <c:ptCount val="1"/>
                <c:pt idx="0">
                  <c:v>2655.218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4686.214</c:v>
                </c:pt>
                <c:pt idx="2">
                  <c:v>5129.111</c:v>
                </c:pt>
                <c:pt idx="3">
                  <c:v>5618.165</c:v>
                </c:pt>
                <c:pt idx="4">
                  <c:v>6158.433</c:v>
                </c:pt>
                <c:pt idx="5">
                  <c:v>6755.514999999999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4686.214</c:v>
                </c:pt>
                <c:pt idx="1">
                  <c:v>442.89699999999993</c:v>
                </c:pt>
                <c:pt idx="2">
                  <c:v>489.0540000000001</c:v>
                </c:pt>
                <c:pt idx="3">
                  <c:v>540.268</c:v>
                </c:pt>
                <c:pt idx="4">
                  <c:v>597.0819999999994</c:v>
                </c:pt>
                <c:pt idx="5">
                  <c:v>660.1820000000007</c:v>
                </c:pt>
                <c:pt idx="6">
                  <c:v>7415.697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4564.41</c:v>
                </c:pt>
                <c:pt idx="2">
                  <c:v>5064.439</c:v>
                </c:pt>
                <c:pt idx="3">
                  <c:v>5618.927</c:v>
                </c:pt>
                <c:pt idx="4">
                  <c:v>6234.037</c:v>
                </c:pt>
                <c:pt idx="5">
                  <c:v>6916.698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4564.41</c:v>
                </c:pt>
                <c:pt idx="1">
                  <c:v>500.02900000000045</c:v>
                </c:pt>
                <c:pt idx="2">
                  <c:v>554.4879999999994</c:v>
                </c:pt>
                <c:pt idx="3">
                  <c:v>615.1100000000006</c:v>
                </c:pt>
                <c:pt idx="4">
                  <c:v>682.6610000000001</c:v>
                </c:pt>
                <c:pt idx="5">
                  <c:v>757.8959999999997</c:v>
                </c:pt>
                <c:pt idx="6">
                  <c:v>7674.594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1649.376</c:v>
                </c:pt>
                <c:pt idx="2">
                  <c:v>1812.506</c:v>
                </c:pt>
                <c:pt idx="3">
                  <c:v>1992.675</c:v>
                </c:pt>
                <c:pt idx="4">
                  <c:v>2191.758</c:v>
                </c:pt>
                <c:pt idx="5">
                  <c:v>2411.828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1649.376</c:v>
                </c:pt>
                <c:pt idx="1">
                  <c:v>163.1300000000001</c:v>
                </c:pt>
                <c:pt idx="2">
                  <c:v>180.16899999999987</c:v>
                </c:pt>
                <c:pt idx="3">
                  <c:v>199.08299999999986</c:v>
                </c:pt>
                <c:pt idx="4">
                  <c:v>220.07000000000016</c:v>
                </c:pt>
                <c:pt idx="5">
                  <c:v>243.38999999999987</c:v>
                </c:pt>
                <c:pt idx="6">
                  <c:v>2655.218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Retailer private labels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41.01884558846141</c:v>
                </c:pt>
                <c:pt idx="1">
                  <c:v>41.87532110091743</c:v>
                </c:pt>
                <c:pt idx="2">
                  <c:v>43.24809167209575</c:v>
                </c:pt>
              </c:numCache>
            </c:numRef>
          </c:val>
        </c:ser>
        <c:ser>
          <c:idx val="1"/>
          <c:order val="1"/>
          <c:tx>
            <c:strRef>
              <c:strCache>
                <c:ptCount val="1"/>
                <c:pt idx="0">
                  <c:v>Manufacturer brands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43.756718422320844</c:v>
                </c:pt>
                <c:pt idx="1">
                  <c:v>42.99278899082569</c:v>
                </c:pt>
                <c:pt idx="2">
                  <c:v>41.78914789088327</c:v>
                </c:pt>
              </c:numCache>
            </c:numRef>
          </c:val>
        </c:ser>
        <c:ser>
          <c:idx val="2"/>
          <c:order val="2"/>
          <c:tx>
            <c:strRef>
              <c:strCache>
                <c:ptCount val="1"/>
                <c:pt idx="0">
                  <c:v>Foodservice / operator brands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15.224435989217755</c:v>
                </c:pt>
                <c:pt idx="1">
                  <c:v>15.131889908256879</c:v>
                </c:pt>
                <c:pt idx="2">
                  <c:v>14.962760437020995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Retail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57.561436365910424</c:v>
                </c:pt>
                <c:pt idx="1">
                  <c:v>57.28591544683499</c:v>
                </c:pt>
                <c:pt idx="2">
                  <c:v>58.407623867749514</c:v>
                </c:pt>
                <c:pt idx="3">
                  <c:v>57.90921868997996</c:v>
                </c:pt>
                <c:pt idx="4">
                  <c:v>58.86821917304304</c:v>
                </c:pt>
                <c:pt idx="5">
                  <c:v>57.75661964337818</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38.12092190690293</c:v>
                </c:pt>
                <c:pt idx="1">
                  <c:v>38.639944984772576</c:v>
                </c:pt>
                <c:pt idx="2">
                  <c:v>37.83438471798166</c:v>
                </c:pt>
                <c:pt idx="3">
                  <c:v>38.10798887453869</c:v>
                </c:pt>
                <c:pt idx="4">
                  <c:v>36.75980663319421</c:v>
                </c:pt>
                <c:pt idx="5">
                  <c:v>37.89158105175301</c:v>
                </c:pt>
              </c:numCache>
            </c:numRef>
          </c:val>
        </c:ser>
        <c:ser>
          <c:idx val="2"/>
          <c:order val="2"/>
          <c:tx>
            <c:strRef>
              <c:strCache>
                <c:ptCount val="1"/>
                <c:pt idx="0">
                  <c:v>Vending</c:v>
                </c:pt>
              </c:strCache>
            </c:strRef>
          </c:tx>
          <c:spPr>
            <a:solidFill>
              <a:srgbClr val="008189"/>
            </a:solidFill>
            <a:ln>
              <a:noFill/>
            </a:ln>
          </c:spPr>
          <c:dLbls>
            <c:dLbl>
              <c:idx val="0"/>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4.317641727186637</c:v>
                </c:pt>
                <c:pt idx="1">
                  <c:v>4.074139568392442</c:v>
                </c:pt>
                <c:pt idx="2">
                  <c:v>3.757991414268819</c:v>
                </c:pt>
                <c:pt idx="3">
                  <c:v>3.982792435481355</c:v>
                </c:pt>
                <c:pt idx="4">
                  <c:v>4.371974193762748</c:v>
                </c:pt>
                <c:pt idx="5">
                  <c:v>4.351799304868795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Retail</c:v>
                </c:pt>
              </c:strCache>
            </c:strRef>
          </c:tx>
          <c:spPr>
            <a:solidFill>
              <a:srgbClr val="3D85C6"/>
            </a:solidFill>
          </c:spPr>
          <c:invertIfNegative val="0"/>
          <c:xVal>
            <c:numRef>
              <c:numCache>
                <c:formatCode>General</c:formatCode>
                <c:ptCount val="1"/>
                <c:pt idx="0">
                  <c:v>86.52080631920465</c:v>
                </c:pt>
              </c:numCache>
            </c:numRef>
          </c:xVal>
          <c:yVal>
            <c:numRef>
              <c:numCache>
                <c:formatCode>General</c:formatCode>
                <c:ptCount val="1"/>
                <c:pt idx="0">
                  <c:v>185.95144954128443</c:v>
                </c:pt>
              </c:numCache>
            </c:numRef>
          </c:yVal>
          <c:bubbleSize>
            <c:numRef>
              <c:numCache>
                <c:formatCode>General</c:formatCode>
                <c:ptCount val="1"/>
                <c:pt idx="0">
                  <c:v>10314.089</c:v>
                </c:pt>
              </c:numCache>
            </c:numRef>
          </c:bubbleSize>
          <c:bubble3D val="0"/>
        </c:ser>
        <c:ser>
          <c:idx val="1"/>
          <c:order val="1"/>
          <c:tx>
            <c:strRef>
              <c:strCache>
                <c:ptCount val="1"/>
                <c:pt idx="0">
                  <c:v>Foodservice and institutional</c:v>
                </c:pt>
              </c:strCache>
            </c:strRef>
          </c:tx>
          <c:spPr>
            <a:solidFill>
              <a:srgbClr val="9E7E0A"/>
            </a:solidFill>
          </c:spPr>
          <c:invertIfNegative val="0"/>
          <c:xVal>
            <c:numRef>
              <c:numCache>
                <c:formatCode>General</c:formatCode>
                <c:ptCount val="1"/>
                <c:pt idx="0">
                  <c:v>123.31791949480015</c:v>
                </c:pt>
              </c:numCache>
            </c:numRef>
          </c:xVal>
          <c:yVal>
            <c:numRef>
              <c:numCache>
                <c:formatCode>General</c:formatCode>
                <c:ptCount val="1"/>
                <c:pt idx="0">
                  <c:v>101.20783486238531</c:v>
                </c:pt>
              </c:numCache>
            </c:numRef>
          </c:yVal>
          <c:bubbleSize>
            <c:numRef>
              <c:numCache>
                <c:formatCode>General</c:formatCode>
                <c:ptCount val="1"/>
                <c:pt idx="0">
                  <c:v>6684.792</c:v>
                </c:pt>
              </c:numCache>
            </c:numRef>
          </c:bubbleSize>
          <c:bubble3D val="0"/>
        </c:ser>
        <c:ser>
          <c:idx val="2"/>
          <c:order val="2"/>
          <c:tx>
            <c:strRef>
              <c:strCache>
                <c:ptCount val="1"/>
                <c:pt idx="0">
                  <c:v>Vending</c:v>
                </c:pt>
              </c:strCache>
            </c:strRef>
          </c:tx>
          <c:spPr>
            <a:solidFill>
              <a:srgbClr val="008189"/>
            </a:solidFill>
          </c:spPr>
          <c:invertIfNegative val="0"/>
          <c:xVal>
            <c:numRef>
              <c:numCache>
                <c:formatCode>General</c:formatCode>
                <c:ptCount val="1"/>
                <c:pt idx="0">
                  <c:v>96.3958161296475</c:v>
                </c:pt>
              </c:numCache>
            </c:numRef>
          </c:xVal>
          <c:yVal>
            <c:numRef>
              <c:numCache>
                <c:formatCode>General</c:formatCode>
                <c:ptCount val="1"/>
                <c:pt idx="0">
                  <c:v>12.840715596330277</c:v>
                </c:pt>
              </c:numCache>
            </c:numRef>
          </c:yVal>
          <c:bubbleSize>
            <c:numRef>
              <c:numCache>
                <c:formatCode>General</c:formatCode>
                <c:ptCount val="1"/>
                <c:pt idx="0">
                  <c:v>746.628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6756.236</c:v>
                </c:pt>
                <c:pt idx="2">
                  <c:v>7347.257</c:v>
                </c:pt>
                <c:pt idx="3">
                  <c:v>7992.967</c:v>
                </c:pt>
                <c:pt idx="4">
                  <c:v>8698.666</c:v>
                </c:pt>
                <c:pt idx="5">
                  <c:v>9470.232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6756.236</c:v>
                </c:pt>
                <c:pt idx="1">
                  <c:v>591.0209999999997</c:v>
                </c:pt>
                <c:pt idx="2">
                  <c:v>645.71</c:v>
                </c:pt>
                <c:pt idx="3">
                  <c:v>705.6989999999996</c:v>
                </c:pt>
                <c:pt idx="4">
                  <c:v>771.5660000000007</c:v>
                </c:pt>
                <c:pt idx="5">
                  <c:v>843.857</c:v>
                </c:pt>
                <c:pt idx="6">
                  <c:v>10314.089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3677.218</c:v>
                </c:pt>
                <c:pt idx="2">
                  <c:v>4146.699</c:v>
                </c:pt>
                <c:pt idx="3">
                  <c:v>4674.46</c:v>
                </c:pt>
                <c:pt idx="4">
                  <c:v>5267.768</c:v>
                </c:pt>
                <c:pt idx="5">
                  <c:v>5934.8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3677.218</c:v>
                </c:pt>
                <c:pt idx="1">
                  <c:v>469.48099999999977</c:v>
                </c:pt>
                <c:pt idx="2">
                  <c:v>527.7610000000004</c:v>
                </c:pt>
                <c:pt idx="3">
                  <c:v>593.308</c:v>
                </c:pt>
                <c:pt idx="4">
                  <c:v>667.0320000000002</c:v>
                </c:pt>
                <c:pt idx="5">
                  <c:v>749.9920000000002</c:v>
                </c:pt>
                <c:pt idx="6">
                  <c:v>6684.792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466.546</c:v>
                </c:pt>
                <c:pt idx="2">
                  <c:v>512.1</c:v>
                </c:pt>
                <c:pt idx="3">
                  <c:v>562.34</c:v>
                </c:pt>
                <c:pt idx="4">
                  <c:v>617.794</c:v>
                </c:pt>
                <c:pt idx="5">
                  <c:v>679.009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466.546</c:v>
                </c:pt>
                <c:pt idx="1">
                  <c:v>45.55400000000003</c:v>
                </c:pt>
                <c:pt idx="2">
                  <c:v>50.24000000000001</c:v>
                </c:pt>
                <c:pt idx="3">
                  <c:v>55.45399999999995</c:v>
                </c:pt>
                <c:pt idx="4">
                  <c:v>61.21500000000003</c:v>
                </c:pt>
                <c:pt idx="5">
                  <c:v>67.61900000000003</c:v>
                </c:pt>
                <c:pt idx="6">
                  <c:v>746.628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63.98770757385746</c:v>
                </c:pt>
                <c:pt idx="1">
                  <c:v>61.98381651376147</c:v>
                </c:pt>
                <c:pt idx="2">
                  <c:v>58.12224940969571</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31.693972819022516</c:v>
                </c:pt>
                <c:pt idx="1">
                  <c:v>33.73594495412844</c:v>
                </c:pt>
                <c:pt idx="2">
                  <c:v>37.670331124342496</c:v>
                </c:pt>
              </c:numCache>
            </c:numRef>
          </c:val>
        </c:ser>
        <c:ser>
          <c:idx val="2"/>
          <c:order val="2"/>
          <c:tx>
            <c:strRef>
              <c:strCache>
                <c:ptCount val="1"/>
                <c:pt idx="0">
                  <c:v>Vending</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4.318319607120018</c:v>
                </c:pt>
                <c:pt idx="1">
                  <c:v>4.280238532110092</c:v>
                </c:pt>
                <c:pt idx="2">
                  <c:v>4.207419465961782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 Flavours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58.761438689746406</c:v>
                </c:pt>
                <c:pt idx="1">
                  <c:v>55.989422318553004</c:v>
                </c:pt>
              </c:numCache>
            </c:numRef>
          </c:val>
        </c:ser>
        <c:ser>
          <c:idx val="1"/>
          <c:order val="1"/>
          <c:tx>
            <c:strRef>
              <c:strCache>
                <c:ptCount val="1"/>
                <c:pt idx="0">
                  <c:v>Savoury Muffins Flavours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41.238561310253594</c:v>
                </c:pt>
                <c:pt idx="1">
                  <c:v>44.010577681446996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Rigid plastic packs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47.68416729282191</c:v>
                </c:pt>
                <c:pt idx="1">
                  <c:v>47.724495109329375</c:v>
                </c:pt>
              </c:numCache>
            </c:numRef>
          </c:val>
        </c:ser>
        <c:ser>
          <c:idx val="1"/>
          <c:order val="1"/>
          <c:tx>
            <c:strRef>
              <c:strCache>
                <c:ptCount val="1"/>
                <c:pt idx="0">
                  <c:v>Paperboard packs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36.129703020678654</c:v>
                </c:pt>
                <c:pt idx="1">
                  <c:v>36.517193061214044</c:v>
                </c:pt>
              </c:numCache>
            </c:numRef>
          </c:val>
        </c:ser>
        <c:ser>
          <c:idx val="2"/>
          <c:order val="2"/>
          <c:tx>
            <c:strRef>
              <c:strCache>
                <c:ptCount val="1"/>
                <c:pt idx="0">
                  <c:v>Flexible packs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12.429280803699172</c:v>
                </c:pt>
                <c:pt idx="1">
                  <c:v>11.125089433296171</c:v>
                </c:pt>
              </c:numCache>
            </c:numRef>
          </c:val>
        </c:ser>
        <c:ser>
          <c:idx val="3"/>
          <c:order val="3"/>
          <c:tx>
            <c:strRef>
              <c:strCache>
                <c:ptCount val="1"/>
                <c:pt idx="0">
                  <c:v>Other packaging formats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3.756848882800258</c:v>
                </c:pt>
                <c:pt idx="1">
                  <c:v>4.633222396160413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40.4317333602079</c:v>
                </c:pt>
                <c:pt idx="1">
                  <c:v>39.898044021381466</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33.569945199006746</c:v>
                </c:pt>
                <c:pt idx="1">
                  <c:v>33.94331561172556</c:v>
                </c:pt>
              </c:numCache>
            </c:numRef>
          </c:val>
        </c:ser>
        <c:ser>
          <c:idx val="2"/>
          <c:order val="2"/>
          <c:tx>
            <c:strRef>
              <c:strCache>
                <c:ptCount val="1"/>
                <c:pt idx="0">
                  <c:v>Quick-commerce platforms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9.291221763114981</c:v>
                </c:pt>
                <c:pt idx="1">
                  <c:v>8.917847247580557</c:v>
                </c:pt>
              </c:numCache>
            </c:numRef>
          </c:val>
        </c:ser>
        <c:ser>
          <c:idx val="3"/>
          <c:order val="3"/>
          <c:tx>
            <c:strRef>
              <c:strCache>
                <c:ptCount val="1"/>
                <c:pt idx="0">
                  <c:v>Online marketplaces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5.602901792721067</c:v>
                </c:pt>
                <c:pt idx="1">
                  <c:v>5.519465917366557</c:v>
                </c:pt>
              </c:numCache>
            </c:numRef>
          </c:val>
        </c:ser>
        <c:ser>
          <c:idx val="4"/>
          <c:order val="4"/>
          <c:tx>
            <c:strRef>
              <c:strCache>
                <c:ptCount val="1"/>
                <c:pt idx="0">
                  <c:v>Brand-owned direct-to-consumer websites</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5.203417916637065</c:v>
                </c:pt>
                <c:pt idx="1">
                  <c:v>5.2463798613217145</c:v>
                </c:pt>
              </c:numCache>
            </c:numRef>
          </c:val>
        </c:ser>
        <c:ser>
          <c:idx val="5"/>
          <c:order val="5"/>
          <c:tx>
            <c:strRef>
              <c:strCache>
                <c:ptCount val="1"/>
                <c:pt idx="0">
                  <c:v>Vending</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3.9719898691682043</c:v>
                </c:pt>
                <c:pt idx="1">
                  <c:v>4.665135882851714</c:v>
                </c:pt>
              </c:numCache>
            </c:numRef>
          </c:val>
        </c:ser>
        <c:ser>
          <c:idx val="6"/>
          <c:order val="6"/>
          <c:tx>
            <c:strRef>
              <c:strCache>
                <c:ptCount val="1"/>
                <c:pt idx="0">
                  <c:v>Retailer websites and apps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1.9287900991440339</c:v>
                </c:pt>
                <c:pt idx="1">
                  <c:v>1.8098114577724416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Standard - 60 g to below 100 g</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43.14371568124039</c:v>
                </c:pt>
                <c:pt idx="1">
                  <c:v>41.879683643382506</c:v>
                </c:pt>
              </c:numCache>
            </c:numRef>
          </c:val>
        </c:ser>
        <c:ser>
          <c:idx val="1"/>
          <c:order val="1"/>
          <c:tx>
            <c:strRef>
              <c:strCache>
                <c:ptCount val="1"/>
                <c:pt idx="0">
                  <c:v>Small - 30 g to below 60 g</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27.230087437045793</c:v>
                </c:pt>
                <c:pt idx="1">
                  <c:v>30.052310741815667</c:v>
                </c:pt>
              </c:numCache>
            </c:numRef>
          </c:val>
        </c:ser>
        <c:ser>
          <c:idx val="2"/>
          <c:order val="2"/>
          <c:tx>
            <c:strRef>
              <c:strCache>
                <c:ptCount val="1"/>
                <c:pt idx="0">
                  <c:v>Large / jumbo - 100 g and above</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23.72251112375537</c:v>
                </c:pt>
                <c:pt idx="1">
                  <c:v>22.03320770723149</c:v>
                </c:pt>
              </c:numCache>
            </c:numRef>
          </c:val>
        </c:ser>
        <c:ser>
          <c:idx val="3"/>
          <c:order val="3"/>
          <c:tx>
            <c:strRef>
              <c:strCache>
                <c:ptCount val="1"/>
                <c:pt idx="0">
                  <c:v>Mini / bite-sized - below 30 g</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5.90368575795845</c:v>
                </c:pt>
                <c:pt idx="1">
                  <c:v>6.034797907570328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2.5045866456656407</c:v>
                </c:pt>
                <c:pt idx="1">
                  <c:v>3.306572273902586</c:v>
                </c:pt>
                <c:pt idx="2">
                  <c:v>3.038548960537546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364675401551413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829578.725</c:v>
                </c:pt>
                <c:pt idx="2">
                  <c:v>0.0</c:v>
                </c:pt>
                <c:pt idx="3">
                  <c:v>938802.201</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829578.725</c:v>
                </c:pt>
                <c:pt idx="1">
                  <c:v>109223.47600000002</c:v>
                </c:pt>
                <c:pt idx="2">
                  <c:v>938802.201</c:v>
                </c:pt>
                <c:pt idx="3">
                  <c:v>360929.218</c:v>
                </c:pt>
                <c:pt idx="4">
                  <c:v>1299731.419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3.247945887409953</c:v>
                </c:pt>
                <c:pt idx="1">
                  <c:v>4.056108237174105</c:v>
                </c:pt>
                <c:pt idx="2">
                  <c:v>3.7860203540756476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354062873069819"/>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3065.726</c:v>
                </c:pt>
                <c:pt idx="2">
                  <c:v>0.0</c:v>
                </c:pt>
                <c:pt idx="3">
                  <c:v>3597.0</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3065.726</c:v>
                </c:pt>
                <c:pt idx="1">
                  <c:v>531.2739999999999</c:v>
                </c:pt>
                <c:pt idx="2">
                  <c:v>3597.0</c:v>
                </c:pt>
                <c:pt idx="3">
                  <c:v>1756.2340000000004</c:v>
                </c:pt>
                <c:pt idx="4">
                  <c:v>5353.234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3065.726</c:v>
                </c:pt>
                <c:pt idx="1">
                  <c:v>3165.233</c:v>
                </c:pt>
                <c:pt idx="2">
                  <c:v>3268.003</c:v>
                </c:pt>
                <c:pt idx="3">
                  <c:v>3374.1459999999997</c:v>
                </c:pt>
                <c:pt idx="4">
                  <c:v>3483.7740000000003</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829578.725</c:v>
                </c:pt>
                <c:pt idx="1">
                  <c:v>850339.716</c:v>
                </c:pt>
                <c:pt idx="2">
                  <c:v>871628.7139999999</c:v>
                </c:pt>
                <c:pt idx="3">
                  <c:v>893459.382</c:v>
                </c:pt>
                <c:pt idx="4">
                  <c:v>915845.747</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11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264077"/>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3597.0</c:v>
                </c:pt>
                <c:pt idx="1">
                  <c:v>3742.722</c:v>
                </c:pt>
                <c:pt idx="2">
                  <c:v>3894.3869999999997</c:v>
                </c:pt>
                <c:pt idx="3">
                  <c:v>4052.241</c:v>
                </c:pt>
                <c:pt idx="4">
                  <c:v>4216.537</c:v>
                </c:pt>
                <c:pt idx="5">
                  <c:v>4387.542</c:v>
                </c:pt>
                <c:pt idx="6">
                  <c:v>4565.529</c:v>
                </c:pt>
                <c:pt idx="7">
                  <c:v>4750.786</c:v>
                </c:pt>
                <c:pt idx="8">
                  <c:v>4943.612999999999</c:v>
                </c:pt>
                <c:pt idx="9">
                  <c:v>5144.321</c:v>
                </c:pt>
                <c:pt idx="10">
                  <c:v>5353.234</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938802.201</c:v>
                </c:pt>
                <c:pt idx="1">
                  <c:v>969801.731</c:v>
                </c:pt>
                <c:pt idx="2">
                  <c:v>1001834.583</c:v>
                </c:pt>
                <c:pt idx="3">
                  <c:v>1034935.551</c:v>
                </c:pt>
                <c:pt idx="4">
                  <c:v>1069140.613</c:v>
                </c:pt>
                <c:pt idx="5">
                  <c:v>1104486.9700000002</c:v>
                </c:pt>
                <c:pt idx="6">
                  <c:v>1141013.091</c:v>
                </c:pt>
                <c:pt idx="7">
                  <c:v>1178758.755</c:v>
                </c:pt>
                <c:pt idx="8">
                  <c:v>1217765.098</c:v>
                </c:pt>
                <c:pt idx="9">
                  <c:v>1258074.6570000001</c:v>
                </c:pt>
                <c:pt idx="10">
                  <c:v>1299731.419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317"/>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873481"/>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94.32280936141345</c:v>
                </c:pt>
                <c:pt idx="1">
                  <c:v>112.20893587921175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35.668196834818126</c:v>
                </c:pt>
                <c:pt idx="1">
                  <c:v>64.33180316518184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3085.639</c:v>
                </c:pt>
                <c:pt idx="1">
                  <c:v>2267.5950000000003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0.04725705582065938</c:v>
                </c:pt>
                <c:pt idx="1">
                  <c:v>0.050320207197637974</c:v>
                </c:pt>
                <c:pt idx="2">
                  <c:v>0.05329879304580428</c:v>
                </c:pt>
                <c:pt idx="3">
                  <c:v>0.05420552343806941</c:v>
                </c:pt>
                <c:pt idx="4">
                  <c:v>0.05346322601849485</c:v>
                </c:pt>
                <c:pt idx="5">
                  <c:v>0.0522370258507166</c:v>
                </c:pt>
                <c:pt idx="6">
                  <c:v>0.050357791877110106</c:v>
                </c:pt>
                <c:pt idx="7">
                  <c:v>0.048347011525351154</c:v>
                </c:pt>
                <c:pt idx="8">
                  <c:v>0.04694698221501431</c:v>
                </c:pt>
                <c:pt idx="9">
                  <c:v>0.04598857288847499</c:v>
                </c:pt>
                <c:pt idx="10">
                  <c:v>0.04522278504423035</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0.03526561651233003</c:v>
                </c:pt>
                <c:pt idx="1">
                  <c:v>0.03766899284566956</c:v>
                </c:pt>
                <c:pt idx="2">
                  <c:v>0.040025626041245606</c:v>
                </c:pt>
                <c:pt idx="3">
                  <c:v>0.042397840282742814</c:v>
                </c:pt>
                <c:pt idx="4">
                  <c:v>0.04334438882245352</c:v>
                </c:pt>
                <c:pt idx="5">
                  <c:v>0.04298602476626675</c:v>
                </c:pt>
                <c:pt idx="6">
                  <c:v>0.04160320694076345</c:v>
                </c:pt>
                <c:pt idx="7">
                  <c:v>0.04008795022493026</c:v>
                </c:pt>
                <c:pt idx="8">
                  <c:v>0.03948028943400487</c:v>
                </c:pt>
                <c:pt idx="9">
                  <c:v>0.038272758375114665</c:v>
                </c:pt>
                <c:pt idx="10">
                  <c:v>0.03698342682513835</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0.025309855888910847</c:v>
                </c:pt>
                <c:pt idx="1">
                  <c:v>0.02636512377198206</c:v>
                </c:pt>
                <c:pt idx="2">
                  <c:v>0.02754176431892089</c:v>
                </c:pt>
                <c:pt idx="3">
                  <c:v>0.028657718533925913</c:v>
                </c:pt>
                <c:pt idx="4">
                  <c:v>0.029857959321061226</c:v>
                </c:pt>
                <c:pt idx="5">
                  <c:v>0.030269277793057034</c:v>
                </c:pt>
                <c:pt idx="6">
                  <c:v>0.030656996024856362</c:v>
                </c:pt>
                <c:pt idx="7">
                  <c:v>0.03104471425665569</c:v>
                </c:pt>
                <c:pt idx="8">
                  <c:v>0.03214381115723466</c:v>
                </c:pt>
                <c:pt idx="9">
                  <c:v>0.03295970517545585</c:v>
                </c:pt>
                <c:pt idx="10">
                  <c:v>0.03379582797098832</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72.52736212960797</c:v>
                </c:pt>
                <c:pt idx="1">
                  <c:v>71.11839534595416</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27.47263787039204</c:v>
                </c:pt>
                <c:pt idx="1">
                  <c:v>28.881604654045834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68.93577981651376</c:v>
                </c:pt>
                <c:pt idx="1">
                  <c:v>67.42535446797207</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31.064220183486242</c:v>
                </c:pt>
                <c:pt idx="1">
                  <c:v>32.57464553202793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MM&quot;;&quot;MMMMMMMMM&quot;;&quot;M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607424.963</c:v>
                </c:pt>
                <c:pt idx="1">
                  <c:v>621454.454</c:v>
                </c:pt>
                <c:pt idx="2">
                  <c:v>635807.98</c:v>
                </c:pt>
                <c:pt idx="3">
                  <c:v>650493.023</c:v>
                </c:pt>
                <c:pt idx="4">
                  <c:v>665517.243</c:v>
                </c:pt>
                <c:pt idx="5">
                  <c:v>680888.472</c:v>
                </c:pt>
                <c:pt idx="6">
                  <c:v>702023.968</c:v>
                </c:pt>
                <c:pt idx="7">
                  <c:v>723815.532</c:v>
                </c:pt>
                <c:pt idx="8">
                  <c:v>746283.529</c:v>
                </c:pt>
                <c:pt idx="9">
                  <c:v>769448.957</c:v>
                </c:pt>
                <c:pt idx="10">
                  <c:v>793333.464</c:v>
                </c:pt>
                <c:pt idx="11">
                  <c:v>817959.371</c:v>
                </c:pt>
                <c:pt idx="12">
                  <c:v>843349.692</c:v>
                </c:pt>
                <c:pt idx="13">
                  <c:v>869528.156</c:v>
                </c:pt>
                <c:pt idx="14">
                  <c:v>896519.227</c:v>
                </c:pt>
                <c:pt idx="15">
                  <c:v>924348.129</c:v>
                </c:pt>
              </c:numCache>
            </c:numRef>
          </c:val>
        </c:ser>
        <c:ser>
          <c:idx val="1"/>
          <c:order val="1"/>
          <c:tx>
            <c:strRef>
              <c:strCache>
                <c:ptCount val="1"/>
                <c:pt idx="0">
                  <c:v>Canada</c:v>
                </c:pt>
              </c:strCache>
            </c:strRef>
          </c:tx>
          <c:spPr>
            <a:solidFill>
              <a:srgbClr val="9E7E0A"/>
            </a:solidFill>
            <a:ln>
              <a:noFill/>
            </a:ln>
          </c:spPr>
          <c:dLbls>
            <c:dLbl>
              <c:idx val="0"/>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222153.762</c:v>
                </c:pt>
                <c:pt idx="1">
                  <c:v>228885.262</c:v>
                </c:pt>
                <c:pt idx="2">
                  <c:v>235820.734</c:v>
                </c:pt>
                <c:pt idx="3">
                  <c:v>242966.359</c:v>
                </c:pt>
                <c:pt idx="4">
                  <c:v>250328.504</c:v>
                </c:pt>
                <c:pt idx="5">
                  <c:v>257913.729</c:v>
                </c:pt>
                <c:pt idx="6">
                  <c:v>267777.763</c:v>
                </c:pt>
                <c:pt idx="7">
                  <c:v>278019.051</c:v>
                </c:pt>
                <c:pt idx="8">
                  <c:v>288652.022</c:v>
                </c:pt>
                <c:pt idx="9">
                  <c:v>299691.656</c:v>
                </c:pt>
                <c:pt idx="10">
                  <c:v>311153.506</c:v>
                </c:pt>
                <c:pt idx="11">
                  <c:v>323053.72</c:v>
                </c:pt>
                <c:pt idx="12">
                  <c:v>335409.063</c:v>
                </c:pt>
                <c:pt idx="13">
                  <c:v>348236.942</c:v>
                </c:pt>
                <c:pt idx="14">
                  <c:v>361555.43</c:v>
                </c:pt>
                <c:pt idx="15">
                  <c:v>375383.29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quot;;&quot;MMMMMMM&quot;;&quot;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quot;;&quot;MMMMMMM&quot;;&quot;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quot;;&quot;MMMMMMM&quot;;&quot;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quot;;&quot;MMMMMMM&quot;;&quot;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quot;;&quot;MMMMMMM&quot;;&quot;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2136.262</c:v>
                </c:pt>
                <c:pt idx="1">
                  <c:v>2200.902</c:v>
                </c:pt>
                <c:pt idx="2">
                  <c:v>2267.497</c:v>
                </c:pt>
                <c:pt idx="3">
                  <c:v>2336.108</c:v>
                </c:pt>
                <c:pt idx="4">
                  <c:v>2406.795</c:v>
                </c:pt>
                <c:pt idx="5">
                  <c:v>2479.62</c:v>
                </c:pt>
                <c:pt idx="6">
                  <c:v>2574.487</c:v>
                </c:pt>
                <c:pt idx="7">
                  <c:v>2672.982</c:v>
                </c:pt>
                <c:pt idx="8">
                  <c:v>2775.246</c:v>
                </c:pt>
                <c:pt idx="9">
                  <c:v>2881.422</c:v>
                </c:pt>
                <c:pt idx="10">
                  <c:v>2991.661</c:v>
                </c:pt>
                <c:pt idx="11">
                  <c:v>3106.117</c:v>
                </c:pt>
                <c:pt idx="12">
                  <c:v>3224.952</c:v>
                </c:pt>
                <c:pt idx="13">
                  <c:v>3348.333</c:v>
                </c:pt>
                <c:pt idx="14">
                  <c:v>3476.435</c:v>
                </c:pt>
                <c:pt idx="15">
                  <c:v>3609.437</c:v>
                </c:pt>
              </c:numCache>
            </c:numRef>
          </c:val>
        </c:ser>
        <c:ser>
          <c:idx val="1"/>
          <c:order val="1"/>
          <c:tx>
            <c:strRef>
              <c:strCache>
                <c:ptCount val="1"/>
                <c:pt idx="0">
                  <c:v>Canada</c:v>
                </c:pt>
              </c:strCache>
            </c:strRef>
          </c:tx>
          <c:spPr>
            <a:solidFill>
              <a:srgbClr val="9E7E0A"/>
            </a:solidFill>
            <a:ln>
              <a:noFill/>
            </a:ln>
          </c:spPr>
          <c:dLbls>
            <c:dLbl>
              <c:idx val="0"/>
              <c:numFmt formatCode="&quot;MMMMM&quot;;&quot;MMMMM&quot;;&quot;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quot;;&quot;MMMMMMM&quot;;&quot;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quot;;&quot;MMMMMMM&quot;;&quot;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quot;;&quot;MMMMMMM&quot;;&quot;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quot;;&quot;MMMMMMM&quot;;&quot;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quot;;&quot;MMMMMMM&quot;;&quot;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929.464</c:v>
                </c:pt>
                <c:pt idx="1">
                  <c:v>964.331</c:v>
                </c:pt>
                <c:pt idx="2">
                  <c:v>1000.506</c:v>
                </c:pt>
                <c:pt idx="3">
                  <c:v>1038.038</c:v>
                </c:pt>
                <c:pt idx="4">
                  <c:v>1076.979</c:v>
                </c:pt>
                <c:pt idx="5">
                  <c:v>1117.38</c:v>
                </c:pt>
                <c:pt idx="6">
                  <c:v>1168.235</c:v>
                </c:pt>
                <c:pt idx="7">
                  <c:v>1221.405</c:v>
                </c:pt>
                <c:pt idx="8">
                  <c:v>1276.995</c:v>
                </c:pt>
                <c:pt idx="9">
                  <c:v>1335.115</c:v>
                </c:pt>
                <c:pt idx="10">
                  <c:v>1395.881</c:v>
                </c:pt>
                <c:pt idx="11">
                  <c:v>1459.412</c:v>
                </c:pt>
                <c:pt idx="12">
                  <c:v>1525.834</c:v>
                </c:pt>
                <c:pt idx="13">
                  <c:v>1595.28</c:v>
                </c:pt>
                <c:pt idx="14">
                  <c:v>1667.886</c:v>
                </c:pt>
                <c:pt idx="15">
                  <c:v>1743.797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Sweet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59.937997370106736</c:v>
                </c:pt>
                <c:pt idx="1">
                  <c:v>56.530755350488185</c:v>
                </c:pt>
              </c:numCache>
            </c:numRef>
          </c:val>
        </c:ser>
        <c:ser>
          <c:idx val="1"/>
          <c:order val="1"/>
          <c:tx>
            <c:strRef>
              <c:strCache>
                <c:ptCount val="1"/>
                <c:pt idx="0">
                  <c:v>Savoury muffins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40.06200262989327</c:v>
                </c:pt>
                <c:pt idx="1">
                  <c:v>43.469244649511815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Sweet muffins</c:v>
                </c:pt>
              </c:strCache>
            </c:strRef>
          </c:tx>
          <c:spPr>
            <a:solidFill>
              <a:srgbClr val="3D85C6"/>
            </a:solidFill>
          </c:spPr>
          <c:invertIfNegative val="0"/>
          <c:xVal>
            <c:numRef>
              <c:numCache>
                <c:formatCode>General</c:formatCode>
                <c:ptCount val="1"/>
                <c:pt idx="0">
                  <c:v>109.68763689344068</c:v>
                </c:pt>
              </c:numCache>
            </c:numRef>
          </c:xVal>
          <c:yVal>
            <c:numRef>
              <c:numCache>
                <c:formatCode>General</c:formatCode>
                <c:ptCount val="1"/>
                <c:pt idx="0">
                  <c:v>111.01706978037254</c:v>
                </c:pt>
              </c:numCache>
            </c:numRef>
          </c:yVal>
          <c:bubbleSize>
            <c:numRef>
              <c:numCache>
                <c:formatCode>General</c:formatCode>
                <c:ptCount val="1"/>
                <c:pt idx="0">
                  <c:v>3085.639</c:v>
                </c:pt>
              </c:numCache>
            </c:numRef>
          </c:bubbleSize>
          <c:bubble3D val="0"/>
        </c:ser>
        <c:ser>
          <c:idx val="1"/>
          <c:order val="1"/>
          <c:tx>
            <c:strRef>
              <c:strCache>
                <c:ptCount val="1"/>
                <c:pt idx="0">
                  <c:v>Savoury muffins</c:v>
                </c:pt>
              </c:strCache>
            </c:strRef>
          </c:tx>
          <c:spPr>
            <a:solidFill>
              <a:srgbClr val="9E7E0A"/>
            </a:solidFill>
          </c:spPr>
          <c:invertIfNegative val="0"/>
          <c:xVal>
            <c:numRef>
              <c:numCache>
                <c:formatCode>General</c:formatCode>
                <c:ptCount val="1"/>
                <c:pt idx="0">
                  <c:v>87.43256602517316</c:v>
                </c:pt>
              </c:numCache>
            </c:numRef>
          </c:xVal>
          <c:yVal>
            <c:numRef>
              <c:numCache>
                <c:formatCode>General</c:formatCode>
                <c:ptCount val="1"/>
                <c:pt idx="0">
                  <c:v>88.98293021962746</c:v>
                </c:pt>
              </c:numCache>
            </c:numRef>
          </c:yVal>
          <c:bubbleSize>
            <c:numRef>
              <c:numCache>
                <c:formatCode>General</c:formatCode>
                <c:ptCount val="1"/>
                <c:pt idx="0">
                  <c:v>2267.5950000000003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1996.642</c:v>
                </c:pt>
                <c:pt idx="2">
                  <c:v>2178.276</c:v>
                </c:pt>
                <c:pt idx="3">
                  <c:v>2376.42</c:v>
                </c:pt>
                <c:pt idx="4">
                  <c:v>2592.578</c:v>
                </c:pt>
                <c:pt idx="5">
                  <c:v>2828.387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1996.642</c:v>
                </c:pt>
                <c:pt idx="1">
                  <c:v>181.6339999999998</c:v>
                </c:pt>
                <c:pt idx="2">
                  <c:v>198.14400000000023</c:v>
                </c:pt>
                <c:pt idx="3">
                  <c:v>216.1579999999999</c:v>
                </c:pt>
                <c:pt idx="4">
                  <c:v>235.8090000000002</c:v>
                </c:pt>
                <c:pt idx="5">
                  <c:v>257.25199999999995</c:v>
                </c:pt>
                <c:pt idx="6">
                  <c:v>3085.639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1600.358</c:v>
                </c:pt>
                <c:pt idx="2">
                  <c:v>1716.111</c:v>
                </c:pt>
                <c:pt idx="3">
                  <c:v>1840.1170000000002</c:v>
                </c:pt>
                <c:pt idx="4">
                  <c:v>1972.951</c:v>
                </c:pt>
                <c:pt idx="5">
                  <c:v>2115.2259999999997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1600.358</c:v>
                </c:pt>
                <c:pt idx="1">
                  <c:v>115.75300000000016</c:v>
                </c:pt>
                <c:pt idx="2">
                  <c:v>124.00600000000009</c:v>
                </c:pt>
                <c:pt idx="3">
                  <c:v>132.83399999999983</c:v>
                </c:pt>
                <c:pt idx="4">
                  <c:v>142.27499999999964</c:v>
                </c:pt>
                <c:pt idx="5">
                  <c:v>152.3690000000006</c:v>
                </c:pt>
                <c:pt idx="6">
                  <c:v>2267.5950000000003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54.44808179204534</c:v>
                </c:pt>
                <c:pt idx="1">
                  <c:v>55.50853489018627</c:v>
                </c:pt>
                <c:pt idx="2">
                  <c:v>57.640652360797226</c:v>
                </c:pt>
              </c:numCache>
            </c:numRef>
          </c:val>
        </c:ser>
        <c:ser>
          <c:idx val="1"/>
          <c:order val="1"/>
          <c:tx>
            <c:strRef>
              <c:strCache>
                <c:ptCount val="1"/>
                <c:pt idx="0">
                  <c:v>Savoury muffins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45.55191820795466</c:v>
                </c:pt>
                <c:pt idx="1">
                  <c:v>44.49146510981373</c:v>
                </c:pt>
                <c:pt idx="2">
                  <c:v>42.359347639202774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Sweet Muffins Flavours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53.099299975857285</c:v>
                </c:pt>
                <c:pt idx="1">
                  <c:v>55.53982518603316</c:v>
                </c:pt>
              </c:numCache>
            </c:numRef>
          </c:val>
        </c:ser>
        <c:ser>
          <c:idx val="1"/>
          <c:order val="1"/>
          <c:tx>
            <c:strRef>
              <c:strCache>
                <c:ptCount val="1"/>
                <c:pt idx="0">
                  <c:v>Savoury Muffins Flavours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46.900700024142715</c:v>
                </c:pt>
                <c:pt idx="1">
                  <c:v>44.46017481396683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Sweet Muffins Flavours</c:v>
                </c:pt>
              </c:strCache>
            </c:strRef>
          </c:tx>
          <c:spPr>
            <a:solidFill>
              <a:srgbClr val="3D85C6"/>
            </a:solidFill>
          </c:spPr>
          <c:invertIfNegative val="0"/>
          <c:xVal>
            <c:numRef>
              <c:numCache>
                <c:formatCode>General</c:formatCode>
                <c:ptCount val="1"/>
                <c:pt idx="0">
                  <c:v>85.13831079659693</c:v>
                </c:pt>
              </c:numCache>
            </c:numRef>
          </c:xVal>
          <c:yVal>
            <c:numRef>
              <c:numCache>
                <c:formatCode>General</c:formatCode>
                <c:ptCount val="1"/>
                <c:pt idx="0">
                  <c:v>116.0393661384487</c:v>
                </c:pt>
              </c:numCache>
            </c:numRef>
          </c:yVal>
          <c:bubbleSize>
            <c:numRef>
              <c:numCache>
                <c:formatCode>General</c:formatCode>
                <c:ptCount val="1"/>
                <c:pt idx="0">
                  <c:v>2930.619</c:v>
                </c:pt>
              </c:numCache>
            </c:numRef>
          </c:bubbleSize>
          <c:bubble3D val="0"/>
        </c:ser>
        <c:ser>
          <c:idx val="1"/>
          <c:order val="1"/>
          <c:tx>
            <c:strRef>
              <c:strCache>
                <c:ptCount val="1"/>
                <c:pt idx="0">
                  <c:v>Savoury Muffins Flavours</c:v>
                </c:pt>
              </c:strCache>
            </c:strRef>
          </c:tx>
          <c:spPr>
            <a:solidFill>
              <a:srgbClr val="9E7E0A"/>
            </a:solidFill>
          </c:spPr>
          <c:invertIfNegative val="0"/>
          <c:xVal>
            <c:numRef>
              <c:numCache>
                <c:formatCode>General</c:formatCode>
                <c:ptCount val="1"/>
                <c:pt idx="0">
                  <c:v>119.34294516651818</c:v>
                </c:pt>
              </c:numCache>
            </c:numRef>
          </c:xVal>
          <c:yVal>
            <c:numRef>
              <c:numCache>
                <c:formatCode>General</c:formatCode>
                <c:ptCount val="1"/>
                <c:pt idx="0">
                  <c:v>83.96063386155129</c:v>
                </c:pt>
              </c:numCache>
            </c:numRef>
          </c:yVal>
          <c:bubbleSize>
            <c:numRef>
              <c:numCache>
                <c:formatCode>General</c:formatCode>
                <c:ptCount val="1"/>
                <c:pt idx="0">
                  <c:v>2422.615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2086.968</c:v>
                </c:pt>
                <c:pt idx="2">
                  <c:v>2234.406</c:v>
                </c:pt>
                <c:pt idx="3">
                  <c:v>2391.84</c:v>
                </c:pt>
                <c:pt idx="4">
                  <c:v>2559.9</c:v>
                </c:pt>
                <c:pt idx="5">
                  <c:v>2739.263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2086.968</c:v>
                </c:pt>
                <c:pt idx="1">
                  <c:v>147.4380000000001</c:v>
                </c:pt>
                <c:pt idx="2">
                  <c:v>157.4340000000002</c:v>
                </c:pt>
                <c:pt idx="3">
                  <c:v>168.05999999999995</c:v>
                </c:pt>
                <c:pt idx="4">
                  <c:v>179.36299999999983</c:v>
                </c:pt>
                <c:pt idx="5">
                  <c:v>191.35600000000022</c:v>
                </c:pt>
                <c:pt idx="6">
                  <c:v>2930.619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1510.032</c:v>
                </c:pt>
                <c:pt idx="2">
                  <c:v>1659.981</c:v>
                </c:pt>
                <c:pt idx="3">
                  <c:v>1824.697</c:v>
                </c:pt>
                <c:pt idx="4">
                  <c:v>2005.629</c:v>
                </c:pt>
                <c:pt idx="5">
                  <c:v>2204.35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1510.032</c:v>
                </c:pt>
                <c:pt idx="1">
                  <c:v>149.94900000000007</c:v>
                </c:pt>
                <c:pt idx="2">
                  <c:v>164.7159999999999</c:v>
                </c:pt>
                <c:pt idx="3">
                  <c:v>180.93200000000002</c:v>
                </c:pt>
                <c:pt idx="4">
                  <c:v>198.721</c:v>
                </c:pt>
                <c:pt idx="5">
                  <c:v>218.26499999999987</c:v>
                </c:pt>
                <c:pt idx="6">
                  <c:v>2422.615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 Flavours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59.6095671955028</c:v>
                </c:pt>
                <c:pt idx="1">
                  <c:v>58.01968306922435</c:v>
                </c:pt>
                <c:pt idx="2">
                  <c:v>54.74483274969859</c:v>
                </c:pt>
              </c:numCache>
            </c:numRef>
          </c:val>
        </c:ser>
        <c:ser>
          <c:idx val="1"/>
          <c:order val="1"/>
          <c:tx>
            <c:strRef>
              <c:strCache>
                <c:ptCount val="1"/>
                <c:pt idx="0">
                  <c:v>Savoury Muffins Flavours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40.39043280449721</c:v>
                </c:pt>
                <c:pt idx="1">
                  <c:v>41.98031693077564</c:v>
                </c:pt>
                <c:pt idx="2">
                  <c:v>45.2551672503014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Wheat-based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18.065864317922326</c:v>
                </c:pt>
                <c:pt idx="1">
                  <c:v>17.53813683408243</c:v>
                </c:pt>
              </c:numCache>
            </c:numRef>
          </c:val>
        </c:ser>
        <c:ser>
          <c:idx val="1"/>
          <c:order val="1"/>
          <c:tx>
            <c:strRef>
              <c:strCache>
                <c:ptCount val="1"/>
                <c:pt idx="0">
                  <c:v>Oat-based</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19.301214533572427</c:v>
                </c:pt>
                <c:pt idx="1">
                  <c:v>25.117601443105947</c:v>
                </c:pt>
              </c:numCache>
            </c:numRef>
          </c:val>
        </c:ser>
        <c:ser>
          <c:idx val="2"/>
          <c:order val="2"/>
          <c:tx>
            <c:strRef>
              <c:strCache>
                <c:ptCount val="1"/>
                <c:pt idx="0">
                  <c:v>Rice-based</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19.05204562228287</c:v>
                </c:pt>
                <c:pt idx="1">
                  <c:v>13.79680542976647</c:v>
                </c:pt>
              </c:numCache>
            </c:numRef>
          </c:val>
        </c:ser>
        <c:ser>
          <c:idx val="3"/>
          <c:order val="3"/>
          <c:tx>
            <c:strRef>
              <c:strCache>
                <c:ptCount val="1"/>
                <c:pt idx="0">
                  <c:v>Corn-based</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16.51763364657698</c:v>
                </c:pt>
                <c:pt idx="1">
                  <c:v>12.884474780969995</c:v>
                </c:pt>
              </c:numCache>
            </c:numRef>
          </c:val>
        </c:ser>
        <c:ser>
          <c:idx val="4"/>
          <c:order val="4"/>
          <c:tx>
            <c:strRef>
              <c:strCache>
                <c:ptCount val="1"/>
                <c:pt idx="0">
                  <c:v>Millet-based</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7.717928176272812</c:v>
                </c:pt>
                <c:pt idx="1">
                  <c:v>8.05721224667448</c:v>
                </c:pt>
              </c:numCache>
            </c:numRef>
          </c:val>
        </c:ser>
        <c:ser>
          <c:idx val="5"/>
          <c:order val="5"/>
          <c:tx>
            <c:strRef>
              <c:strCache>
                <c:ptCount val="1"/>
                <c:pt idx="0">
                  <c:v>Almond and other nut flour-based</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2.4240780320186355</c:v>
                </c:pt>
                <c:pt idx="1">
                  <c:v>3.371273691714247</c:v>
                </c:pt>
              </c:numCache>
            </c:numRef>
          </c:val>
        </c:ser>
        <c:ser>
          <c:idx val="6"/>
          <c:order val="6"/>
          <c:tx>
            <c:strRef>
              <c:strCache>
                <c:ptCount val="1"/>
                <c:pt idx="0">
                  <c:v>Other single-flour bases</c:v>
                </c:pt>
              </c:strCache>
            </c:strRef>
          </c:tx>
          <c:spPr>
            <a:solidFill>
              <a:srgbClr val="0E72AE"/>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12.568894200414382</c:v>
                </c:pt>
                <c:pt idx="1">
                  <c:v>13.681108715846818</c:v>
                </c:pt>
              </c:numCache>
            </c:numRef>
          </c:val>
        </c:ser>
        <c:ser>
          <c:idx val="7"/>
          <c:order val="7"/>
          <c:tx>
            <c:strRef>
              <c:strCache>
                <c:ptCount val="1"/>
                <c:pt idx="0">
                  <c:v>Multigrain and blended flour bases</c:v>
                </c:pt>
              </c:strCache>
            </c:strRef>
          </c:tx>
          <c:spPr>
            <a:solidFill>
              <a:srgbClr val="A86F00"/>
            </a:solidFill>
            <a:ln>
              <a:noFill/>
            </a:ln>
          </c:spPr>
          <c:dLbls>
            <c:dLbl>
              <c:idx val="0"/>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4.352341470939565</c:v>
                </c:pt>
                <c:pt idx="1">
                  <c:v>5.553386857839602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Wheat-based</c:v>
                </c:pt>
              </c:strCache>
            </c:strRef>
          </c:tx>
          <c:spPr>
            <a:solidFill>
              <a:srgbClr val="3D85C6"/>
            </a:solidFill>
          </c:spPr>
          <c:invertIfNegative val="0"/>
          <c:xVal>
            <c:numRef>
              <c:numCache>
                <c:formatCode>General</c:formatCode>
                <c:ptCount val="1"/>
                <c:pt idx="0">
                  <c:v>102.10894597362159</c:v>
                </c:pt>
              </c:numCache>
            </c:numRef>
          </c:xVal>
          <c:yVal>
            <c:numRef>
              <c:numCache>
                <c:formatCode>General</c:formatCode>
                <c:ptCount val="1"/>
                <c:pt idx="0">
                  <c:v>140.52087850986933</c:v>
                </c:pt>
              </c:numCache>
            </c:numRef>
          </c:yVal>
          <c:bubbleSize>
            <c:numRef>
              <c:numCache>
                <c:formatCode>General</c:formatCode>
                <c:ptCount val="1"/>
                <c:pt idx="0">
                  <c:v>948.06</c:v>
                </c:pt>
              </c:numCache>
            </c:numRef>
          </c:bubbleSize>
          <c:bubble3D val="0"/>
        </c:ser>
        <c:ser>
          <c:idx val="1"/>
          <c:order val="1"/>
          <c:tx>
            <c:strRef>
              <c:strCache>
                <c:ptCount val="1"/>
                <c:pt idx="0">
                  <c:v>Oat-based</c:v>
                </c:pt>
              </c:strCache>
            </c:strRef>
          </c:tx>
          <c:spPr>
            <a:solidFill>
              <a:srgbClr val="9E7E0A"/>
            </a:solidFill>
          </c:spPr>
          <c:invertIfNegative val="0"/>
          <c:xVal>
            <c:numRef>
              <c:numCache>
                <c:formatCode>General</c:formatCode>
                <c:ptCount val="1"/>
                <c:pt idx="0">
                  <c:v>140.50622135313705</c:v>
                </c:pt>
              </c:numCache>
            </c:numRef>
          </c:xVal>
          <c:yVal>
            <c:numRef>
              <c:numCache>
                <c:formatCode>General</c:formatCode>
                <c:ptCount val="1"/>
                <c:pt idx="0">
                  <c:v>158.84392549346677</c:v>
                </c:pt>
              </c:numCache>
            </c:numRef>
          </c:yVal>
          <c:bubbleSize>
            <c:numRef>
              <c:numCache>
                <c:formatCode>General</c:formatCode>
                <c:ptCount val="1"/>
                <c:pt idx="0">
                  <c:v>1243.178</c:v>
                </c:pt>
              </c:numCache>
            </c:numRef>
          </c:bubbleSize>
          <c:bubble3D val="0"/>
        </c:ser>
        <c:ser>
          <c:idx val="2"/>
          <c:order val="2"/>
          <c:tx>
            <c:strRef>
              <c:strCache>
                <c:ptCount val="1"/>
                <c:pt idx="0">
                  <c:v>Rice-based</c:v>
                </c:pt>
              </c:strCache>
            </c:strRef>
          </c:tx>
          <c:spPr>
            <a:solidFill>
              <a:srgbClr val="008189"/>
            </a:solidFill>
          </c:spPr>
          <c:invertIfNegative val="0"/>
          <c:xVal>
            <c:numRef>
              <c:numCache>
                <c:formatCode>General</c:formatCode>
                <c:ptCount val="1"/>
                <c:pt idx="0">
                  <c:v>65.85213207008712</c:v>
                </c:pt>
              </c:numCache>
            </c:numRef>
          </c:xVal>
          <c:yVal>
            <c:numRef>
              <c:numCache>
                <c:formatCode>General</c:formatCode>
                <c:ptCount val="1"/>
                <c:pt idx="0">
                  <c:v>141.86043925493468</c:v>
                </c:pt>
              </c:numCache>
            </c:numRef>
          </c:yVal>
          <c:bubbleSize>
            <c:numRef>
              <c:numCache>
                <c:formatCode>General</c:formatCode>
                <c:ptCount val="1"/>
                <c:pt idx="0">
                  <c:v>830.216</c:v>
                </c:pt>
              </c:numCache>
            </c:numRef>
          </c:bubbleSize>
          <c:bubble3D val="0"/>
        </c:ser>
        <c:ser>
          <c:idx val="3"/>
          <c:order val="3"/>
          <c:tx>
            <c:strRef>
              <c:strCache>
                <c:ptCount val="1"/>
                <c:pt idx="0">
                  <c:v>Corn-based</c:v>
                </c:pt>
              </c:strCache>
            </c:strRef>
          </c:tx>
          <c:spPr>
            <a:solidFill>
              <a:srgbClr val="40315E"/>
            </a:solidFill>
          </c:spPr>
          <c:invertIfNegative val="0"/>
          <c:xVal>
            <c:numRef>
              <c:numCache>
                <c:formatCode>General</c:formatCode>
                <c:ptCount val="1"/>
                <c:pt idx="0">
                  <c:v>78.11266911425861</c:v>
                </c:pt>
              </c:numCache>
            </c:numRef>
          </c:xVal>
          <c:yVal>
            <c:numRef>
              <c:numCache>
                <c:formatCode>General</c:formatCode>
                <c:ptCount val="1"/>
                <c:pt idx="0">
                  <c:v>122.61195440644981</c:v>
                </c:pt>
              </c:numCache>
            </c:numRef>
          </c:yVal>
          <c:bubbleSize>
            <c:numRef>
              <c:numCache>
                <c:formatCode>General</c:formatCode>
                <c:ptCount val="1"/>
                <c:pt idx="0">
                  <c:v>753.091</c:v>
                </c:pt>
              </c:numCache>
            </c:numRef>
          </c:bubbleSize>
          <c:bubble3D val="0"/>
        </c:ser>
        <c:ser>
          <c:idx val="4"/>
          <c:order val="4"/>
          <c:tx>
            <c:strRef>
              <c:strCache>
                <c:ptCount val="1"/>
                <c:pt idx="0">
                  <c:v>Millet-based</c:v>
                </c:pt>
              </c:strCache>
            </c:strRef>
          </c:tx>
          <c:spPr>
            <a:solidFill>
              <a:srgbClr val="A35313"/>
            </a:solidFill>
          </c:spPr>
          <c:invertIfNegative val="0"/>
          <c:xVal>
            <c:numRef>
              <c:numCache>
                <c:formatCode>General</c:formatCode>
                <c:ptCount val="1"/>
                <c:pt idx="0">
                  <c:v>141.81268895409318</c:v>
                </c:pt>
              </c:numCache>
            </c:numRef>
          </c:xVal>
          <c:yVal>
            <c:numRef>
              <c:numCache>
                <c:formatCode>General</c:formatCode>
                <c:ptCount val="1"/>
                <c:pt idx="0">
                  <c:v>54.083291631915486</c:v>
                </c:pt>
              </c:numCache>
            </c:numRef>
          </c:yVal>
          <c:bubbleSize>
            <c:numRef>
              <c:numCache>
                <c:formatCode>General</c:formatCode>
                <c:ptCount val="1"/>
                <c:pt idx="0">
                  <c:v>425.405</c:v>
                </c:pt>
              </c:numCache>
            </c:numRef>
          </c:bubbleSize>
          <c:bubble3D val="0"/>
        </c:ser>
        <c:ser>
          <c:idx val="5"/>
          <c:order val="5"/>
          <c:tx>
            <c:strRef>
              <c:strCache>
                <c:ptCount val="1"/>
                <c:pt idx="0">
                  <c:v>Almond and other nut flour-based</c:v>
                </c:pt>
              </c:strCache>
            </c:strRef>
          </c:tx>
          <c:spPr>
            <a:solidFill>
              <a:srgbClr val="808080"/>
            </a:solidFill>
          </c:spPr>
          <c:invertIfNegative val="0"/>
          <c:xVal>
            <c:numRef>
              <c:numCache>
                <c:formatCode>General</c:formatCode>
                <c:ptCount val="1"/>
                <c:pt idx="0">
                  <c:v>102.77434831511454</c:v>
                </c:pt>
              </c:numCache>
            </c:numRef>
          </c:xVal>
          <c:yVal>
            <c:numRef>
              <c:numCache>
                <c:formatCode>General</c:formatCode>
                <c:ptCount val="1"/>
                <c:pt idx="0">
                  <c:v>24.238420906310814</c:v>
                </c:pt>
              </c:numCache>
            </c:numRef>
          </c:yVal>
          <c:bubbleSize>
            <c:numRef>
              <c:numCache>
                <c:formatCode>General</c:formatCode>
                <c:ptCount val="1"/>
                <c:pt idx="0">
                  <c:v>163.955</c:v>
                </c:pt>
              </c:numCache>
            </c:numRef>
          </c:bubbleSize>
          <c:bubble3D val="0"/>
        </c:ser>
        <c:ser>
          <c:idx val="6"/>
          <c:order val="6"/>
          <c:tx>
            <c:strRef>
              <c:strCache>
                <c:ptCount val="1"/>
                <c:pt idx="0">
                  <c:v>Other single-flour bases</c:v>
                </c:pt>
              </c:strCache>
            </c:strRef>
          </c:tx>
          <c:spPr>
            <a:solidFill>
              <a:srgbClr val="0E72AE"/>
            </a:solidFill>
          </c:spPr>
          <c:invertIfNegative val="0"/>
          <c:xVal>
            <c:numRef>
              <c:numCache>
                <c:formatCode>General</c:formatCode>
                <c:ptCount val="1"/>
                <c:pt idx="0">
                  <c:v>115.5796766942104</c:v>
                </c:pt>
              </c:numCache>
            </c:numRef>
          </c:xVal>
          <c:yVal>
            <c:numRef>
              <c:numCache>
                <c:formatCode>General</c:formatCode>
                <c:ptCount val="1"/>
                <c:pt idx="0">
                  <c:v>100.29068668334725</c:v>
                </c:pt>
              </c:numCache>
            </c:numRef>
          </c:yVal>
          <c:bubbleSize>
            <c:numRef>
              <c:numCache>
                <c:formatCode>General</c:formatCode>
                <c:ptCount val="1"/>
                <c:pt idx="0">
                  <c:v>712.987</c:v>
                </c:pt>
              </c:numCache>
            </c:numRef>
          </c:bubbleSize>
          <c:bubble3D val="0"/>
        </c:ser>
        <c:ser>
          <c:idx val="7"/>
          <c:order val="7"/>
          <c:tx>
            <c:strRef>
              <c:strCache>
                <c:ptCount val="1"/>
                <c:pt idx="0">
                  <c:v>Multigrain and blended flour bases</c:v>
                </c:pt>
              </c:strCache>
            </c:strRef>
          </c:tx>
          <c:spPr>
            <a:solidFill>
              <a:srgbClr val="A86F00"/>
            </a:solidFill>
          </c:spPr>
          <c:invertIfNegative val="0"/>
          <c:xVal>
            <c:numRef>
              <c:numCache>
                <c:formatCode>General</c:formatCode>
                <c:ptCount val="1"/>
                <c:pt idx="0">
                  <c:v>16.259649403422724</c:v>
                </c:pt>
              </c:numCache>
            </c:numRef>
          </c:xVal>
          <c:yVal>
            <c:numRef>
              <c:numCache>
                <c:formatCode>General</c:formatCode>
                <c:ptCount val="1"/>
                <c:pt idx="0">
                  <c:v>57.55040311370587</c:v>
                </c:pt>
              </c:numCache>
            </c:numRef>
          </c:yVal>
          <c:bubbleSize>
            <c:numRef>
              <c:numCache>
                <c:formatCode>General</c:formatCode>
                <c:ptCount val="1"/>
                <c:pt idx="0">
                  <c:v>276.342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8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631.817</c:v>
                </c:pt>
                <c:pt idx="2">
                  <c:v>685.169</c:v>
                </c:pt>
                <c:pt idx="3">
                  <c:v>743.063</c:v>
                </c:pt>
                <c:pt idx="4">
                  <c:v>805.886</c:v>
                </c:pt>
                <c:pt idx="5">
                  <c:v>874.067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631.817</c:v>
                </c:pt>
                <c:pt idx="1">
                  <c:v>53.351999999999975</c:v>
                </c:pt>
                <c:pt idx="2">
                  <c:v>57.894000000000005</c:v>
                </c:pt>
                <c:pt idx="3">
                  <c:v>62.82299999999998</c:v>
                </c:pt>
                <c:pt idx="4">
                  <c:v>68.18100000000004</c:v>
                </c:pt>
                <c:pt idx="5">
                  <c:v>73.99299999999994</c:v>
                </c:pt>
                <c:pt idx="6">
                  <c:v>948.06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714.202</c:v>
                </c:pt>
                <c:pt idx="2">
                  <c:v>800.099</c:v>
                </c:pt>
                <c:pt idx="3">
                  <c:v>895.012</c:v>
                </c:pt>
                <c:pt idx="4">
                  <c:v>999.832</c:v>
                </c:pt>
                <c:pt idx="5">
                  <c:v>1115.529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714.202</c:v>
                </c:pt>
                <c:pt idx="1">
                  <c:v>85.89700000000005</c:v>
                </c:pt>
                <c:pt idx="2">
                  <c:v>94.9129999999999</c:v>
                </c:pt>
                <c:pt idx="3">
                  <c:v>104.82000000000005</c:v>
                </c:pt>
                <c:pt idx="4">
                  <c:v>115.697</c:v>
                </c:pt>
                <c:pt idx="5">
                  <c:v>127.64900000000011</c:v>
                </c:pt>
                <c:pt idx="6">
                  <c:v>1243.178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637.84</c:v>
                </c:pt>
                <c:pt idx="2">
                  <c:v>672.933</c:v>
                </c:pt>
                <c:pt idx="3">
                  <c:v>709.677</c:v>
                </c:pt>
                <c:pt idx="4">
                  <c:v>748.115</c:v>
                </c:pt>
                <c:pt idx="5">
                  <c:v>788.282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637.84</c:v>
                </c:pt>
                <c:pt idx="1">
                  <c:v>35.09299999999996</c:v>
                </c:pt>
                <c:pt idx="2">
                  <c:v>36.74400000000003</c:v>
                </c:pt>
                <c:pt idx="3">
                  <c:v>38.43799999999999</c:v>
                </c:pt>
                <c:pt idx="4">
                  <c:v>40.16700000000003</c:v>
                </c:pt>
                <c:pt idx="5">
                  <c:v>41.93399999999997</c:v>
                </c:pt>
                <c:pt idx="6">
                  <c:v>830.216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551.294</c:v>
                </c:pt>
                <c:pt idx="2">
                  <c:v>586.865</c:v>
                </c:pt>
                <c:pt idx="3">
                  <c:v>624.689</c:v>
                </c:pt>
                <c:pt idx="4">
                  <c:v>664.904</c:v>
                </c:pt>
                <c:pt idx="5">
                  <c:v>707.654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551.294</c:v>
                </c:pt>
                <c:pt idx="1">
                  <c:v>35.571000000000026</c:v>
                </c:pt>
                <c:pt idx="2">
                  <c:v>37.823999999999955</c:v>
                </c:pt>
                <c:pt idx="3">
                  <c:v>40.21500000000003</c:v>
                </c:pt>
                <c:pt idx="4">
                  <c:v>42.75</c:v>
                </c:pt>
                <c:pt idx="5">
                  <c:v>45.43700000000001</c:v>
                </c:pt>
                <c:pt idx="6">
                  <c:v>753.091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243.172</c:v>
                </c:pt>
                <c:pt idx="2">
                  <c:v>272.7</c:v>
                </c:pt>
                <c:pt idx="3">
                  <c:v>305.359</c:v>
                </c:pt>
                <c:pt idx="4">
                  <c:v>341.461</c:v>
                </c:pt>
                <c:pt idx="5">
                  <c:v>381.351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243.172</c:v>
                </c:pt>
                <c:pt idx="1">
                  <c:v>29.52799999999999</c:v>
                </c:pt>
                <c:pt idx="2">
                  <c:v>32.65899999999999</c:v>
                </c:pt>
                <c:pt idx="3">
                  <c:v>36.10200000000003</c:v>
                </c:pt>
                <c:pt idx="4">
                  <c:v>39.889999999999986</c:v>
                </c:pt>
                <c:pt idx="5">
                  <c:v>44.053999999999974</c:v>
                </c:pt>
                <c:pt idx="6">
                  <c:v>425.405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108.982</c:v>
                </c:pt>
                <c:pt idx="2">
                  <c:v>118.254</c:v>
                </c:pt>
                <c:pt idx="3">
                  <c:v>128.316</c:v>
                </c:pt>
                <c:pt idx="4">
                  <c:v>139.237</c:v>
                </c:pt>
                <c:pt idx="5">
                  <c:v>151.09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108.982</c:v>
                </c:pt>
                <c:pt idx="1">
                  <c:v>9.272000000000006</c:v>
                </c:pt>
                <c:pt idx="2">
                  <c:v>10.061999999999998</c:v>
                </c:pt>
                <c:pt idx="3">
                  <c:v>10.920999999999992</c:v>
                </c:pt>
                <c:pt idx="4">
                  <c:v>11.853000000000009</c:v>
                </c:pt>
                <c:pt idx="5">
                  <c:v>12.865000000000009</c:v>
                </c:pt>
                <c:pt idx="6">
                  <c:v>163.955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450.932</c:v>
                </c:pt>
                <c:pt idx="2">
                  <c:v>494.421</c:v>
                </c:pt>
                <c:pt idx="3">
                  <c:v>541.979</c:v>
                </c:pt>
                <c:pt idx="4">
                  <c:v>593.98</c:v>
                </c:pt>
                <c:pt idx="5">
                  <c:v>650.834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450.932</c:v>
                </c:pt>
                <c:pt idx="1">
                  <c:v>43.488999999999976</c:v>
                </c:pt>
                <c:pt idx="2">
                  <c:v>47.55800000000005</c:v>
                </c:pt>
                <c:pt idx="3">
                  <c:v>52.000999999999976</c:v>
                </c:pt>
                <c:pt idx="4">
                  <c:v>56.85399999999993</c:v>
                </c:pt>
                <c:pt idx="5">
                  <c:v>62.15300000000002</c:v>
                </c:pt>
                <c:pt idx="6">
                  <c:v>712.987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258.761</c:v>
                </c:pt>
                <c:pt idx="2">
                  <c:v>263.946</c:v>
                </c:pt>
                <c:pt idx="3">
                  <c:v>268.442</c:v>
                </c:pt>
                <c:pt idx="4">
                  <c:v>272.114</c:v>
                </c:pt>
                <c:pt idx="5">
                  <c:v>274.806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258.761</c:v>
                </c:pt>
                <c:pt idx="1">
                  <c:v>5.185000000000002</c:v>
                </c:pt>
                <c:pt idx="2">
                  <c:v>4.495999999999981</c:v>
                </c:pt>
                <c:pt idx="3">
                  <c:v>3.6719999999999686</c:v>
                </c:pt>
                <c:pt idx="4">
                  <c:v>2.6920000000000073</c:v>
                </c:pt>
                <c:pt idx="5">
                  <c:v>1.5360000000000014</c:v>
                </c:pt>
                <c:pt idx="6">
                  <c:v>276.342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Oat-based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18.095322282552324</c:v>
                </c:pt>
                <c:pt idx="1">
                  <c:v>19.855490686683346</c:v>
                </c:pt>
                <c:pt idx="2">
                  <c:v>23.222934024554128</c:v>
                </c:pt>
              </c:numCache>
            </c:numRef>
          </c:val>
        </c:ser>
        <c:ser>
          <c:idx val="1"/>
          <c:order val="1"/>
          <c:tx>
            <c:strRef>
              <c:strCache>
                <c:ptCount val="1"/>
                <c:pt idx="0">
                  <c:v>Wheat-based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17.494192240271964</c:v>
                </c:pt>
                <c:pt idx="1">
                  <c:v>17.565109813733667</c:v>
                </c:pt>
                <c:pt idx="2">
                  <c:v>17.71004219131837</c:v>
                </c:pt>
              </c:numCache>
            </c:numRef>
          </c:val>
        </c:ser>
        <c:ser>
          <c:idx val="2"/>
          <c:order val="2"/>
          <c:tx>
            <c:strRef>
              <c:strCache>
                <c:ptCount val="1"/>
                <c:pt idx="0">
                  <c:v>Rice-based</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18.883683669055877</c:v>
                </c:pt>
                <c:pt idx="1">
                  <c:v>17.732554906866834</c:v>
                </c:pt>
                <c:pt idx="2">
                  <c:v>15.50868129433535</c:v>
                </c:pt>
              </c:numCache>
            </c:numRef>
          </c:val>
        </c:ser>
        <c:ser>
          <c:idx val="3"/>
          <c:order val="3"/>
          <c:tx>
            <c:strRef>
              <c:strCache>
                <c:ptCount val="1"/>
                <c:pt idx="0">
                  <c:v>Corn-based</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15.980978078275749</c:v>
                </c:pt>
                <c:pt idx="1">
                  <c:v>15.326494300806226</c:v>
                </c:pt>
                <c:pt idx="2">
                  <c:v>14.067963403056918</c:v>
                </c:pt>
              </c:numCache>
            </c:numRef>
          </c:val>
        </c:ser>
        <c:ser>
          <c:idx val="4"/>
          <c:order val="4"/>
          <c:tx>
            <c:strRef>
              <c:strCache>
                <c:ptCount val="1"/>
                <c:pt idx="0">
                  <c:v>Other single-flour bases</c:v>
                </c:pt>
              </c:strCache>
            </c:strRef>
          </c:tx>
          <c:spPr>
            <a:solidFill>
              <a:srgbClr val="A35313"/>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12.131221120217528</c:v>
                </c:pt>
                <c:pt idx="1">
                  <c:v>12.536335835418406</c:v>
                </c:pt>
                <c:pt idx="2">
                  <c:v>13.318808779888942</c:v>
                </c:pt>
              </c:numCache>
            </c:numRef>
          </c:val>
        </c:ser>
        <c:ser>
          <c:idx val="5"/>
          <c:order val="5"/>
          <c:tx>
            <c:strRef>
              <c:strCache>
                <c:ptCount val="1"/>
                <c:pt idx="0">
                  <c:v>Millet-based</c:v>
                </c:pt>
              </c:strCache>
            </c:strRef>
          </c:tx>
          <c:spPr>
            <a:solidFill>
              <a:srgbClr val="808080"/>
            </a:solidFill>
            <a:ln>
              <a:noFill/>
            </a:ln>
          </c:spPr>
          <c:dLbls>
            <c:dLbl>
              <c:idx val="0"/>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6.144678291536817</c:v>
                </c:pt>
                <c:pt idx="1">
                  <c:v>6.760411453989436</c:v>
                </c:pt>
                <c:pt idx="2">
                  <c:v>7.946691663394501</c:v>
                </c:pt>
              </c:numCache>
            </c:numRef>
          </c:val>
        </c:ser>
        <c:ser>
          <c:idx val="6"/>
          <c:order val="6"/>
          <c:tx>
            <c:strRef>
              <c:strCache>
                <c:ptCount val="1"/>
                <c:pt idx="0">
                  <c:v>Multigrain and blended flour bases</c:v>
                </c:pt>
              </c:strCache>
            </c:strRef>
          </c:tx>
          <c:spPr>
            <a:solidFill>
              <a:srgbClr val="0E72AE"/>
            </a:solidFill>
            <a:ln>
              <a:noFill/>
            </a:ln>
          </c:spPr>
          <c:dLbls>
            <c:dLbl>
              <c:idx val="0"/>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8.25716322985159</c:v>
                </c:pt>
                <c:pt idx="1">
                  <c:v>7.193800389213234</c:v>
                </c:pt>
                <c:pt idx="2">
                  <c:v>5.162150580378141</c:v>
                </c:pt>
              </c:numCache>
            </c:numRef>
          </c:val>
        </c:ser>
        <c:ser>
          <c:idx val="7"/>
          <c:order val="7"/>
          <c:tx>
            <c:strRef>
              <c:strCache>
                <c:ptCount val="1"/>
                <c:pt idx="0">
                  <c:v>Almond and other nut flour-based</c:v>
                </c:pt>
              </c:strCache>
            </c:strRef>
          </c:tx>
          <c:spPr>
            <a:solidFill>
              <a:srgbClr val="A86F00"/>
            </a:solidFill>
            <a:ln>
              <a:noFill/>
            </a:ln>
          </c:spPr>
          <c:dLbls>
            <c:dLbl>
              <c:idx val="0"/>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3.012761088238153</c:v>
                </c:pt>
                <c:pt idx="1">
                  <c:v>3.029802613288852</c:v>
                </c:pt>
                <c:pt idx="2">
                  <c:v>3.062728063073649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17.062421830063933</c:v>
                </c:pt>
                <c:pt idx="1">
                  <c:v>18.74031878101765</c:v>
                </c:pt>
              </c:numCache>
            </c:numRef>
          </c:val>
        </c:ser>
        <c:ser>
          <c:idx val="1"/>
          <c:order val="1"/>
          <c:tx>
            <c:strRef>
              <c:strCache>
                <c:ptCount val="1"/>
                <c:pt idx="0">
                  <c:v>Gluten-free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48.27677762950619</c:v>
                </c:pt>
                <c:pt idx="1">
                  <c:v>47.16486255335666</c:v>
                </c:pt>
              </c:numCache>
            </c:numRef>
          </c:val>
        </c:ser>
        <c:ser>
          <c:idx val="2"/>
          <c:order val="2"/>
          <c:tx>
            <c:strRef>
              <c:strCache>
                <c:ptCount val="1"/>
                <c:pt idx="0">
                  <c:v>Vegan</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3.827968507802227</c:v>
                </c:pt>
                <c:pt idx="1">
                  <c:v>5.624672213422759</c:v>
                </c:pt>
              </c:numCache>
            </c:numRef>
          </c:val>
        </c:ser>
        <c:ser>
          <c:idx val="3"/>
          <c:order val="3"/>
          <c:tx>
            <c:strRef>
              <c:strCache>
                <c:ptCount val="1"/>
                <c:pt idx="0">
                  <c:v>Gluten-free and vegan</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30.832832032627657</c:v>
                </c:pt>
                <c:pt idx="1">
                  <c:v>28.47014645220294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7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c:v>
                </c:pt>
              </c:strCache>
            </c:strRef>
          </c:tx>
          <c:spPr>
            <a:solidFill>
              <a:srgbClr val="3D85C6"/>
            </a:solidFill>
          </c:spPr>
          <c:invertIfNegative val="0"/>
          <c:xVal>
            <c:numRef>
              <c:numCache>
                <c:formatCode>General</c:formatCode>
                <c:ptCount val="1"/>
                <c:pt idx="0">
                  <c:v>127.94527740497182</c:v>
                </c:pt>
              </c:numCache>
            </c:numRef>
          </c:xVal>
          <c:yVal>
            <c:numRef>
              <c:numCache>
                <c:formatCode>General</c:formatCode>
                <c:ptCount val="1"/>
                <c:pt idx="0">
                  <c:v>65.30252988601612</c:v>
                </c:pt>
              </c:numCache>
            </c:numRef>
          </c:yVal>
          <c:bubbleSize>
            <c:numRef>
              <c:numCache>
                <c:formatCode>General</c:formatCode>
                <c:ptCount val="1"/>
                <c:pt idx="0">
                  <c:v>973.954</c:v>
                </c:pt>
              </c:numCache>
            </c:numRef>
          </c:bubbleSize>
          <c:bubble3D val="0"/>
        </c:ser>
        <c:ser>
          <c:idx val="1"/>
          <c:order val="1"/>
          <c:tx>
            <c:strRef>
              <c:strCache>
                <c:ptCount val="1"/>
                <c:pt idx="0">
                  <c:v>Gluten-free</c:v>
                </c:pt>
              </c:strCache>
            </c:strRef>
          </c:tx>
          <c:spPr>
            <a:solidFill>
              <a:srgbClr val="9E7E0A"/>
            </a:solidFill>
          </c:spPr>
          <c:invertIfNegative val="0"/>
          <c:xVal>
            <c:numRef>
              <c:numCache>
                <c:formatCode>General</c:formatCode>
                <c:ptCount val="1"/>
                <c:pt idx="0">
                  <c:v>111.82630117821819</c:v>
                </c:pt>
              </c:numCache>
            </c:numRef>
          </c:xVal>
          <c:yVal>
            <c:numRef>
              <c:numCache>
                <c:formatCode>General</c:formatCode>
                <c:ptCount val="1"/>
                <c:pt idx="0">
                  <c:v>181.562635529608</c:v>
                </c:pt>
              </c:numCache>
            </c:numRef>
          </c:yVal>
          <c:bubbleSize>
            <c:numRef>
              <c:numCache>
                <c:formatCode>General</c:formatCode>
                <c:ptCount val="1"/>
                <c:pt idx="0">
                  <c:v>2544.235</c:v>
                </c:pt>
              </c:numCache>
            </c:numRef>
          </c:bubbleSize>
          <c:bubble3D val="0"/>
        </c:ser>
        <c:ser>
          <c:idx val="2"/>
          <c:order val="2"/>
          <c:tx>
            <c:strRef>
              <c:strCache>
                <c:ptCount val="1"/>
                <c:pt idx="0">
                  <c:v>Vegan</c:v>
                </c:pt>
              </c:strCache>
            </c:strRef>
          </c:tx>
          <c:spPr>
            <a:solidFill>
              <a:srgbClr val="008189"/>
            </a:solidFill>
          </c:spPr>
          <c:invertIfNegative val="0"/>
          <c:xVal>
            <c:numRef>
              <c:numCache>
                <c:formatCode>General</c:formatCode>
                <c:ptCount val="1"/>
                <c:pt idx="0">
                  <c:v>30.540874509100746</c:v>
                </c:pt>
              </c:numCache>
            </c:numRef>
          </c:xVal>
          <c:yVal>
            <c:numRef>
              <c:numCache>
                <c:formatCode>General</c:formatCode>
                <c:ptCount val="1"/>
                <c:pt idx="0">
                  <c:v>26.524437030859048</c:v>
                </c:pt>
              </c:numCache>
            </c:numRef>
          </c:yVal>
          <c:bubbleSize>
            <c:numRef>
              <c:numCache>
                <c:formatCode>General</c:formatCode>
                <c:ptCount val="1"/>
                <c:pt idx="0">
                  <c:v>269.771</c:v>
                </c:pt>
              </c:numCache>
            </c:numRef>
          </c:bubbleSize>
          <c:bubble3D val="0"/>
        </c:ser>
        <c:ser>
          <c:idx val="3"/>
          <c:order val="3"/>
          <c:tx>
            <c:strRef>
              <c:strCache>
                <c:ptCount val="1"/>
                <c:pt idx="0">
                  <c:v>Gluten-free and vegan</c:v>
                </c:pt>
              </c:strCache>
            </c:strRef>
          </c:tx>
          <c:spPr>
            <a:solidFill>
              <a:srgbClr val="40315E"/>
            </a:solidFill>
          </c:spPr>
          <c:invertIfNegative val="0"/>
          <c:xVal>
            <c:numRef>
              <c:numCache>
                <c:formatCode>General</c:formatCode>
                <c:ptCount val="1"/>
                <c:pt idx="0">
                  <c:v>79.73921872118434</c:v>
                </c:pt>
              </c:numCache>
            </c:numRef>
          </c:xVal>
          <c:yVal>
            <c:numRef>
              <c:numCache>
                <c:formatCode>General</c:formatCode>
                <c:ptCount val="1"/>
                <c:pt idx="0">
                  <c:v>126.61039755351683</c:v>
                </c:pt>
              </c:numCache>
            </c:numRef>
          </c:yVal>
          <c:bubbleSize>
            <c:numRef>
              <c:numCache>
                <c:formatCode>General</c:formatCode>
                <c:ptCount val="1"/>
                <c:pt idx="0">
                  <c:v>1565.274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587.233</c:v>
                </c:pt>
                <c:pt idx="2">
                  <c:v>652.105</c:v>
                </c:pt>
                <c:pt idx="3">
                  <c:v>722.678</c:v>
                </c:pt>
                <c:pt idx="4">
                  <c:v>799.466</c:v>
                </c:pt>
                <c:pt idx="5">
                  <c:v>883.024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587.233</c:v>
                </c:pt>
                <c:pt idx="1">
                  <c:v>64.87200000000007</c:v>
                </c:pt>
                <c:pt idx="2">
                  <c:v>70.57299999999998</c:v>
                </c:pt>
                <c:pt idx="3">
                  <c:v>76.78800000000001</c:v>
                </c:pt>
                <c:pt idx="4">
                  <c:v>83.55799999999999</c:v>
                </c:pt>
                <c:pt idx="5">
                  <c:v>90.92999999999995</c:v>
                </c:pt>
                <c:pt idx="6">
                  <c:v>973.954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1632.702</c:v>
                </c:pt>
                <c:pt idx="2">
                  <c:v>1786.292</c:v>
                </c:pt>
                <c:pt idx="3">
                  <c:v>1953.045</c:v>
                </c:pt>
                <c:pt idx="4">
                  <c:v>2134.108</c:v>
                </c:pt>
                <c:pt idx="5">
                  <c:v>2330.72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1632.702</c:v>
                </c:pt>
                <c:pt idx="1">
                  <c:v>153.58999999999992</c:v>
                </c:pt>
                <c:pt idx="2">
                  <c:v>166.75300000000016</c:v>
                </c:pt>
                <c:pt idx="3">
                  <c:v>181.0630000000001</c:v>
                </c:pt>
                <c:pt idx="4">
                  <c:v>196.61199999999963</c:v>
                </c:pt>
                <c:pt idx="5">
                  <c:v>213.51500000000033</c:v>
                </c:pt>
                <c:pt idx="6">
                  <c:v>2544.235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238.521</c:v>
                </c:pt>
                <c:pt idx="2">
                  <c:v>244.352</c:v>
                </c:pt>
                <c:pt idx="3">
                  <c:v>250.404</c:v>
                </c:pt>
                <c:pt idx="4">
                  <c:v>256.666</c:v>
                </c:pt>
                <c:pt idx="5">
                  <c:v>263.127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238.521</c:v>
                </c:pt>
                <c:pt idx="1">
                  <c:v>5.831000000000017</c:v>
                </c:pt>
                <c:pt idx="2">
                  <c:v>6.0519999999999925</c:v>
                </c:pt>
                <c:pt idx="3">
                  <c:v>6.2620000000000005</c:v>
                </c:pt>
                <c:pt idx="4">
                  <c:v>6.461000000000013</c:v>
                </c:pt>
                <c:pt idx="5">
                  <c:v>6.6440000000000055</c:v>
                </c:pt>
                <c:pt idx="6">
                  <c:v>269.771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1138.544</c:v>
                </c:pt>
                <c:pt idx="2">
                  <c:v>1211.638</c:v>
                </c:pt>
                <c:pt idx="3">
                  <c:v>1290.41</c:v>
                </c:pt>
                <c:pt idx="4">
                  <c:v>1375.289</c:v>
                </c:pt>
                <c:pt idx="5">
                  <c:v>1466.742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1138.544</c:v>
                </c:pt>
                <c:pt idx="1">
                  <c:v>73.09399999999982</c:v>
                </c:pt>
                <c:pt idx="2">
                  <c:v>78.77200000000016</c:v>
                </c:pt>
                <c:pt idx="3">
                  <c:v>84.8789999999999</c:v>
                </c:pt>
                <c:pt idx="4">
                  <c:v>91.45299999999997</c:v>
                </c:pt>
                <c:pt idx="5">
                  <c:v>98.53199999999993</c:v>
                </c:pt>
                <c:pt idx="6">
                  <c:v>1565.274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(base)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44.05873192842413</c:v>
                </c:pt>
                <c:pt idx="1">
                  <c:v>45.390658882402</c:v>
                </c:pt>
                <c:pt idx="2">
                  <c:v>47.52706494802955</c:v>
                </c:pt>
              </c:numCache>
            </c:numRef>
          </c:val>
        </c:ser>
        <c:ser>
          <c:idx val="1"/>
          <c:order val="1"/>
          <c:tx>
            <c:strRef>
              <c:strCache>
                <c:ptCount val="1"/>
                <c:pt idx="0">
                  <c:v>and vegan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33.160073666074524</c:v>
                </c:pt>
                <c:pt idx="1">
                  <c:v>31.65259938837921</c:v>
                </c:pt>
                <c:pt idx="2">
                  <c:v>29.23978290506262</c:v>
                </c:pt>
              </c:numCache>
            </c:numRef>
          </c:val>
        </c:ser>
        <c:ser>
          <c:idx val="2"/>
          <c:order val="2"/>
          <c:tx>
            <c:strRef>
              <c:strCache>
                <c:ptCount val="1"/>
                <c:pt idx="0">
                  <c:v>Conventional</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15.153833056183103</c:v>
                </c:pt>
                <c:pt idx="1">
                  <c:v>16.32563247150403</c:v>
                </c:pt>
                <c:pt idx="2">
                  <c:v>18.19374979685177</c:v>
                </c:pt>
              </c:numCache>
            </c:numRef>
          </c:val>
        </c:ser>
        <c:ser>
          <c:idx val="3"/>
          <c:order val="3"/>
          <c:tx>
            <c:strRef>
              <c:strCache>
                <c:ptCount val="1"/>
                <c:pt idx="0">
                  <c:v>Vegan</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7.627361349318236</c:v>
                </c:pt>
                <c:pt idx="1">
                  <c:v>6.631109257714762</c:v>
                </c:pt>
                <c:pt idx="2">
                  <c:v>5.03940235005606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Standard / indulgent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21.11266391672884</c:v>
                </c:pt>
                <c:pt idx="1">
                  <c:v>17.233324753971324</c:v>
                </c:pt>
              </c:numCache>
            </c:numRef>
          </c:val>
        </c:ser>
        <c:ser>
          <c:idx val="1"/>
          <c:order val="1"/>
          <c:tx>
            <c:strRef>
              <c:strCache>
                <c:ptCount val="1"/>
                <c:pt idx="0">
                  <c:v>Protein-enriched</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19.606123877951394</c:v>
                </c:pt>
                <c:pt idx="1">
                  <c:v>26.81379395179913</c:v>
                </c:pt>
              </c:numCache>
            </c:numRef>
          </c:val>
        </c:ser>
        <c:ser>
          <c:idx val="2"/>
          <c:order val="2"/>
          <c:tx>
            <c:strRef>
              <c:strCache>
                <c:ptCount val="1"/>
                <c:pt idx="0">
                  <c:v>Fibre-enriched</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4.484925710962917</c:v>
                </c:pt>
                <c:pt idx="1">
                  <c:v>3.6038030307773763</c:v>
                </c:pt>
              </c:numCache>
            </c:numRef>
          </c:val>
        </c:ser>
        <c:ser>
          <c:idx val="3"/>
          <c:order val="3"/>
          <c:tx>
            <c:strRef>
              <c:strCache>
                <c:ptCount val="1"/>
                <c:pt idx="0">
                  <c:v>Reduced-sugar</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22.037771598414267</c:v>
                </c:pt>
                <c:pt idx="1">
                  <c:v>19.278796111415712</c:v>
                </c:pt>
              </c:numCache>
            </c:numRef>
          </c:val>
        </c:ser>
        <c:ser>
          <c:idx val="4"/>
          <c:order val="4"/>
          <c:tx>
            <c:strRef>
              <c:strCache>
                <c:ptCount val="1"/>
                <c:pt idx="0">
                  <c:v>No-added-sugar</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7.356360860811208</c:v>
                </c:pt>
                <c:pt idx="1">
                  <c:v>7.708404385503889</c:v>
                </c:pt>
              </c:numCache>
            </c:numRef>
          </c:val>
        </c:ser>
        <c:ser>
          <c:idx val="5"/>
          <c:order val="5"/>
          <c:tx>
            <c:strRef>
              <c:strCache>
                <c:ptCount val="1"/>
                <c:pt idx="0">
                  <c:v>Reduced-fat</c:v>
                </c:pt>
              </c:strCache>
            </c:strRef>
          </c:tx>
          <c:spPr>
            <a:solidFill>
              <a:srgbClr val="808080"/>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15.146487807927187</c:v>
                </c:pt>
                <c:pt idx="1">
                  <c:v>13.449105774667904</c:v>
                </c:pt>
              </c:numCache>
            </c:numRef>
          </c:val>
        </c:ser>
        <c:ser>
          <c:idx val="6"/>
          <c:order val="6"/>
          <c:tx>
            <c:strRef>
              <c:strCache>
                <c:ptCount val="1"/>
                <c:pt idx="0">
                  <c:v>Other nutrition-focused formulations</c:v>
                </c:pt>
              </c:strCache>
            </c:strRef>
          </c:tx>
          <c:spPr>
            <a:solidFill>
              <a:srgbClr val="0E72AE"/>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10.2556662272042</c:v>
                </c:pt>
                <c:pt idx="1">
                  <c:v>11.912771991864659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7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Standard / indulgent</c:v>
                </c:pt>
              </c:strCache>
            </c:strRef>
          </c:tx>
          <c:spPr>
            <a:solidFill>
              <a:srgbClr val="3D85C6"/>
            </a:solidFill>
          </c:spPr>
          <c:invertIfNegative val="0"/>
          <c:xVal>
            <c:numRef>
              <c:numCache>
                <c:formatCode>General</c:formatCode>
                <c:ptCount val="1"/>
                <c:pt idx="0">
                  <c:v>89.91541165369776</c:v>
                </c:pt>
              </c:numCache>
            </c:numRef>
          </c:xVal>
          <c:yVal>
            <c:numRef>
              <c:numCache>
                <c:formatCode>General</c:formatCode>
                <c:ptCount val="1"/>
                <c:pt idx="0">
                  <c:v>134.68062274117318</c:v>
                </c:pt>
              </c:numCache>
            </c:numRef>
          </c:yVal>
          <c:bubbleSize>
            <c:numRef>
              <c:numCache>
                <c:formatCode>General</c:formatCode>
                <c:ptCount val="1"/>
                <c:pt idx="0">
                  <c:v>990.188</c:v>
                </c:pt>
              </c:numCache>
            </c:numRef>
          </c:bubbleSize>
          <c:bubble3D val="0"/>
        </c:ser>
        <c:ser>
          <c:idx val="1"/>
          <c:order val="1"/>
          <c:tx>
            <c:strRef>
              <c:strCache>
                <c:ptCount val="1"/>
                <c:pt idx="0">
                  <c:v>Protein-enriched</c:v>
                </c:pt>
              </c:strCache>
            </c:strRef>
          </c:tx>
          <c:spPr>
            <a:solidFill>
              <a:srgbClr val="9E7E0A"/>
            </a:solidFill>
          </c:spPr>
          <c:invertIfNegative val="0"/>
          <c:xVal>
            <c:numRef>
              <c:numCache>
                <c:formatCode>General</c:formatCode>
                <c:ptCount val="1"/>
                <c:pt idx="0">
                  <c:v>128.13273231332042</c:v>
                </c:pt>
              </c:numCache>
            </c:numRef>
          </c:xVal>
          <c:yVal>
            <c:numRef>
              <c:numCache>
                <c:formatCode>General</c:formatCode>
                <c:ptCount val="1"/>
                <c:pt idx="0">
                  <c:v>153.56544342507647</c:v>
                </c:pt>
              </c:numCache>
            </c:numRef>
          </c:yVal>
          <c:bubbleSize>
            <c:numRef>
              <c:numCache>
                <c:formatCode>General</c:formatCode>
                <c:ptCount val="1"/>
                <c:pt idx="0">
                  <c:v>1309.718</c:v>
                </c:pt>
              </c:numCache>
            </c:numRef>
          </c:bubbleSize>
          <c:bubble3D val="0"/>
        </c:ser>
        <c:ser>
          <c:idx val="2"/>
          <c:order val="2"/>
          <c:tx>
            <c:strRef>
              <c:strCache>
                <c:ptCount val="1"/>
                <c:pt idx="0">
                  <c:v>Fibre-enriched</c:v>
                </c:pt>
              </c:strCache>
            </c:strRef>
          </c:tx>
          <c:spPr>
            <a:solidFill>
              <a:srgbClr val="008189"/>
            </a:solidFill>
          </c:spPr>
          <c:invertIfNegative val="0"/>
          <c:xVal>
            <c:numRef>
              <c:numCache>
                <c:formatCode>General</c:formatCode>
                <c:ptCount val="1"/>
                <c:pt idx="0">
                  <c:v>158.44129512804915</c:v>
                </c:pt>
              </c:numCache>
            </c:numRef>
          </c:xVal>
          <c:yVal>
            <c:numRef>
              <c:numCache>
                <c:formatCode>General</c:formatCode>
                <c:ptCount val="1"/>
                <c:pt idx="0">
                  <c:v>21.74281345565749</c:v>
                </c:pt>
              </c:numCache>
            </c:numRef>
          </c:yVal>
          <c:bubbleSize>
            <c:numRef>
              <c:numCache>
                <c:formatCode>General</c:formatCode>
                <c:ptCount val="1"/>
                <c:pt idx="0">
                  <c:v>208.285</c:v>
                </c:pt>
              </c:numCache>
            </c:numRef>
          </c:bubbleSize>
          <c:bubble3D val="0"/>
        </c:ser>
        <c:ser>
          <c:idx val="3"/>
          <c:order val="3"/>
          <c:tx>
            <c:strRef>
              <c:strCache>
                <c:ptCount val="1"/>
                <c:pt idx="0">
                  <c:v>Reduced-sugar</c:v>
                </c:pt>
              </c:strCache>
            </c:strRef>
          </c:tx>
          <c:spPr>
            <a:solidFill>
              <a:srgbClr val="40315E"/>
            </a:solidFill>
          </c:spPr>
          <c:invertIfNegative val="0"/>
          <c:xVal>
            <c:numRef>
              <c:numCache>
                <c:formatCode>General</c:formatCode>
                <c:ptCount val="1"/>
                <c:pt idx="0">
                  <c:v>122.48688948395652</c:v>
                </c:pt>
              </c:numCache>
            </c:numRef>
          </c:xVal>
          <c:yVal>
            <c:numRef>
              <c:numCache>
                <c:formatCode>General</c:formatCode>
                <c:ptCount val="1"/>
                <c:pt idx="0">
                  <c:v>129.43869891576313</c:v>
                </c:pt>
              </c:numCache>
            </c:numRef>
          </c:yVal>
          <c:bubbleSize>
            <c:numRef>
              <c:numCache>
                <c:formatCode>General</c:formatCode>
                <c:ptCount val="1"/>
                <c:pt idx="0">
                  <c:v>1080.15</c:v>
                </c:pt>
              </c:numCache>
            </c:numRef>
          </c:bubbleSize>
          <c:bubble3D val="0"/>
        </c:ser>
        <c:ser>
          <c:idx val="4"/>
          <c:order val="4"/>
          <c:tx>
            <c:strRef>
              <c:strCache>
                <c:ptCount val="1"/>
                <c:pt idx="0">
                  <c:v>No-added-sugar</c:v>
                </c:pt>
              </c:strCache>
            </c:strRef>
          </c:tx>
          <c:spPr>
            <a:solidFill>
              <a:srgbClr val="A35313"/>
            </a:solidFill>
          </c:spPr>
          <c:invertIfNegative val="0"/>
          <c:xVal>
            <c:numRef>
              <c:numCache>
                <c:formatCode>General</c:formatCode>
                <c:ptCount val="1"/>
                <c:pt idx="0">
                  <c:v>82.57112115193229</c:v>
                </c:pt>
              </c:numCache>
            </c:numRef>
          </c:xVal>
          <c:yVal>
            <c:numRef>
              <c:numCache>
                <c:formatCode>General</c:formatCode>
                <c:ptCount val="1"/>
                <c:pt idx="0">
                  <c:v>56.906088407005825</c:v>
                </c:pt>
              </c:numCache>
            </c:numRef>
          </c:yVal>
          <c:bubbleSize>
            <c:numRef>
              <c:numCache>
                <c:formatCode>General</c:formatCode>
                <c:ptCount val="1"/>
                <c:pt idx="0">
                  <c:v>406.51</c:v>
                </c:pt>
              </c:numCache>
            </c:numRef>
          </c:bubbleSize>
          <c:bubble3D val="0"/>
        </c:ser>
        <c:ser>
          <c:idx val="5"/>
          <c:order val="5"/>
          <c:tx>
            <c:strRef>
              <c:strCache>
                <c:ptCount val="1"/>
                <c:pt idx="0">
                  <c:v>Reduced-fat</c:v>
                </c:pt>
              </c:strCache>
            </c:strRef>
          </c:tx>
          <c:spPr>
            <a:solidFill>
              <a:srgbClr val="808080"/>
            </a:solidFill>
          </c:spPr>
          <c:invertIfNegative val="0"/>
          <c:xVal>
            <c:numRef>
              <c:numCache>
                <c:formatCode>General</c:formatCode>
                <c:ptCount val="1"/>
                <c:pt idx="0">
                  <c:v>91.53311929856372</c:v>
                </c:pt>
              </c:numCache>
            </c:numRef>
          </c:xVal>
          <c:yVal>
            <c:numRef>
              <c:numCache>
                <c:formatCode>General</c:formatCode>
                <c:ptCount val="1"/>
                <c:pt idx="0">
                  <c:v>101.30850708924102</c:v>
                </c:pt>
              </c:numCache>
            </c:numRef>
          </c:yVal>
          <c:bubbleSize>
            <c:numRef>
              <c:numCache>
                <c:formatCode>General</c:formatCode>
                <c:ptCount val="1"/>
                <c:pt idx="0">
                  <c:v>749.561</c:v>
                </c:pt>
              </c:numCache>
            </c:numRef>
          </c:bubbleSize>
          <c:bubble3D val="0"/>
        </c:ser>
        <c:ser>
          <c:idx val="6"/>
          <c:order val="6"/>
          <c:tx>
            <c:strRef>
              <c:strCache>
                <c:ptCount val="1"/>
                <c:pt idx="0">
                  <c:v>Other nutrition-focused formulations</c:v>
                </c:pt>
              </c:strCache>
            </c:strRef>
          </c:tx>
          <c:spPr>
            <a:solidFill>
              <a:srgbClr val="0E72AE"/>
            </a:solidFill>
          </c:spPr>
          <c:invertIfNegative val="0"/>
          <c:xVal>
            <c:numRef>
              <c:numCache>
                <c:formatCode>General</c:formatCode>
                <c:ptCount val="1"/>
                <c:pt idx="0">
                  <c:v>36.32820505201673</c:v>
                </c:pt>
              </c:numCache>
            </c:numRef>
          </c:xVal>
          <c:yVal>
            <c:numRef>
              <c:numCache>
                <c:formatCode>General</c:formatCode>
                <c:ptCount val="1"/>
                <c:pt idx="0">
                  <c:v>102.35782596608283</c:v>
                </c:pt>
              </c:numCache>
            </c:numRef>
          </c:yVal>
          <c:bubbleSize>
            <c:numRef>
              <c:numCache>
                <c:formatCode>General</c:formatCode>
                <c:ptCount val="1"/>
                <c:pt idx="0">
                  <c:v>608.822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692.066</c:v>
                </c:pt>
                <c:pt idx="2">
                  <c:v>743.856</c:v>
                </c:pt>
                <c:pt idx="3">
                  <c:v>799.328</c:v>
                </c:pt>
                <c:pt idx="4">
                  <c:v>858.711</c:v>
                </c:pt>
                <c:pt idx="5">
                  <c:v>922.247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692.066</c:v>
                </c:pt>
                <c:pt idx="1">
                  <c:v>51.789999999999964</c:v>
                </c:pt>
                <c:pt idx="2">
                  <c:v>55.47199999999998</c:v>
                </c:pt>
                <c:pt idx="3">
                  <c:v>59.38300000000004</c:v>
                </c:pt>
                <c:pt idx="4">
                  <c:v>63.535999999999945</c:v>
                </c:pt>
                <c:pt idx="5">
                  <c:v>67.94100000000003</c:v>
                </c:pt>
                <c:pt idx="6">
                  <c:v>990.188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789.107</c:v>
                </c:pt>
                <c:pt idx="2">
                  <c:v>872.962</c:v>
                </c:pt>
                <c:pt idx="3">
                  <c:v>965.884</c:v>
                </c:pt>
                <c:pt idx="4">
                  <c:v>1068.884</c:v>
                </c:pt>
                <c:pt idx="5">
                  <c:v>1183.078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789.107</c:v>
                </c:pt>
                <c:pt idx="1">
                  <c:v>83.85500000000002</c:v>
                </c:pt>
                <c:pt idx="2">
                  <c:v>92.92200000000003</c:v>
                </c:pt>
                <c:pt idx="3">
                  <c:v>103.0</c:v>
                </c:pt>
                <c:pt idx="4">
                  <c:v>114.19399999999996</c:v>
                </c:pt>
                <c:pt idx="5">
                  <c:v>126.6400000000001</c:v>
                </c:pt>
                <c:pt idx="6">
                  <c:v>1309.718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111.727</c:v>
                </c:pt>
                <c:pt idx="2">
                  <c:v>126.719</c:v>
                </c:pt>
                <c:pt idx="3">
                  <c:v>143.618</c:v>
                </c:pt>
                <c:pt idx="4">
                  <c:v>162.66</c:v>
                </c:pt>
                <c:pt idx="5">
                  <c:v>184.115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111.727</c:v>
                </c:pt>
                <c:pt idx="1">
                  <c:v>14.99199999999999</c:v>
                </c:pt>
                <c:pt idx="2">
                  <c:v>16.899</c:v>
                </c:pt>
                <c:pt idx="3">
                  <c:v>19.042</c:v>
                </c:pt>
                <c:pt idx="4">
                  <c:v>21.455000000000013</c:v>
                </c:pt>
                <c:pt idx="5">
                  <c:v>24.169999999999987</c:v>
                </c:pt>
                <c:pt idx="6">
                  <c:v>208.285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665.13</c:v>
                </c:pt>
                <c:pt idx="2">
                  <c:v>732.506</c:v>
                </c:pt>
                <c:pt idx="3">
                  <c:v>806.898</c:v>
                </c:pt>
                <c:pt idx="4">
                  <c:v>889.061</c:v>
                </c:pt>
                <c:pt idx="5">
                  <c:v>979.834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665.13</c:v>
                </c:pt>
                <c:pt idx="1">
                  <c:v>67.37599999999998</c:v>
                </c:pt>
                <c:pt idx="2">
                  <c:v>74.39200000000005</c:v>
                </c:pt>
                <c:pt idx="3">
                  <c:v>82.16300000000001</c:v>
                </c:pt>
                <c:pt idx="4">
                  <c:v>90.77299999999991</c:v>
                </c:pt>
                <c:pt idx="5">
                  <c:v>100.31600000000014</c:v>
                </c:pt>
                <c:pt idx="6">
                  <c:v>1080.15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292.416</c:v>
                </c:pt>
                <c:pt idx="2">
                  <c:v>312.649</c:v>
                </c:pt>
                <c:pt idx="3">
                  <c:v>334.124</c:v>
                </c:pt>
                <c:pt idx="4">
                  <c:v>356.893</c:v>
                </c:pt>
                <c:pt idx="5">
                  <c:v>381.007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292.416</c:v>
                </c:pt>
                <c:pt idx="1">
                  <c:v>20.233000000000004</c:v>
                </c:pt>
                <c:pt idx="2">
                  <c:v>21.475000000000023</c:v>
                </c:pt>
                <c:pt idx="3">
                  <c:v>22.76899999999995</c:v>
                </c:pt>
                <c:pt idx="4">
                  <c:v>24.114000000000033</c:v>
                </c:pt>
                <c:pt idx="5">
                  <c:v>25.502999999999986</c:v>
                </c:pt>
                <c:pt idx="6">
                  <c:v>406.51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520.581</c:v>
                </c:pt>
                <c:pt idx="2">
                  <c:v>560.175</c:v>
                </c:pt>
                <c:pt idx="3">
                  <c:v>602.669</c:v>
                </c:pt>
                <c:pt idx="4">
                  <c:v>648.259</c:v>
                </c:pt>
                <c:pt idx="5">
                  <c:v>697.15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520.581</c:v>
                </c:pt>
                <c:pt idx="1">
                  <c:v>39.59399999999994</c:v>
                </c:pt>
                <c:pt idx="2">
                  <c:v>42.49400000000003</c:v>
                </c:pt>
                <c:pt idx="3">
                  <c:v>45.59000000000003</c:v>
                </c:pt>
                <c:pt idx="4">
                  <c:v>48.89099999999996</c:v>
                </c:pt>
                <c:pt idx="5">
                  <c:v>52.41100000000006</c:v>
                </c:pt>
                <c:pt idx="6">
                  <c:v>749.561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525.973</c:v>
                </c:pt>
                <c:pt idx="2">
                  <c:v>545.52</c:v>
                </c:pt>
                <c:pt idx="3">
                  <c:v>564.016</c:v>
                </c:pt>
                <c:pt idx="4">
                  <c:v>581.061</c:v>
                </c:pt>
                <c:pt idx="5">
                  <c:v>596.182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525.973</c:v>
                </c:pt>
                <c:pt idx="1">
                  <c:v>19.547000000000025</c:v>
                </c:pt>
                <c:pt idx="2">
                  <c:v>18.49599999999998</c:v>
                </c:pt>
                <c:pt idx="3">
                  <c:v>17.045000000000073</c:v>
                </c:pt>
                <c:pt idx="4">
                  <c:v>15.120999999999981</c:v>
                </c:pt>
                <c:pt idx="5">
                  <c:v>12.639999999999986</c:v>
                </c:pt>
                <c:pt idx="6">
                  <c:v>608.822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Protein-enriched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20.797814286077752</c:v>
                </c:pt>
                <c:pt idx="1">
                  <c:v>21.937920489296637</c:v>
                </c:pt>
                <c:pt idx="2">
                  <c:v>24.465920974125176</c:v>
                </c:pt>
              </c:numCache>
            </c:numRef>
          </c:val>
        </c:ser>
        <c:ser>
          <c:idx val="1"/>
          <c:order val="1"/>
          <c:tx>
            <c:strRef>
              <c:strCache>
                <c:ptCount val="1"/>
                <c:pt idx="0">
                  <c:v>Reduced-sugar</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17.73380921843635</c:v>
                </c:pt>
                <c:pt idx="1">
                  <c:v>18.491242702251874</c:v>
                </c:pt>
                <c:pt idx="2">
                  <c:v>20.177522596621035</c:v>
                </c:pt>
              </c:numCache>
            </c:numRef>
          </c:val>
        </c:ser>
        <c:ser>
          <c:idx val="2"/>
          <c:order val="2"/>
          <c:tx>
            <c:strRef>
              <c:strCache>
                <c:ptCount val="1"/>
                <c:pt idx="0">
                  <c:v>Standard / indulgent</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19.569981139867032</c:v>
                </c:pt>
                <c:pt idx="1">
                  <c:v>19.240088963024743</c:v>
                </c:pt>
                <c:pt idx="2">
                  <c:v>18.497005735224725</c:v>
                </c:pt>
              </c:numCache>
            </c:numRef>
          </c:val>
        </c:ser>
        <c:ser>
          <c:idx val="3"/>
          <c:order val="3"/>
          <c:tx>
            <c:strRef>
              <c:strCache>
                <c:ptCount val="1"/>
                <c:pt idx="0">
                  <c:v>Reduced-fat</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14.682655919022118</c:v>
                </c:pt>
                <c:pt idx="1">
                  <c:v>14.472643869891577</c:v>
                </c:pt>
                <c:pt idx="2">
                  <c:v>14.002021955326443</c:v>
                </c:pt>
              </c:numCache>
            </c:numRef>
          </c:val>
        </c:ser>
        <c:ser>
          <c:idx val="4"/>
          <c:order val="4"/>
          <c:tx>
            <c:strRef>
              <c:strCache>
                <c:ptCount val="1"/>
                <c:pt idx="0">
                  <c:v>Other nutrition-focused formulations</c:v>
                </c:pt>
              </c:strCache>
            </c:strRef>
          </c:tx>
          <c:spPr>
            <a:solidFill>
              <a:srgbClr val="A35313"/>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16.090185489505586</c:v>
                </c:pt>
                <c:pt idx="1">
                  <c:v>14.622546566583264</c:v>
                </c:pt>
                <c:pt idx="2">
                  <c:v>11.372975662935712</c:v>
                </c:pt>
              </c:numCache>
            </c:numRef>
          </c:val>
        </c:ser>
        <c:ser>
          <c:idx val="5"/>
          <c:order val="5"/>
          <c:tx>
            <c:strRef>
              <c:strCache>
                <c:ptCount val="1"/>
                <c:pt idx="0">
                  <c:v>No-added-sugar</c:v>
                </c:pt>
              </c:strCache>
            </c:strRef>
          </c:tx>
          <c:spPr>
            <a:solidFill>
              <a:srgbClr val="808080"/>
            </a:solidFill>
            <a:ln>
              <a:noFill/>
            </a:ln>
          </c:spPr>
          <c:dLbls>
            <c:dLbl>
              <c:idx val="0"/>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8.370937259233212</c:v>
                </c:pt>
                <c:pt idx="1">
                  <c:v>8.129441201000834</c:v>
                </c:pt>
                <c:pt idx="2">
                  <c:v>7.593727455216789</c:v>
                </c:pt>
              </c:numCache>
            </c:numRef>
          </c:val>
        </c:ser>
        <c:ser>
          <c:idx val="6"/>
          <c:order val="6"/>
          <c:tx>
            <c:strRef>
              <c:strCache>
                <c:ptCount val="1"/>
                <c:pt idx="0">
                  <c:v>Fibre-enriched</c:v>
                </c:pt>
              </c:strCache>
            </c:strRef>
          </c:tx>
          <c:spPr>
            <a:solidFill>
              <a:srgbClr val="0E72AE"/>
            </a:solidFill>
            <a:ln>
              <a:noFill/>
            </a:ln>
          </c:spPr>
          <c:dLbls>
            <c:dLbl>
              <c:idx val="0"/>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2.754616687857949</c:v>
                </c:pt>
                <c:pt idx="1">
                  <c:v>3.1061162079510702</c:v>
                </c:pt>
                <c:pt idx="2">
                  <c:v>3.8908256205501193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Organic-certified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15.037300786731484</c:v>
                </c:pt>
                <c:pt idx="1">
                  <c:v>13.02385939967923</c:v>
                </c:pt>
              </c:numCache>
            </c:numRef>
          </c:val>
        </c:ser>
        <c:ser>
          <c:idx val="1"/>
          <c:order val="1"/>
          <c:tx>
            <c:strRef>
              <c:strCache>
                <c:ptCount val="1"/>
                <c:pt idx="0">
                  <c:v>Conventional / non-organic</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1.5877421511792944</c:v>
                </c:pt>
                <c:pt idx="1">
                  <c:v>1.472999805786886</c:v>
                </c:pt>
              </c:numCache>
            </c:numRef>
          </c:val>
        </c:ser>
        <c:ser>
          <c:idx val="2"/>
          <c:order val="2"/>
          <c:tx>
            <c:strRef>
              <c:strCache>
                <c:ptCount val="1"/>
                <c:pt idx="0">
                  <c:v>Additional claim mapping</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83.37495706208922</c:v>
                </c:pt>
                <c:pt idx="1">
                  <c:v>85.50314079453388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8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Organic-certified</c:v>
                </c:pt>
              </c:strCache>
            </c:strRef>
          </c:tx>
          <c:spPr>
            <a:solidFill>
              <a:srgbClr val="3D85C6"/>
            </a:solidFill>
          </c:spPr>
          <c:invertIfNegative val="0"/>
          <c:xVal>
            <c:numRef>
              <c:numCache>
                <c:formatCode>General</c:formatCode>
                <c:ptCount val="1"/>
                <c:pt idx="0">
                  <c:v>59.69729305957804</c:v>
                </c:pt>
              </c:numCache>
            </c:numRef>
          </c:xVal>
          <c:yVal>
            <c:numRef>
              <c:numCache>
                <c:formatCode>General</c:formatCode>
                <c:ptCount val="1"/>
                <c:pt idx="0">
                  <c:v>48.080400333611344</c:v>
                </c:pt>
              </c:numCache>
            </c:numRef>
          </c:yVal>
          <c:bubbleSize>
            <c:numRef>
              <c:numCache>
                <c:formatCode>General</c:formatCode>
                <c:ptCount val="1"/>
                <c:pt idx="0">
                  <c:v>732.308</c:v>
                </c:pt>
              </c:numCache>
            </c:numRef>
          </c:bubbleSize>
          <c:bubble3D val="0"/>
        </c:ser>
        <c:ser>
          <c:idx val="1"/>
          <c:order val="1"/>
          <c:tx>
            <c:strRef>
              <c:strCache>
                <c:ptCount val="1"/>
                <c:pt idx="0">
                  <c:v>Conventional / non-organic</c:v>
                </c:pt>
              </c:strCache>
            </c:strRef>
          </c:tx>
          <c:spPr>
            <a:solidFill>
              <a:srgbClr val="9E7E0A"/>
            </a:solidFill>
          </c:spPr>
          <c:invertIfNegative val="0"/>
          <c:xVal>
            <c:numRef>
              <c:numCache>
                <c:formatCode>General</c:formatCode>
                <c:ptCount val="1"/>
                <c:pt idx="0">
                  <c:v>50.61798119207507</c:v>
                </c:pt>
              </c:numCache>
            </c:numRef>
          </c:xVal>
          <c:yVal>
            <c:numRef>
              <c:numCache>
                <c:formatCode>General</c:formatCode>
                <c:ptCount val="1"/>
                <c:pt idx="0">
                  <c:v>5.503252710592159</c:v>
                </c:pt>
              </c:numCache>
            </c:numRef>
          </c:yVal>
          <c:bubbleSize>
            <c:numRef>
              <c:numCache>
                <c:formatCode>General</c:formatCode>
                <c:ptCount val="1"/>
                <c:pt idx="0">
                  <c:v>80.854</c:v>
                </c:pt>
              </c:numCache>
            </c:numRef>
          </c:bubbleSize>
          <c:bubble3D val="0"/>
        </c:ser>
        <c:ser>
          <c:idx val="2"/>
          <c:order val="2"/>
          <c:tx>
            <c:strRef>
              <c:strCache>
                <c:ptCount val="1"/>
                <c:pt idx="0">
                  <c:v>Additional claim mapping</c:v>
                </c:pt>
              </c:strCache>
            </c:strRef>
          </c:tx>
          <c:spPr>
            <a:solidFill>
              <a:srgbClr val="008189"/>
            </a:solidFill>
          </c:spPr>
          <c:invertIfNegative val="0"/>
          <c:xVal>
            <c:numRef>
              <c:numCache>
                <c:formatCode>General</c:formatCode>
                <c:ptCount val="1"/>
                <c:pt idx="0">
                  <c:v>108.22297601619515</c:v>
                </c:pt>
              </c:numCache>
            </c:numRef>
          </c:xVal>
          <c:yVal>
            <c:numRef>
              <c:numCache>
                <c:formatCode>General</c:formatCode>
                <c:ptCount val="1"/>
                <c:pt idx="0">
                  <c:v>246.4163469557965</c:v>
                </c:pt>
              </c:numCache>
            </c:numRef>
          </c:yVal>
          <c:bubbleSize>
            <c:numRef>
              <c:numCache>
                <c:formatCode>General</c:formatCode>
                <c:ptCount val="1"/>
                <c:pt idx="0">
                  <c:v>4540.072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3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576.484</c:v>
                </c:pt>
                <c:pt idx="2">
                  <c:v>606.137</c:v>
                </c:pt>
                <c:pt idx="3">
                  <c:v>636.636</c:v>
                </c:pt>
                <c:pt idx="4">
                  <c:v>667.902</c:v>
                </c:pt>
                <c:pt idx="5">
                  <c:v>699.832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576.484</c:v>
                </c:pt>
                <c:pt idx="1">
                  <c:v>29.652999999999906</c:v>
                </c:pt>
                <c:pt idx="2">
                  <c:v>30.499000000000024</c:v>
                </c:pt>
                <c:pt idx="3">
                  <c:v>31.266000000000076</c:v>
                </c:pt>
                <c:pt idx="4">
                  <c:v>31.92999999999995</c:v>
                </c:pt>
                <c:pt idx="5">
                  <c:v>32.476</c:v>
                </c:pt>
                <c:pt idx="6">
                  <c:v>732.308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65.984</c:v>
                </c:pt>
                <c:pt idx="2">
                  <c:v>68.951</c:v>
                </c:pt>
                <c:pt idx="3">
                  <c:v>71.942</c:v>
                </c:pt>
                <c:pt idx="4">
                  <c:v>74.938</c:v>
                </c:pt>
                <c:pt idx="5">
                  <c:v>77.918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65.984</c:v>
                </c:pt>
                <c:pt idx="1">
                  <c:v>2.9669999999999987</c:v>
                </c:pt>
                <c:pt idx="2">
                  <c:v>2.9909999999999997</c:v>
                </c:pt>
                <c:pt idx="3">
                  <c:v>2.9960000000000093</c:v>
                </c:pt>
                <c:pt idx="4">
                  <c:v>2.980000000000004</c:v>
                </c:pt>
                <c:pt idx="5">
                  <c:v>2.935999999999993</c:v>
                </c:pt>
                <c:pt idx="6">
                  <c:v>80.854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2954.532</c:v>
                </c:pt>
                <c:pt idx="2">
                  <c:v>3219.299</c:v>
                </c:pt>
                <c:pt idx="3">
                  <c:v>3507.959</c:v>
                </c:pt>
                <c:pt idx="4">
                  <c:v>3822.689</c:v>
                </c:pt>
                <c:pt idx="5">
                  <c:v>4165.863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2954.532</c:v>
                </c:pt>
                <c:pt idx="1">
                  <c:v>264.7669999999998</c:v>
                </c:pt>
                <c:pt idx="2">
                  <c:v>288.65999999999985</c:v>
                </c:pt>
                <c:pt idx="3">
                  <c:v>314.73</c:v>
                </c:pt>
                <c:pt idx="4">
                  <c:v>343.17400000000043</c:v>
                </c:pt>
                <c:pt idx="5">
                  <c:v>374.20899999999983</c:v>
                </c:pt>
                <c:pt idx="6">
                  <c:v>4540.072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Additional claim mapping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80.83954665224485</c:v>
                </c:pt>
                <c:pt idx="1">
                  <c:v>82.13878231859883</c:v>
                </c:pt>
                <c:pt idx="2">
                  <c:v>84.80989248741975</c:v>
                </c:pt>
              </c:numCache>
            </c:numRef>
          </c:val>
        </c:ser>
        <c:ser>
          <c:idx val="1"/>
          <c:order val="1"/>
          <c:tx>
            <c:strRef>
              <c:strCache>
                <c:ptCount val="1"/>
                <c:pt idx="0">
                  <c:v>Organic-certified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17.168233560337747</c:v>
                </c:pt>
                <c:pt idx="1">
                  <c:v>16.02680011120378</c:v>
                </c:pt>
                <c:pt idx="2">
                  <c:v>13.679730794506648</c:v>
                </c:pt>
              </c:numCache>
            </c:numRef>
          </c:val>
        </c:ser>
        <c:ser>
          <c:idx val="2"/>
          <c:order val="2"/>
          <c:tx>
            <c:strRef>
              <c:strCache>
                <c:ptCount val="1"/>
                <c:pt idx="0">
                  <c:v>Conventional / non-organic</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1.9922197874174015</c:v>
                </c:pt>
                <c:pt idx="1">
                  <c:v>1.8344175701973866</c:v>
                </c:pt>
                <c:pt idx="2">
                  <c:v>1.510376718073598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Unfilled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34.340121011792085</c:v>
                </c:pt>
                <c:pt idx="1">
                  <c:v>36.29039653552618</c:v>
                </c:pt>
              </c:numCache>
            </c:numRef>
          </c:val>
        </c:ser>
        <c:ser>
          <c:idx val="1"/>
          <c:order val="1"/>
          <c:tx>
            <c:strRef>
              <c:strCache>
                <c:ptCount val="1"/>
                <c:pt idx="0">
                  <c:v>Filled muffins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65.65987898820791</c:v>
                </c:pt>
                <c:pt idx="1">
                  <c:v>63.709603464473815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9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Unfilled muffins</c:v>
                </c:pt>
              </c:strCache>
            </c:strRef>
          </c:tx>
          <c:spPr>
            <a:solidFill>
              <a:srgbClr val="3D85C6"/>
            </a:solidFill>
          </c:spPr>
          <c:invertIfNegative val="0"/>
          <c:xVal>
            <c:numRef>
              <c:numCache>
                <c:formatCode>General</c:formatCode>
                <c:ptCount val="1"/>
                <c:pt idx="0">
                  <c:v>96.85364529681789</c:v>
                </c:pt>
              </c:numCache>
            </c:numRef>
          </c:xVal>
          <c:yVal>
            <c:numRef>
              <c:numCache>
                <c:formatCode>General</c:formatCode>
                <c:ptCount val="1"/>
                <c:pt idx="0">
                  <c:v>72.19071448429246</c:v>
                </c:pt>
              </c:numCache>
            </c:numRef>
          </c:yVal>
          <c:bubbleSize>
            <c:numRef>
              <c:numCache>
                <c:formatCode>General</c:formatCode>
                <c:ptCount val="1"/>
                <c:pt idx="0">
                  <c:v>1908.701</c:v>
                </c:pt>
              </c:numCache>
            </c:numRef>
          </c:bubbleSize>
          <c:bubble3D val="0"/>
        </c:ser>
        <c:ser>
          <c:idx val="1"/>
          <c:order val="1"/>
          <c:tx>
            <c:strRef>
              <c:strCache>
                <c:ptCount val="1"/>
                <c:pt idx="0">
                  <c:v>Filled muffins</c:v>
                </c:pt>
              </c:strCache>
            </c:strRef>
          </c:tx>
          <c:spPr>
            <a:solidFill>
              <a:srgbClr val="9E7E0A"/>
            </a:solidFill>
          </c:spPr>
          <c:invertIfNegative val="0"/>
          <c:xVal>
            <c:numRef>
              <c:numCache>
                <c:formatCode>General</c:formatCode>
                <c:ptCount val="1"/>
                <c:pt idx="0">
                  <c:v>101.76192876506514</c:v>
                </c:pt>
              </c:numCache>
            </c:numRef>
          </c:xVal>
          <c:yVal>
            <c:numRef>
              <c:numCache>
                <c:formatCode>General</c:formatCode>
                <c:ptCount val="1"/>
                <c:pt idx="0">
                  <c:v>127.80928551570754</c:v>
                </c:pt>
              </c:numCache>
            </c:numRef>
          </c:yVal>
          <c:bubbleSize>
            <c:numRef>
              <c:numCache>
                <c:formatCode>General</c:formatCode>
                <c:ptCount val="1"/>
                <c:pt idx="0">
                  <c:v>3444.5330000000004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1298.35</c:v>
                </c:pt>
                <c:pt idx="2">
                  <c:v>1402.373</c:v>
                </c:pt>
                <c:pt idx="3">
                  <c:v>1514.728</c:v>
                </c:pt>
                <c:pt idx="4">
                  <c:v>1636.079</c:v>
                </c:pt>
                <c:pt idx="5">
                  <c:v>1767.143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1298.35</c:v>
                </c:pt>
                <c:pt idx="1">
                  <c:v>104.02300000000014</c:v>
                </c:pt>
                <c:pt idx="2">
                  <c:v>112.35500000000002</c:v>
                </c:pt>
                <c:pt idx="3">
                  <c:v>121.35099999999989</c:v>
                </c:pt>
                <c:pt idx="4">
                  <c:v>131.06400000000008</c:v>
                </c:pt>
                <c:pt idx="5">
                  <c:v>141.558</c:v>
                </c:pt>
                <c:pt idx="6">
                  <c:v>1908.701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2298.65</c:v>
                </c:pt>
                <c:pt idx="2">
                  <c:v>2492.014</c:v>
                </c:pt>
                <c:pt idx="3">
                  <c:v>2701.809</c:v>
                </c:pt>
                <c:pt idx="4">
                  <c:v>2929.45</c:v>
                </c:pt>
                <c:pt idx="5">
                  <c:v>3176.47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2298.65</c:v>
                </c:pt>
                <c:pt idx="1">
                  <c:v>193.36400000000003</c:v>
                </c:pt>
                <c:pt idx="2">
                  <c:v>209.79500000000007</c:v>
                </c:pt>
                <c:pt idx="3">
                  <c:v>227.64099999999962</c:v>
                </c:pt>
                <c:pt idx="4">
                  <c:v>247.01999999999998</c:v>
                </c:pt>
                <c:pt idx="5">
                  <c:v>268.06300000000056</c:v>
                </c:pt>
                <c:pt idx="6">
                  <c:v>3444.5330000000004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Filled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63.6977016210842</c:v>
                </c:pt>
                <c:pt idx="1">
                  <c:v>63.90464275785377</c:v>
                </c:pt>
                <c:pt idx="2">
                  <c:v>64.34489880322812</c:v>
                </c:pt>
              </c:numCache>
            </c:numRef>
          </c:val>
        </c:ser>
        <c:ser>
          <c:idx val="1"/>
          <c:order val="1"/>
          <c:tx>
            <c:strRef>
              <c:strCache>
                <c:ptCount val="1"/>
                <c:pt idx="0">
                  <c:v>Unfilled muffins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36.30229837891579</c:v>
                </c:pt>
                <c:pt idx="1">
                  <c:v>36.09535724214623</c:v>
                </c:pt>
                <c:pt idx="2">
                  <c:v>35.655101196771895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Untopped</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7.062175241728252</c:v>
                </c:pt>
                <c:pt idx="1">
                  <c:v>6.9587029777774205</c:v>
                </c:pt>
              </c:numCache>
            </c:numRef>
          </c:val>
        </c:ser>
        <c:ser>
          <c:idx val="1"/>
          <c:order val="1"/>
          <c:tx>
            <c:strRef>
              <c:strCache>
                <c:ptCount val="1"/>
                <c:pt idx="0">
                  <c:v>Crumb / streusel-topped</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5.0551755737623125</c:v>
                </c:pt>
                <c:pt idx="1">
                  <c:v>5.7763579195314945</c:v>
                </c:pt>
              </c:numCache>
            </c:numRef>
          </c:val>
        </c:ser>
        <c:ser>
          <c:idx val="2"/>
          <c:order val="2"/>
          <c:tx>
            <c:strRef>
              <c:strCache>
                <c:ptCount val="1"/>
                <c:pt idx="0">
                  <c:v>Sugar-topped</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6.161611701362028</c:v>
                </c:pt>
                <c:pt idx="1">
                  <c:v>10.21067828583793</c:v>
                </c:pt>
              </c:numCache>
            </c:numRef>
          </c:val>
        </c:ser>
        <c:ser>
          <c:idx val="3"/>
          <c:order val="3"/>
          <c:tx>
            <c:strRef>
              <c:strCache>
                <c:ptCount val="1"/>
                <c:pt idx="0">
                  <c:v>Nut and seed-topped</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41.83445664833694</c:v>
                </c:pt>
                <c:pt idx="1">
                  <c:v>34.41838713350586</c:v>
                </c:pt>
              </c:numCache>
            </c:numRef>
          </c:val>
        </c:ser>
        <c:ser>
          <c:idx val="4"/>
          <c:order val="4"/>
          <c:tx>
            <c:strRef>
              <c:strCache>
                <c:ptCount val="1"/>
                <c:pt idx="0">
                  <c:v>Glazed / drizzled</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30.76780152735668</c:v>
                </c:pt>
                <c:pt idx="1">
                  <c:v>32.787551077910486</c:v>
                </c:pt>
              </c:numCache>
            </c:numRef>
          </c:val>
        </c:ser>
        <c:ser>
          <c:idx val="5"/>
          <c:order val="5"/>
          <c:tx>
            <c:strRef>
              <c:strCache>
                <c:ptCount val="1"/>
                <c:pt idx="0">
                  <c:v>Other toppings</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9.118779307453792</c:v>
                </c:pt>
                <c:pt idx="1">
                  <c:v>9.848322605436802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9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Untopped</c:v>
                </c:pt>
              </c:strCache>
            </c:strRef>
          </c:tx>
          <c:spPr>
            <a:solidFill>
              <a:srgbClr val="3D85C6"/>
            </a:solidFill>
          </c:spPr>
          <c:invertIfNegative val="0"/>
          <c:xVal>
            <c:numRef>
              <c:numCache>
                <c:formatCode>General</c:formatCode>
                <c:ptCount val="1"/>
                <c:pt idx="0">
                  <c:v>27.97184184596225</c:v>
                </c:pt>
              </c:numCache>
            </c:numRef>
          </c:xVal>
          <c:yVal>
            <c:numRef>
              <c:numCache>
                <c:formatCode>General</c:formatCode>
                <c:ptCount val="1"/>
                <c:pt idx="0">
                  <c:v>55.77731442869058</c:v>
                </c:pt>
              </c:numCache>
            </c:numRef>
          </c:yVal>
          <c:bubbleSize>
            <c:numRef>
              <c:numCache>
                <c:formatCode>General</c:formatCode>
                <c:ptCount val="1"/>
                <c:pt idx="0">
                  <c:v>374.32</c:v>
                </c:pt>
              </c:numCache>
            </c:numRef>
          </c:bubbleSize>
          <c:bubble3D val="0"/>
        </c:ser>
        <c:ser>
          <c:idx val="1"/>
          <c:order val="1"/>
          <c:tx>
            <c:strRef>
              <c:strCache>
                <c:ptCount val="1"/>
                <c:pt idx="0">
                  <c:v>Crumb / streusel-topped</c:v>
                </c:pt>
              </c:strCache>
            </c:strRef>
          </c:tx>
          <c:spPr>
            <a:solidFill>
              <a:srgbClr val="9E7E0A"/>
            </a:solidFill>
          </c:spPr>
          <c:invertIfNegative val="0"/>
          <c:xVal>
            <c:numRef>
              <c:numCache>
                <c:formatCode>General</c:formatCode>
                <c:ptCount val="1"/>
                <c:pt idx="0">
                  <c:v>36.44554096971022</c:v>
                </c:pt>
              </c:numCache>
            </c:numRef>
          </c:xVal>
          <c:yVal>
            <c:numRef>
              <c:numCache>
                <c:formatCode>General</c:formatCode>
                <c:ptCount val="1"/>
                <c:pt idx="0">
                  <c:v>42.728607172643876</c:v>
                </c:pt>
              </c:numCache>
            </c:numRef>
          </c:yVal>
          <c:bubbleSize>
            <c:numRef>
              <c:numCache>
                <c:formatCode>General</c:formatCode>
                <c:ptCount val="1"/>
                <c:pt idx="0">
                  <c:v>296.646</c:v>
                </c:pt>
              </c:numCache>
            </c:numRef>
          </c:bubbleSize>
          <c:bubble3D val="0"/>
        </c:ser>
        <c:ser>
          <c:idx val="2"/>
          <c:order val="2"/>
          <c:tx>
            <c:strRef>
              <c:strCache>
                <c:ptCount val="1"/>
                <c:pt idx="0">
                  <c:v>Sugar-topped</c:v>
                </c:pt>
              </c:strCache>
            </c:strRef>
          </c:tx>
          <c:spPr>
            <a:solidFill>
              <a:srgbClr val="008189"/>
            </a:solidFill>
          </c:spPr>
          <c:invertIfNegative val="0"/>
          <c:xVal>
            <c:numRef>
              <c:numCache>
                <c:formatCode>General</c:formatCode>
                <c:ptCount val="1"/>
                <c:pt idx="0">
                  <c:v>38.94725976243744</c:v>
                </c:pt>
              </c:numCache>
            </c:numRef>
          </c:xVal>
          <c:yVal>
            <c:numRef>
              <c:numCache>
                <c:formatCode>General</c:formatCode>
                <c:ptCount val="1"/>
                <c:pt idx="0">
                  <c:v>67.87989991659717</c:v>
                </c:pt>
              </c:numCache>
            </c:numRef>
          </c:yVal>
          <c:bubbleSize>
            <c:numRef>
              <c:numCache>
                <c:formatCode>General</c:formatCode>
                <c:ptCount val="1"/>
                <c:pt idx="0">
                  <c:v>475.994</c:v>
                </c:pt>
              </c:numCache>
            </c:numRef>
          </c:bubbleSize>
          <c:bubble3D val="0"/>
        </c:ser>
        <c:ser>
          <c:idx val="3"/>
          <c:order val="3"/>
          <c:tx>
            <c:strRef>
              <c:strCache>
                <c:ptCount val="1"/>
                <c:pt idx="0">
                  <c:v>Nut and seed-topped</c:v>
                </c:pt>
              </c:strCache>
            </c:strRef>
          </c:tx>
          <c:spPr>
            <a:solidFill>
              <a:srgbClr val="40315E"/>
            </a:solidFill>
          </c:spPr>
          <c:invertIfNegative val="0"/>
          <c:xVal>
            <c:numRef>
              <c:numCache>
                <c:formatCode>General</c:formatCode>
                <c:ptCount val="1"/>
                <c:pt idx="0">
                  <c:v>133.05777422547763</c:v>
                </c:pt>
              </c:numCache>
            </c:numRef>
          </c:xVal>
          <c:yVal>
            <c:numRef>
              <c:numCache>
                <c:formatCode>General</c:formatCode>
                <c:ptCount val="1"/>
                <c:pt idx="0">
                  <c:v>194.44487072560466</c:v>
                </c:pt>
              </c:numCache>
            </c:numRef>
          </c:yVal>
          <c:bubbleSize>
            <c:numRef>
              <c:numCache>
                <c:formatCode>General</c:formatCode>
                <c:ptCount val="1"/>
                <c:pt idx="0">
                  <c:v>1971.818</c:v>
                </c:pt>
              </c:numCache>
            </c:numRef>
          </c:bubbleSize>
          <c:bubble3D val="0"/>
        </c:ser>
        <c:ser>
          <c:idx val="4"/>
          <c:order val="4"/>
          <c:tx>
            <c:strRef>
              <c:strCache>
                <c:ptCount val="1"/>
                <c:pt idx="0">
                  <c:v>Glazed / drizzled</c:v>
                </c:pt>
              </c:strCache>
            </c:strRef>
          </c:tx>
          <c:spPr>
            <a:solidFill>
              <a:srgbClr val="A35313"/>
            </a:solidFill>
          </c:spPr>
          <c:invertIfNegative val="0"/>
          <c:xVal>
            <c:numRef>
              <c:numCache>
                <c:formatCode>General</c:formatCode>
                <c:ptCount val="1"/>
                <c:pt idx="0">
                  <c:v>106.08758649068241</c:v>
                </c:pt>
              </c:numCache>
            </c:numRef>
          </c:xVal>
          <c:yVal>
            <c:numRef>
              <c:numCache>
                <c:formatCode>General</c:formatCode>
                <c:ptCount val="1"/>
                <c:pt idx="0">
                  <c:v>188.26238532110094</c:v>
                </c:pt>
              </c:numCache>
            </c:numRef>
          </c:yVal>
          <c:bubbleSize>
            <c:numRef>
              <c:numCache>
                <c:formatCode>General</c:formatCode>
                <c:ptCount val="1"/>
                <c:pt idx="0">
                  <c:v>1719.974</c:v>
                </c:pt>
              </c:numCache>
            </c:numRef>
          </c:bubbleSize>
          <c:bubble3D val="0"/>
        </c:ser>
        <c:ser>
          <c:idx val="5"/>
          <c:order val="5"/>
          <c:tx>
            <c:strRef>
              <c:strCache>
                <c:ptCount val="1"/>
                <c:pt idx="0">
                  <c:v>Other toppings</c:v>
                </c:pt>
              </c:strCache>
            </c:strRef>
          </c:tx>
          <c:spPr>
            <a:solidFill>
              <a:srgbClr val="808080"/>
            </a:solidFill>
          </c:spPr>
          <c:invertIfNegative val="0"/>
          <c:xVal>
            <c:numRef>
              <c:numCache>
                <c:formatCode>General</c:formatCode>
                <c:ptCount val="1"/>
                <c:pt idx="0">
                  <c:v>132.17420834259633</c:v>
                </c:pt>
              </c:numCache>
            </c:numRef>
          </c:xVal>
          <c:yVal>
            <c:numRef>
              <c:numCache>
                <c:formatCode>General</c:formatCode>
                <c:ptCount val="1"/>
                <c:pt idx="0">
                  <c:v>50.90692243536281</c:v>
                </c:pt>
              </c:numCache>
            </c:numRef>
          </c:yVal>
          <c:bubbleSize>
            <c:numRef>
              <c:numCache>
                <c:formatCode>General</c:formatCode>
                <c:ptCount val="1"/>
                <c:pt idx="0">
                  <c:v>514.482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334.385</c:v>
                </c:pt>
                <c:pt idx="2">
                  <c:v>343.791</c:v>
                </c:pt>
                <c:pt idx="3">
                  <c:v>352.643</c:v>
                </c:pt>
                <c:pt idx="4">
                  <c:v>360.795</c:v>
                </c:pt>
                <c:pt idx="5">
                  <c:v>368.083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334.385</c:v>
                </c:pt>
                <c:pt idx="1">
                  <c:v>9.406000000000006</c:v>
                </c:pt>
                <c:pt idx="2">
                  <c:v>8.851999999999975</c:v>
                </c:pt>
                <c:pt idx="3">
                  <c:v>8.152000000000044</c:v>
                </c:pt>
                <c:pt idx="4">
                  <c:v>7.288000000000011</c:v>
                </c:pt>
                <c:pt idx="5">
                  <c:v>6.236999999999966</c:v>
                </c:pt>
                <c:pt idx="6">
                  <c:v>374.32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256.158</c:v>
                </c:pt>
                <c:pt idx="2">
                  <c:v>264.815</c:v>
                </c:pt>
                <c:pt idx="3">
                  <c:v>273.282</c:v>
                </c:pt>
                <c:pt idx="4">
                  <c:v>281.474</c:v>
                </c:pt>
                <c:pt idx="5">
                  <c:v>289.298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256.158</c:v>
                </c:pt>
                <c:pt idx="1">
                  <c:v>8.656999999999982</c:v>
                </c:pt>
                <c:pt idx="2">
                  <c:v>8.466999999999985</c:v>
                </c:pt>
                <c:pt idx="3">
                  <c:v>8.192000000000007</c:v>
                </c:pt>
                <c:pt idx="4">
                  <c:v>7.824000000000012</c:v>
                </c:pt>
                <c:pt idx="5">
                  <c:v>7.348000000000013</c:v>
                </c:pt>
                <c:pt idx="6">
                  <c:v>296.646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406.94</c:v>
                </c:pt>
                <c:pt idx="2">
                  <c:v>421.352</c:v>
                </c:pt>
                <c:pt idx="3">
                  <c:v>435.586</c:v>
                </c:pt>
                <c:pt idx="4">
                  <c:v>449.528</c:v>
                </c:pt>
                <c:pt idx="5">
                  <c:v>463.047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406.94</c:v>
                </c:pt>
                <c:pt idx="1">
                  <c:v>14.411999999999978</c:v>
                </c:pt>
                <c:pt idx="2">
                  <c:v>14.234000000000037</c:v>
                </c:pt>
                <c:pt idx="3">
                  <c:v>13.942000000000007</c:v>
                </c:pt>
                <c:pt idx="4">
                  <c:v>13.519000000000005</c:v>
                </c:pt>
                <c:pt idx="5">
                  <c:v>12.947000000000003</c:v>
                </c:pt>
                <c:pt idx="6">
                  <c:v>475.994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1165.697</c:v>
                </c:pt>
                <c:pt idx="2">
                  <c:v>1297.112</c:v>
                </c:pt>
                <c:pt idx="3">
                  <c:v>1442.041</c:v>
                </c:pt>
                <c:pt idx="4">
                  <c:v>1601.813</c:v>
                </c:pt>
                <c:pt idx="5">
                  <c:v>1777.876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1165.697</c:v>
                </c:pt>
                <c:pt idx="1">
                  <c:v>131.4150000000002</c:v>
                </c:pt>
                <c:pt idx="2">
                  <c:v>144.92899999999986</c:v>
                </c:pt>
                <c:pt idx="3">
                  <c:v>159.77200000000016</c:v>
                </c:pt>
                <c:pt idx="4">
                  <c:v>176.06299999999987</c:v>
                </c:pt>
                <c:pt idx="5">
                  <c:v>193.942</c:v>
                </c:pt>
                <c:pt idx="6">
                  <c:v>1971.818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1128.633</c:v>
                </c:pt>
                <c:pt idx="2">
                  <c:v>1227.956</c:v>
                </c:pt>
                <c:pt idx="3">
                  <c:v>1335.962</c:v>
                </c:pt>
                <c:pt idx="4">
                  <c:v>1453.409</c:v>
                </c:pt>
                <c:pt idx="5">
                  <c:v>1581.114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1128.633</c:v>
                </c:pt>
                <c:pt idx="1">
                  <c:v>99.32299999999987</c:v>
                </c:pt>
                <c:pt idx="2">
                  <c:v>108.00600000000009</c:v>
                </c:pt>
                <c:pt idx="3">
                  <c:v>117.44700000000012</c:v>
                </c:pt>
                <c:pt idx="4">
                  <c:v>127.70499999999993</c:v>
                </c:pt>
                <c:pt idx="5">
                  <c:v>138.8599999999999</c:v>
                </c:pt>
                <c:pt idx="6">
                  <c:v>1719.974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305.187</c:v>
                </c:pt>
                <c:pt idx="2">
                  <c:v>339.361</c:v>
                </c:pt>
                <c:pt idx="3">
                  <c:v>377.023</c:v>
                </c:pt>
                <c:pt idx="4">
                  <c:v>418.51</c:v>
                </c:pt>
                <c:pt idx="5">
                  <c:v>464.195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305.187</c:v>
                </c:pt>
                <c:pt idx="1">
                  <c:v>34.17399999999998</c:v>
                </c:pt>
                <c:pt idx="2">
                  <c:v>37.662000000000035</c:v>
                </c:pt>
                <c:pt idx="3">
                  <c:v>41.486999999999966</c:v>
                </c:pt>
                <c:pt idx="4">
                  <c:v>45.685</c:v>
                </c:pt>
                <c:pt idx="5">
                  <c:v>50.28699999999998</c:v>
                </c:pt>
                <c:pt idx="6">
                  <c:v>514.482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Nut and seed-topped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30.12578423512081</c:v>
                </c:pt>
                <c:pt idx="1">
                  <c:v>32.40747845426744</c:v>
                </c:pt>
                <c:pt idx="2">
                  <c:v>36.834145490370865</c:v>
                </c:pt>
              </c:numCache>
            </c:numRef>
          </c:val>
        </c:ser>
        <c:ser>
          <c:idx val="1"/>
          <c:order val="1"/>
          <c:tx>
            <c:strRef>
              <c:strCache>
                <c:ptCount val="1"/>
                <c:pt idx="0">
                  <c:v>Glazed / drizzled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30.982449181694644</c:v>
                </c:pt>
                <c:pt idx="1">
                  <c:v>31.377064220183488</c:v>
                </c:pt>
                <c:pt idx="2">
                  <c:v>32.12962482118286</c:v>
                </c:pt>
              </c:numCache>
            </c:numRef>
          </c:val>
        </c:ser>
        <c:ser>
          <c:idx val="2"/>
          <c:order val="2"/>
          <c:tx>
            <c:strRef>
              <c:strCache>
                <c:ptCount val="1"/>
                <c:pt idx="0">
                  <c:v>Other toppings</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7.900771301805837</c:v>
                </c:pt>
                <c:pt idx="1">
                  <c:v>8.484487072560468</c:v>
                </c:pt>
                <c:pt idx="2">
                  <c:v>9.61067646211617</c:v>
                </c:pt>
              </c:numCache>
            </c:numRef>
          </c:val>
        </c:ser>
        <c:ser>
          <c:idx val="3"/>
          <c:order val="3"/>
          <c:tx>
            <c:strRef>
              <c:strCache>
                <c:ptCount val="1"/>
                <c:pt idx="0">
                  <c:v>Sugar-topped</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12.569453369283492</c:v>
                </c:pt>
                <c:pt idx="1">
                  <c:v>11.313316652766193</c:v>
                </c:pt>
                <c:pt idx="2">
                  <c:v>8.891709198589115</c:v>
                </c:pt>
              </c:numCache>
            </c:numRef>
          </c:val>
        </c:ser>
        <c:ser>
          <c:idx val="4"/>
          <c:order val="4"/>
          <c:tx>
            <c:strRef>
              <c:strCache>
                <c:ptCount val="1"/>
                <c:pt idx="0">
                  <c:v>Untopped</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10.484009334167501</c:v>
                </c:pt>
                <c:pt idx="1">
                  <c:v>9.296219071448428</c:v>
                </c:pt>
                <c:pt idx="2">
                  <c:v>6.9924087009833675</c:v>
                </c:pt>
              </c:numCache>
            </c:numRef>
          </c:val>
        </c:ser>
        <c:ser>
          <c:idx val="5"/>
          <c:order val="5"/>
          <c:tx>
            <c:strRef>
              <c:strCache>
                <c:ptCount val="1"/>
                <c:pt idx="0">
                  <c:v>Crumb / streusel-topped</c:v>
                </c:pt>
              </c:strCache>
            </c:strRef>
          </c:tx>
          <c:spPr>
            <a:solidFill>
              <a:srgbClr val="808080"/>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7.937532577927707</c:v>
                </c:pt>
                <c:pt idx="1">
                  <c:v>7.121434528773979</c:v>
                </c:pt>
                <c:pt idx="2">
                  <c:v>5.54143532675762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Mini / bite-sized - below 30 g</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7.363242395760516</c:v>
                </c:pt>
                <c:pt idx="1">
                  <c:v>5.2232522689826695</c:v>
                </c:pt>
              </c:numCache>
            </c:numRef>
          </c:val>
        </c:ser>
        <c:ser>
          <c:idx val="1"/>
          <c:order val="1"/>
          <c:tx>
            <c:strRef>
              <c:strCache>
                <c:ptCount val="1"/>
                <c:pt idx="0">
                  <c:v>Small - 30 g to below 60 g</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16.413493084344108</c:v>
                </c:pt>
                <c:pt idx="1">
                  <c:v>25.051053668480712</c:v>
                </c:pt>
              </c:numCache>
            </c:numRef>
          </c:val>
        </c:ser>
        <c:ser>
          <c:idx val="2"/>
          <c:order val="2"/>
          <c:tx>
            <c:strRef>
              <c:strCache>
                <c:ptCount val="1"/>
                <c:pt idx="0">
                  <c:v>Standard - 60 g to below 100 g</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46.39823328059401</c:v>
                </c:pt>
                <c:pt idx="1">
                  <c:v>43.27500383023724</c:v>
                </c:pt>
              </c:numCache>
            </c:numRef>
          </c:val>
        </c:ser>
        <c:ser>
          <c:idx val="3"/>
          <c:order val="3"/>
          <c:tx>
            <c:strRef>
              <c:strCache>
                <c:ptCount val="1"/>
                <c:pt idx="0">
                  <c:v>Large / jumbo - 100 g and above</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29.825031239301364</c:v>
                </c:pt>
                <c:pt idx="1">
                  <c:v>26.45069023229939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0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Mini / bite-sized - below 30 g</c:v>
                </c:pt>
              </c:strCache>
            </c:strRef>
          </c:tx>
          <c:spPr>
            <a:solidFill>
              <a:srgbClr val="3D85C6"/>
            </a:solidFill>
          </c:spPr>
          <c:invertIfNegative val="0"/>
          <c:xVal>
            <c:numRef>
              <c:numCache>
                <c:formatCode>General</c:formatCode>
                <c:ptCount val="1"/>
                <c:pt idx="0">
                  <c:v>143.0261289845739</c:v>
                </c:pt>
              </c:numCache>
            </c:numRef>
          </c:xVal>
          <c:yVal>
            <c:numRef>
              <c:numCache>
                <c:formatCode>General</c:formatCode>
                <c:ptCount val="1"/>
                <c:pt idx="0">
                  <c:v>20.052710592160132</c:v>
                </c:pt>
              </c:numCache>
            </c:numRef>
          </c:yVal>
          <c:bubbleSize>
            <c:numRef>
              <c:numCache>
                <c:formatCode>General</c:formatCode>
                <c:ptCount val="1"/>
                <c:pt idx="0">
                  <c:v>316.93</c:v>
                </c:pt>
              </c:numCache>
            </c:numRef>
          </c:bubbleSize>
          <c:bubble3D val="0"/>
        </c:ser>
        <c:ser>
          <c:idx val="1"/>
          <c:order val="1"/>
          <c:tx>
            <c:strRef>
              <c:strCache>
                <c:ptCount val="1"/>
                <c:pt idx="0">
                  <c:v>Small - 30 g to below 60 g</c:v>
                </c:pt>
              </c:strCache>
            </c:strRef>
          </c:tx>
          <c:spPr>
            <a:solidFill>
              <a:srgbClr val="9E7E0A"/>
            </a:solidFill>
          </c:spPr>
          <c:invertIfNegative val="0"/>
          <c:xVal>
            <c:numRef>
              <c:numCache>
                <c:formatCode>General</c:formatCode>
                <c:ptCount val="1"/>
                <c:pt idx="0">
                  <c:v>48.61670346150754</c:v>
                </c:pt>
              </c:numCache>
            </c:numRef>
          </c:xVal>
          <c:yVal>
            <c:numRef>
              <c:numCache>
                <c:formatCode>General</c:formatCode>
                <c:ptCount val="1"/>
                <c:pt idx="0">
                  <c:v>108.89619127050318</c:v>
                </c:pt>
              </c:numCache>
            </c:numRef>
          </c:yVal>
          <c:bubbleSize>
            <c:numRef>
              <c:numCache>
                <c:formatCode>General</c:formatCode>
                <c:ptCount val="1"/>
                <c:pt idx="0">
                  <c:v>1190.42</c:v>
                </c:pt>
              </c:numCache>
            </c:numRef>
          </c:bubbleSize>
          <c:bubble3D val="0"/>
        </c:ser>
        <c:ser>
          <c:idx val="2"/>
          <c:order val="2"/>
          <c:tx>
            <c:strRef>
              <c:strCache>
                <c:ptCount val="1"/>
                <c:pt idx="0">
                  <c:v>Standard - 60 g to below 100 g</c:v>
                </c:pt>
              </c:strCache>
            </c:strRef>
          </c:tx>
          <c:spPr>
            <a:solidFill>
              <a:srgbClr val="008189"/>
            </a:solidFill>
          </c:spPr>
          <c:invertIfNegative val="0"/>
          <c:xVal>
            <c:numRef>
              <c:numCache>
                <c:formatCode>General</c:formatCode>
                <c:ptCount val="1"/>
                <c:pt idx="0">
                  <c:v>99.8311605714356</c:v>
                </c:pt>
              </c:numCache>
            </c:numRef>
          </c:xVal>
          <c:yVal>
            <c:numRef>
              <c:numCache>
                <c:formatCode>General</c:formatCode>
                <c:ptCount val="1"/>
                <c:pt idx="0">
                  <c:v>177.2861829302196</c:v>
                </c:pt>
              </c:numCache>
            </c:numRef>
          </c:yVal>
          <c:bubbleSize>
            <c:numRef>
              <c:numCache>
                <c:formatCode>General</c:formatCode>
                <c:ptCount val="1"/>
                <c:pt idx="0">
                  <c:v>2371.075</c:v>
                </c:pt>
              </c:numCache>
            </c:numRef>
          </c:bubbleSize>
          <c:bubble3D val="0"/>
        </c:ser>
        <c:ser>
          <c:idx val="3"/>
          <c:order val="3"/>
          <c:tx>
            <c:strRef>
              <c:strCache>
                <c:ptCount val="1"/>
                <c:pt idx="0">
                  <c:v>Large / jumbo - 100 g and above</c:v>
                </c:pt>
              </c:strCache>
            </c:strRef>
          </c:tx>
          <c:spPr>
            <a:solidFill>
              <a:srgbClr val="40315E"/>
            </a:solidFill>
          </c:spPr>
          <c:invertIfNegative val="0"/>
          <c:xVal>
            <c:numRef>
              <c:numCache>
                <c:formatCode>General</c:formatCode>
                <c:ptCount val="1"/>
                <c:pt idx="0">
                  <c:v>141.76823086619729</c:v>
                </c:pt>
              </c:numCache>
            </c:numRef>
          </c:xVal>
          <c:yVal>
            <c:numRef>
              <c:numCache>
                <c:formatCode>General</c:formatCode>
                <c:ptCount val="1"/>
                <c:pt idx="0">
                  <c:v>93.76491520711704</c:v>
                </c:pt>
              </c:numCache>
            </c:numRef>
          </c:yVal>
          <c:bubbleSize>
            <c:numRef>
              <c:numCache>
                <c:formatCode>General</c:formatCode>
                <c:ptCount val="1"/>
                <c:pt idx="0">
                  <c:v>1474.809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180.324</c:v>
                </c:pt>
                <c:pt idx="2">
                  <c:v>201.973</c:v>
                </c:pt>
                <c:pt idx="3">
                  <c:v>226.15</c:v>
                </c:pt>
                <c:pt idx="4">
                  <c:v>253.145</c:v>
                </c:pt>
                <c:pt idx="5">
                  <c:v>283.284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180.324</c:v>
                </c:pt>
                <c:pt idx="1">
                  <c:v>21.649</c:v>
                </c:pt>
                <c:pt idx="2">
                  <c:v>24.176999999999992</c:v>
                </c:pt>
                <c:pt idx="3">
                  <c:v>26.995000000000005</c:v>
                </c:pt>
                <c:pt idx="4">
                  <c:v>30.13899999999998</c:v>
                </c:pt>
                <c:pt idx="5">
                  <c:v>33.646000000000015</c:v>
                </c:pt>
                <c:pt idx="6">
                  <c:v>316.93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979.249</c:v>
                </c:pt>
                <c:pt idx="2">
                  <c:v>1023.043</c:v>
                </c:pt>
                <c:pt idx="3">
                  <c:v>1066.553</c:v>
                </c:pt>
                <c:pt idx="4">
                  <c:v>1109.328</c:v>
                </c:pt>
                <c:pt idx="5">
                  <c:v>1150.829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979.249</c:v>
                </c:pt>
                <c:pt idx="1">
                  <c:v>43.79399999999998</c:v>
                </c:pt>
                <c:pt idx="2">
                  <c:v>43.510000000000105</c:v>
                </c:pt>
                <c:pt idx="3">
                  <c:v>42.774999999999864</c:v>
                </c:pt>
                <c:pt idx="4">
                  <c:v>41.500999999999976</c:v>
                </c:pt>
                <c:pt idx="5">
                  <c:v>39.59100000000012</c:v>
                </c:pt>
                <c:pt idx="6">
                  <c:v>1190.42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1594.246</c:v>
                </c:pt>
                <c:pt idx="2">
                  <c:v>1725.923</c:v>
                </c:pt>
                <c:pt idx="3">
                  <c:v>1868.501</c:v>
                </c:pt>
                <c:pt idx="4">
                  <c:v>2022.887</c:v>
                </c:pt>
                <c:pt idx="5">
                  <c:v>2190.059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1594.246</c:v>
                </c:pt>
                <c:pt idx="1">
                  <c:v>131.6769999999999</c:v>
                </c:pt>
                <c:pt idx="2">
                  <c:v>142.57799999999997</c:v>
                </c:pt>
                <c:pt idx="3">
                  <c:v>154.38599999999997</c:v>
                </c:pt>
                <c:pt idx="4">
                  <c:v>167.17200000000025</c:v>
                </c:pt>
                <c:pt idx="5">
                  <c:v>181.01599999999962</c:v>
                </c:pt>
                <c:pt idx="6">
                  <c:v>2371.075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843.181</c:v>
                </c:pt>
                <c:pt idx="2">
                  <c:v>943.448</c:v>
                </c:pt>
                <c:pt idx="3">
                  <c:v>1055.333</c:v>
                </c:pt>
                <c:pt idx="4">
                  <c:v>1180.169</c:v>
                </c:pt>
                <c:pt idx="5">
                  <c:v>1319.441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843.181</c:v>
                </c:pt>
                <c:pt idx="1">
                  <c:v>100.26699999999994</c:v>
                </c:pt>
                <c:pt idx="2">
                  <c:v>111.8850000000001</c:v>
                </c:pt>
                <c:pt idx="3">
                  <c:v>124.83600000000001</c:v>
                </c:pt>
                <c:pt idx="4">
                  <c:v>139.27199999999993</c:v>
                </c:pt>
                <c:pt idx="5">
                  <c:v>155.36799999999994</c:v>
                </c:pt>
                <c:pt idx="6">
                  <c:v>1474.809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Standard - 60 g to below 100 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44.32450910485803</c:v>
                </c:pt>
                <c:pt idx="1">
                  <c:v>44.32154573255491</c:v>
                </c:pt>
                <c:pt idx="2">
                  <c:v>44.292384752842864</c:v>
                </c:pt>
              </c:numCache>
            </c:numRef>
          </c:val>
        </c:ser>
        <c:ser>
          <c:idx val="1"/>
          <c:order val="1"/>
          <c:tx>
            <c:strRef>
              <c:strCache>
                <c:ptCount val="1"/>
                <c:pt idx="0">
                  <c:v>Large / jumbo - 100 g and above</c:v>
                </c:pt>
              </c:strCache>
            </c:strRef>
          </c:tx>
          <c:spPr>
            <a:solidFill>
              <a:srgbClr val="9E7E0A"/>
            </a:solidFill>
            <a:ln>
              <a:noFill/>
            </a:ln>
          </c:spPr>
          <c:dLbls>
            <c:dLbl>
              <c:idx val="0"/>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21.554405057725315</c:v>
                </c:pt>
                <c:pt idx="1">
                  <c:v>23.441228801779264</c:v>
                </c:pt>
                <c:pt idx="2">
                  <c:v>27.549869854372144</c:v>
                </c:pt>
              </c:numCache>
            </c:numRef>
          </c:val>
        </c:ser>
        <c:ser>
          <c:idx val="2"/>
          <c:order val="2"/>
          <c:tx>
            <c:strRef>
              <c:strCache>
                <c:ptCount val="1"/>
                <c:pt idx="0">
                  <c:v>Small - 30 g to below 60 g</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29.52383872531335</c:v>
                </c:pt>
                <c:pt idx="1">
                  <c:v>27.224047817625802</c:v>
                </c:pt>
                <c:pt idx="2">
                  <c:v>22.237398925584053</c:v>
                </c:pt>
              </c:numCache>
            </c:numRef>
          </c:val>
        </c:ser>
        <c:ser>
          <c:idx val="3"/>
          <c:order val="3"/>
          <c:tx>
            <c:strRef>
              <c:strCache>
                <c:ptCount val="1"/>
                <c:pt idx="0">
                  <c:v>Mini / bite-sized - below 30 g</c:v>
                </c:pt>
              </c:strCache>
            </c:strRef>
          </c:tx>
          <c:spPr>
            <a:solidFill>
              <a:srgbClr val="40315E"/>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4.597247112103299</c:v>
                </c:pt>
                <c:pt idx="1">
                  <c:v>5.013177648040034</c:v>
                </c:pt>
                <c:pt idx="2">
                  <c:v>5.9203464672009485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Ambient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11.115341980746612</c:v>
                </c:pt>
                <c:pt idx="1">
                  <c:v>11.518804733258955</c:v>
                </c:pt>
              </c:numCache>
            </c:numRef>
          </c:val>
        </c:ser>
        <c:ser>
          <c:idx val="1"/>
          <c:order val="1"/>
          <c:tx>
            <c:strRef>
              <c:strCache>
                <c:ptCount val="1"/>
                <c:pt idx="0">
                  <c:v>Chilled</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40.323500957967006</c:v>
                </c:pt>
                <c:pt idx="1">
                  <c:v>36.410387547974935</c:v>
                </c:pt>
              </c:numCache>
            </c:numRef>
          </c:val>
        </c:ser>
        <c:ser>
          <c:idx val="2"/>
          <c:order val="2"/>
          <c:tx>
            <c:strRef>
              <c:strCache>
                <c:ptCount val="1"/>
                <c:pt idx="0">
                  <c:v>Frozen</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48.56115706128637</c:v>
                </c:pt>
                <c:pt idx="1">
                  <c:v>52.07080771876611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1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Ambient</c:v>
                </c:pt>
              </c:strCache>
            </c:strRef>
          </c:tx>
          <c:spPr>
            <a:solidFill>
              <a:srgbClr val="3D85C6"/>
            </a:solidFill>
          </c:spPr>
          <c:invertIfNegative val="0"/>
          <c:xVal>
            <c:numRef>
              <c:numCache>
                <c:formatCode>General</c:formatCode>
                <c:ptCount val="1"/>
                <c:pt idx="0">
                  <c:v>136.3676791379061</c:v>
                </c:pt>
              </c:numCache>
            </c:numRef>
          </c:xVal>
          <c:yVal>
            <c:numRef>
              <c:numCache>
                <c:formatCode>General</c:formatCode>
                <c:ptCount val="1"/>
                <c:pt idx="0">
                  <c:v>29.676396997497918</c:v>
                </c:pt>
              </c:numCache>
            </c:numRef>
          </c:yVal>
          <c:bubbleSize>
            <c:numRef>
              <c:numCache>
                <c:formatCode>General</c:formatCode>
                <c:ptCount val="1"/>
                <c:pt idx="0">
                  <c:v>609.593</c:v>
                </c:pt>
              </c:numCache>
            </c:numRef>
          </c:bubbleSize>
          <c:bubble3D val="0"/>
        </c:ser>
        <c:ser>
          <c:idx val="1"/>
          <c:order val="1"/>
          <c:tx>
            <c:strRef>
              <c:strCache>
                <c:ptCount val="1"/>
                <c:pt idx="0">
                  <c:v>Chilled</c:v>
                </c:pt>
              </c:strCache>
            </c:strRef>
          </c:tx>
          <c:spPr>
            <a:solidFill>
              <a:srgbClr val="9E7E0A"/>
            </a:solidFill>
          </c:spPr>
          <c:invertIfNegative val="0"/>
          <c:xVal>
            <c:numRef>
              <c:numCache>
                <c:formatCode>General</c:formatCode>
                <c:ptCount val="1"/>
                <c:pt idx="0">
                  <c:v>132.6716557803469</c:v>
                </c:pt>
              </c:numCache>
            </c:numRef>
          </c:xVal>
          <c:yVal>
            <c:numRef>
              <c:numCache>
                <c:formatCode>General</c:formatCode>
                <c:ptCount val="1"/>
                <c:pt idx="0">
                  <c:v>99.6163469557965</c:v>
                </c:pt>
              </c:numCache>
            </c:numRef>
          </c:yVal>
          <c:bubbleSize>
            <c:numRef>
              <c:numCache>
                <c:formatCode>General</c:formatCode>
                <c:ptCount val="1"/>
                <c:pt idx="0">
                  <c:v>2017.37</c:v>
                </c:pt>
              </c:numCache>
            </c:numRef>
          </c:bubbleSize>
          <c:bubble3D val="0"/>
        </c:ser>
        <c:ser>
          <c:idx val="2"/>
          <c:order val="2"/>
          <c:tx>
            <c:strRef>
              <c:strCache>
                <c:ptCount val="1"/>
                <c:pt idx="0">
                  <c:v>Frozen</c:v>
                </c:pt>
              </c:strCache>
            </c:strRef>
          </c:tx>
          <c:spPr>
            <a:solidFill>
              <a:srgbClr val="008189"/>
            </a:solidFill>
          </c:spPr>
          <c:invertIfNegative val="0"/>
          <c:xVal>
            <c:numRef>
              <c:numCache>
                <c:formatCode>General</c:formatCode>
                <c:ptCount val="1"/>
                <c:pt idx="0">
                  <c:v>71.69812531201684</c:v>
                </c:pt>
              </c:numCache>
            </c:numRef>
          </c:xVal>
          <c:yVal>
            <c:numRef>
              <c:numCache>
                <c:formatCode>General</c:formatCode>
                <c:ptCount val="1"/>
                <c:pt idx="0">
                  <c:v>170.7072560467056</c:v>
                </c:pt>
              </c:numCache>
            </c:numRef>
          </c:yVal>
          <c:bubbleSize>
            <c:numRef>
              <c:numCache>
                <c:formatCode>General</c:formatCode>
                <c:ptCount val="1"/>
                <c:pt idx="0">
                  <c:v>2726.271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355.82</c:v>
                </c:pt>
                <c:pt idx="2">
                  <c:v>396.529</c:v>
                </c:pt>
                <c:pt idx="3">
                  <c:v>441.743</c:v>
                </c:pt>
                <c:pt idx="4">
                  <c:v>491.954</c:v>
                </c:pt>
                <c:pt idx="5">
                  <c:v>547.703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355.82</c:v>
                </c:pt>
                <c:pt idx="1">
                  <c:v>40.709</c:v>
                </c:pt>
                <c:pt idx="2">
                  <c:v>45.214</c:v>
                </c:pt>
                <c:pt idx="3">
                  <c:v>50.21100000000001</c:v>
                </c:pt>
                <c:pt idx="4">
                  <c:v>55.74899999999997</c:v>
                </c:pt>
                <c:pt idx="5">
                  <c:v>61.889999999999986</c:v>
                </c:pt>
                <c:pt idx="6">
                  <c:v>609.593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1194.4</c:v>
                </c:pt>
                <c:pt idx="2">
                  <c:v>1326.938</c:v>
                </c:pt>
                <c:pt idx="3">
                  <c:v>1473.873</c:v>
                </c:pt>
                <c:pt idx="4">
                  <c:v>1636.751</c:v>
                </c:pt>
                <c:pt idx="5">
                  <c:v>1817.284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1194.4</c:v>
                </c:pt>
                <c:pt idx="1">
                  <c:v>132.538</c:v>
                </c:pt>
                <c:pt idx="2">
                  <c:v>146.93499999999995</c:v>
                </c:pt>
                <c:pt idx="3">
                  <c:v>162.87799999999993</c:v>
                </c:pt>
                <c:pt idx="4">
                  <c:v>180.53300000000013</c:v>
                </c:pt>
                <c:pt idx="5">
                  <c:v>200.08599999999979</c:v>
                </c:pt>
                <c:pt idx="6">
                  <c:v>2017.37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2046.78</c:v>
                </c:pt>
                <c:pt idx="2">
                  <c:v>2170.92</c:v>
                </c:pt>
                <c:pt idx="3">
                  <c:v>2300.921</c:v>
                </c:pt>
                <c:pt idx="4">
                  <c:v>2436.824</c:v>
                </c:pt>
                <c:pt idx="5">
                  <c:v>2578.626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2046.78</c:v>
                </c:pt>
                <c:pt idx="1">
                  <c:v>124.1400000000001</c:v>
                </c:pt>
                <c:pt idx="2">
                  <c:v>130.00099999999975</c:v>
                </c:pt>
                <c:pt idx="3">
                  <c:v>135.90300000000025</c:v>
                </c:pt>
                <c:pt idx="4">
                  <c:v>141.80200000000013</c:v>
                </c:pt>
                <c:pt idx="5">
                  <c:v>147.64499999999998</c:v>
                </c:pt>
                <c:pt idx="6">
                  <c:v>2726.271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Frozen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59.7190355563413</c:v>
                </c:pt>
                <c:pt idx="1">
                  <c:v>56.9024186822352</c:v>
                </c:pt>
                <c:pt idx="2">
                  <c:v>50.9275514576796</c:v>
                </c:pt>
              </c:numCache>
            </c:numRef>
          </c:val>
        </c:ser>
        <c:ser>
          <c:idx val="1"/>
          <c:order val="1"/>
          <c:tx>
            <c:strRef>
              <c:strCache>
                <c:ptCount val="1"/>
                <c:pt idx="0">
                  <c:v>Chilled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31.094657513424227</c:v>
                </c:pt>
                <c:pt idx="1">
                  <c:v>33.2054489852655</c:v>
                </c:pt>
                <c:pt idx="2">
                  <c:v>37.6850703705461</c:v>
                </c:pt>
              </c:numCache>
            </c:numRef>
          </c:val>
        </c:ser>
        <c:ser>
          <c:idx val="2"/>
          <c:order val="2"/>
          <c:tx>
            <c:strRef>
              <c:strCache>
                <c:ptCount val="1"/>
                <c:pt idx="0">
                  <c:v>Ambient</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9.186306930234469</c:v>
                </c:pt>
                <c:pt idx="1">
                  <c:v>9.892132332499305</c:v>
                </c:pt>
                <c:pt idx="2">
                  <c:v>11.387378171774294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Up to 7 days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60.177589478591834</c:v>
                </c:pt>
                <c:pt idx="1">
                  <c:v>56.781099102159146</c:v>
                </c:pt>
              </c:numCache>
            </c:numRef>
          </c:val>
        </c:ser>
        <c:ser>
          <c:idx val="1"/>
          <c:order val="1"/>
          <c:tx>
            <c:strRef>
              <c:strCache>
                <c:ptCount val="1"/>
                <c:pt idx="0">
                  <c:v>8-30 days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12.922547750684283</c:v>
                </c:pt>
                <c:pt idx="1">
                  <c:v>15.902230735707537</c:v>
                </c:pt>
              </c:numCache>
            </c:numRef>
          </c:val>
        </c:ser>
        <c:ser>
          <c:idx val="2"/>
          <c:order val="2"/>
          <c:tx>
            <c:strRef>
              <c:strCache>
                <c:ptCount val="1"/>
                <c:pt idx="0">
                  <c:v>31-90 days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16.07320118110078</c:v>
                </c:pt>
                <c:pt idx="1">
                  <c:v>14.86481132653098</c:v>
                </c:pt>
              </c:numCache>
            </c:numRef>
          </c:val>
        </c:ser>
        <c:ser>
          <c:idx val="3"/>
          <c:order val="3"/>
          <c:tx>
            <c:strRef>
              <c:strCache>
                <c:ptCount val="1"/>
                <c:pt idx="0">
                  <c:v>More than 90 days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10.826661589623104</c:v>
                </c:pt>
                <c:pt idx="1">
                  <c:v>12.451858835602339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2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Up to 7 days</c:v>
                </c:pt>
              </c:strCache>
            </c:strRef>
          </c:tx>
          <c:spPr>
            <a:solidFill>
              <a:srgbClr val="3D85C6"/>
            </a:solidFill>
          </c:spPr>
          <c:invertIfNegative val="0"/>
          <c:xVal>
            <c:numRef>
              <c:numCache>
                <c:formatCode>General</c:formatCode>
                <c:ptCount val="1"/>
                <c:pt idx="0">
                  <c:v>108.98999315385554</c:v>
                </c:pt>
              </c:numCache>
            </c:numRef>
          </c:xVal>
          <c:yVal>
            <c:numRef>
              <c:numCache>
                <c:formatCode>General</c:formatCode>
                <c:ptCount val="1"/>
                <c:pt idx="0">
                  <c:v>223.58999165971642</c:v>
                </c:pt>
              </c:numCache>
            </c:numRef>
          </c:yVal>
          <c:bubbleSize>
            <c:numRef>
              <c:numCache>
                <c:formatCode>General</c:formatCode>
                <c:ptCount val="1"/>
                <c:pt idx="0">
                  <c:v>3098.853</c:v>
                </c:pt>
              </c:numCache>
            </c:numRef>
          </c:bubbleSize>
          <c:bubble3D val="0"/>
        </c:ser>
        <c:ser>
          <c:idx val="1"/>
          <c:order val="1"/>
          <c:tx>
            <c:strRef>
              <c:strCache>
                <c:ptCount val="1"/>
                <c:pt idx="0">
                  <c:v>8-30 days</c:v>
                </c:pt>
              </c:strCache>
            </c:strRef>
          </c:tx>
          <c:spPr>
            <a:solidFill>
              <a:srgbClr val="9E7E0A"/>
            </a:solidFill>
          </c:spPr>
          <c:invertIfNegative val="0"/>
          <c:xVal>
            <c:numRef>
              <c:numCache>
                <c:formatCode>General</c:formatCode>
                <c:ptCount val="1"/>
                <c:pt idx="0">
                  <c:v>44.84156096461652</c:v>
                </c:pt>
              </c:numCache>
            </c:numRef>
          </c:xVal>
          <c:yVal>
            <c:numRef>
              <c:numCache>
                <c:formatCode>General</c:formatCode>
                <c:ptCount val="1"/>
                <c:pt idx="0">
                  <c:v>74.22696691687517</c:v>
                </c:pt>
              </c:numCache>
            </c:numRef>
          </c:yVal>
          <c:bubbleSize>
            <c:numRef>
              <c:numCache>
                <c:formatCode>General</c:formatCode>
                <c:ptCount val="1"/>
                <c:pt idx="0">
                  <c:v>799.324</c:v>
                </c:pt>
              </c:numCache>
            </c:numRef>
          </c:bubbleSize>
          <c:bubble3D val="0"/>
        </c:ser>
        <c:ser>
          <c:idx val="2"/>
          <c:order val="2"/>
          <c:tx>
            <c:strRef>
              <c:strCache>
                <c:ptCount val="1"/>
                <c:pt idx="0">
                  <c:v>31-90 days</c:v>
                </c:pt>
              </c:strCache>
            </c:strRef>
          </c:tx>
          <c:spPr>
            <a:solidFill>
              <a:srgbClr val="008189"/>
            </a:solidFill>
          </c:spPr>
          <c:invertIfNegative val="0"/>
          <c:xVal>
            <c:numRef>
              <c:numCache>
                <c:formatCode>General</c:formatCode>
                <c:ptCount val="1"/>
                <c:pt idx="0">
                  <c:v>134.30067097877142</c:v>
                </c:pt>
              </c:numCache>
            </c:numRef>
          </c:xVal>
          <c:yVal>
            <c:numRef>
              <c:numCache>
                <c:formatCode>General</c:formatCode>
                <c:ptCount val="1"/>
                <c:pt idx="0">
                  <c:v>53.4426466499861</c:v>
                </c:pt>
              </c:numCache>
            </c:numRef>
          </c:yVal>
          <c:bubbleSize>
            <c:numRef>
              <c:numCache>
                <c:formatCode>General</c:formatCode>
                <c:ptCount val="1"/>
                <c:pt idx="0">
                  <c:v>816.82</c:v>
                </c:pt>
              </c:numCache>
            </c:numRef>
          </c:bubbleSize>
          <c:bubble3D val="0"/>
        </c:ser>
        <c:ser>
          <c:idx val="3"/>
          <c:order val="3"/>
          <c:tx>
            <c:strRef>
              <c:strCache>
                <c:ptCount val="1"/>
                <c:pt idx="0">
                  <c:v>More than 90 days</c:v>
                </c:pt>
              </c:strCache>
            </c:strRef>
          </c:tx>
          <c:spPr>
            <a:solidFill>
              <a:srgbClr val="40315E"/>
            </a:solidFill>
          </c:spPr>
          <c:invertIfNegative val="0"/>
          <c:xVal>
            <c:numRef>
              <c:numCache>
                <c:formatCode>General</c:formatCode>
                <c:ptCount val="1"/>
                <c:pt idx="0">
                  <c:v>94.41602694796015</c:v>
                </c:pt>
              </c:numCache>
            </c:numRef>
          </c:xVal>
          <c:yVal>
            <c:numRef>
              <c:numCache>
                <c:formatCode>General</c:formatCode>
                <c:ptCount val="1"/>
                <c:pt idx="0">
                  <c:v>48.740394773422295</c:v>
                </c:pt>
              </c:numCache>
            </c:numRef>
          </c:yVal>
          <c:bubbleSize>
            <c:numRef>
              <c:numCache>
                <c:formatCode>General</c:formatCode>
                <c:ptCount val="1"/>
                <c:pt idx="0">
                  <c:v>638.237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2010.633</c:v>
                </c:pt>
                <c:pt idx="2">
                  <c:v>2191.85</c:v>
                </c:pt>
                <c:pt idx="3">
                  <c:v>2389.661</c:v>
                </c:pt>
                <c:pt idx="4">
                  <c:v>2605.612</c:v>
                </c:pt>
                <c:pt idx="5">
                  <c:v>2841.391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2010.633</c:v>
                </c:pt>
                <c:pt idx="1">
                  <c:v>181.21699999999987</c:v>
                </c:pt>
                <c:pt idx="2">
                  <c:v>197.81100000000015</c:v>
                </c:pt>
                <c:pt idx="3">
                  <c:v>215.95100000000002</c:v>
                </c:pt>
                <c:pt idx="4">
                  <c:v>235.779</c:v>
                </c:pt>
                <c:pt idx="5">
                  <c:v>257.462</c:v>
                </c:pt>
                <c:pt idx="6">
                  <c:v>3098.853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667.486</c:v>
                </c:pt>
                <c:pt idx="2">
                  <c:v>695.408</c:v>
                </c:pt>
                <c:pt idx="3">
                  <c:v>722.901</c:v>
                </c:pt>
                <c:pt idx="4">
                  <c:v>749.646</c:v>
                </c:pt>
                <c:pt idx="5">
                  <c:v>775.268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667.486</c:v>
                </c:pt>
                <c:pt idx="1">
                  <c:v>27.922000000000025</c:v>
                </c:pt>
                <c:pt idx="2">
                  <c:v>27.492999999999938</c:v>
                </c:pt>
                <c:pt idx="3">
                  <c:v>26.745000000000005</c:v>
                </c:pt>
                <c:pt idx="4">
                  <c:v>25.62200000000007</c:v>
                </c:pt>
                <c:pt idx="5">
                  <c:v>24.055999999999926</c:v>
                </c:pt>
                <c:pt idx="6">
                  <c:v>799.324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480.583</c:v>
                </c:pt>
                <c:pt idx="2">
                  <c:v>534.564</c:v>
                </c:pt>
                <c:pt idx="3">
                  <c:v>594.492</c:v>
                </c:pt>
                <c:pt idx="4">
                  <c:v>661.016</c:v>
                </c:pt>
                <c:pt idx="5">
                  <c:v>734.859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480.583</c:v>
                </c:pt>
                <c:pt idx="1">
                  <c:v>53.98099999999994</c:v>
                </c:pt>
                <c:pt idx="2">
                  <c:v>59.928</c:v>
                </c:pt>
                <c:pt idx="3">
                  <c:v>66.524</c:v>
                </c:pt>
                <c:pt idx="4">
                  <c:v>73.84300000000007</c:v>
                </c:pt>
                <c:pt idx="5">
                  <c:v>81.96100000000001</c:v>
                </c:pt>
                <c:pt idx="6">
                  <c:v>816.82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438.298</c:v>
                </c:pt>
                <c:pt idx="2">
                  <c:v>472.565</c:v>
                </c:pt>
                <c:pt idx="3">
                  <c:v>509.483</c:v>
                </c:pt>
                <c:pt idx="4">
                  <c:v>549.255</c:v>
                </c:pt>
                <c:pt idx="5">
                  <c:v>592.095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438.298</c:v>
                </c:pt>
                <c:pt idx="1">
                  <c:v>34.266999999999996</c:v>
                </c:pt>
                <c:pt idx="2">
                  <c:v>36.918000000000006</c:v>
                </c:pt>
                <c:pt idx="3">
                  <c:v>39.77199999999999</c:v>
                </c:pt>
                <c:pt idx="4">
                  <c:v>42.84000000000003</c:v>
                </c:pt>
                <c:pt idx="5">
                  <c:v>46.14199999999994</c:v>
                </c:pt>
                <c:pt idx="6">
                  <c:v>638.237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Up to 7 days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54.96247870814287</c:v>
                </c:pt>
                <c:pt idx="1">
                  <c:v>55.897497914929104</c:v>
                </c:pt>
                <c:pt idx="2">
                  <c:v>57.88749380281153</c:v>
                </c:pt>
              </c:numCache>
            </c:numRef>
          </c:val>
        </c:ser>
        <c:ser>
          <c:idx val="1"/>
          <c:order val="1"/>
          <c:tx>
            <c:strRef>
              <c:strCache>
                <c:ptCount val="1"/>
                <c:pt idx="0">
                  <c:v>31-90 days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12.474011049911178</c:v>
                </c:pt>
                <c:pt idx="1">
                  <c:v>13.360661662496526</c:v>
                </c:pt>
                <c:pt idx="2">
                  <c:v>15.25844003830208</c:v>
                </c:pt>
              </c:numCache>
            </c:numRef>
          </c:val>
        </c:ser>
        <c:ser>
          <c:idx val="2"/>
          <c:order val="2"/>
          <c:tx>
            <c:strRef>
              <c:strCache>
                <c:ptCount val="1"/>
                <c:pt idx="0">
                  <c:v>8-30 days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20.25591980496626</c:v>
                </c:pt>
                <c:pt idx="1">
                  <c:v>18.556741729218793</c:v>
                </c:pt>
                <c:pt idx="2">
                  <c:v>14.931609565358059</c:v>
                </c:pt>
              </c:numCache>
            </c:numRef>
          </c:val>
        </c:ser>
        <c:ser>
          <c:idx val="3"/>
          <c:order val="3"/>
          <c:tx>
            <c:strRef>
              <c:strCache>
                <c:ptCount val="1"/>
                <c:pt idx="0">
                  <c:v>More than 90 days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12.307590436979691</c:v>
                </c:pt>
                <c:pt idx="1">
                  <c:v>12.185098693355574</c:v>
                </c:pt>
                <c:pt idx="2">
                  <c:v>11.922456593528322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Flexible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15.081170572033328</c:v>
                </c:pt>
                <c:pt idx="1">
                  <c:v>12.91749932191641</c:v>
                </c:pt>
              </c:numCache>
            </c:numRef>
          </c:val>
        </c:ser>
        <c:ser>
          <c:idx val="1"/>
          <c:order val="1"/>
          <c:tx>
            <c:strRef>
              <c:strCache>
                <c:ptCount val="1"/>
                <c:pt idx="0">
                  <c:v>Rigid plastic packs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43.45528751339749</c:v>
                </c:pt>
                <c:pt idx="1">
                  <c:v>51.30930391637255</c:v>
                </c:pt>
              </c:numCache>
            </c:numRef>
          </c:val>
        </c:ser>
        <c:ser>
          <c:idx val="2"/>
          <c:order val="2"/>
          <c:tx>
            <c:strRef>
              <c:strCache>
                <c:ptCount val="1"/>
                <c:pt idx="0">
                  <c:v>Paperboard packs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36.60752943146478</c:v>
                </c:pt>
                <c:pt idx="1">
                  <c:v>29.761954565213355</c:v>
                </c:pt>
              </c:numCache>
            </c:numRef>
          </c:val>
        </c:ser>
        <c:ser>
          <c:idx val="3"/>
          <c:order val="3"/>
          <c:tx>
            <c:strRef>
              <c:strCache>
                <c:ptCount val="1"/>
                <c:pt idx="0">
                  <c:v>Other packaging formats</c:v>
                </c:pt>
              </c:strCache>
            </c:strRef>
          </c:tx>
          <c:spPr>
            <a:solidFill>
              <a:srgbClr val="40315E"/>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4.856012483104398</c:v>
                </c:pt>
                <c:pt idx="1">
                  <c:v>6.011242196497681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2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Flexible packs</c:v>
                </c:pt>
              </c:strCache>
            </c:strRef>
          </c:tx>
          <c:spPr>
            <a:solidFill>
              <a:srgbClr val="3D85C6"/>
            </a:solidFill>
          </c:spPr>
          <c:invertIfNegative val="0"/>
          <c:xVal>
            <c:numRef>
              <c:numCache>
                <c:formatCode>General</c:formatCode>
                <c:ptCount val="1"/>
                <c:pt idx="0">
                  <c:v>130.89522489265656</c:v>
                </c:pt>
              </c:numCache>
            </c:numRef>
          </c:xVal>
          <c:yVal>
            <c:numRef>
              <c:numCache>
                <c:formatCode>General</c:formatCode>
                <c:ptCount val="1"/>
                <c:pt idx="0">
                  <c:v>48.341618015012514</c:v>
                </c:pt>
              </c:numCache>
            </c:numRef>
          </c:yVal>
          <c:bubbleSize>
            <c:numRef>
              <c:numCache>
                <c:formatCode>General</c:formatCode>
                <c:ptCount val="1"/>
                <c:pt idx="0">
                  <c:v>729.2339999999999</c:v>
                </c:pt>
              </c:numCache>
            </c:numRef>
          </c:bubbleSize>
          <c:bubble3D val="0"/>
        </c:ser>
        <c:ser>
          <c:idx val="1"/>
          <c:order val="1"/>
          <c:tx>
            <c:strRef>
              <c:strCache>
                <c:ptCount val="1"/>
                <c:pt idx="0">
                  <c:v>Rigid plastic packs</c:v>
                </c:pt>
              </c:strCache>
            </c:strRef>
          </c:tx>
          <c:spPr>
            <a:solidFill>
              <a:srgbClr val="9E7E0A"/>
            </a:solidFill>
          </c:spPr>
          <c:invertIfNegative val="0"/>
          <c:xVal>
            <c:numRef>
              <c:numCache>
                <c:formatCode>General</c:formatCode>
                <c:ptCount val="1"/>
                <c:pt idx="0">
                  <c:v>106.05847867967395</c:v>
                </c:pt>
              </c:numCache>
            </c:numRef>
          </c:xVal>
          <c:yVal>
            <c:numRef>
              <c:numCache>
                <c:formatCode>General</c:formatCode>
                <c:ptCount val="1"/>
                <c:pt idx="0">
                  <c:v>190.457603558521</c:v>
                </c:pt>
              </c:numCache>
            </c:numRef>
          </c:yVal>
          <c:bubbleSize>
            <c:numRef>
              <c:numCache>
                <c:formatCode>General</c:formatCode>
                <c:ptCount val="1"/>
                <c:pt idx="0">
                  <c:v>2609.749</c:v>
                </c:pt>
              </c:numCache>
            </c:numRef>
          </c:bubbleSize>
          <c:bubble3D val="0"/>
        </c:ser>
        <c:ser>
          <c:idx val="2"/>
          <c:order val="2"/>
          <c:tx>
            <c:strRef>
              <c:strCache>
                <c:ptCount val="1"/>
                <c:pt idx="0">
                  <c:v>Paperboard packs</c:v>
                </c:pt>
              </c:strCache>
            </c:strRef>
          </c:tx>
          <c:spPr>
            <a:solidFill>
              <a:srgbClr val="008189"/>
            </a:solidFill>
          </c:spPr>
          <c:invertIfNegative val="0"/>
          <c:xVal>
            <c:numRef>
              <c:numCache>
                <c:formatCode>General</c:formatCode>
                <c:ptCount val="1"/>
                <c:pt idx="0">
                  <c:v>68.57978550079467</c:v>
                </c:pt>
              </c:numCache>
            </c:numRef>
          </c:xVal>
          <c:yVal>
            <c:numRef>
              <c:numCache>
                <c:formatCode>General</c:formatCode>
                <c:ptCount val="1"/>
                <c:pt idx="0">
                  <c:v>144.75006950236306</c:v>
                </c:pt>
              </c:numCache>
            </c:numRef>
          </c:yVal>
          <c:bubbleSize>
            <c:numRef>
              <c:numCache>
                <c:formatCode>General</c:formatCode>
                <c:ptCount val="1"/>
                <c:pt idx="0">
                  <c:v>1712.6000000000001</c:v>
                </c:pt>
              </c:numCache>
            </c:numRef>
          </c:bubbleSize>
          <c:bubble3D val="0"/>
        </c:ser>
        <c:ser>
          <c:idx val="3"/>
          <c:order val="3"/>
          <c:tx>
            <c:strRef>
              <c:strCache>
                <c:ptCount val="1"/>
                <c:pt idx="0">
                  <c:v>Other packaging formats</c:v>
                </c:pt>
              </c:strCache>
            </c:strRef>
          </c:tx>
          <c:spPr>
            <a:solidFill>
              <a:srgbClr val="40315E"/>
            </a:solidFill>
          </c:spPr>
          <c:invertIfNegative val="0"/>
          <c:xVal>
            <c:numRef>
              <c:numCache>
                <c:formatCode>General</c:formatCode>
                <c:ptCount val="1"/>
                <c:pt idx="0">
                  <c:v>182.0732057500901</c:v>
                </c:pt>
              </c:numCache>
            </c:numRef>
          </c:xVal>
          <c:yVal>
            <c:numRef>
              <c:numCache>
                <c:formatCode>General</c:formatCode>
                <c:ptCount val="1"/>
                <c:pt idx="0">
                  <c:v>16.45070892410342</c:v>
                </c:pt>
              </c:numCache>
            </c:numRef>
          </c:yVal>
          <c:bubbleSize>
            <c:numRef>
              <c:numCache>
                <c:formatCode>General</c:formatCode>
                <c:ptCount val="1"/>
                <c:pt idx="0">
                  <c:v>301.651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20.0"/>
          <c:min val="4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434.712</c:v>
                </c:pt>
                <c:pt idx="2">
                  <c:v>481.714</c:v>
                </c:pt>
                <c:pt idx="3">
                  <c:v>534.0</c:v>
                </c:pt>
                <c:pt idx="4">
                  <c:v>592.2</c:v>
                </c:pt>
                <c:pt idx="5">
                  <c:v>657.013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434.712</c:v>
                </c:pt>
                <c:pt idx="1">
                  <c:v>47.00200000000001</c:v>
                </c:pt>
                <c:pt idx="2">
                  <c:v>52.286</c:v>
                </c:pt>
                <c:pt idx="3">
                  <c:v>58.200000000000045</c:v>
                </c:pt>
                <c:pt idx="4">
                  <c:v>64.81299999999999</c:v>
                </c:pt>
                <c:pt idx="5">
                  <c:v>72.22099999999989</c:v>
                </c:pt>
                <c:pt idx="6">
                  <c:v>729.2339999999999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1712.69</c:v>
                </c:pt>
                <c:pt idx="2">
                  <c:v>1862.4989999999998</c:v>
                </c:pt>
                <c:pt idx="3">
                  <c:v>2025.784</c:v>
                </c:pt>
                <c:pt idx="4">
                  <c:v>2203.807</c:v>
                </c:pt>
                <c:pt idx="5">
                  <c:v>2397.9539999999997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1712.69</c:v>
                </c:pt>
                <c:pt idx="1">
                  <c:v>149.80899999999974</c:v>
                </c:pt>
                <c:pt idx="2">
                  <c:v>163.2850000000003</c:v>
                </c:pt>
                <c:pt idx="3">
                  <c:v>178.02299999999968</c:v>
                </c:pt>
                <c:pt idx="4">
                  <c:v>194.14699999999993</c:v>
                </c:pt>
                <c:pt idx="5">
                  <c:v>211.79500000000007</c:v>
                </c:pt>
                <c:pt idx="6">
                  <c:v>2609.749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1301.665</c:v>
                </c:pt>
                <c:pt idx="2">
                  <c:v>1378.991</c:v>
                </c:pt>
                <c:pt idx="3">
                  <c:v>1459.0500000000002</c:v>
                </c:pt>
                <c:pt idx="4">
                  <c:v>1541.585</c:v>
                </c:pt>
                <c:pt idx="5">
                  <c:v>1626.252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1301.665</c:v>
                </c:pt>
                <c:pt idx="1">
                  <c:v>77.32600000000002</c:v>
                </c:pt>
                <c:pt idx="2">
                  <c:v>80.0590000000002</c:v>
                </c:pt>
                <c:pt idx="3">
                  <c:v>82.53499999999985</c:v>
                </c:pt>
                <c:pt idx="4">
                  <c:v>84.66699999999992</c:v>
                </c:pt>
                <c:pt idx="5">
                  <c:v>86.34800000000018</c:v>
                </c:pt>
                <c:pt idx="6">
                  <c:v>1712.6000000000001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147.933</c:v>
                </c:pt>
                <c:pt idx="2">
                  <c:v>171.183</c:v>
                </c:pt>
                <c:pt idx="3">
                  <c:v>197.703</c:v>
                </c:pt>
                <c:pt idx="4">
                  <c:v>227.937</c:v>
                </c:pt>
                <c:pt idx="5">
                  <c:v>262.394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147.933</c:v>
                </c:pt>
                <c:pt idx="1">
                  <c:v>23.25</c:v>
                </c:pt>
                <c:pt idx="2">
                  <c:v>26.52000000000001</c:v>
                </c:pt>
                <c:pt idx="3">
                  <c:v>30.23400000000001</c:v>
                </c:pt>
                <c:pt idx="4">
                  <c:v>34.456999999999994</c:v>
                </c:pt>
                <c:pt idx="5">
                  <c:v>39.257000000000005</c:v>
                </c:pt>
                <c:pt idx="6">
                  <c:v>301.651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Rigid plastic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47.11914893894627</c:v>
                </c:pt>
                <c:pt idx="1">
                  <c:v>47.61440088963025</c:v>
                </c:pt>
                <c:pt idx="2">
                  <c:v>48.7508859130761</c:v>
                </c:pt>
              </c:numCache>
            </c:numRef>
          </c:val>
        </c:ser>
        <c:ser>
          <c:idx val="1"/>
          <c:order val="1"/>
          <c:tx>
            <c:strRef>
              <c:strCache>
                <c:ptCount val="1"/>
                <c:pt idx="0">
                  <c:v>Paperboard packs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38.01546517855803</c:v>
                </c:pt>
                <c:pt idx="1">
                  <c:v>36.187517375590765</c:v>
                </c:pt>
                <c:pt idx="2">
                  <c:v>31.991876312524358</c:v>
                </c:pt>
              </c:numCache>
            </c:numRef>
          </c:val>
        </c:ser>
        <c:ser>
          <c:idx val="2"/>
          <c:order val="2"/>
          <c:tx>
            <c:strRef>
              <c:strCache>
                <c:ptCount val="1"/>
                <c:pt idx="0">
                  <c:v>Flexible packs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11.419383206457457</c:v>
                </c:pt>
                <c:pt idx="1">
                  <c:v>12.085404503753129</c:v>
                </c:pt>
                <c:pt idx="2">
                  <c:v>13.622307562120392</c:v>
                </c:pt>
              </c:numCache>
            </c:numRef>
          </c:val>
        </c:ser>
        <c:ser>
          <c:idx val="3"/>
          <c:order val="3"/>
          <c:tx>
            <c:strRef>
              <c:strCache>
                <c:ptCount val="1"/>
                <c:pt idx="0">
                  <c:v>Other packaging formats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3.4460026760382365</c:v>
                </c:pt>
                <c:pt idx="1">
                  <c:v>4.112677231025855</c:v>
                </c:pt>
                <c:pt idx="2">
                  <c:v>5.634930212279158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Single-muffin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27.627527745488724</c:v>
                </c:pt>
                <c:pt idx="1">
                  <c:v>29.89183631685496</c:v>
                </c:pt>
              </c:numCache>
            </c:numRef>
          </c:val>
        </c:ser>
        <c:ser>
          <c:idx val="1"/>
          <c:order val="1"/>
          <c:tx>
            <c:strRef>
              <c:strCache>
                <c:ptCount val="1"/>
                <c:pt idx="0">
                  <c:v>Multipacks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60.41987685493208</c:v>
                </c:pt>
                <c:pt idx="1">
                  <c:v>57.4125826271521</c:v>
                </c:pt>
              </c:numCache>
            </c:numRef>
          </c:val>
        </c:ser>
        <c:ser>
          <c:idx val="2"/>
          <c:order val="2"/>
          <c:tx>
            <c:strRef>
              <c:strCache>
                <c:ptCount val="1"/>
                <c:pt idx="0">
                  <c:v>Bulk foodservice packs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11.952595399579193</c:v>
                </c:pt>
                <c:pt idx="1">
                  <c:v>12.695581055992944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3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Single-muffin packs</c:v>
                </c:pt>
              </c:strCache>
            </c:strRef>
          </c:tx>
          <c:spPr>
            <a:solidFill>
              <a:srgbClr val="3D85C6"/>
            </a:solidFill>
          </c:spPr>
          <c:invertIfNegative val="0"/>
          <c:xVal>
            <c:numRef>
              <c:numCache>
                <c:formatCode>General</c:formatCode>
                <c:ptCount val="1"/>
                <c:pt idx="0">
                  <c:v>83.03553696888744</c:v>
                </c:pt>
              </c:numCache>
            </c:numRef>
          </c:xVal>
          <c:yVal>
            <c:numRef>
              <c:numCache>
                <c:formatCode>General</c:formatCode>
                <c:ptCount val="1"/>
                <c:pt idx="0">
                  <c:v>93.46246872393661</c:v>
                </c:pt>
              </c:numCache>
            </c:numRef>
          </c:yVal>
          <c:bubbleSize>
            <c:numRef>
              <c:numCache>
                <c:formatCode>General</c:formatCode>
                <c:ptCount val="1"/>
                <c:pt idx="0">
                  <c:v>1560.695</c:v>
                </c:pt>
              </c:numCache>
            </c:numRef>
          </c:bubbleSize>
          <c:bubble3D val="0"/>
        </c:ser>
        <c:ser>
          <c:idx val="1"/>
          <c:order val="1"/>
          <c:tx>
            <c:strRef>
              <c:strCache>
                <c:ptCount val="1"/>
                <c:pt idx="0">
                  <c:v>Multipacks</c:v>
                </c:pt>
              </c:strCache>
            </c:strRef>
          </c:tx>
          <c:spPr>
            <a:solidFill>
              <a:srgbClr val="9E7E0A"/>
            </a:solidFill>
          </c:spPr>
          <c:invertIfNegative val="0"/>
          <c:xVal>
            <c:numRef>
              <c:numCache>
                <c:formatCode>General</c:formatCode>
                <c:ptCount val="1"/>
                <c:pt idx="0">
                  <c:v>122.97558434367066</c:v>
                </c:pt>
              </c:numCache>
            </c:numRef>
          </c:xVal>
          <c:yVal>
            <c:numRef>
              <c:numCache>
                <c:formatCode>General</c:formatCode>
                <c:ptCount val="1"/>
                <c:pt idx="0">
                  <c:v>160.23386155129273</c:v>
                </c:pt>
              </c:numCache>
            </c:numRef>
          </c:yVal>
          <c:bubbleSize>
            <c:numRef>
              <c:numCache>
                <c:formatCode>General</c:formatCode>
                <c:ptCount val="1"/>
                <c:pt idx="0">
                  <c:v>3125.871</c:v>
                </c:pt>
              </c:numCache>
            </c:numRef>
          </c:bubbleSize>
          <c:bubble3D val="0"/>
        </c:ser>
        <c:ser>
          <c:idx val="2"/>
          <c:order val="2"/>
          <c:tx>
            <c:strRef>
              <c:strCache>
                <c:ptCount val="1"/>
                <c:pt idx="0">
                  <c:v>Bulk foodservice packs</c:v>
                </c:pt>
              </c:strCache>
            </c:strRef>
          </c:tx>
          <c:spPr>
            <a:solidFill>
              <a:srgbClr val="008189"/>
            </a:solidFill>
          </c:spPr>
          <c:invertIfNegative val="0"/>
          <c:xVal>
            <c:numRef>
              <c:numCache>
                <c:formatCode>General</c:formatCode>
                <c:ptCount val="1"/>
                <c:pt idx="0">
                  <c:v>45.53198464762059</c:v>
                </c:pt>
              </c:numCache>
            </c:numRef>
          </c:xVal>
          <c:yVal>
            <c:numRef>
              <c:numCache>
                <c:formatCode>General</c:formatCode>
                <c:ptCount val="1"/>
                <c:pt idx="0">
                  <c:v>46.30366972477065</c:v>
                </c:pt>
              </c:numCache>
            </c:numRef>
          </c:yVal>
          <c:bubbleSize>
            <c:numRef>
              <c:numCache>
                <c:formatCode>General</c:formatCode>
                <c:ptCount val="1"/>
                <c:pt idx="0">
                  <c:v>666.668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1120.615</c:v>
                </c:pt>
                <c:pt idx="2">
                  <c:v>1198.34</c:v>
                </c:pt>
                <c:pt idx="3">
                  <c:v>1280.968</c:v>
                </c:pt>
                <c:pt idx="4">
                  <c:v>1368.74</c:v>
                </c:pt>
                <c:pt idx="5">
                  <c:v>1461.901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1120.615</c:v>
                </c:pt>
                <c:pt idx="1">
                  <c:v>77.72499999999991</c:v>
                </c:pt>
                <c:pt idx="2">
                  <c:v>82.62800000000016</c:v>
                </c:pt>
                <c:pt idx="3">
                  <c:v>87.77199999999993</c:v>
                </c:pt>
                <c:pt idx="4">
                  <c:v>93.16100000000006</c:v>
                </c:pt>
                <c:pt idx="5">
                  <c:v>98.79399999999987</c:v>
                </c:pt>
                <c:pt idx="6">
                  <c:v>1560.695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1921.204</c:v>
                </c:pt>
                <c:pt idx="2">
                  <c:v>2117.234</c:v>
                </c:pt>
                <c:pt idx="3">
                  <c:v>2333.486</c:v>
                </c:pt>
                <c:pt idx="4">
                  <c:v>2572.0769999999998</c:v>
                </c:pt>
                <c:pt idx="5">
                  <c:v>2835.342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1921.204</c:v>
                </c:pt>
                <c:pt idx="1">
                  <c:v>196.02999999999997</c:v>
                </c:pt>
                <c:pt idx="2">
                  <c:v>216.25199999999995</c:v>
                </c:pt>
                <c:pt idx="3">
                  <c:v>238.5909999999999</c:v>
                </c:pt>
                <c:pt idx="4">
                  <c:v>263.2650000000003</c:v>
                </c:pt>
                <c:pt idx="5">
                  <c:v>290.529</c:v>
                </c:pt>
                <c:pt idx="6">
                  <c:v>3125.871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555.181</c:v>
                </c:pt>
                <c:pt idx="2">
                  <c:v>578.813</c:v>
                </c:pt>
                <c:pt idx="3">
                  <c:v>602.083</c:v>
                </c:pt>
                <c:pt idx="4">
                  <c:v>624.712</c:v>
                </c:pt>
                <c:pt idx="5">
                  <c:v>646.37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555.181</c:v>
                </c:pt>
                <c:pt idx="1">
                  <c:v>23.631999999999948</c:v>
                </c:pt>
                <c:pt idx="2">
                  <c:v>23.269999999999982</c:v>
                </c:pt>
                <c:pt idx="3">
                  <c:v>22.62900000000002</c:v>
                </c:pt>
                <c:pt idx="4">
                  <c:v>21.658000000000015</c:v>
                </c:pt>
                <c:pt idx="5">
                  <c:v>20.298000000000002</c:v>
                </c:pt>
                <c:pt idx="6">
                  <c:v>666.668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Multipacks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51.107470139210086</c:v>
                </c:pt>
                <c:pt idx="1">
                  <c:v>53.411287183764244</c:v>
                </c:pt>
                <c:pt idx="2">
                  <c:v>58.39219806195657</c:v>
                </c:pt>
              </c:numCache>
            </c:numRef>
          </c:val>
        </c:ser>
        <c:ser>
          <c:idx val="1"/>
          <c:order val="1"/>
          <c:tx>
            <c:strRef>
              <c:strCache>
                <c:ptCount val="1"/>
                <c:pt idx="0">
                  <c:v>Single-muffin packs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32.07811135111227</c:v>
                </c:pt>
                <c:pt idx="1">
                  <c:v>31.154156241312204</c:v>
                </c:pt>
                <c:pt idx="2">
                  <c:v>29.15424582598108</c:v>
                </c:pt>
              </c:numCache>
            </c:numRef>
          </c:val>
        </c:ser>
        <c:ser>
          <c:idx val="2"/>
          <c:order val="2"/>
          <c:tx>
            <c:strRef>
              <c:strCache>
                <c:ptCount val="1"/>
                <c:pt idx="0">
                  <c:v>Bulk foodservice packs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16.814418509677644</c:v>
                </c:pt>
                <c:pt idx="1">
                  <c:v>15.43455657492355</c:v>
                </c:pt>
                <c:pt idx="2">
                  <c:v>12.453556112062353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Individually wrapped muffins within an outer pack</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50.75900463184648</c:v>
                </c:pt>
                <c:pt idx="1">
                  <c:v>57.756292740391366</c:v>
                </c:pt>
              </c:numCache>
            </c:numRef>
          </c:val>
        </c:ser>
        <c:ser>
          <c:idx val="1"/>
          <c:order val="1"/>
          <c:tx>
            <c:strRef>
              <c:strCache>
                <c:ptCount val="1"/>
                <c:pt idx="0">
                  <c:v>Shared pack without individual wrapping</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49.24099536815352</c:v>
                </c:pt>
                <c:pt idx="1">
                  <c:v>42.243707259608634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4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Individually wrapped muffins within an outer pack</c:v>
                </c:pt>
              </c:strCache>
            </c:strRef>
          </c:tx>
          <c:spPr>
            <a:solidFill>
              <a:srgbClr val="3D85C6"/>
            </a:solidFill>
          </c:spPr>
          <c:invertIfNegative val="0"/>
          <c:xVal>
            <c:numRef>
              <c:numCache>
                <c:formatCode>General</c:formatCode>
                <c:ptCount val="1"/>
                <c:pt idx="0">
                  <c:v>104.7664814596207</c:v>
                </c:pt>
              </c:numCache>
            </c:numRef>
          </c:xVal>
          <c:yVal>
            <c:numRef>
              <c:numCache>
                <c:formatCode>General</c:formatCode>
                <c:ptCount val="1"/>
                <c:pt idx="0">
                  <c:v>108.9133166527662</c:v>
                </c:pt>
              </c:numCache>
            </c:numRef>
          </c:yVal>
          <c:bubbleSize>
            <c:numRef>
              <c:numCache>
                <c:formatCode>General</c:formatCode>
                <c:ptCount val="1"/>
                <c:pt idx="0">
                  <c:v>2969.811</c:v>
                </c:pt>
              </c:numCache>
            </c:numRef>
          </c:bubbleSize>
          <c:bubble3D val="0"/>
        </c:ser>
        <c:ser>
          <c:idx val="1"/>
          <c:order val="1"/>
          <c:tx>
            <c:strRef>
              <c:strCache>
                <c:ptCount val="1"/>
                <c:pt idx="0">
                  <c:v>Shared pack without individual wrapping</c:v>
                </c:pt>
              </c:strCache>
            </c:strRef>
          </c:tx>
          <c:spPr>
            <a:solidFill>
              <a:srgbClr val="9E7E0A"/>
            </a:solidFill>
          </c:spPr>
          <c:invertIfNegative val="0"/>
          <c:xVal>
            <c:numRef>
              <c:numCache>
                <c:formatCode>General</c:formatCode>
                <c:ptCount val="1"/>
                <c:pt idx="0">
                  <c:v>94.19400450117462</c:v>
                </c:pt>
              </c:numCache>
            </c:numRef>
          </c:xVal>
          <c:yVal>
            <c:numRef>
              <c:numCache>
                <c:formatCode>General</c:formatCode>
                <c:ptCount val="1"/>
                <c:pt idx="0">
                  <c:v>91.0866833472338</c:v>
                </c:pt>
              </c:numCache>
            </c:numRef>
          </c:yVal>
          <c:bubbleSize>
            <c:numRef>
              <c:numCache>
                <c:formatCode>General</c:formatCode>
                <c:ptCount val="1"/>
                <c:pt idx="0">
                  <c:v>2383.423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1958.806</c:v>
                </c:pt>
                <c:pt idx="2">
                  <c:v>2130.502</c:v>
                </c:pt>
                <c:pt idx="3">
                  <c:v>2316.178</c:v>
                </c:pt>
                <c:pt idx="4">
                  <c:v>2517.059</c:v>
                </c:pt>
                <c:pt idx="5">
                  <c:v>2734.462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1958.806</c:v>
                </c:pt>
                <c:pt idx="1">
                  <c:v>171.6959999999999</c:v>
                </c:pt>
                <c:pt idx="2">
                  <c:v>185.67599999999993</c:v>
                </c:pt>
                <c:pt idx="3">
                  <c:v>200.8810000000003</c:v>
                </c:pt>
                <c:pt idx="4">
                  <c:v>217.4029999999998</c:v>
                </c:pt>
                <c:pt idx="5">
                  <c:v>235.34900000000016</c:v>
                </c:pt>
                <c:pt idx="6">
                  <c:v>2969.811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1638.194</c:v>
                </c:pt>
                <c:pt idx="2">
                  <c:v>1763.885</c:v>
                </c:pt>
                <c:pt idx="3">
                  <c:v>1900.359</c:v>
                </c:pt>
                <c:pt idx="4">
                  <c:v>2048.47</c:v>
                </c:pt>
                <c:pt idx="5">
                  <c:v>2209.151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1638.194</c:v>
                </c:pt>
                <c:pt idx="1">
                  <c:v>125.69100000000003</c:v>
                </c:pt>
                <c:pt idx="2">
                  <c:v>136.47399999999993</c:v>
                </c:pt>
                <c:pt idx="3">
                  <c:v>148.11099999999988</c:v>
                </c:pt>
                <c:pt idx="4">
                  <c:v>160.68100000000004</c:v>
                </c:pt>
                <c:pt idx="5">
                  <c:v>174.27199999999993</c:v>
                </c:pt>
                <c:pt idx="6">
                  <c:v>2383.423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Individually wrapped muffins within an outer pack</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53.68294492071372</c:v>
                </c:pt>
                <c:pt idx="1">
                  <c:v>54.4566583263831</c:v>
                </c:pt>
                <c:pt idx="2">
                  <c:v>55.47695094217813</c:v>
                </c:pt>
              </c:numCache>
            </c:numRef>
          </c:val>
        </c:ser>
        <c:ser>
          <c:idx val="1"/>
          <c:order val="1"/>
          <c:tx>
            <c:strRef>
              <c:strCache>
                <c:ptCount val="1"/>
                <c:pt idx="0">
                  <c:v>Shared pack without individual wrapping</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46.31705507928628</c:v>
                </c:pt>
                <c:pt idx="1">
                  <c:v>45.5433416736169</c:v>
                </c:pt>
                <c:pt idx="2">
                  <c:v>44.523049057821865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Economy / value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12.990961677305329</c:v>
                </c:pt>
                <c:pt idx="1">
                  <c:v>17.25701265876091</c:v>
                </c:pt>
              </c:numCache>
            </c:numRef>
          </c:val>
        </c:ser>
        <c:ser>
          <c:idx val="1"/>
          <c:order val="1"/>
          <c:tx>
            <c:strRef>
              <c:strCache>
                <c:ptCount val="1"/>
                <c:pt idx="0">
                  <c:v>Mid-range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33.94643986656703</c:v>
                </c:pt>
                <c:pt idx="1">
                  <c:v>32.01219469961659</c:v>
                </c:pt>
              </c:numCache>
            </c:numRef>
          </c:val>
        </c:ser>
        <c:ser>
          <c:idx val="2"/>
          <c:order val="2"/>
          <c:tx>
            <c:strRef>
              <c:strCache>
                <c:ptCount val="1"/>
                <c:pt idx="0">
                  <c:v>Premium</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31.79779527089449</c:v>
                </c:pt>
                <c:pt idx="1">
                  <c:v>31.67837532557017</c:v>
                </c:pt>
              </c:numCache>
            </c:numRef>
          </c:val>
        </c:ser>
        <c:ser>
          <c:idx val="3"/>
          <c:order val="3"/>
          <c:tx>
            <c:strRef>
              <c:strCache>
                <c:ptCount val="1"/>
                <c:pt idx="0">
                  <c:v>Super-premium / speciality</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21.264803185233145</c:v>
                </c:pt>
                <c:pt idx="1">
                  <c:v>19.052417316052335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4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Economy / value</c:v>
                </c:pt>
              </c:strCache>
            </c:strRef>
          </c:tx>
          <c:spPr>
            <a:solidFill>
              <a:srgbClr val="3D85C6"/>
            </a:solidFill>
          </c:spPr>
          <c:invertIfNegative val="0"/>
          <c:xVal>
            <c:numRef>
              <c:numCache>
                <c:formatCode>General</c:formatCode>
                <c:ptCount val="1"/>
                <c:pt idx="0">
                  <c:v>27.440931691899245</c:v>
                </c:pt>
              </c:numCache>
            </c:numRef>
          </c:xVal>
          <c:yVal>
            <c:numRef>
              <c:numCache>
                <c:formatCode>General</c:formatCode>
                <c:ptCount val="1"/>
                <c:pt idx="0">
                  <c:v>84.5608006672227</c:v>
                </c:pt>
              </c:numCache>
            </c:numRef>
          </c:yVal>
          <c:bubbleSize>
            <c:numRef>
              <c:numCache>
                <c:formatCode>General</c:formatCode>
                <c:ptCount val="1"/>
                <c:pt idx="0">
                  <c:v>849.417</c:v>
                </c:pt>
              </c:numCache>
            </c:numRef>
          </c:bubbleSize>
          <c:bubble3D val="0"/>
        </c:ser>
        <c:ser>
          <c:idx val="1"/>
          <c:order val="1"/>
          <c:tx>
            <c:strRef>
              <c:strCache>
                <c:ptCount val="1"/>
                <c:pt idx="0">
                  <c:v>Mid-range</c:v>
                </c:pt>
              </c:strCache>
            </c:strRef>
          </c:tx>
          <c:spPr>
            <a:solidFill>
              <a:srgbClr val="9E7E0A"/>
            </a:solidFill>
          </c:spPr>
          <c:invertIfNegative val="0"/>
          <c:xVal>
            <c:numRef>
              <c:numCache>
                <c:formatCode>General</c:formatCode>
                <c:ptCount val="1"/>
                <c:pt idx="0">
                  <c:v>163.17445189518108</c:v>
                </c:pt>
              </c:numCache>
            </c:numRef>
          </c:xVal>
          <c:yVal>
            <c:numRef>
              <c:numCache>
                <c:formatCode>General</c:formatCode>
                <c:ptCount val="1"/>
                <c:pt idx="0">
                  <c:v>102.3738671114818</c:v>
                </c:pt>
              </c:numCache>
            </c:numRef>
          </c:yVal>
          <c:bubbleSize>
            <c:numRef>
              <c:numCache>
                <c:formatCode>General</c:formatCode>
                <c:ptCount val="1"/>
                <c:pt idx="0">
                  <c:v>1747.417</c:v>
                </c:pt>
              </c:numCache>
            </c:numRef>
          </c:bubbleSize>
          <c:bubble3D val="0"/>
        </c:ser>
        <c:ser>
          <c:idx val="2"/>
          <c:order val="2"/>
          <c:tx>
            <c:strRef>
              <c:strCache>
                <c:ptCount val="1"/>
                <c:pt idx="0">
                  <c:v>Premium</c:v>
                </c:pt>
              </c:strCache>
            </c:strRef>
          </c:tx>
          <c:spPr>
            <a:solidFill>
              <a:srgbClr val="008189"/>
            </a:solidFill>
          </c:spPr>
          <c:invertIfNegative val="0"/>
          <c:xVal>
            <c:numRef>
              <c:numCache>
                <c:formatCode>General</c:formatCode>
                <c:ptCount val="1"/>
                <c:pt idx="0">
                  <c:v>52.544322986715784</c:v>
                </c:pt>
              </c:numCache>
            </c:numRef>
          </c:xVal>
          <c:yVal>
            <c:numRef>
              <c:numCache>
                <c:formatCode>General</c:formatCode>
                <c:ptCount val="1"/>
                <c:pt idx="0">
                  <c:v>152.91320544898525</c:v>
                </c:pt>
              </c:numCache>
            </c:numRef>
          </c:yVal>
          <c:bubbleSize>
            <c:numRef>
              <c:numCache>
                <c:formatCode>General</c:formatCode>
                <c:ptCount val="1"/>
                <c:pt idx="0">
                  <c:v>1697.9</c:v>
                </c:pt>
              </c:numCache>
            </c:numRef>
          </c:bubbleSize>
          <c:bubble3D val="0"/>
        </c:ser>
        <c:ser>
          <c:idx val="3"/>
          <c:order val="3"/>
          <c:tx>
            <c:strRef>
              <c:strCache>
                <c:ptCount val="1"/>
                <c:pt idx="0">
                  <c:v>Super-premium / speciality</c:v>
                </c:pt>
              </c:strCache>
            </c:strRef>
          </c:tx>
          <c:spPr>
            <a:solidFill>
              <a:srgbClr val="40315E"/>
            </a:solidFill>
          </c:spPr>
          <c:invertIfNegative val="0"/>
          <c:xVal>
            <c:numRef>
              <c:numCache>
                <c:formatCode>General</c:formatCode>
                <c:ptCount val="1"/>
                <c:pt idx="0">
                  <c:v>171.1956670915998</c:v>
                </c:pt>
              </c:numCache>
            </c:numRef>
          </c:xVal>
          <c:yVal>
            <c:numRef>
              <c:numCache>
                <c:formatCode>General</c:formatCode>
                <c:ptCount val="1"/>
                <c:pt idx="0">
                  <c:v>60.152126772310254</c:v>
                </c:pt>
              </c:numCache>
            </c:numRef>
          </c:yVal>
          <c:bubbleSize>
            <c:numRef>
              <c:numCache>
                <c:formatCode>General</c:formatCode>
                <c:ptCount val="1"/>
                <c:pt idx="0">
                  <c:v>1058.5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10.0"/>
          <c:min val="-1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760.413</c:v>
                </c:pt>
                <c:pt idx="2">
                  <c:v>782.937</c:v>
                </c:pt>
                <c:pt idx="3">
                  <c:v>803.631</c:v>
                </c:pt>
                <c:pt idx="4">
                  <c:v>822.003</c:v>
                </c:pt>
                <c:pt idx="5">
                  <c:v>837.481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760.413</c:v>
                </c:pt>
                <c:pt idx="1">
                  <c:v>22.524</c:v>
                </c:pt>
                <c:pt idx="2">
                  <c:v>20.69399999999996</c:v>
                </c:pt>
                <c:pt idx="3">
                  <c:v>18.37200000000007</c:v>
                </c:pt>
                <c:pt idx="4">
                  <c:v>15.477999999999952</c:v>
                </c:pt>
                <c:pt idx="5">
                  <c:v>11.936000000000035</c:v>
                </c:pt>
                <c:pt idx="6">
                  <c:v>849.417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920.597</c:v>
                </c:pt>
                <c:pt idx="2">
                  <c:v>1050.57</c:v>
                </c:pt>
                <c:pt idx="3">
                  <c:v>1196.35</c:v>
                </c:pt>
                <c:pt idx="4">
                  <c:v>1359.727</c:v>
                </c:pt>
                <c:pt idx="5">
                  <c:v>1542.682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920.597</c:v>
                </c:pt>
                <c:pt idx="1">
                  <c:v>129.97299999999996</c:v>
                </c:pt>
                <c:pt idx="2">
                  <c:v>145.77999999999997</c:v>
                </c:pt>
                <c:pt idx="3">
                  <c:v>163.37700000000018</c:v>
                </c:pt>
                <c:pt idx="4">
                  <c:v>182.95499999999993</c:v>
                </c:pt>
                <c:pt idx="5">
                  <c:v>204.7349999999999</c:v>
                </c:pt>
                <c:pt idx="6">
                  <c:v>1747.417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1375.072</c:v>
                </c:pt>
                <c:pt idx="2">
                  <c:v>1439.077</c:v>
                </c:pt>
                <c:pt idx="3">
                  <c:v>1503.776</c:v>
                </c:pt>
                <c:pt idx="4">
                  <c:v>1568.792</c:v>
                </c:pt>
                <c:pt idx="5">
                  <c:v>1633.678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1375.072</c:v>
                </c:pt>
                <c:pt idx="1">
                  <c:v>64.00500000000011</c:v>
                </c:pt>
                <c:pt idx="2">
                  <c:v>64.69900000000007</c:v>
                </c:pt>
                <c:pt idx="3">
                  <c:v>65.01599999999985</c:v>
                </c:pt>
                <c:pt idx="4">
                  <c:v>64.8860000000002</c:v>
                </c:pt>
                <c:pt idx="5">
                  <c:v>64.22199999999998</c:v>
                </c:pt>
                <c:pt idx="6">
                  <c:v>1697.9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540.918</c:v>
                </c:pt>
                <c:pt idx="2">
                  <c:v>621.803</c:v>
                </c:pt>
                <c:pt idx="3">
                  <c:v>712.78</c:v>
                </c:pt>
                <c:pt idx="4">
                  <c:v>815.007</c:v>
                </c:pt>
                <c:pt idx="5">
                  <c:v>929.772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540.918</c:v>
                </c:pt>
                <c:pt idx="1">
                  <c:v>80.88499999999999</c:v>
                </c:pt>
                <c:pt idx="2">
                  <c:v>90.97699999999998</c:v>
                </c:pt>
                <c:pt idx="3">
                  <c:v>102.22699999999998</c:v>
                </c:pt>
                <c:pt idx="4">
                  <c:v>114.7650000000001</c:v>
                </c:pt>
                <c:pt idx="5">
                  <c:v>128.72799999999995</c:v>
                </c:pt>
                <c:pt idx="6">
                  <c:v>1058.5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Mid-range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22.19294875014923</c:v>
                </c:pt>
                <c:pt idx="1">
                  <c:v>25.59346677787045</c:v>
                </c:pt>
                <c:pt idx="2">
                  <c:v>32.64226820647107</c:v>
                </c:pt>
              </c:numCache>
            </c:numRef>
          </c:val>
        </c:ser>
        <c:ser>
          <c:idx val="1"/>
          <c:order val="1"/>
          <c:tx>
            <c:strRef>
              <c:strCache>
                <c:ptCount val="1"/>
                <c:pt idx="0">
                  <c:v>Premium</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41.3607739243494</c:v>
                </c:pt>
                <c:pt idx="1">
                  <c:v>38.22830136224631</c:v>
                </c:pt>
                <c:pt idx="2">
                  <c:v>31.717275949454105</c:v>
                </c:pt>
              </c:numCache>
            </c:numRef>
          </c:val>
        </c:ser>
        <c:ser>
          <c:idx val="2"/>
          <c:order val="2"/>
          <c:tx>
            <c:strRef>
              <c:strCache>
                <c:ptCount val="1"/>
                <c:pt idx="0">
                  <c:v>Super-premium / speciality</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12.755738771175244</c:v>
                </c:pt>
                <c:pt idx="1">
                  <c:v>15.038031693077563</c:v>
                </c:pt>
                <c:pt idx="2">
                  <c:v>19.77309417073866</c:v>
                </c:pt>
              </c:numCache>
            </c:numRef>
          </c:val>
        </c:ser>
        <c:ser>
          <c:idx val="3"/>
          <c:order val="3"/>
          <c:tx>
            <c:strRef>
              <c:strCache>
                <c:ptCount val="1"/>
                <c:pt idx="0">
                  <c:v>Economy / value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23.69053855432612</c:v>
                </c:pt>
                <c:pt idx="1">
                  <c:v>21.140200166805673</c:v>
                </c:pt>
                <c:pt idx="2">
                  <c:v>15.867361673336156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Manufacturer brands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42.04950461550283</c:v>
                </c:pt>
                <c:pt idx="1">
                  <c:v>37.72344551241648</c:v>
                </c:pt>
              </c:numCache>
            </c:numRef>
          </c:val>
        </c:ser>
        <c:ser>
          <c:idx val="1"/>
          <c:order val="1"/>
          <c:tx>
            <c:strRef>
              <c:strCache>
                <c:ptCount val="1"/>
                <c:pt idx="0">
                  <c:v>Retailer private labels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45.537582642933785</c:v>
                </c:pt>
                <c:pt idx="1">
                  <c:v>43.81032277333002</c:v>
                </c:pt>
              </c:numCache>
            </c:numRef>
          </c:val>
        </c:ser>
        <c:ser>
          <c:idx val="2"/>
          <c:order val="2"/>
          <c:tx>
            <c:strRef>
              <c:strCache>
                <c:ptCount val="1"/>
                <c:pt idx="0">
                  <c:v>Foodservice / operator brands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12.412912741563382</c:v>
                </c:pt>
                <c:pt idx="1">
                  <c:v>18.466231714253496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5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Manufacturer brands</c:v>
                </c:pt>
              </c:strCache>
            </c:strRef>
          </c:tx>
          <c:spPr>
            <a:solidFill>
              <a:srgbClr val="3D85C6"/>
            </a:solidFill>
          </c:spPr>
          <c:invertIfNegative val="0"/>
          <c:xVal>
            <c:numRef>
              <c:numCache>
                <c:formatCode>General</c:formatCode>
                <c:ptCount val="1"/>
                <c:pt idx="0">
                  <c:v>92.47528159738725</c:v>
                </c:pt>
              </c:numCache>
            </c:numRef>
          </c:xVal>
          <c:yVal>
            <c:numRef>
              <c:numCache>
                <c:formatCode>General</c:formatCode>
                <c:ptCount val="1"/>
                <c:pt idx="0">
                  <c:v>120.8975813177648</c:v>
                </c:pt>
              </c:numCache>
            </c:numRef>
          </c:yVal>
          <c:bubbleSize>
            <c:numRef>
              <c:numCache>
                <c:formatCode>General</c:formatCode>
                <c:ptCount val="1"/>
                <c:pt idx="0">
                  <c:v>2094.862</c:v>
                </c:pt>
              </c:numCache>
            </c:numRef>
          </c:bubbleSize>
          <c:bubble3D val="0"/>
        </c:ser>
        <c:ser>
          <c:idx val="1"/>
          <c:order val="1"/>
          <c:tx>
            <c:strRef>
              <c:strCache>
                <c:ptCount val="1"/>
                <c:pt idx="0">
                  <c:v>Retailer private labels</c:v>
                </c:pt>
              </c:strCache>
            </c:strRef>
          </c:tx>
          <c:spPr>
            <a:solidFill>
              <a:srgbClr val="9E7E0A"/>
            </a:solidFill>
          </c:spPr>
          <c:invertIfNegative val="0"/>
          <c:xVal>
            <c:numRef>
              <c:numCache>
                <c:formatCode>General</c:formatCode>
                <c:ptCount val="1"/>
                <c:pt idx="0">
                  <c:v>107.76646172408739</c:v>
                </c:pt>
              </c:numCache>
            </c:numRef>
          </c:xVal>
          <c:yVal>
            <c:numRef>
              <c:numCache>
                <c:formatCode>General</c:formatCode>
                <c:ptCount val="1"/>
                <c:pt idx="0">
                  <c:v>129.15521267723102</c:v>
                </c:pt>
              </c:numCache>
            </c:numRef>
          </c:yVal>
          <c:bubbleSize>
            <c:numRef>
              <c:numCache>
                <c:formatCode>General</c:formatCode>
                <c:ptCount val="1"/>
                <c:pt idx="0">
                  <c:v>2375.389</c:v>
                </c:pt>
              </c:numCache>
            </c:numRef>
          </c:bubbleSize>
          <c:bubble3D val="0"/>
        </c:ser>
        <c:ser>
          <c:idx val="2"/>
          <c:order val="2"/>
          <c:tx>
            <c:strRef>
              <c:strCache>
                <c:ptCount val="1"/>
                <c:pt idx="0">
                  <c:v>Foodservice / operator brands</c:v>
                </c:pt>
              </c:strCache>
            </c:strRef>
          </c:tx>
          <c:spPr>
            <a:solidFill>
              <a:srgbClr val="008189"/>
            </a:solidFill>
          </c:spPr>
          <c:invertIfNegative val="0"/>
          <c:xVal>
            <c:numRef>
              <c:numCache>
                <c:formatCode>General</c:formatCode>
                <c:ptCount val="1"/>
                <c:pt idx="0">
                  <c:v>97.60648263179793</c:v>
                </c:pt>
              </c:numCache>
            </c:numRef>
          </c:xVal>
          <c:yVal>
            <c:numRef>
              <c:numCache>
                <c:formatCode>General</c:formatCode>
                <c:ptCount val="1"/>
                <c:pt idx="0">
                  <c:v>49.94720600500416</c:v>
                </c:pt>
              </c:numCache>
            </c:numRef>
          </c:yVal>
          <c:bubbleSize>
            <c:numRef>
              <c:numCache>
                <c:formatCode>General</c:formatCode>
                <c:ptCount val="1"/>
                <c:pt idx="0">
                  <c:v>882.983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1449.562</c:v>
                </c:pt>
                <c:pt idx="2">
                  <c:v>1559.172</c:v>
                </c:pt>
                <c:pt idx="3">
                  <c:v>1677.744</c:v>
                </c:pt>
                <c:pt idx="4">
                  <c:v>1806.01</c:v>
                </c:pt>
                <c:pt idx="5">
                  <c:v>1944.761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1449.562</c:v>
                </c:pt>
                <c:pt idx="1">
                  <c:v>109.61000000000013</c:v>
                </c:pt>
                <c:pt idx="2">
                  <c:v>118.57199999999989</c:v>
                </c:pt>
                <c:pt idx="3">
                  <c:v>128.26600000000008</c:v>
                </c:pt>
                <c:pt idx="4">
                  <c:v>138.75099999999998</c:v>
                </c:pt>
                <c:pt idx="5">
                  <c:v>150.1010000000001</c:v>
                </c:pt>
                <c:pt idx="6">
                  <c:v>2094.862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1548.571</c:v>
                </c:pt>
                <c:pt idx="2">
                  <c:v>1688.098</c:v>
                </c:pt>
                <c:pt idx="3">
                  <c:v>1839.478</c:v>
                </c:pt>
                <c:pt idx="4">
                  <c:v>2003.733</c:v>
                </c:pt>
                <c:pt idx="5">
                  <c:v>2181.97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1548.571</c:v>
                </c:pt>
                <c:pt idx="1">
                  <c:v>139.52700000000004</c:v>
                </c:pt>
                <c:pt idx="2">
                  <c:v>151.3800000000001</c:v>
                </c:pt>
                <c:pt idx="3">
                  <c:v>164.25499999999988</c:v>
                </c:pt>
                <c:pt idx="4">
                  <c:v>178.23699999999985</c:v>
                </c:pt>
                <c:pt idx="5">
                  <c:v>193.41900000000032</c:v>
                </c:pt>
                <c:pt idx="6">
                  <c:v>2375.389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598.867</c:v>
                </c:pt>
                <c:pt idx="2">
                  <c:v>647.117</c:v>
                </c:pt>
                <c:pt idx="3">
                  <c:v>699.315</c:v>
                </c:pt>
                <c:pt idx="4">
                  <c:v>755.786</c:v>
                </c:pt>
                <c:pt idx="5">
                  <c:v>816.882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598.867</c:v>
                </c:pt>
                <c:pt idx="1">
                  <c:v>48.25</c:v>
                </c:pt>
                <c:pt idx="2">
                  <c:v>52.19800000000009</c:v>
                </c:pt>
                <c:pt idx="3">
                  <c:v>56.47099999999989</c:v>
                </c:pt>
                <c:pt idx="4">
                  <c:v>61.096000000000004</c:v>
                </c:pt>
                <c:pt idx="5">
                  <c:v>66.101</c:v>
                </c:pt>
                <c:pt idx="6">
                  <c:v>882.983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Retailer private labels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42.22875756019945</c:v>
                </c:pt>
                <c:pt idx="1">
                  <c:v>43.05173755907701</c:v>
                </c:pt>
                <c:pt idx="2">
                  <c:v>44.37297155327041</c:v>
                </c:pt>
              </c:numCache>
            </c:numRef>
          </c:val>
        </c:ser>
        <c:ser>
          <c:idx val="1"/>
          <c:order val="1"/>
          <c:tx>
            <c:strRef>
              <c:strCache>
                <c:ptCount val="1"/>
                <c:pt idx="0">
                  <c:v>Manufacturer brands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41.03670712907807</c:v>
                </c:pt>
                <c:pt idx="1">
                  <c:v>40.29919377258827</c:v>
                </c:pt>
                <c:pt idx="2">
                  <c:v>39.132643930752884</c:v>
                </c:pt>
              </c:numCache>
            </c:numRef>
          </c:val>
        </c:ser>
        <c:ser>
          <c:idx val="2"/>
          <c:order val="2"/>
          <c:tx>
            <c:strRef>
              <c:strCache>
                <c:ptCount val="1"/>
                <c:pt idx="0">
                  <c:v>Foodservice / operator brands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16.734535310722485</c:v>
                </c:pt>
                <c:pt idx="1">
                  <c:v>16.64906866833472</c:v>
                </c:pt>
                <c:pt idx="2">
                  <c:v>16.494384515976694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Retail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55.75562981241509</c:v>
                </c:pt>
                <c:pt idx="1">
                  <c:v>58.7233410639942</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39.62817919746392</c:v>
                </c:pt>
                <c:pt idx="1">
                  <c:v>37.052592966714755</c:v>
                </c:pt>
              </c:numCache>
            </c:numRef>
          </c:val>
        </c:ser>
        <c:ser>
          <c:idx val="2"/>
          <c:order val="2"/>
          <c:tx>
            <c:strRef>
              <c:strCache>
                <c:ptCount val="1"/>
                <c:pt idx="0">
                  <c:v>Vending</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4.616190990120983</c:v>
                </c:pt>
                <c:pt idx="1">
                  <c:v>4.224065969291056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5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Retail</c:v>
                </c:pt>
              </c:strCache>
            </c:strRef>
          </c:tx>
          <c:spPr>
            <a:solidFill>
              <a:srgbClr val="3D85C6"/>
            </a:solidFill>
          </c:spPr>
          <c:invertIfNegative val="0"/>
          <c:xVal>
            <c:numRef>
              <c:numCache>
                <c:formatCode>General</c:formatCode>
                <c:ptCount val="1"/>
                <c:pt idx="0">
                  <c:v>83.71306032744499</c:v>
                </c:pt>
              </c:numCache>
            </c:numRef>
          </c:xVal>
          <c:yVal>
            <c:numRef>
              <c:numCache>
                <c:formatCode>General</c:formatCode>
                <c:ptCount val="1"/>
                <c:pt idx="0">
                  <c:v>184.66422018348624</c:v>
                </c:pt>
              </c:numCache>
            </c:numRef>
          </c:yVal>
          <c:bubbleSize>
            <c:numRef>
              <c:numCache>
                <c:formatCode>General</c:formatCode>
                <c:ptCount val="1"/>
                <c:pt idx="0">
                  <c:v>3091.8469999999998</c:v>
                </c:pt>
              </c:numCache>
            </c:numRef>
          </c:bubbleSize>
          <c:bubble3D val="0"/>
        </c:ser>
        <c:ser>
          <c:idx val="1"/>
          <c:order val="1"/>
          <c:tx>
            <c:strRef>
              <c:strCache>
                <c:ptCount val="1"/>
                <c:pt idx="0">
                  <c:v>Foodservice and institutional</c:v>
                </c:pt>
              </c:strCache>
            </c:strRef>
          </c:tx>
          <c:spPr>
            <a:solidFill>
              <a:srgbClr val="9E7E0A"/>
            </a:solidFill>
          </c:spPr>
          <c:invertIfNegative val="0"/>
          <c:xVal>
            <c:numRef>
              <c:numCache>
                <c:formatCode>General</c:formatCode>
                <c:ptCount val="1"/>
                <c:pt idx="0">
                  <c:v>127.74872523060168</c:v>
                </c:pt>
              </c:numCache>
            </c:numRef>
          </c:xVal>
          <c:yVal>
            <c:numRef>
              <c:numCache>
                <c:formatCode>General</c:formatCode>
                <c:ptCount val="1"/>
                <c:pt idx="0">
                  <c:v>102.08006672226857</c:v>
                </c:pt>
              </c:numCache>
            </c:numRef>
          </c:yVal>
          <c:bubbleSize>
            <c:numRef>
              <c:numCache>
                <c:formatCode>General</c:formatCode>
                <c:ptCount val="1"/>
                <c:pt idx="0">
                  <c:v>2028.425</c:v>
                </c:pt>
              </c:numCache>
            </c:numRef>
          </c:bubbleSize>
          <c:bubble3D val="0"/>
        </c:ser>
        <c:ser>
          <c:idx val="2"/>
          <c:order val="2"/>
          <c:tx>
            <c:strRef>
              <c:strCache>
                <c:ptCount val="1"/>
                <c:pt idx="0">
                  <c:v>Vending</c:v>
                </c:pt>
              </c:strCache>
            </c:strRef>
          </c:tx>
          <c:spPr>
            <a:solidFill>
              <a:srgbClr val="008189"/>
            </a:solidFill>
          </c:spPr>
          <c:invertIfNegative val="0"/>
          <c:xVal>
            <c:numRef>
              <c:numCache>
                <c:formatCode>General</c:formatCode>
                <c:ptCount val="1"/>
                <c:pt idx="0">
                  <c:v>96.09662301638339</c:v>
                </c:pt>
              </c:numCache>
            </c:numRef>
          </c:xVal>
          <c:yVal>
            <c:numRef>
              <c:numCache>
                <c:formatCode>General</c:formatCode>
                <c:ptCount val="1"/>
                <c:pt idx="0">
                  <c:v>13.255713094245205</c:v>
                </c:pt>
              </c:numCache>
            </c:numRef>
          </c:yVal>
          <c:bubbleSize>
            <c:numRef>
              <c:numCache>
                <c:formatCode>General</c:formatCode>
                <c:ptCount val="1"/>
                <c:pt idx="0">
                  <c:v>232.962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2214.124</c:v>
                </c:pt>
                <c:pt idx="2">
                  <c:v>2366.899</c:v>
                </c:pt>
                <c:pt idx="3">
                  <c:v>2530.288</c:v>
                </c:pt>
                <c:pt idx="4">
                  <c:v>2705.042</c:v>
                </c:pt>
                <c:pt idx="5">
                  <c:v>2891.945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2214.124</c:v>
                </c:pt>
                <c:pt idx="1">
                  <c:v>152.7750000000001</c:v>
                </c:pt>
                <c:pt idx="2">
                  <c:v>163.38900000000012</c:v>
                </c:pt>
                <c:pt idx="3">
                  <c:v>174.7539999999999</c:v>
                </c:pt>
                <c:pt idx="4">
                  <c:v>186.90300000000025</c:v>
                </c:pt>
                <c:pt idx="5">
                  <c:v>199.9019999999996</c:v>
                </c:pt>
                <c:pt idx="6">
                  <c:v>3091.8469999999998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1223.94</c:v>
                </c:pt>
                <c:pt idx="2">
                  <c:v>1355.945</c:v>
                </c:pt>
                <c:pt idx="3">
                  <c:v>1501.086</c:v>
                </c:pt>
                <c:pt idx="4">
                  <c:v>1660.608</c:v>
                </c:pt>
                <c:pt idx="5">
                  <c:v>1835.8890000000001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1223.94</c:v>
                </c:pt>
                <c:pt idx="1">
                  <c:v>132.00499999999988</c:v>
                </c:pt>
                <c:pt idx="2">
                  <c:v>145.14100000000008</c:v>
                </c:pt>
                <c:pt idx="3">
                  <c:v>159.52199999999993</c:v>
                </c:pt>
                <c:pt idx="4">
                  <c:v>175.28100000000018</c:v>
                </c:pt>
                <c:pt idx="5">
                  <c:v>192.53599999999983</c:v>
                </c:pt>
                <c:pt idx="6">
                  <c:v>2028.425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158.936</c:v>
                </c:pt>
                <c:pt idx="2">
                  <c:v>171.543</c:v>
                </c:pt>
                <c:pt idx="3">
                  <c:v>185.163</c:v>
                </c:pt>
                <c:pt idx="4">
                  <c:v>199.879</c:v>
                </c:pt>
                <c:pt idx="5">
                  <c:v>215.779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158.936</c:v>
                </c:pt>
                <c:pt idx="1">
                  <c:v>12.607</c:v>
                </c:pt>
                <c:pt idx="2">
                  <c:v>13.620000000000005</c:v>
                </c:pt>
                <c:pt idx="3">
                  <c:v>14.71599999999998</c:v>
                </c:pt>
                <c:pt idx="4">
                  <c:v>15.900000000000006</c:v>
                </c:pt>
                <c:pt idx="5">
                  <c:v>17.182999999999993</c:v>
                </c:pt>
                <c:pt idx="6">
                  <c:v>232.962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63.53995758264111</c:v>
                </c:pt>
                <c:pt idx="1">
                  <c:v>61.55474006116207</c:v>
                </c:pt>
                <c:pt idx="2">
                  <c:v>57.756619643378194</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32.0064806835314</c:v>
                </c:pt>
                <c:pt idx="1">
                  <c:v>34.02668890742285</c:v>
                </c:pt>
                <c:pt idx="2">
                  <c:v>37.89158105175302</c:v>
                </c:pt>
              </c:numCache>
            </c:numRef>
          </c:val>
        </c:ser>
        <c:ser>
          <c:idx val="2"/>
          <c:order val="2"/>
          <c:tx>
            <c:strRef>
              <c:strCache>
                <c:ptCount val="1"/>
                <c:pt idx="0">
                  <c:v>Vending</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4.453561733827485</c:v>
                </c:pt>
                <c:pt idx="1">
                  <c:v>4.418571031415068</c:v>
                </c:pt>
                <c:pt idx="2">
                  <c:v>4.351799304868796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Volume (MT)</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607424.963</c:v>
                </c:pt>
                <c:pt idx="1">
                  <c:v>621454.454</c:v>
                </c:pt>
                <c:pt idx="2">
                  <c:v>635807.98</c:v>
                </c:pt>
                <c:pt idx="3">
                  <c:v>650493.023</c:v>
                </c:pt>
                <c:pt idx="4">
                  <c:v>665517.243</c:v>
                </c:pt>
                <c:pt idx="5">
                  <c:v>680888.4720000001</c:v>
                </c:pt>
                <c:pt idx="6">
                  <c:v>702023.9680000001</c:v>
                </c:pt>
                <c:pt idx="7">
                  <c:v>723815.532</c:v>
                </c:pt>
                <c:pt idx="8">
                  <c:v>746283.5289999999</c:v>
                </c:pt>
                <c:pt idx="9">
                  <c:v>769448.957</c:v>
                </c:pt>
                <c:pt idx="10">
                  <c:v>793333.4639999999</c:v>
                </c:pt>
                <c:pt idx="11">
                  <c:v>817959.371</c:v>
                </c:pt>
                <c:pt idx="12">
                  <c:v>843349.692</c:v>
                </c:pt>
                <c:pt idx="13">
                  <c:v>869528.156</c:v>
                </c:pt>
                <c:pt idx="14">
                  <c:v>896519.227</c:v>
                </c:pt>
                <c:pt idx="15">
                  <c:v>924348.129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0.04198811629149746</c:v>
                </c:pt>
                <c:pt idx="1">
                  <c:v>0.03306572273902586</c:v>
                </c:pt>
                <c:pt idx="2">
                  <c:v>0.031041054362116016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668395699352157"/>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680888.4720000001</c:v>
                </c:pt>
                <c:pt idx="2">
                  <c:v>702023.9680000001</c:v>
                </c:pt>
                <c:pt idx="3">
                  <c:v>723815.532</c:v>
                </c:pt>
                <c:pt idx="4">
                  <c:v>746283.5289999999</c:v>
                </c:pt>
                <c:pt idx="5">
                  <c:v>769448.957</c:v>
                </c:pt>
                <c:pt idx="6">
                  <c:v>793333.4639999999</c:v>
                </c:pt>
                <c:pt idx="7">
                  <c:v>817959.371</c:v>
                </c:pt>
                <c:pt idx="8">
                  <c:v>843349.692</c:v>
                </c:pt>
                <c:pt idx="9">
                  <c:v>869528.156</c:v>
                </c:pt>
                <c:pt idx="10">
                  <c:v>896519.227</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680888.4720000001</c:v>
                </c:pt>
                <c:pt idx="1">
                  <c:v>21135.496000000043</c:v>
                </c:pt>
                <c:pt idx="2">
                  <c:v>21791.563999999897</c:v>
                </c:pt>
                <c:pt idx="3">
                  <c:v>22467.996999999858</c:v>
                </c:pt>
                <c:pt idx="4">
                  <c:v>23165.42800000019</c:v>
                </c:pt>
                <c:pt idx="5">
                  <c:v>23884.506999999867</c:v>
                </c:pt>
                <c:pt idx="6">
                  <c:v>24625.907000000123</c:v>
                </c:pt>
                <c:pt idx="7">
                  <c:v>25390.320999999996</c:v>
                </c:pt>
                <c:pt idx="8">
                  <c:v>26178.46399999992</c:v>
                </c:pt>
                <c:pt idx="9">
                  <c:v>26991.070999999996</c:v>
                </c:pt>
                <c:pt idx="10">
                  <c:v>27828.902000000002</c:v>
                </c:pt>
                <c:pt idx="11">
                  <c:v>924348.129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72.52736212960798</c:v>
                </c:pt>
                <c:pt idx="1">
                  <c:v>25.809709331495934</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27.47263787039202</c:v>
                </c:pt>
                <c:pt idx="1">
                  <c:v>74.19029066850406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2136.262</c:v>
                </c:pt>
                <c:pt idx="1">
                  <c:v>2200.902</c:v>
                </c:pt>
                <c:pt idx="2">
                  <c:v>2267.497</c:v>
                </c:pt>
                <c:pt idx="3">
                  <c:v>2336.108</c:v>
                </c:pt>
                <c:pt idx="4">
                  <c:v>2406.795</c:v>
                </c:pt>
                <c:pt idx="5">
                  <c:v>2479.62</c:v>
                </c:pt>
                <c:pt idx="6">
                  <c:v>2574.4869999999996</c:v>
                </c:pt>
                <c:pt idx="7">
                  <c:v>2672.982</c:v>
                </c:pt>
                <c:pt idx="8">
                  <c:v>2775.246</c:v>
                </c:pt>
                <c:pt idx="9">
                  <c:v>2881.4219999999996</c:v>
                </c:pt>
                <c:pt idx="10">
                  <c:v>2991.661</c:v>
                </c:pt>
                <c:pt idx="11">
                  <c:v>3106.117</c:v>
                </c:pt>
                <c:pt idx="12">
                  <c:v>3224.952</c:v>
                </c:pt>
                <c:pt idx="13">
                  <c:v>3348.333</c:v>
                </c:pt>
                <c:pt idx="14">
                  <c:v>3476.435</c:v>
                </c:pt>
                <c:pt idx="15">
                  <c:v>3609.437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0.049944145569506215</c:v>
                </c:pt>
                <c:pt idx="1">
                  <c:v>0.04056108237174105</c:v>
                </c:pt>
                <c:pt idx="2">
                  <c:v>0.03825835240042319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674245965188334"/>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2479.62</c:v>
                </c:pt>
                <c:pt idx="2">
                  <c:v>2574.4869999999996</c:v>
                </c:pt>
                <c:pt idx="3">
                  <c:v>2672.982</c:v>
                </c:pt>
                <c:pt idx="4">
                  <c:v>2775.246</c:v>
                </c:pt>
                <c:pt idx="5">
                  <c:v>2881.4219999999996</c:v>
                </c:pt>
                <c:pt idx="6">
                  <c:v>2991.661</c:v>
                </c:pt>
                <c:pt idx="7">
                  <c:v>3106.117</c:v>
                </c:pt>
                <c:pt idx="8">
                  <c:v>3224.952</c:v>
                </c:pt>
                <c:pt idx="9">
                  <c:v>3348.333</c:v>
                </c:pt>
                <c:pt idx="10">
                  <c:v>3476.435</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2479.62</c:v>
                </c:pt>
                <c:pt idx="1">
                  <c:v>94.86699999999973</c:v>
                </c:pt>
                <c:pt idx="2">
                  <c:v>98.49500000000035</c:v>
                </c:pt>
                <c:pt idx="3">
                  <c:v>102.26400000000012</c:v>
                </c:pt>
                <c:pt idx="4">
                  <c:v>106.17599999999948</c:v>
                </c:pt>
                <c:pt idx="5">
                  <c:v>110.23900000000049</c:v>
                </c:pt>
                <c:pt idx="6">
                  <c:v>114.45600000000013</c:v>
                </c:pt>
                <c:pt idx="7">
                  <c:v>118.83500000000004</c:v>
                </c:pt>
                <c:pt idx="8">
                  <c:v>123.38099999999986</c:v>
                </c:pt>
                <c:pt idx="9">
                  <c:v>128.10199999999986</c:v>
                </c:pt>
                <c:pt idx="10">
                  <c:v>133.00199999999995</c:v>
                </c:pt>
                <c:pt idx="11">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68.93577981651376</c:v>
                </c:pt>
                <c:pt idx="1">
                  <c:v>22.748807339449538</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31.064220183486242</c:v>
                </c:pt>
                <c:pt idx="1">
                  <c:v>77.25119266055046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9EC6DE"/>
              </a:solidFill>
            </c:spPr>
          </c:dPt>
          <c:dPt>
            <c:idx val="7"/>
            <c:spPr>
              <a:solidFill>
                <a:srgbClr val="0E72AE"/>
              </a:solidFill>
            </c:spPr>
          </c:dPt>
          <c:dLbls>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      </c:v>
                </c:pt>
                <c:pt idx="6">
                  <c:v>Savoury muffins</c:v>
                </c:pt>
                <c:pt idx="7">
                  <c:v>Sweet muffins</c:v>
                </c:pt>
              </c:strCache>
            </c:strRef>
          </c:cat>
          <c:val>
            <c:numRef>
              <c:numCache>
                <c:formatCode>General</c:formatCode>
                <c:ptCount val="8"/>
                <c:pt idx="6">
                  <c:v>1128.777</c:v>
                </c:pt>
                <c:pt idx="7">
                  <c:v>1350.843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10.12962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9DABB6"/>
              </a:solidFill>
            </c:spPr>
          </c:dPt>
          <c:dPt>
            <c:idx val="7"/>
            <c:spPr>
              <a:solidFill>
                <a:srgbClr val="0B2E4A"/>
              </a:solidFill>
            </c:spPr>
          </c:dPt>
          <c:dLbls>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      </c:v>
                </c:pt>
                <c:pt idx="6">
                  <c:v>Savoury Muffins Flavo…</c:v>
                </c:pt>
                <c:pt idx="7">
                  <c:v>Sweet Muffins Flavours</c:v>
                </c:pt>
              </c:strCache>
            </c:strRef>
          </c:cat>
          <c:val>
            <c:numRef>
              <c:numCache>
                <c:formatCode>General</c:formatCode>
                <c:ptCount val="8"/>
                <c:pt idx="6">
                  <c:v>1023.264</c:v>
                </c:pt>
                <c:pt idx="7">
                  <c:v>1456.356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51.51704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C5B1E6"/>
              </a:solidFill>
            </c:spPr>
          </c:dPt>
          <c:dPt>
            <c:idx val="1"/>
            <c:spPr>
              <a:solidFill>
                <a:srgbClr val="B9A0E1"/>
              </a:solidFill>
            </c:spPr>
          </c:dPt>
          <c:dPt>
            <c:idx val="2"/>
            <c:spPr>
              <a:solidFill>
                <a:srgbClr val="AC8FDC"/>
              </a:solidFill>
            </c:spPr>
          </c:dPt>
          <c:dPt>
            <c:idx val="3"/>
            <c:spPr>
              <a:solidFill>
                <a:srgbClr val="A07ED6"/>
              </a:solidFill>
            </c:spPr>
          </c:dPt>
          <c:dPt>
            <c:idx val="4"/>
            <c:spPr>
              <a:solidFill>
                <a:srgbClr val="946ED1"/>
              </a:solidFill>
            </c:spPr>
          </c:dPt>
          <c:dPt>
            <c:idx val="5"/>
            <c:spPr>
              <a:solidFill>
                <a:srgbClr val="875DCC"/>
              </a:solidFill>
            </c:spPr>
          </c:dPt>
          <c:dPt>
            <c:idx val="6"/>
            <c:spPr>
              <a:solidFill>
                <a:srgbClr val="7B4CC7"/>
              </a:solidFill>
            </c:spPr>
          </c:dPt>
          <c:dPt>
            <c:idx val="7"/>
            <c:spPr>
              <a:solidFill>
                <a:srgbClr val="6F3CC2"/>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Almond and other nut…</c:v>
                </c:pt>
                <c:pt idx="1">
                  <c:v>Millet-based</c:v>
                </c:pt>
                <c:pt idx="2">
                  <c:v>Multigrain and blende…</c:v>
                </c:pt>
                <c:pt idx="3">
                  <c:v>Other single-flour ba…</c:v>
                </c:pt>
                <c:pt idx="4">
                  <c:v>Corn-based</c:v>
                </c:pt>
                <c:pt idx="5">
                  <c:v>Rice-based</c:v>
                </c:pt>
                <c:pt idx="6">
                  <c:v>Wheat-based</c:v>
                </c:pt>
                <c:pt idx="7">
                  <c:v>Oat-based</c:v>
                </c:pt>
              </c:strCache>
            </c:strRef>
          </c:cat>
          <c:val>
            <c:numRef>
              <c:numCache>
                <c:formatCode>General</c:formatCode>
                <c:ptCount val="8"/>
                <c:pt idx="0">
                  <c:v>82.645</c:v>
                </c:pt>
                <c:pt idx="1">
                  <c:v>170.703</c:v>
                </c:pt>
                <c:pt idx="2">
                  <c:v>192.052</c:v>
                </c:pt>
                <c:pt idx="3">
                  <c:v>320.454</c:v>
                </c:pt>
                <c:pt idx="4">
                  <c:v>351.552</c:v>
                </c:pt>
                <c:pt idx="5">
                  <c:v>395.679</c:v>
                </c:pt>
                <c:pt idx="6">
                  <c:v>433.775</c:v>
                </c:pt>
                <c:pt idx="7">
                  <c:v>532.76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13.898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DABAA0"/>
              </a:solidFill>
            </c:spPr>
          </c:dPt>
          <c:dPt>
            <c:idx val="5"/>
            <c:spPr>
              <a:solidFill>
                <a:srgbClr val="C79771"/>
              </a:solidFill>
            </c:spPr>
          </c:dPt>
          <c:dPt>
            <c:idx val="6"/>
            <c:spPr>
              <a:solidFill>
                <a:srgbClr val="B57542"/>
              </a:solidFill>
            </c:spPr>
          </c:dPt>
          <c:dPt>
            <c:idx val="7"/>
            <c:spPr>
              <a:solidFill>
                <a:srgbClr val="A35313"/>
              </a:solidFill>
            </c:spPr>
          </c:dPt>
          <c:dLbls>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Vegan</c:v>
                </c:pt>
                <c:pt idx="5">
                  <c:v>Conventional</c:v>
                </c:pt>
                <c:pt idx="6">
                  <c:v>and vegan</c:v>
                </c:pt>
                <c:pt idx="7">
                  <c:v>(base)</c:v>
                </c:pt>
              </c:strCache>
            </c:strRef>
          </c:cat>
          <c:val>
            <c:numRef>
              <c:numCache>
                <c:formatCode>General</c:formatCode>
                <c:ptCount val="8"/>
                <c:pt idx="4">
                  <c:v>182.44</c:v>
                </c:pt>
                <c:pt idx="5">
                  <c:v>416.113</c:v>
                </c:pt>
                <c:pt idx="6">
                  <c:v>764.555</c:v>
                </c:pt>
                <c:pt idx="7">
                  <c:v>1116.512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96.1260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dLbls>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Fibre-enriched</c:v>
                </c:pt>
                <c:pt idx="2">
                  <c:v>No-added-sugar</c:v>
                </c:pt>
                <c:pt idx="3">
                  <c:v>Reduced-fat</c:v>
                </c:pt>
                <c:pt idx="4">
                  <c:v>Other nutrition-focus…</c:v>
                </c:pt>
                <c:pt idx="5">
                  <c:v>Reduced-sugar</c:v>
                </c:pt>
                <c:pt idx="6">
                  <c:v>Standard / indulgent</c:v>
                </c:pt>
                <c:pt idx="7">
                  <c:v>Protein-enriched</c:v>
                </c:pt>
              </c:strCache>
            </c:strRef>
          </c:cat>
          <c:val>
            <c:numRef>
              <c:numCache>
                <c:formatCode>General</c:formatCode>
                <c:ptCount val="8"/>
                <c:pt idx="1">
                  <c:v>71.611</c:v>
                </c:pt>
                <c:pt idx="2">
                  <c:v>204.547</c:v>
                </c:pt>
                <c:pt idx="3">
                  <c:v>345.455</c:v>
                </c:pt>
                <c:pt idx="4">
                  <c:v>379.075</c:v>
                </c:pt>
                <c:pt idx="5">
                  <c:v>439.16</c:v>
                </c:pt>
                <c:pt idx="6">
                  <c:v>446.073</c:v>
                </c:pt>
                <c:pt idx="7">
                  <c:v>593.699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95.556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E59999"/>
              </a:solidFill>
            </c:spPr>
          </c:dPt>
          <c:dPt>
            <c:idx val="6"/>
            <c:spPr>
              <a:solidFill>
                <a:srgbClr val="D24C4C"/>
              </a:solidFill>
            </c:spPr>
          </c:dPt>
          <c:dPt>
            <c:idx val="7"/>
            <c:spPr>
              <a:solidFill>
                <a:srgbClr val="C00000"/>
              </a:solidFill>
            </c:spPr>
          </c:dPt>
          <c:dLbls>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Conventional / non-or…</c:v>
                </c:pt>
                <c:pt idx="6">
                  <c:v>Organic-certified</c:v>
                </c:pt>
                <c:pt idx="7">
                  <c:v>Additional claim mapp…</c:v>
                </c:pt>
              </c:strCache>
            </c:strRef>
          </c:cat>
          <c:val>
            <c:numRef>
              <c:numCache>
                <c:formatCode>General</c:formatCode>
                <c:ptCount val="8"/>
                <c:pt idx="5">
                  <c:v>44.658</c:v>
                </c:pt>
                <c:pt idx="6">
                  <c:v>381.398</c:v>
                </c:pt>
                <c:pt idx="7">
                  <c:v>2053.564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751.7757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C4C9CF"/>
              </a:solidFill>
            </c:spPr>
          </c:dPt>
          <c:dPt>
            <c:idx val="7"/>
            <c:spPr>
              <a:solidFill>
                <a:srgbClr val="6C7A89"/>
              </a:solidFill>
            </c:spPr>
          </c:dPt>
          <c:dLbls>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      </c:v>
                </c:pt>
                <c:pt idx="6">
                  <c:v>Unfilled muffins</c:v>
                </c:pt>
                <c:pt idx="7">
                  <c:v>Filled muffins</c:v>
                </c:pt>
              </c:strCache>
            </c:strRef>
          </c:cat>
          <c:val>
            <c:numRef>
              <c:numCache>
                <c:formatCode>General</c:formatCode>
                <c:ptCount val="8"/>
                <c:pt idx="6">
                  <c:v>901.825</c:v>
                </c:pt>
                <c:pt idx="7">
                  <c:v>1577.795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14.245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9EC6DE"/>
              </a:solidFill>
            </c:spPr>
          </c:dPt>
          <c:dPt>
            <c:idx val="3"/>
            <c:spPr>
              <a:solidFill>
                <a:srgbClr val="81B5D4"/>
              </a:solidFill>
            </c:spPr>
          </c:dPt>
          <c:dPt>
            <c:idx val="4"/>
            <c:spPr>
              <a:solidFill>
                <a:srgbClr val="64A4CB"/>
              </a:solidFill>
            </c:spPr>
          </c:dPt>
          <c:dPt>
            <c:idx val="5"/>
            <c:spPr>
              <a:solidFill>
                <a:srgbClr val="4793C1"/>
              </a:solidFill>
            </c:spPr>
          </c:dPt>
          <c:dPt>
            <c:idx val="6"/>
            <c:spPr>
              <a:solidFill>
                <a:srgbClr val="2A82B7"/>
              </a:solidFill>
            </c:spPr>
          </c:dPt>
          <c:dPt>
            <c:idx val="7"/>
            <c:spPr>
              <a:solidFill>
                <a:srgbClr val="0E72AE"/>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Crumb / streusel-topp…</c:v>
                </c:pt>
                <c:pt idx="3">
                  <c:v>Other toppings</c:v>
                </c:pt>
                <c:pt idx="4">
                  <c:v>Untopped</c:v>
                </c:pt>
                <c:pt idx="5">
                  <c:v>Sugar-topped</c:v>
                </c:pt>
                <c:pt idx="6">
                  <c:v>Nut and seed-topped</c:v>
                </c:pt>
                <c:pt idx="7">
                  <c:v>Glazed / drizzled</c:v>
                </c:pt>
              </c:strCache>
            </c:strRef>
          </c:cat>
          <c:val>
            <c:numRef>
              <c:numCache>
                <c:formatCode>General</c:formatCode>
                <c:ptCount val="8"/>
                <c:pt idx="2">
                  <c:v>182.667</c:v>
                </c:pt>
                <c:pt idx="3">
                  <c:v>214.067</c:v>
                </c:pt>
                <c:pt idx="4">
                  <c:v>228.007</c:v>
                </c:pt>
                <c:pt idx="5">
                  <c:v>318.565</c:v>
                </c:pt>
                <c:pt idx="6">
                  <c:v>747.831</c:v>
                </c:pt>
                <c:pt idx="7">
                  <c:v>788.483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56.567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9DABB6"/>
              </a:solidFill>
            </c:spPr>
          </c:dPt>
          <c:dPt>
            <c:idx val="5"/>
            <c:spPr>
              <a:solidFill>
                <a:srgbClr val="6C8192"/>
              </a:solidFill>
            </c:spPr>
          </c:dPt>
          <c:dPt>
            <c:idx val="6"/>
            <c:spPr>
              <a:solidFill>
                <a:srgbClr val="3B576E"/>
              </a:solidFill>
            </c:spPr>
          </c:dPt>
          <c:dPt>
            <c:idx val="7"/>
            <c:spPr>
              <a:solidFill>
                <a:srgbClr val="0B2E4A"/>
              </a:solidFill>
            </c:spPr>
          </c:dPt>
          <c:dLbls>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Mini / bite-sized - b…</c:v>
                </c:pt>
                <c:pt idx="5">
                  <c:v>Large / jumbog…</c:v>
                </c:pt>
                <c:pt idx="6">
                  <c:v>Smallg to below…</c:v>
                </c:pt>
                <c:pt idx="7">
                  <c:v>Standardg to be…</c:v>
                </c:pt>
              </c:strCache>
            </c:strRef>
          </c:cat>
          <c:val>
            <c:numRef>
              <c:numCache>
                <c:formatCode>General</c:formatCode>
                <c:ptCount val="8"/>
                <c:pt idx="4">
                  <c:v>109.1</c:v>
                </c:pt>
                <c:pt idx="5">
                  <c:v>553.93</c:v>
                </c:pt>
                <c:pt idx="6">
                  <c:v>751.29</c:v>
                </c:pt>
                <c:pt idx="7">
                  <c:v>1065.3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27.5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dLbls>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Ambient</c:v>
                </c:pt>
                <c:pt idx="6">
                  <c:v>Chilled</c:v>
                </c:pt>
                <c:pt idx="7">
                  <c:v>Frozen</c:v>
                </c:pt>
              </c:strCache>
            </c:strRef>
          </c:cat>
          <c:val>
            <c:numRef>
              <c:numCache>
                <c:formatCode>General</c:formatCode>
                <c:ptCount val="8"/>
                <c:pt idx="5">
                  <c:v>247.371</c:v>
                </c:pt>
                <c:pt idx="6">
                  <c:v>794.599</c:v>
                </c:pt>
                <c:pt idx="7">
                  <c:v>1437.65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26.45100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DABAA0"/>
              </a:solidFill>
            </c:spPr>
          </c:dPt>
          <c:dPt>
            <c:idx val="5"/>
            <c:spPr>
              <a:solidFill>
                <a:srgbClr val="C79771"/>
              </a:solidFill>
            </c:spPr>
          </c:dPt>
          <c:dPt>
            <c:idx val="6"/>
            <c:spPr>
              <a:solidFill>
                <a:srgbClr val="B57542"/>
              </a:solidFill>
            </c:spPr>
          </c:dPt>
          <c:dPt>
            <c:idx val="7"/>
            <c:spPr>
              <a:solidFill>
                <a:srgbClr val="A35313"/>
              </a:solidFill>
            </c:spPr>
          </c:dPt>
          <c:dLbls>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More than 90 days</c:v>
                </c:pt>
                <c:pt idx="5">
                  <c:v>31-90 days</c:v>
                </c:pt>
                <c:pt idx="6">
                  <c:v>8-30 days</c:v>
                </c:pt>
                <c:pt idx="7">
                  <c:v>Up to 7 days</c:v>
                </c:pt>
              </c:strCache>
            </c:strRef>
          </c:cat>
          <c:val>
            <c:numRef>
              <c:numCache>
                <c:formatCode>General</c:formatCode>
                <c:ptCount val="8"/>
                <c:pt idx="4">
                  <c:v>314.013</c:v>
                </c:pt>
                <c:pt idx="5">
                  <c:v>322.06</c:v>
                </c:pt>
                <c:pt idx="6">
                  <c:v>487.247</c:v>
                </c:pt>
                <c:pt idx="7">
                  <c:v>1356.3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17.44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DCC599"/>
              </a:solidFill>
            </c:spPr>
          </c:dPt>
          <c:dPt>
            <c:idx val="5"/>
            <c:spPr>
              <a:solidFill>
                <a:srgbClr val="CAA865"/>
              </a:solidFill>
            </c:spPr>
          </c:dPt>
          <c:dPt>
            <c:idx val="6"/>
            <c:spPr>
              <a:solidFill>
                <a:srgbClr val="B98B32"/>
              </a:solidFill>
            </c:spPr>
          </c:dPt>
          <c:dPt>
            <c:idx val="7"/>
            <c:spPr>
              <a:solidFill>
                <a:srgbClr val="A86F00"/>
              </a:solidFill>
            </c:spPr>
          </c:dPt>
          <c:dLbls>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Other packaging forma…</c:v>
                </c:pt>
                <c:pt idx="5">
                  <c:v>Flexible packs</c:v>
                </c:pt>
                <c:pt idx="6">
                  <c:v>Paperboard packs</c:v>
                </c:pt>
                <c:pt idx="7">
                  <c:v>Rigid plastic packs</c:v>
                </c:pt>
              </c:strCache>
            </c:strRef>
          </c:cat>
          <c:val>
            <c:numRef>
              <c:numCache>
                <c:formatCode>General</c:formatCode>
                <c:ptCount val="8"/>
                <c:pt idx="4">
                  <c:v>109.09</c:v>
                </c:pt>
                <c:pt idx="5">
                  <c:v>286.822</c:v>
                </c:pt>
                <c:pt idx="6">
                  <c:v>845.916</c:v>
                </c:pt>
                <c:pt idx="7">
                  <c:v>1237.792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58.6412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E59999"/>
              </a:solidFill>
            </c:spPr>
          </c:dPt>
          <c:dPt>
            <c:idx val="6"/>
            <c:spPr>
              <a:solidFill>
                <a:srgbClr val="D24C4C"/>
              </a:solidFill>
            </c:spPr>
          </c:dPt>
          <c:dPt>
            <c:idx val="7"/>
            <c:spPr>
              <a:solidFill>
                <a:srgbClr val="C00000"/>
              </a:solidFill>
            </c:spPr>
          </c:dPt>
          <c:dLbls>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Bulk foodservice packs</c:v>
                </c:pt>
                <c:pt idx="6">
                  <c:v>Single-muffin packs</c:v>
                </c:pt>
                <c:pt idx="7">
                  <c:v>Multipacks</c:v>
                </c:pt>
              </c:strCache>
            </c:strRef>
          </c:cat>
          <c:val>
            <c:numRef>
              <c:numCache>
                <c:formatCode>General</c:formatCode>
                <c:ptCount val="8"/>
                <c:pt idx="5">
                  <c:v>387.777</c:v>
                </c:pt>
                <c:pt idx="6">
                  <c:v>787.058</c:v>
                </c:pt>
                <c:pt idx="7">
                  <c:v>1304.785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748.41190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C4C9CF"/>
              </a:solidFill>
            </c:spPr>
          </c:dPt>
          <c:dPt>
            <c:idx val="7"/>
            <c:spPr>
              <a:solidFill>
                <a:srgbClr val="6C7A89"/>
              </a:solidFill>
            </c:spPr>
          </c:dPt>
          <c:dLbls>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      </c:v>
                </c:pt>
                <c:pt idx="6">
                  <c:v>Shared pack without i…</c:v>
                </c:pt>
                <c:pt idx="7">
                  <c:v>Individually wrapped…</c:v>
                </c:pt>
              </c:strCache>
            </c:strRef>
          </c:cat>
          <c:val>
            <c:numRef>
              <c:numCache>
                <c:formatCode>General</c:formatCode>
                <c:ptCount val="8"/>
                <c:pt idx="6">
                  <c:v>1075.221</c:v>
                </c:pt>
                <c:pt idx="7">
                  <c:v>1404.399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81.8946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9EC6DE"/>
              </a:solidFill>
            </c:spPr>
          </c:dPt>
          <c:dPt>
            <c:idx val="5"/>
            <c:spPr>
              <a:solidFill>
                <a:srgbClr val="6EAACE"/>
              </a:solidFill>
            </c:spPr>
          </c:dPt>
          <c:dPt>
            <c:idx val="6"/>
            <c:spPr>
              <a:solidFill>
                <a:srgbClr val="3E8EBE"/>
              </a:solidFill>
            </c:spPr>
          </c:dPt>
          <c:dPt>
            <c:idx val="7"/>
            <c:spPr>
              <a:solidFill>
                <a:srgbClr val="0E72AE"/>
              </a:solidFill>
            </c:spPr>
          </c:dPt>
          <c:dLbls>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Super-premium / speci…</c:v>
                </c:pt>
                <c:pt idx="5">
                  <c:v>Economy / value</c:v>
                </c:pt>
                <c:pt idx="6">
                  <c:v>Mid-range</c:v>
                </c:pt>
                <c:pt idx="7">
                  <c:v>Premium</c:v>
                </c:pt>
              </c:strCache>
            </c:strRef>
          </c:cat>
          <c:val>
            <c:numRef>
              <c:numCache>
                <c:formatCode>General</c:formatCode>
                <c:ptCount val="8"/>
                <c:pt idx="4">
                  <c:v>357.083</c:v>
                </c:pt>
                <c:pt idx="5">
                  <c:v>564.426</c:v>
                </c:pt>
                <c:pt idx="6">
                  <c:v>618.212</c:v>
                </c:pt>
                <c:pt idx="7">
                  <c:v>939.899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59.464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9DABB6"/>
              </a:solidFill>
            </c:spPr>
          </c:dPt>
          <c:dPt>
            <c:idx val="6"/>
            <c:spPr>
              <a:solidFill>
                <a:srgbClr val="546C80"/>
              </a:solidFill>
            </c:spPr>
          </c:dPt>
          <c:dPt>
            <c:idx val="7"/>
            <c:spPr>
              <a:solidFill>
                <a:srgbClr val="0B2E4A"/>
              </a:solidFill>
            </c:spPr>
          </c:dPt>
          <c:dLbls>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Foodservice / operato…</c:v>
                </c:pt>
                <c:pt idx="6">
                  <c:v>Manufacturer brands</c:v>
                </c:pt>
                <c:pt idx="7">
                  <c:v>Retailer private labe…</c:v>
                </c:pt>
              </c:strCache>
            </c:strRef>
          </c:cat>
          <c:val>
            <c:numRef>
              <c:numCache>
                <c:formatCode>General</c:formatCode>
                <c:ptCount val="8"/>
                <c:pt idx="5">
                  <c:v>459.926</c:v>
                </c:pt>
                <c:pt idx="6">
                  <c:v>965.595</c:v>
                </c:pt>
                <c:pt idx="7">
                  <c:v>1054.0990000000002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12.49266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dLbls>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8"/>
                <c:pt idx="0">
                  <c:v> </c:v>
                </c:pt>
                <c:pt idx="1">
                  <c:v>  </c:v>
                </c:pt>
                <c:pt idx="2">
                  <c:v>   </c:v>
                </c:pt>
                <c:pt idx="3">
                  <c:v>    </c:v>
                </c:pt>
                <c:pt idx="4">
                  <c:v>     </c:v>
                </c:pt>
                <c:pt idx="5">
                  <c:v>Vending</c:v>
                </c:pt>
                <c:pt idx="6">
                  <c:v>Foodservice and insti…</c:v>
                </c:pt>
                <c:pt idx="7">
                  <c:v>Retail</c:v>
                </c:pt>
              </c:strCache>
            </c:strRef>
          </c:cat>
          <c:val>
            <c:numRef>
              <c:numCache>
                <c:formatCode>General</c:formatCode>
                <c:ptCount val="8"/>
                <c:pt idx="5">
                  <c:v>106.428</c:v>
                </c:pt>
                <c:pt idx="6">
                  <c:v>827.254</c:v>
                </c:pt>
                <c:pt idx="7">
                  <c:v>1545.938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71.556920000000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cat>
            <c:strRef>
              <c:strCache>
                <c:ptCount val="8"/>
                <c:pt idx="0">
                  <c:v> </c:v>
                </c:pt>
                <c:pt idx="1">
                  <c:v>  </c:v>
                </c:pt>
                <c:pt idx="2">
                  <c:v>   </c:v>
                </c:pt>
                <c:pt idx="3">
                  <c:v>    </c:v>
                </c:pt>
                <c:pt idx="4">
                  <c:v>     </c:v>
                </c:pt>
                <c:pt idx="5">
                  <c:v>      </c:v>
                </c:pt>
                <c:pt idx="6">
                  <c:v>       </c:v>
                </c:pt>
                <c:pt idx="7">
                  <c:v>        </c:v>
                </c:pt>
              </c:strCache>
            </c:strRef>
          </c:cat>
          <c:val>
            <c:numRef>
              <c:numCache>
                <c:formatCode>General</c:formatCode>
                <c:ptCount val="8"/>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cat>
            <c:strRef>
              <c:strCache>
                <c:ptCount val="8"/>
                <c:pt idx="0">
                  <c:v> </c:v>
                </c:pt>
                <c:pt idx="1">
                  <c:v>  </c:v>
                </c:pt>
                <c:pt idx="2">
                  <c:v>   </c:v>
                </c:pt>
                <c:pt idx="3">
                  <c:v>    </c:v>
                </c:pt>
                <c:pt idx="4">
                  <c:v>     </c:v>
                </c:pt>
                <c:pt idx="5">
                  <c:v>      </c:v>
                </c:pt>
                <c:pt idx="6">
                  <c:v>       </c:v>
                </c:pt>
                <c:pt idx="7">
                  <c:v>        </c:v>
                </c:pt>
              </c:strCache>
            </c:strRef>
          </c:cat>
          <c:val>
            <c:numRef>
              <c:numCache>
                <c:formatCode>General</c:formatCode>
                <c:ptCount val="8"/>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cat>
            <c:strRef>
              <c:strCache>
                <c:ptCount val="8"/>
                <c:pt idx="0">
                  <c:v> </c:v>
                </c:pt>
                <c:pt idx="1">
                  <c:v>  </c:v>
                </c:pt>
                <c:pt idx="2">
                  <c:v>   </c:v>
                </c:pt>
                <c:pt idx="3">
                  <c:v>    </c:v>
                </c:pt>
                <c:pt idx="4">
                  <c:v>     </c:v>
                </c:pt>
                <c:pt idx="5">
                  <c:v>      </c:v>
                </c:pt>
                <c:pt idx="6">
                  <c:v>       </c:v>
                </c:pt>
                <c:pt idx="7">
                  <c:v>        </c:v>
                </c:pt>
              </c:strCache>
            </c:strRef>
          </c:cat>
          <c:val>
            <c:numRef>
              <c:numCache>
                <c:formatCode>General</c:formatCode>
                <c:ptCount val="8"/>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cat>
            <c:strRef>
              <c:strCache>
                <c:ptCount val="8"/>
                <c:pt idx="0">
                  <c:v> </c:v>
                </c:pt>
                <c:pt idx="1">
                  <c:v>  </c:v>
                </c:pt>
                <c:pt idx="2">
                  <c:v>   </c:v>
                </c:pt>
                <c:pt idx="3">
                  <c:v>    </c:v>
                </c:pt>
                <c:pt idx="4">
                  <c:v>     </c:v>
                </c:pt>
                <c:pt idx="5">
                  <c:v>      </c:v>
                </c:pt>
                <c:pt idx="6">
                  <c:v>       </c:v>
                </c:pt>
                <c:pt idx="7">
                  <c:v>        </c:v>
                </c:pt>
              </c:strCache>
            </c:strRef>
          </c:cat>
          <c:val>
            <c:numRef>
              <c:numCache>
                <c:formatCode>General</c:formatCode>
                <c:ptCount val="8"/>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Sweet muffins</c:v>
                </c:pt>
                <c:pt idx="2">
                  <c:v>Savoury muffins</c:v>
                </c:pt>
                <c:pt idx="3">
                  <c:v>2036 Total</c:v>
                </c:pt>
              </c:strCache>
            </c:strRef>
          </c:cat>
          <c:val>
            <c:numRef>
              <c:numCache>
                <c:formatCode>General</c:formatCode>
                <c:ptCount val="4"/>
                <c:pt idx="0">
                  <c:v>0.0</c:v>
                </c:pt>
                <c:pt idx="1">
                  <c:v>2479.62</c:v>
                </c:pt>
                <c:pt idx="2">
                  <c:v>3169.219</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Sweet muffins</c:v>
                </c:pt>
                <c:pt idx="2">
                  <c:v>Savoury muffins</c:v>
                </c:pt>
                <c:pt idx="3">
                  <c:v>2036 Total</c:v>
                </c:pt>
              </c:strCache>
            </c:strRef>
          </c:cat>
          <c:val>
            <c:numRef>
              <c:numCache>
                <c:formatCode>General</c:formatCode>
                <c:ptCount val="4"/>
                <c:pt idx="0">
                  <c:v>2479.62</c:v>
                </c:pt>
                <c:pt idx="1">
                  <c:v>689.5989999999999</c:v>
                </c:pt>
                <c:pt idx="2">
                  <c:v>440.21799999999985</c:v>
                </c:pt>
                <c:pt idx="3">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Sweet muffins</c:v>
                </c:pt>
                <c:pt idx="1">
                  <c:v>Savoury muffins</c:v>
                </c:pt>
                <c:pt idx="2">
                  <c:v>Total Absolute $ Opportunity</c:v>
                </c:pt>
              </c:strCache>
            </c:strRef>
          </c:cat>
          <c:val>
            <c:numRef>
              <c:numCache>
                <c:formatCode>General</c:formatCode>
                <c:ptCount val="3"/>
                <c:pt idx="0">
                  <c:v>0.0</c:v>
                </c:pt>
                <c:pt idx="1">
                  <c:v>689.5989999999999</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Sweet muffins</c:v>
                </c:pt>
                <c:pt idx="1">
                  <c:v>Savoury muffins</c:v>
                </c:pt>
                <c:pt idx="2">
                  <c:v>Total Absolute $ Opportunity</c:v>
                </c:pt>
              </c:strCache>
            </c:strRef>
          </c:cat>
          <c:val>
            <c:numRef>
              <c:numCache>
                <c:formatCode>General</c:formatCode>
                <c:ptCount val="3"/>
                <c:pt idx="0">
                  <c:v>689.5989999999999</c:v>
                </c:pt>
                <c:pt idx="1">
                  <c:v>440.21799999999985</c:v>
                </c:pt>
                <c:pt idx="2">
                  <c:v>1129.8169999999998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Sweet Muffins Flavours</c:v>
                </c:pt>
                <c:pt idx="2">
                  <c:v>Savoury Muffins Flavours</c:v>
                </c:pt>
                <c:pt idx="3">
                  <c:v>2036 Total</c:v>
                </c:pt>
              </c:strCache>
            </c:strRef>
          </c:cat>
          <c:val>
            <c:numRef>
              <c:numCache>
                <c:formatCode>General</c:formatCode>
                <c:ptCount val="4"/>
                <c:pt idx="0">
                  <c:v>0.0</c:v>
                </c:pt>
                <c:pt idx="1">
                  <c:v>2479.62</c:v>
                </c:pt>
                <c:pt idx="2">
                  <c:v>3027.939</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Sweet Muffins Flavours</c:v>
                </c:pt>
                <c:pt idx="2">
                  <c:v>Savoury Muffins Flavours</c:v>
                </c:pt>
                <c:pt idx="3">
                  <c:v>2036 Total</c:v>
                </c:pt>
              </c:strCache>
            </c:strRef>
          </c:cat>
          <c:val>
            <c:numRef>
              <c:numCache>
                <c:formatCode>General</c:formatCode>
                <c:ptCount val="4"/>
                <c:pt idx="0">
                  <c:v>2479.62</c:v>
                </c:pt>
                <c:pt idx="1">
                  <c:v>548.319</c:v>
                </c:pt>
                <c:pt idx="2">
                  <c:v>581.4979999999999</c:v>
                </c:pt>
                <c:pt idx="3">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Sweet Muffins Flavours</c:v>
                </c:pt>
                <c:pt idx="1">
                  <c:v>Savoury Muffins Flavours</c:v>
                </c:pt>
                <c:pt idx="2">
                  <c:v>Total Absolute $ Opportunity</c:v>
                </c:pt>
              </c:strCache>
            </c:strRef>
          </c:cat>
          <c:val>
            <c:numRef>
              <c:numCache>
                <c:formatCode>General</c:formatCode>
                <c:ptCount val="3"/>
                <c:pt idx="0">
                  <c:v>0.0</c:v>
                </c:pt>
                <c:pt idx="1">
                  <c:v>548.319</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Sweet Muffins Flavours</c:v>
                </c:pt>
                <c:pt idx="1">
                  <c:v>Savoury Muffins Flavours</c:v>
                </c:pt>
                <c:pt idx="2">
                  <c:v>Total Absolute $ Opportunity</c:v>
                </c:pt>
              </c:strCache>
            </c:strRef>
          </c:cat>
          <c:val>
            <c:numRef>
              <c:numCache>
                <c:formatCode>General</c:formatCode>
                <c:ptCount val="3"/>
                <c:pt idx="0">
                  <c:v>548.319</c:v>
                </c:pt>
                <c:pt idx="1">
                  <c:v>581.4979999999999</c:v>
                </c:pt>
                <c:pt idx="2">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0"/>
                <c:pt idx="0">
                  <c:v>2026</c:v>
                </c:pt>
                <c:pt idx="1">
                  <c:v>Wheat-based</c:v>
                </c:pt>
                <c:pt idx="2">
                  <c:v>Oat-based</c:v>
                </c:pt>
                <c:pt idx="3">
                  <c:v>Rice-based</c:v>
                </c:pt>
                <c:pt idx="4">
                  <c:v>Corn-based</c:v>
                </c:pt>
                <c:pt idx="5">
                  <c:v>Millet-based</c:v>
                </c:pt>
                <c:pt idx="6">
                  <c:v>Almond and other nut flour-based</c:v>
                </c:pt>
                <c:pt idx="7">
                  <c:v>Other single-flour bases</c:v>
                </c:pt>
                <c:pt idx="8">
                  <c:v>Multigrain and blended flour bases</c:v>
                </c:pt>
                <c:pt idx="9">
                  <c:v>2036 Total</c:v>
                </c:pt>
              </c:strCache>
            </c:strRef>
          </c:cat>
          <c:val>
            <c:numRef>
              <c:numCache>
                <c:formatCode>General</c:formatCode>
                <c:ptCount val="10"/>
                <c:pt idx="0">
                  <c:v>0.0</c:v>
                </c:pt>
                <c:pt idx="1">
                  <c:v>2479.62</c:v>
                </c:pt>
                <c:pt idx="2">
                  <c:v>2678.8729999999996</c:v>
                </c:pt>
                <c:pt idx="3">
                  <c:v>3052.7169999999996</c:v>
                </c:pt>
                <c:pt idx="4">
                  <c:v>3155.0249999999996</c:v>
                </c:pt>
                <c:pt idx="5">
                  <c:v>3268.5299999999997</c:v>
                </c:pt>
                <c:pt idx="6">
                  <c:v>3388.647</c:v>
                </c:pt>
                <c:pt idx="7">
                  <c:v>3427.686</c:v>
                </c:pt>
                <c:pt idx="8">
                  <c:v>3601.043</c:v>
                </c:pt>
                <c:pt idx="9">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0"/>
                <c:pt idx="0">
                  <c:v>2026</c:v>
                </c:pt>
                <c:pt idx="1">
                  <c:v>Wheat-based</c:v>
                </c:pt>
                <c:pt idx="2">
                  <c:v>Oat-based</c:v>
                </c:pt>
                <c:pt idx="3">
                  <c:v>Rice-based</c:v>
                </c:pt>
                <c:pt idx="4">
                  <c:v>Corn-based</c:v>
                </c:pt>
                <c:pt idx="5">
                  <c:v>Millet-based</c:v>
                </c:pt>
                <c:pt idx="6">
                  <c:v>Almond and other nut flour-based</c:v>
                </c:pt>
                <c:pt idx="7">
                  <c:v>Other single-flour bases</c:v>
                </c:pt>
                <c:pt idx="8">
                  <c:v>Multigrain and blended flour bases</c:v>
                </c:pt>
                <c:pt idx="9">
                  <c:v>2036 Total</c:v>
                </c:pt>
              </c:strCache>
            </c:strRef>
          </c:cat>
          <c:val>
            <c:numRef>
              <c:numCache>
                <c:formatCode>General</c:formatCode>
                <c:ptCount val="10"/>
                <c:pt idx="0">
                  <c:v>2479.62</c:v>
                </c:pt>
                <c:pt idx="1">
                  <c:v>199.25299999999993</c:v>
                </c:pt>
                <c:pt idx="2">
                  <c:v>373.84400000000005</c:v>
                </c:pt>
                <c:pt idx="3">
                  <c:v>102.30800000000005</c:v>
                </c:pt>
                <c:pt idx="4">
                  <c:v>113.505</c:v>
                </c:pt>
                <c:pt idx="5">
                  <c:v>120.11699999999999</c:v>
                </c:pt>
                <c:pt idx="6">
                  <c:v>39.039</c:v>
                </c:pt>
                <c:pt idx="7">
                  <c:v>173.35699999999997</c:v>
                </c:pt>
                <c:pt idx="8">
                  <c:v>8.394000000000005</c:v>
                </c:pt>
                <c:pt idx="9">
                  <c:v>3609.4370000000004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9"/>
                <c:pt idx="0">
                  <c:v>Wheat-based</c:v>
                </c:pt>
                <c:pt idx="1">
                  <c:v>Oat-based</c:v>
                </c:pt>
                <c:pt idx="2">
                  <c:v>Rice-based</c:v>
                </c:pt>
                <c:pt idx="3">
                  <c:v>Corn-based</c:v>
                </c:pt>
                <c:pt idx="4">
                  <c:v>Millet-based</c:v>
                </c:pt>
                <c:pt idx="5">
                  <c:v>Almond and other nut flour-based</c:v>
                </c:pt>
                <c:pt idx="6">
                  <c:v>Other single-flour bases</c:v>
                </c:pt>
                <c:pt idx="7">
                  <c:v>Multigrain and blended flour bases</c:v>
                </c:pt>
                <c:pt idx="8">
                  <c:v>Total Absolute $ Opportunity</c:v>
                </c:pt>
              </c:strCache>
            </c:strRef>
          </c:cat>
          <c:val>
            <c:numRef>
              <c:numCache>
                <c:formatCode>General</c:formatCode>
                <c:ptCount val="9"/>
                <c:pt idx="0">
                  <c:v>0.0</c:v>
                </c:pt>
                <c:pt idx="1">
                  <c:v>199.25299999999993</c:v>
                </c:pt>
                <c:pt idx="2">
                  <c:v>573.097</c:v>
                </c:pt>
                <c:pt idx="3">
                  <c:v>675.405</c:v>
                </c:pt>
                <c:pt idx="4">
                  <c:v>788.91</c:v>
                </c:pt>
                <c:pt idx="5">
                  <c:v>909.0269999999999</c:v>
                </c:pt>
                <c:pt idx="6">
                  <c:v>948.0659999999999</c:v>
                </c:pt>
                <c:pt idx="7">
                  <c:v>1121.4229999999998</c:v>
                </c:pt>
                <c:pt idx="8">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9"/>
                <c:pt idx="0">
                  <c:v>Wheat-based</c:v>
                </c:pt>
                <c:pt idx="1">
                  <c:v>Oat-based</c:v>
                </c:pt>
                <c:pt idx="2">
                  <c:v>Rice-based</c:v>
                </c:pt>
                <c:pt idx="3">
                  <c:v>Corn-based</c:v>
                </c:pt>
                <c:pt idx="4">
                  <c:v>Millet-based</c:v>
                </c:pt>
                <c:pt idx="5">
                  <c:v>Almond and other nut flour-based</c:v>
                </c:pt>
                <c:pt idx="6">
                  <c:v>Other single-flour bases</c:v>
                </c:pt>
                <c:pt idx="7">
                  <c:v>Multigrain and blended flour bases</c:v>
                </c:pt>
                <c:pt idx="8">
                  <c:v>Total Absolute $ Opportunity</c:v>
                </c:pt>
              </c:strCache>
            </c:strRef>
          </c:cat>
          <c:val>
            <c:numRef>
              <c:numCache>
                <c:formatCode>General</c:formatCode>
                <c:ptCount val="9"/>
                <c:pt idx="0">
                  <c:v>199.25299999999993</c:v>
                </c:pt>
                <c:pt idx="1">
                  <c:v>373.84400000000005</c:v>
                </c:pt>
                <c:pt idx="2">
                  <c:v>102.30800000000005</c:v>
                </c:pt>
                <c:pt idx="3">
                  <c:v>113.505</c:v>
                </c:pt>
                <c:pt idx="4">
                  <c:v>120.11699999999999</c:v>
                </c:pt>
                <c:pt idx="5">
                  <c:v>39.039</c:v>
                </c:pt>
                <c:pt idx="6">
                  <c:v>173.35699999999997</c:v>
                </c:pt>
                <c:pt idx="7">
                  <c:v>8.394000000000005</c:v>
                </c:pt>
                <c:pt idx="8">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Conventional</c:v>
                </c:pt>
                <c:pt idx="2">
                  <c:v>Gluten-free</c:v>
                </c:pt>
                <c:pt idx="3">
                  <c:v>Vegan</c:v>
                </c:pt>
                <c:pt idx="4">
                  <c:v>Gluten-free and vegan</c:v>
                </c:pt>
                <c:pt idx="5">
                  <c:v>2036 Total</c:v>
                </c:pt>
              </c:strCache>
            </c:strRef>
          </c:cat>
          <c:val>
            <c:numRef>
              <c:numCache>
                <c:formatCode>General</c:formatCode>
                <c:ptCount val="6"/>
                <c:pt idx="0">
                  <c:v>0.0</c:v>
                </c:pt>
                <c:pt idx="1">
                  <c:v>2479.62</c:v>
                </c:pt>
                <c:pt idx="2">
                  <c:v>2739.9269999999997</c:v>
                </c:pt>
                <c:pt idx="3">
                  <c:v>3325.8009999999995</c:v>
                </c:pt>
                <c:pt idx="4">
                  <c:v>3346.3799999999997</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Conventional</c:v>
                </c:pt>
                <c:pt idx="2">
                  <c:v>Gluten-free</c:v>
                </c:pt>
                <c:pt idx="3">
                  <c:v>Vegan</c:v>
                </c:pt>
                <c:pt idx="4">
                  <c:v>Gluten-free and vegan</c:v>
                </c:pt>
                <c:pt idx="5">
                  <c:v>2036 Total</c:v>
                </c:pt>
              </c:strCache>
            </c:strRef>
          </c:cat>
          <c:val>
            <c:numRef>
              <c:numCache>
                <c:formatCode>General</c:formatCode>
                <c:ptCount val="6"/>
                <c:pt idx="0">
                  <c:v>2479.62</c:v>
                </c:pt>
                <c:pt idx="1">
                  <c:v>260.30699999999996</c:v>
                </c:pt>
                <c:pt idx="2">
                  <c:v>585.874</c:v>
                </c:pt>
                <c:pt idx="3">
                  <c:v>20.579000000000008</c:v>
                </c:pt>
                <c:pt idx="4">
                  <c:v>263.05700000000013</c:v>
                </c:pt>
                <c:pt idx="5">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Conventional</c:v>
                </c:pt>
                <c:pt idx="1">
                  <c:v>Gluten-free</c:v>
                </c:pt>
                <c:pt idx="2">
                  <c:v>Vegan</c:v>
                </c:pt>
                <c:pt idx="3">
                  <c:v>Gluten-free and vegan</c:v>
                </c:pt>
                <c:pt idx="4">
                  <c:v>Total Absolute $ Opportunity</c:v>
                </c:pt>
              </c:strCache>
            </c:strRef>
          </c:cat>
          <c:val>
            <c:numRef>
              <c:numCache>
                <c:formatCode>General</c:formatCode>
                <c:ptCount val="5"/>
                <c:pt idx="0">
                  <c:v>0.0</c:v>
                </c:pt>
                <c:pt idx="1">
                  <c:v>260.30699999999996</c:v>
                </c:pt>
                <c:pt idx="2">
                  <c:v>846.181</c:v>
                </c:pt>
                <c:pt idx="3">
                  <c:v>866.76</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Conventional</c:v>
                </c:pt>
                <c:pt idx="1">
                  <c:v>Gluten-free</c:v>
                </c:pt>
                <c:pt idx="2">
                  <c:v>Vegan</c:v>
                </c:pt>
                <c:pt idx="3">
                  <c:v>Gluten-free and vegan</c:v>
                </c:pt>
                <c:pt idx="4">
                  <c:v>Total Absolute $ Opportunity</c:v>
                </c:pt>
              </c:strCache>
            </c:strRef>
          </c:cat>
          <c:val>
            <c:numRef>
              <c:numCache>
                <c:formatCode>General</c:formatCode>
                <c:ptCount val="5"/>
                <c:pt idx="0">
                  <c:v>260.30699999999996</c:v>
                </c:pt>
                <c:pt idx="1">
                  <c:v>585.874</c:v>
                </c:pt>
                <c:pt idx="2">
                  <c:v>20.579000000000008</c:v>
                </c:pt>
                <c:pt idx="3">
                  <c:v>263.05700000000013</c:v>
                </c:pt>
                <c:pt idx="4">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9"/>
                <c:pt idx="0">
                  <c:v>2026</c:v>
                </c:pt>
                <c:pt idx="1">
                  <c:v>Standard / indulgent</c:v>
                </c:pt>
                <c:pt idx="2">
                  <c:v>Protein-enriched</c:v>
                </c:pt>
                <c:pt idx="3">
                  <c:v>Fibre-enriched</c:v>
                </c:pt>
                <c:pt idx="4">
                  <c:v>Reduced-sugar</c:v>
                </c:pt>
                <c:pt idx="5">
                  <c:v>No-added-sugar</c:v>
                </c:pt>
                <c:pt idx="6">
                  <c:v>Reduced-fat</c:v>
                </c:pt>
                <c:pt idx="7">
                  <c:v>Other nutrition-focused formulations</c:v>
                </c:pt>
                <c:pt idx="8">
                  <c:v>2036 Total</c:v>
                </c:pt>
              </c:strCache>
            </c:strRef>
          </c:cat>
          <c:val>
            <c:numRef>
              <c:numCache>
                <c:formatCode>General</c:formatCode>
                <c:ptCount val="9"/>
                <c:pt idx="0">
                  <c:v>0.0</c:v>
                </c:pt>
                <c:pt idx="1">
                  <c:v>2479.62</c:v>
                </c:pt>
                <c:pt idx="2">
                  <c:v>2655.573</c:v>
                </c:pt>
                <c:pt idx="3">
                  <c:v>3029.701</c:v>
                </c:pt>
                <c:pt idx="4">
                  <c:v>3088.167</c:v>
                </c:pt>
                <c:pt idx="5">
                  <c:v>3344.863</c:v>
                </c:pt>
                <c:pt idx="6">
                  <c:v>3418.546</c:v>
                </c:pt>
                <c:pt idx="7">
                  <c:v>3558.528</c:v>
                </c:pt>
                <c:pt idx="8">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9"/>
                <c:pt idx="0">
                  <c:v>2026</c:v>
                </c:pt>
                <c:pt idx="1">
                  <c:v>Standard / indulgent</c:v>
                </c:pt>
                <c:pt idx="2">
                  <c:v>Protein-enriched</c:v>
                </c:pt>
                <c:pt idx="3">
                  <c:v>Fibre-enriched</c:v>
                </c:pt>
                <c:pt idx="4">
                  <c:v>Reduced-sugar</c:v>
                </c:pt>
                <c:pt idx="5">
                  <c:v>No-added-sugar</c:v>
                </c:pt>
                <c:pt idx="6">
                  <c:v>Reduced-fat</c:v>
                </c:pt>
                <c:pt idx="7">
                  <c:v>Other nutrition-focused formulations</c:v>
                </c:pt>
                <c:pt idx="8">
                  <c:v>2036 Total</c:v>
                </c:pt>
              </c:strCache>
            </c:strRef>
          </c:cat>
          <c:val>
            <c:numRef>
              <c:numCache>
                <c:formatCode>General</c:formatCode>
                <c:ptCount val="9"/>
                <c:pt idx="0">
                  <c:v>2479.62</c:v>
                </c:pt>
                <c:pt idx="1">
                  <c:v>175.95299999999997</c:v>
                </c:pt>
                <c:pt idx="2">
                  <c:v>374.12800000000004</c:v>
                </c:pt>
                <c:pt idx="3">
                  <c:v>58.465999999999994</c:v>
                </c:pt>
                <c:pt idx="4">
                  <c:v>256.69599999999997</c:v>
                </c:pt>
                <c:pt idx="5">
                  <c:v>73.68300000000002</c:v>
                </c:pt>
                <c:pt idx="6">
                  <c:v>139.98200000000003</c:v>
                </c:pt>
                <c:pt idx="7">
                  <c:v>50.90899999999999</c:v>
                </c:pt>
                <c:pt idx="8">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8"/>
                <c:pt idx="0">
                  <c:v>Standard / indulgent</c:v>
                </c:pt>
                <c:pt idx="1">
                  <c:v>Protein-enriched</c:v>
                </c:pt>
                <c:pt idx="2">
                  <c:v>Fibre-enriched</c:v>
                </c:pt>
                <c:pt idx="3">
                  <c:v>Reduced-sugar</c:v>
                </c:pt>
                <c:pt idx="4">
                  <c:v>No-added-sugar</c:v>
                </c:pt>
                <c:pt idx="5">
                  <c:v>Reduced-fat</c:v>
                </c:pt>
                <c:pt idx="6">
                  <c:v>Other nutrition-focused formulations</c:v>
                </c:pt>
                <c:pt idx="7">
                  <c:v>Total Absolute $ Opportunity</c:v>
                </c:pt>
              </c:strCache>
            </c:strRef>
          </c:cat>
          <c:val>
            <c:numRef>
              <c:numCache>
                <c:formatCode>General</c:formatCode>
                <c:ptCount val="8"/>
                <c:pt idx="0">
                  <c:v>0.0</c:v>
                </c:pt>
                <c:pt idx="1">
                  <c:v>175.95299999999997</c:v>
                </c:pt>
                <c:pt idx="2">
                  <c:v>550.081</c:v>
                </c:pt>
                <c:pt idx="3">
                  <c:v>608.547</c:v>
                </c:pt>
                <c:pt idx="4">
                  <c:v>865.2429999999999</c:v>
                </c:pt>
                <c:pt idx="5">
                  <c:v>938.9259999999999</c:v>
                </c:pt>
                <c:pt idx="6">
                  <c:v>1078.908</c:v>
                </c:pt>
                <c:pt idx="7">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8"/>
                <c:pt idx="0">
                  <c:v>Standard / indulgent</c:v>
                </c:pt>
                <c:pt idx="1">
                  <c:v>Protein-enriched</c:v>
                </c:pt>
                <c:pt idx="2">
                  <c:v>Fibre-enriched</c:v>
                </c:pt>
                <c:pt idx="3">
                  <c:v>Reduced-sugar</c:v>
                </c:pt>
                <c:pt idx="4">
                  <c:v>No-added-sugar</c:v>
                </c:pt>
                <c:pt idx="5">
                  <c:v>Reduced-fat</c:v>
                </c:pt>
                <c:pt idx="6">
                  <c:v>Other nutrition-focused formulations</c:v>
                </c:pt>
                <c:pt idx="7">
                  <c:v>Total Absolute $ Opportunity</c:v>
                </c:pt>
              </c:strCache>
            </c:strRef>
          </c:cat>
          <c:val>
            <c:numRef>
              <c:numCache>
                <c:formatCode>General</c:formatCode>
                <c:ptCount val="8"/>
                <c:pt idx="0">
                  <c:v>175.95299999999997</c:v>
                </c:pt>
                <c:pt idx="1">
                  <c:v>374.12800000000004</c:v>
                </c:pt>
                <c:pt idx="2">
                  <c:v>58.465999999999994</c:v>
                </c:pt>
                <c:pt idx="3">
                  <c:v>256.69599999999997</c:v>
                </c:pt>
                <c:pt idx="4">
                  <c:v>73.68300000000002</c:v>
                </c:pt>
                <c:pt idx="5">
                  <c:v>139.98200000000003</c:v>
                </c:pt>
                <c:pt idx="6">
                  <c:v>50.90899999999999</c:v>
                </c:pt>
                <c:pt idx="7">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Organic-certified</c:v>
                </c:pt>
                <c:pt idx="2">
                  <c:v>Conventional / non-organic</c:v>
                </c:pt>
                <c:pt idx="3">
                  <c:v>Additional claim mapping</c:v>
                </c:pt>
                <c:pt idx="4">
                  <c:v>2036 Total</c:v>
                </c:pt>
              </c:strCache>
            </c:strRef>
          </c:cat>
          <c:val>
            <c:numRef>
              <c:numCache>
                <c:formatCode>General</c:formatCode>
                <c:ptCount val="5"/>
                <c:pt idx="0">
                  <c:v>0.0</c:v>
                </c:pt>
                <c:pt idx="1">
                  <c:v>2479.62</c:v>
                </c:pt>
                <c:pt idx="2">
                  <c:v>2568.31</c:v>
                </c:pt>
                <c:pt idx="3">
                  <c:v>2576.819</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Organic-certified</c:v>
                </c:pt>
                <c:pt idx="2">
                  <c:v>Conventional / non-organic</c:v>
                </c:pt>
                <c:pt idx="3">
                  <c:v>Additional claim mapping</c:v>
                </c:pt>
                <c:pt idx="4">
                  <c:v>2036 Total</c:v>
                </c:pt>
              </c:strCache>
            </c:strRef>
          </c:cat>
          <c:val>
            <c:numRef>
              <c:numCache>
                <c:formatCode>General</c:formatCode>
                <c:ptCount val="5"/>
                <c:pt idx="0">
                  <c:v>2479.62</c:v>
                </c:pt>
                <c:pt idx="1">
                  <c:v>88.69</c:v>
                </c:pt>
                <c:pt idx="2">
                  <c:v>8.509</c:v>
                </c:pt>
                <c:pt idx="3">
                  <c:v>1032.618</c:v>
                </c:pt>
                <c:pt idx="4">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Organic-certified</c:v>
                </c:pt>
                <c:pt idx="1">
                  <c:v>Conventional / non-organic</c:v>
                </c:pt>
                <c:pt idx="2">
                  <c:v>Additional claim mapping</c:v>
                </c:pt>
                <c:pt idx="3">
                  <c:v>Total Absolute $ Opportunity</c:v>
                </c:pt>
              </c:strCache>
            </c:strRef>
          </c:cat>
          <c:val>
            <c:numRef>
              <c:numCache>
                <c:formatCode>General</c:formatCode>
                <c:ptCount val="4"/>
                <c:pt idx="0">
                  <c:v>0.0</c:v>
                </c:pt>
                <c:pt idx="1">
                  <c:v>88.69</c:v>
                </c:pt>
                <c:pt idx="2">
                  <c:v>97.199</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Organic-certified</c:v>
                </c:pt>
                <c:pt idx="1">
                  <c:v>Conventional / non-organic</c:v>
                </c:pt>
                <c:pt idx="2">
                  <c:v>Additional claim mapping</c:v>
                </c:pt>
                <c:pt idx="3">
                  <c:v>Total Absolute $ Opportunity</c:v>
                </c:pt>
              </c:strCache>
            </c:strRef>
          </c:cat>
          <c:val>
            <c:numRef>
              <c:numCache>
                <c:formatCode>General</c:formatCode>
                <c:ptCount val="4"/>
                <c:pt idx="0">
                  <c:v>88.69</c:v>
                </c:pt>
                <c:pt idx="1">
                  <c:v>8.509</c:v>
                </c:pt>
                <c:pt idx="2">
                  <c:v>1032.618</c:v>
                </c:pt>
                <c:pt idx="3">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Unfilled muffins</c:v>
                </c:pt>
                <c:pt idx="2">
                  <c:v>Filled muffins</c:v>
                </c:pt>
                <c:pt idx="3">
                  <c:v>2036 Total</c:v>
                </c:pt>
              </c:strCache>
            </c:strRef>
          </c:cat>
          <c:val>
            <c:numRef>
              <c:numCache>
                <c:formatCode>General</c:formatCode>
                <c:ptCount val="4"/>
                <c:pt idx="0">
                  <c:v>0.0</c:v>
                </c:pt>
                <c:pt idx="1">
                  <c:v>2479.62</c:v>
                </c:pt>
                <c:pt idx="2">
                  <c:v>2887.674</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Unfilled muffins</c:v>
                </c:pt>
                <c:pt idx="2">
                  <c:v>Filled muffins</c:v>
                </c:pt>
                <c:pt idx="3">
                  <c:v>2036 Total</c:v>
                </c:pt>
              </c:strCache>
            </c:strRef>
          </c:cat>
          <c:val>
            <c:numRef>
              <c:numCache>
                <c:formatCode>General</c:formatCode>
                <c:ptCount val="4"/>
                <c:pt idx="0">
                  <c:v>2479.62</c:v>
                </c:pt>
                <c:pt idx="1">
                  <c:v>408.05399999999986</c:v>
                </c:pt>
                <c:pt idx="2">
                  <c:v>721.7629999999999</c:v>
                </c:pt>
                <c:pt idx="3">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Unfilled muffins</c:v>
                </c:pt>
                <c:pt idx="1">
                  <c:v>Filled muffins</c:v>
                </c:pt>
                <c:pt idx="2">
                  <c:v>Total Absolute $ Opportunity</c:v>
                </c:pt>
              </c:strCache>
            </c:strRef>
          </c:cat>
          <c:val>
            <c:numRef>
              <c:numCache>
                <c:formatCode>General</c:formatCode>
                <c:ptCount val="3"/>
                <c:pt idx="0">
                  <c:v>0.0</c:v>
                </c:pt>
                <c:pt idx="1">
                  <c:v>408.05399999999986</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Unfilled muffins</c:v>
                </c:pt>
                <c:pt idx="1">
                  <c:v>Filled muffins</c:v>
                </c:pt>
                <c:pt idx="2">
                  <c:v>Total Absolute $ Opportunity</c:v>
                </c:pt>
              </c:strCache>
            </c:strRef>
          </c:cat>
          <c:val>
            <c:numRef>
              <c:numCache>
                <c:formatCode>General</c:formatCode>
                <c:ptCount val="3"/>
                <c:pt idx="0">
                  <c:v>408.05399999999986</c:v>
                </c:pt>
                <c:pt idx="1">
                  <c:v>721.7629999999999</c:v>
                </c:pt>
                <c:pt idx="2">
                  <c:v>1129.8169999999998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8"/>
                <c:pt idx="0">
                  <c:v>2026</c:v>
                </c:pt>
                <c:pt idx="1">
                  <c:v>Untopped</c:v>
                </c:pt>
                <c:pt idx="2">
                  <c:v>Crumb / streusel-topped</c:v>
                </c:pt>
                <c:pt idx="3">
                  <c:v>Sugar-topped</c:v>
                </c:pt>
                <c:pt idx="4">
                  <c:v>Nut and seed-topped</c:v>
                </c:pt>
                <c:pt idx="5">
                  <c:v>Glazed / drizzled</c:v>
                </c:pt>
                <c:pt idx="6">
                  <c:v>Other toppings</c:v>
                </c:pt>
                <c:pt idx="7">
                  <c:v>2036 Total</c:v>
                </c:pt>
              </c:strCache>
            </c:strRef>
          </c:cat>
          <c:val>
            <c:numRef>
              <c:numCache>
                <c:formatCode>General</c:formatCode>
                <c:ptCount val="8"/>
                <c:pt idx="0">
                  <c:v>0.0</c:v>
                </c:pt>
                <c:pt idx="1">
                  <c:v>2479.62</c:v>
                </c:pt>
                <c:pt idx="2">
                  <c:v>2502.783</c:v>
                </c:pt>
                <c:pt idx="3">
                  <c:v>2528.6099999999997</c:v>
                </c:pt>
                <c:pt idx="4">
                  <c:v>2578.593</c:v>
                </c:pt>
                <c:pt idx="5">
                  <c:v>3073.0719999999997</c:v>
                </c:pt>
                <c:pt idx="6">
                  <c:v>3468.035</c:v>
                </c:pt>
                <c:pt idx="7">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8"/>
                <c:pt idx="0">
                  <c:v>2026</c:v>
                </c:pt>
                <c:pt idx="1">
                  <c:v>Untopped</c:v>
                </c:pt>
                <c:pt idx="2">
                  <c:v>Crumb / streusel-topped</c:v>
                </c:pt>
                <c:pt idx="3">
                  <c:v>Sugar-topped</c:v>
                </c:pt>
                <c:pt idx="4">
                  <c:v>Nut and seed-topped</c:v>
                </c:pt>
                <c:pt idx="5">
                  <c:v>Glazed / drizzled</c:v>
                </c:pt>
                <c:pt idx="6">
                  <c:v>Other toppings</c:v>
                </c:pt>
                <c:pt idx="7">
                  <c:v>2036 Total</c:v>
                </c:pt>
              </c:strCache>
            </c:strRef>
          </c:cat>
          <c:val>
            <c:numRef>
              <c:numCache>
                <c:formatCode>General</c:formatCode>
                <c:ptCount val="8"/>
                <c:pt idx="0">
                  <c:v>2479.62</c:v>
                </c:pt>
                <c:pt idx="1">
                  <c:v>23.162999999999982</c:v>
                </c:pt>
                <c:pt idx="2">
                  <c:v>25.826999999999998</c:v>
                </c:pt>
                <c:pt idx="3">
                  <c:v>49.983000000000004</c:v>
                </c:pt>
                <c:pt idx="4">
                  <c:v>494.4789999999999</c:v>
                </c:pt>
                <c:pt idx="5">
                  <c:v>394.96299999999997</c:v>
                </c:pt>
                <c:pt idx="6">
                  <c:v>141.402</c:v>
                </c:pt>
                <c:pt idx="7">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Untopped</c:v>
                </c:pt>
                <c:pt idx="1">
                  <c:v>Crumb / streusel-topped</c:v>
                </c:pt>
                <c:pt idx="2">
                  <c:v>Sugar-topped</c:v>
                </c:pt>
                <c:pt idx="3">
                  <c:v>Nut and seed-topped</c:v>
                </c:pt>
                <c:pt idx="4">
                  <c:v>Glazed / drizzled</c:v>
                </c:pt>
                <c:pt idx="5">
                  <c:v>Other toppings</c:v>
                </c:pt>
                <c:pt idx="6">
                  <c:v>Total Absolute $ Opportunity</c:v>
                </c:pt>
              </c:strCache>
            </c:strRef>
          </c:cat>
          <c:val>
            <c:numRef>
              <c:numCache>
                <c:formatCode>General</c:formatCode>
                <c:ptCount val="7"/>
                <c:pt idx="0">
                  <c:v>0.0</c:v>
                </c:pt>
                <c:pt idx="1">
                  <c:v>23.162999999999982</c:v>
                </c:pt>
                <c:pt idx="2">
                  <c:v>48.98999999999998</c:v>
                </c:pt>
                <c:pt idx="3">
                  <c:v>98.97299999999998</c:v>
                </c:pt>
                <c:pt idx="4">
                  <c:v>593.4519999999999</c:v>
                </c:pt>
                <c:pt idx="5">
                  <c:v>988.4149999999998</c:v>
                </c:pt>
                <c:pt idx="6">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Untopped</c:v>
                </c:pt>
                <c:pt idx="1">
                  <c:v>Crumb / streusel-topped</c:v>
                </c:pt>
                <c:pt idx="2">
                  <c:v>Sugar-topped</c:v>
                </c:pt>
                <c:pt idx="3">
                  <c:v>Nut and seed-topped</c:v>
                </c:pt>
                <c:pt idx="4">
                  <c:v>Glazed / drizzled</c:v>
                </c:pt>
                <c:pt idx="5">
                  <c:v>Other toppings</c:v>
                </c:pt>
                <c:pt idx="6">
                  <c:v>Total Absolute $ Opportunity</c:v>
                </c:pt>
              </c:strCache>
            </c:strRef>
          </c:cat>
          <c:val>
            <c:numRef>
              <c:numCache>
                <c:formatCode>General</c:formatCode>
                <c:ptCount val="7"/>
                <c:pt idx="0">
                  <c:v>23.162999999999982</c:v>
                </c:pt>
                <c:pt idx="1">
                  <c:v>25.826999999999998</c:v>
                </c:pt>
                <c:pt idx="2">
                  <c:v>49.983000000000004</c:v>
                </c:pt>
                <c:pt idx="3">
                  <c:v>494.4789999999999</c:v>
                </c:pt>
                <c:pt idx="4">
                  <c:v>394.96299999999997</c:v>
                </c:pt>
                <c:pt idx="5">
                  <c:v>141.402</c:v>
                </c:pt>
                <c:pt idx="6">
                  <c:v>1129.8169999999998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Mini / bite-sized - below 30 g</c:v>
                </c:pt>
                <c:pt idx="2">
                  <c:v>Smallg to below 60 g</c:v>
                </c:pt>
                <c:pt idx="3">
                  <c:v>Standardg to below 100 g</c:v>
                </c:pt>
                <c:pt idx="4">
                  <c:v>Large / jumbog and above</c:v>
                </c:pt>
                <c:pt idx="5">
                  <c:v>2036 Total</c:v>
                </c:pt>
              </c:strCache>
            </c:strRef>
          </c:cat>
          <c:val>
            <c:numRef>
              <c:numCache>
                <c:formatCode>General</c:formatCode>
                <c:ptCount val="6"/>
                <c:pt idx="0">
                  <c:v>0.0</c:v>
                </c:pt>
                <c:pt idx="1">
                  <c:v>2479.62</c:v>
                </c:pt>
                <c:pt idx="2">
                  <c:v>2559.0499999999997</c:v>
                </c:pt>
                <c:pt idx="3">
                  <c:v>2711.9619999999995</c:v>
                </c:pt>
                <c:pt idx="4">
                  <c:v>3208.6459999999997</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Mini / bite-sized - below 30 g</c:v>
                </c:pt>
                <c:pt idx="2">
                  <c:v>Smallg to below 60 g</c:v>
                </c:pt>
                <c:pt idx="3">
                  <c:v>Standardg to below 100 g</c:v>
                </c:pt>
                <c:pt idx="4">
                  <c:v>Large / jumbog and above</c:v>
                </c:pt>
                <c:pt idx="5">
                  <c:v>2036 Total</c:v>
                </c:pt>
              </c:strCache>
            </c:strRef>
          </c:cat>
          <c:val>
            <c:numRef>
              <c:numCache>
                <c:formatCode>General</c:formatCode>
                <c:ptCount val="6"/>
                <c:pt idx="0">
                  <c:v>2479.62</c:v>
                </c:pt>
                <c:pt idx="1">
                  <c:v>79.43</c:v>
                </c:pt>
                <c:pt idx="2">
                  <c:v>152.91200000000003</c:v>
                </c:pt>
                <c:pt idx="3">
                  <c:v>496.68399999999997</c:v>
                </c:pt>
                <c:pt idx="4">
                  <c:v>400.79100000000005</c:v>
                </c:pt>
                <c:pt idx="5">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Mini / bite-sized - below 30 g</c:v>
                </c:pt>
                <c:pt idx="1">
                  <c:v>Smallg to below 60 g</c:v>
                </c:pt>
                <c:pt idx="2">
                  <c:v>Standardg to below 100 g</c:v>
                </c:pt>
                <c:pt idx="3">
                  <c:v>Large / jumbog and above</c:v>
                </c:pt>
                <c:pt idx="4">
                  <c:v>Total Absolute $ Opportunity</c:v>
                </c:pt>
              </c:strCache>
            </c:strRef>
          </c:cat>
          <c:val>
            <c:numRef>
              <c:numCache>
                <c:formatCode>General</c:formatCode>
                <c:ptCount val="5"/>
                <c:pt idx="0">
                  <c:v>0.0</c:v>
                </c:pt>
                <c:pt idx="1">
                  <c:v>79.43</c:v>
                </c:pt>
                <c:pt idx="2">
                  <c:v>232.34200000000004</c:v>
                </c:pt>
                <c:pt idx="3">
                  <c:v>729.0260000000001</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Mini / bite-sized - below 30 g</c:v>
                </c:pt>
                <c:pt idx="1">
                  <c:v>Smallg to below 60 g</c:v>
                </c:pt>
                <c:pt idx="2">
                  <c:v>Standardg to below 100 g</c:v>
                </c:pt>
                <c:pt idx="3">
                  <c:v>Large / jumbog and above</c:v>
                </c:pt>
                <c:pt idx="4">
                  <c:v>Total Absolute $ Opportunity</c:v>
                </c:pt>
              </c:strCache>
            </c:strRef>
          </c:cat>
          <c:val>
            <c:numRef>
              <c:numCache>
                <c:formatCode>General</c:formatCode>
                <c:ptCount val="5"/>
                <c:pt idx="0">
                  <c:v>79.43</c:v>
                </c:pt>
                <c:pt idx="1">
                  <c:v>152.91200000000003</c:v>
                </c:pt>
                <c:pt idx="2">
                  <c:v>496.68399999999997</c:v>
                </c:pt>
                <c:pt idx="3">
                  <c:v>400.79100000000005</c:v>
                </c:pt>
                <c:pt idx="4">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Ambient</c:v>
                </c:pt>
                <c:pt idx="2">
                  <c:v>Chilled</c:v>
                </c:pt>
                <c:pt idx="3">
                  <c:v>Frozen</c:v>
                </c:pt>
                <c:pt idx="4">
                  <c:v>2036 Total</c:v>
                </c:pt>
              </c:strCache>
            </c:strRef>
          </c:cat>
          <c:val>
            <c:numRef>
              <c:numCache>
                <c:formatCode>General</c:formatCode>
                <c:ptCount val="5"/>
                <c:pt idx="0">
                  <c:v>0.0</c:v>
                </c:pt>
                <c:pt idx="1">
                  <c:v>2479.62</c:v>
                </c:pt>
                <c:pt idx="2">
                  <c:v>2648.013</c:v>
                </c:pt>
                <c:pt idx="3">
                  <c:v>3167.624</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Ambient</c:v>
                </c:pt>
                <c:pt idx="2">
                  <c:v>Chilled</c:v>
                </c:pt>
                <c:pt idx="3">
                  <c:v>Frozen</c:v>
                </c:pt>
                <c:pt idx="4">
                  <c:v>2036 Total</c:v>
                </c:pt>
              </c:strCache>
            </c:strRef>
          </c:cat>
          <c:val>
            <c:numRef>
              <c:numCache>
                <c:formatCode>General</c:formatCode>
                <c:ptCount val="5"/>
                <c:pt idx="0">
                  <c:v>2479.62</c:v>
                </c:pt>
                <c:pt idx="1">
                  <c:v>168.393</c:v>
                </c:pt>
                <c:pt idx="2">
                  <c:v>519.611</c:v>
                </c:pt>
                <c:pt idx="3">
                  <c:v>441.8129999999999</c:v>
                </c:pt>
                <c:pt idx="4">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Ambient</c:v>
                </c:pt>
                <c:pt idx="1">
                  <c:v>Chilled</c:v>
                </c:pt>
                <c:pt idx="2">
                  <c:v>Frozen</c:v>
                </c:pt>
                <c:pt idx="3">
                  <c:v>Total Absolute $ Opportunity</c:v>
                </c:pt>
              </c:strCache>
            </c:strRef>
          </c:cat>
          <c:val>
            <c:numRef>
              <c:numCache>
                <c:formatCode>General</c:formatCode>
                <c:ptCount val="4"/>
                <c:pt idx="0">
                  <c:v>0.0</c:v>
                </c:pt>
                <c:pt idx="1">
                  <c:v>168.393</c:v>
                </c:pt>
                <c:pt idx="2">
                  <c:v>688.004</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Ambient</c:v>
                </c:pt>
                <c:pt idx="1">
                  <c:v>Chilled</c:v>
                </c:pt>
                <c:pt idx="2">
                  <c:v>Frozen</c:v>
                </c:pt>
                <c:pt idx="3">
                  <c:v>Total Absolute $ Opportunity</c:v>
                </c:pt>
              </c:strCache>
            </c:strRef>
          </c:cat>
          <c:val>
            <c:numRef>
              <c:numCache>
                <c:formatCode>General</c:formatCode>
                <c:ptCount val="4"/>
                <c:pt idx="0">
                  <c:v>168.393</c:v>
                </c:pt>
                <c:pt idx="1">
                  <c:v>519.611</c:v>
                </c:pt>
                <c:pt idx="2">
                  <c:v>441.8129999999999</c:v>
                </c:pt>
                <c:pt idx="3">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Up to 7 days</c:v>
                </c:pt>
                <c:pt idx="2">
                  <c:v>8-30 days</c:v>
                </c:pt>
                <c:pt idx="3">
                  <c:v>31-90 days</c:v>
                </c:pt>
                <c:pt idx="4">
                  <c:v>More than 90 days</c:v>
                </c:pt>
                <c:pt idx="5">
                  <c:v>2036 Total</c:v>
                </c:pt>
              </c:strCache>
            </c:strRef>
          </c:cat>
          <c:val>
            <c:numRef>
              <c:numCache>
                <c:formatCode>General</c:formatCode>
                <c:ptCount val="6"/>
                <c:pt idx="0">
                  <c:v>0.0</c:v>
                </c:pt>
                <c:pt idx="1">
                  <c:v>2479.62</c:v>
                </c:pt>
                <c:pt idx="2">
                  <c:v>3172.798</c:v>
                </c:pt>
                <c:pt idx="3">
                  <c:v>3259.5319999999997</c:v>
                </c:pt>
                <c:pt idx="4">
                  <c:v>3474.008</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Up to 7 days</c:v>
                </c:pt>
                <c:pt idx="2">
                  <c:v>8-30 days</c:v>
                </c:pt>
                <c:pt idx="3">
                  <c:v>31-90 days</c:v>
                </c:pt>
                <c:pt idx="4">
                  <c:v>More than 90 days</c:v>
                </c:pt>
                <c:pt idx="5">
                  <c:v>2036 Total</c:v>
                </c:pt>
              </c:strCache>
            </c:strRef>
          </c:cat>
          <c:val>
            <c:numRef>
              <c:numCache>
                <c:formatCode>General</c:formatCode>
                <c:ptCount val="6"/>
                <c:pt idx="0">
                  <c:v>2479.62</c:v>
                </c:pt>
                <c:pt idx="1">
                  <c:v>693.1780000000001</c:v>
                </c:pt>
                <c:pt idx="2">
                  <c:v>86.73399999999998</c:v>
                </c:pt>
                <c:pt idx="3">
                  <c:v>214.47599999999994</c:v>
                </c:pt>
                <c:pt idx="4">
                  <c:v>135.42900000000003</c:v>
                </c:pt>
                <c:pt idx="5">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Up to 7 days</c:v>
                </c:pt>
                <c:pt idx="1">
                  <c:v>8-30 days</c:v>
                </c:pt>
                <c:pt idx="2">
                  <c:v>31-90 days</c:v>
                </c:pt>
                <c:pt idx="3">
                  <c:v>More than 90 days</c:v>
                </c:pt>
                <c:pt idx="4">
                  <c:v>Total Absolute $ Opportunity</c:v>
                </c:pt>
              </c:strCache>
            </c:strRef>
          </c:cat>
          <c:val>
            <c:numRef>
              <c:numCache>
                <c:formatCode>General</c:formatCode>
                <c:ptCount val="5"/>
                <c:pt idx="0">
                  <c:v>0.0</c:v>
                </c:pt>
                <c:pt idx="1">
                  <c:v>693.1780000000001</c:v>
                </c:pt>
                <c:pt idx="2">
                  <c:v>779.912</c:v>
                </c:pt>
                <c:pt idx="3">
                  <c:v>994.3879999999999</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Up to 7 days</c:v>
                </c:pt>
                <c:pt idx="1">
                  <c:v>8-30 days</c:v>
                </c:pt>
                <c:pt idx="2">
                  <c:v>31-90 days</c:v>
                </c:pt>
                <c:pt idx="3">
                  <c:v>More than 90 days</c:v>
                </c:pt>
                <c:pt idx="4">
                  <c:v>Total Absolute $ Opportunity</c:v>
                </c:pt>
              </c:strCache>
            </c:strRef>
          </c:cat>
          <c:val>
            <c:numRef>
              <c:numCache>
                <c:formatCode>General</c:formatCode>
                <c:ptCount val="5"/>
                <c:pt idx="0">
                  <c:v>693.1780000000001</c:v>
                </c:pt>
                <c:pt idx="1">
                  <c:v>86.73399999999998</c:v>
                </c:pt>
                <c:pt idx="2">
                  <c:v>214.47599999999994</c:v>
                </c:pt>
                <c:pt idx="3">
                  <c:v>135.42900000000003</c:v>
                </c:pt>
                <c:pt idx="4">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Flexible packs</c:v>
                </c:pt>
                <c:pt idx="2">
                  <c:v>Rigid plastic packs</c:v>
                </c:pt>
                <c:pt idx="3">
                  <c:v>Paperboard packs</c:v>
                </c:pt>
                <c:pt idx="4">
                  <c:v>Other packaging formats</c:v>
                </c:pt>
                <c:pt idx="5">
                  <c:v>2036 Total</c:v>
                </c:pt>
              </c:strCache>
            </c:strRef>
          </c:cat>
          <c:val>
            <c:numRef>
              <c:numCache>
                <c:formatCode>General</c:formatCode>
                <c:ptCount val="6"/>
                <c:pt idx="0">
                  <c:v>0.0</c:v>
                </c:pt>
                <c:pt idx="1">
                  <c:v>2479.6200000000003</c:v>
                </c:pt>
                <c:pt idx="2">
                  <c:v>2659.0470000000005</c:v>
                </c:pt>
                <c:pt idx="3">
                  <c:v>3273.2320000000004</c:v>
                </c:pt>
                <c:pt idx="4">
                  <c:v>3501.5550000000003</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Flexible packs</c:v>
                </c:pt>
                <c:pt idx="2">
                  <c:v>Rigid plastic packs</c:v>
                </c:pt>
                <c:pt idx="3">
                  <c:v>Paperboard packs</c:v>
                </c:pt>
                <c:pt idx="4">
                  <c:v>Other packaging formats</c:v>
                </c:pt>
                <c:pt idx="5">
                  <c:v>2036 Total</c:v>
                </c:pt>
              </c:strCache>
            </c:strRef>
          </c:cat>
          <c:val>
            <c:numRef>
              <c:numCache>
                <c:formatCode>General</c:formatCode>
                <c:ptCount val="6"/>
                <c:pt idx="0">
                  <c:v>2479.6200000000003</c:v>
                </c:pt>
                <c:pt idx="1">
                  <c:v>179.42699999999996</c:v>
                </c:pt>
                <c:pt idx="2">
                  <c:v>614.185</c:v>
                </c:pt>
                <c:pt idx="3">
                  <c:v>228.32299999999998</c:v>
                </c:pt>
                <c:pt idx="4">
                  <c:v>107.882</c:v>
                </c:pt>
                <c:pt idx="5">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Flexible packs</c:v>
                </c:pt>
                <c:pt idx="1">
                  <c:v>Rigid plastic packs</c:v>
                </c:pt>
                <c:pt idx="2">
                  <c:v>Paperboard packs</c:v>
                </c:pt>
                <c:pt idx="3">
                  <c:v>Other packaging formats</c:v>
                </c:pt>
                <c:pt idx="4">
                  <c:v>Total Absolute $ Opportunity</c:v>
                </c:pt>
              </c:strCache>
            </c:strRef>
          </c:cat>
          <c:val>
            <c:numRef>
              <c:numCache>
                <c:formatCode>General</c:formatCode>
                <c:ptCount val="5"/>
                <c:pt idx="0">
                  <c:v>0.0</c:v>
                </c:pt>
                <c:pt idx="1">
                  <c:v>179.42699999999996</c:v>
                </c:pt>
                <c:pt idx="2">
                  <c:v>793.6119999999999</c:v>
                </c:pt>
                <c:pt idx="3">
                  <c:v>1021.9349999999998</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Flexible packs</c:v>
                </c:pt>
                <c:pt idx="1">
                  <c:v>Rigid plastic packs</c:v>
                </c:pt>
                <c:pt idx="2">
                  <c:v>Paperboard packs</c:v>
                </c:pt>
                <c:pt idx="3">
                  <c:v>Other packaging formats</c:v>
                </c:pt>
                <c:pt idx="4">
                  <c:v>Total Absolute $ Opportunity</c:v>
                </c:pt>
              </c:strCache>
            </c:strRef>
          </c:cat>
          <c:val>
            <c:numRef>
              <c:numCache>
                <c:formatCode>General</c:formatCode>
                <c:ptCount val="5"/>
                <c:pt idx="0">
                  <c:v>179.42699999999996</c:v>
                </c:pt>
                <c:pt idx="1">
                  <c:v>614.185</c:v>
                </c:pt>
                <c:pt idx="2">
                  <c:v>228.32299999999998</c:v>
                </c:pt>
                <c:pt idx="3">
                  <c:v>107.882</c:v>
                </c:pt>
                <c:pt idx="4">
                  <c:v>1129.8169999999998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Single-muffin packs</c:v>
                </c:pt>
                <c:pt idx="2">
                  <c:v>Multipacks</c:v>
                </c:pt>
                <c:pt idx="3">
                  <c:v>Bulk foodservice packs</c:v>
                </c:pt>
                <c:pt idx="4">
                  <c:v>2036 Total</c:v>
                </c:pt>
              </c:strCache>
            </c:strRef>
          </c:cat>
          <c:val>
            <c:numRef>
              <c:numCache>
                <c:formatCode>General</c:formatCode>
                <c:ptCount val="5"/>
                <c:pt idx="0">
                  <c:v>0.0</c:v>
                </c:pt>
                <c:pt idx="1">
                  <c:v>2479.62</c:v>
                </c:pt>
                <c:pt idx="2">
                  <c:v>2771.4889999999996</c:v>
                </c:pt>
                <c:pt idx="3">
                  <c:v>3538.9749999999995</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Single-muffin packs</c:v>
                </c:pt>
                <c:pt idx="2">
                  <c:v>Multipacks</c:v>
                </c:pt>
                <c:pt idx="3">
                  <c:v>Bulk foodservice packs</c:v>
                </c:pt>
                <c:pt idx="4">
                  <c:v>2036 Total</c:v>
                </c:pt>
              </c:strCache>
            </c:strRef>
          </c:cat>
          <c:val>
            <c:numRef>
              <c:numCache>
                <c:formatCode>General</c:formatCode>
                <c:ptCount val="5"/>
                <c:pt idx="0">
                  <c:v>2479.62</c:v>
                </c:pt>
                <c:pt idx="1">
                  <c:v>291.8689999999999</c:v>
                </c:pt>
                <c:pt idx="2">
                  <c:v>767.4859999999996</c:v>
                </c:pt>
                <c:pt idx="3">
                  <c:v>70.46199999999999</c:v>
                </c:pt>
                <c:pt idx="4">
                  <c:v>3609.4369999999994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Single-muffin packs</c:v>
                </c:pt>
                <c:pt idx="1">
                  <c:v>Multipacks</c:v>
                </c:pt>
                <c:pt idx="2">
                  <c:v>Bulk foodservice packs</c:v>
                </c:pt>
                <c:pt idx="3">
                  <c:v>Total Absolute $ Opportunity</c:v>
                </c:pt>
              </c:strCache>
            </c:strRef>
          </c:cat>
          <c:val>
            <c:numRef>
              <c:numCache>
                <c:formatCode>General</c:formatCode>
                <c:ptCount val="4"/>
                <c:pt idx="0">
                  <c:v>0.0</c:v>
                </c:pt>
                <c:pt idx="1">
                  <c:v>291.8689999999999</c:v>
                </c:pt>
                <c:pt idx="2">
                  <c:v>1059.3549999999996</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Single-muffin packs</c:v>
                </c:pt>
                <c:pt idx="1">
                  <c:v>Multipacks</c:v>
                </c:pt>
                <c:pt idx="2">
                  <c:v>Bulk foodservice packs</c:v>
                </c:pt>
                <c:pt idx="3">
                  <c:v>Total Absolute $ Opportunity</c:v>
                </c:pt>
              </c:strCache>
            </c:strRef>
          </c:cat>
          <c:val>
            <c:numRef>
              <c:numCache>
                <c:formatCode>General</c:formatCode>
                <c:ptCount val="4"/>
                <c:pt idx="0">
                  <c:v>291.8689999999999</c:v>
                </c:pt>
                <c:pt idx="1">
                  <c:v>767.4859999999996</c:v>
                </c:pt>
                <c:pt idx="2">
                  <c:v>70.46199999999999</c:v>
                </c:pt>
                <c:pt idx="3">
                  <c:v>1129.8169999999996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Individually wrapped muffins within an outer pack</c:v>
                </c:pt>
                <c:pt idx="2">
                  <c:v>Shared pack without individual wrapping</c:v>
                </c:pt>
                <c:pt idx="3">
                  <c:v>2036 Total</c:v>
                </c:pt>
              </c:strCache>
            </c:strRef>
          </c:cat>
          <c:val>
            <c:numRef>
              <c:numCache>
                <c:formatCode>General</c:formatCode>
                <c:ptCount val="4"/>
                <c:pt idx="0">
                  <c:v>0.0</c:v>
                </c:pt>
                <c:pt idx="1">
                  <c:v>2479.62</c:v>
                </c:pt>
                <c:pt idx="2">
                  <c:v>3159.898</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Individually wrapped muffins within an outer pack</c:v>
                </c:pt>
                <c:pt idx="2">
                  <c:v>Shared pack without individual wrapping</c:v>
                </c:pt>
                <c:pt idx="3">
                  <c:v>2036 Total</c:v>
                </c:pt>
              </c:strCache>
            </c:strRef>
          </c:cat>
          <c:val>
            <c:numRef>
              <c:numCache>
                <c:formatCode>General</c:formatCode>
                <c:ptCount val="4"/>
                <c:pt idx="0">
                  <c:v>2479.62</c:v>
                </c:pt>
                <c:pt idx="1">
                  <c:v>680.2780000000002</c:v>
                </c:pt>
                <c:pt idx="2">
                  <c:v>449.539</c:v>
                </c:pt>
                <c:pt idx="3">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Individually wrapped muffins within an outer pack</c:v>
                </c:pt>
                <c:pt idx="1">
                  <c:v>Shared pack without individual wrapping</c:v>
                </c:pt>
                <c:pt idx="2">
                  <c:v>Total Absolute $ Opportunity</c:v>
                </c:pt>
              </c:strCache>
            </c:strRef>
          </c:cat>
          <c:val>
            <c:numRef>
              <c:numCache>
                <c:formatCode>General</c:formatCode>
                <c:ptCount val="3"/>
                <c:pt idx="0">
                  <c:v>0.0</c:v>
                </c:pt>
                <c:pt idx="1">
                  <c:v>680.2780000000002</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Individually wrapped muffins within an outer pack</c:v>
                </c:pt>
                <c:pt idx="1">
                  <c:v>Shared pack without individual wrapping</c:v>
                </c:pt>
                <c:pt idx="2">
                  <c:v>Total Absolute $ Opportunity</c:v>
                </c:pt>
              </c:strCache>
            </c:strRef>
          </c:cat>
          <c:val>
            <c:numRef>
              <c:numCache>
                <c:formatCode>General</c:formatCode>
                <c:ptCount val="3"/>
                <c:pt idx="0">
                  <c:v>680.2780000000002</c:v>
                </c:pt>
                <c:pt idx="1">
                  <c:v>449.539</c:v>
                </c:pt>
                <c:pt idx="2">
                  <c:v>1129.8170000000002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Economy / value</c:v>
                </c:pt>
                <c:pt idx="2">
                  <c:v>Mid-range</c:v>
                </c:pt>
                <c:pt idx="3">
                  <c:v>Premium</c:v>
                </c:pt>
                <c:pt idx="4">
                  <c:v>Super-premium / speciality</c:v>
                </c:pt>
                <c:pt idx="5">
                  <c:v>2036 Total</c:v>
                </c:pt>
              </c:strCache>
            </c:strRef>
          </c:cat>
          <c:val>
            <c:numRef>
              <c:numCache>
                <c:formatCode>General</c:formatCode>
                <c:ptCount val="6"/>
                <c:pt idx="0">
                  <c:v>0.0</c:v>
                </c:pt>
                <c:pt idx="1">
                  <c:v>2479.62</c:v>
                </c:pt>
                <c:pt idx="2">
                  <c:v>2538.075</c:v>
                </c:pt>
                <c:pt idx="3">
                  <c:v>3075.323</c:v>
                </c:pt>
                <c:pt idx="4">
                  <c:v>3278.835</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Economy / value</c:v>
                </c:pt>
                <c:pt idx="2">
                  <c:v>Mid-range</c:v>
                </c:pt>
                <c:pt idx="3">
                  <c:v>Premium</c:v>
                </c:pt>
                <c:pt idx="4">
                  <c:v>Super-premium / speciality</c:v>
                </c:pt>
                <c:pt idx="5">
                  <c:v>2036 Total</c:v>
                </c:pt>
              </c:strCache>
            </c:strRef>
          </c:cat>
          <c:val>
            <c:numRef>
              <c:numCache>
                <c:formatCode>General</c:formatCode>
                <c:ptCount val="6"/>
                <c:pt idx="0">
                  <c:v>2479.62</c:v>
                </c:pt>
                <c:pt idx="1">
                  <c:v>58.45499999999993</c:v>
                </c:pt>
                <c:pt idx="2">
                  <c:v>537.248</c:v>
                </c:pt>
                <c:pt idx="3">
                  <c:v>203.51200000000006</c:v>
                </c:pt>
                <c:pt idx="4">
                  <c:v>330.6019999999999</c:v>
                </c:pt>
                <c:pt idx="5">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Economy / value</c:v>
                </c:pt>
                <c:pt idx="1">
                  <c:v>Mid-range</c:v>
                </c:pt>
                <c:pt idx="2">
                  <c:v>Premium</c:v>
                </c:pt>
                <c:pt idx="3">
                  <c:v>Super-premium / speciality</c:v>
                </c:pt>
                <c:pt idx="4">
                  <c:v>Total Absolute $ Opportunity</c:v>
                </c:pt>
              </c:strCache>
            </c:strRef>
          </c:cat>
          <c:val>
            <c:numRef>
              <c:numCache>
                <c:formatCode>General</c:formatCode>
                <c:ptCount val="5"/>
                <c:pt idx="0">
                  <c:v>0.0</c:v>
                </c:pt>
                <c:pt idx="1">
                  <c:v>58.45499999999993</c:v>
                </c:pt>
                <c:pt idx="2">
                  <c:v>595.703</c:v>
                </c:pt>
                <c:pt idx="3">
                  <c:v>799.215</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Economy / value</c:v>
                </c:pt>
                <c:pt idx="1">
                  <c:v>Mid-range</c:v>
                </c:pt>
                <c:pt idx="2">
                  <c:v>Premium</c:v>
                </c:pt>
                <c:pt idx="3">
                  <c:v>Super-premium / speciality</c:v>
                </c:pt>
                <c:pt idx="4">
                  <c:v>Total Absolute $ Opportunity</c:v>
                </c:pt>
              </c:strCache>
            </c:strRef>
          </c:cat>
          <c:val>
            <c:numRef>
              <c:numCache>
                <c:formatCode>General</c:formatCode>
                <c:ptCount val="5"/>
                <c:pt idx="0">
                  <c:v>58.45499999999993</c:v>
                </c:pt>
                <c:pt idx="1">
                  <c:v>537.248</c:v>
                </c:pt>
                <c:pt idx="2">
                  <c:v>203.51200000000006</c:v>
                </c:pt>
                <c:pt idx="3">
                  <c:v>330.6019999999999</c:v>
                </c:pt>
                <c:pt idx="4">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Manufacturer brands</c:v>
                </c:pt>
                <c:pt idx="2">
                  <c:v>Retailer private labels</c:v>
                </c:pt>
                <c:pt idx="3">
                  <c:v>Foodservice / operator brands</c:v>
                </c:pt>
                <c:pt idx="4">
                  <c:v>2036 Total</c:v>
                </c:pt>
              </c:strCache>
            </c:strRef>
          </c:cat>
          <c:val>
            <c:numRef>
              <c:numCache>
                <c:formatCode>General</c:formatCode>
                <c:ptCount val="5"/>
                <c:pt idx="0">
                  <c:v>0.0</c:v>
                </c:pt>
                <c:pt idx="1">
                  <c:v>2479.6200000000003</c:v>
                </c:pt>
                <c:pt idx="2">
                  <c:v>2875.6290000000004</c:v>
                </c:pt>
                <c:pt idx="3">
                  <c:v>3402.8360000000002</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Manufacturer brands</c:v>
                </c:pt>
                <c:pt idx="2">
                  <c:v>Retailer private labels</c:v>
                </c:pt>
                <c:pt idx="3">
                  <c:v>Foodservice / operator brands</c:v>
                </c:pt>
                <c:pt idx="4">
                  <c:v>2036 Total</c:v>
                </c:pt>
              </c:strCache>
            </c:strRef>
          </c:cat>
          <c:val>
            <c:numRef>
              <c:numCache>
                <c:formatCode>General</c:formatCode>
                <c:ptCount val="5"/>
                <c:pt idx="0">
                  <c:v>2479.6200000000003</c:v>
                </c:pt>
                <c:pt idx="1">
                  <c:v>396.009</c:v>
                </c:pt>
                <c:pt idx="2">
                  <c:v>527.2069999999999</c:v>
                </c:pt>
                <c:pt idx="3">
                  <c:v>206.60100000000006</c:v>
                </c:pt>
                <c:pt idx="4">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Manufacturer brands</c:v>
                </c:pt>
                <c:pt idx="1">
                  <c:v>Retailer private labels</c:v>
                </c:pt>
                <c:pt idx="2">
                  <c:v>Foodservice / operator brands</c:v>
                </c:pt>
                <c:pt idx="3">
                  <c:v>Total Absolute $ Opportunity</c:v>
                </c:pt>
              </c:strCache>
            </c:strRef>
          </c:cat>
          <c:val>
            <c:numRef>
              <c:numCache>
                <c:formatCode>General</c:formatCode>
                <c:ptCount val="4"/>
                <c:pt idx="0">
                  <c:v>0.0</c:v>
                </c:pt>
                <c:pt idx="1">
                  <c:v>396.009</c:v>
                </c:pt>
                <c:pt idx="2">
                  <c:v>923.2159999999999</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Manufacturer brands</c:v>
                </c:pt>
                <c:pt idx="1">
                  <c:v>Retailer private labels</c:v>
                </c:pt>
                <c:pt idx="2">
                  <c:v>Foodservice / operator brands</c:v>
                </c:pt>
                <c:pt idx="3">
                  <c:v>Total Absolute $ Opportunity</c:v>
                </c:pt>
              </c:strCache>
            </c:strRef>
          </c:cat>
          <c:val>
            <c:numRef>
              <c:numCache>
                <c:formatCode>General</c:formatCode>
                <c:ptCount val="4"/>
                <c:pt idx="0">
                  <c:v>396.009</c:v>
                </c:pt>
                <c:pt idx="1">
                  <c:v>527.2069999999999</c:v>
                </c:pt>
                <c:pt idx="2">
                  <c:v>206.60100000000006</c:v>
                </c:pt>
                <c:pt idx="3">
                  <c:v>1129.817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Retail</c:v>
                </c:pt>
                <c:pt idx="2">
                  <c:v>Foodservice and institutional</c:v>
                </c:pt>
                <c:pt idx="3">
                  <c:v>Vending</c:v>
                </c:pt>
                <c:pt idx="4">
                  <c:v>2036 Total</c:v>
                </c:pt>
              </c:strCache>
            </c:strRef>
          </c:cat>
          <c:val>
            <c:numRef>
              <c:numCache>
                <c:formatCode>General</c:formatCode>
                <c:ptCount val="5"/>
                <c:pt idx="0">
                  <c:v>0.0</c:v>
                </c:pt>
                <c:pt idx="1">
                  <c:v>2479.62</c:v>
                </c:pt>
                <c:pt idx="2">
                  <c:v>3053.2639999999997</c:v>
                </c:pt>
                <c:pt idx="3">
                  <c:v>3563.3999999999996</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Retail</c:v>
                </c:pt>
                <c:pt idx="2">
                  <c:v>Foodservice and institutional</c:v>
                </c:pt>
                <c:pt idx="3">
                  <c:v>Vending</c:v>
                </c:pt>
                <c:pt idx="4">
                  <c:v>2036 Total</c:v>
                </c:pt>
              </c:strCache>
            </c:strRef>
          </c:cat>
          <c:val>
            <c:numRef>
              <c:numCache>
                <c:formatCode>General</c:formatCode>
                <c:ptCount val="5"/>
                <c:pt idx="0">
                  <c:v>2479.62</c:v>
                </c:pt>
                <c:pt idx="1">
                  <c:v>573.6439999999998</c:v>
                </c:pt>
                <c:pt idx="2">
                  <c:v>510.13599999999985</c:v>
                </c:pt>
                <c:pt idx="3">
                  <c:v>46.037000000000006</c:v>
                </c:pt>
                <c:pt idx="4">
                  <c:v>3609.437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Retail</c:v>
                </c:pt>
                <c:pt idx="1">
                  <c:v>Foodservice and institutional</c:v>
                </c:pt>
                <c:pt idx="2">
                  <c:v>Vending</c:v>
                </c:pt>
                <c:pt idx="3">
                  <c:v>Total Absolute $ Opportunity</c:v>
                </c:pt>
              </c:strCache>
            </c:strRef>
          </c:cat>
          <c:val>
            <c:numRef>
              <c:numCache>
                <c:formatCode>General</c:formatCode>
                <c:ptCount val="4"/>
                <c:pt idx="0">
                  <c:v>0.0</c:v>
                </c:pt>
                <c:pt idx="1">
                  <c:v>573.6439999999998</c:v>
                </c:pt>
                <c:pt idx="2">
                  <c:v>1083.7799999999997</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Retail</c:v>
                </c:pt>
                <c:pt idx="1">
                  <c:v>Foodservice and institutional</c:v>
                </c:pt>
                <c:pt idx="2">
                  <c:v>Vending</c:v>
                </c:pt>
                <c:pt idx="3">
                  <c:v>Total Absolute $ Opportunity</c:v>
                </c:pt>
              </c:strCache>
            </c:strRef>
          </c:cat>
          <c:val>
            <c:numRef>
              <c:numCache>
                <c:formatCode>General</c:formatCode>
                <c:ptCount val="4"/>
                <c:pt idx="0">
                  <c:v>573.6439999999998</c:v>
                </c:pt>
                <c:pt idx="1">
                  <c:v>510.13599999999985</c:v>
                </c:pt>
                <c:pt idx="2">
                  <c:v>46.037000000000006</c:v>
                </c:pt>
                <c:pt idx="3">
                  <c:v>1129.8169999999998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6.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Sweet muffins</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4386.0</c:v>
                </c:pt>
                <c:pt idx="1">
                  <c:v>4402.0</c:v>
                </c:pt>
                <c:pt idx="2">
                  <c:v>4424.0</c:v>
                </c:pt>
                <c:pt idx="3">
                  <c:v>4454.0</c:v>
                </c:pt>
                <c:pt idx="4">
                  <c:v>4496.0</c:v>
                </c:pt>
                <c:pt idx="5">
                  <c:v>4550.0</c:v>
                </c:pt>
                <c:pt idx="6">
                  <c:v>4584.0</c:v>
                </c:pt>
                <c:pt idx="7">
                  <c:v>4624.0</c:v>
                </c:pt>
                <c:pt idx="8">
                  <c:v>4666.0</c:v>
                </c:pt>
                <c:pt idx="9">
                  <c:v>4709.0</c:v>
                </c:pt>
                <c:pt idx="10">
                  <c:v>4750.0</c:v>
                </c:pt>
                <c:pt idx="11">
                  <c:v>4785.0</c:v>
                </c:pt>
                <c:pt idx="12">
                  <c:v>4817.0</c:v>
                </c:pt>
                <c:pt idx="13">
                  <c:v>4846.0</c:v>
                </c:pt>
                <c:pt idx="14">
                  <c:v>4872.0</c:v>
                </c:pt>
                <c:pt idx="15">
                  <c:v>4896.0</c:v>
                </c:pt>
              </c:numCache>
            </c:numRef>
          </c:val>
          <c:smooth val="0"/>
        </c:ser>
        <c:ser>
          <c:idx val="1"/>
          <c:order val="1"/>
          <c:tx>
            <c:strRef>
              <c:strCache>
                <c:ptCount val="1"/>
                <c:pt idx="0">
                  <c:v>Savoury muffins</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3579.0</c:v>
                </c:pt>
                <c:pt idx="1">
                  <c:v>3591.0</c:v>
                </c:pt>
                <c:pt idx="2">
                  <c:v>3608.0</c:v>
                </c:pt>
                <c:pt idx="3">
                  <c:v>3638.0</c:v>
                </c:pt>
                <c:pt idx="4">
                  <c:v>3670.0</c:v>
                </c:pt>
                <c:pt idx="5">
                  <c:v>3706.0</c:v>
                </c:pt>
                <c:pt idx="6">
                  <c:v>3714.0</c:v>
                </c:pt>
                <c:pt idx="7">
                  <c:v>3725.0</c:v>
                </c:pt>
                <c:pt idx="8">
                  <c:v>3738.0</c:v>
                </c:pt>
                <c:pt idx="9">
                  <c:v>3755.0</c:v>
                </c:pt>
                <c:pt idx="10">
                  <c:v>3779.0</c:v>
                </c:pt>
                <c:pt idx="11">
                  <c:v>3809.0</c:v>
                </c:pt>
                <c:pt idx="12">
                  <c:v>3845.0</c:v>
                </c:pt>
                <c:pt idx="13">
                  <c:v>3883.0</c:v>
                </c:pt>
                <c:pt idx="14">
                  <c:v>3927.0</c:v>
                </c:pt>
                <c:pt idx="15">
                  <c:v>3974.0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0"/>
          <c:min val="350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3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C55A11"/>
              </a:solidFill>
            </c:spPr>
          </c:dPt>
          <c:cat>
            <c:strRef>
              <c:strCache>
                <c:ptCount val="2"/>
                <c:pt idx="0">
                  <c:v>Savoury muffins</c:v>
                </c:pt>
                <c:pt idx="1">
                  <c:v>Sweet muffins</c:v>
                </c:pt>
              </c:strCache>
            </c:strRef>
          </c:cat>
          <c:val>
            <c:numRef>
              <c:numCache>
                <c:formatCode>General</c:formatCode>
                <c:ptCount val="2"/>
                <c:pt idx="0">
                  <c:v>89.7</c:v>
                </c:pt>
                <c:pt idx="1">
                  <c:v>110.1</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12.0"/>
          <c:min val="87.0"/>
        </c:scaling>
        <c:delete/>
        <c:axPos val="b"/>
        <c:majorTickMark val="out"/>
        <c:minorTickMark val="none"/>
        <c:tickLblPos val="nextTo"/>
        <c:crossAx val="-2068027336"/>
        <c:crosses val="autoZero"/>
      </c:valAx>
    </c:plotArea>
    <c:dispBlanksAs val="gap"/>
  </c:chart>
  <c:txPr>
    <a:bodyPr/>
    <a:lstStyle/>
    <a:p>
      <a:pPr>
        <a:defRPr sz="1800"/>
      </a:pPr>
      <a:endParaRPr lang="en-US"/>
    </a:p>
  </c:txPr>
</c:chartSpace>
</file>

<file path=ppt/charts/chart328.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strCache>
                <c:ptCount val="1"/>
                <c:pt idx="0">
                  <c:v>Base</c:v>
                </c:pt>
              </c:strCache>
            </c:strRef>
          </c:tx>
          <c:spPr>
            <a:noFill/>
          </c:spPr>
          <c:cat>
            <c:strRef>
              <c:strCache>
                <c:ptCount val="2"/>
                <c:pt idx="0">
                  <c:v>Savoury muffins</c:v>
                </c:pt>
                <c:pt idx="1">
                  <c:v>Sweet muffins</c:v>
                </c:pt>
              </c:strCache>
            </c:strRef>
          </c:cat>
          <c:val>
            <c:numRef>
              <c:numCache>
                <c:formatCode>General</c:formatCode>
                <c:ptCount val="2"/>
                <c:pt idx="0">
                  <c:v>3068</c:v>
                </c:pt>
                <c:pt idx="1">
                  <c:v>3795</c:v>
                </c:pt>
              </c:numCache>
            </c:numRef>
          </c:val>
        </c:ser>
        <c:ser>
          <c:idx val="1"/>
          <c:order val="1"/>
          <c:tx>
            <c:strRef>
              <c:strCache>
                <c:ptCount val="1"/>
                <c:pt idx="0">
                  <c:v>Range</c:v>
                </c:pt>
              </c:strCache>
            </c:strRef>
          </c:tx>
          <c:spPr>
            <a:solidFill>
              <a:srgbClr val="008189"/>
            </a:solidFill>
          </c:spPr>
          <c:cat>
            <c:strRef>
              <c:strCache>
                <c:ptCount val="2"/>
                <c:pt idx="0">
                  <c:v>Savoury muffins</c:v>
                </c:pt>
                <c:pt idx="1">
                  <c:v>Sweet muffins</c:v>
                </c:pt>
              </c:strCache>
            </c:strRef>
          </c:cat>
          <c:val>
            <c:numRef>
              <c:numCache>
                <c:formatCode>General</c:formatCode>
                <c:ptCount val="2"/>
                <c:pt idx="0">
                  <c:v>1268</c:v>
                </c:pt>
                <c:pt idx="1">
                  <c:v>1575</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6000.0"/>
          <c:min val="2000.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chartSpace>
</file>

<file path=ppt/charts/chart329.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strCache>
                <c:ptCount val="1"/>
                <c:pt idx="0">
                  <c:v>Base</c:v>
                </c:pt>
              </c:strCache>
            </c:strRef>
          </c:tx>
          <c:spPr>
            <a:noFill/>
          </c:spPr>
          <c:cat>
            <c:strRef>
              <c:strCache>
                <c:ptCount val="6"/>
                <c:pt idx="0">
                  <c:v>Europe</c:v>
                </c:pt>
                <c:pt idx="1">
                  <c:v>Middle East &amp; Africa</c:v>
                </c:pt>
                <c:pt idx="2">
                  <c:v>Latin America</c:v>
                </c:pt>
                <c:pt idx="3">
                  <c:v>South Asia &amp; Pacific</c:v>
                </c:pt>
                <c:pt idx="4">
                  <c:v>East Asia</c:v>
                </c:pt>
                <c:pt idx="5">
                  <c:v>North America</c:v>
                </c:pt>
              </c:strCache>
            </c:strRef>
          </c:cat>
          <c:val>
            <c:numRef>
              <c:numCache>
                <c:formatCode>General</c:formatCode>
                <c:ptCount val="6"/>
                <c:pt idx="0">
                  <c:v>96.6</c:v>
                </c:pt>
                <c:pt idx="1">
                  <c:v>92.6</c:v>
                </c:pt>
                <c:pt idx="2">
                  <c:v>92.4</c:v>
                </c:pt>
                <c:pt idx="3">
                  <c:v>91.3</c:v>
                </c:pt>
                <c:pt idx="4">
                  <c:v>90.7</c:v>
                </c:pt>
                <c:pt idx="5">
                  <c:v>82.9</c:v>
                </c:pt>
              </c:numCache>
            </c:numRef>
          </c:val>
        </c:ser>
        <c:ser>
          <c:idx val="1"/>
          <c:order val="1"/>
          <c:tx>
            <c:strRef>
              <c:strCache>
                <c:ptCount val="1"/>
                <c:pt idx="0">
                  <c:v>Range</c:v>
                </c:pt>
              </c:strCache>
            </c:strRef>
          </c:tx>
          <c:spPr>
            <a:solidFill>
              <a:srgbClr val="008189"/>
            </a:solidFill>
          </c:spPr>
          <c:dPt>
            <c:idx val="5"/>
            <c:spPr>
              <a:solidFill>
                <a:srgbClr val="5B7DB1"/>
              </a:solidFill>
            </c:spPr>
          </c:dPt>
          <c:cat>
            <c:strRef>
              <c:strCache>
                <c:ptCount val="6"/>
                <c:pt idx="0">
                  <c:v>Europe</c:v>
                </c:pt>
                <c:pt idx="1">
                  <c:v>Middle East &amp; Africa</c:v>
                </c:pt>
                <c:pt idx="2">
                  <c:v>Latin America</c:v>
                </c:pt>
                <c:pt idx="3">
                  <c:v>South Asia &amp; Pacific</c:v>
                </c:pt>
                <c:pt idx="4">
                  <c:v>East Asia</c:v>
                </c:pt>
                <c:pt idx="5">
                  <c:v>North America</c:v>
                </c:pt>
              </c:strCache>
            </c:strRef>
          </c:cat>
          <c:val>
            <c:numRef>
              <c:numCache>
                <c:formatCode>General</c:formatCode>
                <c:ptCount val="6"/>
                <c:pt idx="0">
                  <c:v>21.8</c:v>
                </c:pt>
                <c:pt idx="1">
                  <c:v>20.5</c:v>
                </c:pt>
                <c:pt idx="2">
                  <c:v>21.0</c:v>
                </c:pt>
                <c:pt idx="3">
                  <c:v>20.8</c:v>
                </c:pt>
                <c:pt idx="4">
                  <c:v>19.1</c:v>
                </c:pt>
                <c:pt idx="5">
                  <c:v>19.5</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20.0"/>
          <c:min val="8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5.0"/>
      </c:valAx>
    </c:plotArea>
    <c:dispBlanksAs val="gap"/>
  </c:chart>
  <c:txPr>
    <a:bodyPr/>
    <a:lstStyle/>
    <a:p>
      <a:pPr>
        <a:defRPr sz="1800"/>
      </a:pPr>
      <a:endParaRPr lang="en-US"/>
    </a:p>
  </c:txPr>
</c:chartSpace>
</file>

<file path=ppt/charts/chart33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c:v>
                </c:pt>
                <c:pt idx="1">
                  <c:v>McKee Foods Corporation</c:v>
                </c:pt>
                <c:pt idx="2">
                  <c:v>Hostess Brands</c:v>
                </c:pt>
                <c:pt idx="3">
                  <c:v>Rich Products Corporation</c:v>
                </c:pt>
                <c:pt idx="4">
                  <c:v>ARYZTA / Aspire Bakeries</c:v>
                </c:pt>
                <c:pt idx="5">
                  <c:v>Europastry</c:v>
                </c:pt>
                <c:pt idx="6">
                  <c:v>Bridor</c:v>
                </c:pt>
                <c:pt idx="7">
                  <c:v>Lantmännen Unibake</c:v>
                </c:pt>
                <c:pt idx="8">
                  <c:v>Flowers Foods</c:v>
                </c:pt>
                <c:pt idx="9">
                  <c:v>Premier Foods</c:v>
                </c:pt>
                <c:pt idx="10">
                  <c:v>Others</c:v>
                </c:pt>
              </c:strCache>
            </c:strRef>
          </c:cat>
          <c:val>
            <c:numRef>
              <c:numCache>
                <c:formatCode>General</c:formatCode>
                <c:ptCount val="11"/>
                <c:pt idx="0">
                  <c:v>15.401240790072531</c:v>
                </c:pt>
                <c:pt idx="1">
                  <c:v>13.483170759180721</c:v>
                </c:pt>
                <c:pt idx="2">
                  <c:v>9.299352883645389</c:v>
                </c:pt>
                <c:pt idx="3">
                  <c:v>6.532876475193234</c:v>
                </c:pt>
                <c:pt idx="4">
                  <c:v>6.473319829711895</c:v>
                </c:pt>
                <c:pt idx="5">
                  <c:v>6.433244680872182</c:v>
                </c:pt>
                <c:pt idx="6">
                  <c:v>5.1503700280767655</c:v>
                </c:pt>
                <c:pt idx="7">
                  <c:v>3.1015192989370006</c:v>
                </c:pt>
                <c:pt idx="8">
                  <c:v>2.164598136819089</c:v>
                </c:pt>
                <c:pt idx="9">
                  <c:v>2.136096181068746</c:v>
                </c:pt>
                <c:pt idx="10">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3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c:v>
                </c:pt>
                <c:pt idx="1">
                  <c:v>McKee Foods Corporation</c:v>
                </c:pt>
                <c:pt idx="2">
                  <c:v>Hostess Brands</c:v>
                </c:pt>
                <c:pt idx="3">
                  <c:v>Rich Products Corporation</c:v>
                </c:pt>
                <c:pt idx="4">
                  <c:v>ARYZTA / Aspire Bakeries</c:v>
                </c:pt>
                <c:pt idx="5">
                  <c:v>Europastry</c:v>
                </c:pt>
                <c:pt idx="6">
                  <c:v>Bridor</c:v>
                </c:pt>
                <c:pt idx="7">
                  <c:v>Lantmännen Unibake</c:v>
                </c:pt>
                <c:pt idx="8">
                  <c:v>Flowers Foods</c:v>
                </c:pt>
                <c:pt idx="9">
                  <c:v>Premier Foods</c:v>
                </c:pt>
                <c:pt idx="10">
                  <c:v>Others</c:v>
                </c:pt>
              </c:strCache>
            </c:strRef>
          </c:cat>
          <c:val>
            <c:numRef>
              <c:numCache>
                <c:formatCode>General</c:formatCode>
                <c:ptCount val="11"/>
                <c:pt idx="0">
                  <c:v>11.693602256562977</c:v>
                </c:pt>
                <c:pt idx="1">
                  <c:v>9.98907014549872</c:v>
                </c:pt>
                <c:pt idx="2">
                  <c:v>11.264513875278551</c:v>
                </c:pt>
                <c:pt idx="3">
                  <c:v>11.542462021743303</c:v>
                </c:pt>
                <c:pt idx="4">
                  <c:v>9.170712625473369</c:v>
                </c:pt>
                <c:pt idx="5">
                  <c:v>5.69371565484273</c:v>
                </c:pt>
                <c:pt idx="6">
                  <c:v>3.7515880157620747</c:v>
                </c:pt>
                <c:pt idx="7">
                  <c:v>3.240076671241286</c:v>
                </c:pt>
                <c:pt idx="8">
                  <c:v>3.3901784262482124</c:v>
                </c:pt>
                <c:pt idx="9">
                  <c:v>3.0300946920704144</c:v>
                </c:pt>
                <c:pt idx="10">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3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c:v>
                </c:pt>
                <c:pt idx="1">
                  <c:v>McKee Foods Corporation</c:v>
                </c:pt>
                <c:pt idx="2">
                  <c:v>Hostess Brands</c:v>
                </c:pt>
                <c:pt idx="3">
                  <c:v>Rich Products Corporation</c:v>
                </c:pt>
                <c:pt idx="4">
                  <c:v>ARYZTA / Aspire Bakeries</c:v>
                </c:pt>
                <c:pt idx="5">
                  <c:v>Europastry</c:v>
                </c:pt>
                <c:pt idx="6">
                  <c:v>Bridor</c:v>
                </c:pt>
                <c:pt idx="7">
                  <c:v>Lantmännen Unibake</c:v>
                </c:pt>
                <c:pt idx="8">
                  <c:v>Flowers Foods</c:v>
                </c:pt>
                <c:pt idx="9">
                  <c:v>Premier Foods</c:v>
                </c:pt>
                <c:pt idx="10">
                  <c:v>Others</c:v>
                </c:pt>
              </c:strCache>
            </c:strRef>
          </c:cat>
          <c:val>
            <c:numRef>
              <c:numCache>
                <c:formatCode>General</c:formatCode>
                <c:ptCount val="11"/>
                <c:pt idx="0">
                  <c:v>12.127056022733685</c:v>
                </c:pt>
                <c:pt idx="1">
                  <c:v>13.515963661294228</c:v>
                </c:pt>
                <c:pt idx="2">
                  <c:v>13.672509787055716</c:v>
                </c:pt>
                <c:pt idx="3">
                  <c:v>10.747277583816313</c:v>
                </c:pt>
                <c:pt idx="4">
                  <c:v>6.853819923875349</c:v>
                </c:pt>
                <c:pt idx="5">
                  <c:v>4.527540451517601</c:v>
                </c:pt>
                <c:pt idx="6">
                  <c:v>4.351504519294602</c:v>
                </c:pt>
                <c:pt idx="7">
                  <c:v>4.386878793633664</c:v>
                </c:pt>
                <c:pt idx="8">
                  <c:v>3.8343075690671227</c:v>
                </c:pt>
                <c:pt idx="9">
                  <c:v>2.614124464284719</c:v>
                </c:pt>
                <c:pt idx="10">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3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c:v>
                </c:pt>
                <c:pt idx="1">
                  <c:v>McKee Foods Corporation</c:v>
                </c:pt>
                <c:pt idx="2">
                  <c:v>Hostess Brands</c:v>
                </c:pt>
                <c:pt idx="3">
                  <c:v>Rich Products Corporation</c:v>
                </c:pt>
                <c:pt idx="4">
                  <c:v>ARYZTA / Aspire Bakeries</c:v>
                </c:pt>
                <c:pt idx="5">
                  <c:v>Europastry</c:v>
                </c:pt>
                <c:pt idx="6">
                  <c:v>Bridor</c:v>
                </c:pt>
                <c:pt idx="7">
                  <c:v>Lantmännen Unibake</c:v>
                </c:pt>
                <c:pt idx="8">
                  <c:v>Flowers Foods</c:v>
                </c:pt>
                <c:pt idx="9">
                  <c:v>Premier Foods</c:v>
                </c:pt>
                <c:pt idx="10">
                  <c:v>Others</c:v>
                </c:pt>
              </c:strCache>
            </c:strRef>
          </c:cat>
          <c:val>
            <c:numRef>
              <c:numCache>
                <c:formatCode>General</c:formatCode>
                <c:ptCount val="11"/>
                <c:pt idx="0">
                  <c:v>17.074931814674855</c:v>
                </c:pt>
                <c:pt idx="1">
                  <c:v>12.550885260107192</c:v>
                </c:pt>
                <c:pt idx="2">
                  <c:v>8.380043562697718</c:v>
                </c:pt>
                <c:pt idx="3">
                  <c:v>7.444952014860334</c:v>
                </c:pt>
                <c:pt idx="4">
                  <c:v>8.04660708305492</c:v>
                </c:pt>
                <c:pt idx="5">
                  <c:v>6.919214229256515</c:v>
                </c:pt>
                <c:pt idx="6">
                  <c:v>4.691071174682332</c:v>
                </c:pt>
                <c:pt idx="7">
                  <c:v>2.86510879859984</c:v>
                </c:pt>
                <c:pt idx="8">
                  <c:v>2.560369933335589</c:v>
                </c:pt>
                <c:pt idx="9">
                  <c:v>2.6169804142295043</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3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c:v>
                </c:pt>
                <c:pt idx="1">
                  <c:v>McKee Foods Corporation</c:v>
                </c:pt>
                <c:pt idx="2">
                  <c:v>Hostess Brands</c:v>
                </c:pt>
                <c:pt idx="3">
                  <c:v>Rich Products Corporation</c:v>
                </c:pt>
                <c:pt idx="4">
                  <c:v>ARYZTA / Aspire Bakeries</c:v>
                </c:pt>
                <c:pt idx="5">
                  <c:v>Europastry</c:v>
                </c:pt>
                <c:pt idx="6">
                  <c:v>Bridor</c:v>
                </c:pt>
                <c:pt idx="7">
                  <c:v>Lantmännen Unibake</c:v>
                </c:pt>
                <c:pt idx="8">
                  <c:v>Flowers Foods</c:v>
                </c:pt>
                <c:pt idx="9">
                  <c:v>Premier Foods</c:v>
                </c:pt>
                <c:pt idx="10">
                  <c:v>Others</c:v>
                </c:pt>
              </c:strCache>
            </c:strRef>
          </c:cat>
          <c:val>
            <c:numRef>
              <c:numCache>
                <c:formatCode>General</c:formatCode>
                <c:ptCount val="11"/>
                <c:pt idx="0">
                  <c:v>15.570454803610694</c:v>
                </c:pt>
                <c:pt idx="1">
                  <c:v>10.546713911504883</c:v>
                </c:pt>
                <c:pt idx="2">
                  <c:v>10.489494550876001</c:v>
                </c:pt>
                <c:pt idx="3">
                  <c:v>11.523850319189417</c:v>
                </c:pt>
                <c:pt idx="4">
                  <c:v>9.716274527037694</c:v>
                </c:pt>
                <c:pt idx="5">
                  <c:v>6.041847824962319</c:v>
                </c:pt>
                <c:pt idx="6">
                  <c:v>4.100995695833606</c:v>
                </c:pt>
                <c:pt idx="7">
                  <c:v>3.8524851858046234</c:v>
                </c:pt>
                <c:pt idx="8">
                  <c:v>3.889793811996375</c:v>
                </c:pt>
                <c:pt idx="9">
                  <c:v>2.9792010725276863</c:v>
                </c:pt>
                <c:pt idx="10">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3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c:v>
                </c:pt>
                <c:pt idx="1">
                  <c:v>McKee Foods Corporation</c:v>
                </c:pt>
                <c:pt idx="2">
                  <c:v>Hostess Brands</c:v>
                </c:pt>
                <c:pt idx="3">
                  <c:v>Rich Products Corporation</c:v>
                </c:pt>
                <c:pt idx="4">
                  <c:v>ARYZTA / Aspire Bakeries</c:v>
                </c:pt>
                <c:pt idx="5">
                  <c:v>Europastry</c:v>
                </c:pt>
                <c:pt idx="6">
                  <c:v>Bridor</c:v>
                </c:pt>
                <c:pt idx="7">
                  <c:v>Lantmännen Unibake</c:v>
                </c:pt>
                <c:pt idx="8">
                  <c:v>Flowers Foods</c:v>
                </c:pt>
                <c:pt idx="9">
                  <c:v>Premier Foods</c:v>
                </c:pt>
                <c:pt idx="10">
                  <c:v>Others</c:v>
                </c:pt>
              </c:strCache>
            </c:strRef>
          </c:cat>
          <c:val>
            <c:numRef>
              <c:numCache>
                <c:formatCode>General</c:formatCode>
                <c:ptCount val="11"/>
                <c:pt idx="0">
                  <c:v>11.931858870012501</c:v>
                </c:pt>
                <c:pt idx="1">
                  <c:v>12.495250983383206</c:v>
                </c:pt>
                <c:pt idx="2">
                  <c:v>13.557011133261542</c:v>
                </c:pt>
                <c:pt idx="3">
                  <c:v>11.024479649083794</c:v>
                </c:pt>
                <c:pt idx="4">
                  <c:v>6.975036720459171</c:v>
                </c:pt>
                <c:pt idx="5">
                  <c:v>4.918850211127804</c:v>
                </c:pt>
                <c:pt idx="6">
                  <c:v>5.131252406943278</c:v>
                </c:pt>
                <c:pt idx="7">
                  <c:v>4.808839258461541</c:v>
                </c:pt>
                <c:pt idx="8">
                  <c:v>3.5084788144252483</c:v>
                </c:pt>
                <c:pt idx="9">
                  <c:v>2.100246059545411</c:v>
                </c:pt>
                <c:pt idx="10">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1211.1249075040898</c:v>
                </c:pt>
                <c:pt idx="1">
                  <c:v>673.7917098596855</c:v>
                </c:pt>
                <c:pt idx="2">
                  <c:v>848.1119531502166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598.6848779053987"/>
          <c:min val="0.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907.3144017368124</c:v>
                </c:pt>
                <c:pt idx="1">
                  <c:v>552.2802562171582</c:v>
                </c:pt>
                <c:pt idx="2">
                  <c:v>297.82873181020454</c:v>
                </c:pt>
                <c:pt idx="3">
                  <c:v>336.5236693038014</c:v>
                </c:pt>
                <c:pt idx="4">
                  <c:v>639.0815114460152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97.6550102925926"/>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1143.4154096020775</c:v>
                </c:pt>
                <c:pt idx="1">
                  <c:v>1589.6131609119143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2768.299404</c:v>
                </c:pt>
                <c:pt idx="1">
                  <c:v>2488.4305254161864</c:v>
                </c:pt>
                <c:pt idx="2">
                  <c:v>1818.5885959387524</c:v>
                </c:pt>
                <c:pt idx="3">
                  <c:v>1165.090741584608</c:v>
                </c:pt>
                <c:pt idx="4">
                  <c:v>924.3399917170238</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907.3144017368124</c:v>
                </c:pt>
                <c:pt idx="1">
                  <c:v>552.2802562171582</c:v>
                </c:pt>
                <c:pt idx="2">
                  <c:v>297.82873181020454</c:v>
                </c:pt>
                <c:pt idx="3">
                  <c:v>336.5236693038014</c:v>
                </c:pt>
                <c:pt idx="4">
                  <c:v>639.0815114460152</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543.42323712"/>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480.2057709155283</c:v>
                </c:pt>
                <c:pt idx="1">
                  <c:v>667.5976263594592</c:v>
                </c:pt>
                <c:pt idx="2">
                  <c:v>1244.8538832807953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643.20712593065"/>
          <c:min val="0.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432.4770197367146</c:v>
                </c:pt>
                <c:pt idx="1">
                  <c:v>240.6022936180411</c:v>
                </c:pt>
                <c:pt idx="2">
                  <c:v>302.84979495416013</c:v>
                </c:pt>
                <c:pt idx="3">
                  <c:v>572.11185573378</c:v>
                </c:pt>
                <c:pt idx="4">
                  <c:v>844.6163165130871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14.893537797275"/>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845.6545968005311</c:v>
                </c:pt>
                <c:pt idx="1">
                  <c:v>1547.002683755252</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2928.008985</c:v>
                </c:pt>
                <c:pt idx="1">
                  <c:v>2631.993824959428</c:v>
                </c:pt>
                <c:pt idx="2">
                  <c:v>1923.507168781373</c:v>
                </c:pt>
                <c:pt idx="3">
                  <c:v>1232.307515137566</c:v>
                </c:pt>
                <c:pt idx="4">
                  <c:v>977.6672989314675</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432.4770197367146</c:v>
                </c:pt>
                <c:pt idx="1">
                  <c:v>240.6022936180411</c:v>
                </c:pt>
                <c:pt idx="2">
                  <c:v>302.84979495416013</c:v>
                </c:pt>
                <c:pt idx="3">
                  <c:v>572.11185573378</c:v>
                </c:pt>
                <c:pt idx="4">
                  <c:v>844.6163165130871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747.8515008"/>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308.5250224090556</c:v>
                </c:pt>
                <c:pt idx="1">
                  <c:v>564.4018722043783</c:v>
                </c:pt>
                <c:pt idx="2">
                  <c:v>777.2906082956179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26.023602950215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131.5287288618043</c:v>
                </c:pt>
                <c:pt idx="1">
                  <c:v>182.85550175460835</c:v>
                </c:pt>
                <c:pt idx="2">
                  <c:v>340.9664331489384</c:v>
                </c:pt>
                <c:pt idx="3">
                  <c:v>486.2063223506837</c:v>
                </c:pt>
                <c:pt idx="4">
                  <c:v>508.6605167930171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71.431882166782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708.2154819126263</c:v>
                </c:pt>
                <c:pt idx="1">
                  <c:v>942.0020209964254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3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3087.7185660000005</c:v>
                </c:pt>
                <c:pt idx="1">
                  <c:v>2775.5571245026695</c:v>
                </c:pt>
                <c:pt idx="2">
                  <c:v>2028.4257416239932</c:v>
                </c:pt>
                <c:pt idx="3">
                  <c:v>1299.5242886905241</c:v>
                </c:pt>
                <c:pt idx="4">
                  <c:v>1030.9946061459111</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131.5287288618043</c:v>
                </c:pt>
                <c:pt idx="1">
                  <c:v>182.85550175460835</c:v>
                </c:pt>
                <c:pt idx="2">
                  <c:v>340.9664331489384</c:v>
                </c:pt>
                <c:pt idx="3">
                  <c:v>486.2063223506837</c:v>
                </c:pt>
                <c:pt idx="4">
                  <c:v>508.6605167930171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952.2797644800007"/>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8.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0.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1.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2.xm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3.xm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4.xm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5.xm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6.xm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7.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8.xm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0.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1.xm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2.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3.xm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4.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7.xm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8.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9.xm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2.xm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3.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5.xm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6.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7.xm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8.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0.xm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2.xm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4.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5.xm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6.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8.xm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9.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0.xm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2.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3.xm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4.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6.xm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7.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8.xm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0.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1.xm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2.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4.xm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5.xm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6.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8.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9.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0.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2.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3.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4.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6.xm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7.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8.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0.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2.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4.xm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5.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6.xm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8.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9.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0.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2.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3.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4.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5.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7.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8.xml"/></Relationships>
</file>

<file path=ppt/notesSlides/_rels/notesSlide3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9.xml"/></Relationships>
</file>

<file path=ppt/notesSlides/_rels/notesSlide3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0.xml"/></Relationships>
</file>

<file path=ppt/notesSlides/_rels/notesSlide4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2.xml"/></Relationships>
</file>

<file path=ppt/notesSlides/_rels/notesSlide4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3.xml"/></Relationships>
</file>

<file path=ppt/notesSlides/_rels/notesSlide4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4.xml"/></Relationships>
</file>

<file path=ppt/notesSlides/_rels/notesSlide4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5.xml"/></Relationships>
</file>

<file path=ppt/notesSlides/_rels/notesSlide4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6.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7.xml"/></Relationships>
</file>

<file path=ppt/notesSlides/_rels/notesSlide4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8.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0.xml"/></Relationships>
</file>

<file path=ppt/notesSlides/_rels/notesSlide4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2.xml"/></Relationships>
</file>

<file path=ppt/notesSlides/_rels/notesSlide4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3.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5.xml"/></Relationships>
</file>

<file path=ppt/notesSlides/_rels/notesSlide4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6.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7.xml"/></Relationships>
</file>

<file path=ppt/notesSlides/_rels/notesSlide4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8.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9.xml"/></Relationships>
</file>

<file path=ppt/notesSlides/_rels/notesSlide4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0.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1.xml"/></Relationships>
</file>

<file path=ppt/notesSlides/_rels/notesSlide4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2.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4.xml"/></Relationships>
</file>

<file path=ppt/notesSlides/_rels/notesSlide4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5.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6.xml"/></Relationships>
</file>

<file path=ppt/notesSlides/_rels/notesSlide4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7.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8.xml"/></Relationships>
</file>

<file path=ppt/notesSlides/_rels/notesSlide4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9.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0.xml"/></Relationships>
</file>

<file path=ppt/notesSlides/_rels/notesSlide4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2.xml"/></Relationships>
</file>

<file path=ppt/notesSlides/_rels/notesSlide4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3.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4.xml"/></Relationships>
</file>

<file path=ppt/notesSlides/_rels/notesSlide4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5.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6.xml"/></Relationships>
</file>

<file path=ppt/notesSlides/_rels/notesSlide4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8.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9.xml"/></Relationships>
</file>

<file path=ppt/notesSlides/_rels/notesSlide4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0.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1.xml"/></Relationships>
</file>

<file path=ppt/notesSlides/_rels/notesSlide4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2.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4.xml"/></Relationships>
</file>

<file path=ppt/notesSlides/_rels/notesSlide4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5.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6.xml"/></Relationships>
</file>

<file path=ppt/notesSlides/_rels/notesSlide4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7.xml"/></Relationships>
</file>

<file path=ppt/notesSlides/_rels/notesSlide4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8.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9.xml"/></Relationships>
</file>

<file path=ppt/notesSlides/_rels/notesSlide4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0.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1.xml"/></Relationships>
</file>

<file path=ppt/notesSlides/_rels/notesSlide4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2.xml"/></Relationships>
</file>

<file path=ppt/notesSlides/_rels/notesSlide4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3.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4.xml"/></Relationships>
</file>

<file path=ppt/notesSlides/_rels/notesSlide4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5.xml"/></Relationships>
</file>

<file path=ppt/notesSlides/_rels/notesSlide4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6.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7.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8.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Market Segments  (1/2)</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Market Segments  (2/2)</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Global Packaged Muffins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By Flavour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By Primary Flour Base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By Primary Flour Base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By Dietary Formulation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By Nutritional Positioning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By Nutritional Positioning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By Recipe and Ingredient Claims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By Product Structure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By Surface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By Individual Muffin Size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By Storage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By Shelf Life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By Packaging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By Pack Configuration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By Multipack Wrapping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By Price Positioning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By Brand Ownership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By Sales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Flavour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Flavour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Flavour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Packaging Format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Packaging Format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Packaging Format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Sales Channel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Sales Channel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Sales Channel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Sales Channel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Individual Muffin Size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Individual Muffin Size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Individual Muffin Size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North America Packaged Muffins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By Flavour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By Primary Flour Base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By Primary Flour Base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By Dietary Formulation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By Nutritional Positioning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By Nutritional Positioning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By Recipe and Ingredient Claims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By Product Structure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By Surface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By Individual Muffin Size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By Storage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By Shelf Life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By Packaging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2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By Pack Configuration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By Multipack Wrapping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By Price Positioning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By Brand Ownership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By Sales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3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3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Overview Key Segments (Value)  (1/3)</a:t>
            </a:r>
          </a:p>
        </p:txBody>
      </p:sp>
      <p:sp>
        <p:nvSpPr>
          <p:cNvPr id="4" name="Slide Number Placeholder 3"/>
          <p:cNvSpPr>
            <a:spLocks noGrp="1"/>
          </p:cNvSpPr>
          <p:nvPr>
            <p:ph type="sldNum" idx="5" sz="quarter"/>
          </p:nvPr>
        </p:nvSpPr>
        <p:spPr/>
      </p:sp>
    </p:spTree>
  </p:cSld>
  <p:clrMapOvr>
    <a:masterClrMapping/>
  </p:clrMapOvr>
</p:notes>
</file>

<file path=ppt/notesSlides/notesSlide3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Overview Key Segments (Value)  (2/3)</a:t>
            </a:r>
          </a:p>
        </p:txBody>
      </p:sp>
      <p:sp>
        <p:nvSpPr>
          <p:cNvPr id="4" name="Slide Number Placeholder 3"/>
          <p:cNvSpPr>
            <a:spLocks noGrp="1"/>
          </p:cNvSpPr>
          <p:nvPr>
            <p:ph type="sldNum" idx="5" sz="quarter"/>
          </p:nvPr>
        </p:nvSpPr>
        <p:spPr/>
      </p:sp>
    </p:spTree>
  </p:cSld>
  <p:clrMapOvr>
    <a:masterClrMapping/>
  </p:clrMapOvr>
</p:notes>
</file>

<file path=ppt/notesSlides/notesSlide3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Overview Key Segments (Value)  (3/3)</a:t>
            </a:r>
          </a:p>
        </p:txBody>
      </p:sp>
      <p:sp>
        <p:nvSpPr>
          <p:cNvPr id="4" name="Slide Number Placeholder 3"/>
          <p:cNvSpPr>
            <a:spLocks noGrp="1"/>
          </p:cNvSpPr>
          <p:nvPr>
            <p:ph type="sldNum" idx="5" sz="quarter"/>
          </p:nvPr>
        </p:nvSpPr>
        <p:spPr/>
      </p:sp>
    </p:spTree>
  </p:cSld>
  <p:clrMapOvr>
    <a:masterClrMapping/>
  </p:clrMapOvr>
</p:notes>
</file>

<file path=ppt/notesSlides/notesSlide3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Product Type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Product Type YoY</a:t>
            </a:r>
          </a:p>
        </p:txBody>
      </p:sp>
      <p:sp>
        <p:nvSpPr>
          <p:cNvPr id="4" name="Slide Number Placeholder 3"/>
          <p:cNvSpPr>
            <a:spLocks noGrp="1"/>
          </p:cNvSpPr>
          <p:nvPr>
            <p:ph type="sldNum" idx="5" sz="quarter"/>
          </p:nvPr>
        </p:nvSpPr>
        <p:spPr/>
      </p:sp>
    </p:spTree>
  </p:cSld>
  <p:clrMapOvr>
    <a:masterClrMapping/>
  </p:clrMapOvr>
</p:notes>
</file>

<file path=ppt/notesSlides/notesSlide3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Flavour Segmental</a:t>
            </a:r>
          </a:p>
        </p:txBody>
      </p:sp>
      <p:sp>
        <p:nvSpPr>
          <p:cNvPr id="4" name="Slide Number Placeholder 3"/>
          <p:cNvSpPr>
            <a:spLocks noGrp="1"/>
          </p:cNvSpPr>
          <p:nvPr>
            <p:ph type="sldNum" idx="5" sz="quarter"/>
          </p:nvPr>
        </p:nvSpPr>
        <p:spPr/>
      </p:sp>
    </p:spTree>
  </p:cSld>
  <p:clrMapOvr>
    <a:masterClrMapping/>
  </p:clrMapOvr>
</p:notes>
</file>

<file path=ppt/notesSlides/notesSlide3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Flavour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Flavour YoY</a:t>
            </a:r>
          </a:p>
        </p:txBody>
      </p:sp>
      <p:sp>
        <p:nvSpPr>
          <p:cNvPr id="4" name="Slide Number Placeholder 3"/>
          <p:cNvSpPr>
            <a:spLocks noGrp="1"/>
          </p:cNvSpPr>
          <p:nvPr>
            <p:ph type="sldNum" idx="5" sz="quarter"/>
          </p:nvPr>
        </p:nvSpPr>
        <p:spPr/>
      </p:sp>
    </p:spTree>
  </p:cSld>
  <p:clrMapOvr>
    <a:masterClrMapping/>
  </p:clrMapOvr>
</p:notes>
</file>

<file path=ppt/notesSlides/notesSlide3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Primary Flour Base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Primary Flour Base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Primary Flour Base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Primary Flour Base YoY</a:t>
            </a:r>
          </a:p>
        </p:txBody>
      </p:sp>
      <p:sp>
        <p:nvSpPr>
          <p:cNvPr id="4" name="Slide Number Placeholder 3"/>
          <p:cNvSpPr>
            <a:spLocks noGrp="1"/>
          </p:cNvSpPr>
          <p:nvPr>
            <p:ph type="sldNum" idx="5" sz="quarter"/>
          </p:nvPr>
        </p:nvSpPr>
        <p:spPr/>
      </p:sp>
    </p:spTree>
  </p:cSld>
  <p:clrMapOvr>
    <a:masterClrMapping/>
  </p:clrMapOvr>
</p:notes>
</file>

<file path=ppt/notesSlides/notesSlide3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Dietary Formulation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Dietary Formulation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Dietary Formulation YoY</a:t>
            </a:r>
          </a:p>
        </p:txBody>
      </p:sp>
      <p:sp>
        <p:nvSpPr>
          <p:cNvPr id="4" name="Slide Number Placeholder 3"/>
          <p:cNvSpPr>
            <a:spLocks noGrp="1"/>
          </p:cNvSpPr>
          <p:nvPr>
            <p:ph type="sldNum" idx="5" sz="quarter"/>
          </p:nvPr>
        </p:nvSpPr>
        <p:spPr/>
      </p:sp>
    </p:spTree>
  </p:cSld>
  <p:clrMapOvr>
    <a:masterClrMapping/>
  </p:clrMapOvr>
</p:notes>
</file>

<file path=ppt/notesSlides/notesSlide3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Nutritional Positioning Segmental</a:t>
            </a:r>
          </a:p>
        </p:txBody>
      </p:sp>
      <p:sp>
        <p:nvSpPr>
          <p:cNvPr id="4" name="Slide Number Placeholder 3"/>
          <p:cNvSpPr>
            <a:spLocks noGrp="1"/>
          </p:cNvSpPr>
          <p:nvPr>
            <p:ph type="sldNum" idx="5" sz="quarter"/>
          </p:nvPr>
        </p:nvSpPr>
        <p:spPr/>
      </p:sp>
    </p:spTree>
  </p:cSld>
  <p:clrMapOvr>
    <a:masterClrMapping/>
  </p:clrMapOvr>
</p:notes>
</file>

<file path=ppt/notesSlides/notesSlide3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Nutritional Positioning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Nutritional Positioning YoY</a:t>
            </a:r>
          </a:p>
        </p:txBody>
      </p:sp>
      <p:sp>
        <p:nvSpPr>
          <p:cNvPr id="4" name="Slide Number Placeholder 3"/>
          <p:cNvSpPr>
            <a:spLocks noGrp="1"/>
          </p:cNvSpPr>
          <p:nvPr>
            <p:ph type="sldNum" idx="5" sz="quarter"/>
          </p:nvPr>
        </p:nvSpPr>
        <p:spPr/>
      </p:sp>
    </p:spTree>
  </p:cSld>
  <p:clrMapOvr>
    <a:masterClrMapping/>
  </p:clrMapOvr>
</p:notes>
</file>

<file path=ppt/notesSlides/notesSlide3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Recipe and Ingredient Claims Segmental</a:t>
            </a:r>
          </a:p>
        </p:txBody>
      </p:sp>
      <p:sp>
        <p:nvSpPr>
          <p:cNvPr id="4" name="Slide Number Placeholder 3"/>
          <p:cNvSpPr>
            <a:spLocks noGrp="1"/>
          </p:cNvSpPr>
          <p:nvPr>
            <p:ph type="sldNum" idx="5" sz="quarter"/>
          </p:nvPr>
        </p:nvSpPr>
        <p:spPr/>
      </p:sp>
    </p:spTree>
  </p:cSld>
  <p:clrMapOvr>
    <a:masterClrMapping/>
  </p:clrMapOvr>
</p:notes>
</file>

<file path=ppt/notesSlides/notesSlide3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Recipe and Ingredient Claims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Recipe and Ingredient Claims YoY</a:t>
            </a:r>
          </a:p>
        </p:txBody>
      </p:sp>
      <p:sp>
        <p:nvSpPr>
          <p:cNvPr id="4" name="Slide Number Placeholder 3"/>
          <p:cNvSpPr>
            <a:spLocks noGrp="1"/>
          </p:cNvSpPr>
          <p:nvPr>
            <p:ph type="sldNum" idx="5" sz="quarter"/>
          </p:nvPr>
        </p:nvSpPr>
        <p:spPr/>
      </p:sp>
    </p:spTree>
  </p:cSld>
  <p:clrMapOvr>
    <a:masterClrMapping/>
  </p:clrMapOvr>
</p:notes>
</file>

<file path=ppt/notesSlides/notesSlide3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Product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Product Structure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Product Structure YoY</a:t>
            </a:r>
          </a:p>
        </p:txBody>
      </p:sp>
      <p:sp>
        <p:nvSpPr>
          <p:cNvPr id="4" name="Slide Number Placeholder 3"/>
          <p:cNvSpPr>
            <a:spLocks noGrp="1"/>
          </p:cNvSpPr>
          <p:nvPr>
            <p:ph type="sldNum" idx="5" sz="quarter"/>
          </p:nvPr>
        </p:nvSpPr>
        <p:spPr/>
      </p:sp>
    </p:spTree>
  </p:cSld>
  <p:clrMapOvr>
    <a:masterClrMapping/>
  </p:clrMapOvr>
</p:notes>
</file>

<file path=ppt/notesSlides/notesSlide3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Surface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3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Surface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Surface Finish YoY</a:t>
            </a:r>
          </a:p>
        </p:txBody>
      </p:sp>
      <p:sp>
        <p:nvSpPr>
          <p:cNvPr id="4" name="Slide Number Placeholder 3"/>
          <p:cNvSpPr>
            <a:spLocks noGrp="1"/>
          </p:cNvSpPr>
          <p:nvPr>
            <p:ph type="sldNum" idx="5" sz="quarter"/>
          </p:nvPr>
        </p:nvSpPr>
        <p:spPr/>
      </p:sp>
    </p:spTree>
  </p:cSld>
  <p:clrMapOvr>
    <a:masterClrMapping/>
  </p:clrMapOvr>
</p:notes>
</file>

<file path=ppt/notesSlides/notesSlide3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Individual Muffin Size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Individual Muffin Size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Individual Muffin Size YoY</a:t>
            </a:r>
          </a:p>
        </p:txBody>
      </p:sp>
      <p:sp>
        <p:nvSpPr>
          <p:cNvPr id="4" name="Slide Number Placeholder 3"/>
          <p:cNvSpPr>
            <a:spLocks noGrp="1"/>
          </p:cNvSpPr>
          <p:nvPr>
            <p:ph type="sldNum" idx="5" sz="quarter"/>
          </p:nvPr>
        </p:nvSpPr>
        <p:spPr/>
      </p:sp>
    </p:spTree>
  </p:cSld>
  <p:clrMapOvr>
    <a:masterClrMapping/>
  </p:clrMapOvr>
</p:notes>
</file>

<file path=ppt/notesSlides/notesSlide3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Storage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3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Storage Format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Storage Format YoY</a:t>
            </a:r>
          </a:p>
        </p:txBody>
      </p:sp>
      <p:sp>
        <p:nvSpPr>
          <p:cNvPr id="4" name="Slide Number Placeholder 3"/>
          <p:cNvSpPr>
            <a:spLocks noGrp="1"/>
          </p:cNvSpPr>
          <p:nvPr>
            <p:ph type="sldNum" idx="5" sz="quarter"/>
          </p:nvPr>
        </p:nvSpPr>
        <p:spPr/>
      </p:sp>
    </p:spTree>
  </p:cSld>
  <p:clrMapOvr>
    <a:masterClrMapping/>
  </p:clrMapOvr>
</p:notes>
</file>

<file path=ppt/notesSlides/notesSlide3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Shelf Life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Shelf Life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Shelf Life YoY</a:t>
            </a:r>
          </a:p>
        </p:txBody>
      </p:sp>
      <p:sp>
        <p:nvSpPr>
          <p:cNvPr id="4" name="Slide Number Placeholder 3"/>
          <p:cNvSpPr>
            <a:spLocks noGrp="1"/>
          </p:cNvSpPr>
          <p:nvPr>
            <p:ph type="sldNum" idx="5" sz="quarter"/>
          </p:nvPr>
        </p:nvSpPr>
        <p:spPr/>
      </p:sp>
    </p:spTree>
  </p:cSld>
  <p:clrMapOvr>
    <a:masterClrMapping/>
  </p:clrMapOvr>
</p:notes>
</file>

<file path=ppt/notesSlides/notesSlide3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Packaging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3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Packaging Format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Packaging Format YoY</a:t>
            </a:r>
          </a:p>
        </p:txBody>
      </p:sp>
      <p:sp>
        <p:nvSpPr>
          <p:cNvPr id="4" name="Slide Number Placeholder 3"/>
          <p:cNvSpPr>
            <a:spLocks noGrp="1"/>
          </p:cNvSpPr>
          <p:nvPr>
            <p:ph type="sldNum" idx="5" sz="quarter"/>
          </p:nvPr>
        </p:nvSpPr>
        <p:spPr/>
      </p:sp>
    </p:spTree>
  </p:cSld>
  <p:clrMapOvr>
    <a:masterClrMapping/>
  </p:clrMapOvr>
</p:notes>
</file>

<file path=ppt/notesSlides/notesSlide3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Pack Configuration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Pack Configuration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Pack Configuration YoY</a:t>
            </a:r>
          </a:p>
        </p:txBody>
      </p:sp>
      <p:sp>
        <p:nvSpPr>
          <p:cNvPr id="4" name="Slide Number Placeholder 3"/>
          <p:cNvSpPr>
            <a:spLocks noGrp="1"/>
          </p:cNvSpPr>
          <p:nvPr>
            <p:ph type="sldNum" idx="5" sz="quarter"/>
          </p:nvPr>
        </p:nvSpPr>
        <p:spPr/>
      </p:sp>
    </p:spTree>
  </p:cSld>
  <p:clrMapOvr>
    <a:masterClrMapping/>
  </p:clrMapOvr>
</p:notes>
</file>

<file path=ppt/notesSlides/notesSlide3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Multipack Wrapping Segmental</a:t>
            </a:r>
          </a:p>
        </p:txBody>
      </p:sp>
      <p:sp>
        <p:nvSpPr>
          <p:cNvPr id="4" name="Slide Number Placeholder 3"/>
          <p:cNvSpPr>
            <a:spLocks noGrp="1"/>
          </p:cNvSpPr>
          <p:nvPr>
            <p:ph type="sldNum" idx="5" sz="quarter"/>
          </p:nvPr>
        </p:nvSpPr>
        <p:spPr/>
      </p:sp>
    </p:spTree>
  </p:cSld>
  <p:clrMapOvr>
    <a:masterClrMapping/>
  </p:clrMapOvr>
</p:notes>
</file>

<file path=ppt/notesSlides/notesSlide3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Multipack Wrapping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Multipack Wrapping YoY</a:t>
            </a:r>
          </a:p>
        </p:txBody>
      </p:sp>
      <p:sp>
        <p:nvSpPr>
          <p:cNvPr id="4" name="Slide Number Placeholder 3"/>
          <p:cNvSpPr>
            <a:spLocks noGrp="1"/>
          </p:cNvSpPr>
          <p:nvPr>
            <p:ph type="sldNum" idx="5" sz="quarter"/>
          </p:nvPr>
        </p:nvSpPr>
        <p:spPr/>
      </p:sp>
    </p:spTree>
  </p:cSld>
  <p:clrMapOvr>
    <a:masterClrMapping/>
  </p:clrMapOvr>
</p:notes>
</file>

<file path=ppt/notesSlides/notesSlide3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Price Positioning Segmental</a:t>
            </a:r>
          </a:p>
        </p:txBody>
      </p:sp>
      <p:sp>
        <p:nvSpPr>
          <p:cNvPr id="4" name="Slide Number Placeholder 3"/>
          <p:cNvSpPr>
            <a:spLocks noGrp="1"/>
          </p:cNvSpPr>
          <p:nvPr>
            <p:ph type="sldNum" idx="5" sz="quarter"/>
          </p:nvPr>
        </p:nvSpPr>
        <p:spPr/>
      </p:sp>
    </p:spTree>
  </p:cSld>
  <p:clrMapOvr>
    <a:masterClrMapping/>
  </p:clrMapOvr>
</p:notes>
</file>

<file path=ppt/notesSlides/notesSlide3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Price Positioning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Price Positioning YoY</a:t>
            </a:r>
          </a:p>
        </p:txBody>
      </p:sp>
      <p:sp>
        <p:nvSpPr>
          <p:cNvPr id="4" name="Slide Number Placeholder 3"/>
          <p:cNvSpPr>
            <a:spLocks noGrp="1"/>
          </p:cNvSpPr>
          <p:nvPr>
            <p:ph type="sldNum" idx="5" sz="quarter"/>
          </p:nvPr>
        </p:nvSpPr>
        <p:spPr/>
      </p:sp>
    </p:spTree>
  </p:cSld>
  <p:clrMapOvr>
    <a:masterClrMapping/>
  </p:clrMapOvr>
</p:notes>
</file>

<file path=ppt/notesSlides/notesSlide3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Brand Ownership Segmental</a:t>
            </a:r>
          </a:p>
        </p:txBody>
      </p:sp>
      <p:sp>
        <p:nvSpPr>
          <p:cNvPr id="4" name="Slide Number Placeholder 3"/>
          <p:cNvSpPr>
            <a:spLocks noGrp="1"/>
          </p:cNvSpPr>
          <p:nvPr>
            <p:ph type="sldNum" idx="5" sz="quarter"/>
          </p:nvPr>
        </p:nvSpPr>
        <p:spPr/>
      </p:sp>
    </p:spTree>
  </p:cSld>
  <p:clrMapOvr>
    <a:masterClrMapping/>
  </p:clrMapOvr>
</p:notes>
</file>

<file path=ppt/notesSlides/notesSlide3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Brand Ownership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Brand Ownership YoY</a:t>
            </a:r>
          </a:p>
        </p:txBody>
      </p:sp>
      <p:sp>
        <p:nvSpPr>
          <p:cNvPr id="4" name="Slide Number Placeholder 3"/>
          <p:cNvSpPr>
            <a:spLocks noGrp="1"/>
          </p:cNvSpPr>
          <p:nvPr>
            <p:ph type="sldNum" idx="5" sz="quarter"/>
          </p:nvPr>
        </p:nvSpPr>
        <p:spPr/>
      </p:sp>
    </p:spTree>
  </p:cSld>
  <p:clrMapOvr>
    <a:masterClrMapping/>
  </p:clrMapOvr>
</p:notes>
</file>

<file path=ppt/notesSlides/notesSlide3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Sales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3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Sales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Country Sales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3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3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4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4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4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4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4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4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4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4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4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4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4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4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4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4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4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4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4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4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4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4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4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4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4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4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4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4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4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4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4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4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4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4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4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4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4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4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4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4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4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Snapshot</a:t>
            </a:r>
          </a:p>
        </p:txBody>
      </p:sp>
      <p:sp>
        <p:nvSpPr>
          <p:cNvPr id="4" name="Slide Number Placeholder 3"/>
          <p:cNvSpPr>
            <a:spLocks noGrp="1"/>
          </p:cNvSpPr>
          <p:nvPr>
            <p:ph type="sldNum" idx="5" sz="quarter"/>
          </p:nvPr>
        </p:nvSpPr>
        <p:spPr/>
      </p:sp>
    </p:spTree>
  </p:cSld>
  <p:clrMapOvr>
    <a:masterClrMapping/>
  </p:clrMapOvr>
</p:notes>
</file>

<file path=ppt/notesSlides/notesSlide4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4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4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4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4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Snapshot</a:t>
            </a:r>
          </a:p>
        </p:txBody>
      </p:sp>
      <p:sp>
        <p:nvSpPr>
          <p:cNvPr id="4" name="Slide Number Placeholder 3"/>
          <p:cNvSpPr>
            <a:spLocks noGrp="1"/>
          </p:cNvSpPr>
          <p:nvPr>
            <p:ph type="sldNum" idx="5" sz="quarter"/>
          </p:nvPr>
        </p:nvSpPr>
        <p:spPr/>
      </p:sp>
    </p:spTree>
  </p:cSld>
  <p:clrMapOvr>
    <a:masterClrMapping/>
  </p:clrMapOvr>
</p:notes>
</file>

<file path=ppt/notesSlides/notesSlide4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4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4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4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4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Snapshot</a:t>
            </a:r>
          </a:p>
        </p:txBody>
      </p:sp>
      <p:sp>
        <p:nvSpPr>
          <p:cNvPr id="4" name="Slide Number Placeholder 3"/>
          <p:cNvSpPr>
            <a:spLocks noGrp="1"/>
          </p:cNvSpPr>
          <p:nvPr>
            <p:ph type="sldNum" idx="5" sz="quarter"/>
          </p:nvPr>
        </p:nvSpPr>
        <p:spPr/>
      </p:sp>
    </p:spTree>
  </p:cSld>
  <p:clrMapOvr>
    <a:masterClrMapping/>
  </p:clrMapOvr>
</p:notes>
</file>

<file path=ppt/notesSlides/notesSlide4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4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4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4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4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(1/12)</a:t>
            </a:r>
          </a:p>
        </p:txBody>
      </p:sp>
      <p:sp>
        <p:nvSpPr>
          <p:cNvPr id="4" name="Slide Number Placeholder 3"/>
          <p:cNvSpPr>
            <a:spLocks noGrp="1"/>
          </p:cNvSpPr>
          <p:nvPr>
            <p:ph type="sldNum" idx="5" sz="quarter"/>
          </p:nvPr>
        </p:nvSpPr>
        <p:spPr/>
      </p:sp>
    </p:spTree>
  </p:cSld>
  <p:clrMapOvr>
    <a:masterClrMapping/>
  </p:clrMapOvr>
</p:notes>
</file>

<file path=ppt/notesSlides/notesSlide4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(2/12)</a:t>
            </a:r>
          </a:p>
        </p:txBody>
      </p:sp>
      <p:sp>
        <p:nvSpPr>
          <p:cNvPr id="4" name="Slide Number Placeholder 3"/>
          <p:cNvSpPr>
            <a:spLocks noGrp="1"/>
          </p:cNvSpPr>
          <p:nvPr>
            <p:ph type="sldNum" idx="5" sz="quarter"/>
          </p:nvPr>
        </p:nvSpPr>
        <p:spPr/>
      </p:sp>
    </p:spTree>
  </p:cSld>
  <p:clrMapOvr>
    <a:masterClrMapping/>
  </p:clrMapOvr>
</p:notes>
</file>

<file path=ppt/notesSlides/notesSlide4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(3/12)</a:t>
            </a:r>
          </a:p>
        </p:txBody>
      </p:sp>
      <p:sp>
        <p:nvSpPr>
          <p:cNvPr id="4" name="Slide Number Placeholder 3"/>
          <p:cNvSpPr>
            <a:spLocks noGrp="1"/>
          </p:cNvSpPr>
          <p:nvPr>
            <p:ph type="sldNum" idx="5" sz="quarter"/>
          </p:nvPr>
        </p:nvSpPr>
        <p:spPr/>
      </p:sp>
    </p:spTree>
  </p:cSld>
  <p:clrMapOvr>
    <a:masterClrMapping/>
  </p:clrMapOvr>
</p:notes>
</file>

<file path=ppt/notesSlides/notesSlide4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(4/12)</a:t>
            </a:r>
          </a:p>
        </p:txBody>
      </p:sp>
      <p:sp>
        <p:nvSpPr>
          <p:cNvPr id="4" name="Slide Number Placeholder 3"/>
          <p:cNvSpPr>
            <a:spLocks noGrp="1"/>
          </p:cNvSpPr>
          <p:nvPr>
            <p:ph type="sldNum" idx="5" sz="quarter"/>
          </p:nvPr>
        </p:nvSpPr>
        <p:spPr/>
      </p:sp>
    </p:spTree>
  </p:cSld>
  <p:clrMapOvr>
    <a:masterClrMapping/>
  </p:clrMapOvr>
</p:notes>
</file>

<file path=ppt/notesSlides/notesSlide4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(5/12)</a:t>
            </a:r>
          </a:p>
        </p:txBody>
      </p:sp>
      <p:sp>
        <p:nvSpPr>
          <p:cNvPr id="4" name="Slide Number Placeholder 3"/>
          <p:cNvSpPr>
            <a:spLocks noGrp="1"/>
          </p:cNvSpPr>
          <p:nvPr>
            <p:ph type="sldNum" idx="5" sz="quarter"/>
          </p:nvPr>
        </p:nvSpPr>
        <p:spPr/>
      </p:sp>
    </p:spTree>
  </p:cSld>
  <p:clrMapOvr>
    <a:masterClrMapping/>
  </p:clrMapOvr>
</p:notes>
</file>

<file path=ppt/notesSlides/notesSlide4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(6/12)</a:t>
            </a:r>
          </a:p>
        </p:txBody>
      </p:sp>
      <p:sp>
        <p:nvSpPr>
          <p:cNvPr id="4" name="Slide Number Placeholder 3"/>
          <p:cNvSpPr>
            <a:spLocks noGrp="1"/>
          </p:cNvSpPr>
          <p:nvPr>
            <p:ph type="sldNum" idx="5" sz="quarter"/>
          </p:nvPr>
        </p:nvSpPr>
        <p:spPr/>
      </p:sp>
    </p:spTree>
  </p:cSld>
  <p:clrMapOvr>
    <a:masterClrMapping/>
  </p:clrMapOvr>
</p:notes>
</file>

<file path=ppt/notesSlides/notesSlide4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(7/12)</a:t>
            </a:r>
          </a:p>
        </p:txBody>
      </p:sp>
      <p:sp>
        <p:nvSpPr>
          <p:cNvPr id="4" name="Slide Number Placeholder 3"/>
          <p:cNvSpPr>
            <a:spLocks noGrp="1"/>
          </p:cNvSpPr>
          <p:nvPr>
            <p:ph type="sldNum" idx="5" sz="quarter"/>
          </p:nvPr>
        </p:nvSpPr>
        <p:spPr/>
      </p:sp>
    </p:spTree>
  </p:cSld>
  <p:clrMapOvr>
    <a:masterClrMapping/>
  </p:clrMapOvr>
</p:notes>
</file>

<file path=ppt/notesSlides/notesSlide4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(8/12)</a:t>
            </a:r>
          </a:p>
        </p:txBody>
      </p:sp>
      <p:sp>
        <p:nvSpPr>
          <p:cNvPr id="4" name="Slide Number Placeholder 3"/>
          <p:cNvSpPr>
            <a:spLocks noGrp="1"/>
          </p:cNvSpPr>
          <p:nvPr>
            <p:ph type="sldNum" idx="5" sz="quarter"/>
          </p:nvPr>
        </p:nvSpPr>
        <p:spPr/>
      </p:sp>
    </p:spTree>
  </p:cSld>
  <p:clrMapOvr>
    <a:masterClrMapping/>
  </p:clrMapOvr>
</p:notes>
</file>

<file path=ppt/notesSlides/notesSlide4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(9/12)</a:t>
            </a:r>
          </a:p>
        </p:txBody>
      </p:sp>
      <p:sp>
        <p:nvSpPr>
          <p:cNvPr id="4" name="Slide Number Placeholder 3"/>
          <p:cNvSpPr>
            <a:spLocks noGrp="1"/>
          </p:cNvSpPr>
          <p:nvPr>
            <p:ph type="sldNum" idx="5" sz="quarter"/>
          </p:nvPr>
        </p:nvSpPr>
        <p:spPr/>
      </p:sp>
    </p:spTree>
  </p:cSld>
  <p:clrMapOvr>
    <a:masterClrMapping/>
  </p:clrMapOvr>
</p:notes>
</file>

<file path=ppt/notesSlides/notesSlide4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(10/12)</a:t>
            </a:r>
          </a:p>
        </p:txBody>
      </p:sp>
      <p:sp>
        <p:nvSpPr>
          <p:cNvPr id="4" name="Slide Number Placeholder 3"/>
          <p:cNvSpPr>
            <a:spLocks noGrp="1"/>
          </p:cNvSpPr>
          <p:nvPr>
            <p:ph type="sldNum" idx="5" sz="quarter"/>
          </p:nvPr>
        </p:nvSpPr>
        <p:spPr/>
      </p:sp>
    </p:spTree>
  </p:cSld>
  <p:clrMapOvr>
    <a:masterClrMapping/>
  </p:clrMapOvr>
</p:notes>
</file>

<file path=ppt/notesSlides/notesSlide4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(11/12)</a:t>
            </a:r>
          </a:p>
        </p:txBody>
      </p:sp>
      <p:sp>
        <p:nvSpPr>
          <p:cNvPr id="4" name="Slide Number Placeholder 3"/>
          <p:cNvSpPr>
            <a:spLocks noGrp="1"/>
          </p:cNvSpPr>
          <p:nvPr>
            <p:ph type="sldNum" idx="5" sz="quarter"/>
          </p:nvPr>
        </p:nvSpPr>
        <p:spPr/>
      </p:sp>
    </p:spTree>
  </p:cSld>
  <p:clrMapOvr>
    <a:masterClrMapping/>
  </p:clrMapOvr>
</p:notes>
</file>

<file path=ppt/notesSlides/notesSlide4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(12/12)</a:t>
            </a:r>
          </a:p>
        </p:txBody>
      </p:sp>
      <p:sp>
        <p:nvSpPr>
          <p:cNvPr id="4" name="Slide Number Placeholder 3"/>
          <p:cNvSpPr>
            <a:spLocks noGrp="1"/>
          </p:cNvSpPr>
          <p:nvPr>
            <p:ph type="sldNum" idx="5" sz="quarter"/>
          </p:nvPr>
        </p:nvSpPr>
        <p:spPr/>
      </p:sp>
    </p:spTree>
  </p:cSld>
  <p:clrMapOvr>
    <a:masterClrMapping/>
  </p:clrMapOvr>
</p:notes>
</file>

<file path=ppt/notesSlides/notesSlide4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4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4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4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4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4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4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4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1.xml"/><Relationship Id="rId7" Type="http://schemas.openxmlformats.org/officeDocument/2006/relationships/slide" Target="slide24.xml"/><Relationship Id="rId8" Type="http://schemas.openxmlformats.org/officeDocument/2006/relationships/slide" Target="slide33.xml"/><Relationship Id="rId9" Type="http://schemas.openxmlformats.org/officeDocument/2006/relationships/slide" Target="slide34.xml"/><Relationship Id="rId10" Type="http://schemas.openxmlformats.org/officeDocument/2006/relationships/slide" Target="slide45.xml"/><Relationship Id="rId11" Type="http://schemas.openxmlformats.org/officeDocument/2006/relationships/slide" Target="slide53.xml"/><Relationship Id="rId12" Type="http://schemas.openxmlformats.org/officeDocument/2006/relationships/slide" Target="slide212.xml"/><Relationship Id="rId13" Type="http://schemas.openxmlformats.org/officeDocument/2006/relationships/slide" Target="slide230.xml"/><Relationship Id="rId14" Type="http://schemas.openxmlformats.org/officeDocument/2006/relationships/slide" Target="slide231.xml"/><Relationship Id="rId15" Type="http://schemas.openxmlformats.org/officeDocument/2006/relationships/slide" Target="slide241.xml"/><Relationship Id="rId16" Type="http://schemas.openxmlformats.org/officeDocument/2006/relationships/slide" Target="slide249.xml"/><Relationship Id="rId17" Type="http://schemas.openxmlformats.org/officeDocument/2006/relationships/slide" Target="slide408.xml"/><Relationship Id="rId18" Type="http://schemas.openxmlformats.org/officeDocument/2006/relationships/slide" Target="slide409.xml"/><Relationship Id="rId19" Type="http://schemas.openxmlformats.org/officeDocument/2006/relationships/slide" Target="slide415.xml"/><Relationship Id="rId20" Type="http://schemas.openxmlformats.org/officeDocument/2006/relationships/slide" Target="slide485.xml"/><Relationship Id="rId21" Type="http://schemas.openxmlformats.org/officeDocument/2006/relationships/slide" Target="slide486.xml"/><Relationship Id="rId22" Type="http://schemas.openxmlformats.org/officeDocument/2006/relationships/slide" Target="slide499.xml"/><Relationship Id="rId23" Type="http://schemas.openxmlformats.org/officeDocument/2006/relationships/slide" Target="slide503.xml"/><Relationship Id="rId24" Type="http://schemas.openxmlformats.org/officeDocument/2006/relationships/slide" Target="slide504.xml"/><Relationship Id="rId25" Type="http://schemas.openxmlformats.org/officeDocument/2006/relationships/slide" Target="slide512.xml"/><Relationship Id="rId26" Type="http://schemas.openxmlformats.org/officeDocument/2006/relationships/slide" Target="slide513.xml"/><Relationship Id="rId27" Type="http://schemas.openxmlformats.org/officeDocument/2006/relationships/slide" Target="slide527.xml"/><Relationship Id="rId28" Type="http://schemas.openxmlformats.org/officeDocument/2006/relationships/slide" Target="slide53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8.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9.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8.xml"/><Relationship Id="rId6"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xml"/><Relationship Id="rId4"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1.xml"/><Relationship Id="rId6" Type="http://schemas.openxmlformats.org/officeDocument/2006/relationships/image" Target="../media/image2.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2.xml"/><Relationship Id="rId6"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 Id="rId4" Type="http://schemas.openxmlformats.org/officeDocument/2006/relationships/image" Target="../media/image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xml"/><Relationship Id="rId4" Type="http://schemas.openxmlformats.org/officeDocument/2006/relationships/image" Target="../media/image2.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5.xml"/><Relationship Id="rId5" Type="http://schemas.openxmlformats.org/officeDocument/2006/relationships/image" Target="../media/image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 Id="rId4"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7.xml"/><Relationship Id="rId5" Type="http://schemas.openxmlformats.org/officeDocument/2006/relationships/image" Target="../media/image2.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xml"/><Relationship Id="rId4" Type="http://schemas.openxmlformats.org/officeDocument/2006/relationships/image" Target="../media/image57.png"/><Relationship Id="rId5" Type="http://schemas.openxmlformats.org/officeDocument/2006/relationships/image" Target="../media/image58.png"/><Relationship Id="rId6" Type="http://schemas.openxmlformats.org/officeDocument/2006/relationships/image" Target="../media/image59.png"/><Relationship Id="rId7" Type="http://schemas.openxmlformats.org/officeDocument/2006/relationships/image" Target="../media/image60.png"/><Relationship Id="rId8" Type="http://schemas.openxmlformats.org/officeDocument/2006/relationships/image" Target="../media/image61.png"/><Relationship Id="rId9" Type="http://schemas.openxmlformats.org/officeDocument/2006/relationships/image" Target="../media/image62.png"/><Relationship Id="rId10" Type="http://schemas.openxmlformats.org/officeDocument/2006/relationships/image" Target="../media/image63.png"/><Relationship Id="rId11" Type="http://schemas.openxmlformats.org/officeDocument/2006/relationships/image" Target="../media/image64.png"/><Relationship Id="rId12" Type="http://schemas.openxmlformats.org/officeDocument/2006/relationships/image" Target="../media/image65.png"/><Relationship Id="rId13" Type="http://schemas.openxmlformats.org/officeDocument/2006/relationships/image" Target="../media/image66.png"/><Relationship Id="rId14" Type="http://schemas.openxmlformats.org/officeDocument/2006/relationships/image" Target="../media/image67.png"/><Relationship Id="rId15" Type="http://schemas.openxmlformats.org/officeDocument/2006/relationships/image" Target="../media/image68.png"/><Relationship Id="rId16" Type="http://schemas.openxmlformats.org/officeDocument/2006/relationships/image" Target="../media/image69.png"/><Relationship Id="rId17" Type="http://schemas.openxmlformats.org/officeDocument/2006/relationships/image" Target="../media/image70.png"/><Relationship Id="rId18" Type="http://schemas.openxmlformats.org/officeDocument/2006/relationships/image" Target="../media/image71.png"/><Relationship Id="rId19" Type="http://schemas.openxmlformats.org/officeDocument/2006/relationships/image" Target="../media/image72.png"/><Relationship Id="rId20" Type="http://schemas.openxmlformats.org/officeDocument/2006/relationships/image" Target="../media/image73.png"/><Relationship Id="rId21" Type="http://schemas.openxmlformats.org/officeDocument/2006/relationships/image" Target="../media/image74.png"/><Relationship Id="rId22" Type="http://schemas.openxmlformats.org/officeDocument/2006/relationships/image" Target="../media/image2.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9.xml"/><Relationship Id="rId5" Type="http://schemas.openxmlformats.org/officeDocument/2006/relationships/image" Target="../media/image2.png"/><Relationship Id="rId6" Type="http://schemas.openxmlformats.org/officeDocument/2006/relationships/image" Target="../media/image85.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20.xml"/><Relationship Id="rId5" Type="http://schemas.openxmlformats.org/officeDocument/2006/relationships/image" Target="../media/image2.png"/><Relationship Id="rId6" Type="http://schemas.openxmlformats.org/officeDocument/2006/relationships/image" Target="../media/image97.png"/><Relationship Id="rId7" Type="http://schemas.openxmlformats.org/officeDocument/2006/relationships/image" Target="../media/image98.png"/><Relationship Id="rId8" Type="http://schemas.openxmlformats.org/officeDocument/2006/relationships/image" Target="../media/image99.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 Id="rId4"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xml"/><Relationship Id="rId4" Type="http://schemas.openxmlformats.org/officeDocument/2006/relationships/image" Target="../media/image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2.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xml"/><Relationship Id="rId4" Type="http://schemas.openxmlformats.org/officeDocument/2006/relationships/image" Target="../media/image102.png"/><Relationship Id="rId5" Type="http://schemas.openxmlformats.org/officeDocument/2006/relationships/image" Target="../media/image103.png"/><Relationship Id="rId6" Type="http://schemas.openxmlformats.org/officeDocument/2006/relationships/image" Target="../media/image104.png"/><Relationship Id="rId7" Type="http://schemas.openxmlformats.org/officeDocument/2006/relationships/image" Target="../media/image105.png"/><Relationship Id="rId8" Type="http://schemas.openxmlformats.org/officeDocument/2006/relationships/image" Target="../media/image106.png"/><Relationship Id="rId9" Type="http://schemas.openxmlformats.org/officeDocument/2006/relationships/image" Target="../media/image107.png"/><Relationship Id="rId10"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6.xml"/><Relationship Id="rId6" Type="http://schemas.openxmlformats.org/officeDocument/2006/relationships/image" Target="../media/image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notesSlide" Target="../notesSlides/notesSlide27.xml"/><Relationship Id="rId6" Type="http://schemas.openxmlformats.org/officeDocument/2006/relationships/image" Target="../media/image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 Id="rId4"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 Id="rId4"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xml"/><Relationship Id="rId4" Type="http://schemas.openxmlformats.org/officeDocument/2006/relationships/notesSlide" Target="../notesSlides/notesSlide30.xml"/><Relationship Id="rId5" Type="http://schemas.openxmlformats.org/officeDocument/2006/relationships/image" Target="../media/image2.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 Id="rId4"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 Id="rId4" Type="http://schemas.openxmlformats.org/officeDocument/2006/relationships/image" Target="../media/image2.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 Id="rId4" Type="http://schemas.openxmlformats.org/officeDocument/2006/relationships/image" Target="../media/image124.png"/><Relationship Id="rId5" Type="http://schemas.openxmlformats.org/officeDocument/2006/relationships/image" Target="../media/image125.png"/><Relationship Id="rId6" Type="http://schemas.openxmlformats.org/officeDocument/2006/relationships/image" Target="../media/image126.png"/><Relationship Id="rId7" Type="http://schemas.openxmlformats.org/officeDocument/2006/relationships/image" Target="../media/image127.png"/><Relationship Id="rId8" Type="http://schemas.openxmlformats.org/officeDocument/2006/relationships/image" Target="../media/image128.png"/><Relationship Id="rId9" Type="http://schemas.openxmlformats.org/officeDocument/2006/relationships/image" Target="../media/image129.png"/><Relationship Id="rId10"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xml"/><Relationship Id="rId4" Type="http://schemas.openxmlformats.org/officeDocument/2006/relationships/chart" Target="../charts/chart21.xml"/><Relationship Id="rId5" Type="http://schemas.openxmlformats.org/officeDocument/2006/relationships/notesSlide" Target="../notesSlides/notesSlide34.xml"/><Relationship Id="rId6" Type="http://schemas.openxmlformats.org/officeDocument/2006/relationships/image" Target="../media/image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5.xml"/><Relationship Id="rId6" Type="http://schemas.openxmlformats.org/officeDocument/2006/relationships/image" Target="../media/image2.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 Id="rId4" Type="http://schemas.openxmlformats.org/officeDocument/2006/relationships/image" Target="../media/image2.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xml"/><Relationship Id="rId4" Type="http://schemas.openxmlformats.org/officeDocument/2006/relationships/image" Target="../media/image2.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notesSlide" Target="../notesSlides/notesSlide38.xml"/><Relationship Id="rId5" Type="http://schemas.openxmlformats.org/officeDocument/2006/relationships/image" Target="../media/image2.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 Id="rId4"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 Id="rId4" Type="http://schemas.openxmlformats.org/officeDocument/2006/relationships/image" Target="../media/image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 Id="rId4" Type="http://schemas.openxmlformats.org/officeDocument/2006/relationships/image" Target="../media/image148.png"/><Relationship Id="rId5" Type="http://schemas.openxmlformats.org/officeDocument/2006/relationships/image" Target="../media/image149.png"/><Relationship Id="rId6" Type="http://schemas.openxmlformats.org/officeDocument/2006/relationships/image" Target="../media/image150.png"/><Relationship Id="rId7" Type="http://schemas.openxmlformats.org/officeDocument/2006/relationships/image" Target="../media/image151.png"/><Relationship Id="rId8" Type="http://schemas.openxmlformats.org/officeDocument/2006/relationships/image" Target="../media/image152.png"/><Relationship Id="rId9" Type="http://schemas.openxmlformats.org/officeDocument/2006/relationships/image" Target="../media/image153.png"/><Relationship Id="rId10" Type="http://schemas.openxmlformats.org/officeDocument/2006/relationships/image" Target="../media/image154.png"/><Relationship Id="rId11" Type="http://schemas.openxmlformats.org/officeDocument/2006/relationships/image" Target="../media/image155.png"/><Relationship Id="rId12" Type="http://schemas.openxmlformats.org/officeDocument/2006/relationships/image" Target="../media/image156.png"/><Relationship Id="rId13" Type="http://schemas.openxmlformats.org/officeDocument/2006/relationships/image" Target="../media/image157.png"/><Relationship Id="rId14" Type="http://schemas.openxmlformats.org/officeDocument/2006/relationships/image" Target="../media/image158.png"/><Relationship Id="rId15" Type="http://schemas.openxmlformats.org/officeDocument/2006/relationships/image" Target="../media/image85.png"/><Relationship Id="rId16" Type="http://schemas.openxmlformats.org/officeDocument/2006/relationships/image" Target="../media/image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 Id="rId4" Type="http://schemas.openxmlformats.org/officeDocument/2006/relationships/image" Target="../media/image159.png"/><Relationship Id="rId5" Type="http://schemas.openxmlformats.org/officeDocument/2006/relationships/image" Target="../media/image160.png"/><Relationship Id="rId6" Type="http://schemas.openxmlformats.org/officeDocument/2006/relationships/image" Target="../media/image129.png"/><Relationship Id="rId7" Type="http://schemas.openxmlformats.org/officeDocument/2006/relationships/image" Target="../media/image161.png"/><Relationship Id="rId8" Type="http://schemas.openxmlformats.org/officeDocument/2006/relationships/image" Target="../media/image162.png"/><Relationship Id="rId9" Type="http://schemas.openxmlformats.org/officeDocument/2006/relationships/image" Target="../media/image163.png"/><Relationship Id="rId10" Type="http://schemas.openxmlformats.org/officeDocument/2006/relationships/image" Target="../media/image164.png"/><Relationship Id="rId11" Type="http://schemas.openxmlformats.org/officeDocument/2006/relationships/image" Target="../media/image165.png"/><Relationship Id="rId12" Type="http://schemas.openxmlformats.org/officeDocument/2006/relationships/image" Target="../media/image166.png"/><Relationship Id="rId13" Type="http://schemas.openxmlformats.org/officeDocument/2006/relationships/image" Target="../media/image167.png"/><Relationship Id="rId14" Type="http://schemas.openxmlformats.org/officeDocument/2006/relationships/image" Target="../media/image168.png"/><Relationship Id="rId15" Type="http://schemas.openxmlformats.org/officeDocument/2006/relationships/image" Target="../media/image156.png"/><Relationship Id="rId16"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xml"/><Relationship Id="rId4" Type="http://schemas.openxmlformats.org/officeDocument/2006/relationships/chart" Target="../charts/chart26.xml"/><Relationship Id="rId5" Type="http://schemas.openxmlformats.org/officeDocument/2006/relationships/notesSlide" Target="../notesSlides/notesSlide43.xml"/><Relationship Id="rId6" Type="http://schemas.openxmlformats.org/officeDocument/2006/relationships/image" Target="../media/image2.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notesSlide" Target="../notesSlides/notesSlide44.xml"/><Relationship Id="rId8" Type="http://schemas.openxmlformats.org/officeDocument/2006/relationships/image" Target="../media/image2.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chart" Target="../charts/chart32.xml"/><Relationship Id="rId5" Type="http://schemas.openxmlformats.org/officeDocument/2006/relationships/chart" Target="../charts/chart33.xml"/><Relationship Id="rId6" Type="http://schemas.openxmlformats.org/officeDocument/2006/relationships/chart" Target="../charts/chart34.xml"/><Relationship Id="rId7" Type="http://schemas.openxmlformats.org/officeDocument/2006/relationships/notesSlide" Target="../notesSlides/notesSlide45.xml"/><Relationship Id="rId8" Type="http://schemas.openxmlformats.org/officeDocument/2006/relationships/image" Target="../media/image2.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 Id="rId4"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 Id="rId4"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8.xml"/><Relationship Id="rId5"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 Id="rId4"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 Id="rId4" Type="http://schemas.openxmlformats.org/officeDocument/2006/relationships/image" Target="../media/image2.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 Id="rId4" Type="http://schemas.openxmlformats.org/officeDocument/2006/relationships/image" Target="../media/image233.png"/><Relationship Id="rId5" Type="http://schemas.openxmlformats.org/officeDocument/2006/relationships/image" Target="../media/image234.png"/><Relationship Id="rId6" Type="http://schemas.openxmlformats.org/officeDocument/2006/relationships/image" Target="../media/image104.png"/><Relationship Id="rId7" Type="http://schemas.openxmlformats.org/officeDocument/2006/relationships/image" Target="../media/image235.png"/><Relationship Id="rId8" Type="http://schemas.openxmlformats.org/officeDocument/2006/relationships/image" Target="../media/image236.png"/><Relationship Id="rId9" Type="http://schemas.openxmlformats.org/officeDocument/2006/relationships/image" Target="../media/image85.png"/><Relationship Id="rId10" Type="http://schemas.openxmlformats.org/officeDocument/2006/relationships/image" Target="../media/image237.png"/><Relationship Id="rId11" Type="http://schemas.openxmlformats.org/officeDocument/2006/relationships/image" Target="../media/image238.png"/><Relationship Id="rId12" Type="http://schemas.openxmlformats.org/officeDocument/2006/relationships/image" Target="../media/image239.png"/><Relationship Id="rId13" Type="http://schemas.openxmlformats.org/officeDocument/2006/relationships/image" Target="../media/image240.png"/><Relationship Id="rId14" Type="http://schemas.openxmlformats.org/officeDocument/2006/relationships/image" Target="../media/image241.png"/><Relationship Id="rId15" Type="http://schemas.openxmlformats.org/officeDocument/2006/relationships/image" Target="../media/image242.png"/><Relationship Id="rId16" Type="http://schemas.openxmlformats.org/officeDocument/2006/relationships/image" Target="../media/image2.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52.xml"/><Relationship Id="rId6" Type="http://schemas.openxmlformats.org/officeDocument/2006/relationships/image" Target="../media/image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53.xml"/><Relationship Id="rId8" Type="http://schemas.openxmlformats.org/officeDocument/2006/relationships/image" Target="../media/image2.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 Id="rId4"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 Id="rId4"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notesSlide" Target="../notesSlides/notesSlide56.xml"/><Relationship Id="rId5"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 Id="rId4"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 Id="rId4" Type="http://schemas.openxmlformats.org/officeDocument/2006/relationships/image" Target="../media/image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77.png"/><Relationship Id="rId5" Type="http://schemas.openxmlformats.org/officeDocument/2006/relationships/image" Target="../media/image278.png"/><Relationship Id="rId6" Type="http://schemas.openxmlformats.org/officeDocument/2006/relationships/image" Target="../media/image279.png"/><Relationship Id="rId7" Type="http://schemas.openxmlformats.org/officeDocument/2006/relationships/image" Target="../media/image280.png"/><Relationship Id="rId8" Type="http://schemas.openxmlformats.org/officeDocument/2006/relationships/image" Target="../media/image281.png"/><Relationship Id="rId9" Type="http://schemas.openxmlformats.org/officeDocument/2006/relationships/image" Target="../media/image282.png"/><Relationship Id="rId10" Type="http://schemas.openxmlformats.org/officeDocument/2006/relationships/image" Target="../media/image283.png"/><Relationship Id="rId11" Type="http://schemas.openxmlformats.org/officeDocument/2006/relationships/image" Target="../media/image284.png"/><Relationship Id="rId12" Type="http://schemas.openxmlformats.org/officeDocument/2006/relationships/image" Target="../media/image68.png"/><Relationship Id="rId13" Type="http://schemas.openxmlformats.org/officeDocument/2006/relationships/image" Target="../media/image285.png"/><Relationship Id="rId14" Type="http://schemas.openxmlformats.org/officeDocument/2006/relationships/image" Target="../media/image286.png"/><Relationship Id="rId15" Type="http://schemas.openxmlformats.org/officeDocument/2006/relationships/image" Target="../media/image287.png"/><Relationship Id="rId16" Type="http://schemas.openxmlformats.org/officeDocument/2006/relationships/image" Target="../media/image2.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 Id="rId4" Type="http://schemas.openxmlformats.org/officeDocument/2006/relationships/image" Target="../media/image288.png"/><Relationship Id="rId5" Type="http://schemas.openxmlformats.org/officeDocument/2006/relationships/image" Target="../media/image289.png"/><Relationship Id="rId6" Type="http://schemas.openxmlformats.org/officeDocument/2006/relationships/image" Target="../media/image290.png"/><Relationship Id="rId7" Type="http://schemas.openxmlformats.org/officeDocument/2006/relationships/image" Target="../media/image291.png"/><Relationship Id="rId8" Type="http://schemas.openxmlformats.org/officeDocument/2006/relationships/image" Target="../media/image292.png"/><Relationship Id="rId9" Type="http://schemas.openxmlformats.org/officeDocument/2006/relationships/image" Target="../media/image126.png"/><Relationship Id="rId10" Type="http://schemas.openxmlformats.org/officeDocument/2006/relationships/image" Target="../media/image293.png"/><Relationship Id="rId11" Type="http://schemas.openxmlformats.org/officeDocument/2006/relationships/image" Target="../media/image294.png"/><Relationship Id="rId12" Type="http://schemas.openxmlformats.org/officeDocument/2006/relationships/image" Target="../media/image295.png"/><Relationship Id="rId13"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xml"/><Relationship Id="rId4" Type="http://schemas.openxmlformats.org/officeDocument/2006/relationships/chart" Target="../charts/chart44.xml"/><Relationship Id="rId5" Type="http://schemas.openxmlformats.org/officeDocument/2006/relationships/notesSlide" Target="../notesSlides/notesSlide61.xml"/><Relationship Id="rId6" Type="http://schemas.openxmlformats.org/officeDocument/2006/relationships/image" Target="../media/image2.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chart" Target="../charts/chart46.xml"/><Relationship Id="rId5" Type="http://schemas.openxmlformats.org/officeDocument/2006/relationships/chart" Target="../charts/chart47.xml"/><Relationship Id="rId6" Type="http://schemas.openxmlformats.org/officeDocument/2006/relationships/chart" Target="../charts/chart48.xml"/><Relationship Id="rId7" Type="http://schemas.openxmlformats.org/officeDocument/2006/relationships/notesSlide" Target="../notesSlides/notesSlide62.xml"/><Relationship Id="rId8"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chart" Target="../charts/chart51.xml"/><Relationship Id="rId6" Type="http://schemas.openxmlformats.org/officeDocument/2006/relationships/notesSlide" Target="../notesSlides/notesSlide63.xml"/><Relationship Id="rId7"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 Id="rId4"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6.xml"/><Relationship Id="rId5"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 Id="rId4"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 Id="rId4" Type="http://schemas.openxmlformats.org/officeDocument/2006/relationships/image" Target="../media/image2.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xml"/><Relationship Id="rId4" Type="http://schemas.openxmlformats.org/officeDocument/2006/relationships/image" Target="../media/image357.png"/><Relationship Id="rId5" Type="http://schemas.openxmlformats.org/officeDocument/2006/relationships/image" Target="../media/image358.png"/><Relationship Id="rId6" Type="http://schemas.openxmlformats.org/officeDocument/2006/relationships/image" Target="../media/image104.png"/><Relationship Id="rId7" Type="http://schemas.openxmlformats.org/officeDocument/2006/relationships/image" Target="../media/image359.png"/><Relationship Id="rId8" Type="http://schemas.openxmlformats.org/officeDocument/2006/relationships/image" Target="../media/image360.png"/><Relationship Id="rId9" Type="http://schemas.openxmlformats.org/officeDocument/2006/relationships/image" Target="../media/image361.png"/><Relationship Id="rId10" Type="http://schemas.openxmlformats.org/officeDocument/2006/relationships/image" Target="../media/image362.png"/><Relationship Id="rId11" Type="http://schemas.openxmlformats.org/officeDocument/2006/relationships/image" Target="../media/image363.png"/><Relationship Id="rId12" Type="http://schemas.openxmlformats.org/officeDocument/2006/relationships/image" Target="../media/image364.png"/><Relationship Id="rId13" Type="http://schemas.openxmlformats.org/officeDocument/2006/relationships/image" Target="../media/image2.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70.xml"/><Relationship Id="rId6" Type="http://schemas.openxmlformats.org/officeDocument/2006/relationships/image" Target="../media/image2.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chart" Target="../charts/chart57.xml"/><Relationship Id="rId6" Type="http://schemas.openxmlformats.org/officeDocument/2006/relationships/notesSlide" Target="../notesSlides/notesSlide71.xml"/><Relationship Id="rId7"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 Id="rId4" Type="http://schemas.openxmlformats.org/officeDocument/2006/relationships/image" Target="../media/image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notesSlide" Target="../notesSlides/notesSlide74.xml"/><Relationship Id="rId5" Type="http://schemas.openxmlformats.org/officeDocument/2006/relationships/image" Target="../media/image2.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 Id="rId4"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xml"/><Relationship Id="rId4" Type="http://schemas.openxmlformats.org/officeDocument/2006/relationships/image" Target="../media/image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 Id="rId4" Type="http://schemas.openxmlformats.org/officeDocument/2006/relationships/image" Target="../media/image389.png"/><Relationship Id="rId5" Type="http://schemas.openxmlformats.org/officeDocument/2006/relationships/image" Target="../media/image390.png"/><Relationship Id="rId6" Type="http://schemas.openxmlformats.org/officeDocument/2006/relationships/image" Target="../media/image156.png"/><Relationship Id="rId7" Type="http://schemas.openxmlformats.org/officeDocument/2006/relationships/image" Target="../media/image391.png"/><Relationship Id="rId8" Type="http://schemas.openxmlformats.org/officeDocument/2006/relationships/image" Target="../media/image392.png"/><Relationship Id="rId9" Type="http://schemas.openxmlformats.org/officeDocument/2006/relationships/image" Target="../media/image65.png"/><Relationship Id="rId10" Type="http://schemas.openxmlformats.org/officeDocument/2006/relationships/image" Target="../media/image2.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xml"/><Relationship Id="rId4" Type="http://schemas.openxmlformats.org/officeDocument/2006/relationships/chart" Target="../charts/chart60.xml"/><Relationship Id="rId5" Type="http://schemas.openxmlformats.org/officeDocument/2006/relationships/notesSlide" Target="../notesSlides/notesSlide78.xml"/><Relationship Id="rId6" Type="http://schemas.openxmlformats.org/officeDocument/2006/relationships/image" Target="../media/image2.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xml"/><Relationship Id="rId4" Type="http://schemas.openxmlformats.org/officeDocument/2006/relationships/chart" Target="../charts/chart62.xml"/><Relationship Id="rId5" Type="http://schemas.openxmlformats.org/officeDocument/2006/relationships/notesSlide" Target="../notesSlides/notesSlide79.xml"/><Relationship Id="rId6"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 Id="rId4" Type="http://schemas.openxmlformats.org/officeDocument/2006/relationships/image" Target="../media/image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 Id="rId4"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xml"/><Relationship Id="rId4" Type="http://schemas.openxmlformats.org/officeDocument/2006/relationships/notesSlide" Target="../notesSlides/notesSlide82.xml"/><Relationship Id="rId5" Type="http://schemas.openxmlformats.org/officeDocument/2006/relationships/image" Target="../media/image2.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 Id="rId4" Type="http://schemas.openxmlformats.org/officeDocument/2006/relationships/image" Target="../media/image2.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 Id="rId4" Type="http://schemas.openxmlformats.org/officeDocument/2006/relationships/image" Target="../media/image2.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xml"/><Relationship Id="rId4" Type="http://schemas.openxmlformats.org/officeDocument/2006/relationships/image" Target="../media/image411.png"/><Relationship Id="rId5" Type="http://schemas.openxmlformats.org/officeDocument/2006/relationships/image" Target="../media/image412.png"/><Relationship Id="rId6" Type="http://schemas.openxmlformats.org/officeDocument/2006/relationships/image" Target="../media/image413.png"/><Relationship Id="rId7" Type="http://schemas.openxmlformats.org/officeDocument/2006/relationships/image" Target="../media/image414.png"/><Relationship Id="rId8" Type="http://schemas.openxmlformats.org/officeDocument/2006/relationships/image" Target="../media/image415.png"/><Relationship Id="rId9" Type="http://schemas.openxmlformats.org/officeDocument/2006/relationships/image" Target="../media/image416.png"/><Relationship Id="rId10" Type="http://schemas.openxmlformats.org/officeDocument/2006/relationships/image" Target="../media/image417.png"/><Relationship Id="rId11" Type="http://schemas.openxmlformats.org/officeDocument/2006/relationships/image" Target="../media/image418.png"/><Relationship Id="rId12" Type="http://schemas.openxmlformats.org/officeDocument/2006/relationships/image" Target="../media/image419.png"/><Relationship Id="rId13" Type="http://schemas.openxmlformats.org/officeDocument/2006/relationships/image" Target="../media/image420.png"/><Relationship Id="rId14" Type="http://schemas.openxmlformats.org/officeDocument/2006/relationships/image" Target="../media/image421.png"/><Relationship Id="rId15" Type="http://schemas.openxmlformats.org/officeDocument/2006/relationships/image" Target="../media/image422.png"/><Relationship Id="rId16" Type="http://schemas.openxmlformats.org/officeDocument/2006/relationships/image" Target="../media/image423.png"/><Relationship Id="rId17" Type="http://schemas.openxmlformats.org/officeDocument/2006/relationships/image" Target="../media/image424.png"/><Relationship Id="rId18" Type="http://schemas.openxmlformats.org/officeDocument/2006/relationships/image" Target="../media/image425.png"/><Relationship Id="rId19" Type="http://schemas.openxmlformats.org/officeDocument/2006/relationships/image" Target="../media/image426.png"/><Relationship Id="rId20" Type="http://schemas.openxmlformats.org/officeDocument/2006/relationships/image" Target="../media/image427.png"/><Relationship Id="rId21" Type="http://schemas.openxmlformats.org/officeDocument/2006/relationships/image" Target="../media/image2.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chart" Target="../charts/chart65.xml"/><Relationship Id="rId5" Type="http://schemas.openxmlformats.org/officeDocument/2006/relationships/notesSlide" Target="../notesSlides/notesSlide86.xml"/><Relationship Id="rId6" Type="http://schemas.openxmlformats.org/officeDocument/2006/relationships/image" Target="../media/image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chart" Target="../charts/chart67.xml"/><Relationship Id="rId5" Type="http://schemas.openxmlformats.org/officeDocument/2006/relationships/chart" Target="../charts/chart68.xml"/><Relationship Id="rId6" Type="http://schemas.openxmlformats.org/officeDocument/2006/relationships/chart" Target="../charts/chart69.xml"/><Relationship Id="rId7" Type="http://schemas.openxmlformats.org/officeDocument/2006/relationships/notesSlide" Target="../notesSlides/notesSlide87.xml"/><Relationship Id="rId8" Type="http://schemas.openxmlformats.org/officeDocument/2006/relationships/image" Target="../media/image2.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chart" Target="../charts/chart71.xml"/><Relationship Id="rId5" Type="http://schemas.openxmlformats.org/officeDocument/2006/relationships/notesSlide" Target="../notesSlides/notesSlide88.xml"/><Relationship Id="rId6"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 Id="rId4" Type="http://schemas.openxmlformats.org/officeDocument/2006/relationships/image" Target="../media/image2.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 Id="rId4" Type="http://schemas.openxmlformats.org/officeDocument/2006/relationships/image" Target="../media/image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2.xml"/><Relationship Id="rId4" Type="http://schemas.openxmlformats.org/officeDocument/2006/relationships/notesSlide" Target="../notesSlides/notesSlide91.xml"/><Relationship Id="rId5"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xml"/><Relationship Id="rId4" Type="http://schemas.openxmlformats.org/officeDocument/2006/relationships/image" Target="../media/image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xml"/><Relationship Id="rId4" Type="http://schemas.openxmlformats.org/officeDocument/2006/relationships/image" Target="../media/image479.png"/><Relationship Id="rId5" Type="http://schemas.openxmlformats.org/officeDocument/2006/relationships/image" Target="../media/image480.png"/><Relationship Id="rId6" Type="http://schemas.openxmlformats.org/officeDocument/2006/relationships/image" Target="../media/image99.png"/><Relationship Id="rId7" Type="http://schemas.openxmlformats.org/officeDocument/2006/relationships/image" Target="../media/image481.png"/><Relationship Id="rId8" Type="http://schemas.openxmlformats.org/officeDocument/2006/relationships/image" Target="../media/image482.png"/><Relationship Id="rId9" Type="http://schemas.openxmlformats.org/officeDocument/2006/relationships/image" Target="../media/image483.png"/><Relationship Id="rId10" Type="http://schemas.openxmlformats.org/officeDocument/2006/relationships/image" Target="../media/image484.png"/><Relationship Id="rId11" Type="http://schemas.openxmlformats.org/officeDocument/2006/relationships/image" Target="../media/image485.png"/><Relationship Id="rId12" Type="http://schemas.openxmlformats.org/officeDocument/2006/relationships/image" Target="../media/image153.png"/><Relationship Id="rId13" Type="http://schemas.openxmlformats.org/officeDocument/2006/relationships/image" Target="../media/image486.png"/><Relationship Id="rId14" Type="http://schemas.openxmlformats.org/officeDocument/2006/relationships/image" Target="../media/image487.png"/><Relationship Id="rId15" Type="http://schemas.openxmlformats.org/officeDocument/2006/relationships/image" Target="../media/image166.png"/><Relationship Id="rId16" Type="http://schemas.openxmlformats.org/officeDocument/2006/relationships/image" Target="../media/image2.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notesSlide" Target="../notesSlides/notesSlide95.xml"/><Relationship Id="rId6" Type="http://schemas.openxmlformats.org/officeDocument/2006/relationships/image" Target="../media/image2.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xml"/><Relationship Id="rId4" Type="http://schemas.openxmlformats.org/officeDocument/2006/relationships/chart" Target="../charts/chart76.xml"/><Relationship Id="rId5" Type="http://schemas.openxmlformats.org/officeDocument/2006/relationships/chart" Target="../charts/chart77.xml"/><Relationship Id="rId6" Type="http://schemas.openxmlformats.org/officeDocument/2006/relationships/chart" Target="../charts/chart78.xml"/><Relationship Id="rId7" Type="http://schemas.openxmlformats.org/officeDocument/2006/relationships/notesSlide" Target="../notesSlides/notesSlide96.xml"/><Relationship Id="rId8" Type="http://schemas.openxmlformats.org/officeDocument/2006/relationships/image" Target="../media/image2.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 Id="rId4"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 Id="rId4"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notesSlide" Target="../notesSlides/notesSlide99.xml"/><Relationship Id="rId5" Type="http://schemas.openxmlformats.org/officeDocument/2006/relationships/image" Target="../media/image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 Id="rId4" Type="http://schemas.openxmlformats.org/officeDocument/2006/relationships/image" Target="../media/image2.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 Id="rId4" Type="http://schemas.openxmlformats.org/officeDocument/2006/relationships/image" Target="../media/image520.png"/><Relationship Id="rId5" Type="http://schemas.openxmlformats.org/officeDocument/2006/relationships/image" Target="../media/image521.png"/><Relationship Id="rId6" Type="http://schemas.openxmlformats.org/officeDocument/2006/relationships/image" Target="../media/image522.png"/><Relationship Id="rId7" Type="http://schemas.openxmlformats.org/officeDocument/2006/relationships/image" Target="../media/image523.png"/><Relationship Id="rId8" Type="http://schemas.openxmlformats.org/officeDocument/2006/relationships/image" Target="../media/image524.png"/><Relationship Id="rId9" Type="http://schemas.openxmlformats.org/officeDocument/2006/relationships/image" Target="../media/image413.png"/><Relationship Id="rId10" Type="http://schemas.openxmlformats.org/officeDocument/2006/relationships/image" Target="../media/image525.png"/><Relationship Id="rId11" Type="http://schemas.openxmlformats.org/officeDocument/2006/relationships/image" Target="../media/image526.png"/><Relationship Id="rId12" Type="http://schemas.openxmlformats.org/officeDocument/2006/relationships/image" Target="../media/image527.png"/><Relationship Id="rId13"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xml"/><Relationship Id="rId4" Type="http://schemas.openxmlformats.org/officeDocument/2006/relationships/chart" Target="../charts/chart81.xml"/><Relationship Id="rId5" Type="http://schemas.openxmlformats.org/officeDocument/2006/relationships/notesSlide" Target="../notesSlides/notesSlide103.xml"/><Relationship Id="rId6" Type="http://schemas.openxmlformats.org/officeDocument/2006/relationships/image" Target="../media/image2.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chart" Target="../charts/chart84.xml"/><Relationship Id="rId6" Type="http://schemas.openxmlformats.org/officeDocument/2006/relationships/notesSlide" Target="../notesSlides/notesSlide104.xml"/><Relationship Id="rId7" Type="http://schemas.openxmlformats.org/officeDocument/2006/relationships/image" Target="../media/image2.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 Id="rId4"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 Id="rId4" Type="http://schemas.openxmlformats.org/officeDocument/2006/relationships/image" Target="../media/image2.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notesSlide" Target="../notesSlides/notesSlide107.xml"/><Relationship Id="rId5" Type="http://schemas.openxmlformats.org/officeDocument/2006/relationships/image" Target="../media/image2.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 Id="rId4"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 Id="rId4" Type="http://schemas.openxmlformats.org/officeDocument/2006/relationships/image" Target="../media/image2.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xml"/><Relationship Id="rId4" Type="http://schemas.openxmlformats.org/officeDocument/2006/relationships/image" Target="../media/image555.png"/><Relationship Id="rId5" Type="http://schemas.openxmlformats.org/officeDocument/2006/relationships/image" Target="../media/image556.png"/><Relationship Id="rId6" Type="http://schemas.openxmlformats.org/officeDocument/2006/relationships/image" Target="../media/image557.png"/><Relationship Id="rId7" Type="http://schemas.openxmlformats.org/officeDocument/2006/relationships/image" Target="../media/image558.png"/><Relationship Id="rId8" Type="http://schemas.openxmlformats.org/officeDocument/2006/relationships/image" Target="../media/image559.png"/><Relationship Id="rId9" Type="http://schemas.openxmlformats.org/officeDocument/2006/relationships/image" Target="../media/image560.png"/><Relationship Id="rId10" Type="http://schemas.openxmlformats.org/officeDocument/2006/relationships/image" Target="../media/image561.png"/><Relationship Id="rId11" Type="http://schemas.openxmlformats.org/officeDocument/2006/relationships/image" Target="../media/image562.png"/><Relationship Id="rId12" Type="http://schemas.openxmlformats.org/officeDocument/2006/relationships/image" Target="../media/image413.png"/><Relationship Id="rId13" Type="http://schemas.openxmlformats.org/officeDocument/2006/relationships/image" Target="../media/image563.png"/><Relationship Id="rId14" Type="http://schemas.openxmlformats.org/officeDocument/2006/relationships/image" Target="../media/image564.png"/><Relationship Id="rId15" Type="http://schemas.openxmlformats.org/officeDocument/2006/relationships/image" Target="../media/image65.png"/><Relationship Id="rId16"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chart" Target="../charts/chart87.xml"/><Relationship Id="rId5" Type="http://schemas.openxmlformats.org/officeDocument/2006/relationships/notesSlide" Target="../notesSlides/notesSlide111.xml"/><Relationship Id="rId6" Type="http://schemas.openxmlformats.org/officeDocument/2006/relationships/image" Target="../media/image2.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xml"/><Relationship Id="rId4" Type="http://schemas.openxmlformats.org/officeDocument/2006/relationships/chart" Target="../charts/chart89.xml"/><Relationship Id="rId5" Type="http://schemas.openxmlformats.org/officeDocument/2006/relationships/chart" Target="../charts/chart90.xml"/><Relationship Id="rId6" Type="http://schemas.openxmlformats.org/officeDocument/2006/relationships/chart" Target="../charts/chart91.xml"/><Relationship Id="rId7" Type="http://schemas.openxmlformats.org/officeDocument/2006/relationships/notesSlide" Target="../notesSlides/notesSlide112.xml"/><Relationship Id="rId8" Type="http://schemas.openxmlformats.org/officeDocument/2006/relationships/image" Target="../media/image2.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 Id="rId4" Type="http://schemas.openxmlformats.org/officeDocument/2006/relationships/image" Target="../media/image2.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 Id="rId4" Type="http://schemas.openxmlformats.org/officeDocument/2006/relationships/image" Target="../media/image2.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2.xml"/><Relationship Id="rId4" Type="http://schemas.openxmlformats.org/officeDocument/2006/relationships/notesSlide" Target="../notesSlides/notesSlide115.xml"/><Relationship Id="rId5" Type="http://schemas.openxmlformats.org/officeDocument/2006/relationships/image" Target="../media/image2.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 Id="rId4"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 Id="rId4" Type="http://schemas.openxmlformats.org/officeDocument/2006/relationships/image" Target="../media/image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xml"/><Relationship Id="rId4" Type="http://schemas.openxmlformats.org/officeDocument/2006/relationships/image" Target="../media/image595.png"/><Relationship Id="rId5" Type="http://schemas.openxmlformats.org/officeDocument/2006/relationships/image" Target="../media/image596.png"/><Relationship Id="rId6" Type="http://schemas.openxmlformats.org/officeDocument/2006/relationships/image" Target="../media/image557.png"/><Relationship Id="rId7" Type="http://schemas.openxmlformats.org/officeDocument/2006/relationships/image" Target="../media/image597.png"/><Relationship Id="rId8" Type="http://schemas.openxmlformats.org/officeDocument/2006/relationships/image" Target="../media/image598.png"/><Relationship Id="rId9" Type="http://schemas.openxmlformats.org/officeDocument/2006/relationships/image" Target="../media/image599.png"/><Relationship Id="rId10" Type="http://schemas.openxmlformats.org/officeDocument/2006/relationships/image" Target="../media/image600.png"/><Relationship Id="rId11" Type="http://schemas.openxmlformats.org/officeDocument/2006/relationships/image" Target="../media/image601.png"/><Relationship Id="rId12" Type="http://schemas.openxmlformats.org/officeDocument/2006/relationships/image" Target="../media/image279.png"/><Relationship Id="rId13" Type="http://schemas.openxmlformats.org/officeDocument/2006/relationships/image" Target="../media/image602.png"/><Relationship Id="rId14" Type="http://schemas.openxmlformats.org/officeDocument/2006/relationships/image" Target="../media/image603.png"/><Relationship Id="rId15" Type="http://schemas.openxmlformats.org/officeDocument/2006/relationships/image" Target="../media/image604.png"/><Relationship Id="rId16"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chart" Target="../charts/chart94.xml"/><Relationship Id="rId5" Type="http://schemas.openxmlformats.org/officeDocument/2006/relationships/notesSlide" Target="../notesSlides/notesSlide119.xml"/><Relationship Id="rId6"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20.xml"/><Relationship Id="rId8" Type="http://schemas.openxmlformats.org/officeDocument/2006/relationships/image" Target="../media/image2.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 Id="rId4" Type="http://schemas.openxmlformats.org/officeDocument/2006/relationships/image" Target="../media/image2.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 Id="rId4" Type="http://schemas.openxmlformats.org/officeDocument/2006/relationships/image" Target="../media/image2.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23.xml"/><Relationship Id="rId5" Type="http://schemas.openxmlformats.org/officeDocument/2006/relationships/image" Target="../media/image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 Id="rId4"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 Id="rId4" Type="http://schemas.openxmlformats.org/officeDocument/2006/relationships/image" Target="../media/image2.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xml"/><Relationship Id="rId4" Type="http://schemas.openxmlformats.org/officeDocument/2006/relationships/image" Target="../media/image640.png"/><Relationship Id="rId5" Type="http://schemas.openxmlformats.org/officeDocument/2006/relationships/image" Target="../media/image641.png"/><Relationship Id="rId6" Type="http://schemas.openxmlformats.org/officeDocument/2006/relationships/image" Target="../media/image68.png"/><Relationship Id="rId7" Type="http://schemas.openxmlformats.org/officeDocument/2006/relationships/image" Target="../media/image642.png"/><Relationship Id="rId8" Type="http://schemas.openxmlformats.org/officeDocument/2006/relationships/image" Target="../media/image643.png"/><Relationship Id="rId9" Type="http://schemas.openxmlformats.org/officeDocument/2006/relationships/image" Target="../media/image85.png"/><Relationship Id="rId10" Type="http://schemas.openxmlformats.org/officeDocument/2006/relationships/image" Target="../media/image644.png"/><Relationship Id="rId11" Type="http://schemas.openxmlformats.org/officeDocument/2006/relationships/image" Target="../media/image645.png"/><Relationship Id="rId12" Type="http://schemas.openxmlformats.org/officeDocument/2006/relationships/image" Target="../media/image646.png"/><Relationship Id="rId13"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27.xml"/><Relationship Id="rId6" Type="http://schemas.openxmlformats.org/officeDocument/2006/relationships/image" Target="../media/image2.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chart" Target="../charts/chart104.xml"/><Relationship Id="rId6" Type="http://schemas.openxmlformats.org/officeDocument/2006/relationships/notesSlide" Target="../notesSlides/notesSlide128.xml"/><Relationship Id="rId7"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 Id="rId4" Type="http://schemas.openxmlformats.org/officeDocument/2006/relationships/image" Target="../media/image2.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31.xml"/><Relationship Id="rId5" Type="http://schemas.openxmlformats.org/officeDocument/2006/relationships/image" Target="../media/image2.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 Id="rId4" Type="http://schemas.openxmlformats.org/officeDocument/2006/relationships/image" Target="../media/image2.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 Id="rId4" Type="http://schemas.openxmlformats.org/officeDocument/2006/relationships/image" Target="../media/image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 Id="rId4" Type="http://schemas.openxmlformats.org/officeDocument/2006/relationships/image" Target="../media/image674.png"/><Relationship Id="rId5" Type="http://schemas.openxmlformats.org/officeDocument/2006/relationships/image" Target="../media/image675.png"/><Relationship Id="rId6" Type="http://schemas.openxmlformats.org/officeDocument/2006/relationships/image" Target="../media/image65.png"/><Relationship Id="rId7" Type="http://schemas.openxmlformats.org/officeDocument/2006/relationships/image" Target="../media/image676.png"/><Relationship Id="rId8" Type="http://schemas.openxmlformats.org/officeDocument/2006/relationships/image" Target="../media/image677.png"/><Relationship Id="rId9" Type="http://schemas.openxmlformats.org/officeDocument/2006/relationships/image" Target="../media/image416.png"/><Relationship Id="rId10"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chart" Target="../charts/chart107.xml"/><Relationship Id="rId5" Type="http://schemas.openxmlformats.org/officeDocument/2006/relationships/notesSlide" Target="../notesSlides/notesSlide135.xml"/><Relationship Id="rId6" Type="http://schemas.openxmlformats.org/officeDocument/2006/relationships/image" Target="../media/image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chart" Target="../charts/chart109.xml"/><Relationship Id="rId5" Type="http://schemas.openxmlformats.org/officeDocument/2006/relationships/notesSlide" Target="../notesSlides/notesSlide136.xml"/><Relationship Id="rId6"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 Id="rId4" Type="http://schemas.openxmlformats.org/officeDocument/2006/relationships/image" Target="../media/image2.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xml"/><Relationship Id="rId4" Type="http://schemas.openxmlformats.org/officeDocument/2006/relationships/notesSlide" Target="../notesSlides/notesSlide139.xml"/><Relationship Id="rId5" Type="http://schemas.openxmlformats.org/officeDocument/2006/relationships/image" Target="../media/image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 Id="rId4" Type="http://schemas.openxmlformats.org/officeDocument/2006/relationships/image" Target="../media/image2.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 Id="rId4" Type="http://schemas.openxmlformats.org/officeDocument/2006/relationships/image" Target="../media/image2.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xml"/><Relationship Id="rId4" Type="http://schemas.openxmlformats.org/officeDocument/2006/relationships/image" Target="../media/image696.png"/><Relationship Id="rId5" Type="http://schemas.openxmlformats.org/officeDocument/2006/relationships/image" Target="../media/image697.png"/><Relationship Id="rId6" Type="http://schemas.openxmlformats.org/officeDocument/2006/relationships/image" Target="../media/image698.png"/><Relationship Id="rId7" Type="http://schemas.openxmlformats.org/officeDocument/2006/relationships/image" Target="../media/image699.png"/><Relationship Id="rId8" Type="http://schemas.openxmlformats.org/officeDocument/2006/relationships/image" Target="../media/image700.png"/><Relationship Id="rId9" Type="http://schemas.openxmlformats.org/officeDocument/2006/relationships/image" Target="../media/image701.png"/><Relationship Id="rId10" Type="http://schemas.openxmlformats.org/officeDocument/2006/relationships/image" Target="../media/image702.png"/><Relationship Id="rId11" Type="http://schemas.openxmlformats.org/officeDocument/2006/relationships/image" Target="../media/image703.png"/><Relationship Id="rId12" Type="http://schemas.openxmlformats.org/officeDocument/2006/relationships/image" Target="../media/image704.png"/><Relationship Id="rId13" Type="http://schemas.openxmlformats.org/officeDocument/2006/relationships/image" Target="../media/image705.png"/><Relationship Id="rId14" Type="http://schemas.openxmlformats.org/officeDocument/2006/relationships/image" Target="../media/image706.png"/><Relationship Id="rId15" Type="http://schemas.openxmlformats.org/officeDocument/2006/relationships/image" Target="../media/image707.png"/><Relationship Id="rId16"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3.xml"/><Relationship Id="rId6"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chart" Target="../charts/chart115.xml"/><Relationship Id="rId6" Type="http://schemas.openxmlformats.org/officeDocument/2006/relationships/chart" Target="../charts/chart116.xml"/><Relationship Id="rId7" Type="http://schemas.openxmlformats.org/officeDocument/2006/relationships/notesSlide" Target="../notesSlides/notesSlide144.xml"/><Relationship Id="rId8"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 Id="rId4" Type="http://schemas.openxmlformats.org/officeDocument/2006/relationships/image" Target="../media/image2.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notesSlide" Target="../notesSlides/notesSlide147.xml"/><Relationship Id="rId5" Type="http://schemas.openxmlformats.org/officeDocument/2006/relationships/image" Target="../media/image2.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 Id="rId4" Type="http://schemas.openxmlformats.org/officeDocument/2006/relationships/image" Target="../media/image2.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 Id="rId4" Type="http://schemas.openxmlformats.org/officeDocument/2006/relationships/image" Target="../media/image2.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xml"/><Relationship Id="rId4" Type="http://schemas.openxmlformats.org/officeDocument/2006/relationships/image" Target="../media/image743.png"/><Relationship Id="rId5" Type="http://schemas.openxmlformats.org/officeDocument/2006/relationships/image" Target="../media/image744.png"/><Relationship Id="rId6" Type="http://schemas.openxmlformats.org/officeDocument/2006/relationships/image" Target="../media/image290.png"/><Relationship Id="rId7" Type="http://schemas.openxmlformats.org/officeDocument/2006/relationships/image" Target="../media/image745.png"/><Relationship Id="rId8" Type="http://schemas.openxmlformats.org/officeDocument/2006/relationships/image" Target="../media/image746.png"/><Relationship Id="rId9" Type="http://schemas.openxmlformats.org/officeDocument/2006/relationships/image" Target="../media/image557.png"/><Relationship Id="rId10" Type="http://schemas.openxmlformats.org/officeDocument/2006/relationships/image" Target="../media/image747.png"/><Relationship Id="rId11" Type="http://schemas.openxmlformats.org/officeDocument/2006/relationships/image" Target="../media/image748.png"/><Relationship Id="rId12" Type="http://schemas.openxmlformats.org/officeDocument/2006/relationships/image" Target="../media/image74.png"/><Relationship Id="rId13" Type="http://schemas.openxmlformats.org/officeDocument/2006/relationships/image" Target="../media/image2.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8.xml"/><Relationship Id="rId4" Type="http://schemas.openxmlformats.org/officeDocument/2006/relationships/chart" Target="../charts/chart119.xml"/><Relationship Id="rId5" Type="http://schemas.openxmlformats.org/officeDocument/2006/relationships/notesSlide" Target="../notesSlides/notesSlide151.xml"/><Relationship Id="rId6"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xml"/><Relationship Id="rId4" Type="http://schemas.openxmlformats.org/officeDocument/2006/relationships/chart" Target="../charts/chart121.xml"/><Relationship Id="rId5" Type="http://schemas.openxmlformats.org/officeDocument/2006/relationships/chart" Target="../charts/chart122.xml"/><Relationship Id="rId6" Type="http://schemas.openxmlformats.org/officeDocument/2006/relationships/notesSlide" Target="../notesSlides/notesSlide152.xml"/><Relationship Id="rId7"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 Id="rId4" Type="http://schemas.openxmlformats.org/officeDocument/2006/relationships/image" Target="../media/image2.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xml"/><Relationship Id="rId4" Type="http://schemas.openxmlformats.org/officeDocument/2006/relationships/notesSlide" Target="../notesSlides/notesSlide155.xml"/><Relationship Id="rId5" Type="http://schemas.openxmlformats.org/officeDocument/2006/relationships/image" Target="../media/image2.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xml"/><Relationship Id="rId4" Type="http://schemas.openxmlformats.org/officeDocument/2006/relationships/image" Target="../media/image2.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xml"/><Relationship Id="rId4" Type="http://schemas.openxmlformats.org/officeDocument/2006/relationships/image" Target="../media/image2.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xml"/><Relationship Id="rId4" Type="http://schemas.openxmlformats.org/officeDocument/2006/relationships/image" Target="../media/image775.png"/><Relationship Id="rId5" Type="http://schemas.openxmlformats.org/officeDocument/2006/relationships/image" Target="../media/image776.png"/><Relationship Id="rId6" Type="http://schemas.openxmlformats.org/officeDocument/2006/relationships/image" Target="../media/image777.png"/><Relationship Id="rId7" Type="http://schemas.openxmlformats.org/officeDocument/2006/relationships/image" Target="../media/image778.png"/><Relationship Id="rId8" Type="http://schemas.openxmlformats.org/officeDocument/2006/relationships/image" Target="../media/image779.png"/><Relationship Id="rId9" Type="http://schemas.openxmlformats.org/officeDocument/2006/relationships/image" Target="../media/image279.png"/><Relationship Id="rId10" Type="http://schemas.openxmlformats.org/officeDocument/2006/relationships/image" Target="../media/image780.png"/><Relationship Id="rId11" Type="http://schemas.openxmlformats.org/officeDocument/2006/relationships/image" Target="../media/image781.png"/><Relationship Id="rId12" Type="http://schemas.openxmlformats.org/officeDocument/2006/relationships/image" Target="../media/image65.png"/><Relationship Id="rId13" Type="http://schemas.openxmlformats.org/officeDocument/2006/relationships/image" Target="../media/image2.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xml"/><Relationship Id="rId4" Type="http://schemas.openxmlformats.org/officeDocument/2006/relationships/chart" Target="../charts/chart125.xml"/><Relationship Id="rId5" Type="http://schemas.openxmlformats.org/officeDocument/2006/relationships/notesSlide" Target="../notesSlides/notesSlide159.xml"/><Relationship Id="rId6" Type="http://schemas.openxmlformats.org/officeDocument/2006/relationships/image" Target="../media/image2.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xml"/><Relationship Id="rId4" Type="http://schemas.openxmlformats.org/officeDocument/2006/relationships/chart" Target="../charts/chart127.xml"/><Relationship Id="rId5" Type="http://schemas.openxmlformats.org/officeDocument/2006/relationships/chart" Target="../charts/chart128.xml"/><Relationship Id="rId6" Type="http://schemas.openxmlformats.org/officeDocument/2006/relationships/notesSlide" Target="../notesSlides/notesSlide160.xml"/><Relationship Id="rId7"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 Id="rId4"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xml"/><Relationship Id="rId4" Type="http://schemas.openxmlformats.org/officeDocument/2006/relationships/notesSlide" Target="../notesSlides/notesSlide163.xml"/><Relationship Id="rId5" Type="http://schemas.openxmlformats.org/officeDocument/2006/relationships/image" Target="../media/image2.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 Id="rId4"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 Id="rId4" Type="http://schemas.openxmlformats.org/officeDocument/2006/relationships/image" Target="../media/image2.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0.xml"/><Relationship Id="rId4" Type="http://schemas.openxmlformats.org/officeDocument/2006/relationships/notesSlide" Target="../notesSlides/notesSlide167.xml"/><Relationship Id="rId5" Type="http://schemas.openxmlformats.org/officeDocument/2006/relationships/image" Target="../media/image2.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 Id="rId4" Type="http://schemas.openxmlformats.org/officeDocument/2006/relationships/image" Target="../media/image2.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 Id="rId4" Type="http://schemas.openxmlformats.org/officeDocument/2006/relationships/image" Target="../media/image2.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notesSlide" Target="../notesSlides/notesSlide170.xml"/><Relationship Id="rId5"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 Id="rId4" Type="http://schemas.openxmlformats.org/officeDocument/2006/relationships/image" Target="../media/image2.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xml"/><Relationship Id="rId4" Type="http://schemas.openxmlformats.org/officeDocument/2006/relationships/notesSlide" Target="../notesSlides/notesSlide173.xml"/><Relationship Id="rId5" Type="http://schemas.openxmlformats.org/officeDocument/2006/relationships/image" Target="../media/image2.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 Id="rId4" Type="http://schemas.openxmlformats.org/officeDocument/2006/relationships/image" Target="../media/image2.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 Id="rId4" Type="http://schemas.openxmlformats.org/officeDocument/2006/relationships/image" Target="../media/image2.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 Id="rId4" Type="http://schemas.openxmlformats.org/officeDocument/2006/relationships/image" Target="../media/image2.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77.xml"/><Relationship Id="rId5" Type="http://schemas.openxmlformats.org/officeDocument/2006/relationships/image" Target="../media/image2.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 Id="rId4" Type="http://schemas.openxmlformats.org/officeDocument/2006/relationships/image" Target="../media/image2.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chart" Target="../charts/chart135.xml"/><Relationship Id="rId5" Type="http://schemas.openxmlformats.org/officeDocument/2006/relationships/notesSlide" Target="../notesSlides/notesSlide180.xml"/><Relationship Id="rId6" Type="http://schemas.openxmlformats.org/officeDocument/2006/relationships/image" Target="../media/image2.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 Id="rId4" Type="http://schemas.openxmlformats.org/officeDocument/2006/relationships/image" Target="../media/image2.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6.xml"/><Relationship Id="rId4" Type="http://schemas.openxmlformats.org/officeDocument/2006/relationships/chart" Target="../charts/chart137.xml"/><Relationship Id="rId5" Type="http://schemas.openxmlformats.org/officeDocument/2006/relationships/notesSlide" Target="../notesSlides/notesSlide182.xml"/><Relationship Id="rId6"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chart" Target="../charts/chart139.xml"/><Relationship Id="rId5" Type="http://schemas.openxmlformats.org/officeDocument/2006/relationships/notesSlide" Target="../notesSlides/notesSlide183.xml"/><Relationship Id="rId6" Type="http://schemas.openxmlformats.org/officeDocument/2006/relationships/image" Target="../media/image2.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notesSlide" Target="../notesSlides/notesSlide184.xml"/><Relationship Id="rId6" Type="http://schemas.openxmlformats.org/officeDocument/2006/relationships/image" Target="../media/image2.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 Id="rId4" Type="http://schemas.openxmlformats.org/officeDocument/2006/relationships/image" Target="../media/image2.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xml"/><Relationship Id="rId4" Type="http://schemas.openxmlformats.org/officeDocument/2006/relationships/notesSlide" Target="../notesSlides/notesSlide186.xml"/><Relationship Id="rId5" Type="http://schemas.openxmlformats.org/officeDocument/2006/relationships/image" Target="../media/image2.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 Id="rId4" Type="http://schemas.openxmlformats.org/officeDocument/2006/relationships/image" Target="../media/image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notesSlide" Target="../notesSlides/notesSlide188.xml"/><Relationship Id="rId5"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9.xml"/><Relationship Id="rId4" Type="http://schemas.openxmlformats.org/officeDocument/2006/relationships/image" Target="../media/image846.png"/><Relationship Id="rId5" Type="http://schemas.openxmlformats.org/officeDocument/2006/relationships/image" Target="../media/image847.png"/><Relationship Id="rId6" Type="http://schemas.openxmlformats.org/officeDocument/2006/relationships/image" Target="../media/image522.png"/><Relationship Id="rId7" Type="http://schemas.openxmlformats.org/officeDocument/2006/relationships/image" Target="../media/image848.png"/><Relationship Id="rId8" Type="http://schemas.openxmlformats.org/officeDocument/2006/relationships/image" Target="../media/image849.png"/><Relationship Id="rId9" Type="http://schemas.openxmlformats.org/officeDocument/2006/relationships/image" Target="../media/image282.png"/><Relationship Id="rId10" Type="http://schemas.openxmlformats.org/officeDocument/2006/relationships/image" Target="../media/image2.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xml"/><Relationship Id="rId4" Type="http://schemas.openxmlformats.org/officeDocument/2006/relationships/notesSlide" Target="../notesSlides/notesSlide190.xml"/><Relationship Id="rId5" Type="http://schemas.openxmlformats.org/officeDocument/2006/relationships/image" Target="../media/image2.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xml"/><Relationship Id="rId4" Type="http://schemas.openxmlformats.org/officeDocument/2006/relationships/notesSlide" Target="../notesSlides/notesSlide191.xml"/><Relationship Id="rId5" Type="http://schemas.openxmlformats.org/officeDocument/2006/relationships/image" Target="../media/image2.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 Id="rId4"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 Id="rId4"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xml"/><Relationship Id="rId4" Type="http://schemas.openxmlformats.org/officeDocument/2006/relationships/chart" Target="../charts/chart147.xml"/><Relationship Id="rId5" Type="http://schemas.openxmlformats.org/officeDocument/2006/relationships/notesSlide" Target="../notesSlides/notesSlide194.xml"/><Relationship Id="rId6" Type="http://schemas.openxmlformats.org/officeDocument/2006/relationships/image" Target="../media/image2.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 Id="rId4" Type="http://schemas.openxmlformats.org/officeDocument/2006/relationships/image" Target="../media/image2.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 Id="rId4" Type="http://schemas.openxmlformats.org/officeDocument/2006/relationships/image" Target="../media/image922.png"/><Relationship Id="rId5" Type="http://schemas.openxmlformats.org/officeDocument/2006/relationships/image" Target="../media/image923.png"/><Relationship Id="rId6" Type="http://schemas.openxmlformats.org/officeDocument/2006/relationships/image" Target="../media/image126.png"/><Relationship Id="rId7" Type="http://schemas.openxmlformats.org/officeDocument/2006/relationships/image" Target="../media/image924.png"/><Relationship Id="rId8" Type="http://schemas.openxmlformats.org/officeDocument/2006/relationships/image" Target="../media/image925.png"/><Relationship Id="rId9" Type="http://schemas.openxmlformats.org/officeDocument/2006/relationships/image" Target="../media/image926.png"/><Relationship Id="rId10" Type="http://schemas.openxmlformats.org/officeDocument/2006/relationships/image" Target="../media/image2.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xml"/><Relationship Id="rId4" Type="http://schemas.openxmlformats.org/officeDocument/2006/relationships/chart" Target="../charts/chart149.xml"/><Relationship Id="rId5" Type="http://schemas.openxmlformats.org/officeDocument/2006/relationships/notesSlide" Target="../notesSlides/notesSlide197.xml"/><Relationship Id="rId6" Type="http://schemas.openxmlformats.org/officeDocument/2006/relationships/image" Target="../media/image2.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xml"/><Relationship Id="rId4" Type="http://schemas.openxmlformats.org/officeDocument/2006/relationships/chart" Target="../charts/chart151.xml"/><Relationship Id="rId5" Type="http://schemas.openxmlformats.org/officeDocument/2006/relationships/notesSlide" Target="../notesSlides/notesSlide198.xml"/><Relationship Id="rId6"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 Id="rId4" Type="http://schemas.openxmlformats.org/officeDocument/2006/relationships/image" Target="../media/image2.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 Id="rId4" Type="http://schemas.openxmlformats.org/officeDocument/2006/relationships/image" Target="../media/image2.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xml"/><Relationship Id="rId4" Type="http://schemas.openxmlformats.org/officeDocument/2006/relationships/notesSlide" Target="../notesSlides/notesSlide201.xml"/><Relationship Id="rId5" Type="http://schemas.openxmlformats.org/officeDocument/2006/relationships/image" Target="../media/image2.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 Id="rId4" Type="http://schemas.openxmlformats.org/officeDocument/2006/relationships/image" Target="../media/image2.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 Id="rId4" Type="http://schemas.openxmlformats.org/officeDocument/2006/relationships/image" Target="../media/image2.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 Id="rId4" Type="http://schemas.openxmlformats.org/officeDocument/2006/relationships/image" Target="../media/image937.png"/><Relationship Id="rId5" Type="http://schemas.openxmlformats.org/officeDocument/2006/relationships/image" Target="../media/image938.png"/><Relationship Id="rId6" Type="http://schemas.openxmlformats.org/officeDocument/2006/relationships/image" Target="../media/image926.png"/><Relationship Id="rId7" Type="http://schemas.openxmlformats.org/officeDocument/2006/relationships/image" Target="../media/image939.png"/><Relationship Id="rId8" Type="http://schemas.openxmlformats.org/officeDocument/2006/relationships/image" Target="../media/image940.png"/><Relationship Id="rId9" Type="http://schemas.openxmlformats.org/officeDocument/2006/relationships/image" Target="../media/image65.png"/><Relationship Id="rId10" Type="http://schemas.openxmlformats.org/officeDocument/2006/relationships/image" Target="../media/image2.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chart" Target="../charts/chart154.xml"/><Relationship Id="rId5" Type="http://schemas.openxmlformats.org/officeDocument/2006/relationships/notesSlide" Target="../notesSlides/notesSlide205.xml"/><Relationship Id="rId6" Type="http://schemas.openxmlformats.org/officeDocument/2006/relationships/image" Target="../media/image2.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xml"/><Relationship Id="rId4" Type="http://schemas.openxmlformats.org/officeDocument/2006/relationships/chart" Target="../charts/chart156.xml"/><Relationship Id="rId5" Type="http://schemas.openxmlformats.org/officeDocument/2006/relationships/notesSlide" Target="../notesSlides/notesSlide206.xml"/><Relationship Id="rId6"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 Id="rId4" Type="http://schemas.openxmlformats.org/officeDocument/2006/relationships/image" Target="../media/image2.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 Id="rId4" Type="http://schemas.openxmlformats.org/officeDocument/2006/relationships/image" Target="../media/image2.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notesSlide" Target="../notesSlides/notesSlide209.xml"/><Relationship Id="rId5" Type="http://schemas.openxmlformats.org/officeDocument/2006/relationships/image" Target="../media/image2.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 Id="rId4" Type="http://schemas.openxmlformats.org/officeDocument/2006/relationships/image" Target="../media/image2.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 Id="rId4" Type="http://schemas.openxmlformats.org/officeDocument/2006/relationships/image" Target="../media/image951.png"/><Relationship Id="rId5" Type="http://schemas.openxmlformats.org/officeDocument/2006/relationships/image" Target="../media/image952.png"/><Relationship Id="rId6" Type="http://schemas.openxmlformats.org/officeDocument/2006/relationships/image" Target="../media/image129.png"/><Relationship Id="rId7" Type="http://schemas.openxmlformats.org/officeDocument/2006/relationships/image" Target="../media/image953.png"/><Relationship Id="rId8" Type="http://schemas.openxmlformats.org/officeDocument/2006/relationships/image" Target="../media/image954.png"/><Relationship Id="rId9" Type="http://schemas.openxmlformats.org/officeDocument/2006/relationships/image" Target="../media/image646.png"/><Relationship Id="rId10" Type="http://schemas.openxmlformats.org/officeDocument/2006/relationships/image" Target="../media/image955.png"/><Relationship Id="rId11" Type="http://schemas.openxmlformats.org/officeDocument/2006/relationships/image" Target="../media/image956.png"/><Relationship Id="rId12" Type="http://schemas.openxmlformats.org/officeDocument/2006/relationships/image" Target="../media/image59.png"/><Relationship Id="rId13" Type="http://schemas.openxmlformats.org/officeDocument/2006/relationships/image" Target="../media/image957.png"/><Relationship Id="rId14" Type="http://schemas.openxmlformats.org/officeDocument/2006/relationships/image" Target="../media/image958.png"/><Relationship Id="rId15" Type="http://schemas.openxmlformats.org/officeDocument/2006/relationships/image" Target="../media/image959.png"/><Relationship Id="rId16" Type="http://schemas.openxmlformats.org/officeDocument/2006/relationships/image" Target="../media/image2.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 Id="rId4" Type="http://schemas.openxmlformats.org/officeDocument/2006/relationships/image" Target="../media/image960.png"/><Relationship Id="rId5" Type="http://schemas.openxmlformats.org/officeDocument/2006/relationships/image" Target="../media/image961.png"/><Relationship Id="rId6" Type="http://schemas.openxmlformats.org/officeDocument/2006/relationships/image" Target="../media/image290.png"/><Relationship Id="rId7" Type="http://schemas.openxmlformats.org/officeDocument/2006/relationships/image" Target="../media/image962.png"/><Relationship Id="rId8" Type="http://schemas.openxmlformats.org/officeDocument/2006/relationships/image" Target="../media/image963.png"/><Relationship Id="rId9" Type="http://schemas.openxmlformats.org/officeDocument/2006/relationships/image" Target="../media/image964.png"/><Relationship Id="rId10" Type="http://schemas.openxmlformats.org/officeDocument/2006/relationships/image" Target="../media/image965.png"/><Relationship Id="rId11" Type="http://schemas.openxmlformats.org/officeDocument/2006/relationships/image" Target="../media/image966.png"/><Relationship Id="rId12" Type="http://schemas.openxmlformats.org/officeDocument/2006/relationships/image" Target="../media/image71.png"/><Relationship Id="rId13" Type="http://schemas.openxmlformats.org/officeDocument/2006/relationships/image" Target="../media/image967.png"/><Relationship Id="rId14" Type="http://schemas.openxmlformats.org/officeDocument/2006/relationships/image" Target="../media/image968.png"/><Relationship Id="rId15" Type="http://schemas.openxmlformats.org/officeDocument/2006/relationships/image" Target="../media/image85.png"/><Relationship Id="rId16" Type="http://schemas.openxmlformats.org/officeDocument/2006/relationships/image" Target="../media/image2.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xml"/><Relationship Id="rId4" Type="http://schemas.openxmlformats.org/officeDocument/2006/relationships/chart" Target="../charts/chart159.xml"/><Relationship Id="rId5" Type="http://schemas.openxmlformats.org/officeDocument/2006/relationships/notesSlide" Target="../notesSlides/notesSlide214.xml"/><Relationship Id="rId6"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xml"/><Relationship Id="rId4" Type="http://schemas.openxmlformats.org/officeDocument/2006/relationships/chart" Target="../charts/chart161.xml"/><Relationship Id="rId5" Type="http://schemas.openxmlformats.org/officeDocument/2006/relationships/chart" Target="../charts/chart162.xml"/><Relationship Id="rId6" Type="http://schemas.openxmlformats.org/officeDocument/2006/relationships/chart" Target="../charts/chart163.xml"/><Relationship Id="rId7" Type="http://schemas.openxmlformats.org/officeDocument/2006/relationships/notesSlide" Target="../notesSlides/notesSlide215.xml"/><Relationship Id="rId8" Type="http://schemas.openxmlformats.org/officeDocument/2006/relationships/image" Target="../media/image2.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4.xml"/><Relationship Id="rId4" Type="http://schemas.openxmlformats.org/officeDocument/2006/relationships/chart" Target="../charts/chart165.xml"/><Relationship Id="rId5" Type="http://schemas.openxmlformats.org/officeDocument/2006/relationships/chart" Target="../charts/chart166.xml"/><Relationship Id="rId6" Type="http://schemas.openxmlformats.org/officeDocument/2006/relationships/chart" Target="../charts/chart167.xml"/><Relationship Id="rId7" Type="http://schemas.openxmlformats.org/officeDocument/2006/relationships/notesSlide" Target="../notesSlides/notesSlide216.xml"/><Relationship Id="rId8" Type="http://schemas.openxmlformats.org/officeDocument/2006/relationships/image" Target="../media/image2.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 Id="rId4" Type="http://schemas.openxmlformats.org/officeDocument/2006/relationships/image" Target="../media/image2.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 Id="rId4" Type="http://schemas.openxmlformats.org/officeDocument/2006/relationships/image" Target="../media/image2.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8.xml"/><Relationship Id="rId4" Type="http://schemas.openxmlformats.org/officeDocument/2006/relationships/notesSlide" Target="../notesSlides/notesSlide219.xml"/><Relationship Id="rId5" Type="http://schemas.openxmlformats.org/officeDocument/2006/relationships/image" Target="../media/image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 Id="rId4" Type="http://schemas.openxmlformats.org/officeDocument/2006/relationships/image" Target="../media/image2.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 Id="rId4" Type="http://schemas.openxmlformats.org/officeDocument/2006/relationships/image" Target="../media/image2.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 Id="rId4" Type="http://schemas.openxmlformats.org/officeDocument/2006/relationships/image" Target="../media/image1007.png"/><Relationship Id="rId5" Type="http://schemas.openxmlformats.org/officeDocument/2006/relationships/image" Target="../media/image1008.png"/><Relationship Id="rId6" Type="http://schemas.openxmlformats.org/officeDocument/2006/relationships/image" Target="../media/image107.png"/><Relationship Id="rId7" Type="http://schemas.openxmlformats.org/officeDocument/2006/relationships/image" Target="../media/image1009.png"/><Relationship Id="rId8" Type="http://schemas.openxmlformats.org/officeDocument/2006/relationships/image" Target="../media/image1010.png"/><Relationship Id="rId9" Type="http://schemas.openxmlformats.org/officeDocument/2006/relationships/image" Target="../media/image959.png"/><Relationship Id="rId10" Type="http://schemas.openxmlformats.org/officeDocument/2006/relationships/image" Target="../media/image1011.png"/><Relationship Id="rId11" Type="http://schemas.openxmlformats.org/officeDocument/2006/relationships/image" Target="../media/image1012.png"/><Relationship Id="rId12" Type="http://schemas.openxmlformats.org/officeDocument/2006/relationships/image" Target="../media/image416.png"/><Relationship Id="rId13" Type="http://schemas.openxmlformats.org/officeDocument/2006/relationships/image" Target="../media/image1013.png"/><Relationship Id="rId14" Type="http://schemas.openxmlformats.org/officeDocument/2006/relationships/image" Target="../media/image1014.png"/><Relationship Id="rId15" Type="http://schemas.openxmlformats.org/officeDocument/2006/relationships/image" Target="../media/image1015.png"/><Relationship Id="rId16" Type="http://schemas.openxmlformats.org/officeDocument/2006/relationships/image" Target="../media/image2.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9.xml"/><Relationship Id="rId4" Type="http://schemas.openxmlformats.org/officeDocument/2006/relationships/chart" Target="../charts/chart170.xml"/><Relationship Id="rId5" Type="http://schemas.openxmlformats.org/officeDocument/2006/relationships/notesSlide" Target="../notesSlides/notesSlide223.xml"/><Relationship Id="rId6" Type="http://schemas.openxmlformats.org/officeDocument/2006/relationships/image" Target="../media/image2.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1.xml"/><Relationship Id="rId4" Type="http://schemas.openxmlformats.org/officeDocument/2006/relationships/chart" Target="../charts/chart172.xml"/><Relationship Id="rId5" Type="http://schemas.openxmlformats.org/officeDocument/2006/relationships/chart" Target="../charts/chart173.xml"/><Relationship Id="rId6" Type="http://schemas.openxmlformats.org/officeDocument/2006/relationships/chart" Target="../charts/chart174.xml"/><Relationship Id="rId7" Type="http://schemas.openxmlformats.org/officeDocument/2006/relationships/notesSlide" Target="../notesSlides/notesSlide224.xml"/><Relationship Id="rId8" Type="http://schemas.openxmlformats.org/officeDocument/2006/relationships/image" Target="../media/image2.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 Id="rId4" Type="http://schemas.openxmlformats.org/officeDocument/2006/relationships/image" Target="../media/image2.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6.xml"/><Relationship Id="rId4" Type="http://schemas.openxmlformats.org/officeDocument/2006/relationships/image" Target="../media/image2.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5.xml"/><Relationship Id="rId4" Type="http://schemas.openxmlformats.org/officeDocument/2006/relationships/notesSlide" Target="../notesSlides/notesSlide227.xml"/><Relationship Id="rId5" Type="http://schemas.openxmlformats.org/officeDocument/2006/relationships/image" Target="../media/image2.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 Id="rId4" Type="http://schemas.openxmlformats.org/officeDocument/2006/relationships/image" Target="../media/image2.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9.xml"/><Relationship Id="rId4" Type="http://schemas.openxmlformats.org/officeDocument/2006/relationships/image" Target="../media/image2.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 Id="rId4" Type="http://schemas.openxmlformats.org/officeDocument/2006/relationships/image" Target="../media/image1036.png"/><Relationship Id="rId5" Type="http://schemas.openxmlformats.org/officeDocument/2006/relationships/image" Target="../media/image1037.png"/><Relationship Id="rId6" Type="http://schemas.openxmlformats.org/officeDocument/2006/relationships/image" Target="../media/image416.png"/><Relationship Id="rId7" Type="http://schemas.openxmlformats.org/officeDocument/2006/relationships/image" Target="../media/image1038.png"/><Relationship Id="rId8" Type="http://schemas.openxmlformats.org/officeDocument/2006/relationships/image" Target="../media/image1039.png"/><Relationship Id="rId9" Type="http://schemas.openxmlformats.org/officeDocument/2006/relationships/image" Target="../media/image150.png"/><Relationship Id="rId10" Type="http://schemas.openxmlformats.org/officeDocument/2006/relationships/image" Target="../media/image1040.png"/><Relationship Id="rId11" Type="http://schemas.openxmlformats.org/officeDocument/2006/relationships/image" Target="../media/image1041.png"/><Relationship Id="rId12" Type="http://schemas.openxmlformats.org/officeDocument/2006/relationships/image" Target="../media/image99.png"/><Relationship Id="rId13" Type="http://schemas.openxmlformats.org/officeDocument/2006/relationships/image" Target="../media/image1042.png"/><Relationship Id="rId14" Type="http://schemas.openxmlformats.org/officeDocument/2006/relationships/image" Target="../media/image1043.png"/><Relationship Id="rId15" Type="http://schemas.openxmlformats.org/officeDocument/2006/relationships/image" Target="../media/image1044.png"/><Relationship Id="rId16" Type="http://schemas.openxmlformats.org/officeDocument/2006/relationships/image" Target="../media/image2.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 Id="rId4" Type="http://schemas.openxmlformats.org/officeDocument/2006/relationships/image" Target="../media/image1045.png"/><Relationship Id="rId5" Type="http://schemas.openxmlformats.org/officeDocument/2006/relationships/image" Target="../media/image1046.png"/><Relationship Id="rId6" Type="http://schemas.openxmlformats.org/officeDocument/2006/relationships/image" Target="../media/image599.png"/><Relationship Id="rId7" Type="http://schemas.openxmlformats.org/officeDocument/2006/relationships/image" Target="../media/image1047.png"/><Relationship Id="rId8" Type="http://schemas.openxmlformats.org/officeDocument/2006/relationships/image" Target="../media/image1048.png"/><Relationship Id="rId9" Type="http://schemas.openxmlformats.org/officeDocument/2006/relationships/image" Target="../media/image1049.png"/><Relationship Id="rId10" Type="http://schemas.openxmlformats.org/officeDocument/2006/relationships/image" Target="../media/image1050.png"/><Relationship Id="rId11" Type="http://schemas.openxmlformats.org/officeDocument/2006/relationships/image" Target="../media/image1051.png"/><Relationship Id="rId12" Type="http://schemas.openxmlformats.org/officeDocument/2006/relationships/image" Target="../media/image1052.png"/><Relationship Id="rId13" Type="http://schemas.openxmlformats.org/officeDocument/2006/relationships/image" Target="../media/image2.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6.xml"/><Relationship Id="rId4" Type="http://schemas.openxmlformats.org/officeDocument/2006/relationships/chart" Target="../charts/chart177.xml"/><Relationship Id="rId5" Type="http://schemas.openxmlformats.org/officeDocument/2006/relationships/notesSlide" Target="../notesSlides/notesSlide232.xml"/><Relationship Id="rId6" Type="http://schemas.openxmlformats.org/officeDocument/2006/relationships/image" Target="../media/image2.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8.xml"/><Relationship Id="rId4" Type="http://schemas.openxmlformats.org/officeDocument/2006/relationships/chart" Target="../charts/chart179.xml"/><Relationship Id="rId5" Type="http://schemas.openxmlformats.org/officeDocument/2006/relationships/chart" Target="../charts/chart180.xml"/><Relationship Id="rId6" Type="http://schemas.openxmlformats.org/officeDocument/2006/relationships/chart" Target="../charts/chart181.xml"/><Relationship Id="rId7" Type="http://schemas.openxmlformats.org/officeDocument/2006/relationships/notesSlide" Target="../notesSlides/notesSlide233.xml"/><Relationship Id="rId8" Type="http://schemas.openxmlformats.org/officeDocument/2006/relationships/image" Target="../media/image2.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2.xml"/><Relationship Id="rId4" Type="http://schemas.openxmlformats.org/officeDocument/2006/relationships/chart" Target="../charts/chart183.xml"/><Relationship Id="rId5" Type="http://schemas.openxmlformats.org/officeDocument/2006/relationships/chart" Target="../charts/chart184.xml"/><Relationship Id="rId6" Type="http://schemas.openxmlformats.org/officeDocument/2006/relationships/notesSlide" Target="../notesSlides/notesSlide234.xml"/><Relationship Id="rId7" Type="http://schemas.openxmlformats.org/officeDocument/2006/relationships/image" Target="../media/image2.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 Id="rId4" Type="http://schemas.openxmlformats.org/officeDocument/2006/relationships/image" Target="../media/image2.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 Id="rId4" Type="http://schemas.openxmlformats.org/officeDocument/2006/relationships/image" Target="../media/image2.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5.xml"/><Relationship Id="rId4" Type="http://schemas.openxmlformats.org/officeDocument/2006/relationships/notesSlide" Target="../notesSlides/notesSlide237.xml"/><Relationship Id="rId5" Type="http://schemas.openxmlformats.org/officeDocument/2006/relationships/image" Target="../media/image2.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 Id="rId4" Type="http://schemas.openxmlformats.org/officeDocument/2006/relationships/image" Target="../media/image2.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 Id="rId4" Type="http://schemas.openxmlformats.org/officeDocument/2006/relationships/image" Target="../media/image2.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 Id="rId4" Type="http://schemas.openxmlformats.org/officeDocument/2006/relationships/image" Target="../media/image1087.png"/><Relationship Id="rId5" Type="http://schemas.openxmlformats.org/officeDocument/2006/relationships/image" Target="../media/image1088.png"/><Relationship Id="rId6" Type="http://schemas.openxmlformats.org/officeDocument/2006/relationships/image" Target="../media/image126.png"/><Relationship Id="rId7" Type="http://schemas.openxmlformats.org/officeDocument/2006/relationships/image" Target="../media/image1089.png"/><Relationship Id="rId8" Type="http://schemas.openxmlformats.org/officeDocument/2006/relationships/image" Target="../media/image1090.png"/><Relationship Id="rId9" Type="http://schemas.openxmlformats.org/officeDocument/2006/relationships/image" Target="../media/image419.png"/><Relationship Id="rId10" Type="http://schemas.openxmlformats.org/officeDocument/2006/relationships/image" Target="../media/image1091.png"/><Relationship Id="rId11" Type="http://schemas.openxmlformats.org/officeDocument/2006/relationships/image" Target="../media/image1092.png"/><Relationship Id="rId12" Type="http://schemas.openxmlformats.org/officeDocument/2006/relationships/image" Target="../media/image704.png"/><Relationship Id="rId13" Type="http://schemas.openxmlformats.org/officeDocument/2006/relationships/image" Target="../media/image2.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6.xml"/><Relationship Id="rId4" Type="http://schemas.openxmlformats.org/officeDocument/2006/relationships/chart" Target="../charts/chart187.xml"/><Relationship Id="rId5" Type="http://schemas.openxmlformats.org/officeDocument/2006/relationships/notesSlide" Target="../notesSlides/notesSlide241.xml"/><Relationship Id="rId6" Type="http://schemas.openxmlformats.org/officeDocument/2006/relationships/image" Target="../media/image2.png"/></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8.xml"/><Relationship Id="rId4" Type="http://schemas.openxmlformats.org/officeDocument/2006/relationships/chart" Target="../charts/chart189.xml"/><Relationship Id="rId5" Type="http://schemas.openxmlformats.org/officeDocument/2006/relationships/chart" Target="../charts/chart190.xml"/><Relationship Id="rId6" Type="http://schemas.openxmlformats.org/officeDocument/2006/relationships/notesSlide" Target="../notesSlides/notesSlide242.xml"/><Relationship Id="rId7" Type="http://schemas.openxmlformats.org/officeDocument/2006/relationships/image" Target="../media/image2.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 Id="rId4" Type="http://schemas.openxmlformats.org/officeDocument/2006/relationships/image" Target="../media/image2.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 Id="rId4" Type="http://schemas.openxmlformats.org/officeDocument/2006/relationships/image" Target="../media/image2.png"/></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1.xml"/><Relationship Id="rId4" Type="http://schemas.openxmlformats.org/officeDocument/2006/relationships/notesSlide" Target="../notesSlides/notesSlide245.xml"/><Relationship Id="rId5" Type="http://schemas.openxmlformats.org/officeDocument/2006/relationships/image" Target="../media/image2.png"/></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 Id="rId4" Type="http://schemas.openxmlformats.org/officeDocument/2006/relationships/image" Target="../media/image2.png"/></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 Id="rId4" Type="http://schemas.openxmlformats.org/officeDocument/2006/relationships/image" Target="../media/image2.png"/></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 Id="rId4" Type="http://schemas.openxmlformats.org/officeDocument/2006/relationships/image" Target="../media/image1108.png"/><Relationship Id="rId5" Type="http://schemas.openxmlformats.org/officeDocument/2006/relationships/image" Target="../media/image1109.png"/><Relationship Id="rId6" Type="http://schemas.openxmlformats.org/officeDocument/2006/relationships/image" Target="../media/image59.png"/><Relationship Id="rId7" Type="http://schemas.openxmlformats.org/officeDocument/2006/relationships/image" Target="../media/image1110.png"/><Relationship Id="rId8" Type="http://schemas.openxmlformats.org/officeDocument/2006/relationships/image" Target="../media/image1111.png"/><Relationship Id="rId9" Type="http://schemas.openxmlformats.org/officeDocument/2006/relationships/image" Target="../media/image1112.png"/><Relationship Id="rId10" Type="http://schemas.openxmlformats.org/officeDocument/2006/relationships/image" Target="../media/image2.png"/></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2.xml"/><Relationship Id="rId4" Type="http://schemas.openxmlformats.org/officeDocument/2006/relationships/chart" Target="../charts/chart193.xml"/><Relationship Id="rId5" Type="http://schemas.openxmlformats.org/officeDocument/2006/relationships/notesSlide" Target="../notesSlides/notesSlide249.xml"/><Relationship Id="rId6" Type="http://schemas.openxmlformats.org/officeDocument/2006/relationships/image" Target="../media/image2.png"/></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4.xml"/><Relationship Id="rId4" Type="http://schemas.openxmlformats.org/officeDocument/2006/relationships/chart" Target="../charts/chart195.xml"/><Relationship Id="rId5" Type="http://schemas.openxmlformats.org/officeDocument/2006/relationships/notesSlide" Target="../notesSlides/notesSlide250.xml"/><Relationship Id="rId6" Type="http://schemas.openxmlformats.org/officeDocument/2006/relationships/image" Target="../media/image2.png"/></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 Id="rId4" Type="http://schemas.openxmlformats.org/officeDocument/2006/relationships/image" Target="../media/image2.png"/></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2.xml"/><Relationship Id="rId4" Type="http://schemas.openxmlformats.org/officeDocument/2006/relationships/image" Target="../media/image2.png"/></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6.xml"/><Relationship Id="rId4" Type="http://schemas.openxmlformats.org/officeDocument/2006/relationships/notesSlide" Target="../notesSlides/notesSlide253.xml"/><Relationship Id="rId5" Type="http://schemas.openxmlformats.org/officeDocument/2006/relationships/image" Target="../media/image2.png"/></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4.xml"/><Relationship Id="rId4" Type="http://schemas.openxmlformats.org/officeDocument/2006/relationships/image" Target="../media/image2.png"/></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 Id="rId4" Type="http://schemas.openxmlformats.org/officeDocument/2006/relationships/image" Target="../media/image2.png"/></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 Id="rId4" Type="http://schemas.openxmlformats.org/officeDocument/2006/relationships/image" Target="../media/image1123.png"/><Relationship Id="rId5" Type="http://schemas.openxmlformats.org/officeDocument/2006/relationships/image" Target="../media/image1124.png"/><Relationship Id="rId6" Type="http://schemas.openxmlformats.org/officeDocument/2006/relationships/image" Target="../media/image104.png"/><Relationship Id="rId7" Type="http://schemas.openxmlformats.org/officeDocument/2006/relationships/image" Target="../media/image1125.png"/><Relationship Id="rId8" Type="http://schemas.openxmlformats.org/officeDocument/2006/relationships/image" Target="../media/image1126.png"/><Relationship Id="rId9" Type="http://schemas.openxmlformats.org/officeDocument/2006/relationships/image" Target="../media/image777.png"/><Relationship Id="rId10" Type="http://schemas.openxmlformats.org/officeDocument/2006/relationships/image" Target="../media/image1127.png"/><Relationship Id="rId11" Type="http://schemas.openxmlformats.org/officeDocument/2006/relationships/image" Target="../media/image1128.png"/><Relationship Id="rId12" Type="http://schemas.openxmlformats.org/officeDocument/2006/relationships/image" Target="../media/image1129.png"/><Relationship Id="rId13" Type="http://schemas.openxmlformats.org/officeDocument/2006/relationships/image" Target="../media/image1130.png"/><Relationship Id="rId14" Type="http://schemas.openxmlformats.org/officeDocument/2006/relationships/image" Target="../media/image1131.png"/><Relationship Id="rId15" Type="http://schemas.openxmlformats.org/officeDocument/2006/relationships/image" Target="../media/image1132.png"/><Relationship Id="rId16" Type="http://schemas.openxmlformats.org/officeDocument/2006/relationships/image" Target="../media/image1133.png"/><Relationship Id="rId17" Type="http://schemas.openxmlformats.org/officeDocument/2006/relationships/image" Target="../media/image1134.png"/><Relationship Id="rId18" Type="http://schemas.openxmlformats.org/officeDocument/2006/relationships/image" Target="../media/image1135.png"/><Relationship Id="rId19" Type="http://schemas.openxmlformats.org/officeDocument/2006/relationships/image" Target="../media/image1136.png"/><Relationship Id="rId20" Type="http://schemas.openxmlformats.org/officeDocument/2006/relationships/image" Target="../media/image1044.png"/><Relationship Id="rId21" Type="http://schemas.openxmlformats.org/officeDocument/2006/relationships/image" Target="../media/image2.png"/></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7.xml"/><Relationship Id="rId4" Type="http://schemas.openxmlformats.org/officeDocument/2006/relationships/chart" Target="../charts/chart198.xml"/><Relationship Id="rId5" Type="http://schemas.openxmlformats.org/officeDocument/2006/relationships/notesSlide" Target="../notesSlides/notesSlide257.xml"/><Relationship Id="rId6" Type="http://schemas.openxmlformats.org/officeDocument/2006/relationships/image" Target="../media/image2.png"/></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9.xml"/><Relationship Id="rId4" Type="http://schemas.openxmlformats.org/officeDocument/2006/relationships/chart" Target="../charts/chart200.xml"/><Relationship Id="rId5" Type="http://schemas.openxmlformats.org/officeDocument/2006/relationships/chart" Target="../charts/chart201.xml"/><Relationship Id="rId6" Type="http://schemas.openxmlformats.org/officeDocument/2006/relationships/chart" Target="../charts/chart202.xml"/><Relationship Id="rId7" Type="http://schemas.openxmlformats.org/officeDocument/2006/relationships/notesSlide" Target="../notesSlides/notesSlide258.xml"/><Relationship Id="rId8" Type="http://schemas.openxmlformats.org/officeDocument/2006/relationships/image" Target="../media/image2.pn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3.xml"/><Relationship Id="rId4" Type="http://schemas.openxmlformats.org/officeDocument/2006/relationships/chart" Target="../charts/chart204.xml"/><Relationship Id="rId5" Type="http://schemas.openxmlformats.org/officeDocument/2006/relationships/notesSlide" Target="../notesSlides/notesSlide259.xml"/><Relationship Id="rId6" Type="http://schemas.openxmlformats.org/officeDocument/2006/relationships/image" Target="../media/image2.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0.xml"/><Relationship Id="rId4" Type="http://schemas.openxmlformats.org/officeDocument/2006/relationships/image" Target="../media/image2.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1.xml"/><Relationship Id="rId4" Type="http://schemas.openxmlformats.org/officeDocument/2006/relationships/image" Target="../media/image2.png"/></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5.xml"/><Relationship Id="rId4" Type="http://schemas.openxmlformats.org/officeDocument/2006/relationships/notesSlide" Target="../notesSlides/notesSlide262.xml"/><Relationship Id="rId5" Type="http://schemas.openxmlformats.org/officeDocument/2006/relationships/image" Target="../media/image2.png"/></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3.xml"/><Relationship Id="rId4" Type="http://schemas.openxmlformats.org/officeDocument/2006/relationships/image" Target="../media/image2.pn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4.xml"/><Relationship Id="rId4" Type="http://schemas.openxmlformats.org/officeDocument/2006/relationships/image" Target="../media/image2.png"/></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5.xml"/><Relationship Id="rId4" Type="http://schemas.openxmlformats.org/officeDocument/2006/relationships/image" Target="../media/image1166.png"/><Relationship Id="rId5" Type="http://schemas.openxmlformats.org/officeDocument/2006/relationships/image" Target="../media/image1167.png"/><Relationship Id="rId6" Type="http://schemas.openxmlformats.org/officeDocument/2006/relationships/image" Target="../media/image1168.png"/><Relationship Id="rId7" Type="http://schemas.openxmlformats.org/officeDocument/2006/relationships/image" Target="../media/image1169.png"/><Relationship Id="rId8" Type="http://schemas.openxmlformats.org/officeDocument/2006/relationships/image" Target="../media/image1170.png"/><Relationship Id="rId9" Type="http://schemas.openxmlformats.org/officeDocument/2006/relationships/image" Target="../media/image422.png"/><Relationship Id="rId10" Type="http://schemas.openxmlformats.org/officeDocument/2006/relationships/image" Target="../media/image1171.png"/><Relationship Id="rId11" Type="http://schemas.openxmlformats.org/officeDocument/2006/relationships/image" Target="../media/image1172.png"/><Relationship Id="rId12" Type="http://schemas.openxmlformats.org/officeDocument/2006/relationships/image" Target="../media/image71.png"/><Relationship Id="rId13" Type="http://schemas.openxmlformats.org/officeDocument/2006/relationships/image" Target="../media/image1173.png"/><Relationship Id="rId14" Type="http://schemas.openxmlformats.org/officeDocument/2006/relationships/image" Target="../media/image1174.png"/><Relationship Id="rId15" Type="http://schemas.openxmlformats.org/officeDocument/2006/relationships/image" Target="../media/image2.png"/></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6.xml"/><Relationship Id="rId4" Type="http://schemas.openxmlformats.org/officeDocument/2006/relationships/chart" Target="../charts/chart207.xml"/><Relationship Id="rId5" Type="http://schemas.openxmlformats.org/officeDocument/2006/relationships/notesSlide" Target="../notesSlides/notesSlide266.xml"/><Relationship Id="rId6" Type="http://schemas.openxmlformats.org/officeDocument/2006/relationships/image" Target="../media/image2.png"/></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8.xml"/><Relationship Id="rId4" Type="http://schemas.openxmlformats.org/officeDocument/2006/relationships/chart" Target="../charts/chart209.xml"/><Relationship Id="rId5" Type="http://schemas.openxmlformats.org/officeDocument/2006/relationships/chart" Target="../charts/chart210.xml"/><Relationship Id="rId6" Type="http://schemas.openxmlformats.org/officeDocument/2006/relationships/chart" Target="../charts/chart211.xml"/><Relationship Id="rId7" Type="http://schemas.openxmlformats.org/officeDocument/2006/relationships/notesSlide" Target="../notesSlides/notesSlide267.xml"/><Relationship Id="rId8" Type="http://schemas.openxmlformats.org/officeDocument/2006/relationships/image" Target="../media/image2.png"/></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 Id="rId4" Type="http://schemas.openxmlformats.org/officeDocument/2006/relationships/image" Target="../media/image2.png"/></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9.xml"/><Relationship Id="rId4" Type="http://schemas.openxmlformats.org/officeDocument/2006/relationships/image" Target="../media/image2.png"/></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2.xml"/><Relationship Id="rId4" Type="http://schemas.openxmlformats.org/officeDocument/2006/relationships/notesSlide" Target="../notesSlides/notesSlide270.xml"/><Relationship Id="rId5" Type="http://schemas.openxmlformats.org/officeDocument/2006/relationships/image" Target="../media/image2.png"/></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1.xml"/><Relationship Id="rId4" Type="http://schemas.openxmlformats.org/officeDocument/2006/relationships/image" Target="../media/image2.png"/></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2.xml"/><Relationship Id="rId4" Type="http://schemas.openxmlformats.org/officeDocument/2006/relationships/image" Target="../media/image2.pn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3.xml"/><Relationship Id="rId4" Type="http://schemas.openxmlformats.org/officeDocument/2006/relationships/image" Target="../media/image1193.png"/><Relationship Id="rId5" Type="http://schemas.openxmlformats.org/officeDocument/2006/relationships/image" Target="../media/image1194.png"/><Relationship Id="rId6" Type="http://schemas.openxmlformats.org/officeDocument/2006/relationships/image" Target="../media/image483.png"/><Relationship Id="rId7" Type="http://schemas.openxmlformats.org/officeDocument/2006/relationships/image" Target="../media/image1195.png"/><Relationship Id="rId8" Type="http://schemas.openxmlformats.org/officeDocument/2006/relationships/image" Target="../media/image1196.png"/><Relationship Id="rId9" Type="http://schemas.openxmlformats.org/officeDocument/2006/relationships/image" Target="../media/image104.png"/><Relationship Id="rId10" Type="http://schemas.openxmlformats.org/officeDocument/2006/relationships/image" Target="../media/image1197.png"/><Relationship Id="rId11" Type="http://schemas.openxmlformats.org/officeDocument/2006/relationships/image" Target="../media/image1198.png"/><Relationship Id="rId12" Type="http://schemas.openxmlformats.org/officeDocument/2006/relationships/image" Target="../media/image1199.png"/><Relationship Id="rId13" Type="http://schemas.openxmlformats.org/officeDocument/2006/relationships/image" Target="../media/image2.png"/></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3.xml"/><Relationship Id="rId4" Type="http://schemas.openxmlformats.org/officeDocument/2006/relationships/chart" Target="../charts/chart214.xml"/><Relationship Id="rId5" Type="http://schemas.openxmlformats.org/officeDocument/2006/relationships/notesSlide" Target="../notesSlides/notesSlide274.xml"/><Relationship Id="rId6" Type="http://schemas.openxmlformats.org/officeDocument/2006/relationships/image" Target="../media/image2.png"/></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5.xml"/><Relationship Id="rId4" Type="http://schemas.openxmlformats.org/officeDocument/2006/relationships/chart" Target="../charts/chart216.xml"/><Relationship Id="rId5" Type="http://schemas.openxmlformats.org/officeDocument/2006/relationships/chart" Target="../charts/chart217.xml"/><Relationship Id="rId6" Type="http://schemas.openxmlformats.org/officeDocument/2006/relationships/notesSlide" Target="../notesSlides/notesSlide275.xml"/><Relationship Id="rId7" Type="http://schemas.openxmlformats.org/officeDocument/2006/relationships/image" Target="../media/image2.png"/></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 Id="rId4" Type="http://schemas.openxmlformats.org/officeDocument/2006/relationships/image" Target="../media/image2.png"/></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 Id="rId4" Type="http://schemas.openxmlformats.org/officeDocument/2006/relationships/image" Target="../media/image2.png"/></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8.xml"/><Relationship Id="rId4" Type="http://schemas.openxmlformats.org/officeDocument/2006/relationships/notesSlide" Target="../notesSlides/notesSlide278.xml"/><Relationship Id="rId5" Type="http://schemas.openxmlformats.org/officeDocument/2006/relationships/image" Target="../media/image2.png"/></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9.xml"/><Relationship Id="rId4" Type="http://schemas.openxmlformats.org/officeDocument/2006/relationships/image" Target="../media/image2.png"/></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0.xml"/><Relationship Id="rId4" Type="http://schemas.openxmlformats.org/officeDocument/2006/relationships/image" Target="../media/image2.pn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1.xml"/><Relationship Id="rId4" Type="http://schemas.openxmlformats.org/officeDocument/2006/relationships/image" Target="../media/image1215.png"/><Relationship Id="rId5" Type="http://schemas.openxmlformats.org/officeDocument/2006/relationships/image" Target="../media/image1216.png"/><Relationship Id="rId6" Type="http://schemas.openxmlformats.org/officeDocument/2006/relationships/image" Target="../media/image126.png"/><Relationship Id="rId7" Type="http://schemas.openxmlformats.org/officeDocument/2006/relationships/image" Target="../media/image1217.png"/><Relationship Id="rId8" Type="http://schemas.openxmlformats.org/officeDocument/2006/relationships/image" Target="../media/image1218.png"/><Relationship Id="rId9" Type="http://schemas.openxmlformats.org/officeDocument/2006/relationships/image" Target="../media/image1219.png"/><Relationship Id="rId10" Type="http://schemas.openxmlformats.org/officeDocument/2006/relationships/image" Target="../media/image1220.png"/><Relationship Id="rId11" Type="http://schemas.openxmlformats.org/officeDocument/2006/relationships/image" Target="../media/image1221.png"/><Relationship Id="rId12" Type="http://schemas.openxmlformats.org/officeDocument/2006/relationships/image" Target="../media/image104.png"/><Relationship Id="rId13" Type="http://schemas.openxmlformats.org/officeDocument/2006/relationships/image" Target="../media/image1222.png"/><Relationship Id="rId14" Type="http://schemas.openxmlformats.org/officeDocument/2006/relationships/image" Target="../media/image1223.png"/><Relationship Id="rId15" Type="http://schemas.openxmlformats.org/officeDocument/2006/relationships/image" Target="../media/image522.png"/><Relationship Id="rId16" Type="http://schemas.openxmlformats.org/officeDocument/2006/relationships/image" Target="../media/image2.png"/></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9.xml"/><Relationship Id="rId4" Type="http://schemas.openxmlformats.org/officeDocument/2006/relationships/chart" Target="../charts/chart220.xml"/><Relationship Id="rId5" Type="http://schemas.openxmlformats.org/officeDocument/2006/relationships/notesSlide" Target="../notesSlides/notesSlide282.xml"/><Relationship Id="rId6" Type="http://schemas.openxmlformats.org/officeDocument/2006/relationships/image" Target="../media/image2.png"/></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1.xml"/><Relationship Id="rId4" Type="http://schemas.openxmlformats.org/officeDocument/2006/relationships/chart" Target="../charts/chart222.xml"/><Relationship Id="rId5" Type="http://schemas.openxmlformats.org/officeDocument/2006/relationships/chart" Target="../charts/chart223.xml"/><Relationship Id="rId6" Type="http://schemas.openxmlformats.org/officeDocument/2006/relationships/chart" Target="../charts/chart224.xml"/><Relationship Id="rId7" Type="http://schemas.openxmlformats.org/officeDocument/2006/relationships/notesSlide" Target="../notesSlides/notesSlide283.xml"/><Relationship Id="rId8" Type="http://schemas.openxmlformats.org/officeDocument/2006/relationships/image" Target="../media/image2.png"/></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4.xml"/><Relationship Id="rId4" Type="http://schemas.openxmlformats.org/officeDocument/2006/relationships/image" Target="../media/image2.png"/></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5.xml"/><Relationship Id="rId4" Type="http://schemas.openxmlformats.org/officeDocument/2006/relationships/image" Target="../media/image2.png"/></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5.xml"/><Relationship Id="rId4" Type="http://schemas.openxmlformats.org/officeDocument/2006/relationships/notesSlide" Target="../notesSlides/notesSlide286.xml"/><Relationship Id="rId5" Type="http://schemas.openxmlformats.org/officeDocument/2006/relationships/image" Target="../media/image2.png"/></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7.xml"/><Relationship Id="rId4" Type="http://schemas.openxmlformats.org/officeDocument/2006/relationships/image" Target="../media/image2.png"/></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8.xml"/><Relationship Id="rId4" Type="http://schemas.openxmlformats.org/officeDocument/2006/relationships/image" Target="../media/image2.pn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9.xml"/><Relationship Id="rId4" Type="http://schemas.openxmlformats.org/officeDocument/2006/relationships/image" Target="../media/image1244.png"/><Relationship Id="rId5" Type="http://schemas.openxmlformats.org/officeDocument/2006/relationships/image" Target="../media/image1245.png"/><Relationship Id="rId6" Type="http://schemas.openxmlformats.org/officeDocument/2006/relationships/image" Target="../media/image777.png"/><Relationship Id="rId7" Type="http://schemas.openxmlformats.org/officeDocument/2006/relationships/image" Target="../media/image1246.png"/><Relationship Id="rId8" Type="http://schemas.openxmlformats.org/officeDocument/2006/relationships/image" Target="../media/image1247.png"/><Relationship Id="rId9" Type="http://schemas.openxmlformats.org/officeDocument/2006/relationships/image" Target="../media/image1248.png"/><Relationship Id="rId10" Type="http://schemas.openxmlformats.org/officeDocument/2006/relationships/image" Target="../media/image1249.png"/><Relationship Id="rId11" Type="http://schemas.openxmlformats.org/officeDocument/2006/relationships/image" Target="../media/image557.png"/><Relationship Id="rId12" Type="http://schemas.openxmlformats.org/officeDocument/2006/relationships/image" Target="../media/image1250.png"/><Relationship Id="rId13" Type="http://schemas.openxmlformats.org/officeDocument/2006/relationships/image" Target="../media/image1251.png"/><Relationship Id="rId14" Type="http://schemas.openxmlformats.org/officeDocument/2006/relationships/image" Target="../media/image295.png"/><Relationship Id="rId15" Type="http://schemas.openxmlformats.org/officeDocument/2006/relationships/image" Target="../media/image2.png"/></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6.xml"/><Relationship Id="rId4" Type="http://schemas.openxmlformats.org/officeDocument/2006/relationships/chart" Target="../charts/chart227.xml"/><Relationship Id="rId5" Type="http://schemas.openxmlformats.org/officeDocument/2006/relationships/notesSlide" Target="../notesSlides/notesSlide290.xml"/><Relationship Id="rId6" Type="http://schemas.openxmlformats.org/officeDocument/2006/relationships/image" Target="../media/image2.png"/></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8.xml"/><Relationship Id="rId4" Type="http://schemas.openxmlformats.org/officeDocument/2006/relationships/chart" Target="../charts/chart229.xml"/><Relationship Id="rId5" Type="http://schemas.openxmlformats.org/officeDocument/2006/relationships/chart" Target="../charts/chart230.xml"/><Relationship Id="rId6" Type="http://schemas.openxmlformats.org/officeDocument/2006/relationships/chart" Target="../charts/chart231.xml"/><Relationship Id="rId7" Type="http://schemas.openxmlformats.org/officeDocument/2006/relationships/notesSlide" Target="../notesSlides/notesSlide291.xml"/><Relationship Id="rId8" Type="http://schemas.openxmlformats.org/officeDocument/2006/relationships/image" Target="../media/image2.png"/></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2.xml"/><Relationship Id="rId4" Type="http://schemas.openxmlformats.org/officeDocument/2006/relationships/image" Target="../media/image2.png"/></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3.xml"/><Relationship Id="rId4" Type="http://schemas.openxmlformats.org/officeDocument/2006/relationships/image" Target="../media/image2.png"/></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2.xml"/><Relationship Id="rId4" Type="http://schemas.openxmlformats.org/officeDocument/2006/relationships/notesSlide" Target="../notesSlides/notesSlide294.xml"/><Relationship Id="rId5" Type="http://schemas.openxmlformats.org/officeDocument/2006/relationships/image" Target="../media/image2.png"/></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5.xml"/><Relationship Id="rId4" Type="http://schemas.openxmlformats.org/officeDocument/2006/relationships/image" Target="../media/image2.png"/></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6.xml"/><Relationship Id="rId4" Type="http://schemas.openxmlformats.org/officeDocument/2006/relationships/image" Target="../media/image2.png"/></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7.xml"/><Relationship Id="rId4" Type="http://schemas.openxmlformats.org/officeDocument/2006/relationships/image" Target="../media/image1272.png"/><Relationship Id="rId5" Type="http://schemas.openxmlformats.org/officeDocument/2006/relationships/image" Target="../media/image1273.png"/><Relationship Id="rId6" Type="http://schemas.openxmlformats.org/officeDocument/2006/relationships/image" Target="../media/image99.png"/><Relationship Id="rId7" Type="http://schemas.openxmlformats.org/officeDocument/2006/relationships/image" Target="../media/image1274.png"/><Relationship Id="rId8" Type="http://schemas.openxmlformats.org/officeDocument/2006/relationships/image" Target="../media/image1275.png"/><Relationship Id="rId9" Type="http://schemas.openxmlformats.org/officeDocument/2006/relationships/image" Target="../media/image361.png"/><Relationship Id="rId10" Type="http://schemas.openxmlformats.org/officeDocument/2006/relationships/image" Target="../media/image1276.png"/><Relationship Id="rId11" Type="http://schemas.openxmlformats.org/officeDocument/2006/relationships/image" Target="../media/image1277.png"/><Relationship Id="rId12" Type="http://schemas.openxmlformats.org/officeDocument/2006/relationships/image" Target="../media/image1219.png"/><Relationship Id="rId13" Type="http://schemas.openxmlformats.org/officeDocument/2006/relationships/image" Target="../media/image2.png"/></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3.xml"/><Relationship Id="rId4" Type="http://schemas.openxmlformats.org/officeDocument/2006/relationships/chart" Target="../charts/chart234.xml"/><Relationship Id="rId5" Type="http://schemas.openxmlformats.org/officeDocument/2006/relationships/notesSlide" Target="../notesSlides/notesSlide298.xml"/><Relationship Id="rId6" Type="http://schemas.openxmlformats.org/officeDocument/2006/relationships/image" Target="../media/image2.png"/></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5.xml"/><Relationship Id="rId4" Type="http://schemas.openxmlformats.org/officeDocument/2006/relationships/chart" Target="../charts/chart236.xml"/><Relationship Id="rId5" Type="http://schemas.openxmlformats.org/officeDocument/2006/relationships/chart" Target="../charts/chart237.xml"/><Relationship Id="rId6" Type="http://schemas.openxmlformats.org/officeDocument/2006/relationships/notesSlide" Target="../notesSlides/notesSlide299.xml"/><Relationship Id="rId7" Type="http://schemas.openxmlformats.org/officeDocument/2006/relationships/image" Target="../media/image2.png"/></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0.xml"/><Relationship Id="rId4" Type="http://schemas.openxmlformats.org/officeDocument/2006/relationships/image" Target="../media/image2.png"/></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1.xml"/><Relationship Id="rId4" Type="http://schemas.openxmlformats.org/officeDocument/2006/relationships/image" Target="../media/image2.png"/></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8.xml"/><Relationship Id="rId4" Type="http://schemas.openxmlformats.org/officeDocument/2006/relationships/notesSlide" Target="../notesSlides/notesSlide302.xml"/><Relationship Id="rId5" Type="http://schemas.openxmlformats.org/officeDocument/2006/relationships/image" Target="../media/image2.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3.xml"/><Relationship Id="rId4" Type="http://schemas.openxmlformats.org/officeDocument/2006/relationships/image" Target="../media/image2.png"/></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4.xml"/><Relationship Id="rId4" Type="http://schemas.openxmlformats.org/officeDocument/2006/relationships/image" Target="../media/image2.png"/></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5.xml"/><Relationship Id="rId4" Type="http://schemas.openxmlformats.org/officeDocument/2006/relationships/image" Target="../media/image1293.png"/><Relationship Id="rId5" Type="http://schemas.openxmlformats.org/officeDocument/2006/relationships/image" Target="../media/image1294.png"/><Relationship Id="rId6" Type="http://schemas.openxmlformats.org/officeDocument/2006/relationships/image" Target="../media/image85.png"/><Relationship Id="rId7" Type="http://schemas.openxmlformats.org/officeDocument/2006/relationships/image" Target="../media/image1295.png"/><Relationship Id="rId8" Type="http://schemas.openxmlformats.org/officeDocument/2006/relationships/image" Target="../media/image1296.png"/><Relationship Id="rId9" Type="http://schemas.openxmlformats.org/officeDocument/2006/relationships/image" Target="../media/image522.png"/><Relationship Id="rId10" Type="http://schemas.openxmlformats.org/officeDocument/2006/relationships/image" Target="../media/image2.png"/></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9.xml"/><Relationship Id="rId4" Type="http://schemas.openxmlformats.org/officeDocument/2006/relationships/chart" Target="../charts/chart240.xml"/><Relationship Id="rId5" Type="http://schemas.openxmlformats.org/officeDocument/2006/relationships/notesSlide" Target="../notesSlides/notesSlide306.xml"/><Relationship Id="rId6" Type="http://schemas.openxmlformats.org/officeDocument/2006/relationships/image" Target="../media/image2.png"/></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1.xml"/><Relationship Id="rId4" Type="http://schemas.openxmlformats.org/officeDocument/2006/relationships/chart" Target="../charts/chart242.xml"/><Relationship Id="rId5" Type="http://schemas.openxmlformats.org/officeDocument/2006/relationships/notesSlide" Target="../notesSlides/notesSlide307.xml"/><Relationship Id="rId6" Type="http://schemas.openxmlformats.org/officeDocument/2006/relationships/image" Target="../media/image2.png"/></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8.xml"/><Relationship Id="rId4" Type="http://schemas.openxmlformats.org/officeDocument/2006/relationships/image" Target="../media/image2.png"/></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9.xml"/><Relationship Id="rId4" Type="http://schemas.openxmlformats.org/officeDocument/2006/relationships/image" Target="../media/image2.png"/></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3.xml"/><Relationship Id="rId4" Type="http://schemas.openxmlformats.org/officeDocument/2006/relationships/notesSlide" Target="../notesSlides/notesSlide310.xml"/><Relationship Id="rId5" Type="http://schemas.openxmlformats.org/officeDocument/2006/relationships/image" Target="../media/image2.png"/></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1.xml"/><Relationship Id="rId4" Type="http://schemas.openxmlformats.org/officeDocument/2006/relationships/image" Target="../media/image2.png"/></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2.xml"/><Relationship Id="rId4" Type="http://schemas.openxmlformats.org/officeDocument/2006/relationships/image" Target="../media/image2.png"/></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3.xml"/><Relationship Id="rId4" Type="http://schemas.openxmlformats.org/officeDocument/2006/relationships/image" Target="../media/image1307.png"/><Relationship Id="rId5" Type="http://schemas.openxmlformats.org/officeDocument/2006/relationships/image" Target="../media/image1308.png"/><Relationship Id="rId6" Type="http://schemas.openxmlformats.org/officeDocument/2006/relationships/image" Target="../media/image704.png"/><Relationship Id="rId7" Type="http://schemas.openxmlformats.org/officeDocument/2006/relationships/image" Target="../media/image1309.png"/><Relationship Id="rId8" Type="http://schemas.openxmlformats.org/officeDocument/2006/relationships/image" Target="../media/image1310.png"/><Relationship Id="rId9" Type="http://schemas.openxmlformats.org/officeDocument/2006/relationships/image" Target="../media/image1311.png"/><Relationship Id="rId10" Type="http://schemas.openxmlformats.org/officeDocument/2006/relationships/image" Target="../media/image1312.png"/><Relationship Id="rId11" Type="http://schemas.openxmlformats.org/officeDocument/2006/relationships/image" Target="../media/image1313.png"/><Relationship Id="rId12" Type="http://schemas.openxmlformats.org/officeDocument/2006/relationships/image" Target="../media/image1132.png"/><Relationship Id="rId13" Type="http://schemas.openxmlformats.org/officeDocument/2006/relationships/image" Target="../media/image1314.png"/><Relationship Id="rId14" Type="http://schemas.openxmlformats.org/officeDocument/2006/relationships/image" Target="../media/image1315.png"/><Relationship Id="rId15" Type="http://schemas.openxmlformats.org/officeDocument/2006/relationships/image" Target="../media/image1316.png"/><Relationship Id="rId16" Type="http://schemas.openxmlformats.org/officeDocument/2006/relationships/image" Target="../media/image2.png"/></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4.xml"/><Relationship Id="rId4" Type="http://schemas.openxmlformats.org/officeDocument/2006/relationships/chart" Target="../charts/chart245.xml"/><Relationship Id="rId5" Type="http://schemas.openxmlformats.org/officeDocument/2006/relationships/notesSlide" Target="../notesSlides/notesSlide314.xml"/><Relationship Id="rId6" Type="http://schemas.openxmlformats.org/officeDocument/2006/relationships/image" Target="../media/image2.png"/></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6.xml"/><Relationship Id="rId4" Type="http://schemas.openxmlformats.org/officeDocument/2006/relationships/chart" Target="../charts/chart247.xml"/><Relationship Id="rId5" Type="http://schemas.openxmlformats.org/officeDocument/2006/relationships/chart" Target="../charts/chart248.xml"/><Relationship Id="rId6" Type="http://schemas.openxmlformats.org/officeDocument/2006/relationships/chart" Target="../charts/chart249.xml"/><Relationship Id="rId7" Type="http://schemas.openxmlformats.org/officeDocument/2006/relationships/notesSlide" Target="../notesSlides/notesSlide315.xml"/><Relationship Id="rId8" Type="http://schemas.openxmlformats.org/officeDocument/2006/relationships/image" Target="../media/image2.png"/></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6.xml"/><Relationship Id="rId4" Type="http://schemas.openxmlformats.org/officeDocument/2006/relationships/image" Target="../media/image2.png"/></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7.xml"/><Relationship Id="rId4" Type="http://schemas.openxmlformats.org/officeDocument/2006/relationships/image" Target="../media/image2.png"/></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0.xml"/><Relationship Id="rId4" Type="http://schemas.openxmlformats.org/officeDocument/2006/relationships/notesSlide" Target="../notesSlides/notesSlide318.xml"/><Relationship Id="rId5" Type="http://schemas.openxmlformats.org/officeDocument/2006/relationships/image" Target="../media/image2.png"/></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9.xml"/><Relationship Id="rId4" Type="http://schemas.openxmlformats.org/officeDocument/2006/relationships/image" Target="../media/image2.png"/></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0.xml"/><Relationship Id="rId4" Type="http://schemas.openxmlformats.org/officeDocument/2006/relationships/image" Target="../media/image2.png"/></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1.xml"/><Relationship Id="rId4" Type="http://schemas.openxmlformats.org/officeDocument/2006/relationships/image" Target="../media/image1337.png"/><Relationship Id="rId5" Type="http://schemas.openxmlformats.org/officeDocument/2006/relationships/image" Target="../media/image1338.png"/><Relationship Id="rId6" Type="http://schemas.openxmlformats.org/officeDocument/2006/relationships/image" Target="../media/image126.png"/><Relationship Id="rId7" Type="http://schemas.openxmlformats.org/officeDocument/2006/relationships/image" Target="../media/image1339.png"/><Relationship Id="rId8" Type="http://schemas.openxmlformats.org/officeDocument/2006/relationships/image" Target="../media/image1340.png"/><Relationship Id="rId9" Type="http://schemas.openxmlformats.org/officeDocument/2006/relationships/image" Target="../media/image522.png"/><Relationship Id="rId10" Type="http://schemas.openxmlformats.org/officeDocument/2006/relationships/image" Target="../media/image1341.png"/><Relationship Id="rId11" Type="http://schemas.openxmlformats.org/officeDocument/2006/relationships/image" Target="../media/image1342.png"/><Relationship Id="rId12" Type="http://schemas.openxmlformats.org/officeDocument/2006/relationships/image" Target="../media/image1168.png"/><Relationship Id="rId13" Type="http://schemas.openxmlformats.org/officeDocument/2006/relationships/image" Target="../media/image2.png"/></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1.xml"/><Relationship Id="rId4" Type="http://schemas.openxmlformats.org/officeDocument/2006/relationships/chart" Target="../charts/chart252.xml"/><Relationship Id="rId5" Type="http://schemas.openxmlformats.org/officeDocument/2006/relationships/notesSlide" Target="../notesSlides/notesSlide322.xml"/><Relationship Id="rId6" Type="http://schemas.openxmlformats.org/officeDocument/2006/relationships/image" Target="../media/image2.png"/></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3.xml"/><Relationship Id="rId4" Type="http://schemas.openxmlformats.org/officeDocument/2006/relationships/chart" Target="../charts/chart254.xml"/><Relationship Id="rId5" Type="http://schemas.openxmlformats.org/officeDocument/2006/relationships/chart" Target="../charts/chart255.xml"/><Relationship Id="rId6" Type="http://schemas.openxmlformats.org/officeDocument/2006/relationships/notesSlide" Target="../notesSlides/notesSlide323.xml"/><Relationship Id="rId7" Type="http://schemas.openxmlformats.org/officeDocument/2006/relationships/image" Target="../media/image2.png"/></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4.xml"/><Relationship Id="rId4" Type="http://schemas.openxmlformats.org/officeDocument/2006/relationships/image" Target="../media/image2.png"/></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5.xml"/><Relationship Id="rId4" Type="http://schemas.openxmlformats.org/officeDocument/2006/relationships/image" Target="../media/image2.png"/></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6.xml"/><Relationship Id="rId4" Type="http://schemas.openxmlformats.org/officeDocument/2006/relationships/notesSlide" Target="../notesSlides/notesSlide326.xml"/><Relationship Id="rId5" Type="http://schemas.openxmlformats.org/officeDocument/2006/relationships/image" Target="../media/image2.png"/></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7.xml"/><Relationship Id="rId4" Type="http://schemas.openxmlformats.org/officeDocument/2006/relationships/image" Target="../media/image2.png"/></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8.xml"/><Relationship Id="rId4" Type="http://schemas.openxmlformats.org/officeDocument/2006/relationships/image" Target="../media/image2.png"/></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9.xml"/><Relationship Id="rId4" Type="http://schemas.openxmlformats.org/officeDocument/2006/relationships/image" Target="../media/image1358.png"/><Relationship Id="rId5" Type="http://schemas.openxmlformats.org/officeDocument/2006/relationships/image" Target="../media/image1359.png"/><Relationship Id="rId6" Type="http://schemas.openxmlformats.org/officeDocument/2006/relationships/image" Target="../media/image361.png"/><Relationship Id="rId7" Type="http://schemas.openxmlformats.org/officeDocument/2006/relationships/image" Target="../media/image1360.png"/><Relationship Id="rId8" Type="http://schemas.openxmlformats.org/officeDocument/2006/relationships/image" Target="../media/image1361.png"/><Relationship Id="rId9" Type="http://schemas.openxmlformats.org/officeDocument/2006/relationships/image" Target="../media/image416.png"/><Relationship Id="rId10" Type="http://schemas.openxmlformats.org/officeDocument/2006/relationships/image" Target="../media/image1362.png"/><Relationship Id="rId11" Type="http://schemas.openxmlformats.org/officeDocument/2006/relationships/image" Target="../media/image1363.png"/><Relationship Id="rId12" Type="http://schemas.openxmlformats.org/officeDocument/2006/relationships/image" Target="../media/image1112.png"/><Relationship Id="rId13" Type="http://schemas.openxmlformats.org/officeDocument/2006/relationships/image" Target="../media/image2.png"/></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7.xml"/><Relationship Id="rId4" Type="http://schemas.openxmlformats.org/officeDocument/2006/relationships/chart" Target="../charts/chart258.xml"/><Relationship Id="rId5" Type="http://schemas.openxmlformats.org/officeDocument/2006/relationships/notesSlide" Target="../notesSlides/notesSlide330.xml"/><Relationship Id="rId6" Type="http://schemas.openxmlformats.org/officeDocument/2006/relationships/image" Target="../media/image2.png"/></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9.xml"/><Relationship Id="rId4" Type="http://schemas.openxmlformats.org/officeDocument/2006/relationships/chart" Target="../charts/chart260.xml"/><Relationship Id="rId5" Type="http://schemas.openxmlformats.org/officeDocument/2006/relationships/chart" Target="../charts/chart261.xml"/><Relationship Id="rId6" Type="http://schemas.openxmlformats.org/officeDocument/2006/relationships/notesSlide" Target="../notesSlides/notesSlide331.xml"/><Relationship Id="rId7" Type="http://schemas.openxmlformats.org/officeDocument/2006/relationships/image" Target="../media/image2.png"/></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2.xml"/><Relationship Id="rId4" Type="http://schemas.openxmlformats.org/officeDocument/2006/relationships/image" Target="../media/image2.png"/></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3.xml"/><Relationship Id="rId4" Type="http://schemas.openxmlformats.org/officeDocument/2006/relationships/image" Target="../media/image2.png"/></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2.xml"/><Relationship Id="rId4" Type="http://schemas.openxmlformats.org/officeDocument/2006/relationships/notesSlide" Target="../notesSlides/notesSlide334.xml"/><Relationship Id="rId5" Type="http://schemas.openxmlformats.org/officeDocument/2006/relationships/image" Target="../media/image2.png"/></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5.xml"/><Relationship Id="rId4" Type="http://schemas.openxmlformats.org/officeDocument/2006/relationships/image" Target="../media/image2.png"/></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6.xml"/><Relationship Id="rId4" Type="http://schemas.openxmlformats.org/officeDocument/2006/relationships/image" Target="../media/image2.png"/></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3.xml"/><Relationship Id="rId4" Type="http://schemas.openxmlformats.org/officeDocument/2006/relationships/chart" Target="../charts/chart264.xml"/><Relationship Id="rId5" Type="http://schemas.openxmlformats.org/officeDocument/2006/relationships/chart" Target="../charts/chart265.xml"/><Relationship Id="rId6" Type="http://schemas.openxmlformats.org/officeDocument/2006/relationships/chart" Target="../charts/chart266.xml"/><Relationship Id="rId7" Type="http://schemas.openxmlformats.org/officeDocument/2006/relationships/notesSlide" Target="../notesSlides/notesSlide338.xml"/><Relationship Id="rId8" Type="http://schemas.openxmlformats.org/officeDocument/2006/relationships/image" Target="../media/image2.png"/></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7.xml"/><Relationship Id="rId4" Type="http://schemas.openxmlformats.org/officeDocument/2006/relationships/chart" Target="../charts/chart268.xml"/><Relationship Id="rId5" Type="http://schemas.openxmlformats.org/officeDocument/2006/relationships/chart" Target="../charts/chart269.xml"/><Relationship Id="rId6" Type="http://schemas.openxmlformats.org/officeDocument/2006/relationships/chart" Target="../charts/chart270.xml"/><Relationship Id="rId7" Type="http://schemas.openxmlformats.org/officeDocument/2006/relationships/notesSlide" Target="../notesSlides/notesSlide339.xml"/><Relationship Id="rId8" Type="http://schemas.openxmlformats.org/officeDocument/2006/relationships/image" Target="../media/image2.png"/></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1.xml"/><Relationship Id="rId4" Type="http://schemas.openxmlformats.org/officeDocument/2006/relationships/chart" Target="../charts/chart272.xml"/><Relationship Id="rId5" Type="http://schemas.openxmlformats.org/officeDocument/2006/relationships/chart" Target="../charts/chart273.xml"/><Relationship Id="rId6" Type="http://schemas.openxmlformats.org/officeDocument/2006/relationships/chart" Target="../charts/chart274.xml"/><Relationship Id="rId7" Type="http://schemas.openxmlformats.org/officeDocument/2006/relationships/chart" Target="../charts/chart275.xml"/><Relationship Id="rId8" Type="http://schemas.openxmlformats.org/officeDocument/2006/relationships/chart" Target="../charts/chart276.xml"/><Relationship Id="rId9" Type="http://schemas.openxmlformats.org/officeDocument/2006/relationships/chart" Target="../charts/chart277.xml"/><Relationship Id="rId10" Type="http://schemas.openxmlformats.org/officeDocument/2006/relationships/chart" Target="../charts/chart278.xml"/><Relationship Id="rId11" Type="http://schemas.openxmlformats.org/officeDocument/2006/relationships/chart" Target="../charts/chart279.xml"/><Relationship Id="rId12" Type="http://schemas.openxmlformats.org/officeDocument/2006/relationships/chart" Target="../charts/chart280.xml"/><Relationship Id="rId13" Type="http://schemas.openxmlformats.org/officeDocument/2006/relationships/chart" Target="../charts/chart281.xml"/><Relationship Id="rId14" Type="http://schemas.openxmlformats.org/officeDocument/2006/relationships/chart" Target="../charts/chart282.xml"/><Relationship Id="rId15" Type="http://schemas.openxmlformats.org/officeDocument/2006/relationships/notesSlide" Target="../notesSlides/notesSlide340.xml"/><Relationship Id="rId16" Type="http://schemas.openxmlformats.org/officeDocument/2006/relationships/image" Target="../media/image2.png"/></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3.xml"/><Relationship Id="rId4" Type="http://schemas.openxmlformats.org/officeDocument/2006/relationships/chart" Target="../charts/chart284.xml"/><Relationship Id="rId5" Type="http://schemas.openxmlformats.org/officeDocument/2006/relationships/chart" Target="../charts/chart285.xml"/><Relationship Id="rId6" Type="http://schemas.openxmlformats.org/officeDocument/2006/relationships/chart" Target="../charts/chart286.xml"/><Relationship Id="rId7" Type="http://schemas.openxmlformats.org/officeDocument/2006/relationships/chart" Target="../charts/chart287.xml"/><Relationship Id="rId8" Type="http://schemas.openxmlformats.org/officeDocument/2006/relationships/chart" Target="../charts/chart288.xml"/><Relationship Id="rId9" Type="http://schemas.openxmlformats.org/officeDocument/2006/relationships/chart" Target="../charts/chart289.xml"/><Relationship Id="rId10" Type="http://schemas.openxmlformats.org/officeDocument/2006/relationships/chart" Target="../charts/chart290.xml"/><Relationship Id="rId11" Type="http://schemas.openxmlformats.org/officeDocument/2006/relationships/chart" Target="../charts/chart291.xml"/><Relationship Id="rId12" Type="http://schemas.openxmlformats.org/officeDocument/2006/relationships/notesSlide" Target="../notesSlides/notesSlide341.xml"/><Relationship Id="rId13" Type="http://schemas.openxmlformats.org/officeDocument/2006/relationships/image" Target="../media/image2.png"/></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2.xml"/><Relationship Id="rId4" Type="http://schemas.openxmlformats.org/officeDocument/2006/relationships/image" Target="../media/image2.png"/></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2.xml"/><Relationship Id="rId4" Type="http://schemas.openxmlformats.org/officeDocument/2006/relationships/chart" Target="../charts/chart293.xml"/><Relationship Id="rId5" Type="http://schemas.openxmlformats.org/officeDocument/2006/relationships/notesSlide" Target="../notesSlides/notesSlide343.xml"/><Relationship Id="rId6" Type="http://schemas.openxmlformats.org/officeDocument/2006/relationships/image" Target="../media/image2.png"/></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4.xml"/><Relationship Id="rId4" Type="http://schemas.openxmlformats.org/officeDocument/2006/relationships/image" Target="../media/image2.png"/></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5.xml"/><Relationship Id="rId4" Type="http://schemas.openxmlformats.org/officeDocument/2006/relationships/image" Target="../media/image2.png"/></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4.xml"/><Relationship Id="rId4" Type="http://schemas.openxmlformats.org/officeDocument/2006/relationships/chart" Target="../charts/chart295.xml"/><Relationship Id="rId5" Type="http://schemas.openxmlformats.org/officeDocument/2006/relationships/notesSlide" Target="../notesSlides/notesSlide346.xml"/><Relationship Id="rId6" Type="http://schemas.openxmlformats.org/officeDocument/2006/relationships/image" Target="../media/image2.png"/></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7.xml"/><Relationship Id="rId4" Type="http://schemas.openxmlformats.org/officeDocument/2006/relationships/image" Target="../media/image2.png"/></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8.xml"/><Relationship Id="rId4" Type="http://schemas.openxmlformats.org/officeDocument/2006/relationships/image" Target="../media/image2.png"/></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6.xml"/><Relationship Id="rId4" Type="http://schemas.openxmlformats.org/officeDocument/2006/relationships/chart" Target="../charts/chart297.xml"/><Relationship Id="rId5" Type="http://schemas.openxmlformats.org/officeDocument/2006/relationships/notesSlide" Target="../notesSlides/notesSlide349.xml"/><Relationship Id="rId6" Type="http://schemas.openxmlformats.org/officeDocument/2006/relationships/image" Target="../media/image2.png"/></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0.xml"/><Relationship Id="rId4" Type="http://schemas.openxmlformats.org/officeDocument/2006/relationships/image" Target="../media/image2.png"/></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1.xml"/><Relationship Id="rId4" Type="http://schemas.openxmlformats.org/officeDocument/2006/relationships/image" Target="../media/image2.png"/></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2.xml"/><Relationship Id="rId4" Type="http://schemas.openxmlformats.org/officeDocument/2006/relationships/image" Target="../media/image2.png"/></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8.xml"/><Relationship Id="rId4" Type="http://schemas.openxmlformats.org/officeDocument/2006/relationships/chart" Target="../charts/chart299.xml"/><Relationship Id="rId5" Type="http://schemas.openxmlformats.org/officeDocument/2006/relationships/notesSlide" Target="../notesSlides/notesSlide353.xml"/><Relationship Id="rId6" Type="http://schemas.openxmlformats.org/officeDocument/2006/relationships/image" Target="../media/image2.png"/></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4.xml"/><Relationship Id="rId4" Type="http://schemas.openxmlformats.org/officeDocument/2006/relationships/image" Target="../media/image2.png"/></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5.xml"/><Relationship Id="rId4" Type="http://schemas.openxmlformats.org/officeDocument/2006/relationships/image" Target="../media/image2.png"/></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0.xml"/><Relationship Id="rId4" Type="http://schemas.openxmlformats.org/officeDocument/2006/relationships/chart" Target="../charts/chart301.xml"/><Relationship Id="rId5" Type="http://schemas.openxmlformats.org/officeDocument/2006/relationships/notesSlide" Target="../notesSlides/notesSlide356.xml"/><Relationship Id="rId6" Type="http://schemas.openxmlformats.org/officeDocument/2006/relationships/image" Target="../media/image2.png"/></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7.xml"/><Relationship Id="rId4" Type="http://schemas.openxmlformats.org/officeDocument/2006/relationships/image" Target="../media/image2.png"/></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8.xml"/><Relationship Id="rId4" Type="http://schemas.openxmlformats.org/officeDocument/2006/relationships/image" Target="../media/image2.png"/></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2.xml"/><Relationship Id="rId4" Type="http://schemas.openxmlformats.org/officeDocument/2006/relationships/chart" Target="../charts/chart303.xml"/><Relationship Id="rId5" Type="http://schemas.openxmlformats.org/officeDocument/2006/relationships/notesSlide" Target="../notesSlides/notesSlide359.xml"/><Relationship Id="rId6" Type="http://schemas.openxmlformats.org/officeDocument/2006/relationships/image" Target="../media/image2.png"/></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0.xml"/><Relationship Id="rId4" Type="http://schemas.openxmlformats.org/officeDocument/2006/relationships/image" Target="../media/image2.png"/></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1.xml"/><Relationship Id="rId4" Type="http://schemas.openxmlformats.org/officeDocument/2006/relationships/image" Target="../media/image2.png"/></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4.xml"/><Relationship Id="rId4" Type="http://schemas.openxmlformats.org/officeDocument/2006/relationships/chart" Target="../charts/chart305.xml"/><Relationship Id="rId5" Type="http://schemas.openxmlformats.org/officeDocument/2006/relationships/notesSlide" Target="../notesSlides/notesSlide362.xml"/><Relationship Id="rId6" Type="http://schemas.openxmlformats.org/officeDocument/2006/relationships/image" Target="../media/image2.png"/></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3.xml"/><Relationship Id="rId4" Type="http://schemas.openxmlformats.org/officeDocument/2006/relationships/image" Target="../media/image2.png"/></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4.xml"/><Relationship Id="rId4" Type="http://schemas.openxmlformats.org/officeDocument/2006/relationships/image" Target="../media/image2.png"/></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6.xml"/><Relationship Id="rId4" Type="http://schemas.openxmlformats.org/officeDocument/2006/relationships/chart" Target="../charts/chart307.xml"/><Relationship Id="rId5" Type="http://schemas.openxmlformats.org/officeDocument/2006/relationships/notesSlide" Target="../notesSlides/notesSlide365.xml"/><Relationship Id="rId6" Type="http://schemas.openxmlformats.org/officeDocument/2006/relationships/image" Target="../media/image2.png"/></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6.xml"/><Relationship Id="rId4" Type="http://schemas.openxmlformats.org/officeDocument/2006/relationships/image" Target="../media/image2.png"/></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7.xml"/><Relationship Id="rId4" Type="http://schemas.openxmlformats.org/officeDocument/2006/relationships/image" Target="../media/image2.png"/></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8.xml"/><Relationship Id="rId4" Type="http://schemas.openxmlformats.org/officeDocument/2006/relationships/chart" Target="../charts/chart309.xml"/><Relationship Id="rId5" Type="http://schemas.openxmlformats.org/officeDocument/2006/relationships/notesSlide" Target="../notesSlides/notesSlide368.xml"/><Relationship Id="rId6" Type="http://schemas.openxmlformats.org/officeDocument/2006/relationships/image" Target="../media/image2.png"/></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9.xml"/><Relationship Id="rId4" Type="http://schemas.openxmlformats.org/officeDocument/2006/relationships/image" Target="../media/image2.png"/></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0.xml"/><Relationship Id="rId4" Type="http://schemas.openxmlformats.org/officeDocument/2006/relationships/image" Target="../media/image2.png"/></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0.xml"/><Relationship Id="rId4" Type="http://schemas.openxmlformats.org/officeDocument/2006/relationships/chart" Target="../charts/chart311.xml"/><Relationship Id="rId5" Type="http://schemas.openxmlformats.org/officeDocument/2006/relationships/notesSlide" Target="../notesSlides/notesSlide371.xml"/><Relationship Id="rId6" Type="http://schemas.openxmlformats.org/officeDocument/2006/relationships/image" Target="../media/image2.png"/></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2.xml"/><Relationship Id="rId4" Type="http://schemas.openxmlformats.org/officeDocument/2006/relationships/image" Target="../media/image2.png"/></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3.xml"/><Relationship Id="rId4" Type="http://schemas.openxmlformats.org/officeDocument/2006/relationships/image" Target="../media/image2.png"/></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2.xml"/><Relationship Id="rId4" Type="http://schemas.openxmlformats.org/officeDocument/2006/relationships/chart" Target="../charts/chart313.xml"/><Relationship Id="rId5" Type="http://schemas.openxmlformats.org/officeDocument/2006/relationships/notesSlide" Target="../notesSlides/notesSlide374.xml"/><Relationship Id="rId6" Type="http://schemas.openxmlformats.org/officeDocument/2006/relationships/image" Target="../media/image2.png"/></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5.xml"/><Relationship Id="rId4" Type="http://schemas.openxmlformats.org/officeDocument/2006/relationships/image" Target="../media/image2.png"/></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6.xml"/><Relationship Id="rId4" Type="http://schemas.openxmlformats.org/officeDocument/2006/relationships/image" Target="../media/image2.png"/></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4.xml"/><Relationship Id="rId4" Type="http://schemas.openxmlformats.org/officeDocument/2006/relationships/chart" Target="../charts/chart315.xml"/><Relationship Id="rId5" Type="http://schemas.openxmlformats.org/officeDocument/2006/relationships/notesSlide" Target="../notesSlides/notesSlide377.xml"/><Relationship Id="rId6" Type="http://schemas.openxmlformats.org/officeDocument/2006/relationships/image" Target="../media/image2.png"/></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8.xml"/><Relationship Id="rId4" Type="http://schemas.openxmlformats.org/officeDocument/2006/relationships/image" Target="../media/image2.png"/></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9.xml"/><Relationship Id="rId4" Type="http://schemas.openxmlformats.org/officeDocument/2006/relationships/image" Target="../media/image2.png"/></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6.xml"/><Relationship Id="rId4" Type="http://schemas.openxmlformats.org/officeDocument/2006/relationships/chart" Target="../charts/chart317.xml"/><Relationship Id="rId5" Type="http://schemas.openxmlformats.org/officeDocument/2006/relationships/notesSlide" Target="../notesSlides/notesSlide380.xml"/><Relationship Id="rId6" Type="http://schemas.openxmlformats.org/officeDocument/2006/relationships/image" Target="../media/image2.png"/></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1.xml"/><Relationship Id="rId4" Type="http://schemas.openxmlformats.org/officeDocument/2006/relationships/image" Target="../media/image2.png"/></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2.xml"/><Relationship Id="rId4" Type="http://schemas.openxmlformats.org/officeDocument/2006/relationships/image" Target="../media/image2.png"/></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8.xml"/><Relationship Id="rId4" Type="http://schemas.openxmlformats.org/officeDocument/2006/relationships/chart" Target="../charts/chart319.xml"/><Relationship Id="rId5" Type="http://schemas.openxmlformats.org/officeDocument/2006/relationships/notesSlide" Target="../notesSlides/notesSlide383.xml"/><Relationship Id="rId6" Type="http://schemas.openxmlformats.org/officeDocument/2006/relationships/image" Target="../media/image2.png"/></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4.xml"/><Relationship Id="rId4" Type="http://schemas.openxmlformats.org/officeDocument/2006/relationships/image" Target="../media/image2.png"/></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5.xml"/><Relationship Id="rId4" Type="http://schemas.openxmlformats.org/officeDocument/2006/relationships/image" Target="../media/image2.png"/></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0.xml"/><Relationship Id="rId4" Type="http://schemas.openxmlformats.org/officeDocument/2006/relationships/chart" Target="../charts/chart321.xml"/><Relationship Id="rId5" Type="http://schemas.openxmlformats.org/officeDocument/2006/relationships/notesSlide" Target="../notesSlides/notesSlide386.xml"/><Relationship Id="rId6" Type="http://schemas.openxmlformats.org/officeDocument/2006/relationships/image" Target="../media/image2.png"/></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7.xml"/><Relationship Id="rId4" Type="http://schemas.openxmlformats.org/officeDocument/2006/relationships/image" Target="../media/image2.png"/></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8.xml"/><Relationship Id="rId4" Type="http://schemas.openxmlformats.org/officeDocument/2006/relationships/image" Target="../media/image2.png"/></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2.xml"/><Relationship Id="rId4" Type="http://schemas.openxmlformats.org/officeDocument/2006/relationships/chart" Target="../charts/chart323.xml"/><Relationship Id="rId5" Type="http://schemas.openxmlformats.org/officeDocument/2006/relationships/notesSlide" Target="../notesSlides/notesSlide389.xml"/><Relationship Id="rId6" Type="http://schemas.openxmlformats.org/officeDocument/2006/relationships/image" Target="../media/image2.png"/></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0.xml"/><Relationship Id="rId4" Type="http://schemas.openxmlformats.org/officeDocument/2006/relationships/image" Target="../media/image2.png"/></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1.xml"/><Relationship Id="rId4" Type="http://schemas.openxmlformats.org/officeDocument/2006/relationships/image" Target="../media/image2.png"/></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4.xml"/><Relationship Id="rId4" Type="http://schemas.openxmlformats.org/officeDocument/2006/relationships/chart" Target="../charts/chart325.xml"/><Relationship Id="rId5" Type="http://schemas.openxmlformats.org/officeDocument/2006/relationships/notesSlide" Target="../notesSlides/notesSlide392.xml"/><Relationship Id="rId6" Type="http://schemas.openxmlformats.org/officeDocument/2006/relationships/image" Target="../media/image2.png"/></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3.xml"/><Relationship Id="rId4" Type="http://schemas.openxmlformats.org/officeDocument/2006/relationships/image" Target="../media/image2.png"/></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4.xml"/><Relationship Id="rId4" Type="http://schemas.openxmlformats.org/officeDocument/2006/relationships/image" Target="../media/image2.png"/></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6.xml"/><Relationship Id="rId4" Type="http://schemas.openxmlformats.org/officeDocument/2006/relationships/image" Target="../media/image2.png"/></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6.xml"/><Relationship Id="rId4" Type="http://schemas.openxmlformats.org/officeDocument/2006/relationships/chart" Target="../charts/chart327.xml"/><Relationship Id="rId5" Type="http://schemas.openxmlformats.org/officeDocument/2006/relationships/notesSlide" Target="../notesSlides/notesSlide397.xml"/><Relationship Id="rId6" Type="http://schemas.openxmlformats.org/officeDocument/2006/relationships/image" Target="../media/image2.png"/></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8.xml"/><Relationship Id="rId4" Type="http://schemas.openxmlformats.org/officeDocument/2006/relationships/notesSlide" Target="../notesSlides/notesSlide398.xml"/><Relationship Id="rId5" Type="http://schemas.openxmlformats.org/officeDocument/2006/relationships/image" Target="../media/image2.png"/></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9.xml"/><Relationship Id="rId4" Type="http://schemas.openxmlformats.org/officeDocument/2006/relationships/notesSlide" Target="../notesSlides/notesSlide399.xml"/><Relationship Id="rId5" Type="http://schemas.openxmlformats.org/officeDocument/2006/relationships/image" Target="../media/image2.png"/></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0.xml"/><Relationship Id="rId4" Type="http://schemas.openxmlformats.org/officeDocument/2006/relationships/image" Target="../media/image2.png"/></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1.xml"/><Relationship Id="rId4" Type="http://schemas.openxmlformats.org/officeDocument/2006/relationships/image" Target="../media/image2.png"/></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2.xml"/><Relationship Id="rId4" Type="http://schemas.openxmlformats.org/officeDocument/2006/relationships/image" Target="../media/image2.png"/></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3.xml"/><Relationship Id="rId4" Type="http://schemas.openxmlformats.org/officeDocument/2006/relationships/image" Target="../media/image2.png"/></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4.xml"/><Relationship Id="rId4" Type="http://schemas.openxmlformats.org/officeDocument/2006/relationships/image" Target="../media/image2.png"/></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5.xml"/><Relationship Id="rId4" Type="http://schemas.openxmlformats.org/officeDocument/2006/relationships/image" Target="../media/image2.png"/></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6.xml"/><Relationship Id="rId4" Type="http://schemas.openxmlformats.org/officeDocument/2006/relationships/image" Target="../media/image2.png"/></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7.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8.xml"/><Relationship Id="rId4" Type="http://schemas.openxmlformats.org/officeDocument/2006/relationships/image" Target="../media/image2.png"/></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9.xml"/><Relationship Id="rId4" Type="http://schemas.openxmlformats.org/officeDocument/2006/relationships/image" Target="../media/image2.png"/></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0.xml"/><Relationship Id="rId4" Type="http://schemas.openxmlformats.org/officeDocument/2006/relationships/image" Target="../media/image2.png"/></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1.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2.xml"/><Relationship Id="rId4" Type="http://schemas.openxmlformats.org/officeDocument/2006/relationships/image" Target="../media/image2.png"/></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3.xml"/><Relationship Id="rId4" Type="http://schemas.openxmlformats.org/officeDocument/2006/relationships/image" Target="../media/image2.png"/></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4.xml"/><Relationship Id="rId4" Type="http://schemas.openxmlformats.org/officeDocument/2006/relationships/image" Target="../media/image2.png"/></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5.xml"/><Relationship Id="rId4" Type="http://schemas.openxmlformats.org/officeDocument/2006/relationships/image" Target="../media/image2.png"/></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6.xml"/><Relationship Id="rId4" Type="http://schemas.openxmlformats.org/officeDocument/2006/relationships/image" Target="../media/image2.png"/></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7.xml"/><Relationship Id="rId4" Type="http://schemas.openxmlformats.org/officeDocument/2006/relationships/image" Target="../media/image2.png"/></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8.xml"/><Relationship Id="rId4" Type="http://schemas.openxmlformats.org/officeDocument/2006/relationships/image" Target="../media/image2.png"/></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9.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0.xml"/><Relationship Id="rId4" Type="http://schemas.openxmlformats.org/officeDocument/2006/relationships/image" Target="../media/image2.png"/></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1.xml"/><Relationship Id="rId4" Type="http://schemas.openxmlformats.org/officeDocument/2006/relationships/image" Target="../media/image2.png"/></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2.xml"/><Relationship Id="rId4" Type="http://schemas.openxmlformats.org/officeDocument/2006/relationships/image" Target="../media/image2.png"/></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3.xml"/><Relationship Id="rId4" Type="http://schemas.openxmlformats.org/officeDocument/2006/relationships/image" Target="../media/image2.png"/></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4.xml"/><Relationship Id="rId4" Type="http://schemas.openxmlformats.org/officeDocument/2006/relationships/image" Target="../media/image2.png"/></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5.xml"/><Relationship Id="rId4" Type="http://schemas.openxmlformats.org/officeDocument/2006/relationships/image" Target="../media/image2.png"/></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6.xml"/><Relationship Id="rId4" Type="http://schemas.openxmlformats.org/officeDocument/2006/relationships/image" Target="../media/image2.png"/></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7.xml"/><Relationship Id="rId4" Type="http://schemas.openxmlformats.org/officeDocument/2006/relationships/image" Target="../media/image2.png"/></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8.xml"/><Relationship Id="rId4" Type="http://schemas.openxmlformats.org/officeDocument/2006/relationships/image" Target="../media/image2.png"/></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9.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0.xml"/><Relationship Id="rId4" Type="http://schemas.openxmlformats.org/officeDocument/2006/relationships/image" Target="../media/image2.png"/></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1.xml"/><Relationship Id="rId4" Type="http://schemas.openxmlformats.org/officeDocument/2006/relationships/image" Target="../media/image2.png"/></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2.xml"/><Relationship Id="rId4" Type="http://schemas.openxmlformats.org/officeDocument/2006/relationships/image" Target="../media/image2.png"/></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3.xml"/><Relationship Id="rId4" Type="http://schemas.openxmlformats.org/officeDocument/2006/relationships/image" Target="../media/image2.png"/></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0.xml"/><Relationship Id="rId4" Type="http://schemas.openxmlformats.org/officeDocument/2006/relationships/notesSlide" Target="../notesSlides/notesSlide434.xml"/><Relationship Id="rId5" Type="http://schemas.openxmlformats.org/officeDocument/2006/relationships/image" Target="../media/image2.png"/></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1.xml"/><Relationship Id="rId4" Type="http://schemas.openxmlformats.org/officeDocument/2006/relationships/chart" Target="../charts/chart332.xml"/><Relationship Id="rId5" Type="http://schemas.openxmlformats.org/officeDocument/2006/relationships/notesSlide" Target="../notesSlides/notesSlide435.xml"/><Relationship Id="rId6" Type="http://schemas.openxmlformats.org/officeDocument/2006/relationships/image" Target="../media/image2.png"/></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3.xml"/><Relationship Id="rId4" Type="http://schemas.openxmlformats.org/officeDocument/2006/relationships/chart" Target="../charts/chart334.xml"/><Relationship Id="rId5" Type="http://schemas.openxmlformats.org/officeDocument/2006/relationships/chart" Target="../charts/chart335.xml"/><Relationship Id="rId6" Type="http://schemas.openxmlformats.org/officeDocument/2006/relationships/notesSlide" Target="../notesSlides/notesSlide436.xml"/><Relationship Id="rId7" Type="http://schemas.openxmlformats.org/officeDocument/2006/relationships/image" Target="../media/image2.png"/></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7.xml"/><Relationship Id="rId4" Type="http://schemas.openxmlformats.org/officeDocument/2006/relationships/image" Target="../media/image2.png"/></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6.xml"/><Relationship Id="rId4" Type="http://schemas.openxmlformats.org/officeDocument/2006/relationships/chart" Target="../charts/chart337.xml"/><Relationship Id="rId5" Type="http://schemas.openxmlformats.org/officeDocument/2006/relationships/chart" Target="../charts/chart338.xml"/><Relationship Id="rId6" Type="http://schemas.openxmlformats.org/officeDocument/2006/relationships/notesSlide" Target="../notesSlides/notesSlide438.xml"/><Relationship Id="rId7" Type="http://schemas.openxmlformats.org/officeDocument/2006/relationships/image" Target="../media/image2.png"/></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9.xml"/><Relationship Id="rId4" Type="http://schemas.openxmlformats.org/officeDocument/2006/relationships/notesSlide" Target="../notesSlides/notesSlide439.xml"/><Relationship Id="rId5" Type="http://schemas.openxmlformats.org/officeDocument/2006/relationships/image" Target="../media/image2.png"/></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0.xml"/><Relationship Id="rId4" Type="http://schemas.openxmlformats.org/officeDocument/2006/relationships/image" Target="../media/image2.png"/></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1.xml"/><Relationship Id="rId4" Type="http://schemas.openxmlformats.org/officeDocument/2006/relationships/image" Target="../media/image2.png"/></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2.xml"/><Relationship Id="rId4" Type="http://schemas.openxmlformats.org/officeDocument/2006/relationships/image" Target="../media/image2.png"/></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0.xml"/><Relationship Id="rId4" Type="http://schemas.openxmlformats.org/officeDocument/2006/relationships/chart" Target="../charts/chart341.xml"/><Relationship Id="rId5" Type="http://schemas.openxmlformats.org/officeDocument/2006/relationships/chart" Target="../charts/chart342.xml"/><Relationship Id="rId6" Type="http://schemas.openxmlformats.org/officeDocument/2006/relationships/notesSlide" Target="../notesSlides/notesSlide443.xml"/><Relationship Id="rId7" Type="http://schemas.openxmlformats.org/officeDocument/2006/relationships/image" Target="../media/image2.png"/></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3.xml"/><Relationship Id="rId4" Type="http://schemas.openxmlformats.org/officeDocument/2006/relationships/notesSlide" Target="../notesSlides/notesSlide444.xml"/><Relationship Id="rId5" Type="http://schemas.openxmlformats.org/officeDocument/2006/relationships/image" Target="../media/image2.png"/></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5.xml"/><Relationship Id="rId4" Type="http://schemas.openxmlformats.org/officeDocument/2006/relationships/image" Target="../media/image2.png"/></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6.xml"/><Relationship Id="rId4" Type="http://schemas.openxmlformats.org/officeDocument/2006/relationships/image" Target="../media/image2.png"/></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7.xml"/><Relationship Id="rId4" Type="http://schemas.openxmlformats.org/officeDocument/2006/relationships/image" Target="../media/image2.png"/></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4.xml"/><Relationship Id="rId4" Type="http://schemas.openxmlformats.org/officeDocument/2006/relationships/chart" Target="../charts/chart345.xml"/><Relationship Id="rId5" Type="http://schemas.openxmlformats.org/officeDocument/2006/relationships/chart" Target="../charts/chart346.xml"/><Relationship Id="rId6" Type="http://schemas.openxmlformats.org/officeDocument/2006/relationships/notesSlide" Target="../notesSlides/notesSlide448.xml"/><Relationship Id="rId7" Type="http://schemas.openxmlformats.org/officeDocument/2006/relationships/image" Target="../media/image2.png"/></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7.xml"/><Relationship Id="rId4" Type="http://schemas.openxmlformats.org/officeDocument/2006/relationships/notesSlide" Target="../notesSlides/notesSlide449.xml"/><Relationship Id="rId5" Type="http://schemas.openxmlformats.org/officeDocument/2006/relationships/image" Target="../media/image2.png"/></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0.xml"/><Relationship Id="rId4" Type="http://schemas.openxmlformats.org/officeDocument/2006/relationships/image" Target="../media/image2.png"/></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1.xml"/><Relationship Id="rId4" Type="http://schemas.openxmlformats.org/officeDocument/2006/relationships/image" Target="../media/image2.png"/></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2.xml"/><Relationship Id="rId4" Type="http://schemas.openxmlformats.org/officeDocument/2006/relationships/image" Target="../media/image2.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Packaged Muffins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(MT) Analysis and Forecast, 2021–2036</a:t>
            </a:r>
          </a:p>
          <a:p>
            <a:pPr algn="l"/>
            <a:r>
              <a:rPr sz="1100" b="0">
                <a:solidFill>
                  <a:srgbClr val="8FCBE6"/>
                </a:solidFill>
                <a:latin typeface="Calibri"/>
              </a:rPr>
              <a:t>Region focus: Global   ·   Country focus: U.S.   ·   Generated 07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52666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900862"/>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292487"/>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684112"/>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30757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3449937"/>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Packaged Muffins Market Global Overview</a:t>
            </a:r>
          </a:p>
        </p:txBody>
      </p:sp>
      <p:sp>
        <p:nvSpPr>
          <p:cNvPr id="17" name="Rounded Rectangle 16">
            <a:hlinkClick action="ppaction://hlinksldjump" r:id="rId10"/>
          </p:cNvPr>
          <p:cNvSpPr/>
          <p:nvPr/>
        </p:nvSpPr>
        <p:spPr>
          <a:xfrm>
            <a:off x="314325" y="3841562"/>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4233188"/>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4624812"/>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142875" y="50164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1" name="Rounded Rectangle 20">
            <a:hlinkClick action="ppaction://hlinksldjump" r:id="rId14"/>
          </p:cNvPr>
          <p:cNvSpPr/>
          <p:nvPr/>
        </p:nvSpPr>
        <p:spPr>
          <a:xfrm>
            <a:off x="314325" y="5390638"/>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Overview</a:t>
            </a:r>
          </a:p>
        </p:txBody>
      </p:sp>
      <p:sp>
        <p:nvSpPr>
          <p:cNvPr id="22" name="Rounded Rectangle 21">
            <a:hlinkClick action="ppaction://hlinksldjump" r:id="rId15"/>
          </p:cNvPr>
          <p:cNvSpPr/>
          <p:nvPr/>
        </p:nvSpPr>
        <p:spPr>
          <a:xfrm>
            <a:off x="314325" y="5782263"/>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Region</a:t>
            </a:r>
          </a:p>
        </p:txBody>
      </p:sp>
      <p:sp>
        <p:nvSpPr>
          <p:cNvPr id="23" name="Rounded Rectangle 22">
            <a:hlinkClick action="ppaction://hlinksldjump" r:id="rId16"/>
          </p:cNvPr>
          <p:cNvSpPr/>
          <p:nvPr/>
        </p:nvSpPr>
        <p:spPr>
          <a:xfrm>
            <a:off x="314325" y="6173887"/>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North America Market Analysis By Segments</a:t>
            </a:r>
          </a:p>
        </p:txBody>
      </p:sp>
      <p:sp>
        <p:nvSpPr>
          <p:cNvPr id="24" name="Rounded Rectangle 23">
            <a:hlinkClick action="ppaction://hlinksldjump" r:id="rId17"/>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5" name="Rounded Rectangle 24">
            <a:hlinkClick action="ppaction://hlinksldjump" r:id="rId18"/>
          </p:cNvPr>
          <p:cNvSpPr/>
          <p:nvPr/>
        </p:nvSpPr>
        <p:spPr>
          <a:xfrm>
            <a:off x="6391275" y="1582026"/>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Packaged Muffins Market Overview (Volume &amp; Value)</a:t>
            </a:r>
          </a:p>
        </p:txBody>
      </p:sp>
      <p:sp>
        <p:nvSpPr>
          <p:cNvPr id="26" name="Rounded Rectangle 25">
            <a:hlinkClick action="ppaction://hlinksldjump" r:id="rId19"/>
          </p:cNvPr>
          <p:cNvSpPr/>
          <p:nvPr/>
        </p:nvSpPr>
        <p:spPr>
          <a:xfrm>
            <a:off x="6391275" y="2046440"/>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Segment Overview (Volume &amp; Value)</a:t>
            </a:r>
          </a:p>
        </p:txBody>
      </p:sp>
      <p:sp>
        <p:nvSpPr>
          <p:cNvPr id="27" name="Rounded Rectangle 26">
            <a:hlinkClick action="ppaction://hlinksldjump" r:id="rId20"/>
          </p:cNvPr>
          <p:cNvSpPr/>
          <p:nvPr/>
        </p:nvSpPr>
        <p:spPr>
          <a:xfrm>
            <a:off x="6219825" y="251085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8" name="Rounded Rectangle 27">
            <a:hlinkClick action="ppaction://hlinksldjump" r:id="rId21"/>
          </p:cNvPr>
          <p:cNvSpPr/>
          <p:nvPr/>
        </p:nvSpPr>
        <p:spPr>
          <a:xfrm>
            <a:off x="6391275" y="2957843"/>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Packaged Muffins Market Pricing Analysis</a:t>
            </a:r>
          </a:p>
        </p:txBody>
      </p:sp>
      <p:sp>
        <p:nvSpPr>
          <p:cNvPr id="29" name="Rounded Rectangle 28">
            <a:hlinkClick action="ppaction://hlinksldjump" r:id="rId22"/>
          </p:cNvPr>
          <p:cNvSpPr/>
          <p:nvPr/>
        </p:nvSpPr>
        <p:spPr>
          <a:xfrm>
            <a:off x="6391275" y="3422255"/>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Supply Chain Analysis</a:t>
            </a:r>
          </a:p>
        </p:txBody>
      </p:sp>
      <p:sp>
        <p:nvSpPr>
          <p:cNvPr id="30" name="Rounded Rectangle 29">
            <a:hlinkClick action="ppaction://hlinksldjump" r:id="rId23"/>
          </p:cNvPr>
          <p:cNvSpPr/>
          <p:nvPr/>
        </p:nvSpPr>
        <p:spPr>
          <a:xfrm>
            <a:off x="6219825" y="388666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31" name="Rounded Rectangle 30">
            <a:hlinkClick action="ppaction://hlinksldjump" r:id="rId24"/>
          </p:cNvPr>
          <p:cNvSpPr/>
          <p:nvPr/>
        </p:nvSpPr>
        <p:spPr>
          <a:xfrm>
            <a:off x="6391275" y="4333658"/>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Market Dynamics &amp; Forces</a:t>
            </a:r>
          </a:p>
        </p:txBody>
      </p:sp>
      <p:sp>
        <p:nvSpPr>
          <p:cNvPr id="32" name="Rounded Rectangle 31">
            <a:hlinkClick action="ppaction://hlinksldjump" r:id="rId25"/>
          </p:cNvPr>
          <p:cNvSpPr/>
          <p:nvPr/>
        </p:nvSpPr>
        <p:spPr>
          <a:xfrm>
            <a:off x="6219825" y="479807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33" name="Rounded Rectangle 32">
            <a:hlinkClick action="ppaction://hlinksldjump" r:id="rId26"/>
          </p:cNvPr>
          <p:cNvSpPr/>
          <p:nvPr/>
        </p:nvSpPr>
        <p:spPr>
          <a:xfrm>
            <a:off x="6391275" y="5245061"/>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Competitive Landscape</a:t>
            </a:r>
          </a:p>
        </p:txBody>
      </p:sp>
      <p:sp>
        <p:nvSpPr>
          <p:cNvPr id="34" name="Rounded Rectangle 33">
            <a:hlinkClick action="ppaction://hlinksldjump" r:id="rId27"/>
          </p:cNvPr>
          <p:cNvSpPr/>
          <p:nvPr/>
        </p:nvSpPr>
        <p:spPr>
          <a:xfrm>
            <a:off x="6391275" y="5709474"/>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Market Share by Leading Players</a:t>
            </a:r>
          </a:p>
        </p:txBody>
      </p:sp>
      <p:sp>
        <p:nvSpPr>
          <p:cNvPr id="35" name="Rounded Rectangle 34">
            <a:hlinkClick action="ppaction://hlinksldjump" r:id="rId28"/>
          </p:cNvPr>
          <p:cNvSpPr/>
          <p:nvPr/>
        </p:nvSpPr>
        <p:spPr>
          <a:xfrm>
            <a:off x="6391275" y="6173887"/>
            <a:ext cx="5657850" cy="327737"/>
          </a:xfrm>
          <a:prstGeom prst="roundRect">
            <a:avLst>
              <a:gd name="adj" fmla="val 22278"/>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Company Profiles &amp; Strategic Benchmarking</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Packaged Muffins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Packaged Muffins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Packaged Muffins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Packaged Muffins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1689844" cy="186689"/>
          </a:xfrm>
          <a:prstGeom prst="rect">
            <a:avLst/>
          </a:prstGeom>
          <a:noFill/>
        </p:spPr>
        <p:txBody>
          <a:bodyPr wrap="none" lIns="0" rIns="0" tIns="0" bIns="0">
            <a:spAutoFit/>
          </a:bodyPr>
          <a:lstStyle/>
          <a:p>
            <a:r>
              <a:rPr sz="1100" b="0">
                <a:solidFill>
                  <a:srgbClr val="2E2E2E"/>
                </a:solidFill>
                <a:latin typeface="Calibri"/>
              </a:rPr>
              <a:t>Global demand expands at a</a:t>
            </a:r>
          </a:p>
        </p:txBody>
      </p:sp>
      <p:pic>
        <p:nvPicPr>
          <p:cNvPr id="13" name="Picture 12" descr="lock.png"/>
          <p:cNvPicPr>
            <a:picLocks noChangeAspect="1"/>
          </p:cNvPicPr>
          <p:nvPr/>
        </p:nvPicPr>
        <p:blipFill>
          <a:blip r:embed="rId4"/>
          <a:stretch>
            <a:fillRect/>
          </a:stretch>
        </p:blipFill>
        <p:spPr>
          <a:xfrm>
            <a:off x="5422645" y="1751653"/>
            <a:ext cx="128699" cy="187198"/>
          </a:xfrm>
          <a:prstGeom prst="rect">
            <a:avLst/>
          </a:prstGeom>
        </p:spPr>
      </p:pic>
      <p:sp>
        <p:nvSpPr>
          <p:cNvPr id="14" name="TextBox 13"/>
          <p:cNvSpPr txBox="1"/>
          <p:nvPr/>
        </p:nvSpPr>
        <p:spPr>
          <a:xfrm>
            <a:off x="5590141" y="1761432"/>
            <a:ext cx="2708109" cy="186689"/>
          </a:xfrm>
          <a:prstGeom prst="rect">
            <a:avLst/>
          </a:prstGeom>
          <a:noFill/>
        </p:spPr>
        <p:txBody>
          <a:bodyPr wrap="none" lIns="0" rIns="0" tIns="0" bIns="0">
            <a:spAutoFit/>
          </a:bodyPr>
          <a:lstStyle/>
          <a:p>
            <a:r>
              <a:rPr sz="1100" b="0">
                <a:solidFill>
                  <a:srgbClr val="2E2E2E"/>
                </a:solidFill>
                <a:latin typeface="Calibri"/>
              </a:rPr>
              <a:t>forecast CAGR (2026–2036), accelerating from</a:t>
            </a:r>
          </a:p>
        </p:txBody>
      </p:sp>
      <p:pic>
        <p:nvPicPr>
          <p:cNvPr id="15" name="Picture 14" descr="lock.png"/>
          <p:cNvPicPr>
            <a:picLocks noChangeAspect="1"/>
          </p:cNvPicPr>
          <p:nvPr/>
        </p:nvPicPr>
        <p:blipFill>
          <a:blip r:embed="rId4"/>
          <a:stretch>
            <a:fillRect/>
          </a:stretch>
        </p:blipFill>
        <p:spPr>
          <a:xfrm>
            <a:off x="8246302" y="1751653"/>
            <a:ext cx="128699" cy="187198"/>
          </a:xfrm>
          <a:prstGeom prst="rect">
            <a:avLst/>
          </a:prstGeom>
        </p:spPr>
      </p:pic>
      <p:sp>
        <p:nvSpPr>
          <p:cNvPr id="16" name="TextBox 15"/>
          <p:cNvSpPr txBox="1"/>
          <p:nvPr/>
        </p:nvSpPr>
        <p:spPr>
          <a:xfrm>
            <a:off x="3784750"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7" name="Picture 16" descr="lock.png"/>
          <p:cNvPicPr>
            <a:picLocks noChangeAspect="1"/>
          </p:cNvPicPr>
          <p:nvPr/>
        </p:nvPicPr>
        <p:blipFill>
          <a:blip r:embed="rId4"/>
          <a:stretch>
            <a:fillRect/>
          </a:stretch>
        </p:blipFill>
        <p:spPr>
          <a:xfrm>
            <a:off x="10214228" y="1689042"/>
            <a:ext cx="330041" cy="480060"/>
          </a:xfrm>
          <a:prstGeom prst="rect">
            <a:avLst/>
          </a:prstGeom>
        </p:spPr>
      </p:pic>
      <p:sp>
        <p:nvSpPr>
          <p:cNvPr id="18" name="TextBox 17"/>
          <p:cNvSpPr txBox="1"/>
          <p:nvPr/>
        </p:nvSpPr>
        <p:spPr>
          <a:xfrm>
            <a:off x="3784750" y="2801893"/>
            <a:ext cx="2182341" cy="186689"/>
          </a:xfrm>
          <a:prstGeom prst="rect">
            <a:avLst/>
          </a:prstGeom>
          <a:noFill/>
        </p:spPr>
        <p:txBody>
          <a:bodyPr wrap="none" lIns="0" rIns="0" tIns="0" bIns="0">
            <a:spAutoFit/>
          </a:bodyPr>
          <a:lstStyle/>
          <a:p>
            <a:r>
              <a:rPr sz="1100" b="0">
                <a:solidFill>
                  <a:srgbClr val="2E2E2E"/>
                </a:solidFill>
                <a:latin typeface="Calibri"/>
              </a:rPr>
              <a:t>Sweet muffins leads Product Type, at</a:t>
            </a:r>
          </a:p>
        </p:txBody>
      </p:sp>
      <p:pic>
        <p:nvPicPr>
          <p:cNvPr id="19" name="Picture 18" descr="lock.png"/>
          <p:cNvPicPr>
            <a:picLocks noChangeAspect="1"/>
          </p:cNvPicPr>
          <p:nvPr/>
        </p:nvPicPr>
        <p:blipFill>
          <a:blip r:embed="rId4"/>
          <a:stretch>
            <a:fillRect/>
          </a:stretch>
        </p:blipFill>
        <p:spPr>
          <a:xfrm>
            <a:off x="5915142" y="2792114"/>
            <a:ext cx="128699" cy="187198"/>
          </a:xfrm>
          <a:prstGeom prst="rect">
            <a:avLst/>
          </a:prstGeom>
        </p:spPr>
      </p:pic>
      <p:sp>
        <p:nvSpPr>
          <p:cNvPr id="20" name="TextBox 19"/>
          <p:cNvSpPr txBox="1"/>
          <p:nvPr/>
        </p:nvSpPr>
        <p:spPr>
          <a:xfrm>
            <a:off x="6082638" y="2801893"/>
            <a:ext cx="2314128" cy="186689"/>
          </a:xfrm>
          <a:prstGeom prst="rect">
            <a:avLst/>
          </a:prstGeom>
          <a:noFill/>
        </p:spPr>
        <p:txBody>
          <a:bodyPr wrap="none" lIns="0" rIns="0" tIns="0" bIns="0">
            <a:spAutoFit/>
          </a:bodyPr>
          <a:lstStyle/>
          <a:p>
            <a:r>
              <a:rPr sz="1100" b="0">
                <a:solidFill>
                  <a:srgbClr val="2E2E2E"/>
                </a:solidFill>
                <a:latin typeface="Calibri"/>
              </a:rPr>
              <a:t>of 2036 value, within a mix of 2 tracked</a:t>
            </a:r>
          </a:p>
        </p:txBody>
      </p:sp>
      <p:sp>
        <p:nvSpPr>
          <p:cNvPr id="21" name="TextBox 20"/>
          <p:cNvSpPr txBox="1"/>
          <p:nvPr/>
        </p:nvSpPr>
        <p:spPr>
          <a:xfrm>
            <a:off x="3784750" y="2969533"/>
            <a:ext cx="698574" cy="186689"/>
          </a:xfrm>
          <a:prstGeom prst="rect">
            <a:avLst/>
          </a:prstGeom>
          <a:noFill/>
        </p:spPr>
        <p:txBody>
          <a:bodyPr wrap="none" lIns="0" rIns="0" tIns="0" bIns="0">
            <a:spAutoFit/>
          </a:bodyPr>
          <a:lstStyle/>
          <a:p>
            <a:r>
              <a:rPr sz="1100" b="0">
                <a:solidFill>
                  <a:srgbClr val="2E2E2E"/>
                </a:solidFill>
                <a:latin typeface="Calibri"/>
              </a:rPr>
              <a:t>categories.</a:t>
            </a:r>
          </a:p>
        </p:txBody>
      </p:sp>
      <p:sp>
        <p:nvSpPr>
          <p:cNvPr id="22" name="TextBox 21"/>
          <p:cNvSpPr txBox="1"/>
          <p:nvPr/>
        </p:nvSpPr>
        <p:spPr>
          <a:xfrm>
            <a:off x="8785375" y="2885713"/>
            <a:ext cx="1292572" cy="186689"/>
          </a:xfrm>
          <a:prstGeom prst="rect">
            <a:avLst/>
          </a:prstGeom>
          <a:noFill/>
        </p:spPr>
        <p:txBody>
          <a:bodyPr wrap="none" lIns="0" rIns="0" tIns="0" bIns="0">
            <a:spAutoFit/>
          </a:bodyPr>
          <a:lstStyle/>
          <a:p>
            <a:r>
              <a:rPr sz="1100" b="0">
                <a:solidFill>
                  <a:srgbClr val="2E2E2E"/>
                </a:solidFill>
                <a:latin typeface="Calibri"/>
              </a:rPr>
              <a:t>Lead: Sweet muffins ·</a:t>
            </a:r>
          </a:p>
        </p:txBody>
      </p:sp>
      <p:pic>
        <p:nvPicPr>
          <p:cNvPr id="23" name="Picture 22" descr="lock.png"/>
          <p:cNvPicPr>
            <a:picLocks noChangeAspect="1"/>
          </p:cNvPicPr>
          <p:nvPr/>
        </p:nvPicPr>
        <p:blipFill>
          <a:blip r:embed="rId4"/>
          <a:stretch>
            <a:fillRect/>
          </a:stretch>
        </p:blipFill>
        <p:spPr>
          <a:xfrm>
            <a:off x="10025998" y="2875934"/>
            <a:ext cx="128699" cy="187198"/>
          </a:xfrm>
          <a:prstGeom prst="rect">
            <a:avLst/>
          </a:prstGeom>
        </p:spPr>
      </p:pic>
      <p:sp>
        <p:nvSpPr>
          <p:cNvPr id="24" name="TextBox 23"/>
          <p:cNvSpPr txBox="1"/>
          <p:nvPr/>
        </p:nvSpPr>
        <p:spPr>
          <a:xfrm>
            <a:off x="10193494"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5" name="TextBox 24"/>
          <p:cNvSpPr txBox="1"/>
          <p:nvPr/>
        </p:nvSpPr>
        <p:spPr>
          <a:xfrm>
            <a:off x="3784750" y="3842354"/>
            <a:ext cx="4484087" cy="186689"/>
          </a:xfrm>
          <a:prstGeom prst="rect">
            <a:avLst/>
          </a:prstGeom>
          <a:noFill/>
        </p:spPr>
        <p:txBody>
          <a:bodyPr wrap="none" lIns="0" rIns="0" tIns="0" bIns="0">
            <a:spAutoFit/>
          </a:bodyPr>
          <a:lstStyle/>
          <a:p>
            <a:r>
              <a:rPr sz="1100" b="0">
                <a:solidFill>
                  <a:srgbClr val="2E2E2E"/>
                </a:solidFill>
                <a:latin typeface="Calibri"/>
              </a:rPr>
              <a:t>Foodservice and institutional is the fastest-growing part of Sales Channel, at a</a:t>
            </a:r>
          </a:p>
        </p:txBody>
      </p:sp>
      <p:pic>
        <p:nvPicPr>
          <p:cNvPr id="26" name="Picture 25" descr="lock.png"/>
          <p:cNvPicPr>
            <a:picLocks noChangeAspect="1"/>
          </p:cNvPicPr>
          <p:nvPr/>
        </p:nvPicPr>
        <p:blipFill>
          <a:blip r:embed="rId4"/>
          <a:stretch>
            <a:fillRect/>
          </a:stretch>
        </p:blipFill>
        <p:spPr>
          <a:xfrm>
            <a:off x="8216888" y="3832575"/>
            <a:ext cx="128699" cy="187198"/>
          </a:xfrm>
          <a:prstGeom prst="rect">
            <a:avLst/>
          </a:prstGeom>
        </p:spPr>
      </p:pic>
      <p:sp>
        <p:nvSpPr>
          <p:cNvPr id="27" name="TextBox 26"/>
          <p:cNvSpPr txBox="1"/>
          <p:nvPr/>
        </p:nvSpPr>
        <p:spPr>
          <a:xfrm>
            <a:off x="3784750" y="4009994"/>
            <a:ext cx="2537031" cy="186689"/>
          </a:xfrm>
          <a:prstGeom prst="rect">
            <a:avLst/>
          </a:prstGeom>
          <a:noFill/>
        </p:spPr>
        <p:txBody>
          <a:bodyPr wrap="none" lIns="0" rIns="0" tIns="0" bIns="0">
            <a:spAutoFit/>
          </a:bodyPr>
          <a:lstStyle/>
          <a:p>
            <a:r>
              <a:rPr sz="1100" b="0">
                <a:solidFill>
                  <a:srgbClr val="2E2E2E"/>
                </a:solidFill>
                <a:latin typeface="Calibri"/>
              </a:rPr>
              <a:t>forecast CAGR outpacing the wider market.</a:t>
            </a:r>
          </a:p>
        </p:txBody>
      </p:sp>
      <p:sp>
        <p:nvSpPr>
          <p:cNvPr id="28" name="TextBox 27"/>
          <p:cNvSpPr txBox="1"/>
          <p:nvPr/>
        </p:nvSpPr>
        <p:spPr>
          <a:xfrm>
            <a:off x="8785375" y="3926174"/>
            <a:ext cx="2259195" cy="186689"/>
          </a:xfrm>
          <a:prstGeom prst="rect">
            <a:avLst/>
          </a:prstGeom>
          <a:noFill/>
        </p:spPr>
        <p:txBody>
          <a:bodyPr wrap="none" lIns="0" rIns="0" tIns="0" bIns="0">
            <a:spAutoFit/>
          </a:bodyPr>
          <a:lstStyle/>
          <a:p>
            <a:r>
              <a:rPr sz="1100" b="0">
                <a:solidFill>
                  <a:srgbClr val="2E2E2E"/>
                </a:solidFill>
                <a:latin typeface="Calibri"/>
              </a:rPr>
              <a:t>Fastest: Foodservice and institutional ·</a:t>
            </a:r>
          </a:p>
        </p:txBody>
      </p:sp>
      <p:pic>
        <p:nvPicPr>
          <p:cNvPr id="29" name="Picture 28" descr="lock.png"/>
          <p:cNvPicPr>
            <a:picLocks noChangeAspect="1"/>
          </p:cNvPicPr>
          <p:nvPr/>
        </p:nvPicPr>
        <p:blipFill>
          <a:blip r:embed="rId4"/>
          <a:stretch>
            <a:fillRect/>
          </a:stretch>
        </p:blipFill>
        <p:spPr>
          <a:xfrm>
            <a:off x="10992622" y="3916395"/>
            <a:ext cx="128699" cy="187198"/>
          </a:xfrm>
          <a:prstGeom prst="rect">
            <a:avLst/>
          </a:prstGeom>
        </p:spPr>
      </p:pic>
      <p:sp>
        <p:nvSpPr>
          <p:cNvPr id="30" name="TextBox 29"/>
          <p:cNvSpPr txBox="1"/>
          <p:nvPr/>
        </p:nvSpPr>
        <p:spPr>
          <a:xfrm>
            <a:off x="11160118"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1" name="TextBox 30"/>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2" name="Picture 31" descr="lock.png"/>
          <p:cNvPicPr>
            <a:picLocks noChangeAspect="1"/>
          </p:cNvPicPr>
          <p:nvPr/>
        </p:nvPicPr>
        <p:blipFill>
          <a:blip r:embed="rId4"/>
          <a:stretch>
            <a:fillRect/>
          </a:stretch>
        </p:blipFill>
        <p:spPr>
          <a:xfrm>
            <a:off x="6406275" y="4873036"/>
            <a:ext cx="128699" cy="187198"/>
          </a:xfrm>
          <a:prstGeom prst="rect">
            <a:avLst/>
          </a:prstGeom>
        </p:spPr>
      </p:pic>
      <p:sp>
        <p:nvSpPr>
          <p:cNvPr id="33" name="TextBox 32"/>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4" name="TextBox 33"/>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5" name="Picture 34" descr="lock.png"/>
          <p:cNvPicPr>
            <a:picLocks noChangeAspect="1"/>
          </p:cNvPicPr>
          <p:nvPr/>
        </p:nvPicPr>
        <p:blipFill>
          <a:blip r:embed="rId4"/>
          <a:stretch>
            <a:fillRect/>
          </a:stretch>
        </p:blipFill>
        <p:spPr>
          <a:xfrm>
            <a:off x="5106956" y="5040676"/>
            <a:ext cx="128699" cy="187198"/>
          </a:xfrm>
          <a:prstGeom prst="rect">
            <a:avLst/>
          </a:prstGeom>
        </p:spPr>
      </p:pic>
      <p:sp>
        <p:nvSpPr>
          <p:cNvPr id="36" name="TextBox 35"/>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7" name="TextBox 36"/>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8" name="Picture 37" descr="lock.png"/>
          <p:cNvPicPr>
            <a:picLocks noChangeAspect="1"/>
          </p:cNvPicPr>
          <p:nvPr/>
        </p:nvPicPr>
        <p:blipFill>
          <a:blip r:embed="rId4"/>
          <a:stretch>
            <a:fillRect/>
          </a:stretch>
        </p:blipFill>
        <p:spPr>
          <a:xfrm>
            <a:off x="10197622" y="4873036"/>
            <a:ext cx="128699" cy="187198"/>
          </a:xfrm>
          <a:prstGeom prst="rect">
            <a:avLst/>
          </a:prstGeom>
        </p:spPr>
      </p:pic>
      <p:sp>
        <p:nvSpPr>
          <p:cNvPr id="39" name="TextBox 38"/>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40" name="TextBox 39"/>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1" name="Picture 40" descr="lock.png"/>
          <p:cNvPicPr>
            <a:picLocks noChangeAspect="1"/>
          </p:cNvPicPr>
          <p:nvPr/>
        </p:nvPicPr>
        <p:blipFill>
          <a:blip r:embed="rId4"/>
          <a:stretch>
            <a:fillRect/>
          </a:stretch>
        </p:blipFill>
        <p:spPr>
          <a:xfrm>
            <a:off x="9248099" y="5040676"/>
            <a:ext cx="128699" cy="187198"/>
          </a:xfrm>
          <a:prstGeom prst="rect">
            <a:avLst/>
          </a:prstGeom>
        </p:spPr>
      </p:pic>
      <p:sp>
        <p:nvSpPr>
          <p:cNvPr id="42" name="TextBox 41"/>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3" name="TextBox 42"/>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4" name="Picture 43" descr="lock.png"/>
          <p:cNvPicPr>
            <a:picLocks noChangeAspect="1"/>
          </p:cNvPicPr>
          <p:nvPr/>
        </p:nvPicPr>
        <p:blipFill>
          <a:blip r:embed="rId4"/>
          <a:stretch>
            <a:fillRect/>
          </a:stretch>
        </p:blipFill>
        <p:spPr>
          <a:xfrm>
            <a:off x="4678579" y="5913497"/>
            <a:ext cx="128699" cy="187198"/>
          </a:xfrm>
          <a:prstGeom prst="rect">
            <a:avLst/>
          </a:prstGeom>
        </p:spPr>
      </p:pic>
      <p:sp>
        <p:nvSpPr>
          <p:cNvPr id="45" name="TextBox 44"/>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6" name="TextBox 45"/>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7" name="TextBox 46"/>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8" name="Picture 47" descr="lock.png"/>
          <p:cNvPicPr>
            <a:picLocks noChangeAspect="1"/>
          </p:cNvPicPr>
          <p:nvPr/>
        </p:nvPicPr>
        <p:blipFill>
          <a:blip r:embed="rId4"/>
          <a:stretch>
            <a:fillRect/>
          </a:stretch>
        </p:blipFill>
        <p:spPr>
          <a:xfrm>
            <a:off x="9591346" y="5997317"/>
            <a:ext cx="128699" cy="187198"/>
          </a:xfrm>
          <a:prstGeom prst="rect">
            <a:avLst/>
          </a:prstGeom>
        </p:spPr>
      </p:pic>
      <p:sp>
        <p:nvSpPr>
          <p:cNvPr id="49" name="TextBox 48"/>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50" name="Picture 49" descr="lock.png"/>
          <p:cNvPicPr>
            <a:picLocks noChangeAspect="1"/>
          </p:cNvPicPr>
          <p:nvPr/>
        </p:nvPicPr>
        <p:blipFill>
          <a:blip r:embed="rId4"/>
          <a:stretch>
            <a:fillRect/>
          </a:stretch>
        </p:blipFill>
        <p:spPr>
          <a:xfrm>
            <a:off x="11052672" y="5997317"/>
            <a:ext cx="128699" cy="187198"/>
          </a:xfrm>
          <a:prstGeom prst="rect">
            <a:avLst/>
          </a:prstGeom>
        </p:spPr>
      </p:pic>
      <p:sp>
        <p:nvSpPr>
          <p:cNvPr id="51" name="TextBox 50"/>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445350"/>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627887"/>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51530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56795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933026"/>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298100"/>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66317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4028248"/>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39332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767523"/>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51325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497671"/>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86274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622781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71628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916305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81315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518735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111633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4" name="Rounded Rectangle 53"/>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Packaged Muffins Market</a:t>
            </a:r>
          </a:p>
        </p:txBody>
      </p:sp>
      <p:sp>
        <p:nvSpPr>
          <p:cNvPr id="55" name="Rounded Rectangle 54"/>
          <p:cNvSpPr/>
          <p:nvPr/>
        </p:nvSpPr>
        <p:spPr>
          <a:xfrm>
            <a:off x="1428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6" name="Rounded Rectangle 55"/>
          <p:cNvSpPr/>
          <p:nvPr/>
        </p:nvSpPr>
        <p:spPr>
          <a:xfrm>
            <a:off x="2762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7" name="Rounded Rectangle 56"/>
          <p:cNvSpPr/>
          <p:nvPr/>
        </p:nvSpPr>
        <p:spPr>
          <a:xfrm>
            <a:off x="27622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8" name="Rounded Rectangle 57"/>
          <p:cNvSpPr/>
          <p:nvPr/>
        </p:nvSpPr>
        <p:spPr>
          <a:xfrm>
            <a:off x="214312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59" name="Rounded Rectangle 58"/>
          <p:cNvSpPr/>
          <p:nvPr/>
        </p:nvSpPr>
        <p:spPr>
          <a:xfrm>
            <a:off x="227647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0" name="Rounded Rectangle 59"/>
          <p:cNvSpPr/>
          <p:nvPr/>
        </p:nvSpPr>
        <p:spPr>
          <a:xfrm>
            <a:off x="227647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1" name="Rounded Rectangle 60"/>
          <p:cNvSpPr/>
          <p:nvPr/>
        </p:nvSpPr>
        <p:spPr>
          <a:xfrm>
            <a:off x="2276475"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LATAM</a:t>
            </a:r>
          </a:p>
        </p:txBody>
      </p:sp>
      <p:sp>
        <p:nvSpPr>
          <p:cNvPr id="62" name="Rounded Rectangle 61"/>
          <p:cNvSpPr/>
          <p:nvPr/>
        </p:nvSpPr>
        <p:spPr>
          <a:xfrm>
            <a:off x="41433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3" name="Rounded Rectangle 62"/>
          <p:cNvSpPr/>
          <p:nvPr/>
        </p:nvSpPr>
        <p:spPr>
          <a:xfrm>
            <a:off x="42767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4" name="Rounded Rectangle 63"/>
          <p:cNvSpPr/>
          <p:nvPr/>
        </p:nvSpPr>
        <p:spPr>
          <a:xfrm>
            <a:off x="4276725" y="263184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5" name="Rounded Rectangle 64"/>
          <p:cNvSpPr/>
          <p:nvPr/>
        </p:nvSpPr>
        <p:spPr>
          <a:xfrm>
            <a:off x="4276725" y="2996914"/>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6" name="Rounded Rectangle 65"/>
          <p:cNvSpPr/>
          <p:nvPr/>
        </p:nvSpPr>
        <p:spPr>
          <a:xfrm>
            <a:off x="4276725" y="336198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7" name="Rounded Rectangle 66"/>
          <p:cNvSpPr/>
          <p:nvPr/>
        </p:nvSpPr>
        <p:spPr>
          <a:xfrm>
            <a:off x="4276725" y="372706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68" name="Rounded Rectangle 67"/>
          <p:cNvSpPr/>
          <p:nvPr/>
        </p:nvSpPr>
        <p:spPr>
          <a:xfrm>
            <a:off x="4276725" y="409213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69" name="Rounded Rectangle 68"/>
          <p:cNvSpPr/>
          <p:nvPr/>
        </p:nvSpPr>
        <p:spPr>
          <a:xfrm>
            <a:off x="4276725" y="446633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0" name="Rounded Rectangle 69"/>
          <p:cNvSpPr/>
          <p:nvPr/>
        </p:nvSpPr>
        <p:spPr>
          <a:xfrm>
            <a:off x="4276725" y="483141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1" name="Rounded Rectangle 70"/>
          <p:cNvSpPr/>
          <p:nvPr/>
        </p:nvSpPr>
        <p:spPr>
          <a:xfrm>
            <a:off x="4276725" y="5196485"/>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2" name="Rounded Rectangle 71"/>
          <p:cNvSpPr/>
          <p:nvPr/>
        </p:nvSpPr>
        <p:spPr>
          <a:xfrm>
            <a:off x="4276725" y="556155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3" name="Rounded Rectangle 72"/>
          <p:cNvSpPr/>
          <p:nvPr/>
        </p:nvSpPr>
        <p:spPr>
          <a:xfrm>
            <a:off x="4276725" y="592663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629170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5" name="Rounded Rectangle 74"/>
          <p:cNvSpPr/>
          <p:nvPr/>
        </p:nvSpPr>
        <p:spPr>
          <a:xfrm>
            <a:off x="61531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6" name="Rounded Rectangle 75"/>
          <p:cNvSpPr/>
          <p:nvPr/>
        </p:nvSpPr>
        <p:spPr>
          <a:xfrm>
            <a:off x="62865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7" name="Rounded Rectangle 76"/>
          <p:cNvSpPr/>
          <p:nvPr/>
        </p:nvSpPr>
        <p:spPr>
          <a:xfrm>
            <a:off x="62865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78" name="Rounded Rectangle 77"/>
          <p:cNvSpPr/>
          <p:nvPr/>
        </p:nvSpPr>
        <p:spPr>
          <a:xfrm>
            <a:off x="62865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79" name="Rounded Rectangle 78"/>
          <p:cNvSpPr/>
          <p:nvPr/>
        </p:nvSpPr>
        <p:spPr>
          <a:xfrm>
            <a:off x="815340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0" name="Rounded Rectangle 79"/>
          <p:cNvSpPr/>
          <p:nvPr/>
        </p:nvSpPr>
        <p:spPr>
          <a:xfrm>
            <a:off x="828675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1" name="Rounded Rectangle 80"/>
          <p:cNvSpPr/>
          <p:nvPr/>
        </p:nvSpPr>
        <p:spPr>
          <a:xfrm>
            <a:off x="828675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2" name="Rounded Rectangle 81"/>
          <p:cNvSpPr/>
          <p:nvPr/>
        </p:nvSpPr>
        <p:spPr>
          <a:xfrm>
            <a:off x="828675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3" name="Rounded Rectangle 82"/>
          <p:cNvSpPr/>
          <p:nvPr/>
        </p:nvSpPr>
        <p:spPr>
          <a:xfrm>
            <a:off x="828675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4" name="Rounded Rectangle 83"/>
          <p:cNvSpPr/>
          <p:nvPr/>
        </p:nvSpPr>
        <p:spPr>
          <a:xfrm>
            <a:off x="828675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5" name="Rounded Rectangle 84"/>
          <p:cNvSpPr/>
          <p:nvPr/>
        </p:nvSpPr>
        <p:spPr>
          <a:xfrm>
            <a:off x="828675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6" name="Rounded Rectangle 85"/>
          <p:cNvSpPr/>
          <p:nvPr/>
        </p:nvSpPr>
        <p:spPr>
          <a:xfrm>
            <a:off x="828675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7" name="Rounded Rectangle 86"/>
          <p:cNvSpPr/>
          <p:nvPr/>
        </p:nvSpPr>
        <p:spPr>
          <a:xfrm>
            <a:off x="8286750" y="488617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88" name="Rounded Rectangle 87"/>
          <p:cNvSpPr/>
          <p:nvPr/>
        </p:nvSpPr>
        <p:spPr>
          <a:xfrm>
            <a:off x="8286750" y="52603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East Asia</a:t>
            </a:r>
          </a:p>
        </p:txBody>
      </p:sp>
      <p:sp>
        <p:nvSpPr>
          <p:cNvPr id="89" name="Rounded Rectangle 88"/>
          <p:cNvSpPr/>
          <p:nvPr/>
        </p:nvSpPr>
        <p:spPr>
          <a:xfrm>
            <a:off x="101536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0" name="Rounded Rectangle 89"/>
          <p:cNvSpPr/>
          <p:nvPr/>
        </p:nvSpPr>
        <p:spPr>
          <a:xfrm>
            <a:off x="102870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1" name="Rounded Rectangle 90"/>
          <p:cNvSpPr/>
          <p:nvPr/>
        </p:nvSpPr>
        <p:spPr>
          <a:xfrm>
            <a:off x="102870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2" name="Rounded Rectangle 91"/>
          <p:cNvSpPr/>
          <p:nvPr/>
        </p:nvSpPr>
        <p:spPr>
          <a:xfrm>
            <a:off x="102870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3" name="Rounded Rectangle 92"/>
          <p:cNvSpPr/>
          <p:nvPr/>
        </p:nvSpPr>
        <p:spPr>
          <a:xfrm>
            <a:off x="1028700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4" name="Rounded Rectangle 93"/>
          <p:cNvSpPr/>
          <p:nvPr/>
        </p:nvSpPr>
        <p:spPr>
          <a:xfrm>
            <a:off x="1028700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5" name="Rounded Rectangle 94"/>
          <p:cNvSpPr/>
          <p:nvPr/>
        </p:nvSpPr>
        <p:spPr>
          <a:xfrm>
            <a:off x="1028700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6" name="Rounded Rectangle 95"/>
          <p:cNvSpPr/>
          <p:nvPr/>
        </p:nvSpPr>
        <p:spPr>
          <a:xfrm>
            <a:off x="1028700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7" name="TextBox 9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17 axes and the sub-segments sized under each</a:t>
            </a:r>
          </a:p>
        </p:txBody>
      </p:sp>
      <p:sp>
        <p:nvSpPr>
          <p:cNvPr id="10" name="Rectangle 9"/>
          <p:cNvSpPr/>
          <p:nvPr/>
        </p:nvSpPr>
        <p:spPr>
          <a:xfrm>
            <a:off x="142875" y="1028700"/>
            <a:ext cx="2876550" cy="253174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Sweet muffins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 muffins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 and cocoa muffins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 muffins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and vanilla muffins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Spice-flavoured muffins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sweet muffins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Savoury muffins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 muffins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Vegetable muffins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Meat-containing muffins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714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5619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Herb and spice muffins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savoury muffins</a:t>
            </a:r>
          </a:p>
        </p:txBody>
      </p:sp>
      <p:sp>
        <p:nvSpPr>
          <p:cNvPr id="51" name="Rectangle 50"/>
          <p:cNvSpPr/>
          <p:nvPr/>
        </p:nvSpPr>
        <p:spPr>
          <a:xfrm>
            <a:off x="142875" y="3674745"/>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142875" y="367474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19075" y="367474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Individual Muffin Size</a:t>
            </a:r>
          </a:p>
        </p:txBody>
      </p:sp>
      <p:sp>
        <p:nvSpPr>
          <p:cNvPr id="54" name="TextBox 53"/>
          <p:cNvSpPr txBox="1"/>
          <p:nvPr/>
        </p:nvSpPr>
        <p:spPr>
          <a:xfrm>
            <a:off x="20002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5" name="TextBox 54"/>
          <p:cNvSpPr txBox="1"/>
          <p:nvPr/>
        </p:nvSpPr>
        <p:spPr>
          <a:xfrm>
            <a:off x="390525" y="3903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cxnSp>
        <p:nvCxnSpPr>
          <p:cNvPr id="56" name="Connector 55"/>
          <p:cNvCxnSpPr/>
          <p:nvPr/>
        </p:nvCxnSpPr>
        <p:spPr>
          <a:xfrm>
            <a:off x="1524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000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390525" y="4080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cxnSp>
        <p:nvCxnSpPr>
          <p:cNvPr id="59" name="Connector 58"/>
          <p:cNvCxnSpPr/>
          <p:nvPr/>
        </p:nvCxnSpPr>
        <p:spPr>
          <a:xfrm>
            <a:off x="1524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20002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90525" y="4257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cxnSp>
        <p:nvCxnSpPr>
          <p:cNvPr id="62" name="Connector 61"/>
          <p:cNvCxnSpPr/>
          <p:nvPr/>
        </p:nvCxnSpPr>
        <p:spPr>
          <a:xfrm>
            <a:off x="1524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2000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90525" y="4434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65" name="Rectangle 64"/>
          <p:cNvSpPr/>
          <p:nvPr/>
        </p:nvSpPr>
        <p:spPr>
          <a:xfrm>
            <a:off x="142875" y="4726305"/>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42875" y="472630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19075" y="472630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Storage Format</a:t>
            </a:r>
          </a:p>
        </p:txBody>
      </p:sp>
      <p:sp>
        <p:nvSpPr>
          <p:cNvPr id="68" name="TextBox 67"/>
          <p:cNvSpPr txBox="1"/>
          <p:nvPr/>
        </p:nvSpPr>
        <p:spPr>
          <a:xfrm>
            <a:off x="200025" y="49549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90525" y="49549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cxnSp>
        <p:nvCxnSpPr>
          <p:cNvPr id="70" name="Connector 69"/>
          <p:cNvCxnSpPr/>
          <p:nvPr/>
        </p:nvCxnSpPr>
        <p:spPr>
          <a:xfrm>
            <a:off x="152400" y="51320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200025" y="51320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390525" y="51320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cxnSp>
        <p:nvCxnSpPr>
          <p:cNvPr id="73" name="Connector 72"/>
          <p:cNvCxnSpPr/>
          <p:nvPr/>
        </p:nvCxnSpPr>
        <p:spPr>
          <a:xfrm>
            <a:off x="152400" y="53092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200025" y="53092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390525" y="53092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76" name="Rectangle 75"/>
          <p:cNvSpPr/>
          <p:nvPr/>
        </p:nvSpPr>
        <p:spPr>
          <a:xfrm>
            <a:off x="3152775" y="102870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Flavour</a:t>
            </a:r>
          </a:p>
        </p:txBody>
      </p:sp>
      <p:sp>
        <p:nvSpPr>
          <p:cNvPr id="79" name="TextBox 78"/>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Sweet Muffins Flavours</a:t>
            </a:r>
          </a:p>
        </p:txBody>
      </p:sp>
      <p:cxnSp>
        <p:nvCxnSpPr>
          <p:cNvPr id="81" name="Connector 80"/>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Fruit-based</a:t>
            </a:r>
          </a:p>
        </p:txBody>
      </p:sp>
      <p:cxnSp>
        <p:nvCxnSpPr>
          <p:cNvPr id="84" name="Connector 83"/>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Chocolate-based</a:t>
            </a:r>
          </a:p>
        </p:txBody>
      </p:sp>
      <p:cxnSp>
        <p:nvCxnSpPr>
          <p:cNvPr id="87" name="Connector 86"/>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seed-based</a:t>
            </a:r>
          </a:p>
        </p:txBody>
      </p:sp>
      <p:cxnSp>
        <p:nvCxnSpPr>
          <p:cNvPr id="90" name="Connector 89"/>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and classic</a:t>
            </a:r>
          </a:p>
        </p:txBody>
      </p:sp>
      <p:cxnSp>
        <p:nvCxnSpPr>
          <p:cNvPr id="93" name="Connector 92"/>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Spice and dessert-inspired</a:t>
            </a:r>
          </a:p>
        </p:txBody>
      </p:sp>
      <p:cxnSp>
        <p:nvCxnSpPr>
          <p:cNvPr id="96" name="Connector 95"/>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Savoury Muffins Flavours</a:t>
            </a:r>
          </a:p>
        </p:txBody>
      </p:sp>
      <p:cxnSp>
        <p:nvCxnSpPr>
          <p:cNvPr id="99" name="Connector 98"/>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33813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35718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Cheese-based</a:t>
            </a:r>
          </a:p>
        </p:txBody>
      </p:sp>
      <p:cxnSp>
        <p:nvCxnSpPr>
          <p:cNvPr id="102" name="Connector 101"/>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4" name="TextBox 103"/>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Vegetable-based</a:t>
            </a:r>
          </a:p>
        </p:txBody>
      </p:sp>
      <p:cxnSp>
        <p:nvCxnSpPr>
          <p:cNvPr id="105" name="Connector 104"/>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6" name="TextBox 105"/>
          <p:cNvSpPr txBox="1"/>
          <p:nvPr/>
        </p:nvSpPr>
        <p:spPr>
          <a:xfrm>
            <a:off x="33813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7" name="TextBox 106"/>
          <p:cNvSpPr txBox="1"/>
          <p:nvPr/>
        </p:nvSpPr>
        <p:spPr>
          <a:xfrm>
            <a:off x="35718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Meat-based</a:t>
            </a:r>
          </a:p>
        </p:txBody>
      </p:sp>
      <p:cxnSp>
        <p:nvCxnSpPr>
          <p:cNvPr id="108" name="Connector 107"/>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9" name="TextBox 108"/>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Herb and spice-based</a:t>
            </a:r>
          </a:p>
        </p:txBody>
      </p:sp>
      <p:sp>
        <p:nvSpPr>
          <p:cNvPr id="111" name="Rectangle 110"/>
          <p:cNvSpPr/>
          <p:nvPr/>
        </p:nvSpPr>
        <p:spPr>
          <a:xfrm>
            <a:off x="3152775" y="3320415"/>
            <a:ext cx="2876550" cy="182308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3152775" y="332041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228975" y="332041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Structure</a:t>
            </a:r>
          </a:p>
        </p:txBody>
      </p:sp>
      <p:sp>
        <p:nvSpPr>
          <p:cNvPr id="114" name="TextBox 113"/>
          <p:cNvSpPr txBox="1"/>
          <p:nvPr/>
        </p:nvSpPr>
        <p:spPr>
          <a:xfrm>
            <a:off x="320992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3400425" y="35490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Unfilled muffins</a:t>
            </a:r>
          </a:p>
        </p:txBody>
      </p:sp>
      <p:cxnSp>
        <p:nvCxnSpPr>
          <p:cNvPr id="116" name="Connector 115"/>
          <p:cNvCxnSpPr/>
          <p:nvPr/>
        </p:nvCxnSpPr>
        <p:spPr>
          <a:xfrm>
            <a:off x="31623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33813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8" name="TextBox 117"/>
          <p:cNvSpPr txBox="1"/>
          <p:nvPr/>
        </p:nvSpPr>
        <p:spPr>
          <a:xfrm>
            <a:off x="35718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batter</a:t>
            </a:r>
          </a:p>
        </p:txBody>
      </p:sp>
      <p:cxnSp>
        <p:nvCxnSpPr>
          <p:cNvPr id="119" name="Connector 118"/>
          <p:cNvCxnSpPr/>
          <p:nvPr/>
        </p:nvCxnSpPr>
        <p:spPr>
          <a:xfrm>
            <a:off x="31623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33813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35718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Batter with inclusions</a:t>
            </a:r>
          </a:p>
        </p:txBody>
      </p:sp>
      <p:cxnSp>
        <p:nvCxnSpPr>
          <p:cNvPr id="122" name="Connector 121"/>
          <p:cNvCxnSpPr/>
          <p:nvPr/>
        </p:nvCxnSpPr>
        <p:spPr>
          <a:xfrm>
            <a:off x="31623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3" name="TextBox 122"/>
          <p:cNvSpPr txBox="1"/>
          <p:nvPr/>
        </p:nvSpPr>
        <p:spPr>
          <a:xfrm>
            <a:off x="32099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4" name="TextBox 123"/>
          <p:cNvSpPr txBox="1"/>
          <p:nvPr/>
        </p:nvSpPr>
        <p:spPr>
          <a:xfrm>
            <a:off x="3400425" y="40805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Filled muffins</a:t>
            </a:r>
          </a:p>
        </p:txBody>
      </p:sp>
      <p:cxnSp>
        <p:nvCxnSpPr>
          <p:cNvPr id="125" name="Connector 124"/>
          <p:cNvCxnSpPr/>
          <p:nvPr/>
        </p:nvCxnSpPr>
        <p:spPr>
          <a:xfrm>
            <a:off x="31623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6" name="TextBox 125"/>
          <p:cNvSpPr txBox="1"/>
          <p:nvPr/>
        </p:nvSpPr>
        <p:spPr>
          <a:xfrm>
            <a:off x="33813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7" name="TextBox 126"/>
          <p:cNvSpPr txBox="1"/>
          <p:nvPr/>
        </p:nvSpPr>
        <p:spPr>
          <a:xfrm>
            <a:off x="35718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 and jam-filled</a:t>
            </a:r>
          </a:p>
        </p:txBody>
      </p:sp>
      <p:cxnSp>
        <p:nvCxnSpPr>
          <p:cNvPr id="128" name="Connector 127"/>
          <p:cNvCxnSpPr/>
          <p:nvPr/>
        </p:nvCxnSpPr>
        <p:spPr>
          <a:xfrm>
            <a:off x="31623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33813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0" name="TextBox 129"/>
          <p:cNvSpPr txBox="1"/>
          <p:nvPr/>
        </p:nvSpPr>
        <p:spPr>
          <a:xfrm>
            <a:off x="35718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Chocolate-filled</a:t>
            </a:r>
          </a:p>
        </p:txBody>
      </p:sp>
      <p:cxnSp>
        <p:nvCxnSpPr>
          <p:cNvPr id="131" name="Connector 130"/>
          <p:cNvCxnSpPr/>
          <p:nvPr/>
        </p:nvCxnSpPr>
        <p:spPr>
          <a:xfrm>
            <a:off x="31623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2" name="TextBox 131"/>
          <p:cNvSpPr txBox="1"/>
          <p:nvPr/>
        </p:nvSpPr>
        <p:spPr>
          <a:xfrm>
            <a:off x="33813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3" name="TextBox 132"/>
          <p:cNvSpPr txBox="1"/>
          <p:nvPr/>
        </p:nvSpPr>
        <p:spPr>
          <a:xfrm>
            <a:off x="35718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Cream and custard-filled</a:t>
            </a:r>
          </a:p>
        </p:txBody>
      </p:sp>
      <p:cxnSp>
        <p:nvCxnSpPr>
          <p:cNvPr id="134" name="Connector 133"/>
          <p:cNvCxnSpPr/>
          <p:nvPr/>
        </p:nvCxnSpPr>
        <p:spPr>
          <a:xfrm>
            <a:off x="31623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5" name="TextBox 134"/>
          <p:cNvSpPr txBox="1"/>
          <p:nvPr/>
        </p:nvSpPr>
        <p:spPr>
          <a:xfrm>
            <a:off x="33813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6" name="TextBox 135"/>
          <p:cNvSpPr txBox="1"/>
          <p:nvPr/>
        </p:nvSpPr>
        <p:spPr>
          <a:xfrm>
            <a:off x="35718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butter-filled</a:t>
            </a:r>
          </a:p>
        </p:txBody>
      </p:sp>
      <p:cxnSp>
        <p:nvCxnSpPr>
          <p:cNvPr id="137" name="Connector 136"/>
          <p:cNvCxnSpPr/>
          <p:nvPr/>
        </p:nvCxnSpPr>
        <p:spPr>
          <a:xfrm>
            <a:off x="31623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8" name="TextBox 137"/>
          <p:cNvSpPr txBox="1"/>
          <p:nvPr/>
        </p:nvSpPr>
        <p:spPr>
          <a:xfrm>
            <a:off x="33813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9" name="TextBox 138"/>
          <p:cNvSpPr txBox="1"/>
          <p:nvPr/>
        </p:nvSpPr>
        <p:spPr>
          <a:xfrm>
            <a:off x="35718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 and savoury-filled</a:t>
            </a:r>
          </a:p>
        </p:txBody>
      </p:sp>
      <p:sp>
        <p:nvSpPr>
          <p:cNvPr id="140" name="Rectangle 139"/>
          <p:cNvSpPr/>
          <p:nvPr/>
        </p:nvSpPr>
        <p:spPr>
          <a:xfrm>
            <a:off x="6162675" y="1028700"/>
            <a:ext cx="2876550" cy="200025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Primary Flour Base</a:t>
            </a:r>
          </a:p>
        </p:txBody>
      </p:sp>
      <p:sp>
        <p:nvSpPr>
          <p:cNvPr id="143" name="TextBox 142"/>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Wheat-based</a:t>
            </a:r>
          </a:p>
        </p:txBody>
      </p:sp>
      <p:cxnSp>
        <p:nvCxnSpPr>
          <p:cNvPr id="145" name="Connector 144"/>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6" name="TextBox 145"/>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7" name="TextBox 146"/>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Refined wheat</a:t>
            </a:r>
          </a:p>
        </p:txBody>
      </p:sp>
      <p:cxnSp>
        <p:nvCxnSpPr>
          <p:cNvPr id="148" name="Connector 147"/>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0" name="TextBox 149"/>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Whole wheat</a:t>
            </a:r>
          </a:p>
        </p:txBody>
      </p:sp>
      <p:cxnSp>
        <p:nvCxnSpPr>
          <p:cNvPr id="151" name="Connector 150"/>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2" name="TextBox 151"/>
          <p:cNvSpPr txBox="1"/>
          <p:nvPr/>
        </p:nvSpPr>
        <p:spPr>
          <a:xfrm>
            <a:off x="62198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3" name="TextBox 152"/>
          <p:cNvSpPr txBox="1"/>
          <p:nvPr/>
        </p:nvSpPr>
        <p:spPr>
          <a:xfrm>
            <a:off x="64103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Oat-based</a:t>
            </a:r>
          </a:p>
        </p:txBody>
      </p:sp>
      <p:cxnSp>
        <p:nvCxnSpPr>
          <p:cNvPr id="154" name="Connector 153"/>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62198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6" name="TextBox 155"/>
          <p:cNvSpPr txBox="1"/>
          <p:nvPr/>
        </p:nvSpPr>
        <p:spPr>
          <a:xfrm>
            <a:off x="6410325" y="19659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Rice-based</a:t>
            </a:r>
          </a:p>
        </p:txBody>
      </p:sp>
      <p:cxnSp>
        <p:nvCxnSpPr>
          <p:cNvPr id="157" name="Connector 156"/>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9" name="TextBox 158"/>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Corn-based</a:t>
            </a:r>
          </a:p>
        </p:txBody>
      </p:sp>
      <p:cxnSp>
        <p:nvCxnSpPr>
          <p:cNvPr id="160" name="Connector 159"/>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1" name="TextBox 160"/>
          <p:cNvSpPr txBox="1"/>
          <p:nvPr/>
        </p:nvSpPr>
        <p:spPr>
          <a:xfrm>
            <a:off x="62198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2" name="TextBox 161"/>
          <p:cNvSpPr txBox="1"/>
          <p:nvPr/>
        </p:nvSpPr>
        <p:spPr>
          <a:xfrm>
            <a:off x="64103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Millet-based</a:t>
            </a:r>
          </a:p>
        </p:txBody>
      </p:sp>
      <p:cxnSp>
        <p:nvCxnSpPr>
          <p:cNvPr id="163" name="Connector 162"/>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62198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5" name="TextBox 164"/>
          <p:cNvSpPr txBox="1"/>
          <p:nvPr/>
        </p:nvSpPr>
        <p:spPr>
          <a:xfrm>
            <a:off x="64103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Almond and other nut flour-based</a:t>
            </a:r>
          </a:p>
        </p:txBody>
      </p:sp>
      <p:cxnSp>
        <p:nvCxnSpPr>
          <p:cNvPr id="166" name="Connector 165"/>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7" name="TextBox 166"/>
          <p:cNvSpPr txBox="1"/>
          <p:nvPr/>
        </p:nvSpPr>
        <p:spPr>
          <a:xfrm>
            <a:off x="621982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8" name="TextBox 167"/>
          <p:cNvSpPr txBox="1"/>
          <p:nvPr/>
        </p:nvSpPr>
        <p:spPr>
          <a:xfrm>
            <a:off x="6410325" y="267462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Other single-flour bases</a:t>
            </a:r>
          </a:p>
        </p:txBody>
      </p:sp>
      <p:cxnSp>
        <p:nvCxnSpPr>
          <p:cNvPr id="169" name="Connector 168"/>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0" name="TextBox 169"/>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1" name="TextBox 170"/>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Multigrain and blended flour bases</a:t>
            </a:r>
          </a:p>
        </p:txBody>
      </p:sp>
      <p:sp>
        <p:nvSpPr>
          <p:cNvPr id="172" name="Rectangle 171"/>
          <p:cNvSpPr/>
          <p:nvPr/>
        </p:nvSpPr>
        <p:spPr>
          <a:xfrm>
            <a:off x="6162675" y="314325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6162675" y="314325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6238875" y="314325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Recipe and Ingredient Claims</a:t>
            </a:r>
          </a:p>
        </p:txBody>
      </p:sp>
      <p:sp>
        <p:nvSpPr>
          <p:cNvPr id="175" name="TextBox 174"/>
          <p:cNvSpPr txBox="1"/>
          <p:nvPr/>
        </p:nvSpPr>
        <p:spPr>
          <a:xfrm>
            <a:off x="62198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33718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Organic-certified</a:t>
            </a:r>
          </a:p>
        </p:txBody>
      </p:sp>
      <p:cxnSp>
        <p:nvCxnSpPr>
          <p:cNvPr id="177" name="Connector 176"/>
          <p:cNvCxnSpPr/>
          <p:nvPr/>
        </p:nvCxnSpPr>
        <p:spPr>
          <a:xfrm>
            <a:off x="61722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5490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Conventional / non-organic</a:t>
            </a:r>
          </a:p>
        </p:txBody>
      </p:sp>
      <p:cxnSp>
        <p:nvCxnSpPr>
          <p:cNvPr id="180" name="Connector 179"/>
          <p:cNvCxnSpPr/>
          <p:nvPr/>
        </p:nvCxnSpPr>
        <p:spPr>
          <a:xfrm>
            <a:off x="61722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7261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Additional claim mapping</a:t>
            </a:r>
          </a:p>
        </p:txBody>
      </p:sp>
      <p:cxnSp>
        <p:nvCxnSpPr>
          <p:cNvPr id="183" name="Connector 182"/>
          <p:cNvCxnSpPr/>
          <p:nvPr/>
        </p:nvCxnSpPr>
        <p:spPr>
          <a:xfrm>
            <a:off x="61722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3912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5817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Clean-label positioning</a:t>
            </a:r>
          </a:p>
        </p:txBody>
      </p:sp>
      <p:cxnSp>
        <p:nvCxnSpPr>
          <p:cNvPr id="186" name="Connector 185"/>
          <p:cNvCxnSpPr/>
          <p:nvPr/>
        </p:nvCxnSpPr>
        <p:spPr>
          <a:xfrm>
            <a:off x="61722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40805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colours</a:t>
            </a:r>
          </a:p>
        </p:txBody>
      </p:sp>
      <p:cxnSp>
        <p:nvCxnSpPr>
          <p:cNvPr id="189" name="Connector 188"/>
          <p:cNvCxnSpPr/>
          <p:nvPr/>
        </p:nvCxnSpPr>
        <p:spPr>
          <a:xfrm>
            <a:off x="61722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flavours</a:t>
            </a:r>
          </a:p>
        </p:txBody>
      </p:sp>
      <p:cxnSp>
        <p:nvCxnSpPr>
          <p:cNvPr id="192" name="Connector 191"/>
          <p:cNvCxnSpPr/>
          <p:nvPr/>
        </p:nvCxnSpPr>
        <p:spPr>
          <a:xfrm>
            <a:off x="61722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preservatives</a:t>
            </a:r>
          </a:p>
        </p:txBody>
      </p:sp>
      <p:cxnSp>
        <p:nvCxnSpPr>
          <p:cNvPr id="195" name="Connector 194"/>
          <p:cNvCxnSpPr/>
          <p:nvPr/>
        </p:nvCxnSpPr>
        <p:spPr>
          <a:xfrm>
            <a:off x="61722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6" name="TextBox 195"/>
          <p:cNvSpPr txBox="1"/>
          <p:nvPr/>
        </p:nvSpPr>
        <p:spPr>
          <a:xfrm>
            <a:off x="63912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7" name="TextBox 196"/>
          <p:cNvSpPr txBox="1"/>
          <p:nvPr/>
        </p:nvSpPr>
        <p:spPr>
          <a:xfrm>
            <a:off x="65817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Non-GMO</a:t>
            </a:r>
          </a:p>
        </p:txBody>
      </p:sp>
      <p:cxnSp>
        <p:nvCxnSpPr>
          <p:cNvPr id="198" name="Connector 197"/>
          <p:cNvCxnSpPr/>
          <p:nvPr/>
        </p:nvCxnSpPr>
        <p:spPr>
          <a:xfrm>
            <a:off x="61722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9" name="TextBox 198"/>
          <p:cNvSpPr txBox="1"/>
          <p:nvPr/>
        </p:nvSpPr>
        <p:spPr>
          <a:xfrm>
            <a:off x="63912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0" name="TextBox 199"/>
          <p:cNvSpPr txBox="1"/>
          <p:nvPr/>
        </p:nvSpPr>
        <p:spPr>
          <a:xfrm>
            <a:off x="65817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Dairy-free</a:t>
            </a:r>
          </a:p>
        </p:txBody>
      </p:sp>
      <p:cxnSp>
        <p:nvCxnSpPr>
          <p:cNvPr id="201" name="Connector 200"/>
          <p:cNvCxnSpPr/>
          <p:nvPr/>
        </p:nvCxnSpPr>
        <p:spPr>
          <a:xfrm>
            <a:off x="61722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2" name="TextBox 201"/>
          <p:cNvSpPr txBox="1"/>
          <p:nvPr/>
        </p:nvSpPr>
        <p:spPr>
          <a:xfrm>
            <a:off x="63912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3" name="TextBox 202"/>
          <p:cNvSpPr txBox="1"/>
          <p:nvPr/>
        </p:nvSpPr>
        <p:spPr>
          <a:xfrm>
            <a:off x="65817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Egg-free</a:t>
            </a:r>
          </a:p>
        </p:txBody>
      </p:sp>
      <p:cxnSp>
        <p:nvCxnSpPr>
          <p:cNvPr id="204" name="Connector 203"/>
          <p:cNvCxnSpPr/>
          <p:nvPr/>
        </p:nvCxnSpPr>
        <p:spPr>
          <a:xfrm>
            <a:off x="61722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5" name="TextBox 204"/>
          <p:cNvSpPr txBox="1"/>
          <p:nvPr/>
        </p:nvSpPr>
        <p:spPr>
          <a:xfrm>
            <a:off x="63912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6" name="TextBox 205"/>
          <p:cNvSpPr txBox="1"/>
          <p:nvPr/>
        </p:nvSpPr>
        <p:spPr>
          <a:xfrm>
            <a:off x="65817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Nut-free</a:t>
            </a:r>
          </a:p>
        </p:txBody>
      </p:sp>
      <p:sp>
        <p:nvSpPr>
          <p:cNvPr id="207" name="Rectangle 206"/>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Dietary Formulation</a:t>
            </a:r>
          </a:p>
        </p:txBody>
      </p:sp>
      <p:sp>
        <p:nvSpPr>
          <p:cNvPr id="210" name="TextBox 209"/>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1" name="TextBox 210"/>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cxnSp>
        <p:nvCxnSpPr>
          <p:cNvPr id="212" name="Connector 211"/>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3" name="TextBox 212"/>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4" name="TextBox 213"/>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cxnSp>
        <p:nvCxnSpPr>
          <p:cNvPr id="215" name="Connector 214"/>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6" name="TextBox 215"/>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7" name="TextBox 216"/>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cxnSp>
        <p:nvCxnSpPr>
          <p:cNvPr id="218" name="Connector 217"/>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9" name="TextBox 218"/>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0" name="TextBox 219"/>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221" name="Rectangle 220"/>
          <p:cNvSpPr/>
          <p:nvPr/>
        </p:nvSpPr>
        <p:spPr>
          <a:xfrm>
            <a:off x="9172575" y="208026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TextBox 222"/>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Nutritional Positioning</a:t>
            </a:r>
          </a:p>
        </p:txBody>
      </p:sp>
      <p:sp>
        <p:nvSpPr>
          <p:cNvPr id="224" name="TextBox 223"/>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cxnSp>
        <p:nvCxnSpPr>
          <p:cNvPr id="226" name="Connector 225"/>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2297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4202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cxnSp>
        <p:nvCxnSpPr>
          <p:cNvPr id="229" name="Connector 228"/>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2297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4202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cxnSp>
        <p:nvCxnSpPr>
          <p:cNvPr id="232" name="Connector 231"/>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2297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4202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cxnSp>
        <p:nvCxnSpPr>
          <p:cNvPr id="235" name="Connector 234"/>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2297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4202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cxnSp>
        <p:nvCxnSpPr>
          <p:cNvPr id="238" name="Connector 237"/>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2297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4202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cxnSp>
        <p:nvCxnSpPr>
          <p:cNvPr id="241" name="Connector 240"/>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337185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244" name="Rectangle 243"/>
          <p:cNvSpPr/>
          <p:nvPr/>
        </p:nvSpPr>
        <p:spPr>
          <a:xfrm>
            <a:off x="9172575" y="3663315"/>
            <a:ext cx="2876550" cy="12915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9172575" y="366331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TextBox 245"/>
          <p:cNvSpPr txBox="1"/>
          <p:nvPr/>
        </p:nvSpPr>
        <p:spPr>
          <a:xfrm>
            <a:off x="9248775" y="366331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Surface Finish</a:t>
            </a:r>
          </a:p>
        </p:txBody>
      </p:sp>
      <p:sp>
        <p:nvSpPr>
          <p:cNvPr id="247" name="TextBox 246"/>
          <p:cNvSpPr txBox="1"/>
          <p:nvPr/>
        </p:nvSpPr>
        <p:spPr>
          <a:xfrm>
            <a:off x="9229725" y="38919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8" name="TextBox 247"/>
          <p:cNvSpPr txBox="1"/>
          <p:nvPr/>
        </p:nvSpPr>
        <p:spPr>
          <a:xfrm>
            <a:off x="9420225" y="389191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cxnSp>
        <p:nvCxnSpPr>
          <p:cNvPr id="249" name="Connector 248"/>
          <p:cNvCxnSpPr/>
          <p:nvPr/>
        </p:nvCxnSpPr>
        <p:spPr>
          <a:xfrm>
            <a:off x="9182100" y="40690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0" name="TextBox 249"/>
          <p:cNvSpPr txBox="1"/>
          <p:nvPr/>
        </p:nvSpPr>
        <p:spPr>
          <a:xfrm>
            <a:off x="9229725" y="40690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1" name="TextBox 250"/>
          <p:cNvSpPr txBox="1"/>
          <p:nvPr/>
        </p:nvSpPr>
        <p:spPr>
          <a:xfrm>
            <a:off x="9420225" y="40690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cxnSp>
        <p:nvCxnSpPr>
          <p:cNvPr id="252" name="Connector 251"/>
          <p:cNvCxnSpPr/>
          <p:nvPr/>
        </p:nvCxnSpPr>
        <p:spPr>
          <a:xfrm>
            <a:off x="9182100" y="42462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3" name="TextBox 252"/>
          <p:cNvSpPr txBox="1"/>
          <p:nvPr/>
        </p:nvSpPr>
        <p:spPr>
          <a:xfrm>
            <a:off x="9229725" y="42462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4" name="TextBox 253"/>
          <p:cNvSpPr txBox="1"/>
          <p:nvPr/>
        </p:nvSpPr>
        <p:spPr>
          <a:xfrm>
            <a:off x="9420225" y="42462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cxnSp>
        <p:nvCxnSpPr>
          <p:cNvPr id="255" name="Connector 254"/>
          <p:cNvCxnSpPr/>
          <p:nvPr/>
        </p:nvCxnSpPr>
        <p:spPr>
          <a:xfrm>
            <a:off x="9182100" y="44234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6" name="TextBox 255"/>
          <p:cNvSpPr txBox="1"/>
          <p:nvPr/>
        </p:nvSpPr>
        <p:spPr>
          <a:xfrm>
            <a:off x="9229725" y="44234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7" name="TextBox 256"/>
          <p:cNvSpPr txBox="1"/>
          <p:nvPr/>
        </p:nvSpPr>
        <p:spPr>
          <a:xfrm>
            <a:off x="9420225" y="44234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cxnSp>
        <p:nvCxnSpPr>
          <p:cNvPr id="258" name="Connector 257"/>
          <p:cNvCxnSpPr/>
          <p:nvPr/>
        </p:nvCxnSpPr>
        <p:spPr>
          <a:xfrm>
            <a:off x="9182100" y="46005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9" name="TextBox 258"/>
          <p:cNvSpPr txBox="1"/>
          <p:nvPr/>
        </p:nvSpPr>
        <p:spPr>
          <a:xfrm>
            <a:off x="9229725" y="46005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0" name="TextBox 259"/>
          <p:cNvSpPr txBox="1"/>
          <p:nvPr/>
        </p:nvSpPr>
        <p:spPr>
          <a:xfrm>
            <a:off x="9420225" y="46005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cxnSp>
        <p:nvCxnSpPr>
          <p:cNvPr id="261" name="Connector 260"/>
          <p:cNvCxnSpPr/>
          <p:nvPr/>
        </p:nvCxnSpPr>
        <p:spPr>
          <a:xfrm>
            <a:off x="9182100" y="47777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62" name="TextBox 261"/>
          <p:cNvSpPr txBox="1"/>
          <p:nvPr/>
        </p:nvSpPr>
        <p:spPr>
          <a:xfrm>
            <a:off x="9229725" y="47777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3" name="TextBox 262"/>
          <p:cNvSpPr txBox="1"/>
          <p:nvPr/>
        </p:nvSpPr>
        <p:spPr>
          <a:xfrm>
            <a:off x="9420225" y="47777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264" name="Rectangle 263"/>
          <p:cNvSpPr/>
          <p:nvPr/>
        </p:nvSpPr>
        <p:spPr>
          <a:xfrm>
            <a:off x="9172575" y="5069205"/>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9172575" y="506920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9248775" y="506920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Shelf Life</a:t>
            </a:r>
          </a:p>
        </p:txBody>
      </p:sp>
      <p:sp>
        <p:nvSpPr>
          <p:cNvPr id="267" name="TextBox 266"/>
          <p:cNvSpPr txBox="1"/>
          <p:nvPr/>
        </p:nvSpPr>
        <p:spPr>
          <a:xfrm>
            <a:off x="9229725" y="52978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8" name="TextBox 267"/>
          <p:cNvSpPr txBox="1"/>
          <p:nvPr/>
        </p:nvSpPr>
        <p:spPr>
          <a:xfrm>
            <a:off x="9420225" y="52978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cxnSp>
        <p:nvCxnSpPr>
          <p:cNvPr id="269" name="Connector 268"/>
          <p:cNvCxnSpPr/>
          <p:nvPr/>
        </p:nvCxnSpPr>
        <p:spPr>
          <a:xfrm>
            <a:off x="9182100" y="54749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0" name="TextBox 269"/>
          <p:cNvSpPr txBox="1"/>
          <p:nvPr/>
        </p:nvSpPr>
        <p:spPr>
          <a:xfrm>
            <a:off x="9229725" y="54749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1" name="TextBox 270"/>
          <p:cNvSpPr txBox="1"/>
          <p:nvPr/>
        </p:nvSpPr>
        <p:spPr>
          <a:xfrm>
            <a:off x="9420225" y="54749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cxnSp>
        <p:nvCxnSpPr>
          <p:cNvPr id="272" name="Connector 271"/>
          <p:cNvCxnSpPr/>
          <p:nvPr/>
        </p:nvCxnSpPr>
        <p:spPr>
          <a:xfrm>
            <a:off x="9182100" y="56521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3" name="TextBox 272"/>
          <p:cNvSpPr txBox="1"/>
          <p:nvPr/>
        </p:nvSpPr>
        <p:spPr>
          <a:xfrm>
            <a:off x="9229725" y="56521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4" name="TextBox 273"/>
          <p:cNvSpPr txBox="1"/>
          <p:nvPr/>
        </p:nvSpPr>
        <p:spPr>
          <a:xfrm>
            <a:off x="9420225" y="56521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cxnSp>
        <p:nvCxnSpPr>
          <p:cNvPr id="275" name="Connector 274"/>
          <p:cNvCxnSpPr/>
          <p:nvPr/>
        </p:nvCxnSpPr>
        <p:spPr>
          <a:xfrm>
            <a:off x="9182100" y="58293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229725" y="5829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7" name="TextBox 276"/>
          <p:cNvSpPr txBox="1"/>
          <p:nvPr/>
        </p:nvSpPr>
        <p:spPr>
          <a:xfrm>
            <a:off x="9420225" y="5829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278" name="TextBox 27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17 axes and the sub-segments sized under each</a:t>
            </a:r>
          </a:p>
        </p:txBody>
      </p:sp>
      <p:sp>
        <p:nvSpPr>
          <p:cNvPr id="10" name="Rectangle 9"/>
          <p:cNvSpPr/>
          <p:nvPr/>
        </p:nvSpPr>
        <p:spPr>
          <a:xfrm>
            <a:off x="142875" y="102870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Packaging Format</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Flexible packs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Flow-wrap packs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Pouches and bags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2000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3905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Rigid plastic packs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Trays with sealed film</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Clamshell containers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Tubs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Paperboard packs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Cartons with inner wrapping</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Windowed cartons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2000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3905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Other packaging formats</a:t>
            </a:r>
          </a:p>
        </p:txBody>
      </p:sp>
      <p:sp>
        <p:nvSpPr>
          <p:cNvPr id="45" name="Rectangle 44"/>
          <p:cNvSpPr/>
          <p:nvPr/>
        </p:nvSpPr>
        <p:spPr>
          <a:xfrm>
            <a:off x="3152775" y="102870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Pack Configuration</a:t>
            </a:r>
          </a:p>
        </p:txBody>
      </p:sp>
      <p:sp>
        <p:nvSpPr>
          <p:cNvPr id="48" name="TextBox 47"/>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9" name="TextBox 48"/>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Single-muffin packs</a:t>
            </a:r>
          </a:p>
        </p:txBody>
      </p:sp>
      <p:cxnSp>
        <p:nvCxnSpPr>
          <p:cNvPr id="50" name="Connector 49"/>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1" name="TextBox 50"/>
          <p:cNvSpPr txBox="1"/>
          <p:nvPr/>
        </p:nvSpPr>
        <p:spPr>
          <a:xfrm>
            <a:off x="32099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2" name="TextBox 51"/>
          <p:cNvSpPr txBox="1"/>
          <p:nvPr/>
        </p:nvSpPr>
        <p:spPr>
          <a:xfrm>
            <a:off x="34004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Multipacks</a:t>
            </a:r>
          </a:p>
        </p:txBody>
      </p:sp>
      <p:cxnSp>
        <p:nvCxnSpPr>
          <p:cNvPr id="53" name="Connector 52"/>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5" name="TextBox 54"/>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2-4 muffins</a:t>
            </a:r>
          </a:p>
        </p:txBody>
      </p:sp>
      <p:cxnSp>
        <p:nvCxnSpPr>
          <p:cNvPr id="56" name="Connector 55"/>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5-8 muffins</a:t>
            </a:r>
          </a:p>
        </p:txBody>
      </p:sp>
      <p:cxnSp>
        <p:nvCxnSpPr>
          <p:cNvPr id="59" name="Connector 58"/>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9-12 muffins</a:t>
            </a:r>
          </a:p>
        </p:txBody>
      </p:sp>
      <p:cxnSp>
        <p:nvCxnSpPr>
          <p:cNvPr id="62" name="Connector 61"/>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More than 12 muffins</a:t>
            </a:r>
          </a:p>
        </p:txBody>
      </p:sp>
      <p:cxnSp>
        <p:nvCxnSpPr>
          <p:cNvPr id="65" name="Connector 64"/>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7" name="TextBox 66"/>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Bulk foodservice packs</a:t>
            </a:r>
          </a:p>
        </p:txBody>
      </p:sp>
      <p:sp>
        <p:nvSpPr>
          <p:cNvPr id="68" name="Rectangle 67"/>
          <p:cNvSpPr/>
          <p:nvPr/>
        </p:nvSpPr>
        <p:spPr>
          <a:xfrm>
            <a:off x="61626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Multipack Wrapping</a:t>
            </a:r>
          </a:p>
        </p:txBody>
      </p:sp>
      <p:sp>
        <p:nvSpPr>
          <p:cNvPr id="71" name="TextBox 70"/>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6410325" y="1257300"/>
            <a:ext cx="259080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Individually wrapped muffins within an outer pack</a:t>
            </a:r>
          </a:p>
        </p:txBody>
      </p:sp>
      <p:cxnSp>
        <p:nvCxnSpPr>
          <p:cNvPr id="73" name="Connector 7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2198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64103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76" name="Rectangle 75"/>
          <p:cNvSpPr/>
          <p:nvPr/>
        </p:nvSpPr>
        <p:spPr>
          <a:xfrm>
            <a:off x="6162675" y="1903095"/>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61626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6238875" y="19030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Brand Ownership</a:t>
            </a:r>
          </a:p>
        </p:txBody>
      </p:sp>
      <p:sp>
        <p:nvSpPr>
          <p:cNvPr id="79" name="TextBox 78"/>
          <p:cNvSpPr txBox="1"/>
          <p:nvPr/>
        </p:nvSpPr>
        <p:spPr>
          <a:xfrm>
            <a:off x="6219825" y="21316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6410325" y="21316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Manufacturer brands</a:t>
            </a:r>
          </a:p>
        </p:txBody>
      </p:sp>
      <p:cxnSp>
        <p:nvCxnSpPr>
          <p:cNvPr id="81" name="Connector 80"/>
          <p:cNvCxnSpPr/>
          <p:nvPr/>
        </p:nvCxnSpPr>
        <p:spPr>
          <a:xfrm>
            <a:off x="61722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9127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6581775" y="23088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National brands</a:t>
            </a:r>
          </a:p>
        </p:txBody>
      </p:sp>
      <p:cxnSp>
        <p:nvCxnSpPr>
          <p:cNvPr id="84" name="Connector 83"/>
          <p:cNvCxnSpPr/>
          <p:nvPr/>
        </p:nvCxnSpPr>
        <p:spPr>
          <a:xfrm>
            <a:off x="61722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3912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65817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Regional / local brands</a:t>
            </a:r>
          </a:p>
        </p:txBody>
      </p:sp>
      <p:cxnSp>
        <p:nvCxnSpPr>
          <p:cNvPr id="87" name="Connector 86"/>
          <p:cNvCxnSpPr/>
          <p:nvPr/>
        </p:nvCxnSpPr>
        <p:spPr>
          <a:xfrm>
            <a:off x="61722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2198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6410325" y="26631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Retailer private labels</a:t>
            </a:r>
          </a:p>
        </p:txBody>
      </p:sp>
      <p:cxnSp>
        <p:nvCxnSpPr>
          <p:cNvPr id="90" name="Connector 89"/>
          <p:cNvCxnSpPr/>
          <p:nvPr/>
        </p:nvCxnSpPr>
        <p:spPr>
          <a:xfrm>
            <a:off x="61722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3912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65817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Value private labels</a:t>
            </a:r>
          </a:p>
        </p:txBody>
      </p:sp>
      <p:cxnSp>
        <p:nvCxnSpPr>
          <p:cNvPr id="93" name="Connector 92"/>
          <p:cNvCxnSpPr/>
          <p:nvPr/>
        </p:nvCxnSpPr>
        <p:spPr>
          <a:xfrm>
            <a:off x="61722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63912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5817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private labels</a:t>
            </a:r>
          </a:p>
        </p:txBody>
      </p:sp>
      <p:cxnSp>
        <p:nvCxnSpPr>
          <p:cNvPr id="96" name="Connector 95"/>
          <p:cNvCxnSpPr/>
          <p:nvPr/>
        </p:nvCxnSpPr>
        <p:spPr>
          <a:xfrm>
            <a:off x="61722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912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5817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Premium private labels</a:t>
            </a:r>
          </a:p>
        </p:txBody>
      </p:sp>
      <p:cxnSp>
        <p:nvCxnSpPr>
          <p:cNvPr id="99" name="Connector 98"/>
          <p:cNvCxnSpPr/>
          <p:nvPr/>
        </p:nvCxnSpPr>
        <p:spPr>
          <a:xfrm>
            <a:off x="61722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2198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6410325" y="33718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Foodservice / operator brands</a:t>
            </a:r>
          </a:p>
        </p:txBody>
      </p:sp>
      <p:sp>
        <p:nvSpPr>
          <p:cNvPr id="102" name="Rectangle 101"/>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Price Positioning</a:t>
            </a:r>
          </a:p>
        </p:txBody>
      </p:sp>
      <p:sp>
        <p:nvSpPr>
          <p:cNvPr id="105" name="TextBox 104"/>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cxnSp>
        <p:nvCxnSpPr>
          <p:cNvPr id="107" name="Connector 106"/>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cxnSp>
        <p:nvCxnSpPr>
          <p:cNvPr id="110" name="Connector 109"/>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cxnSp>
        <p:nvCxnSpPr>
          <p:cNvPr id="113" name="Connector 112"/>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116" name="Rectangle 115"/>
          <p:cNvSpPr/>
          <p:nvPr/>
        </p:nvSpPr>
        <p:spPr>
          <a:xfrm>
            <a:off x="9172575" y="2080260"/>
            <a:ext cx="2876550" cy="359473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Sales Channel</a:t>
            </a:r>
          </a:p>
        </p:txBody>
      </p:sp>
      <p:sp>
        <p:nvSpPr>
          <p:cNvPr id="119" name="TextBox 118"/>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Retail</a:t>
            </a:r>
          </a:p>
        </p:txBody>
      </p:sp>
      <p:cxnSp>
        <p:nvCxnSpPr>
          <p:cNvPr id="121" name="Connector 120"/>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Supermarkets and hypermarkets</a:t>
            </a:r>
          </a:p>
        </p:txBody>
      </p:sp>
      <p:cxnSp>
        <p:nvCxnSpPr>
          <p:cNvPr id="124" name="Connector 123"/>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Convenience stores</a:t>
            </a:r>
          </a:p>
        </p:txBody>
      </p:sp>
      <p:cxnSp>
        <p:nvCxnSpPr>
          <p:cNvPr id="127" name="Connector 126"/>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Discount stores</a:t>
            </a:r>
          </a:p>
        </p:txBody>
      </p:sp>
      <p:cxnSp>
        <p:nvCxnSpPr>
          <p:cNvPr id="130" name="Connector 129"/>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Warehouse clubs</a:t>
            </a:r>
          </a:p>
        </p:txBody>
      </p:sp>
      <p:cxnSp>
        <p:nvCxnSpPr>
          <p:cNvPr id="133" name="Connector 132"/>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Traditional grocery stores</a:t>
            </a:r>
          </a:p>
        </p:txBody>
      </p:sp>
      <p:cxnSp>
        <p:nvCxnSpPr>
          <p:cNvPr id="136" name="Connector 135"/>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Speciality food and health stores</a:t>
            </a:r>
          </a:p>
        </p:txBody>
      </p:sp>
      <p:cxnSp>
        <p:nvCxnSpPr>
          <p:cNvPr id="139" name="Connector 138"/>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9591675" y="354901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Bakery outlets selling packaged products</a:t>
            </a:r>
          </a:p>
        </p:txBody>
      </p:sp>
      <p:cxnSp>
        <p:nvCxnSpPr>
          <p:cNvPr id="142" name="Connector 141"/>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95916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retail</a:t>
            </a:r>
          </a:p>
        </p:txBody>
      </p:sp>
      <p:cxnSp>
        <p:nvCxnSpPr>
          <p:cNvPr id="145" name="Connector 144"/>
          <p:cNvCxnSpPr/>
          <p:nvPr/>
        </p:nvCxnSpPr>
        <p:spPr>
          <a:xfrm>
            <a:off x="91821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6" name="TextBox 145"/>
          <p:cNvSpPr txBox="1"/>
          <p:nvPr/>
        </p:nvSpPr>
        <p:spPr>
          <a:xfrm>
            <a:off x="92297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7" name="TextBox 146"/>
          <p:cNvSpPr txBox="1"/>
          <p:nvPr/>
        </p:nvSpPr>
        <p:spPr>
          <a:xfrm>
            <a:off x="9420225" y="40805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Foodservice and institutional</a:t>
            </a:r>
          </a:p>
        </p:txBody>
      </p:sp>
      <p:cxnSp>
        <p:nvCxnSpPr>
          <p:cNvPr id="148" name="Connector 147"/>
          <p:cNvCxnSpPr/>
          <p:nvPr/>
        </p:nvCxnSpPr>
        <p:spPr>
          <a:xfrm>
            <a:off x="91821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94011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0" name="TextBox 149"/>
          <p:cNvSpPr txBox="1"/>
          <p:nvPr/>
        </p:nvSpPr>
        <p:spPr>
          <a:xfrm>
            <a:off x="95916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Cafés and coffee chains</a:t>
            </a:r>
          </a:p>
        </p:txBody>
      </p:sp>
      <p:cxnSp>
        <p:nvCxnSpPr>
          <p:cNvPr id="151" name="Connector 15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2" name="TextBox 151"/>
          <p:cNvSpPr txBox="1"/>
          <p:nvPr/>
        </p:nvSpPr>
        <p:spPr>
          <a:xfrm>
            <a:off x="94011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3" name="TextBox 152"/>
          <p:cNvSpPr txBox="1"/>
          <p:nvPr/>
        </p:nvSpPr>
        <p:spPr>
          <a:xfrm>
            <a:off x="95916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Hotels and restaurants</a:t>
            </a:r>
          </a:p>
        </p:txBody>
      </p:sp>
      <p:cxnSp>
        <p:nvCxnSpPr>
          <p:cNvPr id="154" name="Connector 15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6" name="TextBox 15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Quick-service restaurants</a:t>
            </a:r>
          </a:p>
        </p:txBody>
      </p:sp>
      <p:cxnSp>
        <p:nvCxnSpPr>
          <p:cNvPr id="157" name="Connector 15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9" name="TextBox 15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Corporate catering</a:t>
            </a:r>
          </a:p>
        </p:txBody>
      </p:sp>
      <p:cxnSp>
        <p:nvCxnSpPr>
          <p:cNvPr id="160" name="Connector 15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1" name="TextBox 16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2" name="TextBox 16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Educational institutions</a:t>
            </a:r>
          </a:p>
        </p:txBody>
      </p:sp>
      <p:cxnSp>
        <p:nvCxnSpPr>
          <p:cNvPr id="163" name="Connector 16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5" name="TextBox 16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Healthcare institutions</a:t>
            </a:r>
          </a:p>
        </p:txBody>
      </p:sp>
      <p:cxnSp>
        <p:nvCxnSpPr>
          <p:cNvPr id="166" name="Connector 16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7" name="TextBox 16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8" name="TextBox 16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Airline and travel catering</a:t>
            </a:r>
          </a:p>
        </p:txBody>
      </p:sp>
      <p:cxnSp>
        <p:nvCxnSpPr>
          <p:cNvPr id="169" name="Connector 168"/>
          <p:cNvCxnSpPr/>
          <p:nvPr/>
        </p:nvCxnSpPr>
        <p:spPr>
          <a:xfrm>
            <a:off x="9182100" y="5497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0" name="TextBox 169"/>
          <p:cNvSpPr txBox="1"/>
          <p:nvPr/>
        </p:nvSpPr>
        <p:spPr>
          <a:xfrm>
            <a:off x="9229725" y="5497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1" name="TextBox 170"/>
          <p:cNvSpPr txBox="1"/>
          <p:nvPr/>
        </p:nvSpPr>
        <p:spPr>
          <a:xfrm>
            <a:off x="9420225" y="549783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Vending</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Packaged Muffins Market profiled and benchmarked in the Competition Assessment section.</a:t>
            </a:r>
          </a:p>
        </p:txBody>
      </p:sp>
      <p:sp>
        <p:nvSpPr>
          <p:cNvPr id="11" name="Rectangle 10"/>
          <p:cNvSpPr/>
          <p:nvPr/>
        </p:nvSpPr>
        <p:spPr>
          <a:xfrm>
            <a:off x="142875"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182867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182867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Grupo Bimbo (Bimbo, Marinela, Little Bites, Thomas')</a:t>
            </a:r>
          </a:p>
        </p:txBody>
      </p:sp>
      <p:sp>
        <p:nvSpPr>
          <p:cNvPr id="16" name="Rectangle 15"/>
          <p:cNvSpPr/>
          <p:nvPr/>
        </p:nvSpPr>
        <p:spPr>
          <a:xfrm>
            <a:off x="152400" y="212073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212073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212073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212073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McKee Foods Corporation (Little Debbie, Sunbelt Bakery, Drake's, Fieldstone Bakery)</a:t>
            </a:r>
          </a:p>
        </p:txBody>
      </p:sp>
      <p:cxnSp>
        <p:nvCxnSpPr>
          <p:cNvPr id="20" name="Connector 19"/>
          <p:cNvCxnSpPr/>
          <p:nvPr/>
        </p:nvCxnSpPr>
        <p:spPr>
          <a:xfrm>
            <a:off x="152400" y="241279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241279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241279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Hostess Brands (Hostess)</a:t>
            </a:r>
          </a:p>
        </p:txBody>
      </p:sp>
      <p:sp>
        <p:nvSpPr>
          <p:cNvPr id="23" name="Rectangle 22"/>
          <p:cNvSpPr/>
          <p:nvPr/>
        </p:nvSpPr>
        <p:spPr>
          <a:xfrm>
            <a:off x="152400" y="2704855"/>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2704855"/>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2704855"/>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Rich Products Corporation (Rich's)</a:t>
            </a:r>
          </a:p>
        </p:txBody>
      </p:sp>
      <p:cxnSp>
        <p:nvCxnSpPr>
          <p:cNvPr id="27" name="Connector 26"/>
          <p:cNvCxnSpPr/>
          <p:nvPr/>
        </p:nvCxnSpPr>
        <p:spPr>
          <a:xfrm>
            <a:off x="152400" y="299691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2996914"/>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9" name="TextBox 28"/>
          <p:cNvSpPr txBox="1"/>
          <p:nvPr/>
        </p:nvSpPr>
        <p:spPr>
          <a:xfrm>
            <a:off x="581025" y="2996914"/>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ARYZTA / Aspire Bakeries (Otis Spunkmeyer, Cuisine de France, Hiestand, Delice de France)</a:t>
            </a:r>
          </a:p>
        </p:txBody>
      </p:sp>
      <p:sp>
        <p:nvSpPr>
          <p:cNvPr id="30" name="Rectangle 29"/>
          <p:cNvSpPr/>
          <p:nvPr/>
        </p:nvSpPr>
        <p:spPr>
          <a:xfrm>
            <a:off x="152400" y="3288973"/>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52400" y="328897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333375" y="3288973"/>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3" name="TextBox 32"/>
          <p:cNvSpPr txBox="1"/>
          <p:nvPr/>
        </p:nvSpPr>
        <p:spPr>
          <a:xfrm>
            <a:off x="581025" y="3288973"/>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Europastry (Europastry, Dots)</a:t>
            </a:r>
          </a:p>
        </p:txBody>
      </p:sp>
      <p:cxnSp>
        <p:nvCxnSpPr>
          <p:cNvPr id="34" name="Connector 33"/>
          <p:cNvCxnSpPr/>
          <p:nvPr/>
        </p:nvCxnSpPr>
        <p:spPr>
          <a:xfrm>
            <a:off x="152400"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33375" y="358103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6" name="TextBox 35"/>
          <p:cNvSpPr txBox="1"/>
          <p:nvPr/>
        </p:nvSpPr>
        <p:spPr>
          <a:xfrm>
            <a:off x="581025" y="358103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Bridor (Bridor, Evasions)</a:t>
            </a:r>
          </a:p>
        </p:txBody>
      </p:sp>
      <p:sp>
        <p:nvSpPr>
          <p:cNvPr id="37" name="Rectangle 36"/>
          <p:cNvSpPr/>
          <p:nvPr/>
        </p:nvSpPr>
        <p:spPr>
          <a:xfrm>
            <a:off x="152400" y="3873092"/>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8" name="Connector 37"/>
          <p:cNvCxnSpPr/>
          <p:nvPr/>
        </p:nvCxnSpPr>
        <p:spPr>
          <a:xfrm>
            <a:off x="152400" y="387309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3375" y="387309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0" name="TextBox 39"/>
          <p:cNvSpPr txBox="1"/>
          <p:nvPr/>
        </p:nvSpPr>
        <p:spPr>
          <a:xfrm>
            <a:off x="581025" y="387309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Lantmännen Unibake (Schulstad, Hatting, Vaasan, Pastridor, Euro-Bake)</a:t>
            </a:r>
          </a:p>
        </p:txBody>
      </p:sp>
      <p:cxnSp>
        <p:nvCxnSpPr>
          <p:cNvPr id="41" name="Connector 40"/>
          <p:cNvCxnSpPr/>
          <p:nvPr/>
        </p:nvCxnSpPr>
        <p:spPr>
          <a:xfrm>
            <a:off x="152400" y="416515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33375" y="4165151"/>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3" name="TextBox 42"/>
          <p:cNvSpPr txBox="1"/>
          <p:nvPr/>
        </p:nvSpPr>
        <p:spPr>
          <a:xfrm>
            <a:off x="581025" y="4165151"/>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Flowers Foods (Tastykake, Nature's Own, Wonder, Dave's Killer Bread, Canyon Bakehouse)</a:t>
            </a:r>
          </a:p>
        </p:txBody>
      </p:sp>
      <p:sp>
        <p:nvSpPr>
          <p:cNvPr id="44" name="Rectangle 43"/>
          <p:cNvSpPr/>
          <p:nvPr/>
        </p:nvSpPr>
        <p:spPr>
          <a:xfrm>
            <a:off x="152400" y="4457210"/>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5" name="Connector 44"/>
          <p:cNvCxnSpPr/>
          <p:nvPr/>
        </p:nvCxnSpPr>
        <p:spPr>
          <a:xfrm>
            <a:off x="152400"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33375" y="4457210"/>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7" name="TextBox 46"/>
          <p:cNvSpPr txBox="1"/>
          <p:nvPr/>
        </p:nvSpPr>
        <p:spPr>
          <a:xfrm>
            <a:off x="581025" y="4457210"/>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Premier Foods (Mr Kipling)</a:t>
            </a:r>
          </a:p>
        </p:txBody>
      </p:sp>
      <p:cxnSp>
        <p:nvCxnSpPr>
          <p:cNvPr id="48" name="Connector 47"/>
          <p:cNvCxnSpPr/>
          <p:nvPr/>
        </p:nvCxnSpPr>
        <p:spPr>
          <a:xfrm>
            <a:off x="152400" y="474926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33375" y="4749269"/>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0" name="TextBox 49"/>
          <p:cNvSpPr txBox="1"/>
          <p:nvPr/>
        </p:nvSpPr>
        <p:spPr>
          <a:xfrm>
            <a:off x="581025" y="4749269"/>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Warburtons (Warburtons)</a:t>
            </a:r>
          </a:p>
        </p:txBody>
      </p:sp>
      <p:sp>
        <p:nvSpPr>
          <p:cNvPr id="51" name="Rectangle 50"/>
          <p:cNvSpPr/>
          <p:nvPr/>
        </p:nvSpPr>
        <p:spPr>
          <a:xfrm>
            <a:off x="152400" y="5041328"/>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52400" y="504132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3375" y="5041328"/>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4" name="TextBox 53"/>
          <p:cNvSpPr txBox="1"/>
          <p:nvPr/>
        </p:nvSpPr>
        <p:spPr>
          <a:xfrm>
            <a:off x="581025" y="5041328"/>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Goodman Fielder (Nature's Fresh, Freya's, Quality Bakers)</a:t>
            </a:r>
          </a:p>
        </p:txBody>
      </p:sp>
      <p:cxnSp>
        <p:nvCxnSpPr>
          <p:cNvPr id="55" name="Connector 54"/>
          <p:cNvCxnSpPr/>
          <p:nvPr/>
        </p:nvCxnSpPr>
        <p:spPr>
          <a:xfrm>
            <a:off x="152400"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33375" y="533338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7" name="TextBox 56"/>
          <p:cNvSpPr txBox="1"/>
          <p:nvPr/>
        </p:nvSpPr>
        <p:spPr>
          <a:xfrm>
            <a:off x="581025" y="533338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St Michel (St Michel)</a:t>
            </a:r>
          </a:p>
        </p:txBody>
      </p:sp>
      <p:sp>
        <p:nvSpPr>
          <p:cNvPr id="58" name="Rectangle 57"/>
          <p:cNvSpPr/>
          <p:nvPr/>
        </p:nvSpPr>
        <p:spPr>
          <a:xfrm>
            <a:off x="152400" y="562544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9" name="Connector 58"/>
          <p:cNvCxnSpPr/>
          <p:nvPr/>
        </p:nvCxnSpPr>
        <p:spPr>
          <a:xfrm>
            <a:off x="152400" y="562544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3375" y="562544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1" name="TextBox 60"/>
          <p:cNvSpPr txBox="1"/>
          <p:nvPr/>
        </p:nvSpPr>
        <p:spPr>
          <a:xfrm>
            <a:off x="581025" y="562544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Dr. Schär (Schär)</a:t>
            </a:r>
          </a:p>
        </p:txBody>
      </p:sp>
      <p:cxnSp>
        <p:nvCxnSpPr>
          <p:cNvPr id="62" name="Connector 61"/>
          <p:cNvCxnSpPr/>
          <p:nvPr/>
        </p:nvCxnSpPr>
        <p:spPr>
          <a:xfrm>
            <a:off x="152400" y="591750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3375" y="591750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4" name="TextBox 63"/>
          <p:cNvSpPr txBox="1"/>
          <p:nvPr/>
        </p:nvSpPr>
        <p:spPr>
          <a:xfrm>
            <a:off x="581025" y="591750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General Mills (Betty Crocker, Pillsbury)</a:t>
            </a:r>
          </a:p>
        </p:txBody>
      </p:sp>
      <p:sp>
        <p:nvSpPr>
          <p:cNvPr id="65" name="Rectangle 64"/>
          <p:cNvSpPr/>
          <p:nvPr/>
        </p:nvSpPr>
        <p:spPr>
          <a:xfrm>
            <a:off x="6191250"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191250"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191250"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68" name="TextBox 67"/>
          <p:cNvSpPr txBox="1"/>
          <p:nvPr/>
        </p:nvSpPr>
        <p:spPr>
          <a:xfrm>
            <a:off x="6381750" y="182867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9" name="TextBox 68"/>
          <p:cNvSpPr txBox="1"/>
          <p:nvPr/>
        </p:nvSpPr>
        <p:spPr>
          <a:xfrm>
            <a:off x="6629400" y="182867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Britannia Industries (Britannia)</a:t>
            </a:r>
          </a:p>
        </p:txBody>
      </p:sp>
      <p:sp>
        <p:nvSpPr>
          <p:cNvPr id="70" name="Rectangle 69"/>
          <p:cNvSpPr/>
          <p:nvPr/>
        </p:nvSpPr>
        <p:spPr>
          <a:xfrm>
            <a:off x="6200775" y="212073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1" name="Connector 70"/>
          <p:cNvCxnSpPr/>
          <p:nvPr/>
        </p:nvCxnSpPr>
        <p:spPr>
          <a:xfrm>
            <a:off x="6200775" y="212073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6381750" y="212073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3" name="TextBox 72"/>
          <p:cNvSpPr txBox="1"/>
          <p:nvPr/>
        </p:nvSpPr>
        <p:spPr>
          <a:xfrm>
            <a:off x="6629400" y="212073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Monginis Foods (Monginis)</a:t>
            </a:r>
          </a:p>
        </p:txBody>
      </p:sp>
      <p:cxnSp>
        <p:nvCxnSpPr>
          <p:cNvPr id="74" name="Connector 73"/>
          <p:cNvCxnSpPr/>
          <p:nvPr/>
        </p:nvCxnSpPr>
        <p:spPr>
          <a:xfrm>
            <a:off x="6200775" y="241279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6381750" y="241279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6" name="TextBox 75"/>
          <p:cNvSpPr txBox="1"/>
          <p:nvPr/>
        </p:nvSpPr>
        <p:spPr>
          <a:xfrm>
            <a:off x="6629400" y="241279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Bonn Group of Industries (Bonn)</a:t>
            </a:r>
          </a:p>
        </p:txBody>
      </p:sp>
      <p:sp>
        <p:nvSpPr>
          <p:cNvPr id="77" name="Rectangle 76"/>
          <p:cNvSpPr/>
          <p:nvPr/>
        </p:nvSpPr>
        <p:spPr>
          <a:xfrm>
            <a:off x="6200775" y="2704855"/>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8" name="Connector 77"/>
          <p:cNvCxnSpPr/>
          <p:nvPr/>
        </p:nvCxnSpPr>
        <p:spPr>
          <a:xfrm>
            <a:off x="6200775"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81750" y="2704855"/>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0" name="TextBox 79"/>
          <p:cNvSpPr txBox="1"/>
          <p:nvPr/>
        </p:nvSpPr>
        <p:spPr>
          <a:xfrm>
            <a:off x="6629400" y="2704855"/>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Karachi Bakery (Karachi Bakery)</a:t>
            </a:r>
          </a:p>
        </p:txBody>
      </p:sp>
      <p:cxnSp>
        <p:nvCxnSpPr>
          <p:cNvPr id="81" name="Connector 80"/>
          <p:cNvCxnSpPr/>
          <p:nvPr/>
        </p:nvCxnSpPr>
        <p:spPr>
          <a:xfrm>
            <a:off x="6200775" y="299691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81750" y="2996914"/>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3" name="TextBox 82"/>
          <p:cNvSpPr txBox="1"/>
          <p:nvPr/>
        </p:nvSpPr>
        <p:spPr>
          <a:xfrm>
            <a:off x="6629400" y="2996914"/>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Gardenia Bakeries Philippines (Gardenia)</a:t>
            </a:r>
          </a:p>
        </p:txBody>
      </p:sp>
      <p:sp>
        <p:nvSpPr>
          <p:cNvPr id="84" name="Rectangle 83"/>
          <p:cNvSpPr/>
          <p:nvPr/>
        </p:nvSpPr>
        <p:spPr>
          <a:xfrm>
            <a:off x="6200775" y="3288973"/>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5" name="Connector 84"/>
          <p:cNvCxnSpPr/>
          <p:nvPr/>
        </p:nvCxnSpPr>
        <p:spPr>
          <a:xfrm>
            <a:off x="6200775" y="328897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6381750" y="3288973"/>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7" name="TextBox 86"/>
          <p:cNvSpPr txBox="1"/>
          <p:nvPr/>
        </p:nvSpPr>
        <p:spPr>
          <a:xfrm>
            <a:off x="6629400" y="3288973"/>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Gardenia Bakeries Malaysia (Gardenia, Gardenia QuickBites)</a:t>
            </a:r>
          </a:p>
        </p:txBody>
      </p:sp>
      <p:cxnSp>
        <p:nvCxnSpPr>
          <p:cNvPr id="88" name="Connector 87"/>
          <p:cNvCxnSpPr/>
          <p:nvPr/>
        </p:nvCxnSpPr>
        <p:spPr>
          <a:xfrm>
            <a:off x="6200775"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6381750" y="358103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0" name="TextBox 89"/>
          <p:cNvSpPr txBox="1"/>
          <p:nvPr/>
        </p:nvSpPr>
        <p:spPr>
          <a:xfrm>
            <a:off x="6629400" y="358103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PT Nippon Indosari Corpindo (Sari Roti)</a:t>
            </a:r>
          </a:p>
        </p:txBody>
      </p:sp>
      <p:sp>
        <p:nvSpPr>
          <p:cNvPr id="91" name="Rectangle 90"/>
          <p:cNvSpPr/>
          <p:nvPr/>
        </p:nvSpPr>
        <p:spPr>
          <a:xfrm>
            <a:off x="6200775" y="3873092"/>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2" name="Connector 91"/>
          <p:cNvCxnSpPr/>
          <p:nvPr/>
        </p:nvCxnSpPr>
        <p:spPr>
          <a:xfrm>
            <a:off x="6200775" y="387309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6381750" y="387309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4" name="TextBox 93"/>
          <p:cNvSpPr txBox="1"/>
          <p:nvPr/>
        </p:nvSpPr>
        <p:spPr>
          <a:xfrm>
            <a:off x="6629400" y="387309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BreadTalk Group (BreadTalk)</a:t>
            </a:r>
          </a:p>
        </p:txBody>
      </p:sp>
      <p:cxnSp>
        <p:nvCxnSpPr>
          <p:cNvPr id="95" name="Connector 94"/>
          <p:cNvCxnSpPr/>
          <p:nvPr/>
        </p:nvCxnSpPr>
        <p:spPr>
          <a:xfrm>
            <a:off x="6200775" y="416515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6381750" y="4165151"/>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7" name="TextBox 96"/>
          <p:cNvSpPr txBox="1"/>
          <p:nvPr/>
        </p:nvSpPr>
        <p:spPr>
          <a:xfrm>
            <a:off x="6629400" y="4165151"/>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QAF Limited (Bakers Maison)</a:t>
            </a:r>
          </a:p>
        </p:txBody>
      </p:sp>
      <p:sp>
        <p:nvSpPr>
          <p:cNvPr id="98" name="Rectangle 97"/>
          <p:cNvSpPr/>
          <p:nvPr/>
        </p:nvSpPr>
        <p:spPr>
          <a:xfrm>
            <a:off x="6200775" y="4457210"/>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9" name="Connector 98"/>
          <p:cNvCxnSpPr/>
          <p:nvPr/>
        </p:nvCxnSpPr>
        <p:spPr>
          <a:xfrm>
            <a:off x="6200775"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381750" y="4457210"/>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1" name="TextBox 100"/>
          <p:cNvSpPr txBox="1"/>
          <p:nvPr/>
        </p:nvSpPr>
        <p:spPr>
          <a:xfrm>
            <a:off x="6629400" y="4457210"/>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SPC Samlip (Samlip)</a:t>
            </a:r>
          </a:p>
        </p:txBody>
      </p:sp>
      <p:cxnSp>
        <p:nvCxnSpPr>
          <p:cNvPr id="102" name="Connector 101"/>
          <p:cNvCxnSpPr/>
          <p:nvPr/>
        </p:nvCxnSpPr>
        <p:spPr>
          <a:xfrm>
            <a:off x="6200775" y="474926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6381750" y="4749269"/>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4" name="TextBox 103"/>
          <p:cNvSpPr txBox="1"/>
          <p:nvPr/>
        </p:nvSpPr>
        <p:spPr>
          <a:xfrm>
            <a:off x="6629400" y="4749269"/>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Yamazaki Baking (Yamazaki, Vie de France Yamazaki, Four Leaves)</a:t>
            </a:r>
          </a:p>
        </p:txBody>
      </p:sp>
      <p:sp>
        <p:nvSpPr>
          <p:cNvPr id="105" name="Rectangle 104"/>
          <p:cNvSpPr/>
          <p:nvPr/>
        </p:nvSpPr>
        <p:spPr>
          <a:xfrm>
            <a:off x="6200775" y="5041328"/>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6" name="Connector 105"/>
          <p:cNvCxnSpPr/>
          <p:nvPr/>
        </p:nvCxnSpPr>
        <p:spPr>
          <a:xfrm>
            <a:off x="6200775" y="504132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6381750" y="5041328"/>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8" name="TextBox 107"/>
          <p:cNvSpPr txBox="1"/>
          <p:nvPr/>
        </p:nvSpPr>
        <p:spPr>
          <a:xfrm>
            <a:off x="6629400" y="5041328"/>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Toly Bread (Toly Bread)</a:t>
            </a:r>
          </a:p>
        </p:txBody>
      </p:sp>
      <p:cxnSp>
        <p:nvCxnSpPr>
          <p:cNvPr id="109" name="Connector 108"/>
          <p:cNvCxnSpPr/>
          <p:nvPr/>
        </p:nvCxnSpPr>
        <p:spPr>
          <a:xfrm>
            <a:off x="6200775"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6381750" y="533338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1" name="TextBox 110"/>
          <p:cNvSpPr txBox="1"/>
          <p:nvPr/>
        </p:nvSpPr>
        <p:spPr>
          <a:xfrm>
            <a:off x="6629400" y="533338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Almarai (L'usine, Bake Mart)</a:t>
            </a:r>
          </a:p>
        </p:txBody>
      </p:sp>
      <p:sp>
        <p:nvSpPr>
          <p:cNvPr id="112" name="Rectangle 111"/>
          <p:cNvSpPr/>
          <p:nvPr/>
        </p:nvSpPr>
        <p:spPr>
          <a:xfrm>
            <a:off x="6200775" y="562544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3" name="Connector 112"/>
          <p:cNvCxnSpPr/>
          <p:nvPr/>
        </p:nvCxnSpPr>
        <p:spPr>
          <a:xfrm>
            <a:off x="6200775" y="562544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381750" y="562544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5" name="TextBox 114"/>
          <p:cNvSpPr txBox="1"/>
          <p:nvPr/>
        </p:nvSpPr>
        <p:spPr>
          <a:xfrm>
            <a:off x="6629400" y="562544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United Foods International (United Foods)</a:t>
            </a:r>
          </a:p>
        </p:txBody>
      </p:sp>
      <p:cxnSp>
        <p:nvCxnSpPr>
          <p:cNvPr id="116" name="Connector 115"/>
          <p:cNvCxnSpPr/>
          <p:nvPr/>
        </p:nvCxnSpPr>
        <p:spPr>
          <a:xfrm>
            <a:off x="6200775" y="591750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6381750" y="591750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8" name="TextBox 117"/>
          <p:cNvSpPr txBox="1"/>
          <p:nvPr/>
        </p:nvSpPr>
        <p:spPr>
          <a:xfrm>
            <a:off x="6629400" y="591750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Mimansa Industries / The Baker's Dozen (The Baker's Dozen)</a:t>
            </a:r>
          </a:p>
        </p:txBody>
      </p:sp>
      <p:sp>
        <p:nvSpPr>
          <p:cNvPr id="119" name="TextBox 118"/>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120" name="TextBox 1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0" i="0">
                          <a:solidFill>
                            <a:srgbClr val="0070C0"/>
                          </a:solidFill>
                          <a:latin typeface="Calibri"/>
                        </a:rPr>
                        <a:t>1.3.</a:t>
                      </a:r>
                      <a:r>
                        <a:rPr sz="700" b="0" i="0">
                          <a:solidFill>
                            <a:srgbClr val="0070C0"/>
                          </a:solidFill>
                          <a:latin typeface="Times New Roman"/>
                        </a:rPr>
                        <a:t>    </a:t>
                      </a:r>
                      <a:r>
                        <a:rPr sz="1100" b="0" i="0">
                          <a:solidFill>
                            <a:srgbClr val="0070C0"/>
                          </a:solidFill>
                          <a:latin typeface="Calibri"/>
                        </a:rPr>
                        <a:t>Regional Macro Economic Indicators</a:t>
                      </a:r>
                      <a:endParaRPr sz="1100"/>
                    </a:p>
                  </a:txBody>
                  <a:tcPr marL="428625" marR="9525" marT="9525" marB="0" anchor="ctr"/>
                </a:tc>
              </a:tr>
              <a:tr h="175260">
                <a:tc>
                  <a:txBody>
                    <a:bodyPr wrap="square"/>
                    <a:lstStyle/>
                    <a:p>
                      <a:pPr algn="l"/>
                      <a:r>
                        <a:rPr sz="1100" b="0" i="0">
                          <a:solidFill>
                            <a:srgbClr val="000000"/>
                          </a:solidFill>
                          <a:latin typeface="Calibri"/>
                        </a:rPr>
                        <a:t>1.3.1.</a:t>
                      </a:r>
                      <a:r>
                        <a:rPr sz="700" b="0" i="0">
                          <a:solidFill>
                            <a:srgbClr val="000000"/>
                          </a:solidFill>
                          <a:latin typeface="Times New Roman"/>
                        </a:rPr>
                        <a:t>   </a:t>
                      </a:r>
                      <a:r>
                        <a:rPr sz="1100" b="0" i="0">
                          <a:solidFill>
                            <a:srgbClr val="000000"/>
                          </a:solidFill>
                          <a:latin typeface="Calibri"/>
                        </a:rPr>
                        <a:t>Consumer Price Inflation (CPI)</a:t>
                      </a:r>
                      <a:endParaRPr sz="1100"/>
                    </a:p>
                  </a:txBody>
                  <a:tcPr marL="771525" marR="9525" marT="9525" marB="0" anchor="ctr"/>
                </a:tc>
              </a:tr>
              <a:tr h="175260">
                <a:tc>
                  <a:txBody>
                    <a:bodyPr wrap="square"/>
                    <a:lstStyle/>
                    <a:p>
                      <a:pPr algn="l"/>
                      <a:r>
                        <a:rPr sz="1100" b="0" i="0">
                          <a:solidFill>
                            <a:srgbClr val="000000"/>
                          </a:solidFill>
                          <a:latin typeface="Calibri"/>
                        </a:rPr>
                        <a:t>1.3.2.</a:t>
                      </a:r>
                      <a:r>
                        <a:rPr sz="700" b="0" i="0">
                          <a:solidFill>
                            <a:srgbClr val="000000"/>
                          </a:solidFill>
                          <a:latin typeface="Times New Roman"/>
                        </a:rPr>
                        <a:t>   </a:t>
                      </a:r>
                      <a:r>
                        <a:rPr sz="1100" b="0" i="0">
                          <a:solidFill>
                            <a:srgbClr val="000000"/>
                          </a:solidFill>
                          <a:latin typeface="Calibri"/>
                        </a:rPr>
                        <a:t>Private Final Consumption Expenditure Growth</a:t>
                      </a:r>
                      <a:endParaRPr sz="1100"/>
                    </a:p>
                  </a:txBody>
                  <a:tcPr marL="771525" marR="9525" marT="9525" marB="0" anchor="ctr"/>
                </a:tc>
              </a:tr>
              <a:tr h="175260">
                <a:tc>
                  <a:txBody>
                    <a:bodyPr wrap="square"/>
                    <a:lstStyle/>
                    <a:p>
                      <a:pPr algn="l"/>
                      <a:r>
                        <a:rPr sz="1100" b="0" i="0">
                          <a:solidFill>
                            <a:srgbClr val="000000"/>
                          </a:solidFill>
                          <a:latin typeface="Calibri"/>
                        </a:rPr>
                        <a:t>1.3.3.</a:t>
                      </a:r>
                      <a:r>
                        <a:rPr sz="700" b="0" i="0">
                          <a:solidFill>
                            <a:srgbClr val="000000"/>
                          </a:solidFill>
                          <a:latin typeface="Times New Roman"/>
                        </a:rPr>
                        <a:t>   </a:t>
                      </a:r>
                      <a:r>
                        <a:rPr sz="1100" b="0" i="0">
                          <a:solidFill>
                            <a:srgbClr val="000000"/>
                          </a:solidFill>
                          <a:latin typeface="Calibri"/>
                        </a:rPr>
                        <a:t>Food &amp; Non-Alcoholic Beverage Expenditure Growth</a:t>
                      </a:r>
                      <a:endParaRPr sz="1100"/>
                    </a:p>
                  </a:txBody>
                  <a:tcPr marL="771525" marR="9525" marT="9525" marB="0" anchor="ctr"/>
                </a:tc>
              </a:tr>
              <a:tr h="175260">
                <a:tc>
                  <a:txBody>
                    <a:bodyPr wrap="square"/>
                    <a:lstStyle/>
                    <a:p>
                      <a:pPr algn="l"/>
                      <a:r>
                        <a:rPr sz="1100" b="0" i="0">
                          <a:solidFill>
                            <a:srgbClr val="000000"/>
                          </a:solidFill>
                          <a:latin typeface="Calibri"/>
                        </a:rPr>
                        <a:t>1.3.4.</a:t>
                      </a:r>
                      <a:r>
                        <a:rPr sz="700" b="0" i="0">
                          <a:solidFill>
                            <a:srgbClr val="000000"/>
                          </a:solidFill>
                          <a:latin typeface="Times New Roman"/>
                        </a:rPr>
                        <a:t>   </a:t>
                      </a:r>
                      <a:r>
                        <a:rPr sz="1100" b="0" i="0">
                          <a:solidFill>
                            <a:srgbClr val="000000"/>
                          </a:solidFill>
                          <a:latin typeface="Calibri"/>
                        </a:rPr>
                        <a:t>Retail Sales Growth</a:t>
                      </a:r>
                      <a:endParaRPr sz="1100"/>
                    </a:p>
                  </a:txBody>
                  <a:tcPr marL="771525" marR="9525" marT="9525" marB="0" anchor="ctr"/>
                </a:tc>
              </a:tr>
              <a:tr h="175260">
                <a:tc>
                  <a:txBody>
                    <a:bodyPr wrap="square"/>
                    <a:lstStyle/>
                    <a:p>
                      <a:pPr algn="l"/>
                      <a:r>
                        <a:rPr sz="1100" b="0" i="0">
                          <a:solidFill>
                            <a:srgbClr val="000000"/>
                          </a:solidFill>
                          <a:latin typeface="Calibri"/>
                        </a:rPr>
                        <a:t>1.3.5.</a:t>
                      </a:r>
                      <a:r>
                        <a:rPr sz="700" b="0" i="0">
                          <a:solidFill>
                            <a:srgbClr val="000000"/>
                          </a:solidFill>
                          <a:latin typeface="Times New Roman"/>
                        </a:rPr>
                        <a:t>   </a:t>
                      </a:r>
                      <a:r>
                        <a:rPr sz="1100" b="0" i="0">
                          <a:solidFill>
                            <a:srgbClr val="000000"/>
                          </a:solidFill>
                          <a:latin typeface="Calibri"/>
                        </a:rPr>
                        <a:t>Consumer Confidence Index</a:t>
                      </a:r>
                      <a:endParaRPr sz="1100"/>
                    </a:p>
                  </a:txBody>
                  <a:tcPr marL="771525" marR="9525" marT="9525" marB="0" anchor="ctr"/>
                </a:tc>
              </a:tr>
              <a:tr h="175260">
                <a:tc>
                  <a:txBody>
                    <a:bodyPr wrap="square"/>
                    <a:lstStyle/>
                    <a:p>
                      <a:pPr algn="l"/>
                      <a:r>
                        <a:rPr sz="1100" b="0" i="0">
                          <a:solidFill>
                            <a:srgbClr val="0070C0"/>
                          </a:solidFill>
                          <a:latin typeface="Calibri"/>
                        </a:rPr>
                        <a:t>1.4.</a:t>
                      </a:r>
                      <a:r>
                        <a:rPr sz="700" b="0" i="0">
                          <a:solidFill>
                            <a:srgbClr val="0070C0"/>
                          </a:solidFill>
                          <a:latin typeface="Times New Roman"/>
                        </a:rPr>
                        <a:t>    </a:t>
                      </a:r>
                      <a:r>
                        <a:rPr sz="1100" b="0" i="0">
                          <a:solidFill>
                            <a:srgbClr val="0070C0"/>
                          </a:solidFill>
                          <a:latin typeface="Calibri"/>
                        </a:rPr>
                        <a:t>Regional Micro Economic Indicators</a:t>
                      </a:r>
                      <a:endParaRPr sz="1100"/>
                    </a:p>
                  </a:txBody>
                  <a:tcPr marL="428625" marR="9525" marT="9525" marB="0" anchor="ctr"/>
                </a:tc>
              </a:tr>
              <a:tr h="175260">
                <a:tc>
                  <a:txBody>
                    <a:bodyPr wrap="square"/>
                    <a:lstStyle/>
                    <a:p>
                      <a:pPr algn="l"/>
                      <a:r>
                        <a:rPr sz="1100" b="0" i="0">
                          <a:solidFill>
                            <a:srgbClr val="000000"/>
                          </a:solidFill>
                          <a:latin typeface="Calibri"/>
                        </a:rPr>
                        <a:t>1.4.1.</a:t>
                      </a:r>
                      <a:r>
                        <a:rPr sz="700" b="0" i="0">
                          <a:solidFill>
                            <a:srgbClr val="000000"/>
                          </a:solidFill>
                          <a:latin typeface="Times New Roman"/>
                        </a:rPr>
                        <a:t>   </a:t>
                      </a:r>
                      <a:r>
                        <a:rPr sz="1100" b="0" i="0">
                          <a:solidFill>
                            <a:srgbClr val="000000"/>
                          </a:solidFill>
                          <a:latin typeface="Calibri"/>
                        </a:rPr>
                        <a:t>Packaged Bakery Products Sales Growth</a:t>
                      </a:r>
                      <a:endParaRPr sz="1100"/>
                    </a:p>
                  </a:txBody>
                  <a:tcPr marL="771525" marR="9525" marT="9525" marB="0" anchor="ctr"/>
                </a:tc>
              </a:tr>
              <a:tr h="175260">
                <a:tc>
                  <a:txBody>
                    <a:bodyPr wrap="square"/>
                    <a:lstStyle/>
                    <a:p>
                      <a:pPr algn="l"/>
                      <a:r>
                        <a:rPr sz="1100" b="0" i="0">
                          <a:solidFill>
                            <a:srgbClr val="000000"/>
                          </a:solidFill>
                          <a:latin typeface="Calibri"/>
                        </a:rPr>
                        <a:t>1.4.2.</a:t>
                      </a:r>
                      <a:r>
                        <a:rPr sz="700" b="0" i="0">
                          <a:solidFill>
                            <a:srgbClr val="000000"/>
                          </a:solidFill>
                          <a:latin typeface="Times New Roman"/>
                        </a:rPr>
                        <a:t>   </a:t>
                      </a:r>
                      <a:r>
                        <a:rPr sz="1100" b="0" i="0">
                          <a:solidFill>
                            <a:srgbClr val="000000"/>
                          </a:solidFill>
                          <a:latin typeface="Calibri"/>
                        </a:rPr>
                        <a:t>Supermarket &amp; Hypermarket Sales Growth</a:t>
                      </a:r>
                      <a:endParaRPr sz="1100"/>
                    </a:p>
                  </a:txBody>
                  <a:tcPr marL="771525" marR="9525" marT="9525" marB="0" anchor="ctr"/>
                </a:tc>
              </a:tr>
              <a:tr h="175260">
                <a:tc>
                  <a:txBody>
                    <a:bodyPr wrap="square"/>
                    <a:lstStyle/>
                    <a:p>
                      <a:pPr algn="l"/>
                      <a:r>
                        <a:rPr sz="1100" b="0" i="0">
                          <a:solidFill>
                            <a:srgbClr val="000000"/>
                          </a:solidFill>
                          <a:latin typeface="Calibri"/>
                        </a:rPr>
                        <a:t>1.4.3.</a:t>
                      </a:r>
                      <a:r>
                        <a:rPr sz="700" b="0" i="0">
                          <a:solidFill>
                            <a:srgbClr val="000000"/>
                          </a:solidFill>
                          <a:latin typeface="Times New Roman"/>
                        </a:rPr>
                        <a:t>   </a:t>
                      </a:r>
                      <a:r>
                        <a:rPr sz="1100" b="0" i="0">
                          <a:solidFill>
                            <a:srgbClr val="000000"/>
                          </a:solidFill>
                          <a:latin typeface="Calibri"/>
                        </a:rPr>
                        <a:t>Convenience Store Sales Growth</a:t>
                      </a:r>
                      <a:endParaRPr sz="1100"/>
                    </a:p>
                  </a:txBody>
                  <a:tcPr marL="771525" marR="9525" marT="9525" marB="0" anchor="ctr"/>
                </a:tc>
              </a:tr>
              <a:tr h="175260">
                <a:tc>
                  <a:txBody>
                    <a:bodyPr wrap="square"/>
                    <a:lstStyle/>
                    <a:p>
                      <a:pPr algn="l"/>
                      <a:r>
                        <a:rPr sz="1100" b="0" i="0">
                          <a:solidFill>
                            <a:srgbClr val="000000"/>
                          </a:solidFill>
                          <a:latin typeface="Calibri"/>
                        </a:rPr>
                        <a:t>1.4.4.</a:t>
                      </a:r>
                      <a:r>
                        <a:rPr sz="700" b="0" i="0">
                          <a:solidFill>
                            <a:srgbClr val="000000"/>
                          </a:solidFill>
                          <a:latin typeface="Times New Roman"/>
                        </a:rPr>
                        <a:t>   </a:t>
                      </a:r>
                      <a:r>
                        <a:rPr sz="1100" b="0" i="0">
                          <a:solidFill>
                            <a:srgbClr val="000000"/>
                          </a:solidFill>
                          <a:latin typeface="Calibri"/>
                        </a:rPr>
                        <a:t>Online Grocery / Food E-Commerce Sales Growth</a:t>
                      </a:r>
                      <a:endParaRPr sz="1100"/>
                    </a:p>
                  </a:txBody>
                  <a:tcPr marL="771525" marR="9525" marT="9525" marB="0" anchor="ctr"/>
                </a:tc>
              </a:tr>
              <a:tr h="175260">
                <a:tc>
                  <a:txBody>
                    <a:bodyPr wrap="square"/>
                    <a:lstStyle/>
                    <a:p>
                      <a:pPr algn="l"/>
                      <a:r>
                        <a:rPr sz="1100" b="0" i="0">
                          <a:solidFill>
                            <a:srgbClr val="000000"/>
                          </a:solidFill>
                          <a:latin typeface="Calibri"/>
                        </a:rPr>
                        <a:t>1.4.5.</a:t>
                      </a:r>
                      <a:r>
                        <a:rPr sz="700" b="0" i="0">
                          <a:solidFill>
                            <a:srgbClr val="000000"/>
                          </a:solidFill>
                          <a:latin typeface="Times New Roman"/>
                        </a:rPr>
                        <a:t>   </a:t>
                      </a:r>
                      <a:r>
                        <a:rPr sz="1100" b="0" i="0">
                          <a:solidFill>
                            <a:srgbClr val="000000"/>
                          </a:solidFill>
                          <a:latin typeface="Calibri"/>
                        </a:rPr>
                        <a:t>Wheat, Sugar, Egg &amp; Dairy Input Price Index</a:t>
                      </a:r>
                      <a:endParaRPr sz="1100"/>
                    </a:p>
                  </a:txBody>
                  <a:tcPr marL="771525" marR="9525" marT="9525" marB="0" anchor="ctr"/>
                </a:tc>
              </a:tr>
              <a:tr h="175260">
                <a:tc>
                  <a:txBody>
                    <a:bodyPr wrap="square"/>
                    <a:lstStyle/>
                    <a:p>
                      <a:pPr algn="l"/>
                      <a:r>
                        <a:rPr sz="1100" b="0" i="0">
                          <a:solidFill>
                            <a:srgbClr val="0070C0"/>
                          </a:solidFill>
                          <a:latin typeface="Calibri"/>
                        </a:rPr>
                        <a:t>1.5.</a:t>
                      </a:r>
                      <a:r>
                        <a:rPr sz="700" b="0" i="0">
                          <a:solidFill>
                            <a:srgbClr val="0070C0"/>
                          </a:solidFill>
                          <a:latin typeface="Times New Roman"/>
                        </a:rPr>
                        <a:t>    </a:t>
                      </a:r>
                      <a:r>
                        <a:rPr sz="1100" b="0" i="0">
                          <a:solidFill>
                            <a:srgbClr val="0070C0"/>
                          </a:solidFill>
                          <a:latin typeface="Calibri"/>
                        </a:rPr>
                        <a:t>Per Capita Consumption- By Country</a:t>
                      </a:r>
                      <a:endParaRPr sz="1100"/>
                    </a:p>
                  </a:txBody>
                  <a:tcPr marL="428625" marR="9525" marT="9525" marB="0" anchor="ctr"/>
                </a:tc>
              </a:tr>
              <a:tr h="175260">
                <a:tc>
                  <a:txBody>
                    <a:bodyPr wrap="square"/>
                    <a:lstStyle/>
                    <a:p>
                      <a:pPr algn="l"/>
                      <a:r>
                        <a:rPr sz="1100" b="0" i="0">
                          <a:solidFill>
                            <a:srgbClr val="0070C0"/>
                          </a:solidFill>
                          <a:latin typeface="Calibri"/>
                        </a:rPr>
                        <a:t>1.6.</a:t>
                      </a:r>
                      <a:r>
                        <a:rPr sz="700" b="0" i="0">
                          <a:solidFill>
                            <a:srgbClr val="0070C0"/>
                          </a:solidFill>
                          <a:latin typeface="Times New Roman"/>
                        </a:rPr>
                        <a:t>    </a:t>
                      </a:r>
                      <a:r>
                        <a:rPr sz="1100" b="0" i="0">
                          <a:solidFill>
                            <a:srgbClr val="0070C0"/>
                          </a:solidFill>
                          <a:latin typeface="Calibri"/>
                        </a:rPr>
                        <a:t>Per Capita Spending By Country</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Sweet muffins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Fruit muffins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Chocolate and cocoa muffins</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Nut and seed muffins</a:t>
                      </a:r>
                      <a:endParaRPr sz="1100"/>
                    </a:p>
                  </a:txBody>
                  <a:tcPr marL="1028700" marR="9525" marT="9525" marB="0" anchor="ctr"/>
                </a:tc>
              </a:tr>
              <a:tr h="175260">
                <a:tc>
                  <a:txBody>
                    <a:bodyPr wrap="square"/>
                    <a:lstStyle/>
                    <a:p>
                      <a:pPr algn="l"/>
                      <a:r>
                        <a:rPr sz="1100" b="0" i="1">
                          <a:solidFill>
                            <a:srgbClr val="000000"/>
                          </a:solidFill>
                          <a:latin typeface="Calibri"/>
                        </a:rPr>
                        <a:t>3.5.1.4.</a:t>
                      </a:r>
                      <a:r>
                        <a:rPr sz="700" b="0" i="1">
                          <a:solidFill>
                            <a:srgbClr val="000000"/>
                          </a:solidFill>
                          <a:latin typeface="Times New Roman"/>
                        </a:rPr>
                        <a:t>    </a:t>
                      </a:r>
                      <a:r>
                        <a:rPr sz="1100" b="0" i="1">
                          <a:solidFill>
                            <a:srgbClr val="000000"/>
                          </a:solidFill>
                          <a:latin typeface="Calibri"/>
                        </a:rPr>
                        <a:t>Plain and vanilla muffins</a:t>
                      </a:r>
                      <a:endParaRPr sz="1100"/>
                    </a:p>
                  </a:txBody>
                  <a:tcPr marL="1028700" marR="9525" marT="9525" marB="0" anchor="ctr"/>
                </a:tc>
              </a:tr>
              <a:tr h="175260">
                <a:tc>
                  <a:txBody>
                    <a:bodyPr wrap="square"/>
                    <a:lstStyle/>
                    <a:p>
                      <a:pPr algn="l"/>
                      <a:r>
                        <a:rPr sz="1100" b="0" i="1">
                          <a:solidFill>
                            <a:srgbClr val="000000"/>
                          </a:solidFill>
                          <a:latin typeface="Calibri"/>
                        </a:rPr>
                        <a:t>3.5.1.5.</a:t>
                      </a:r>
                      <a:r>
                        <a:rPr sz="700" b="0" i="1">
                          <a:solidFill>
                            <a:srgbClr val="000000"/>
                          </a:solidFill>
                          <a:latin typeface="Times New Roman"/>
                        </a:rPr>
                        <a:t>    </a:t>
                      </a:r>
                      <a:r>
                        <a:rPr sz="1100" b="0" i="1">
                          <a:solidFill>
                            <a:srgbClr val="000000"/>
                          </a:solidFill>
                          <a:latin typeface="Calibri"/>
                        </a:rPr>
                        <a:t>Spice-flavoured muffins</a:t>
                      </a:r>
                      <a:endParaRPr sz="1100"/>
                    </a:p>
                  </a:txBody>
                  <a:tcPr marL="1028700" marR="9525" marT="9525" marB="0" anchor="ctr"/>
                </a:tc>
              </a:tr>
              <a:tr h="175260">
                <a:tc>
                  <a:txBody>
                    <a:bodyPr wrap="square"/>
                    <a:lstStyle/>
                    <a:p>
                      <a:pPr algn="l"/>
                      <a:r>
                        <a:rPr sz="1100" b="0" i="1">
                          <a:solidFill>
                            <a:srgbClr val="000000"/>
                          </a:solidFill>
                          <a:latin typeface="Calibri"/>
                        </a:rPr>
                        <a:t>3.5.1.6.</a:t>
                      </a:r>
                      <a:r>
                        <a:rPr sz="700" b="0" i="1">
                          <a:solidFill>
                            <a:srgbClr val="000000"/>
                          </a:solidFill>
                          <a:latin typeface="Times New Roman"/>
                        </a:rPr>
                        <a:t>    </a:t>
                      </a:r>
                      <a:r>
                        <a:rPr sz="1100" b="0" i="1">
                          <a:solidFill>
                            <a:srgbClr val="000000"/>
                          </a:solidFill>
                          <a:latin typeface="Calibri"/>
                        </a:rPr>
                        <a:t>Other sweet muffins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Savoury muffins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Cheese muffins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Vegetable muffins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Meat-containing muffins</a:t>
                      </a:r>
                      <a:endParaRPr sz="1100"/>
                    </a:p>
                  </a:txBody>
                  <a:tcPr marL="1028700" marR="9525" marT="9525" marB="0" anchor="ctr"/>
                </a:tc>
              </a:tr>
              <a:tr h="175260">
                <a:tc>
                  <a:txBody>
                    <a:bodyPr wrap="square"/>
                    <a:lstStyle/>
                    <a:p>
                      <a:pPr algn="l"/>
                      <a:r>
                        <a:rPr sz="1100" b="0" i="1">
                          <a:solidFill>
                            <a:srgbClr val="000000"/>
                          </a:solidFill>
                          <a:latin typeface="Calibri"/>
                        </a:rPr>
                        <a:t>3.5.2.4.</a:t>
                      </a:r>
                      <a:r>
                        <a:rPr sz="700" b="0" i="1">
                          <a:solidFill>
                            <a:srgbClr val="000000"/>
                          </a:solidFill>
                          <a:latin typeface="Times New Roman"/>
                        </a:rPr>
                        <a:t>    </a:t>
                      </a:r>
                      <a:r>
                        <a:rPr sz="1100" b="0" i="1">
                          <a:solidFill>
                            <a:srgbClr val="000000"/>
                          </a:solidFill>
                          <a:latin typeface="Calibri"/>
                        </a:rPr>
                        <a:t>Herb and spice muffins</a:t>
                      </a:r>
                      <a:endParaRPr sz="1100"/>
                    </a:p>
                  </a:txBody>
                  <a:tcPr marL="1028700" marR="9525" marT="9525" marB="0" anchor="ctr"/>
                </a:tc>
              </a:tr>
              <a:tr h="175260">
                <a:tc>
                  <a:txBody>
                    <a:bodyPr wrap="square"/>
                    <a:lstStyle/>
                    <a:p>
                      <a:pPr algn="l"/>
                      <a:r>
                        <a:rPr sz="1100" b="0" i="1">
                          <a:solidFill>
                            <a:srgbClr val="000000"/>
                          </a:solidFill>
                          <a:latin typeface="Calibri"/>
                        </a:rPr>
                        <a:t>3.5.2.5.</a:t>
                      </a:r>
                      <a:r>
                        <a:rPr sz="700" b="0" i="1">
                          <a:solidFill>
                            <a:srgbClr val="000000"/>
                          </a:solidFill>
                          <a:latin typeface="Times New Roman"/>
                        </a:rPr>
                        <a:t>    </a:t>
                      </a:r>
                      <a:r>
                        <a:rPr sz="1100" b="0" i="1">
                          <a:solidFill>
                            <a:srgbClr val="000000"/>
                          </a:solidFill>
                          <a:latin typeface="Calibri"/>
                        </a:rPr>
                        <a:t>Other savoury muffins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Flavour</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Sweet Muffins Flavours</a:t>
                      </a:r>
                      <a:endParaRPr sz="1100"/>
                    </a:p>
                  </a:txBody>
                  <a:tcPr marL="771525" marR="9525" marT="9525" marB="0" anchor="ctr"/>
                </a:tc>
              </a:tr>
              <a:tr h="175260">
                <a:tc>
                  <a:txBody>
                    <a:bodyPr wrap="square"/>
                    <a:lstStyle/>
                    <a:p>
                      <a:pPr algn="l"/>
                      <a:r>
                        <a:rPr sz="1100" b="0" i="1">
                          <a:solidFill>
                            <a:srgbClr val="000000"/>
                          </a:solidFill>
                          <a:latin typeface="Calibri"/>
                        </a:rPr>
                        <a:t>4.5.1.1.</a:t>
                      </a:r>
                      <a:r>
                        <a:rPr sz="700" b="0" i="1">
                          <a:solidFill>
                            <a:srgbClr val="000000"/>
                          </a:solidFill>
                          <a:latin typeface="Times New Roman"/>
                        </a:rPr>
                        <a:t>    </a:t>
                      </a:r>
                      <a:r>
                        <a:rPr sz="1100" b="0" i="1">
                          <a:solidFill>
                            <a:srgbClr val="000000"/>
                          </a:solidFill>
                          <a:latin typeface="Calibri"/>
                        </a:rPr>
                        <a:t>Fruit-based</a:t>
                      </a:r>
                      <a:endParaRPr sz="1100"/>
                    </a:p>
                  </a:txBody>
                  <a:tcPr marL="1028700" marR="9525" marT="9525" marB="0" anchor="ctr"/>
                </a:tc>
              </a:tr>
              <a:tr h="175260">
                <a:tc>
                  <a:txBody>
                    <a:bodyPr wrap="square"/>
                    <a:lstStyle/>
                    <a:p>
                      <a:pPr algn="l"/>
                      <a:r>
                        <a:rPr sz="1100" b="0" i="1">
                          <a:solidFill>
                            <a:srgbClr val="000000"/>
                          </a:solidFill>
                          <a:latin typeface="Calibri"/>
                        </a:rPr>
                        <a:t>4.5.1.1.1.</a:t>
                      </a:r>
                      <a:r>
                        <a:rPr sz="700" b="0" i="1">
                          <a:solidFill>
                            <a:srgbClr val="000000"/>
                          </a:solidFill>
                          <a:latin typeface="Times New Roman"/>
                        </a:rPr>
                        <a:t>    </a:t>
                      </a:r>
                      <a:r>
                        <a:rPr sz="1100" b="0" i="1">
                          <a:solidFill>
                            <a:srgbClr val="000000"/>
                          </a:solidFill>
                          <a:latin typeface="Calibri"/>
                        </a:rPr>
                        <a:t>Blueberry</a:t>
                      </a:r>
                      <a:endParaRPr sz="1100"/>
                    </a:p>
                  </a:txBody>
                  <a:tcPr marL="1257300" marR="9525" marT="9525" marB="0" anchor="ctr"/>
                </a:tc>
              </a:tr>
              <a:tr h="175260">
                <a:tc>
                  <a:txBody>
                    <a:bodyPr wrap="square"/>
                    <a:lstStyle/>
                    <a:p>
                      <a:pPr algn="l"/>
                      <a:r>
                        <a:rPr sz="1100" b="0" i="1">
                          <a:solidFill>
                            <a:srgbClr val="000000"/>
                          </a:solidFill>
                          <a:latin typeface="Calibri"/>
                        </a:rPr>
                        <a:t>4.5.1.1.2.</a:t>
                      </a:r>
                      <a:r>
                        <a:rPr sz="700" b="0" i="1">
                          <a:solidFill>
                            <a:srgbClr val="000000"/>
                          </a:solidFill>
                          <a:latin typeface="Times New Roman"/>
                        </a:rPr>
                        <a:t>    </a:t>
                      </a:r>
                      <a:r>
                        <a:rPr sz="1100" b="0" i="1">
                          <a:solidFill>
                            <a:srgbClr val="000000"/>
                          </a:solidFill>
                          <a:latin typeface="Calibri"/>
                        </a:rPr>
                        <a:t>Banana</a:t>
                      </a:r>
                      <a:endParaRPr sz="1100"/>
                    </a:p>
                  </a:txBody>
                  <a:tcPr marL="1257300" marR="9525" marT="9525" marB="0" anchor="ctr"/>
                </a:tc>
              </a:tr>
              <a:tr h="175260">
                <a:tc>
                  <a:txBody>
                    <a:bodyPr wrap="square"/>
                    <a:lstStyle/>
                    <a:p>
                      <a:pPr algn="l"/>
                      <a:r>
                        <a:rPr sz="1100" b="0" i="1">
                          <a:solidFill>
                            <a:srgbClr val="000000"/>
                          </a:solidFill>
                          <a:latin typeface="Calibri"/>
                        </a:rPr>
                        <a:t>4.5.1.1.3.</a:t>
                      </a:r>
                      <a:r>
                        <a:rPr sz="700" b="0" i="1">
                          <a:solidFill>
                            <a:srgbClr val="000000"/>
                          </a:solidFill>
                          <a:latin typeface="Times New Roman"/>
                        </a:rPr>
                        <a:t>    </a:t>
                      </a:r>
                      <a:r>
                        <a:rPr sz="1100" b="0" i="1">
                          <a:solidFill>
                            <a:srgbClr val="000000"/>
                          </a:solidFill>
                          <a:latin typeface="Calibri"/>
                        </a:rPr>
                        <a:t>Apple</a:t>
                      </a:r>
                      <a:endParaRPr sz="1100"/>
                    </a:p>
                  </a:txBody>
                  <a:tcPr marL="1257300" marR="9525" marT="9525" marB="0" anchor="ctr"/>
                </a:tc>
              </a:tr>
              <a:tr h="175260">
                <a:tc>
                  <a:txBody>
                    <a:bodyPr wrap="square"/>
                    <a:lstStyle/>
                    <a:p>
                      <a:pPr algn="l"/>
                      <a:r>
                        <a:rPr sz="1100" b="0" i="1">
                          <a:solidFill>
                            <a:srgbClr val="000000"/>
                          </a:solidFill>
                          <a:latin typeface="Calibri"/>
                        </a:rPr>
                        <a:t>4.5.1.1.4.</a:t>
                      </a:r>
                      <a:r>
                        <a:rPr sz="700" b="0" i="1">
                          <a:solidFill>
                            <a:srgbClr val="000000"/>
                          </a:solidFill>
                          <a:latin typeface="Times New Roman"/>
                        </a:rPr>
                        <a:t>    </a:t>
                      </a:r>
                      <a:r>
                        <a:rPr sz="1100" b="0" i="1">
                          <a:solidFill>
                            <a:srgbClr val="000000"/>
                          </a:solidFill>
                          <a:latin typeface="Calibri"/>
                        </a:rPr>
                        <a:t>Lemon and citrus</a:t>
                      </a:r>
                      <a:endParaRPr sz="1100"/>
                    </a:p>
                  </a:txBody>
                  <a:tcPr marL="12573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4.5.1.1.5.</a:t>
                      </a:r>
                      <a:r>
                        <a:rPr sz="700" b="0" i="1">
                          <a:solidFill>
                            <a:srgbClr val="000000"/>
                          </a:solidFill>
                          <a:latin typeface="Times New Roman"/>
                        </a:rPr>
                        <a:t>    </a:t>
                      </a:r>
                      <a:r>
                        <a:rPr sz="1100" b="0" i="1">
                          <a:solidFill>
                            <a:srgbClr val="000000"/>
                          </a:solidFill>
                          <a:latin typeface="Calibri"/>
                        </a:rPr>
                        <a:t>Strawberry and raspberry</a:t>
                      </a:r>
                      <a:endParaRPr sz="1100"/>
                    </a:p>
                  </a:txBody>
                  <a:tcPr marL="1257300" marR="9525" marT="9525" marB="0" anchor="ctr"/>
                </a:tc>
              </a:tr>
              <a:tr h="175260">
                <a:tc>
                  <a:txBody>
                    <a:bodyPr wrap="square"/>
                    <a:lstStyle/>
                    <a:p>
                      <a:pPr algn="l"/>
                      <a:r>
                        <a:rPr sz="1100" b="0" i="1">
                          <a:solidFill>
                            <a:srgbClr val="000000"/>
                          </a:solidFill>
                          <a:latin typeface="Calibri"/>
                        </a:rPr>
                        <a:t>4.5.1.1.6.</a:t>
                      </a:r>
                      <a:r>
                        <a:rPr sz="700" b="0" i="1">
                          <a:solidFill>
                            <a:srgbClr val="000000"/>
                          </a:solidFill>
                          <a:latin typeface="Times New Roman"/>
                        </a:rPr>
                        <a:t>    </a:t>
                      </a:r>
                      <a:r>
                        <a:rPr sz="1100" b="0" i="1">
                          <a:solidFill>
                            <a:srgbClr val="000000"/>
                          </a:solidFill>
                          <a:latin typeface="Calibri"/>
                        </a:rPr>
                        <a:t>Cranberry</a:t>
                      </a:r>
                      <a:endParaRPr sz="1100"/>
                    </a:p>
                  </a:txBody>
                  <a:tcPr marL="1257300" marR="9525" marT="9525" marB="0" anchor="ctr"/>
                </a:tc>
              </a:tr>
              <a:tr h="175260">
                <a:tc>
                  <a:txBody>
                    <a:bodyPr wrap="square"/>
                    <a:lstStyle/>
                    <a:p>
                      <a:pPr algn="l"/>
                      <a:r>
                        <a:rPr sz="1100" b="0" i="1">
                          <a:solidFill>
                            <a:srgbClr val="000000"/>
                          </a:solidFill>
                          <a:latin typeface="Calibri"/>
                        </a:rPr>
                        <a:t>4.5.1.1.7.</a:t>
                      </a:r>
                      <a:r>
                        <a:rPr sz="700" b="0" i="1">
                          <a:solidFill>
                            <a:srgbClr val="000000"/>
                          </a:solidFill>
                          <a:latin typeface="Times New Roman"/>
                        </a:rPr>
                        <a:t>    </a:t>
                      </a:r>
                      <a:r>
                        <a:rPr sz="1100" b="0" i="1">
                          <a:solidFill>
                            <a:srgbClr val="000000"/>
                          </a:solidFill>
                          <a:latin typeface="Calibri"/>
                        </a:rPr>
                        <a:t>Mixed fruit</a:t>
                      </a:r>
                      <a:endParaRPr sz="1100"/>
                    </a:p>
                  </a:txBody>
                  <a:tcPr marL="1257300" marR="9525" marT="9525" marB="0" anchor="ctr"/>
                </a:tc>
              </a:tr>
              <a:tr h="175260">
                <a:tc>
                  <a:txBody>
                    <a:bodyPr wrap="square"/>
                    <a:lstStyle/>
                    <a:p>
                      <a:pPr algn="l"/>
                      <a:r>
                        <a:rPr sz="1100" b="0" i="1">
                          <a:solidFill>
                            <a:srgbClr val="000000"/>
                          </a:solidFill>
                          <a:latin typeface="Calibri"/>
                        </a:rPr>
                        <a:t>4.5.1.1.8.</a:t>
                      </a:r>
                      <a:r>
                        <a:rPr sz="700" b="0" i="1">
                          <a:solidFill>
                            <a:srgbClr val="000000"/>
                          </a:solidFill>
                          <a:latin typeface="Times New Roman"/>
                        </a:rPr>
                        <a:t>    </a:t>
                      </a:r>
                      <a:r>
                        <a:rPr sz="1100" b="0" i="1">
                          <a:solidFill>
                            <a:srgbClr val="000000"/>
                          </a:solidFill>
                          <a:latin typeface="Calibri"/>
                        </a:rPr>
                        <a:t>Other fruit flavours</a:t>
                      </a:r>
                      <a:endParaRPr sz="1100"/>
                    </a:p>
                  </a:txBody>
                  <a:tcPr marL="1257300" marR="9525" marT="9525" marB="0" anchor="ctr"/>
                </a:tc>
              </a:tr>
              <a:tr h="175260">
                <a:tc>
                  <a:txBody>
                    <a:bodyPr wrap="square"/>
                    <a:lstStyle/>
                    <a:p>
                      <a:pPr algn="l"/>
                      <a:r>
                        <a:rPr sz="1100" b="0" i="1">
                          <a:solidFill>
                            <a:srgbClr val="000000"/>
                          </a:solidFill>
                          <a:latin typeface="Calibri"/>
                        </a:rPr>
                        <a:t>4.5.1.2.</a:t>
                      </a:r>
                      <a:r>
                        <a:rPr sz="700" b="0" i="1">
                          <a:solidFill>
                            <a:srgbClr val="000000"/>
                          </a:solidFill>
                          <a:latin typeface="Times New Roman"/>
                        </a:rPr>
                        <a:t>    </a:t>
                      </a:r>
                      <a:r>
                        <a:rPr sz="1100" b="0" i="1">
                          <a:solidFill>
                            <a:srgbClr val="000000"/>
                          </a:solidFill>
                          <a:latin typeface="Calibri"/>
                        </a:rPr>
                        <a:t>Chocolate-based</a:t>
                      </a:r>
                      <a:endParaRPr sz="1100"/>
                    </a:p>
                  </a:txBody>
                  <a:tcPr marL="1028700" marR="9525" marT="9525" marB="0" anchor="ctr"/>
                </a:tc>
              </a:tr>
              <a:tr h="175260">
                <a:tc>
                  <a:txBody>
                    <a:bodyPr wrap="square"/>
                    <a:lstStyle/>
                    <a:p>
                      <a:pPr algn="l"/>
                      <a:r>
                        <a:rPr sz="1100" b="0" i="1">
                          <a:solidFill>
                            <a:srgbClr val="000000"/>
                          </a:solidFill>
                          <a:latin typeface="Calibri"/>
                        </a:rPr>
                        <a:t>4.5.1.2.1.</a:t>
                      </a:r>
                      <a:r>
                        <a:rPr sz="700" b="0" i="1">
                          <a:solidFill>
                            <a:srgbClr val="000000"/>
                          </a:solidFill>
                          <a:latin typeface="Times New Roman"/>
                        </a:rPr>
                        <a:t>    </a:t>
                      </a:r>
                      <a:r>
                        <a:rPr sz="1100" b="0" i="1">
                          <a:solidFill>
                            <a:srgbClr val="000000"/>
                          </a:solidFill>
                          <a:latin typeface="Calibri"/>
                        </a:rPr>
                        <a:t>Chocolate chip</a:t>
                      </a:r>
                      <a:endParaRPr sz="1100"/>
                    </a:p>
                  </a:txBody>
                  <a:tcPr marL="1257300" marR="9525" marT="9525" marB="0" anchor="ctr"/>
                </a:tc>
              </a:tr>
              <a:tr h="175260">
                <a:tc>
                  <a:txBody>
                    <a:bodyPr wrap="square"/>
                    <a:lstStyle/>
                    <a:p>
                      <a:pPr algn="l"/>
                      <a:r>
                        <a:rPr sz="1100" b="0" i="1">
                          <a:solidFill>
                            <a:srgbClr val="000000"/>
                          </a:solidFill>
                          <a:latin typeface="Calibri"/>
                        </a:rPr>
                        <a:t>4.5.1.2.2.</a:t>
                      </a:r>
                      <a:r>
                        <a:rPr sz="700" b="0" i="1">
                          <a:solidFill>
                            <a:srgbClr val="000000"/>
                          </a:solidFill>
                          <a:latin typeface="Times New Roman"/>
                        </a:rPr>
                        <a:t>    </a:t>
                      </a:r>
                      <a:r>
                        <a:rPr sz="1100" b="0" i="1">
                          <a:solidFill>
                            <a:srgbClr val="000000"/>
                          </a:solidFill>
                          <a:latin typeface="Calibri"/>
                        </a:rPr>
                        <a:t>Double chocolate</a:t>
                      </a:r>
                      <a:endParaRPr sz="1100"/>
                    </a:p>
                  </a:txBody>
                  <a:tcPr marL="1257300" marR="9525" marT="9525" marB="0" anchor="ctr"/>
                </a:tc>
              </a:tr>
              <a:tr h="175260">
                <a:tc>
                  <a:txBody>
                    <a:bodyPr wrap="square"/>
                    <a:lstStyle/>
                    <a:p>
                      <a:pPr algn="l"/>
                      <a:r>
                        <a:rPr sz="1100" b="0" i="1">
                          <a:solidFill>
                            <a:srgbClr val="000000"/>
                          </a:solidFill>
                          <a:latin typeface="Calibri"/>
                        </a:rPr>
                        <a:t>4.5.1.2.3.</a:t>
                      </a:r>
                      <a:r>
                        <a:rPr sz="700" b="0" i="1">
                          <a:solidFill>
                            <a:srgbClr val="000000"/>
                          </a:solidFill>
                          <a:latin typeface="Times New Roman"/>
                        </a:rPr>
                        <a:t>    </a:t>
                      </a:r>
                      <a:r>
                        <a:rPr sz="1100" b="0" i="1">
                          <a:solidFill>
                            <a:srgbClr val="000000"/>
                          </a:solidFill>
                          <a:latin typeface="Calibri"/>
                        </a:rPr>
                        <a:t>Triple chocolate</a:t>
                      </a:r>
                      <a:endParaRPr sz="1100"/>
                    </a:p>
                  </a:txBody>
                  <a:tcPr marL="1257300" marR="9525" marT="9525" marB="0" anchor="ctr"/>
                </a:tc>
              </a:tr>
              <a:tr h="175260">
                <a:tc>
                  <a:txBody>
                    <a:bodyPr wrap="square"/>
                    <a:lstStyle/>
                    <a:p>
                      <a:pPr algn="l"/>
                      <a:r>
                        <a:rPr sz="1100" b="0" i="1">
                          <a:solidFill>
                            <a:srgbClr val="000000"/>
                          </a:solidFill>
                          <a:latin typeface="Calibri"/>
                        </a:rPr>
                        <a:t>4.5.1.2.4.</a:t>
                      </a:r>
                      <a:r>
                        <a:rPr sz="700" b="0" i="1">
                          <a:solidFill>
                            <a:srgbClr val="000000"/>
                          </a:solidFill>
                          <a:latin typeface="Times New Roman"/>
                        </a:rPr>
                        <a:t>    </a:t>
                      </a:r>
                      <a:r>
                        <a:rPr sz="1100" b="0" i="1">
                          <a:solidFill>
                            <a:srgbClr val="000000"/>
                          </a:solidFill>
                          <a:latin typeface="Calibri"/>
                        </a:rPr>
                        <a:t>Chocolate and fruit</a:t>
                      </a:r>
                      <a:endParaRPr sz="1100"/>
                    </a:p>
                  </a:txBody>
                  <a:tcPr marL="1257300" marR="9525" marT="9525" marB="0" anchor="ctr"/>
                </a:tc>
              </a:tr>
              <a:tr h="175260">
                <a:tc>
                  <a:txBody>
                    <a:bodyPr wrap="square"/>
                    <a:lstStyle/>
                    <a:p>
                      <a:pPr algn="l"/>
                      <a:r>
                        <a:rPr sz="1100" b="0" i="1">
                          <a:solidFill>
                            <a:srgbClr val="000000"/>
                          </a:solidFill>
                          <a:latin typeface="Calibri"/>
                        </a:rPr>
                        <a:t>4.5.1.2.5.</a:t>
                      </a:r>
                      <a:r>
                        <a:rPr sz="700" b="0" i="1">
                          <a:solidFill>
                            <a:srgbClr val="000000"/>
                          </a:solidFill>
                          <a:latin typeface="Times New Roman"/>
                        </a:rPr>
                        <a:t>    </a:t>
                      </a:r>
                      <a:r>
                        <a:rPr sz="1100" b="0" i="1">
                          <a:solidFill>
                            <a:srgbClr val="000000"/>
                          </a:solidFill>
                          <a:latin typeface="Calibri"/>
                        </a:rPr>
                        <a:t>Chocolate and nut</a:t>
                      </a:r>
                      <a:endParaRPr sz="1100"/>
                    </a:p>
                  </a:txBody>
                  <a:tcPr marL="1257300" marR="9525" marT="9525" marB="0" anchor="ctr"/>
                </a:tc>
              </a:tr>
              <a:tr h="175260">
                <a:tc>
                  <a:txBody>
                    <a:bodyPr wrap="square"/>
                    <a:lstStyle/>
                    <a:p>
                      <a:pPr algn="l"/>
                      <a:r>
                        <a:rPr sz="1100" b="0" i="1">
                          <a:solidFill>
                            <a:srgbClr val="000000"/>
                          </a:solidFill>
                          <a:latin typeface="Calibri"/>
                        </a:rPr>
                        <a:t>4.5.1.3.</a:t>
                      </a:r>
                      <a:r>
                        <a:rPr sz="700" b="0" i="1">
                          <a:solidFill>
                            <a:srgbClr val="000000"/>
                          </a:solidFill>
                          <a:latin typeface="Times New Roman"/>
                        </a:rPr>
                        <a:t>    </a:t>
                      </a:r>
                      <a:r>
                        <a:rPr sz="1100" b="0" i="1">
                          <a:solidFill>
                            <a:srgbClr val="000000"/>
                          </a:solidFill>
                          <a:latin typeface="Calibri"/>
                        </a:rPr>
                        <a:t>Nut and seed-based</a:t>
                      </a:r>
                      <a:endParaRPr sz="1100"/>
                    </a:p>
                  </a:txBody>
                  <a:tcPr marL="1028700" marR="9525" marT="9525" marB="0" anchor="ctr"/>
                </a:tc>
              </a:tr>
              <a:tr h="175260">
                <a:tc>
                  <a:txBody>
                    <a:bodyPr wrap="square"/>
                    <a:lstStyle/>
                    <a:p>
                      <a:pPr algn="l"/>
                      <a:r>
                        <a:rPr sz="1100" b="0" i="1">
                          <a:solidFill>
                            <a:srgbClr val="000000"/>
                          </a:solidFill>
                          <a:latin typeface="Calibri"/>
                        </a:rPr>
                        <a:t>4.5.1.3.1.</a:t>
                      </a:r>
                      <a:r>
                        <a:rPr sz="700" b="0" i="1">
                          <a:solidFill>
                            <a:srgbClr val="000000"/>
                          </a:solidFill>
                          <a:latin typeface="Times New Roman"/>
                        </a:rPr>
                        <a:t>    </a:t>
                      </a:r>
                      <a:r>
                        <a:rPr sz="1100" b="0" i="1">
                          <a:solidFill>
                            <a:srgbClr val="000000"/>
                          </a:solidFill>
                          <a:latin typeface="Calibri"/>
                        </a:rPr>
                        <a:t>Walnut</a:t>
                      </a:r>
                      <a:endParaRPr sz="1100"/>
                    </a:p>
                  </a:txBody>
                  <a:tcPr marL="1257300" marR="9525" marT="9525" marB="0" anchor="ctr"/>
                </a:tc>
              </a:tr>
              <a:tr h="175260">
                <a:tc>
                  <a:txBody>
                    <a:bodyPr wrap="square"/>
                    <a:lstStyle/>
                    <a:p>
                      <a:pPr algn="l"/>
                      <a:r>
                        <a:rPr sz="1100" b="0" i="1">
                          <a:solidFill>
                            <a:srgbClr val="000000"/>
                          </a:solidFill>
                          <a:latin typeface="Calibri"/>
                        </a:rPr>
                        <a:t>4.5.1.3.2.</a:t>
                      </a:r>
                      <a:r>
                        <a:rPr sz="700" b="0" i="1">
                          <a:solidFill>
                            <a:srgbClr val="000000"/>
                          </a:solidFill>
                          <a:latin typeface="Times New Roman"/>
                        </a:rPr>
                        <a:t>    </a:t>
                      </a:r>
                      <a:r>
                        <a:rPr sz="1100" b="0" i="1">
                          <a:solidFill>
                            <a:srgbClr val="000000"/>
                          </a:solidFill>
                          <a:latin typeface="Calibri"/>
                        </a:rPr>
                        <a:t>Almond</a:t>
                      </a:r>
                      <a:endParaRPr sz="1100"/>
                    </a:p>
                  </a:txBody>
                  <a:tcPr marL="1257300" marR="9525" marT="9525" marB="0" anchor="ctr"/>
                </a:tc>
              </a:tr>
              <a:tr h="175260">
                <a:tc>
                  <a:txBody>
                    <a:bodyPr wrap="square"/>
                    <a:lstStyle/>
                    <a:p>
                      <a:pPr algn="l"/>
                      <a:r>
                        <a:rPr sz="1100" b="0" i="1">
                          <a:solidFill>
                            <a:srgbClr val="000000"/>
                          </a:solidFill>
                          <a:latin typeface="Calibri"/>
                        </a:rPr>
                        <a:t>4.5.1.3.3.</a:t>
                      </a:r>
                      <a:r>
                        <a:rPr sz="700" b="0" i="1">
                          <a:solidFill>
                            <a:srgbClr val="000000"/>
                          </a:solidFill>
                          <a:latin typeface="Times New Roman"/>
                        </a:rPr>
                        <a:t>    </a:t>
                      </a:r>
                      <a:r>
                        <a:rPr sz="1100" b="0" i="1">
                          <a:solidFill>
                            <a:srgbClr val="000000"/>
                          </a:solidFill>
                          <a:latin typeface="Calibri"/>
                        </a:rPr>
                        <a:t>Pecan</a:t>
                      </a:r>
                      <a:endParaRPr sz="1100"/>
                    </a:p>
                  </a:txBody>
                  <a:tcPr marL="1257300" marR="9525" marT="9525" marB="0" anchor="ctr"/>
                </a:tc>
              </a:tr>
              <a:tr h="175260">
                <a:tc>
                  <a:txBody>
                    <a:bodyPr wrap="square"/>
                    <a:lstStyle/>
                    <a:p>
                      <a:pPr algn="l"/>
                      <a:r>
                        <a:rPr sz="1100" b="0" i="1">
                          <a:solidFill>
                            <a:srgbClr val="000000"/>
                          </a:solidFill>
                          <a:latin typeface="Calibri"/>
                        </a:rPr>
                        <a:t>4.5.1.3.4.</a:t>
                      </a:r>
                      <a:r>
                        <a:rPr sz="700" b="0" i="1">
                          <a:solidFill>
                            <a:srgbClr val="000000"/>
                          </a:solidFill>
                          <a:latin typeface="Times New Roman"/>
                        </a:rPr>
                        <a:t>    </a:t>
                      </a:r>
                      <a:r>
                        <a:rPr sz="1100" b="0" i="1">
                          <a:solidFill>
                            <a:srgbClr val="000000"/>
                          </a:solidFill>
                          <a:latin typeface="Calibri"/>
                        </a:rPr>
                        <a:t>Poppy seed</a:t>
                      </a:r>
                      <a:endParaRPr sz="1100"/>
                    </a:p>
                  </a:txBody>
                  <a:tcPr marL="1257300" marR="9525" marT="9525" marB="0" anchor="ctr"/>
                </a:tc>
              </a:tr>
              <a:tr h="175260">
                <a:tc>
                  <a:txBody>
                    <a:bodyPr wrap="square"/>
                    <a:lstStyle/>
                    <a:p>
                      <a:pPr algn="l"/>
                      <a:r>
                        <a:rPr sz="1100" b="0" i="1">
                          <a:solidFill>
                            <a:srgbClr val="000000"/>
                          </a:solidFill>
                          <a:latin typeface="Calibri"/>
                        </a:rPr>
                        <a:t>4.5.1.3.5.</a:t>
                      </a:r>
                      <a:r>
                        <a:rPr sz="700" b="0" i="1">
                          <a:solidFill>
                            <a:srgbClr val="000000"/>
                          </a:solidFill>
                          <a:latin typeface="Times New Roman"/>
                        </a:rPr>
                        <a:t>    </a:t>
                      </a:r>
                      <a:r>
                        <a:rPr sz="1100" b="0" i="1">
                          <a:solidFill>
                            <a:srgbClr val="000000"/>
                          </a:solidFill>
                          <a:latin typeface="Calibri"/>
                        </a:rPr>
                        <a:t>Mixed nuts and seeds</a:t>
                      </a:r>
                      <a:endParaRPr sz="1100"/>
                    </a:p>
                  </a:txBody>
                  <a:tcPr marL="1257300" marR="9525" marT="9525" marB="0" anchor="ctr"/>
                </a:tc>
              </a:tr>
              <a:tr h="175260">
                <a:tc>
                  <a:txBody>
                    <a:bodyPr wrap="square"/>
                    <a:lstStyle/>
                    <a:p>
                      <a:pPr algn="l"/>
                      <a:r>
                        <a:rPr sz="1100" b="0" i="1">
                          <a:solidFill>
                            <a:srgbClr val="000000"/>
                          </a:solidFill>
                          <a:latin typeface="Calibri"/>
                        </a:rPr>
                        <a:t>4.5.1.4.</a:t>
                      </a:r>
                      <a:r>
                        <a:rPr sz="700" b="0" i="1">
                          <a:solidFill>
                            <a:srgbClr val="000000"/>
                          </a:solidFill>
                          <a:latin typeface="Times New Roman"/>
                        </a:rPr>
                        <a:t>    </a:t>
                      </a:r>
                      <a:r>
                        <a:rPr sz="1100" b="0" i="1">
                          <a:solidFill>
                            <a:srgbClr val="000000"/>
                          </a:solidFill>
                          <a:latin typeface="Calibri"/>
                        </a:rPr>
                        <a:t>Plain and classic</a:t>
                      </a:r>
                      <a:endParaRPr sz="1100"/>
                    </a:p>
                  </a:txBody>
                  <a:tcPr marL="1028700" marR="9525" marT="9525" marB="0" anchor="ctr"/>
                </a:tc>
              </a:tr>
              <a:tr h="175260">
                <a:tc>
                  <a:txBody>
                    <a:bodyPr wrap="square"/>
                    <a:lstStyle/>
                    <a:p>
                      <a:pPr algn="l"/>
                      <a:r>
                        <a:rPr sz="1100" b="0" i="1">
                          <a:solidFill>
                            <a:srgbClr val="000000"/>
                          </a:solidFill>
                          <a:latin typeface="Calibri"/>
                        </a:rPr>
                        <a:t>4.5.1.4.1.</a:t>
                      </a:r>
                      <a:r>
                        <a:rPr sz="700" b="0" i="1">
                          <a:solidFill>
                            <a:srgbClr val="000000"/>
                          </a:solidFill>
                          <a:latin typeface="Times New Roman"/>
                        </a:rPr>
                        <a:t>    </a:t>
                      </a:r>
                      <a:r>
                        <a:rPr sz="1100" b="0" i="1">
                          <a:solidFill>
                            <a:srgbClr val="000000"/>
                          </a:solidFill>
                          <a:latin typeface="Calibri"/>
                        </a:rPr>
                        <a:t>Plain</a:t>
                      </a:r>
                      <a:endParaRPr sz="1100"/>
                    </a:p>
                  </a:txBody>
                  <a:tcPr marL="1257300" marR="9525" marT="9525" marB="0" anchor="ctr"/>
                </a:tc>
              </a:tr>
              <a:tr h="175260">
                <a:tc>
                  <a:txBody>
                    <a:bodyPr wrap="square"/>
                    <a:lstStyle/>
                    <a:p>
                      <a:pPr algn="l"/>
                      <a:r>
                        <a:rPr sz="1100" b="0" i="1">
                          <a:solidFill>
                            <a:srgbClr val="000000"/>
                          </a:solidFill>
                          <a:latin typeface="Calibri"/>
                        </a:rPr>
                        <a:t>4.5.1.4.2.</a:t>
                      </a:r>
                      <a:r>
                        <a:rPr sz="700" b="0" i="1">
                          <a:solidFill>
                            <a:srgbClr val="000000"/>
                          </a:solidFill>
                          <a:latin typeface="Times New Roman"/>
                        </a:rPr>
                        <a:t>    </a:t>
                      </a:r>
                      <a:r>
                        <a:rPr sz="1100" b="0" i="1">
                          <a:solidFill>
                            <a:srgbClr val="000000"/>
                          </a:solidFill>
                          <a:latin typeface="Calibri"/>
                        </a:rPr>
                        <a:t>Vanilla</a:t>
                      </a:r>
                      <a:endParaRPr sz="1100"/>
                    </a:p>
                  </a:txBody>
                  <a:tcPr marL="1257300" marR="9525" marT="9525" marB="0" anchor="ctr"/>
                </a:tc>
              </a:tr>
              <a:tr h="175260">
                <a:tc>
                  <a:txBody>
                    <a:bodyPr wrap="square"/>
                    <a:lstStyle/>
                    <a:p>
                      <a:pPr algn="l"/>
                      <a:r>
                        <a:rPr sz="1100" b="0" i="1">
                          <a:solidFill>
                            <a:srgbClr val="000000"/>
                          </a:solidFill>
                          <a:latin typeface="Calibri"/>
                        </a:rPr>
                        <a:t>4.5.1.4.3.</a:t>
                      </a:r>
                      <a:r>
                        <a:rPr sz="700" b="0" i="1">
                          <a:solidFill>
                            <a:srgbClr val="000000"/>
                          </a:solidFill>
                          <a:latin typeface="Times New Roman"/>
                        </a:rPr>
                        <a:t>    </a:t>
                      </a:r>
                      <a:r>
                        <a:rPr sz="1100" b="0" i="1">
                          <a:solidFill>
                            <a:srgbClr val="000000"/>
                          </a:solidFill>
                          <a:latin typeface="Calibri"/>
                        </a:rPr>
                        <a:t>Butter</a:t>
                      </a:r>
                      <a:endParaRPr sz="1100"/>
                    </a:p>
                  </a:txBody>
                  <a:tcPr marL="1257300" marR="9525" marT="9525" marB="0" anchor="ctr"/>
                </a:tc>
              </a:tr>
              <a:tr h="175260">
                <a:tc>
                  <a:txBody>
                    <a:bodyPr wrap="square"/>
                    <a:lstStyle/>
                    <a:p>
                      <a:pPr algn="l"/>
                      <a:r>
                        <a:rPr sz="1100" b="0" i="1">
                          <a:solidFill>
                            <a:srgbClr val="000000"/>
                          </a:solidFill>
                          <a:latin typeface="Calibri"/>
                        </a:rPr>
                        <a:t>4.5.1.5.</a:t>
                      </a:r>
                      <a:r>
                        <a:rPr sz="700" b="0" i="1">
                          <a:solidFill>
                            <a:srgbClr val="000000"/>
                          </a:solidFill>
                          <a:latin typeface="Times New Roman"/>
                        </a:rPr>
                        <a:t>    </a:t>
                      </a:r>
                      <a:r>
                        <a:rPr sz="1100" b="0" i="1">
                          <a:solidFill>
                            <a:srgbClr val="000000"/>
                          </a:solidFill>
                          <a:latin typeface="Calibri"/>
                        </a:rPr>
                        <a:t>Spice and dessert-inspired</a:t>
                      </a:r>
                      <a:endParaRPr sz="1100"/>
                    </a:p>
                  </a:txBody>
                  <a:tcPr marL="1028700" marR="9525" marT="9525" marB="0" anchor="ctr"/>
                </a:tc>
              </a:tr>
              <a:tr h="175260">
                <a:tc>
                  <a:txBody>
                    <a:bodyPr wrap="square"/>
                    <a:lstStyle/>
                    <a:p>
                      <a:pPr algn="l"/>
                      <a:r>
                        <a:rPr sz="1100" b="0" i="1">
                          <a:solidFill>
                            <a:srgbClr val="000000"/>
                          </a:solidFill>
                          <a:latin typeface="Calibri"/>
                        </a:rPr>
                        <a:t>4.5.1.5.1.</a:t>
                      </a:r>
                      <a:r>
                        <a:rPr sz="700" b="0" i="1">
                          <a:solidFill>
                            <a:srgbClr val="000000"/>
                          </a:solidFill>
                          <a:latin typeface="Times New Roman"/>
                        </a:rPr>
                        <a:t>    </a:t>
                      </a:r>
                      <a:r>
                        <a:rPr sz="1100" b="0" i="1">
                          <a:solidFill>
                            <a:srgbClr val="000000"/>
                          </a:solidFill>
                          <a:latin typeface="Calibri"/>
                        </a:rPr>
                        <a:t>Cinnamon</a:t>
                      </a:r>
                      <a:endParaRPr sz="1100"/>
                    </a:p>
                  </a:txBody>
                  <a:tcPr marL="1257300" marR="9525" marT="9525" marB="0" anchor="ctr"/>
                </a:tc>
              </a:tr>
              <a:tr h="175260">
                <a:tc>
                  <a:txBody>
                    <a:bodyPr wrap="square"/>
                    <a:lstStyle/>
                    <a:p>
                      <a:pPr algn="l"/>
                      <a:r>
                        <a:rPr sz="1100" b="0" i="1">
                          <a:solidFill>
                            <a:srgbClr val="000000"/>
                          </a:solidFill>
                          <a:latin typeface="Calibri"/>
                        </a:rPr>
                        <a:t>4.5.1.5.2.</a:t>
                      </a:r>
                      <a:r>
                        <a:rPr sz="700" b="0" i="1">
                          <a:solidFill>
                            <a:srgbClr val="000000"/>
                          </a:solidFill>
                          <a:latin typeface="Times New Roman"/>
                        </a:rPr>
                        <a:t>    </a:t>
                      </a:r>
                      <a:r>
                        <a:rPr sz="1100" b="0" i="1">
                          <a:solidFill>
                            <a:srgbClr val="000000"/>
                          </a:solidFill>
                          <a:latin typeface="Calibri"/>
                        </a:rPr>
                        <a:t>Pumpkin spice</a:t>
                      </a:r>
                      <a:endParaRPr sz="1100"/>
                    </a:p>
                  </a:txBody>
                  <a:tcPr marL="1257300" marR="9525" marT="9525" marB="0" anchor="ctr"/>
                </a:tc>
              </a:tr>
              <a:tr h="175260">
                <a:tc>
                  <a:txBody>
                    <a:bodyPr wrap="square"/>
                    <a:lstStyle/>
                    <a:p>
                      <a:pPr algn="l"/>
                      <a:r>
                        <a:rPr sz="1100" b="0" i="1">
                          <a:solidFill>
                            <a:srgbClr val="000000"/>
                          </a:solidFill>
                          <a:latin typeface="Calibri"/>
                        </a:rPr>
                        <a:t>4.5.1.5.3.</a:t>
                      </a:r>
                      <a:r>
                        <a:rPr sz="700" b="0" i="1">
                          <a:solidFill>
                            <a:srgbClr val="000000"/>
                          </a:solidFill>
                          <a:latin typeface="Times New Roman"/>
                        </a:rPr>
                        <a:t>    </a:t>
                      </a:r>
                      <a:r>
                        <a:rPr sz="1100" b="0" i="1">
                          <a:solidFill>
                            <a:srgbClr val="000000"/>
                          </a:solidFill>
                          <a:latin typeface="Calibri"/>
                        </a:rPr>
                        <a:t>Coffee</a:t>
                      </a:r>
                      <a:endParaRPr sz="1100"/>
                    </a:p>
                  </a:txBody>
                  <a:tcPr marL="1257300" marR="9525" marT="9525" marB="0" anchor="ctr"/>
                </a:tc>
              </a:tr>
              <a:tr h="175260">
                <a:tc>
                  <a:txBody>
                    <a:bodyPr wrap="square"/>
                    <a:lstStyle/>
                    <a:p>
                      <a:pPr algn="l"/>
                      <a:r>
                        <a:rPr sz="1100" b="0" i="1">
                          <a:solidFill>
                            <a:srgbClr val="000000"/>
                          </a:solidFill>
                          <a:latin typeface="Calibri"/>
                        </a:rPr>
                        <a:t>4.5.1.5.4.</a:t>
                      </a:r>
                      <a:r>
                        <a:rPr sz="700" b="0" i="1">
                          <a:solidFill>
                            <a:srgbClr val="000000"/>
                          </a:solidFill>
                          <a:latin typeface="Times New Roman"/>
                        </a:rPr>
                        <a:t>    </a:t>
                      </a:r>
                      <a:r>
                        <a:rPr sz="1100" b="0" i="1">
                          <a:solidFill>
                            <a:srgbClr val="000000"/>
                          </a:solidFill>
                          <a:latin typeface="Calibri"/>
                        </a:rPr>
                        <a:t>Caramel and toffee</a:t>
                      </a:r>
                      <a:endParaRPr sz="1100"/>
                    </a:p>
                  </a:txBody>
                  <a:tcPr marL="1257300" marR="9525" marT="9525" marB="0" anchor="ctr"/>
                </a:tc>
              </a:tr>
              <a:tr h="175260">
                <a:tc>
                  <a:txBody>
                    <a:bodyPr wrap="square"/>
                    <a:lstStyle/>
                    <a:p>
                      <a:pPr algn="l"/>
                      <a:r>
                        <a:rPr sz="1100" b="0" i="1">
                          <a:solidFill>
                            <a:srgbClr val="000000"/>
                          </a:solidFill>
                          <a:latin typeface="Calibri"/>
                        </a:rPr>
                        <a:t>4.5.1.5.5.</a:t>
                      </a:r>
                      <a:r>
                        <a:rPr sz="700" b="0" i="1">
                          <a:solidFill>
                            <a:srgbClr val="000000"/>
                          </a:solidFill>
                          <a:latin typeface="Times New Roman"/>
                        </a:rPr>
                        <a:t>    </a:t>
                      </a:r>
                      <a:r>
                        <a:rPr sz="1100" b="0" i="1">
                          <a:solidFill>
                            <a:srgbClr val="000000"/>
                          </a:solidFill>
                          <a:latin typeface="Calibri"/>
                        </a:rPr>
                        <a:t>Other dessert-inspired flavours</a:t>
                      </a:r>
                      <a:endParaRPr sz="1100"/>
                    </a:p>
                  </a:txBody>
                  <a:tcPr marL="1257300"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Savoury Muffins Flavours</a:t>
                      </a:r>
                      <a:endParaRPr sz="1100"/>
                    </a:p>
                  </a:txBody>
                  <a:tcPr marL="771525" marR="9525" marT="9525" marB="0" anchor="ctr"/>
                </a:tc>
              </a:tr>
              <a:tr h="175260">
                <a:tc>
                  <a:txBody>
                    <a:bodyPr wrap="square"/>
                    <a:lstStyle/>
                    <a:p>
                      <a:pPr algn="l"/>
                      <a:r>
                        <a:rPr sz="1100" b="0" i="1">
                          <a:solidFill>
                            <a:srgbClr val="000000"/>
                          </a:solidFill>
                          <a:latin typeface="Calibri"/>
                        </a:rPr>
                        <a:t>4.5.2.1.</a:t>
                      </a:r>
                      <a:r>
                        <a:rPr sz="700" b="0" i="1">
                          <a:solidFill>
                            <a:srgbClr val="000000"/>
                          </a:solidFill>
                          <a:latin typeface="Times New Roman"/>
                        </a:rPr>
                        <a:t>    </a:t>
                      </a:r>
                      <a:r>
                        <a:rPr sz="1100" b="0" i="1">
                          <a:solidFill>
                            <a:srgbClr val="000000"/>
                          </a:solidFill>
                          <a:latin typeface="Calibri"/>
                        </a:rPr>
                        <a:t>Cheese-based</a:t>
                      </a:r>
                      <a:endParaRPr sz="1100"/>
                    </a:p>
                  </a:txBody>
                  <a:tcPr marL="1028700" marR="9525" marT="9525" marB="0" anchor="ctr"/>
                </a:tc>
              </a:tr>
              <a:tr h="175260">
                <a:tc>
                  <a:txBody>
                    <a:bodyPr wrap="square"/>
                    <a:lstStyle/>
                    <a:p>
                      <a:pPr algn="l"/>
                      <a:r>
                        <a:rPr sz="1100" b="0" i="1">
                          <a:solidFill>
                            <a:srgbClr val="000000"/>
                          </a:solidFill>
                          <a:latin typeface="Calibri"/>
                        </a:rPr>
                        <a:t>4.5.2.1.1.</a:t>
                      </a:r>
                      <a:r>
                        <a:rPr sz="700" b="0" i="1">
                          <a:solidFill>
                            <a:srgbClr val="000000"/>
                          </a:solidFill>
                          <a:latin typeface="Times New Roman"/>
                        </a:rPr>
                        <a:t>    </a:t>
                      </a:r>
                      <a:r>
                        <a:rPr sz="1100" b="0" i="1">
                          <a:solidFill>
                            <a:srgbClr val="000000"/>
                          </a:solidFill>
                          <a:latin typeface="Calibri"/>
                        </a:rPr>
                        <a:t>Cheddar</a:t>
                      </a:r>
                      <a:endParaRPr sz="1100"/>
                    </a:p>
                  </a:txBody>
                  <a:tcPr marL="1257300" marR="9525" marT="9525" marB="0" anchor="ctr"/>
                </a:tc>
              </a:tr>
              <a:tr h="175260">
                <a:tc>
                  <a:txBody>
                    <a:bodyPr wrap="square"/>
                    <a:lstStyle/>
                    <a:p>
                      <a:pPr algn="l"/>
                      <a:r>
                        <a:rPr sz="1100" b="0" i="1">
                          <a:solidFill>
                            <a:srgbClr val="000000"/>
                          </a:solidFill>
                          <a:latin typeface="Calibri"/>
                        </a:rPr>
                        <a:t>4.5.2.1.2.</a:t>
                      </a:r>
                      <a:r>
                        <a:rPr sz="700" b="0" i="1">
                          <a:solidFill>
                            <a:srgbClr val="000000"/>
                          </a:solidFill>
                          <a:latin typeface="Times New Roman"/>
                        </a:rPr>
                        <a:t>    </a:t>
                      </a:r>
                      <a:r>
                        <a:rPr sz="1100" b="0" i="1">
                          <a:solidFill>
                            <a:srgbClr val="000000"/>
                          </a:solidFill>
                          <a:latin typeface="Calibri"/>
                        </a:rPr>
                        <a:t>Parmesan</a:t>
                      </a:r>
                      <a:endParaRPr sz="1100"/>
                    </a:p>
                  </a:txBody>
                  <a:tcPr marL="12573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4.5.2.1.3.</a:t>
                      </a:r>
                      <a:r>
                        <a:rPr sz="700" b="0" i="1">
                          <a:solidFill>
                            <a:srgbClr val="000000"/>
                          </a:solidFill>
                          <a:latin typeface="Times New Roman"/>
                        </a:rPr>
                        <a:t>    </a:t>
                      </a:r>
                      <a:r>
                        <a:rPr sz="1100" b="0" i="1">
                          <a:solidFill>
                            <a:srgbClr val="000000"/>
                          </a:solidFill>
                          <a:latin typeface="Calibri"/>
                        </a:rPr>
                        <a:t>Mixed cheese</a:t>
                      </a:r>
                      <a:endParaRPr sz="1100"/>
                    </a:p>
                  </a:txBody>
                  <a:tcPr marL="1257300" marR="9525" marT="9525" marB="0" anchor="ctr"/>
                </a:tc>
              </a:tr>
              <a:tr h="175260">
                <a:tc>
                  <a:txBody>
                    <a:bodyPr wrap="square"/>
                    <a:lstStyle/>
                    <a:p>
                      <a:pPr algn="l"/>
                      <a:r>
                        <a:rPr sz="1100" b="0" i="1">
                          <a:solidFill>
                            <a:srgbClr val="000000"/>
                          </a:solidFill>
                          <a:latin typeface="Calibri"/>
                        </a:rPr>
                        <a:t>4.5.2.2.</a:t>
                      </a:r>
                      <a:r>
                        <a:rPr sz="700" b="0" i="1">
                          <a:solidFill>
                            <a:srgbClr val="000000"/>
                          </a:solidFill>
                          <a:latin typeface="Times New Roman"/>
                        </a:rPr>
                        <a:t>    </a:t>
                      </a:r>
                      <a:r>
                        <a:rPr sz="1100" b="0" i="1">
                          <a:solidFill>
                            <a:srgbClr val="000000"/>
                          </a:solidFill>
                          <a:latin typeface="Calibri"/>
                        </a:rPr>
                        <a:t>Vegetable-based</a:t>
                      </a:r>
                      <a:endParaRPr sz="1100"/>
                    </a:p>
                  </a:txBody>
                  <a:tcPr marL="1028700" marR="9525" marT="9525" marB="0" anchor="ctr"/>
                </a:tc>
              </a:tr>
              <a:tr h="175260">
                <a:tc>
                  <a:txBody>
                    <a:bodyPr wrap="square"/>
                    <a:lstStyle/>
                    <a:p>
                      <a:pPr algn="l"/>
                      <a:r>
                        <a:rPr sz="1100" b="0" i="1">
                          <a:solidFill>
                            <a:srgbClr val="000000"/>
                          </a:solidFill>
                          <a:latin typeface="Calibri"/>
                        </a:rPr>
                        <a:t>4.5.2.2.1.</a:t>
                      </a:r>
                      <a:r>
                        <a:rPr sz="700" b="0" i="1">
                          <a:solidFill>
                            <a:srgbClr val="000000"/>
                          </a:solidFill>
                          <a:latin typeface="Times New Roman"/>
                        </a:rPr>
                        <a:t>    </a:t>
                      </a:r>
                      <a:r>
                        <a:rPr sz="1100" b="0" i="1">
                          <a:solidFill>
                            <a:srgbClr val="000000"/>
                          </a:solidFill>
                          <a:latin typeface="Calibri"/>
                        </a:rPr>
                        <a:t>Spinach</a:t>
                      </a:r>
                      <a:endParaRPr sz="1100"/>
                    </a:p>
                  </a:txBody>
                  <a:tcPr marL="1257300" marR="9525" marT="9525" marB="0" anchor="ctr"/>
                </a:tc>
              </a:tr>
              <a:tr h="175260">
                <a:tc>
                  <a:txBody>
                    <a:bodyPr wrap="square"/>
                    <a:lstStyle/>
                    <a:p>
                      <a:pPr algn="l"/>
                      <a:r>
                        <a:rPr sz="1100" b="0" i="1">
                          <a:solidFill>
                            <a:srgbClr val="000000"/>
                          </a:solidFill>
                          <a:latin typeface="Calibri"/>
                        </a:rPr>
                        <a:t>4.5.2.2.2.</a:t>
                      </a:r>
                      <a:r>
                        <a:rPr sz="700" b="0" i="1">
                          <a:solidFill>
                            <a:srgbClr val="000000"/>
                          </a:solidFill>
                          <a:latin typeface="Times New Roman"/>
                        </a:rPr>
                        <a:t>    </a:t>
                      </a:r>
                      <a:r>
                        <a:rPr sz="1100" b="0" i="1">
                          <a:solidFill>
                            <a:srgbClr val="000000"/>
                          </a:solidFill>
                          <a:latin typeface="Calibri"/>
                        </a:rPr>
                        <a:t>Carrot</a:t>
                      </a:r>
                      <a:endParaRPr sz="1100"/>
                    </a:p>
                  </a:txBody>
                  <a:tcPr marL="1257300" marR="9525" marT="9525" marB="0" anchor="ctr"/>
                </a:tc>
              </a:tr>
              <a:tr h="175260">
                <a:tc>
                  <a:txBody>
                    <a:bodyPr wrap="square"/>
                    <a:lstStyle/>
                    <a:p>
                      <a:pPr algn="l"/>
                      <a:r>
                        <a:rPr sz="1100" b="0" i="1">
                          <a:solidFill>
                            <a:srgbClr val="000000"/>
                          </a:solidFill>
                          <a:latin typeface="Calibri"/>
                        </a:rPr>
                        <a:t>4.5.2.2.3.</a:t>
                      </a:r>
                      <a:r>
                        <a:rPr sz="700" b="0" i="1">
                          <a:solidFill>
                            <a:srgbClr val="000000"/>
                          </a:solidFill>
                          <a:latin typeface="Times New Roman"/>
                        </a:rPr>
                        <a:t>    </a:t>
                      </a:r>
                      <a:r>
                        <a:rPr sz="1100" b="0" i="1">
                          <a:solidFill>
                            <a:srgbClr val="000000"/>
                          </a:solidFill>
                          <a:latin typeface="Calibri"/>
                        </a:rPr>
                        <a:t>Corn</a:t>
                      </a:r>
                      <a:endParaRPr sz="1100"/>
                    </a:p>
                  </a:txBody>
                  <a:tcPr marL="1257300" marR="9525" marT="9525" marB="0" anchor="ctr"/>
                </a:tc>
              </a:tr>
              <a:tr h="175260">
                <a:tc>
                  <a:txBody>
                    <a:bodyPr wrap="square"/>
                    <a:lstStyle/>
                    <a:p>
                      <a:pPr algn="l"/>
                      <a:r>
                        <a:rPr sz="1100" b="0" i="1">
                          <a:solidFill>
                            <a:srgbClr val="000000"/>
                          </a:solidFill>
                          <a:latin typeface="Calibri"/>
                        </a:rPr>
                        <a:t>4.5.2.2.4.</a:t>
                      </a:r>
                      <a:r>
                        <a:rPr sz="700" b="0" i="1">
                          <a:solidFill>
                            <a:srgbClr val="000000"/>
                          </a:solidFill>
                          <a:latin typeface="Times New Roman"/>
                        </a:rPr>
                        <a:t>    </a:t>
                      </a:r>
                      <a:r>
                        <a:rPr sz="1100" b="0" i="1">
                          <a:solidFill>
                            <a:srgbClr val="000000"/>
                          </a:solidFill>
                          <a:latin typeface="Calibri"/>
                        </a:rPr>
                        <a:t>Zucchini</a:t>
                      </a:r>
                      <a:endParaRPr sz="1100"/>
                    </a:p>
                  </a:txBody>
                  <a:tcPr marL="1257300" marR="9525" marT="9525" marB="0" anchor="ctr"/>
                </a:tc>
              </a:tr>
              <a:tr h="175260">
                <a:tc>
                  <a:txBody>
                    <a:bodyPr wrap="square"/>
                    <a:lstStyle/>
                    <a:p>
                      <a:pPr algn="l"/>
                      <a:r>
                        <a:rPr sz="1100" b="0" i="1">
                          <a:solidFill>
                            <a:srgbClr val="000000"/>
                          </a:solidFill>
                          <a:latin typeface="Calibri"/>
                        </a:rPr>
                        <a:t>4.5.2.2.5.</a:t>
                      </a:r>
                      <a:r>
                        <a:rPr sz="700" b="0" i="1">
                          <a:solidFill>
                            <a:srgbClr val="000000"/>
                          </a:solidFill>
                          <a:latin typeface="Times New Roman"/>
                        </a:rPr>
                        <a:t>    </a:t>
                      </a:r>
                      <a:r>
                        <a:rPr sz="1100" b="0" i="1">
                          <a:solidFill>
                            <a:srgbClr val="000000"/>
                          </a:solidFill>
                          <a:latin typeface="Calibri"/>
                        </a:rPr>
                        <a:t>Mixed vegetables</a:t>
                      </a:r>
                      <a:endParaRPr sz="1100"/>
                    </a:p>
                  </a:txBody>
                  <a:tcPr marL="1257300" marR="9525" marT="9525" marB="0" anchor="ctr"/>
                </a:tc>
              </a:tr>
              <a:tr h="175260">
                <a:tc>
                  <a:txBody>
                    <a:bodyPr wrap="square"/>
                    <a:lstStyle/>
                    <a:p>
                      <a:pPr algn="l"/>
                      <a:r>
                        <a:rPr sz="1100" b="0" i="1">
                          <a:solidFill>
                            <a:srgbClr val="000000"/>
                          </a:solidFill>
                          <a:latin typeface="Calibri"/>
                        </a:rPr>
                        <a:t>4.5.2.3.</a:t>
                      </a:r>
                      <a:r>
                        <a:rPr sz="700" b="0" i="1">
                          <a:solidFill>
                            <a:srgbClr val="000000"/>
                          </a:solidFill>
                          <a:latin typeface="Times New Roman"/>
                        </a:rPr>
                        <a:t>    </a:t>
                      </a:r>
                      <a:r>
                        <a:rPr sz="1100" b="0" i="1">
                          <a:solidFill>
                            <a:srgbClr val="000000"/>
                          </a:solidFill>
                          <a:latin typeface="Calibri"/>
                        </a:rPr>
                        <a:t>Meat-based</a:t>
                      </a:r>
                      <a:endParaRPr sz="1100"/>
                    </a:p>
                  </a:txBody>
                  <a:tcPr marL="1028700" marR="9525" marT="9525" marB="0" anchor="ctr"/>
                </a:tc>
              </a:tr>
              <a:tr h="175260">
                <a:tc>
                  <a:txBody>
                    <a:bodyPr wrap="square"/>
                    <a:lstStyle/>
                    <a:p>
                      <a:pPr algn="l"/>
                      <a:r>
                        <a:rPr sz="1100" b="0" i="1">
                          <a:solidFill>
                            <a:srgbClr val="000000"/>
                          </a:solidFill>
                          <a:latin typeface="Calibri"/>
                        </a:rPr>
                        <a:t>4.5.2.3.1.</a:t>
                      </a:r>
                      <a:r>
                        <a:rPr sz="700" b="0" i="1">
                          <a:solidFill>
                            <a:srgbClr val="000000"/>
                          </a:solidFill>
                          <a:latin typeface="Times New Roman"/>
                        </a:rPr>
                        <a:t>    </a:t>
                      </a:r>
                      <a:r>
                        <a:rPr sz="1100" b="0" i="1">
                          <a:solidFill>
                            <a:srgbClr val="000000"/>
                          </a:solidFill>
                          <a:latin typeface="Calibri"/>
                        </a:rPr>
                        <a:t>Bacon</a:t>
                      </a:r>
                      <a:endParaRPr sz="1100"/>
                    </a:p>
                  </a:txBody>
                  <a:tcPr marL="1257300" marR="9525" marT="9525" marB="0" anchor="ctr"/>
                </a:tc>
              </a:tr>
              <a:tr h="175260">
                <a:tc>
                  <a:txBody>
                    <a:bodyPr wrap="square"/>
                    <a:lstStyle/>
                    <a:p>
                      <a:pPr algn="l"/>
                      <a:r>
                        <a:rPr sz="1100" b="0" i="1">
                          <a:solidFill>
                            <a:srgbClr val="000000"/>
                          </a:solidFill>
                          <a:latin typeface="Calibri"/>
                        </a:rPr>
                        <a:t>4.5.2.3.2.</a:t>
                      </a:r>
                      <a:r>
                        <a:rPr sz="700" b="0" i="1">
                          <a:solidFill>
                            <a:srgbClr val="000000"/>
                          </a:solidFill>
                          <a:latin typeface="Times New Roman"/>
                        </a:rPr>
                        <a:t>    </a:t>
                      </a:r>
                      <a:r>
                        <a:rPr sz="1100" b="0" i="1">
                          <a:solidFill>
                            <a:srgbClr val="000000"/>
                          </a:solidFill>
                          <a:latin typeface="Calibri"/>
                        </a:rPr>
                        <a:t>Ham</a:t>
                      </a:r>
                      <a:endParaRPr sz="1100"/>
                    </a:p>
                  </a:txBody>
                  <a:tcPr marL="1257300" marR="9525" marT="9525" marB="0" anchor="ctr"/>
                </a:tc>
              </a:tr>
              <a:tr h="175260">
                <a:tc>
                  <a:txBody>
                    <a:bodyPr wrap="square"/>
                    <a:lstStyle/>
                    <a:p>
                      <a:pPr algn="l"/>
                      <a:r>
                        <a:rPr sz="1100" b="0" i="1">
                          <a:solidFill>
                            <a:srgbClr val="000000"/>
                          </a:solidFill>
                          <a:latin typeface="Calibri"/>
                        </a:rPr>
                        <a:t>4.5.2.3.3.</a:t>
                      </a:r>
                      <a:r>
                        <a:rPr sz="700" b="0" i="1">
                          <a:solidFill>
                            <a:srgbClr val="000000"/>
                          </a:solidFill>
                          <a:latin typeface="Times New Roman"/>
                        </a:rPr>
                        <a:t>    </a:t>
                      </a:r>
                      <a:r>
                        <a:rPr sz="1100" b="0" i="1">
                          <a:solidFill>
                            <a:srgbClr val="000000"/>
                          </a:solidFill>
                          <a:latin typeface="Calibri"/>
                        </a:rPr>
                        <a:t>Chicken</a:t>
                      </a:r>
                      <a:endParaRPr sz="1100"/>
                    </a:p>
                  </a:txBody>
                  <a:tcPr marL="1257300" marR="9525" marT="9525" marB="0" anchor="ctr"/>
                </a:tc>
              </a:tr>
              <a:tr h="175260">
                <a:tc>
                  <a:txBody>
                    <a:bodyPr wrap="square"/>
                    <a:lstStyle/>
                    <a:p>
                      <a:pPr algn="l"/>
                      <a:r>
                        <a:rPr sz="1100" b="0" i="1">
                          <a:solidFill>
                            <a:srgbClr val="000000"/>
                          </a:solidFill>
                          <a:latin typeface="Calibri"/>
                        </a:rPr>
                        <a:t>4.5.2.3.4.</a:t>
                      </a:r>
                      <a:r>
                        <a:rPr sz="700" b="0" i="1">
                          <a:solidFill>
                            <a:srgbClr val="000000"/>
                          </a:solidFill>
                          <a:latin typeface="Times New Roman"/>
                        </a:rPr>
                        <a:t>    </a:t>
                      </a:r>
                      <a:r>
                        <a:rPr sz="1100" b="0" i="1">
                          <a:solidFill>
                            <a:srgbClr val="000000"/>
                          </a:solidFill>
                          <a:latin typeface="Calibri"/>
                        </a:rPr>
                        <a:t>Other meat varieties</a:t>
                      </a:r>
                      <a:endParaRPr sz="1100"/>
                    </a:p>
                  </a:txBody>
                  <a:tcPr marL="1257300" marR="9525" marT="9525" marB="0" anchor="ctr"/>
                </a:tc>
              </a:tr>
              <a:tr h="175260">
                <a:tc>
                  <a:txBody>
                    <a:bodyPr wrap="square"/>
                    <a:lstStyle/>
                    <a:p>
                      <a:pPr algn="l"/>
                      <a:r>
                        <a:rPr sz="1100" b="0" i="1">
                          <a:solidFill>
                            <a:srgbClr val="000000"/>
                          </a:solidFill>
                          <a:latin typeface="Calibri"/>
                        </a:rPr>
                        <a:t>4.5.2.4.</a:t>
                      </a:r>
                      <a:r>
                        <a:rPr sz="700" b="0" i="1">
                          <a:solidFill>
                            <a:srgbClr val="000000"/>
                          </a:solidFill>
                          <a:latin typeface="Times New Roman"/>
                        </a:rPr>
                        <a:t>    </a:t>
                      </a:r>
                      <a:r>
                        <a:rPr sz="1100" b="0" i="1">
                          <a:solidFill>
                            <a:srgbClr val="000000"/>
                          </a:solidFill>
                          <a:latin typeface="Calibri"/>
                        </a:rPr>
                        <a:t>Herb and spice-based</a:t>
                      </a:r>
                      <a:endParaRPr sz="1100"/>
                    </a:p>
                  </a:txBody>
                  <a:tcPr marL="1028700" marR="9525" marT="9525" marB="0" anchor="ctr"/>
                </a:tc>
              </a:tr>
              <a:tr h="175260">
                <a:tc>
                  <a:txBody>
                    <a:bodyPr wrap="square"/>
                    <a:lstStyle/>
                    <a:p>
                      <a:pPr algn="l"/>
                      <a:r>
                        <a:rPr sz="1100" b="0" i="1">
                          <a:solidFill>
                            <a:srgbClr val="000000"/>
                          </a:solidFill>
                          <a:latin typeface="Calibri"/>
                        </a:rPr>
                        <a:t>4.5.2.4.1.</a:t>
                      </a:r>
                      <a:r>
                        <a:rPr sz="700" b="0" i="1">
                          <a:solidFill>
                            <a:srgbClr val="000000"/>
                          </a:solidFill>
                          <a:latin typeface="Times New Roman"/>
                        </a:rPr>
                        <a:t>    </a:t>
                      </a:r>
                      <a:r>
                        <a:rPr sz="1100" b="0" i="1">
                          <a:solidFill>
                            <a:srgbClr val="000000"/>
                          </a:solidFill>
                          <a:latin typeface="Calibri"/>
                        </a:rPr>
                        <a:t>Garlic and herbs</a:t>
                      </a:r>
                      <a:endParaRPr sz="1100"/>
                    </a:p>
                  </a:txBody>
                  <a:tcPr marL="1257300" marR="9525" marT="9525" marB="0" anchor="ctr"/>
                </a:tc>
              </a:tr>
              <a:tr h="175260">
                <a:tc>
                  <a:txBody>
                    <a:bodyPr wrap="square"/>
                    <a:lstStyle/>
                    <a:p>
                      <a:pPr algn="l"/>
                      <a:r>
                        <a:rPr sz="1100" b="0" i="1">
                          <a:solidFill>
                            <a:srgbClr val="000000"/>
                          </a:solidFill>
                          <a:latin typeface="Calibri"/>
                        </a:rPr>
                        <a:t>4.5.2.4.2.</a:t>
                      </a:r>
                      <a:r>
                        <a:rPr sz="700" b="0" i="1">
                          <a:solidFill>
                            <a:srgbClr val="000000"/>
                          </a:solidFill>
                          <a:latin typeface="Times New Roman"/>
                        </a:rPr>
                        <a:t>    </a:t>
                      </a:r>
                      <a:r>
                        <a:rPr sz="1100" b="0" i="1">
                          <a:solidFill>
                            <a:srgbClr val="000000"/>
                          </a:solidFill>
                          <a:latin typeface="Calibri"/>
                        </a:rPr>
                        <a:t>Chilli and jalapeño</a:t>
                      </a:r>
                      <a:endParaRPr sz="1100"/>
                    </a:p>
                  </a:txBody>
                  <a:tcPr marL="1257300" marR="9525" marT="9525" marB="0" anchor="ctr"/>
                </a:tc>
              </a:tr>
              <a:tr h="175260">
                <a:tc>
                  <a:txBody>
                    <a:bodyPr wrap="square"/>
                    <a:lstStyle/>
                    <a:p>
                      <a:pPr algn="l"/>
                      <a:r>
                        <a:rPr sz="1100" b="0" i="1">
                          <a:solidFill>
                            <a:srgbClr val="000000"/>
                          </a:solidFill>
                          <a:latin typeface="Calibri"/>
                        </a:rPr>
                        <a:t>4.5.2.4.3.</a:t>
                      </a:r>
                      <a:r>
                        <a:rPr sz="700" b="0" i="1">
                          <a:solidFill>
                            <a:srgbClr val="000000"/>
                          </a:solidFill>
                          <a:latin typeface="Times New Roman"/>
                        </a:rPr>
                        <a:t>    </a:t>
                      </a:r>
                      <a:r>
                        <a:rPr sz="1100" b="0" i="1">
                          <a:solidFill>
                            <a:srgbClr val="000000"/>
                          </a:solidFill>
                          <a:latin typeface="Calibri"/>
                        </a:rPr>
                        <a:t>Other herb and spice combinations</a:t>
                      </a:r>
                      <a:endParaRPr sz="1100"/>
                    </a:p>
                  </a:txBody>
                  <a:tcPr marL="12573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Primary Flour Base</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Wheat-based</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Refined wheat</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Whole wheat</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Oat-based</a:t>
                      </a:r>
                      <a:endParaRPr sz="1100"/>
                    </a:p>
                  </a:txBody>
                  <a:tcPr marL="771525"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Rice-based</a:t>
                      </a:r>
                      <a:endParaRPr sz="1100"/>
                    </a:p>
                  </a:txBody>
                  <a:tcPr marL="771525"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Corn-based</a:t>
                      </a:r>
                      <a:endParaRPr sz="1100"/>
                    </a:p>
                  </a:txBody>
                  <a:tcPr marL="771525"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Millet-based</a:t>
                      </a:r>
                      <a:endParaRPr sz="1100"/>
                    </a:p>
                  </a:txBody>
                  <a:tcPr marL="771525"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Almond and other nut flour-based</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Other single-flour bases</a:t>
                      </a:r>
                      <a:endParaRPr sz="1100"/>
                    </a:p>
                  </a:txBody>
                  <a:tcPr marL="771525"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Multigrain and blended flour bases</a:t>
                      </a:r>
                      <a:endParaRPr sz="1100"/>
                    </a:p>
                  </a:txBody>
                  <a:tcPr marL="771525"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Dietary Formulation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Conventional</a:t>
                      </a:r>
                      <a:endParaRPr sz="1100"/>
                    </a:p>
                  </a:txBody>
                  <a:tcPr marL="771525"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Gluten-free</a:t>
                      </a:r>
                      <a:endParaRPr sz="1100"/>
                    </a:p>
                  </a:txBody>
                  <a:tcPr marL="771525"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Vegan</a:t>
                      </a:r>
                      <a:endParaRPr sz="1100"/>
                    </a:p>
                  </a:txBody>
                  <a:tcPr marL="771525"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Gluten-free and vegan</a:t>
                      </a:r>
                      <a:endParaRPr sz="1100"/>
                    </a:p>
                  </a:txBody>
                  <a:tcPr marL="771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Nutritional Positioning</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7.5.1.</a:t>
                      </a:r>
                      <a:r>
                        <a:rPr sz="700" b="0" i="0">
                          <a:solidFill>
                            <a:srgbClr val="000000"/>
                          </a:solidFill>
                          <a:latin typeface="Times New Roman"/>
                        </a:rPr>
                        <a:t>   </a:t>
                      </a:r>
                      <a:r>
                        <a:rPr sz="1100" b="0" i="0">
                          <a:solidFill>
                            <a:srgbClr val="000000"/>
                          </a:solidFill>
                          <a:latin typeface="Calibri"/>
                        </a:rPr>
                        <a:t>Standard/indulgent</a:t>
                      </a:r>
                      <a:endParaRPr sz="1100"/>
                    </a:p>
                  </a:txBody>
                  <a:tcPr marL="771525" marR="9525" marT="9525" marB="0" anchor="ctr"/>
                </a:tc>
              </a:tr>
              <a:tr h="175260">
                <a:tc>
                  <a:txBody>
                    <a:bodyPr wrap="square"/>
                    <a:lstStyle/>
                    <a:p>
                      <a:pPr algn="l"/>
                      <a:r>
                        <a:rPr sz="1100" b="0" i="0">
                          <a:solidFill>
                            <a:srgbClr val="000000"/>
                          </a:solidFill>
                          <a:latin typeface="Calibri"/>
                        </a:rPr>
                        <a:t>7.5.2.</a:t>
                      </a:r>
                      <a:r>
                        <a:rPr sz="700" b="0" i="0">
                          <a:solidFill>
                            <a:srgbClr val="000000"/>
                          </a:solidFill>
                          <a:latin typeface="Times New Roman"/>
                        </a:rPr>
                        <a:t>   </a:t>
                      </a:r>
                      <a:r>
                        <a:rPr sz="1100" b="0" i="0">
                          <a:solidFill>
                            <a:srgbClr val="000000"/>
                          </a:solidFill>
                          <a:latin typeface="Calibri"/>
                        </a:rPr>
                        <a:t>Protein-enriched</a:t>
                      </a:r>
                      <a:endParaRPr sz="1100"/>
                    </a:p>
                  </a:txBody>
                  <a:tcPr marL="771525" marR="9525" marT="9525" marB="0" anchor="ctr"/>
                </a:tc>
              </a:tr>
              <a:tr h="175260">
                <a:tc>
                  <a:txBody>
                    <a:bodyPr wrap="square"/>
                    <a:lstStyle/>
                    <a:p>
                      <a:pPr algn="l"/>
                      <a:r>
                        <a:rPr sz="1100" b="0" i="0">
                          <a:solidFill>
                            <a:srgbClr val="000000"/>
                          </a:solidFill>
                          <a:latin typeface="Calibri"/>
                        </a:rPr>
                        <a:t>7.5.3.</a:t>
                      </a:r>
                      <a:r>
                        <a:rPr sz="700" b="0" i="0">
                          <a:solidFill>
                            <a:srgbClr val="000000"/>
                          </a:solidFill>
                          <a:latin typeface="Times New Roman"/>
                        </a:rPr>
                        <a:t>   </a:t>
                      </a:r>
                      <a:r>
                        <a:rPr sz="1100" b="0" i="0">
                          <a:solidFill>
                            <a:srgbClr val="000000"/>
                          </a:solidFill>
                          <a:latin typeface="Calibri"/>
                        </a:rPr>
                        <a:t>Fibre-enriched</a:t>
                      </a:r>
                      <a:endParaRPr sz="1100"/>
                    </a:p>
                  </a:txBody>
                  <a:tcPr marL="771525" marR="9525" marT="9525" marB="0" anchor="ctr"/>
                </a:tc>
              </a:tr>
              <a:tr h="175260">
                <a:tc>
                  <a:txBody>
                    <a:bodyPr wrap="square"/>
                    <a:lstStyle/>
                    <a:p>
                      <a:pPr algn="l"/>
                      <a:r>
                        <a:rPr sz="1100" b="0" i="0">
                          <a:solidFill>
                            <a:srgbClr val="000000"/>
                          </a:solidFill>
                          <a:latin typeface="Calibri"/>
                        </a:rPr>
                        <a:t>7.5.4.</a:t>
                      </a:r>
                      <a:r>
                        <a:rPr sz="700" b="0" i="0">
                          <a:solidFill>
                            <a:srgbClr val="000000"/>
                          </a:solidFill>
                          <a:latin typeface="Times New Roman"/>
                        </a:rPr>
                        <a:t>   </a:t>
                      </a:r>
                      <a:r>
                        <a:rPr sz="1100" b="0" i="0">
                          <a:solidFill>
                            <a:srgbClr val="000000"/>
                          </a:solidFill>
                          <a:latin typeface="Calibri"/>
                        </a:rPr>
                        <a:t>Reduced-sugar</a:t>
                      </a:r>
                      <a:endParaRPr sz="1100"/>
                    </a:p>
                  </a:txBody>
                  <a:tcPr marL="771525" marR="9525" marT="9525" marB="0" anchor="ctr"/>
                </a:tc>
              </a:tr>
              <a:tr h="175260">
                <a:tc>
                  <a:txBody>
                    <a:bodyPr wrap="square"/>
                    <a:lstStyle/>
                    <a:p>
                      <a:pPr algn="l"/>
                      <a:r>
                        <a:rPr sz="1100" b="0" i="0">
                          <a:solidFill>
                            <a:srgbClr val="000000"/>
                          </a:solidFill>
                          <a:latin typeface="Calibri"/>
                        </a:rPr>
                        <a:t>7.5.5.</a:t>
                      </a:r>
                      <a:r>
                        <a:rPr sz="700" b="0" i="0">
                          <a:solidFill>
                            <a:srgbClr val="000000"/>
                          </a:solidFill>
                          <a:latin typeface="Times New Roman"/>
                        </a:rPr>
                        <a:t>   </a:t>
                      </a:r>
                      <a:r>
                        <a:rPr sz="1100" b="0" i="0">
                          <a:solidFill>
                            <a:srgbClr val="000000"/>
                          </a:solidFill>
                          <a:latin typeface="Calibri"/>
                        </a:rPr>
                        <a:t>No-added-sugar</a:t>
                      </a:r>
                      <a:endParaRPr sz="1100"/>
                    </a:p>
                  </a:txBody>
                  <a:tcPr marL="771525" marR="9525" marT="9525" marB="0" anchor="ctr"/>
                </a:tc>
              </a:tr>
              <a:tr h="175260">
                <a:tc>
                  <a:txBody>
                    <a:bodyPr wrap="square"/>
                    <a:lstStyle/>
                    <a:p>
                      <a:pPr algn="l"/>
                      <a:r>
                        <a:rPr sz="1100" b="0" i="0">
                          <a:solidFill>
                            <a:srgbClr val="000000"/>
                          </a:solidFill>
                          <a:latin typeface="Calibri"/>
                        </a:rPr>
                        <a:t>7.5.6.</a:t>
                      </a:r>
                      <a:r>
                        <a:rPr sz="700" b="0" i="0">
                          <a:solidFill>
                            <a:srgbClr val="000000"/>
                          </a:solidFill>
                          <a:latin typeface="Times New Roman"/>
                        </a:rPr>
                        <a:t>   </a:t>
                      </a:r>
                      <a:r>
                        <a:rPr sz="1100" b="0" i="0">
                          <a:solidFill>
                            <a:srgbClr val="000000"/>
                          </a:solidFill>
                          <a:latin typeface="Calibri"/>
                        </a:rPr>
                        <a:t>Reduced-fat</a:t>
                      </a:r>
                      <a:endParaRPr sz="1100"/>
                    </a:p>
                  </a:txBody>
                  <a:tcPr marL="771525" marR="9525" marT="9525" marB="0" anchor="ctr"/>
                </a:tc>
              </a:tr>
              <a:tr h="175260">
                <a:tc>
                  <a:txBody>
                    <a:bodyPr wrap="square"/>
                    <a:lstStyle/>
                    <a:p>
                      <a:pPr algn="l"/>
                      <a:r>
                        <a:rPr sz="1100" b="0" i="0">
                          <a:solidFill>
                            <a:srgbClr val="000000"/>
                          </a:solidFill>
                          <a:latin typeface="Calibri"/>
                        </a:rPr>
                        <a:t>7.5.7.</a:t>
                      </a:r>
                      <a:r>
                        <a:rPr sz="700" b="0" i="0">
                          <a:solidFill>
                            <a:srgbClr val="000000"/>
                          </a:solidFill>
                          <a:latin typeface="Times New Roman"/>
                        </a:rPr>
                        <a:t>   </a:t>
                      </a:r>
                      <a:r>
                        <a:rPr sz="1100" b="0" i="0">
                          <a:solidFill>
                            <a:srgbClr val="000000"/>
                          </a:solidFill>
                          <a:latin typeface="Calibri"/>
                        </a:rPr>
                        <a:t>Other nutrition-focused formulations</a:t>
                      </a:r>
                      <a:endParaRPr sz="1100"/>
                    </a:p>
                  </a:txBody>
                  <a:tcPr marL="771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Recipe and Ingredient Claims</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8.5.1.</a:t>
                      </a:r>
                      <a:r>
                        <a:rPr sz="700" b="0" i="0">
                          <a:solidFill>
                            <a:srgbClr val="000000"/>
                          </a:solidFill>
                          <a:latin typeface="Times New Roman"/>
                        </a:rPr>
                        <a:t>   </a:t>
                      </a:r>
                      <a:r>
                        <a:rPr sz="1100" b="0" i="0">
                          <a:solidFill>
                            <a:srgbClr val="000000"/>
                          </a:solidFill>
                          <a:latin typeface="Calibri"/>
                        </a:rPr>
                        <a:t>Organic-certified</a:t>
                      </a:r>
                      <a:endParaRPr sz="1100"/>
                    </a:p>
                  </a:txBody>
                  <a:tcPr marL="771525" marR="9525" marT="9525" marB="0" anchor="ctr"/>
                </a:tc>
              </a:tr>
              <a:tr h="175260">
                <a:tc>
                  <a:txBody>
                    <a:bodyPr wrap="square"/>
                    <a:lstStyle/>
                    <a:p>
                      <a:pPr algn="l"/>
                      <a:r>
                        <a:rPr sz="1100" b="0" i="0">
                          <a:solidFill>
                            <a:srgbClr val="000000"/>
                          </a:solidFill>
                          <a:latin typeface="Calibri"/>
                        </a:rPr>
                        <a:t>8.5.2.</a:t>
                      </a:r>
                      <a:r>
                        <a:rPr sz="700" b="0" i="0">
                          <a:solidFill>
                            <a:srgbClr val="000000"/>
                          </a:solidFill>
                          <a:latin typeface="Times New Roman"/>
                        </a:rPr>
                        <a:t>   </a:t>
                      </a:r>
                      <a:r>
                        <a:rPr sz="1100" b="0" i="0">
                          <a:solidFill>
                            <a:srgbClr val="000000"/>
                          </a:solidFill>
                          <a:latin typeface="Calibri"/>
                        </a:rPr>
                        <a:t>Conventional/non-organic</a:t>
                      </a:r>
                      <a:endParaRPr sz="1100"/>
                    </a:p>
                  </a:txBody>
                  <a:tcPr marL="771525" marR="9525" marT="9525" marB="0" anchor="ctr"/>
                </a:tc>
              </a:tr>
              <a:tr h="175260">
                <a:tc>
                  <a:txBody>
                    <a:bodyPr wrap="square"/>
                    <a:lstStyle/>
                    <a:p>
                      <a:pPr algn="l"/>
                      <a:r>
                        <a:rPr sz="1100" b="0" i="0">
                          <a:solidFill>
                            <a:srgbClr val="000000"/>
                          </a:solidFill>
                          <a:latin typeface="Calibri"/>
                        </a:rPr>
                        <a:t>8.5.3.</a:t>
                      </a:r>
                      <a:r>
                        <a:rPr sz="700" b="0" i="0">
                          <a:solidFill>
                            <a:srgbClr val="000000"/>
                          </a:solidFill>
                          <a:latin typeface="Times New Roman"/>
                        </a:rPr>
                        <a:t>   </a:t>
                      </a:r>
                      <a:r>
                        <a:rPr sz="1100" b="0" i="0">
                          <a:solidFill>
                            <a:srgbClr val="000000"/>
                          </a:solidFill>
                          <a:latin typeface="Calibri"/>
                        </a:rPr>
                        <a:t>Additional claim mapping</a:t>
                      </a:r>
                      <a:endParaRPr sz="1100"/>
                    </a:p>
                  </a:txBody>
                  <a:tcPr marL="771525" marR="9525" marT="9525" marB="0" anchor="ctr"/>
                </a:tc>
              </a:tr>
              <a:tr h="175260">
                <a:tc>
                  <a:txBody>
                    <a:bodyPr wrap="square"/>
                    <a:lstStyle/>
                    <a:p>
                      <a:pPr algn="l"/>
                      <a:r>
                        <a:rPr sz="1100" b="0" i="1">
                          <a:solidFill>
                            <a:srgbClr val="000000"/>
                          </a:solidFill>
                          <a:latin typeface="Calibri"/>
                        </a:rPr>
                        <a:t>8.5.3.1.</a:t>
                      </a:r>
                      <a:r>
                        <a:rPr sz="700" b="0" i="1">
                          <a:solidFill>
                            <a:srgbClr val="000000"/>
                          </a:solidFill>
                          <a:latin typeface="Times New Roman"/>
                        </a:rPr>
                        <a:t>    </a:t>
                      </a:r>
                      <a:r>
                        <a:rPr sz="1100" b="0" i="1">
                          <a:solidFill>
                            <a:srgbClr val="000000"/>
                          </a:solidFill>
                          <a:latin typeface="Calibri"/>
                        </a:rPr>
                        <a:t>Clean-label positioning</a:t>
                      </a:r>
                      <a:endParaRPr sz="1100"/>
                    </a:p>
                  </a:txBody>
                  <a:tcPr marL="1028700" marR="9525" marT="9525" marB="0" anchor="ctr"/>
                </a:tc>
              </a:tr>
              <a:tr h="175260">
                <a:tc>
                  <a:txBody>
                    <a:bodyPr wrap="square"/>
                    <a:lstStyle/>
                    <a:p>
                      <a:pPr algn="l"/>
                      <a:r>
                        <a:rPr sz="1100" b="0" i="1">
                          <a:solidFill>
                            <a:srgbClr val="000000"/>
                          </a:solidFill>
                          <a:latin typeface="Calibri"/>
                        </a:rPr>
                        <a:t>8.5.3.2.</a:t>
                      </a:r>
                      <a:r>
                        <a:rPr sz="700" b="0" i="1">
                          <a:solidFill>
                            <a:srgbClr val="000000"/>
                          </a:solidFill>
                          <a:latin typeface="Times New Roman"/>
                        </a:rPr>
                        <a:t>    </a:t>
                      </a:r>
                      <a:r>
                        <a:rPr sz="1100" b="0" i="1">
                          <a:solidFill>
                            <a:srgbClr val="000000"/>
                          </a:solidFill>
                          <a:latin typeface="Calibri"/>
                        </a:rPr>
                        <a:t>No artificial colours</a:t>
                      </a:r>
                      <a:endParaRPr sz="1100"/>
                    </a:p>
                  </a:txBody>
                  <a:tcPr marL="1028700" marR="9525" marT="9525" marB="0" anchor="ctr"/>
                </a:tc>
              </a:tr>
              <a:tr h="175260">
                <a:tc>
                  <a:txBody>
                    <a:bodyPr wrap="square"/>
                    <a:lstStyle/>
                    <a:p>
                      <a:pPr algn="l"/>
                      <a:r>
                        <a:rPr sz="1100" b="0" i="1">
                          <a:solidFill>
                            <a:srgbClr val="000000"/>
                          </a:solidFill>
                          <a:latin typeface="Calibri"/>
                        </a:rPr>
                        <a:t>8.5.3.3.</a:t>
                      </a:r>
                      <a:r>
                        <a:rPr sz="700" b="0" i="1">
                          <a:solidFill>
                            <a:srgbClr val="000000"/>
                          </a:solidFill>
                          <a:latin typeface="Times New Roman"/>
                        </a:rPr>
                        <a:t>    </a:t>
                      </a:r>
                      <a:r>
                        <a:rPr sz="1100" b="0" i="1">
                          <a:solidFill>
                            <a:srgbClr val="000000"/>
                          </a:solidFill>
                          <a:latin typeface="Calibri"/>
                        </a:rPr>
                        <a:t>No artificial flavours</a:t>
                      </a:r>
                      <a:endParaRPr sz="1100"/>
                    </a:p>
                  </a:txBody>
                  <a:tcPr marL="1028700" marR="9525" marT="9525" marB="0" anchor="ctr"/>
                </a:tc>
              </a:tr>
              <a:tr h="175260">
                <a:tc>
                  <a:txBody>
                    <a:bodyPr wrap="square"/>
                    <a:lstStyle/>
                    <a:p>
                      <a:pPr algn="l"/>
                      <a:r>
                        <a:rPr sz="1100" b="0" i="1">
                          <a:solidFill>
                            <a:srgbClr val="000000"/>
                          </a:solidFill>
                          <a:latin typeface="Calibri"/>
                        </a:rPr>
                        <a:t>8.5.3.4.</a:t>
                      </a:r>
                      <a:r>
                        <a:rPr sz="700" b="0" i="1">
                          <a:solidFill>
                            <a:srgbClr val="000000"/>
                          </a:solidFill>
                          <a:latin typeface="Times New Roman"/>
                        </a:rPr>
                        <a:t>    </a:t>
                      </a:r>
                      <a:r>
                        <a:rPr sz="1100" b="0" i="1">
                          <a:solidFill>
                            <a:srgbClr val="000000"/>
                          </a:solidFill>
                          <a:latin typeface="Calibri"/>
                        </a:rPr>
                        <a:t>No artificial preservatives</a:t>
                      </a:r>
                      <a:endParaRPr sz="1100"/>
                    </a:p>
                  </a:txBody>
                  <a:tcPr marL="1028700" marR="9525" marT="9525" marB="0" anchor="ctr"/>
                </a:tc>
              </a:tr>
              <a:tr h="175260">
                <a:tc>
                  <a:txBody>
                    <a:bodyPr wrap="square"/>
                    <a:lstStyle/>
                    <a:p>
                      <a:pPr algn="l"/>
                      <a:r>
                        <a:rPr sz="1100" b="0" i="1">
                          <a:solidFill>
                            <a:srgbClr val="000000"/>
                          </a:solidFill>
                          <a:latin typeface="Calibri"/>
                        </a:rPr>
                        <a:t>8.5.3.5.</a:t>
                      </a:r>
                      <a:r>
                        <a:rPr sz="700" b="0" i="1">
                          <a:solidFill>
                            <a:srgbClr val="000000"/>
                          </a:solidFill>
                          <a:latin typeface="Times New Roman"/>
                        </a:rPr>
                        <a:t>    </a:t>
                      </a:r>
                      <a:r>
                        <a:rPr sz="1100" b="0" i="1">
                          <a:solidFill>
                            <a:srgbClr val="000000"/>
                          </a:solidFill>
                          <a:latin typeface="Calibri"/>
                        </a:rPr>
                        <a:t>Non-GMO</a:t>
                      </a:r>
                      <a:endParaRPr sz="1100"/>
                    </a:p>
                  </a:txBody>
                  <a:tcPr marL="1028700" marR="9525" marT="9525" marB="0" anchor="ctr"/>
                </a:tc>
              </a:tr>
              <a:tr h="175260">
                <a:tc>
                  <a:txBody>
                    <a:bodyPr wrap="square"/>
                    <a:lstStyle/>
                    <a:p>
                      <a:pPr algn="l"/>
                      <a:r>
                        <a:rPr sz="1100" b="0" i="1">
                          <a:solidFill>
                            <a:srgbClr val="000000"/>
                          </a:solidFill>
                          <a:latin typeface="Calibri"/>
                        </a:rPr>
                        <a:t>8.5.3.6.</a:t>
                      </a:r>
                      <a:r>
                        <a:rPr sz="700" b="0" i="1">
                          <a:solidFill>
                            <a:srgbClr val="000000"/>
                          </a:solidFill>
                          <a:latin typeface="Times New Roman"/>
                        </a:rPr>
                        <a:t>    </a:t>
                      </a:r>
                      <a:r>
                        <a:rPr sz="1100" b="0" i="1">
                          <a:solidFill>
                            <a:srgbClr val="000000"/>
                          </a:solidFill>
                          <a:latin typeface="Calibri"/>
                        </a:rPr>
                        <a:t>Dairy-free</a:t>
                      </a:r>
                      <a:endParaRPr sz="1100"/>
                    </a:p>
                  </a:txBody>
                  <a:tcPr marL="1028700" marR="9525" marT="9525" marB="0" anchor="ctr"/>
                </a:tc>
              </a:tr>
              <a:tr h="175260">
                <a:tc>
                  <a:txBody>
                    <a:bodyPr wrap="square"/>
                    <a:lstStyle/>
                    <a:p>
                      <a:pPr algn="l"/>
                      <a:r>
                        <a:rPr sz="1100" b="0" i="1">
                          <a:solidFill>
                            <a:srgbClr val="000000"/>
                          </a:solidFill>
                          <a:latin typeface="Calibri"/>
                        </a:rPr>
                        <a:t>8.5.3.7.</a:t>
                      </a:r>
                      <a:r>
                        <a:rPr sz="700" b="0" i="1">
                          <a:solidFill>
                            <a:srgbClr val="000000"/>
                          </a:solidFill>
                          <a:latin typeface="Times New Roman"/>
                        </a:rPr>
                        <a:t>    </a:t>
                      </a:r>
                      <a:r>
                        <a:rPr sz="1100" b="0" i="1">
                          <a:solidFill>
                            <a:srgbClr val="000000"/>
                          </a:solidFill>
                          <a:latin typeface="Calibri"/>
                        </a:rPr>
                        <a:t>Egg-free</a:t>
                      </a:r>
                      <a:endParaRPr sz="1100"/>
                    </a:p>
                  </a:txBody>
                  <a:tcPr marL="1028700" marR="9525" marT="9525" marB="0" anchor="ctr"/>
                </a:tc>
              </a:tr>
              <a:tr h="175260">
                <a:tc>
                  <a:txBody>
                    <a:bodyPr wrap="square"/>
                    <a:lstStyle/>
                    <a:p>
                      <a:pPr algn="l"/>
                      <a:r>
                        <a:rPr sz="1100" b="0" i="1">
                          <a:solidFill>
                            <a:srgbClr val="000000"/>
                          </a:solidFill>
                          <a:latin typeface="Calibri"/>
                        </a:rPr>
                        <a:t>8.5.3.8.</a:t>
                      </a:r>
                      <a:r>
                        <a:rPr sz="700" b="0" i="1">
                          <a:solidFill>
                            <a:srgbClr val="000000"/>
                          </a:solidFill>
                          <a:latin typeface="Times New Roman"/>
                        </a:rPr>
                        <a:t>    </a:t>
                      </a:r>
                      <a:r>
                        <a:rPr sz="1100" b="0" i="1">
                          <a:solidFill>
                            <a:srgbClr val="000000"/>
                          </a:solidFill>
                          <a:latin typeface="Calibri"/>
                        </a:rPr>
                        <a:t>Nut-free</a:t>
                      </a:r>
                      <a:endParaRPr sz="1100"/>
                    </a:p>
                  </a:txBody>
                  <a:tcPr marL="1028700"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Product Structure</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1">
                          <a:solidFill>
                            <a:srgbClr val="000000"/>
                          </a:solidFill>
                          <a:latin typeface="Calibri"/>
                        </a:rPr>
                        <a:t>9.5.1.1.</a:t>
                      </a:r>
                      <a:r>
                        <a:rPr sz="700" b="0" i="1">
                          <a:solidFill>
                            <a:srgbClr val="000000"/>
                          </a:solidFill>
                          <a:latin typeface="Times New Roman"/>
                        </a:rPr>
                        <a:t>    </a:t>
                      </a:r>
                      <a:r>
                        <a:rPr sz="1100" b="0" i="1">
                          <a:solidFill>
                            <a:srgbClr val="000000"/>
                          </a:solidFill>
                          <a:latin typeface="Calibri"/>
                        </a:rPr>
                        <a:t>Unfilled muffins</a:t>
                      </a:r>
                      <a:endParaRPr sz="1100"/>
                    </a:p>
                  </a:txBody>
                  <a:tcPr marL="1028700" marR="9525" marT="9525" marB="0" anchor="ctr"/>
                </a:tc>
              </a:tr>
              <a:tr h="175260">
                <a:tc>
                  <a:txBody>
                    <a:bodyPr wrap="square"/>
                    <a:lstStyle/>
                    <a:p>
                      <a:pPr algn="l"/>
                      <a:r>
                        <a:rPr sz="1100" b="0" i="1">
                          <a:solidFill>
                            <a:srgbClr val="000000"/>
                          </a:solidFill>
                          <a:latin typeface="Calibri"/>
                        </a:rPr>
                        <a:t>9.5.1.1.1.</a:t>
                      </a:r>
                      <a:r>
                        <a:rPr sz="700" b="0" i="1">
                          <a:solidFill>
                            <a:srgbClr val="000000"/>
                          </a:solidFill>
                          <a:latin typeface="Times New Roman"/>
                        </a:rPr>
                        <a:t>    </a:t>
                      </a:r>
                      <a:r>
                        <a:rPr sz="1100" b="0" i="1">
                          <a:solidFill>
                            <a:srgbClr val="000000"/>
                          </a:solidFill>
                          <a:latin typeface="Calibri"/>
                        </a:rPr>
                        <a:t>Plain batter</a:t>
                      </a:r>
                      <a:endParaRPr sz="1100"/>
                    </a:p>
                  </a:txBody>
                  <a:tcPr marL="1257300" marR="9525" marT="9525" marB="0" anchor="ctr"/>
                </a:tc>
              </a:tr>
              <a:tr h="175260">
                <a:tc>
                  <a:txBody>
                    <a:bodyPr wrap="square"/>
                    <a:lstStyle/>
                    <a:p>
                      <a:pPr algn="l"/>
                      <a:r>
                        <a:rPr sz="1100" b="0" i="1">
                          <a:solidFill>
                            <a:srgbClr val="000000"/>
                          </a:solidFill>
                          <a:latin typeface="Calibri"/>
                        </a:rPr>
                        <a:t>9.5.1.1.2.</a:t>
                      </a:r>
                      <a:r>
                        <a:rPr sz="700" b="0" i="1">
                          <a:solidFill>
                            <a:srgbClr val="000000"/>
                          </a:solidFill>
                          <a:latin typeface="Times New Roman"/>
                        </a:rPr>
                        <a:t>    </a:t>
                      </a:r>
                      <a:r>
                        <a:rPr sz="1100" b="0" i="1">
                          <a:solidFill>
                            <a:srgbClr val="000000"/>
                          </a:solidFill>
                          <a:latin typeface="Calibri"/>
                        </a:rPr>
                        <a:t>Batter with inclusions</a:t>
                      </a:r>
                      <a:endParaRPr sz="1100"/>
                    </a:p>
                  </a:txBody>
                  <a:tcPr marL="1257300" marR="9525" marT="9525" marB="0" anchor="ctr"/>
                </a:tc>
              </a:tr>
              <a:tr h="175260">
                <a:tc>
                  <a:txBody>
                    <a:bodyPr wrap="square"/>
                    <a:lstStyle/>
                    <a:p>
                      <a:pPr algn="l"/>
                      <a:r>
                        <a:rPr sz="1100" b="0" i="1">
                          <a:solidFill>
                            <a:srgbClr val="000000"/>
                          </a:solidFill>
                          <a:latin typeface="Calibri"/>
                        </a:rPr>
                        <a:t>9.5.1.2.</a:t>
                      </a:r>
                      <a:r>
                        <a:rPr sz="700" b="0" i="1">
                          <a:solidFill>
                            <a:srgbClr val="000000"/>
                          </a:solidFill>
                          <a:latin typeface="Times New Roman"/>
                        </a:rPr>
                        <a:t>    </a:t>
                      </a:r>
                      <a:r>
                        <a:rPr sz="1100" b="0" i="1">
                          <a:solidFill>
                            <a:srgbClr val="000000"/>
                          </a:solidFill>
                          <a:latin typeface="Calibri"/>
                        </a:rPr>
                        <a:t>Filled muffins</a:t>
                      </a:r>
                      <a:endParaRPr sz="1100"/>
                    </a:p>
                  </a:txBody>
                  <a:tcPr marL="1028700" marR="9525" marT="9525" marB="0" anchor="ctr"/>
                </a:tc>
              </a:tr>
              <a:tr h="175260">
                <a:tc>
                  <a:txBody>
                    <a:bodyPr wrap="square"/>
                    <a:lstStyle/>
                    <a:p>
                      <a:pPr algn="l"/>
                      <a:r>
                        <a:rPr sz="1100" b="0" i="1">
                          <a:solidFill>
                            <a:srgbClr val="000000"/>
                          </a:solidFill>
                          <a:latin typeface="Calibri"/>
                        </a:rPr>
                        <a:t>9.5.1.2.1.</a:t>
                      </a:r>
                      <a:r>
                        <a:rPr sz="700" b="0" i="1">
                          <a:solidFill>
                            <a:srgbClr val="000000"/>
                          </a:solidFill>
                          <a:latin typeface="Times New Roman"/>
                        </a:rPr>
                        <a:t>    </a:t>
                      </a:r>
                      <a:r>
                        <a:rPr sz="1100" b="0" i="1">
                          <a:solidFill>
                            <a:srgbClr val="000000"/>
                          </a:solidFill>
                          <a:latin typeface="Calibri"/>
                        </a:rPr>
                        <a:t>Fruit and jam-filled</a:t>
                      </a:r>
                      <a:endParaRPr sz="1100"/>
                    </a:p>
                  </a:txBody>
                  <a:tcPr marL="1257300" marR="9525" marT="9525" marB="0" anchor="ctr"/>
                </a:tc>
              </a:tr>
              <a:tr h="175260">
                <a:tc>
                  <a:txBody>
                    <a:bodyPr wrap="square"/>
                    <a:lstStyle/>
                    <a:p>
                      <a:pPr algn="l"/>
                      <a:r>
                        <a:rPr sz="1100" b="0" i="1">
                          <a:solidFill>
                            <a:srgbClr val="000000"/>
                          </a:solidFill>
                          <a:latin typeface="Calibri"/>
                        </a:rPr>
                        <a:t>9.5.1.2.2.</a:t>
                      </a:r>
                      <a:r>
                        <a:rPr sz="700" b="0" i="1">
                          <a:solidFill>
                            <a:srgbClr val="000000"/>
                          </a:solidFill>
                          <a:latin typeface="Times New Roman"/>
                        </a:rPr>
                        <a:t>    </a:t>
                      </a:r>
                      <a:r>
                        <a:rPr sz="1100" b="0" i="1">
                          <a:solidFill>
                            <a:srgbClr val="000000"/>
                          </a:solidFill>
                          <a:latin typeface="Calibri"/>
                        </a:rPr>
                        <a:t>Chocolate-filled</a:t>
                      </a:r>
                      <a:endParaRPr sz="1100"/>
                    </a:p>
                  </a:txBody>
                  <a:tcPr marL="1257300" marR="9525" marT="9525" marB="0" anchor="ctr"/>
                </a:tc>
              </a:tr>
              <a:tr h="175260">
                <a:tc>
                  <a:txBody>
                    <a:bodyPr wrap="square"/>
                    <a:lstStyle/>
                    <a:p>
                      <a:pPr algn="l"/>
                      <a:r>
                        <a:rPr sz="1100" b="0" i="1">
                          <a:solidFill>
                            <a:srgbClr val="000000"/>
                          </a:solidFill>
                          <a:latin typeface="Calibri"/>
                        </a:rPr>
                        <a:t>9.5.1.2.3.</a:t>
                      </a:r>
                      <a:r>
                        <a:rPr sz="700" b="0" i="1">
                          <a:solidFill>
                            <a:srgbClr val="000000"/>
                          </a:solidFill>
                          <a:latin typeface="Times New Roman"/>
                        </a:rPr>
                        <a:t>    </a:t>
                      </a:r>
                      <a:r>
                        <a:rPr sz="1100" b="0" i="1">
                          <a:solidFill>
                            <a:srgbClr val="000000"/>
                          </a:solidFill>
                          <a:latin typeface="Calibri"/>
                        </a:rPr>
                        <a:t>Cream and custard-filled</a:t>
                      </a:r>
                      <a:endParaRPr sz="1100"/>
                    </a:p>
                  </a:txBody>
                  <a:tcPr marL="1257300" marR="9525" marT="9525" marB="0" anchor="ctr"/>
                </a:tc>
              </a:tr>
              <a:tr h="175260">
                <a:tc>
                  <a:txBody>
                    <a:bodyPr wrap="square"/>
                    <a:lstStyle/>
                    <a:p>
                      <a:pPr algn="l"/>
                      <a:r>
                        <a:rPr sz="1100" b="0" i="1">
                          <a:solidFill>
                            <a:srgbClr val="000000"/>
                          </a:solidFill>
                          <a:latin typeface="Calibri"/>
                        </a:rPr>
                        <a:t>9.5.1.2.4.</a:t>
                      </a:r>
                      <a:r>
                        <a:rPr sz="700" b="0" i="1">
                          <a:solidFill>
                            <a:srgbClr val="000000"/>
                          </a:solidFill>
                          <a:latin typeface="Times New Roman"/>
                        </a:rPr>
                        <a:t>    </a:t>
                      </a:r>
                      <a:r>
                        <a:rPr sz="1100" b="0" i="1">
                          <a:solidFill>
                            <a:srgbClr val="000000"/>
                          </a:solidFill>
                          <a:latin typeface="Calibri"/>
                        </a:rPr>
                        <a:t>Nut butter-filled</a:t>
                      </a:r>
                      <a:endParaRPr sz="1100"/>
                    </a:p>
                  </a:txBody>
                  <a:tcPr marL="1257300" marR="9525" marT="9525" marB="0" anchor="ctr"/>
                </a:tc>
              </a:tr>
              <a:tr h="175260">
                <a:tc>
                  <a:txBody>
                    <a:bodyPr wrap="square"/>
                    <a:lstStyle/>
                    <a:p>
                      <a:pPr algn="l"/>
                      <a:r>
                        <a:rPr sz="1100" b="0" i="1">
                          <a:solidFill>
                            <a:srgbClr val="000000"/>
                          </a:solidFill>
                          <a:latin typeface="Calibri"/>
                        </a:rPr>
                        <a:t>9.5.1.2.5.</a:t>
                      </a:r>
                      <a:r>
                        <a:rPr sz="700" b="0" i="1">
                          <a:solidFill>
                            <a:srgbClr val="000000"/>
                          </a:solidFill>
                          <a:latin typeface="Times New Roman"/>
                        </a:rPr>
                        <a:t>    </a:t>
                      </a:r>
                      <a:r>
                        <a:rPr sz="1100" b="0" i="1">
                          <a:solidFill>
                            <a:srgbClr val="000000"/>
                          </a:solidFill>
                          <a:latin typeface="Calibri"/>
                        </a:rPr>
                        <a:t>Cheese and savoury-filled</a:t>
                      </a:r>
                      <a:endParaRPr sz="1100"/>
                    </a:p>
                  </a:txBody>
                  <a:tcPr marL="1257300"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Global Market (Value- Volume) Analysis 2021–2036, By Surface Finish</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10.5.1.</a:t>
                      </a:r>
                      <a:r>
                        <a:rPr sz="700" b="0" i="0">
                          <a:solidFill>
                            <a:srgbClr val="000000"/>
                          </a:solidFill>
                          <a:latin typeface="Times New Roman"/>
                        </a:rPr>
                        <a:t> </a:t>
                      </a:r>
                      <a:r>
                        <a:rPr sz="1100" b="0" i="0">
                          <a:solidFill>
                            <a:srgbClr val="000000"/>
                          </a:solidFill>
                          <a:latin typeface="Calibri"/>
                        </a:rPr>
                        <a:t>Untopped</a:t>
                      </a:r>
                      <a:endParaRPr sz="1100"/>
                    </a:p>
                  </a:txBody>
                  <a:tcPr marL="771525" marR="9525" marT="9525" marB="0" anchor="ctr"/>
                </a:tc>
              </a:tr>
              <a:tr h="175260">
                <a:tc>
                  <a:txBody>
                    <a:bodyPr wrap="square"/>
                    <a:lstStyle/>
                    <a:p>
                      <a:pPr algn="l"/>
                      <a:r>
                        <a:rPr sz="1100" b="0" i="0">
                          <a:solidFill>
                            <a:srgbClr val="000000"/>
                          </a:solidFill>
                          <a:latin typeface="Calibri"/>
                        </a:rPr>
                        <a:t>10.5.2.</a:t>
                      </a:r>
                      <a:r>
                        <a:rPr sz="700" b="0" i="0">
                          <a:solidFill>
                            <a:srgbClr val="000000"/>
                          </a:solidFill>
                          <a:latin typeface="Times New Roman"/>
                        </a:rPr>
                        <a:t> </a:t>
                      </a:r>
                      <a:r>
                        <a:rPr sz="1100" b="0" i="0">
                          <a:solidFill>
                            <a:srgbClr val="000000"/>
                          </a:solidFill>
                          <a:latin typeface="Calibri"/>
                        </a:rPr>
                        <a:t>Crumb/streusel-topped</a:t>
                      </a:r>
                      <a:endParaRPr sz="1100"/>
                    </a:p>
                  </a:txBody>
                  <a:tcPr marL="771525" marR="9525" marT="9525" marB="0" anchor="ctr"/>
                </a:tc>
              </a:tr>
              <a:tr h="175260">
                <a:tc>
                  <a:txBody>
                    <a:bodyPr wrap="square"/>
                    <a:lstStyle/>
                    <a:p>
                      <a:pPr algn="l"/>
                      <a:r>
                        <a:rPr sz="1100" b="0" i="0">
                          <a:solidFill>
                            <a:srgbClr val="000000"/>
                          </a:solidFill>
                          <a:latin typeface="Calibri"/>
                        </a:rPr>
                        <a:t>10.5.3.</a:t>
                      </a:r>
                      <a:r>
                        <a:rPr sz="700" b="0" i="0">
                          <a:solidFill>
                            <a:srgbClr val="000000"/>
                          </a:solidFill>
                          <a:latin typeface="Times New Roman"/>
                        </a:rPr>
                        <a:t> </a:t>
                      </a:r>
                      <a:r>
                        <a:rPr sz="1100" b="0" i="0">
                          <a:solidFill>
                            <a:srgbClr val="000000"/>
                          </a:solidFill>
                          <a:latin typeface="Calibri"/>
                        </a:rPr>
                        <a:t>Sugar-topped</a:t>
                      </a:r>
                      <a:endParaRPr sz="1100"/>
                    </a:p>
                  </a:txBody>
                  <a:tcPr marL="771525" marR="9525" marT="9525" marB="0" anchor="ctr"/>
                </a:tc>
              </a:tr>
              <a:tr h="175260">
                <a:tc>
                  <a:txBody>
                    <a:bodyPr wrap="square"/>
                    <a:lstStyle/>
                    <a:p>
                      <a:pPr algn="l"/>
                      <a:r>
                        <a:rPr sz="1100" b="0" i="0">
                          <a:solidFill>
                            <a:srgbClr val="000000"/>
                          </a:solidFill>
                          <a:latin typeface="Calibri"/>
                        </a:rPr>
                        <a:t>10.5.4.</a:t>
                      </a:r>
                      <a:r>
                        <a:rPr sz="700" b="0" i="0">
                          <a:solidFill>
                            <a:srgbClr val="000000"/>
                          </a:solidFill>
                          <a:latin typeface="Times New Roman"/>
                        </a:rPr>
                        <a:t> </a:t>
                      </a:r>
                      <a:r>
                        <a:rPr sz="1100" b="0" i="0">
                          <a:solidFill>
                            <a:srgbClr val="000000"/>
                          </a:solidFill>
                          <a:latin typeface="Calibri"/>
                        </a:rPr>
                        <a:t>Nut and seed-topped</a:t>
                      </a:r>
                      <a:endParaRPr sz="1100"/>
                    </a:p>
                  </a:txBody>
                  <a:tcPr marL="771525" marR="9525" marT="9525" marB="0" anchor="ctr"/>
                </a:tc>
              </a:tr>
              <a:tr h="175260">
                <a:tc>
                  <a:txBody>
                    <a:bodyPr wrap="square"/>
                    <a:lstStyle/>
                    <a:p>
                      <a:pPr algn="l"/>
                      <a:r>
                        <a:rPr sz="1100" b="0" i="0">
                          <a:solidFill>
                            <a:srgbClr val="000000"/>
                          </a:solidFill>
                          <a:latin typeface="Calibri"/>
                        </a:rPr>
                        <a:t>10.5.5.</a:t>
                      </a:r>
                      <a:r>
                        <a:rPr sz="700" b="0" i="0">
                          <a:solidFill>
                            <a:srgbClr val="000000"/>
                          </a:solidFill>
                          <a:latin typeface="Times New Roman"/>
                        </a:rPr>
                        <a:t> </a:t>
                      </a:r>
                      <a:r>
                        <a:rPr sz="1100" b="0" i="0">
                          <a:solidFill>
                            <a:srgbClr val="000000"/>
                          </a:solidFill>
                          <a:latin typeface="Calibri"/>
                        </a:rPr>
                        <a:t>Glazed/drizzled</a:t>
                      </a:r>
                      <a:endParaRPr sz="1100"/>
                    </a:p>
                  </a:txBody>
                  <a:tcPr marL="771525" marR="9525" marT="9525" marB="0" anchor="ctr"/>
                </a:tc>
              </a:tr>
              <a:tr h="175260">
                <a:tc>
                  <a:txBody>
                    <a:bodyPr wrap="square"/>
                    <a:lstStyle/>
                    <a:p>
                      <a:pPr algn="l"/>
                      <a:r>
                        <a:rPr sz="1100" b="0" i="0">
                          <a:solidFill>
                            <a:srgbClr val="000000"/>
                          </a:solidFill>
                          <a:latin typeface="Calibri"/>
                        </a:rPr>
                        <a:t>10.5.6.</a:t>
                      </a:r>
                      <a:r>
                        <a:rPr sz="700" b="0" i="0">
                          <a:solidFill>
                            <a:srgbClr val="000000"/>
                          </a:solidFill>
                          <a:latin typeface="Times New Roman"/>
                        </a:rPr>
                        <a:t> </a:t>
                      </a:r>
                      <a:r>
                        <a:rPr sz="1100" b="0" i="0">
                          <a:solidFill>
                            <a:srgbClr val="000000"/>
                          </a:solidFill>
                          <a:latin typeface="Calibri"/>
                        </a:rPr>
                        <a:t>Other toppings</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Global Market (Value- Volume) Analysis 2021–2036, By Individual Muffin Size</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11.5.1.</a:t>
                      </a:r>
                      <a:r>
                        <a:rPr sz="700" b="0" i="0">
                          <a:solidFill>
                            <a:srgbClr val="000000"/>
                          </a:solidFill>
                          <a:latin typeface="Times New Roman"/>
                        </a:rPr>
                        <a:t> </a:t>
                      </a:r>
                      <a:r>
                        <a:rPr sz="1100" b="0" i="0">
                          <a:solidFill>
                            <a:srgbClr val="000000"/>
                          </a:solidFill>
                          <a:latin typeface="Calibri"/>
                        </a:rPr>
                        <a:t>Mini/bite-sized - below 30 g</a:t>
                      </a:r>
                      <a:endParaRPr sz="1100"/>
                    </a:p>
                  </a:txBody>
                  <a:tcPr marL="771525" marR="9525" marT="9525" marB="0" anchor="ctr"/>
                </a:tc>
              </a:tr>
              <a:tr h="175260">
                <a:tc>
                  <a:txBody>
                    <a:bodyPr wrap="square"/>
                    <a:lstStyle/>
                    <a:p>
                      <a:pPr algn="l"/>
                      <a:r>
                        <a:rPr sz="1100" b="0" i="0">
                          <a:solidFill>
                            <a:srgbClr val="000000"/>
                          </a:solidFill>
                          <a:latin typeface="Calibri"/>
                        </a:rPr>
                        <a:t>11.5.2.</a:t>
                      </a:r>
                      <a:r>
                        <a:rPr sz="700" b="0" i="0">
                          <a:solidFill>
                            <a:srgbClr val="000000"/>
                          </a:solidFill>
                          <a:latin typeface="Times New Roman"/>
                        </a:rPr>
                        <a:t> </a:t>
                      </a:r>
                      <a:r>
                        <a:rPr sz="1100" b="0" i="0">
                          <a:solidFill>
                            <a:srgbClr val="000000"/>
                          </a:solidFill>
                          <a:latin typeface="Calibri"/>
                        </a:rPr>
                        <a:t>Small - 30 g to below 60 g</a:t>
                      </a:r>
                      <a:endParaRPr sz="1100"/>
                    </a:p>
                  </a:txBody>
                  <a:tcPr marL="771525" marR="9525" marT="9525" marB="0" anchor="ctr"/>
                </a:tc>
              </a:tr>
              <a:tr h="175260">
                <a:tc>
                  <a:txBody>
                    <a:bodyPr wrap="square"/>
                    <a:lstStyle/>
                    <a:p>
                      <a:pPr algn="l"/>
                      <a:r>
                        <a:rPr sz="1100" b="0" i="0">
                          <a:solidFill>
                            <a:srgbClr val="000000"/>
                          </a:solidFill>
                          <a:latin typeface="Calibri"/>
                        </a:rPr>
                        <a:t>11.5.3.</a:t>
                      </a:r>
                      <a:r>
                        <a:rPr sz="700" b="0" i="0">
                          <a:solidFill>
                            <a:srgbClr val="000000"/>
                          </a:solidFill>
                          <a:latin typeface="Times New Roman"/>
                        </a:rPr>
                        <a:t> </a:t>
                      </a:r>
                      <a:r>
                        <a:rPr sz="1100" b="0" i="0">
                          <a:solidFill>
                            <a:srgbClr val="000000"/>
                          </a:solidFill>
                          <a:latin typeface="Calibri"/>
                        </a:rPr>
                        <a:t>Standard - 60 g to below 100 g</a:t>
                      </a:r>
                      <a:endParaRPr sz="1100"/>
                    </a:p>
                  </a:txBody>
                  <a:tcPr marL="771525" marR="9525" marT="9525" marB="0" anchor="ctr"/>
                </a:tc>
              </a:tr>
              <a:tr h="175260">
                <a:tc>
                  <a:txBody>
                    <a:bodyPr wrap="square"/>
                    <a:lstStyle/>
                    <a:p>
                      <a:pPr algn="l"/>
                      <a:r>
                        <a:rPr sz="1100" b="0" i="0">
                          <a:solidFill>
                            <a:srgbClr val="000000"/>
                          </a:solidFill>
                          <a:latin typeface="Calibri"/>
                        </a:rPr>
                        <a:t>11.5.4.</a:t>
                      </a:r>
                      <a:r>
                        <a:rPr sz="700" b="0" i="0">
                          <a:solidFill>
                            <a:srgbClr val="000000"/>
                          </a:solidFill>
                          <a:latin typeface="Times New Roman"/>
                        </a:rPr>
                        <a:t> </a:t>
                      </a:r>
                      <a:r>
                        <a:rPr sz="1100" b="0" i="0">
                          <a:solidFill>
                            <a:srgbClr val="000000"/>
                          </a:solidFill>
                          <a:latin typeface="Calibri"/>
                        </a:rPr>
                        <a:t>Large/jumbo - 100 g and above</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Global Market (Value- Volume) Analysis 2021–2036, By Sales Channel</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12.5.1.</a:t>
                      </a:r>
                      <a:r>
                        <a:rPr sz="700" b="0" i="0">
                          <a:solidFill>
                            <a:srgbClr val="000000"/>
                          </a:solidFill>
                          <a:latin typeface="Times New Roman"/>
                        </a:rPr>
                        <a:t> </a:t>
                      </a:r>
                      <a:r>
                        <a:rPr sz="1100" b="0" i="0">
                          <a:solidFill>
                            <a:srgbClr val="000000"/>
                          </a:solidFill>
                          <a:latin typeface="Calibri"/>
                        </a:rPr>
                        <a:t>Ambient</a:t>
                      </a:r>
                      <a:endParaRPr sz="1100"/>
                    </a:p>
                  </a:txBody>
                  <a:tcPr marL="771525" marR="9525" marT="9525" marB="0" anchor="ctr"/>
                </a:tc>
              </a:tr>
              <a:tr h="175260">
                <a:tc>
                  <a:txBody>
                    <a:bodyPr wrap="square"/>
                    <a:lstStyle/>
                    <a:p>
                      <a:pPr algn="l"/>
                      <a:r>
                        <a:rPr sz="1100" b="0" i="0">
                          <a:solidFill>
                            <a:srgbClr val="000000"/>
                          </a:solidFill>
                          <a:latin typeface="Calibri"/>
                        </a:rPr>
                        <a:t>12.5.2.</a:t>
                      </a:r>
                      <a:r>
                        <a:rPr sz="700" b="0" i="0">
                          <a:solidFill>
                            <a:srgbClr val="000000"/>
                          </a:solidFill>
                          <a:latin typeface="Times New Roman"/>
                        </a:rPr>
                        <a:t> </a:t>
                      </a:r>
                      <a:r>
                        <a:rPr sz="1100" b="0" i="0">
                          <a:solidFill>
                            <a:srgbClr val="000000"/>
                          </a:solidFill>
                          <a:latin typeface="Calibri"/>
                        </a:rPr>
                        <a:t>Chilled</a:t>
                      </a:r>
                      <a:endParaRPr sz="1100"/>
                    </a:p>
                  </a:txBody>
                  <a:tcPr marL="771525" marR="9525" marT="9525" marB="0" anchor="ctr"/>
                </a:tc>
              </a:tr>
              <a:tr h="175260">
                <a:tc>
                  <a:txBody>
                    <a:bodyPr wrap="square"/>
                    <a:lstStyle/>
                    <a:p>
                      <a:pPr algn="l"/>
                      <a:r>
                        <a:rPr sz="1100" b="0" i="0">
                          <a:solidFill>
                            <a:srgbClr val="000000"/>
                          </a:solidFill>
                          <a:latin typeface="Calibri"/>
                        </a:rPr>
                        <a:t>12.5.3.</a:t>
                      </a:r>
                      <a:r>
                        <a:rPr sz="700" b="0" i="0">
                          <a:solidFill>
                            <a:srgbClr val="000000"/>
                          </a:solidFill>
                          <a:latin typeface="Times New Roman"/>
                        </a:rPr>
                        <a:t> </a:t>
                      </a:r>
                      <a:r>
                        <a:rPr sz="1100" b="0" i="0">
                          <a:solidFill>
                            <a:srgbClr val="000000"/>
                          </a:solidFill>
                          <a:latin typeface="Calibri"/>
                        </a:rPr>
                        <a:t>Frozen</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Global Market (Value- Volume) Analysis 2021–2036, By Shelf Life</a:t>
                      </a:r>
                      <a:endParaRPr sz="1100"/>
                    </a:p>
                  </a:txBody>
                  <a:tcPr marL="171450" marR="9525" marT="9525" marB="0" anchor="ctr"/>
                </a:tc>
              </a:tr>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13.5.1.</a:t>
                      </a:r>
                      <a:r>
                        <a:rPr sz="700" b="0" i="0">
                          <a:solidFill>
                            <a:srgbClr val="000000"/>
                          </a:solidFill>
                          <a:latin typeface="Times New Roman"/>
                        </a:rPr>
                        <a:t> </a:t>
                      </a:r>
                      <a:r>
                        <a:rPr sz="1100" b="0" i="0">
                          <a:solidFill>
                            <a:srgbClr val="000000"/>
                          </a:solidFill>
                          <a:latin typeface="Calibri"/>
                        </a:rPr>
                        <a:t>Up to 7 days</a:t>
                      </a:r>
                      <a:endParaRPr sz="1100"/>
                    </a:p>
                  </a:txBody>
                  <a:tcPr marL="771525" marR="9525" marT="9525" marB="0" anchor="ctr"/>
                </a:tc>
              </a:tr>
              <a:tr h="175260">
                <a:tc>
                  <a:txBody>
                    <a:bodyPr wrap="square"/>
                    <a:lstStyle/>
                    <a:p>
                      <a:pPr algn="l"/>
                      <a:r>
                        <a:rPr sz="1100" b="0" i="0">
                          <a:solidFill>
                            <a:srgbClr val="000000"/>
                          </a:solidFill>
                          <a:latin typeface="Calibri"/>
                        </a:rPr>
                        <a:t>13.5.2.</a:t>
                      </a:r>
                      <a:r>
                        <a:rPr sz="700" b="0" i="0">
                          <a:solidFill>
                            <a:srgbClr val="000000"/>
                          </a:solidFill>
                          <a:latin typeface="Times New Roman"/>
                        </a:rPr>
                        <a:t> </a:t>
                      </a:r>
                      <a:r>
                        <a:rPr sz="1100" b="0" i="0">
                          <a:solidFill>
                            <a:srgbClr val="000000"/>
                          </a:solidFill>
                          <a:latin typeface="Calibri"/>
                        </a:rPr>
                        <a:t>8–30 days</a:t>
                      </a:r>
                      <a:endParaRPr sz="1100"/>
                    </a:p>
                  </a:txBody>
                  <a:tcPr marL="771525" marR="9525" marT="9525" marB="0" anchor="ctr"/>
                </a:tc>
              </a:tr>
              <a:tr h="175260">
                <a:tc>
                  <a:txBody>
                    <a:bodyPr wrap="square"/>
                    <a:lstStyle/>
                    <a:p>
                      <a:pPr algn="l"/>
                      <a:r>
                        <a:rPr sz="1100" b="0" i="0">
                          <a:solidFill>
                            <a:srgbClr val="000000"/>
                          </a:solidFill>
                          <a:latin typeface="Calibri"/>
                        </a:rPr>
                        <a:t>13.5.3.</a:t>
                      </a:r>
                      <a:r>
                        <a:rPr sz="700" b="0" i="0">
                          <a:solidFill>
                            <a:srgbClr val="000000"/>
                          </a:solidFill>
                          <a:latin typeface="Times New Roman"/>
                        </a:rPr>
                        <a:t> </a:t>
                      </a:r>
                      <a:r>
                        <a:rPr sz="1100" b="0" i="0">
                          <a:solidFill>
                            <a:srgbClr val="000000"/>
                          </a:solidFill>
                          <a:latin typeface="Calibri"/>
                        </a:rPr>
                        <a:t>31–90 days</a:t>
                      </a:r>
                      <a:endParaRPr sz="1100"/>
                    </a:p>
                  </a:txBody>
                  <a:tcPr marL="771525" marR="9525" marT="9525" marB="0" anchor="ctr"/>
                </a:tc>
              </a:tr>
              <a:tr h="175260">
                <a:tc>
                  <a:txBody>
                    <a:bodyPr wrap="square"/>
                    <a:lstStyle/>
                    <a:p>
                      <a:pPr algn="l"/>
                      <a:r>
                        <a:rPr sz="1100" b="0" i="0">
                          <a:solidFill>
                            <a:srgbClr val="000000"/>
                          </a:solidFill>
                          <a:latin typeface="Calibri"/>
                        </a:rPr>
                        <a:t>13.5.4.</a:t>
                      </a:r>
                      <a:r>
                        <a:rPr sz="700" b="0" i="0">
                          <a:solidFill>
                            <a:srgbClr val="000000"/>
                          </a:solidFill>
                          <a:latin typeface="Times New Roman"/>
                        </a:rPr>
                        <a:t> </a:t>
                      </a:r>
                      <a:r>
                        <a:rPr sz="1100" b="0" i="0">
                          <a:solidFill>
                            <a:srgbClr val="000000"/>
                          </a:solidFill>
                          <a:latin typeface="Calibri"/>
                        </a:rPr>
                        <a:t>More than 90 days</a:t>
                      </a:r>
                      <a:endParaRPr sz="1100"/>
                    </a:p>
                  </a:txBody>
                  <a:tcPr marL="771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Market (Value- Volume) Analysis 2021–2036, By Packaging Format</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14.5.1.</a:t>
                      </a:r>
                      <a:r>
                        <a:rPr sz="700" b="0" i="0">
                          <a:solidFill>
                            <a:srgbClr val="000000"/>
                          </a:solidFill>
                          <a:latin typeface="Times New Roman"/>
                        </a:rPr>
                        <a:t> </a:t>
                      </a:r>
                      <a:r>
                        <a:rPr sz="1100" b="0" i="0">
                          <a:solidFill>
                            <a:srgbClr val="000000"/>
                          </a:solidFill>
                          <a:latin typeface="Calibri"/>
                        </a:rPr>
                        <a:t>Flexible packs</a:t>
                      </a:r>
                      <a:endParaRPr sz="1100"/>
                    </a:p>
                  </a:txBody>
                  <a:tcPr marL="771525" marR="9525" marT="9525" marB="0" anchor="ctr"/>
                </a:tc>
              </a:tr>
              <a:tr h="175260">
                <a:tc>
                  <a:txBody>
                    <a:bodyPr wrap="square"/>
                    <a:lstStyle/>
                    <a:p>
                      <a:pPr algn="l"/>
                      <a:r>
                        <a:rPr sz="1100" b="0" i="1">
                          <a:solidFill>
                            <a:srgbClr val="000000"/>
                          </a:solidFill>
                          <a:latin typeface="Calibri"/>
                        </a:rPr>
                        <a:t>14.5.1.1.</a:t>
                      </a:r>
                      <a:r>
                        <a:rPr sz="700" b="0" i="1">
                          <a:solidFill>
                            <a:srgbClr val="000000"/>
                          </a:solidFill>
                          <a:latin typeface="Times New Roman"/>
                        </a:rPr>
                        <a:t> </a:t>
                      </a:r>
                      <a:r>
                        <a:rPr sz="1100" b="0" i="1">
                          <a:solidFill>
                            <a:srgbClr val="000000"/>
                          </a:solidFill>
                          <a:latin typeface="Calibri"/>
                        </a:rPr>
                        <a:t>Flow-wrap packs</a:t>
                      </a:r>
                      <a:endParaRPr sz="1100"/>
                    </a:p>
                  </a:txBody>
                  <a:tcPr marL="1028700" marR="9525" marT="9525" marB="0" anchor="ctr"/>
                </a:tc>
              </a:tr>
              <a:tr h="175260">
                <a:tc>
                  <a:txBody>
                    <a:bodyPr wrap="square"/>
                    <a:lstStyle/>
                    <a:p>
                      <a:pPr algn="l"/>
                      <a:r>
                        <a:rPr sz="1100" b="0" i="1">
                          <a:solidFill>
                            <a:srgbClr val="000000"/>
                          </a:solidFill>
                          <a:latin typeface="Calibri"/>
                        </a:rPr>
                        <a:t>14.5.1.2.</a:t>
                      </a:r>
                      <a:r>
                        <a:rPr sz="700" b="0" i="1">
                          <a:solidFill>
                            <a:srgbClr val="000000"/>
                          </a:solidFill>
                          <a:latin typeface="Times New Roman"/>
                        </a:rPr>
                        <a:t> </a:t>
                      </a:r>
                      <a:r>
                        <a:rPr sz="1100" b="0" i="1">
                          <a:solidFill>
                            <a:srgbClr val="000000"/>
                          </a:solidFill>
                          <a:latin typeface="Calibri"/>
                        </a:rPr>
                        <a:t>Pouches and bags</a:t>
                      </a:r>
                      <a:endParaRPr sz="1100"/>
                    </a:p>
                  </a:txBody>
                  <a:tcPr marL="1028700" marR="9525" marT="9525" marB="0" anchor="ctr"/>
                </a:tc>
              </a:tr>
              <a:tr h="175260">
                <a:tc>
                  <a:txBody>
                    <a:bodyPr wrap="square"/>
                    <a:lstStyle/>
                    <a:p>
                      <a:pPr algn="l"/>
                      <a:r>
                        <a:rPr sz="1100" b="0" i="0">
                          <a:solidFill>
                            <a:srgbClr val="000000"/>
                          </a:solidFill>
                          <a:latin typeface="Calibri"/>
                        </a:rPr>
                        <a:t>14.5.2.</a:t>
                      </a:r>
                      <a:r>
                        <a:rPr sz="700" b="0" i="0">
                          <a:solidFill>
                            <a:srgbClr val="000000"/>
                          </a:solidFill>
                          <a:latin typeface="Times New Roman"/>
                        </a:rPr>
                        <a:t> </a:t>
                      </a:r>
                      <a:r>
                        <a:rPr sz="1100" b="0" i="0">
                          <a:solidFill>
                            <a:srgbClr val="000000"/>
                          </a:solidFill>
                          <a:latin typeface="Calibri"/>
                        </a:rPr>
                        <a:t>Rigid plastic packs</a:t>
                      </a:r>
                      <a:endParaRPr sz="1100"/>
                    </a:p>
                  </a:txBody>
                  <a:tcPr marL="771525" marR="9525" marT="9525" marB="0" anchor="ctr"/>
                </a:tc>
              </a:tr>
              <a:tr h="175260">
                <a:tc>
                  <a:txBody>
                    <a:bodyPr wrap="square"/>
                    <a:lstStyle/>
                    <a:p>
                      <a:pPr algn="l"/>
                      <a:r>
                        <a:rPr sz="1100" b="0" i="1">
                          <a:solidFill>
                            <a:srgbClr val="000000"/>
                          </a:solidFill>
                          <a:latin typeface="Calibri"/>
                        </a:rPr>
                        <a:t>14.5.2.1.</a:t>
                      </a:r>
                      <a:r>
                        <a:rPr sz="700" b="0" i="1">
                          <a:solidFill>
                            <a:srgbClr val="000000"/>
                          </a:solidFill>
                          <a:latin typeface="Times New Roman"/>
                        </a:rPr>
                        <a:t> </a:t>
                      </a:r>
                      <a:r>
                        <a:rPr sz="1100" b="0" i="1">
                          <a:solidFill>
                            <a:srgbClr val="000000"/>
                          </a:solidFill>
                          <a:latin typeface="Calibri"/>
                        </a:rPr>
                        <a:t>Trays with sealed film</a:t>
                      </a:r>
                      <a:endParaRPr sz="1100"/>
                    </a:p>
                  </a:txBody>
                  <a:tcPr marL="1028700" marR="9525" marT="9525" marB="0" anchor="ctr"/>
                </a:tc>
              </a:tr>
              <a:tr h="175260">
                <a:tc>
                  <a:txBody>
                    <a:bodyPr wrap="square"/>
                    <a:lstStyle/>
                    <a:p>
                      <a:pPr algn="l"/>
                      <a:r>
                        <a:rPr sz="1100" b="0" i="1">
                          <a:solidFill>
                            <a:srgbClr val="000000"/>
                          </a:solidFill>
                          <a:latin typeface="Calibri"/>
                        </a:rPr>
                        <a:t>14.5.2.2.</a:t>
                      </a:r>
                      <a:r>
                        <a:rPr sz="700" b="0" i="1">
                          <a:solidFill>
                            <a:srgbClr val="000000"/>
                          </a:solidFill>
                          <a:latin typeface="Times New Roman"/>
                        </a:rPr>
                        <a:t> </a:t>
                      </a:r>
                      <a:r>
                        <a:rPr sz="1100" b="0" i="1">
                          <a:solidFill>
                            <a:srgbClr val="000000"/>
                          </a:solidFill>
                          <a:latin typeface="Calibri"/>
                        </a:rPr>
                        <a:t>Clamshell containers</a:t>
                      </a:r>
                      <a:endParaRPr sz="1100"/>
                    </a:p>
                  </a:txBody>
                  <a:tcPr marL="1028700" marR="9525" marT="9525" marB="0" anchor="ctr"/>
                </a:tc>
              </a:tr>
              <a:tr h="175260">
                <a:tc>
                  <a:txBody>
                    <a:bodyPr wrap="square"/>
                    <a:lstStyle/>
                    <a:p>
                      <a:pPr algn="l"/>
                      <a:r>
                        <a:rPr sz="1100" b="0" i="1">
                          <a:solidFill>
                            <a:srgbClr val="000000"/>
                          </a:solidFill>
                          <a:latin typeface="Calibri"/>
                        </a:rPr>
                        <a:t>14.5.2.3.</a:t>
                      </a:r>
                      <a:r>
                        <a:rPr sz="700" b="0" i="1">
                          <a:solidFill>
                            <a:srgbClr val="000000"/>
                          </a:solidFill>
                          <a:latin typeface="Times New Roman"/>
                        </a:rPr>
                        <a:t> </a:t>
                      </a:r>
                      <a:r>
                        <a:rPr sz="1100" b="0" i="1">
                          <a:solidFill>
                            <a:srgbClr val="000000"/>
                          </a:solidFill>
                          <a:latin typeface="Calibri"/>
                        </a:rPr>
                        <a:t>Tubs</a:t>
                      </a:r>
                      <a:endParaRPr sz="1100"/>
                    </a:p>
                  </a:txBody>
                  <a:tcPr marL="1028700" marR="9525" marT="9525" marB="0" anchor="ctr"/>
                </a:tc>
              </a:tr>
              <a:tr h="175260">
                <a:tc>
                  <a:txBody>
                    <a:bodyPr wrap="square"/>
                    <a:lstStyle/>
                    <a:p>
                      <a:pPr algn="l"/>
                      <a:r>
                        <a:rPr sz="1100" b="0" i="0">
                          <a:solidFill>
                            <a:srgbClr val="000000"/>
                          </a:solidFill>
                          <a:latin typeface="Calibri"/>
                        </a:rPr>
                        <a:t>14.5.3.</a:t>
                      </a:r>
                      <a:r>
                        <a:rPr sz="700" b="0" i="0">
                          <a:solidFill>
                            <a:srgbClr val="000000"/>
                          </a:solidFill>
                          <a:latin typeface="Times New Roman"/>
                        </a:rPr>
                        <a:t> </a:t>
                      </a:r>
                      <a:r>
                        <a:rPr sz="1100" b="0" i="0">
                          <a:solidFill>
                            <a:srgbClr val="000000"/>
                          </a:solidFill>
                          <a:latin typeface="Calibri"/>
                        </a:rPr>
                        <a:t>Paperboard packs</a:t>
                      </a:r>
                      <a:endParaRPr sz="1100"/>
                    </a:p>
                  </a:txBody>
                  <a:tcPr marL="771525" marR="9525" marT="9525" marB="0" anchor="ctr"/>
                </a:tc>
              </a:tr>
              <a:tr h="175260">
                <a:tc>
                  <a:txBody>
                    <a:bodyPr wrap="square"/>
                    <a:lstStyle/>
                    <a:p>
                      <a:pPr algn="l"/>
                      <a:r>
                        <a:rPr sz="1100" b="0" i="1">
                          <a:solidFill>
                            <a:srgbClr val="000000"/>
                          </a:solidFill>
                          <a:latin typeface="Calibri"/>
                        </a:rPr>
                        <a:t>14.5.3.1.</a:t>
                      </a:r>
                      <a:r>
                        <a:rPr sz="700" b="0" i="1">
                          <a:solidFill>
                            <a:srgbClr val="000000"/>
                          </a:solidFill>
                          <a:latin typeface="Times New Roman"/>
                        </a:rPr>
                        <a:t> </a:t>
                      </a:r>
                      <a:r>
                        <a:rPr sz="1100" b="0" i="1">
                          <a:solidFill>
                            <a:srgbClr val="000000"/>
                          </a:solidFill>
                          <a:latin typeface="Calibri"/>
                        </a:rPr>
                        <a:t>Cartons with inner wrapping</a:t>
                      </a:r>
                      <a:endParaRPr sz="1100"/>
                    </a:p>
                  </a:txBody>
                  <a:tcPr marL="1028700" marR="9525" marT="9525" marB="0" anchor="ctr"/>
                </a:tc>
              </a:tr>
              <a:tr h="175260">
                <a:tc>
                  <a:txBody>
                    <a:bodyPr wrap="square"/>
                    <a:lstStyle/>
                    <a:p>
                      <a:pPr algn="l"/>
                      <a:r>
                        <a:rPr sz="1100" b="0" i="1">
                          <a:solidFill>
                            <a:srgbClr val="000000"/>
                          </a:solidFill>
                          <a:latin typeface="Calibri"/>
                        </a:rPr>
                        <a:t>14.5.3.2.</a:t>
                      </a:r>
                      <a:r>
                        <a:rPr sz="700" b="0" i="1">
                          <a:solidFill>
                            <a:srgbClr val="000000"/>
                          </a:solidFill>
                          <a:latin typeface="Times New Roman"/>
                        </a:rPr>
                        <a:t> </a:t>
                      </a:r>
                      <a:r>
                        <a:rPr sz="1100" b="0" i="1">
                          <a:solidFill>
                            <a:srgbClr val="000000"/>
                          </a:solidFill>
                          <a:latin typeface="Calibri"/>
                        </a:rPr>
                        <a:t>Windowed cartons</a:t>
                      </a:r>
                      <a:endParaRPr sz="1100"/>
                    </a:p>
                  </a:txBody>
                  <a:tcPr marL="1028700" marR="9525" marT="9525" marB="0" anchor="ctr"/>
                </a:tc>
              </a:tr>
              <a:tr h="175260">
                <a:tc>
                  <a:txBody>
                    <a:bodyPr wrap="square"/>
                    <a:lstStyle/>
                    <a:p>
                      <a:pPr algn="l"/>
                      <a:r>
                        <a:rPr sz="1100" b="0" i="0">
                          <a:solidFill>
                            <a:srgbClr val="000000"/>
                          </a:solidFill>
                          <a:latin typeface="Calibri"/>
                        </a:rPr>
                        <a:t>14.5.4.</a:t>
                      </a:r>
                      <a:r>
                        <a:rPr sz="700" b="0" i="0">
                          <a:solidFill>
                            <a:srgbClr val="000000"/>
                          </a:solidFill>
                          <a:latin typeface="Times New Roman"/>
                        </a:rPr>
                        <a:t> </a:t>
                      </a:r>
                      <a:r>
                        <a:rPr sz="1100" b="0" i="0">
                          <a:solidFill>
                            <a:srgbClr val="000000"/>
                          </a:solidFill>
                          <a:latin typeface="Calibri"/>
                        </a:rPr>
                        <a:t>Other packaging formats</a:t>
                      </a:r>
                      <a:endParaRPr sz="1100"/>
                    </a:p>
                  </a:txBody>
                  <a:tcPr marL="771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Global Market (Value- Volume) Analysis 2021–2036, By Pack Configuration</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15.5.1.</a:t>
                      </a:r>
                      <a:r>
                        <a:rPr sz="700" b="0" i="0">
                          <a:solidFill>
                            <a:srgbClr val="000000"/>
                          </a:solidFill>
                          <a:latin typeface="Times New Roman"/>
                        </a:rPr>
                        <a:t> </a:t>
                      </a:r>
                      <a:r>
                        <a:rPr sz="1100" b="0" i="0">
                          <a:solidFill>
                            <a:srgbClr val="000000"/>
                          </a:solidFill>
                          <a:latin typeface="Calibri"/>
                        </a:rPr>
                        <a:t>Single-muffin packs</a:t>
                      </a:r>
                      <a:endParaRPr sz="1100"/>
                    </a:p>
                  </a:txBody>
                  <a:tcPr marL="771525" marR="9525" marT="9525" marB="0" anchor="ctr"/>
                </a:tc>
              </a:tr>
              <a:tr h="175260">
                <a:tc>
                  <a:txBody>
                    <a:bodyPr wrap="square"/>
                    <a:lstStyle/>
                    <a:p>
                      <a:pPr algn="l"/>
                      <a:r>
                        <a:rPr sz="1100" b="0" i="0">
                          <a:solidFill>
                            <a:srgbClr val="000000"/>
                          </a:solidFill>
                          <a:latin typeface="Calibri"/>
                        </a:rPr>
                        <a:t>15.5.2.</a:t>
                      </a:r>
                      <a:r>
                        <a:rPr sz="700" b="0" i="0">
                          <a:solidFill>
                            <a:srgbClr val="000000"/>
                          </a:solidFill>
                          <a:latin typeface="Times New Roman"/>
                        </a:rPr>
                        <a:t> </a:t>
                      </a:r>
                      <a:r>
                        <a:rPr sz="1100" b="0" i="0">
                          <a:solidFill>
                            <a:srgbClr val="000000"/>
                          </a:solidFill>
                          <a:latin typeface="Calibri"/>
                        </a:rPr>
                        <a:t>Multipacks</a:t>
                      </a:r>
                      <a:endParaRPr sz="1100"/>
                    </a:p>
                  </a:txBody>
                  <a:tcPr marL="771525" marR="9525" marT="9525" marB="0" anchor="ctr"/>
                </a:tc>
              </a:tr>
              <a:tr h="175260">
                <a:tc>
                  <a:txBody>
                    <a:bodyPr wrap="square"/>
                    <a:lstStyle/>
                    <a:p>
                      <a:pPr algn="l"/>
                      <a:r>
                        <a:rPr sz="1100" b="0" i="1">
                          <a:solidFill>
                            <a:srgbClr val="000000"/>
                          </a:solidFill>
                          <a:latin typeface="Calibri"/>
                        </a:rPr>
                        <a:t>15.5.2.1.</a:t>
                      </a:r>
                      <a:r>
                        <a:rPr sz="700" b="0" i="1">
                          <a:solidFill>
                            <a:srgbClr val="000000"/>
                          </a:solidFill>
                          <a:latin typeface="Times New Roman"/>
                        </a:rPr>
                        <a:t> </a:t>
                      </a:r>
                      <a:r>
                        <a:rPr sz="1100" b="0" i="1">
                          <a:solidFill>
                            <a:srgbClr val="000000"/>
                          </a:solidFill>
                          <a:latin typeface="Calibri"/>
                        </a:rPr>
                        <a:t>2–4 muffins</a:t>
                      </a:r>
                      <a:endParaRPr sz="1100"/>
                    </a:p>
                  </a:txBody>
                  <a:tcPr marL="1028700" marR="9525" marT="9525" marB="0" anchor="ctr"/>
                </a:tc>
              </a:tr>
              <a:tr h="175260">
                <a:tc>
                  <a:txBody>
                    <a:bodyPr wrap="square"/>
                    <a:lstStyle/>
                    <a:p>
                      <a:pPr algn="l"/>
                      <a:r>
                        <a:rPr sz="1100" b="0" i="1">
                          <a:solidFill>
                            <a:srgbClr val="000000"/>
                          </a:solidFill>
                          <a:latin typeface="Calibri"/>
                        </a:rPr>
                        <a:t>15.5.2.2.</a:t>
                      </a:r>
                      <a:r>
                        <a:rPr sz="700" b="0" i="1">
                          <a:solidFill>
                            <a:srgbClr val="000000"/>
                          </a:solidFill>
                          <a:latin typeface="Times New Roman"/>
                        </a:rPr>
                        <a:t> </a:t>
                      </a:r>
                      <a:r>
                        <a:rPr sz="1100" b="0" i="1">
                          <a:solidFill>
                            <a:srgbClr val="000000"/>
                          </a:solidFill>
                          <a:latin typeface="Calibri"/>
                        </a:rPr>
                        <a:t>5–8 muffins</a:t>
                      </a:r>
                      <a:endParaRPr sz="1100"/>
                    </a:p>
                  </a:txBody>
                  <a:tcPr marL="1028700" marR="9525" marT="9525" marB="0" anchor="ctr"/>
                </a:tc>
              </a:tr>
              <a:tr h="175260">
                <a:tc>
                  <a:txBody>
                    <a:bodyPr wrap="square"/>
                    <a:lstStyle/>
                    <a:p>
                      <a:pPr algn="l"/>
                      <a:r>
                        <a:rPr sz="1100" b="0" i="1">
                          <a:solidFill>
                            <a:srgbClr val="000000"/>
                          </a:solidFill>
                          <a:latin typeface="Calibri"/>
                        </a:rPr>
                        <a:t>15.5.2.3.</a:t>
                      </a:r>
                      <a:r>
                        <a:rPr sz="700" b="0" i="1">
                          <a:solidFill>
                            <a:srgbClr val="000000"/>
                          </a:solidFill>
                          <a:latin typeface="Times New Roman"/>
                        </a:rPr>
                        <a:t> </a:t>
                      </a:r>
                      <a:r>
                        <a:rPr sz="1100" b="0" i="1">
                          <a:solidFill>
                            <a:srgbClr val="000000"/>
                          </a:solidFill>
                          <a:latin typeface="Calibri"/>
                        </a:rPr>
                        <a:t>9–12 muffins</a:t>
                      </a:r>
                      <a:endParaRPr sz="1100"/>
                    </a:p>
                  </a:txBody>
                  <a:tcPr marL="1028700" marR="9525" marT="9525" marB="0" anchor="ctr"/>
                </a:tc>
              </a:tr>
              <a:tr h="175260">
                <a:tc>
                  <a:txBody>
                    <a:bodyPr wrap="square"/>
                    <a:lstStyle/>
                    <a:p>
                      <a:pPr algn="l"/>
                      <a:r>
                        <a:rPr sz="1100" b="0" i="1">
                          <a:solidFill>
                            <a:srgbClr val="000000"/>
                          </a:solidFill>
                          <a:latin typeface="Calibri"/>
                        </a:rPr>
                        <a:t>15.5.2.4.</a:t>
                      </a:r>
                      <a:r>
                        <a:rPr sz="700" b="0" i="1">
                          <a:solidFill>
                            <a:srgbClr val="000000"/>
                          </a:solidFill>
                          <a:latin typeface="Times New Roman"/>
                        </a:rPr>
                        <a:t> </a:t>
                      </a:r>
                      <a:r>
                        <a:rPr sz="1100" b="0" i="1">
                          <a:solidFill>
                            <a:srgbClr val="000000"/>
                          </a:solidFill>
                          <a:latin typeface="Calibri"/>
                        </a:rPr>
                        <a:t>More than 12 muffins</a:t>
                      </a:r>
                      <a:endParaRPr sz="1100"/>
                    </a:p>
                  </a:txBody>
                  <a:tcPr marL="1028700" marR="9525" marT="9525" marB="0" anchor="ctr"/>
                </a:tc>
              </a:tr>
              <a:tr h="175260">
                <a:tc>
                  <a:txBody>
                    <a:bodyPr wrap="square"/>
                    <a:lstStyle/>
                    <a:p>
                      <a:pPr algn="l"/>
                      <a:r>
                        <a:rPr sz="1100" b="0" i="0">
                          <a:solidFill>
                            <a:srgbClr val="000000"/>
                          </a:solidFill>
                          <a:latin typeface="Calibri"/>
                        </a:rPr>
                        <a:t>15.5.3.</a:t>
                      </a:r>
                      <a:r>
                        <a:rPr sz="700" b="0" i="0">
                          <a:solidFill>
                            <a:srgbClr val="000000"/>
                          </a:solidFill>
                          <a:latin typeface="Times New Roman"/>
                        </a:rPr>
                        <a:t> </a:t>
                      </a:r>
                      <a:r>
                        <a:rPr sz="1100" b="0" i="0">
                          <a:solidFill>
                            <a:srgbClr val="000000"/>
                          </a:solidFill>
                          <a:latin typeface="Calibri"/>
                        </a:rPr>
                        <a:t>Bulk foodservice packs</a:t>
                      </a:r>
                      <a:endParaRPr sz="1100"/>
                    </a:p>
                  </a:txBody>
                  <a:tcPr marL="7715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Global Market (Value- Volume) Analysis 2021–2036, By Multipack Wrapping</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16.5.1.</a:t>
                      </a:r>
                      <a:r>
                        <a:rPr sz="700" b="0" i="0">
                          <a:solidFill>
                            <a:srgbClr val="000000"/>
                          </a:solidFill>
                          <a:latin typeface="Times New Roman"/>
                        </a:rPr>
                        <a:t> </a:t>
                      </a:r>
                      <a:r>
                        <a:rPr sz="1100" b="0" i="0">
                          <a:solidFill>
                            <a:srgbClr val="000000"/>
                          </a:solidFill>
                          <a:latin typeface="Calibri"/>
                        </a:rPr>
                        <a:t>Individually wrapped muffins within an outer pack</a:t>
                      </a:r>
                      <a:endParaRPr sz="1100"/>
                    </a:p>
                  </a:txBody>
                  <a:tcPr marL="771525" marR="9525" marT="9525" marB="0" anchor="ctr"/>
                </a:tc>
              </a:tr>
              <a:tr h="175260">
                <a:tc>
                  <a:txBody>
                    <a:bodyPr wrap="square"/>
                    <a:lstStyle/>
                    <a:p>
                      <a:pPr algn="l"/>
                      <a:r>
                        <a:rPr sz="1100" b="0" i="0">
                          <a:solidFill>
                            <a:srgbClr val="000000"/>
                          </a:solidFill>
                          <a:latin typeface="Calibri"/>
                        </a:rPr>
                        <a:t>16.5.2.</a:t>
                      </a:r>
                      <a:r>
                        <a:rPr sz="700" b="0" i="0">
                          <a:solidFill>
                            <a:srgbClr val="000000"/>
                          </a:solidFill>
                          <a:latin typeface="Times New Roman"/>
                        </a:rPr>
                        <a:t> </a:t>
                      </a:r>
                      <a:r>
                        <a:rPr sz="1100" b="0" i="0">
                          <a:solidFill>
                            <a:srgbClr val="000000"/>
                          </a:solidFill>
                          <a:latin typeface="Calibri"/>
                        </a:rPr>
                        <a:t>Shared pack without individual wrapping</a:t>
                      </a:r>
                      <a:endParaRPr sz="1100"/>
                    </a:p>
                  </a:txBody>
                  <a:tcPr marL="7715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Global Market (Value- Volume) Analysis 2021–2036, By Price Positioning</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17.5.1.</a:t>
                      </a:r>
                      <a:r>
                        <a:rPr sz="700" b="0" i="0">
                          <a:solidFill>
                            <a:srgbClr val="000000"/>
                          </a:solidFill>
                          <a:latin typeface="Times New Roman"/>
                        </a:rPr>
                        <a:t> </a:t>
                      </a:r>
                      <a:r>
                        <a:rPr sz="1100" b="0" i="0">
                          <a:solidFill>
                            <a:srgbClr val="000000"/>
                          </a:solidFill>
                          <a:latin typeface="Calibri"/>
                        </a:rPr>
                        <a:t>Economy/value</a:t>
                      </a:r>
                      <a:endParaRPr sz="1100"/>
                    </a:p>
                  </a:txBody>
                  <a:tcPr marL="771525" marR="9525" marT="9525" marB="0" anchor="ctr"/>
                </a:tc>
              </a:tr>
              <a:tr h="175260">
                <a:tc>
                  <a:txBody>
                    <a:bodyPr wrap="square"/>
                    <a:lstStyle/>
                    <a:p>
                      <a:pPr algn="l"/>
                      <a:r>
                        <a:rPr sz="1100" b="0" i="0">
                          <a:solidFill>
                            <a:srgbClr val="000000"/>
                          </a:solidFill>
                          <a:latin typeface="Calibri"/>
                        </a:rPr>
                        <a:t>17.5.2.</a:t>
                      </a:r>
                      <a:r>
                        <a:rPr sz="700" b="0" i="0">
                          <a:solidFill>
                            <a:srgbClr val="000000"/>
                          </a:solidFill>
                          <a:latin typeface="Times New Roman"/>
                        </a:rPr>
                        <a:t> </a:t>
                      </a:r>
                      <a:r>
                        <a:rPr sz="1100" b="0" i="0">
                          <a:solidFill>
                            <a:srgbClr val="000000"/>
                          </a:solidFill>
                          <a:latin typeface="Calibri"/>
                        </a:rPr>
                        <a:t>Mid-range</a:t>
                      </a:r>
                      <a:endParaRPr sz="1100"/>
                    </a:p>
                  </a:txBody>
                  <a:tcPr marL="771525" marR="9525" marT="9525" marB="0" anchor="ctr"/>
                </a:tc>
              </a:tr>
              <a:tr h="175260">
                <a:tc>
                  <a:txBody>
                    <a:bodyPr wrap="square"/>
                    <a:lstStyle/>
                    <a:p>
                      <a:pPr algn="l"/>
                      <a:r>
                        <a:rPr sz="1100" b="0" i="0">
                          <a:solidFill>
                            <a:srgbClr val="000000"/>
                          </a:solidFill>
                          <a:latin typeface="Calibri"/>
                        </a:rPr>
                        <a:t>17.5.3.</a:t>
                      </a:r>
                      <a:r>
                        <a:rPr sz="700" b="0" i="0">
                          <a:solidFill>
                            <a:srgbClr val="000000"/>
                          </a:solidFill>
                          <a:latin typeface="Times New Roman"/>
                        </a:rPr>
                        <a:t> </a:t>
                      </a:r>
                      <a:r>
                        <a:rPr sz="1100" b="0" i="0">
                          <a:solidFill>
                            <a:srgbClr val="000000"/>
                          </a:solidFill>
                          <a:latin typeface="Calibri"/>
                        </a:rPr>
                        <a:t>Premium</a:t>
                      </a:r>
                      <a:endParaRPr sz="1100"/>
                    </a:p>
                  </a:txBody>
                  <a:tcPr marL="771525" marR="9525" marT="9525" marB="0" anchor="ctr"/>
                </a:tc>
              </a:tr>
              <a:tr h="175260">
                <a:tc>
                  <a:txBody>
                    <a:bodyPr wrap="square"/>
                    <a:lstStyle/>
                    <a:p>
                      <a:pPr algn="l"/>
                      <a:r>
                        <a:rPr sz="1100" b="0" i="0">
                          <a:solidFill>
                            <a:srgbClr val="000000"/>
                          </a:solidFill>
                          <a:latin typeface="Calibri"/>
                        </a:rPr>
                        <a:t>17.5.4.</a:t>
                      </a:r>
                      <a:r>
                        <a:rPr sz="700" b="0" i="0">
                          <a:solidFill>
                            <a:srgbClr val="000000"/>
                          </a:solidFill>
                          <a:latin typeface="Times New Roman"/>
                        </a:rPr>
                        <a:t> </a:t>
                      </a:r>
                      <a:r>
                        <a:rPr sz="1100" b="0" i="0">
                          <a:solidFill>
                            <a:srgbClr val="000000"/>
                          </a:solidFill>
                          <a:latin typeface="Calibri"/>
                        </a:rPr>
                        <a:t>Super-premium/speciality</a:t>
                      </a:r>
                      <a:endParaRPr sz="1100"/>
                    </a:p>
                  </a:txBody>
                  <a:tcPr marL="771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(Value- Volume) Analysis 2021–2036, By Brand Ownership</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18.5.1.</a:t>
                      </a:r>
                      <a:r>
                        <a:rPr sz="700" b="0" i="0">
                          <a:solidFill>
                            <a:srgbClr val="000000"/>
                          </a:solidFill>
                          <a:latin typeface="Times New Roman"/>
                        </a:rPr>
                        <a:t> </a:t>
                      </a:r>
                      <a:r>
                        <a:rPr sz="1100" b="0" i="0">
                          <a:solidFill>
                            <a:srgbClr val="000000"/>
                          </a:solidFill>
                          <a:latin typeface="Calibri"/>
                        </a:rPr>
                        <a:t>Manufacturer brands</a:t>
                      </a:r>
                      <a:endParaRPr sz="1100"/>
                    </a:p>
                  </a:txBody>
                  <a:tcPr marL="771525" marR="9525" marT="9525" marB="0" anchor="ctr"/>
                </a:tc>
              </a:tr>
              <a:tr h="175260">
                <a:tc>
                  <a:txBody>
                    <a:bodyPr wrap="square"/>
                    <a:lstStyle/>
                    <a:p>
                      <a:pPr algn="l"/>
                      <a:r>
                        <a:rPr sz="1100" b="0" i="1">
                          <a:solidFill>
                            <a:srgbClr val="000000"/>
                          </a:solidFill>
                          <a:latin typeface="Calibri"/>
                        </a:rPr>
                        <a:t>18.5.1.1.</a:t>
                      </a:r>
                      <a:r>
                        <a:rPr sz="700" b="0" i="1">
                          <a:solidFill>
                            <a:srgbClr val="000000"/>
                          </a:solidFill>
                          <a:latin typeface="Times New Roman"/>
                        </a:rPr>
                        <a:t> </a:t>
                      </a:r>
                      <a:r>
                        <a:rPr sz="1100" b="0" i="1">
                          <a:solidFill>
                            <a:srgbClr val="000000"/>
                          </a:solidFill>
                          <a:latin typeface="Calibri"/>
                        </a:rPr>
                        <a:t>National brands</a:t>
                      </a:r>
                      <a:endParaRPr sz="1100"/>
                    </a:p>
                  </a:txBody>
                  <a:tcPr marL="1028700" marR="9525" marT="9525" marB="0" anchor="ctr"/>
                </a:tc>
              </a:tr>
              <a:tr h="175260">
                <a:tc>
                  <a:txBody>
                    <a:bodyPr wrap="square"/>
                    <a:lstStyle/>
                    <a:p>
                      <a:pPr algn="l"/>
                      <a:r>
                        <a:rPr sz="1100" b="0" i="1">
                          <a:solidFill>
                            <a:srgbClr val="000000"/>
                          </a:solidFill>
                          <a:latin typeface="Calibri"/>
                        </a:rPr>
                        <a:t>18.5.1.2.</a:t>
                      </a:r>
                      <a:r>
                        <a:rPr sz="700" b="0" i="1">
                          <a:solidFill>
                            <a:srgbClr val="000000"/>
                          </a:solidFill>
                          <a:latin typeface="Times New Roman"/>
                        </a:rPr>
                        <a:t> </a:t>
                      </a:r>
                      <a:r>
                        <a:rPr sz="1100" b="0" i="1">
                          <a:solidFill>
                            <a:srgbClr val="000000"/>
                          </a:solidFill>
                          <a:latin typeface="Calibri"/>
                        </a:rPr>
                        <a:t>Regional/local brands</a:t>
                      </a:r>
                      <a:endParaRPr sz="1100"/>
                    </a:p>
                  </a:txBody>
                  <a:tcPr marL="1028700" marR="9525" marT="9525" marB="0" anchor="ctr"/>
                </a:tc>
              </a:tr>
              <a:tr h="175260">
                <a:tc>
                  <a:txBody>
                    <a:bodyPr wrap="square"/>
                    <a:lstStyle/>
                    <a:p>
                      <a:pPr algn="l"/>
                      <a:r>
                        <a:rPr sz="1100" b="0" i="0">
                          <a:solidFill>
                            <a:srgbClr val="000000"/>
                          </a:solidFill>
                          <a:latin typeface="Calibri"/>
                        </a:rPr>
                        <a:t>18.5.2.</a:t>
                      </a:r>
                      <a:r>
                        <a:rPr sz="700" b="0" i="0">
                          <a:solidFill>
                            <a:srgbClr val="000000"/>
                          </a:solidFill>
                          <a:latin typeface="Times New Roman"/>
                        </a:rPr>
                        <a:t> </a:t>
                      </a:r>
                      <a:r>
                        <a:rPr sz="1100" b="0" i="0">
                          <a:solidFill>
                            <a:srgbClr val="000000"/>
                          </a:solidFill>
                          <a:latin typeface="Calibri"/>
                        </a:rPr>
                        <a:t>Retailer private labels</a:t>
                      </a:r>
                      <a:endParaRPr sz="1100"/>
                    </a:p>
                  </a:txBody>
                  <a:tcPr marL="771525" marR="9525" marT="9525" marB="0" anchor="ctr"/>
                </a:tc>
              </a:tr>
              <a:tr h="175260">
                <a:tc>
                  <a:txBody>
                    <a:bodyPr wrap="square"/>
                    <a:lstStyle/>
                    <a:p>
                      <a:pPr algn="l"/>
                      <a:r>
                        <a:rPr sz="1100" b="0" i="1">
                          <a:solidFill>
                            <a:srgbClr val="000000"/>
                          </a:solidFill>
                          <a:latin typeface="Calibri"/>
                        </a:rPr>
                        <a:t>18.5.2.1.</a:t>
                      </a:r>
                      <a:r>
                        <a:rPr sz="700" b="0" i="1">
                          <a:solidFill>
                            <a:srgbClr val="000000"/>
                          </a:solidFill>
                          <a:latin typeface="Times New Roman"/>
                        </a:rPr>
                        <a:t> </a:t>
                      </a:r>
                      <a:r>
                        <a:rPr sz="1100" b="0" i="1">
                          <a:solidFill>
                            <a:srgbClr val="000000"/>
                          </a:solidFill>
                          <a:latin typeface="Calibri"/>
                        </a:rPr>
                        <a:t>Value private labels</a:t>
                      </a:r>
                      <a:endParaRPr sz="1100"/>
                    </a:p>
                  </a:txBody>
                  <a:tcPr marL="1028700" marR="9525" marT="9525" marB="0" anchor="ctr"/>
                </a:tc>
              </a:tr>
              <a:tr h="175260">
                <a:tc>
                  <a:txBody>
                    <a:bodyPr wrap="square"/>
                    <a:lstStyle/>
                    <a:p>
                      <a:pPr algn="l"/>
                      <a:r>
                        <a:rPr sz="1100" b="0" i="1">
                          <a:solidFill>
                            <a:srgbClr val="000000"/>
                          </a:solidFill>
                          <a:latin typeface="Calibri"/>
                        </a:rPr>
                        <a:t>18.5.2.2.</a:t>
                      </a:r>
                      <a:r>
                        <a:rPr sz="700" b="0" i="1">
                          <a:solidFill>
                            <a:srgbClr val="000000"/>
                          </a:solidFill>
                          <a:latin typeface="Times New Roman"/>
                        </a:rPr>
                        <a:t> </a:t>
                      </a:r>
                      <a:r>
                        <a:rPr sz="1100" b="0" i="1">
                          <a:solidFill>
                            <a:srgbClr val="000000"/>
                          </a:solidFill>
                          <a:latin typeface="Calibri"/>
                        </a:rPr>
                        <a:t>Standard private labels</a:t>
                      </a:r>
                      <a:endParaRPr sz="1100"/>
                    </a:p>
                  </a:txBody>
                  <a:tcPr marL="1028700" marR="9525" marT="9525" marB="0" anchor="ctr"/>
                </a:tc>
              </a:tr>
              <a:tr h="175260">
                <a:tc>
                  <a:txBody>
                    <a:bodyPr wrap="square"/>
                    <a:lstStyle/>
                    <a:p>
                      <a:pPr algn="l"/>
                      <a:r>
                        <a:rPr sz="1100" b="0" i="1">
                          <a:solidFill>
                            <a:srgbClr val="000000"/>
                          </a:solidFill>
                          <a:latin typeface="Calibri"/>
                        </a:rPr>
                        <a:t>18.5.2.3.</a:t>
                      </a:r>
                      <a:r>
                        <a:rPr sz="700" b="0" i="1">
                          <a:solidFill>
                            <a:srgbClr val="000000"/>
                          </a:solidFill>
                          <a:latin typeface="Times New Roman"/>
                        </a:rPr>
                        <a:t> </a:t>
                      </a:r>
                      <a:r>
                        <a:rPr sz="1100" b="0" i="1">
                          <a:solidFill>
                            <a:srgbClr val="000000"/>
                          </a:solidFill>
                          <a:latin typeface="Calibri"/>
                        </a:rPr>
                        <a:t>Premium private labels</a:t>
                      </a:r>
                      <a:endParaRPr sz="1100"/>
                    </a:p>
                  </a:txBody>
                  <a:tcPr marL="1028700" marR="9525" marT="9525" marB="0" anchor="ctr"/>
                </a:tc>
              </a:tr>
              <a:tr h="175260">
                <a:tc>
                  <a:txBody>
                    <a:bodyPr wrap="square"/>
                    <a:lstStyle/>
                    <a:p>
                      <a:pPr algn="l"/>
                      <a:r>
                        <a:rPr sz="1100" b="0" i="0">
                          <a:solidFill>
                            <a:srgbClr val="000000"/>
                          </a:solidFill>
                          <a:latin typeface="Calibri"/>
                        </a:rPr>
                        <a:t>18.5.3.</a:t>
                      </a:r>
                      <a:r>
                        <a:rPr sz="700" b="0" i="0">
                          <a:solidFill>
                            <a:srgbClr val="000000"/>
                          </a:solidFill>
                          <a:latin typeface="Times New Roman"/>
                        </a:rPr>
                        <a:t> </a:t>
                      </a:r>
                      <a:r>
                        <a:rPr sz="1100" b="0" i="0">
                          <a:solidFill>
                            <a:srgbClr val="000000"/>
                          </a:solidFill>
                          <a:latin typeface="Calibri"/>
                        </a:rPr>
                        <a:t>Foodservice/operator brands</a:t>
                      </a:r>
                      <a:endParaRPr sz="1100"/>
                    </a:p>
                  </a:txBody>
                  <a:tcPr marL="7715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Global Market (Value- Volume) Analysis 2021–2036, By Sales Channel</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19.5.1.</a:t>
                      </a:r>
                      <a:r>
                        <a:rPr sz="700" b="0" i="0">
                          <a:solidFill>
                            <a:srgbClr val="000000"/>
                          </a:solidFill>
                          <a:latin typeface="Times New Roman"/>
                        </a:rPr>
                        <a:t> </a:t>
                      </a:r>
                      <a:r>
                        <a:rPr sz="1100" b="0" i="0">
                          <a:solidFill>
                            <a:srgbClr val="000000"/>
                          </a:solidFill>
                          <a:latin typeface="Calibri"/>
                        </a:rPr>
                        <a:t>Retail</a:t>
                      </a:r>
                      <a:endParaRPr sz="1100"/>
                    </a:p>
                  </a:txBody>
                  <a:tcPr marL="771525" marR="9525" marT="9525" marB="0" anchor="ctr"/>
                </a:tc>
              </a:tr>
              <a:tr h="175260">
                <a:tc>
                  <a:txBody>
                    <a:bodyPr wrap="square"/>
                    <a:lstStyle/>
                    <a:p>
                      <a:pPr algn="l"/>
                      <a:r>
                        <a:rPr sz="1100" b="0" i="1">
                          <a:solidFill>
                            <a:srgbClr val="000000"/>
                          </a:solidFill>
                          <a:latin typeface="Calibri"/>
                        </a:rPr>
                        <a:t>19.5.1.1.</a:t>
                      </a:r>
                      <a:r>
                        <a:rPr sz="700" b="0" i="1">
                          <a:solidFill>
                            <a:srgbClr val="000000"/>
                          </a:solidFill>
                          <a:latin typeface="Times New Roman"/>
                        </a:rPr>
                        <a:t> </a:t>
                      </a:r>
                      <a:r>
                        <a:rPr sz="1100" b="0" i="1">
                          <a:solidFill>
                            <a:srgbClr val="000000"/>
                          </a:solidFill>
                          <a:latin typeface="Calibri"/>
                        </a:rPr>
                        <a:t>Supermarkets and hypermarkets</a:t>
                      </a:r>
                      <a:endParaRPr sz="1100"/>
                    </a:p>
                  </a:txBody>
                  <a:tcPr marL="1028700" marR="9525" marT="9525" marB="0" anchor="ctr"/>
                </a:tc>
              </a:tr>
              <a:tr h="175260">
                <a:tc>
                  <a:txBody>
                    <a:bodyPr wrap="square"/>
                    <a:lstStyle/>
                    <a:p>
                      <a:pPr algn="l"/>
                      <a:r>
                        <a:rPr sz="1100" b="0" i="1">
                          <a:solidFill>
                            <a:srgbClr val="000000"/>
                          </a:solidFill>
                          <a:latin typeface="Calibri"/>
                        </a:rPr>
                        <a:t>19.5.1.2.</a:t>
                      </a:r>
                      <a:r>
                        <a:rPr sz="700" b="0" i="1">
                          <a:solidFill>
                            <a:srgbClr val="000000"/>
                          </a:solidFill>
                          <a:latin typeface="Times New Roman"/>
                        </a:rPr>
                        <a:t> </a:t>
                      </a:r>
                      <a:r>
                        <a:rPr sz="1100" b="0" i="1">
                          <a:solidFill>
                            <a:srgbClr val="000000"/>
                          </a:solidFill>
                          <a:latin typeface="Calibri"/>
                        </a:rPr>
                        <a:t>Convenience stores</a:t>
                      </a:r>
                      <a:endParaRPr sz="1100"/>
                    </a:p>
                  </a:txBody>
                  <a:tcPr marL="1028700" marR="9525" marT="9525" marB="0" anchor="ctr"/>
                </a:tc>
              </a:tr>
              <a:tr h="175260">
                <a:tc>
                  <a:txBody>
                    <a:bodyPr wrap="square"/>
                    <a:lstStyle/>
                    <a:p>
                      <a:pPr algn="l"/>
                      <a:r>
                        <a:rPr sz="1100" b="0" i="1">
                          <a:solidFill>
                            <a:srgbClr val="000000"/>
                          </a:solidFill>
                          <a:latin typeface="Calibri"/>
                        </a:rPr>
                        <a:t>19.5.1.3.</a:t>
                      </a:r>
                      <a:r>
                        <a:rPr sz="700" b="0" i="1">
                          <a:solidFill>
                            <a:srgbClr val="000000"/>
                          </a:solidFill>
                          <a:latin typeface="Times New Roman"/>
                        </a:rPr>
                        <a:t> </a:t>
                      </a:r>
                      <a:r>
                        <a:rPr sz="1100" b="0" i="1">
                          <a:solidFill>
                            <a:srgbClr val="000000"/>
                          </a:solidFill>
                          <a:latin typeface="Calibri"/>
                        </a:rPr>
                        <a:t>Discount stores</a:t>
                      </a:r>
                      <a:endParaRPr sz="1100"/>
                    </a:p>
                  </a:txBody>
                  <a:tcPr marL="1028700" marR="9525" marT="9525" marB="0" anchor="ctr"/>
                </a:tc>
              </a:tr>
              <a:tr h="175260">
                <a:tc>
                  <a:txBody>
                    <a:bodyPr wrap="square"/>
                    <a:lstStyle/>
                    <a:p>
                      <a:pPr algn="l"/>
                      <a:r>
                        <a:rPr sz="1100" b="0" i="1">
                          <a:solidFill>
                            <a:srgbClr val="000000"/>
                          </a:solidFill>
                          <a:latin typeface="Calibri"/>
                        </a:rPr>
                        <a:t>19.5.1.4.</a:t>
                      </a:r>
                      <a:r>
                        <a:rPr sz="700" b="0" i="1">
                          <a:solidFill>
                            <a:srgbClr val="000000"/>
                          </a:solidFill>
                          <a:latin typeface="Times New Roman"/>
                        </a:rPr>
                        <a:t> </a:t>
                      </a:r>
                      <a:r>
                        <a:rPr sz="1100" b="0" i="1">
                          <a:solidFill>
                            <a:srgbClr val="000000"/>
                          </a:solidFill>
                          <a:latin typeface="Calibri"/>
                        </a:rPr>
                        <a:t>Warehouse clubs</a:t>
                      </a:r>
                      <a:endParaRPr sz="1100"/>
                    </a:p>
                  </a:txBody>
                  <a:tcPr marL="1028700" marR="9525" marT="9525" marB="0" anchor="ctr"/>
                </a:tc>
              </a:tr>
              <a:tr h="175260">
                <a:tc>
                  <a:txBody>
                    <a:bodyPr wrap="square"/>
                    <a:lstStyle/>
                    <a:p>
                      <a:pPr algn="l"/>
                      <a:r>
                        <a:rPr sz="1100" b="0" i="1">
                          <a:solidFill>
                            <a:srgbClr val="000000"/>
                          </a:solidFill>
                          <a:latin typeface="Calibri"/>
                        </a:rPr>
                        <a:t>19.5.1.5.</a:t>
                      </a:r>
                      <a:r>
                        <a:rPr sz="700" b="0" i="1">
                          <a:solidFill>
                            <a:srgbClr val="000000"/>
                          </a:solidFill>
                          <a:latin typeface="Times New Roman"/>
                        </a:rPr>
                        <a:t> </a:t>
                      </a:r>
                      <a:r>
                        <a:rPr sz="1100" b="0" i="1">
                          <a:solidFill>
                            <a:srgbClr val="000000"/>
                          </a:solidFill>
                          <a:latin typeface="Calibri"/>
                        </a:rPr>
                        <a:t>Traditional grocery stores</a:t>
                      </a:r>
                      <a:endParaRPr sz="1100"/>
                    </a:p>
                  </a:txBody>
                  <a:tcPr marL="1028700" marR="9525" marT="9525" marB="0" anchor="ctr"/>
                </a:tc>
              </a:tr>
              <a:tr h="175260">
                <a:tc>
                  <a:txBody>
                    <a:bodyPr wrap="square"/>
                    <a:lstStyle/>
                    <a:p>
                      <a:pPr algn="l"/>
                      <a:r>
                        <a:rPr sz="1100" b="0" i="1">
                          <a:solidFill>
                            <a:srgbClr val="000000"/>
                          </a:solidFill>
                          <a:latin typeface="Calibri"/>
                        </a:rPr>
                        <a:t>19.5.1.6.</a:t>
                      </a:r>
                      <a:r>
                        <a:rPr sz="700" b="0" i="1">
                          <a:solidFill>
                            <a:srgbClr val="000000"/>
                          </a:solidFill>
                          <a:latin typeface="Times New Roman"/>
                        </a:rPr>
                        <a:t> </a:t>
                      </a:r>
                      <a:r>
                        <a:rPr sz="1100" b="0" i="1">
                          <a:solidFill>
                            <a:srgbClr val="000000"/>
                          </a:solidFill>
                          <a:latin typeface="Calibri"/>
                        </a:rPr>
                        <a:t>Speciality food and health stores</a:t>
                      </a:r>
                      <a:endParaRPr sz="1100"/>
                    </a:p>
                  </a:txBody>
                  <a:tcPr marL="1028700" marR="9525" marT="9525" marB="0" anchor="ctr"/>
                </a:tc>
              </a:tr>
              <a:tr h="175260">
                <a:tc>
                  <a:txBody>
                    <a:bodyPr wrap="square"/>
                    <a:lstStyle/>
                    <a:p>
                      <a:pPr algn="l"/>
                      <a:r>
                        <a:rPr sz="1100" b="0" i="1">
                          <a:solidFill>
                            <a:srgbClr val="000000"/>
                          </a:solidFill>
                          <a:latin typeface="Calibri"/>
                        </a:rPr>
                        <a:t>19.5.1.7.</a:t>
                      </a:r>
                      <a:r>
                        <a:rPr sz="700" b="0" i="1">
                          <a:solidFill>
                            <a:srgbClr val="000000"/>
                          </a:solidFill>
                          <a:latin typeface="Times New Roman"/>
                        </a:rPr>
                        <a:t> </a:t>
                      </a:r>
                      <a:r>
                        <a:rPr sz="1100" b="0" i="1">
                          <a:solidFill>
                            <a:srgbClr val="000000"/>
                          </a:solidFill>
                          <a:latin typeface="Calibri"/>
                        </a:rPr>
                        <a:t>Bakery outlets selling packaged products</a:t>
                      </a:r>
                      <a:endParaRPr sz="1100"/>
                    </a:p>
                  </a:txBody>
                  <a:tcPr marL="1028700" marR="9525" marT="9525" marB="0" anchor="ctr"/>
                </a:tc>
              </a:tr>
              <a:tr h="175260">
                <a:tc>
                  <a:txBody>
                    <a:bodyPr wrap="square"/>
                    <a:lstStyle/>
                    <a:p>
                      <a:pPr algn="l"/>
                      <a:r>
                        <a:rPr sz="1100" b="0" i="1">
                          <a:solidFill>
                            <a:srgbClr val="000000"/>
                          </a:solidFill>
                          <a:latin typeface="Calibri"/>
                        </a:rPr>
                        <a:t>19.5.1.8.</a:t>
                      </a:r>
                      <a:r>
                        <a:rPr sz="700" b="0" i="1">
                          <a:solidFill>
                            <a:srgbClr val="000000"/>
                          </a:solidFill>
                          <a:latin typeface="Times New Roman"/>
                        </a:rPr>
                        <a:t> </a:t>
                      </a:r>
                      <a:r>
                        <a:rPr sz="1100" b="0" i="1">
                          <a:solidFill>
                            <a:srgbClr val="000000"/>
                          </a:solidFill>
                          <a:latin typeface="Calibri"/>
                        </a:rPr>
                        <a:t>Online retail</a:t>
                      </a:r>
                      <a:endParaRPr sz="1100"/>
                    </a:p>
                  </a:txBody>
                  <a:tcPr marL="1028700" marR="9525" marT="9525" marB="0" anchor="ctr"/>
                </a:tc>
              </a:tr>
              <a:tr h="175260">
                <a:tc>
                  <a:txBody>
                    <a:bodyPr wrap="square"/>
                    <a:lstStyle/>
                    <a:p>
                      <a:pPr algn="l"/>
                      <a:r>
                        <a:rPr sz="1100" b="0" i="1">
                          <a:solidFill>
                            <a:srgbClr val="000000"/>
                          </a:solidFill>
                          <a:latin typeface="Calibri"/>
                        </a:rPr>
                        <a:t>19.5.1.8.1.</a:t>
                      </a:r>
                      <a:r>
                        <a:rPr sz="700" b="0" i="1">
                          <a:solidFill>
                            <a:srgbClr val="000000"/>
                          </a:solidFill>
                          <a:latin typeface="Times New Roman"/>
                        </a:rPr>
                        <a:t> </a:t>
                      </a:r>
                      <a:r>
                        <a:rPr sz="1100" b="0" i="1">
                          <a:solidFill>
                            <a:srgbClr val="000000"/>
                          </a:solidFill>
                          <a:latin typeface="Calibri"/>
                        </a:rPr>
                        <a:t>Retailer websites and apps</a:t>
                      </a:r>
                      <a:endParaRPr sz="1100"/>
                    </a:p>
                  </a:txBody>
                  <a:tcPr marL="1257300" marR="9525" marT="9525" marB="0" anchor="ctr"/>
                </a:tc>
              </a:tr>
              <a:tr h="175260">
                <a:tc>
                  <a:txBody>
                    <a:bodyPr wrap="square"/>
                    <a:lstStyle/>
                    <a:p>
                      <a:pPr algn="l"/>
                      <a:r>
                        <a:rPr sz="1100" b="0" i="1">
                          <a:solidFill>
                            <a:srgbClr val="000000"/>
                          </a:solidFill>
                          <a:latin typeface="Calibri"/>
                        </a:rPr>
                        <a:t>19.5.1.8.2.</a:t>
                      </a:r>
                      <a:r>
                        <a:rPr sz="700" b="0" i="1">
                          <a:solidFill>
                            <a:srgbClr val="000000"/>
                          </a:solidFill>
                          <a:latin typeface="Times New Roman"/>
                        </a:rPr>
                        <a:t> </a:t>
                      </a:r>
                      <a:r>
                        <a:rPr sz="1100" b="0" i="1">
                          <a:solidFill>
                            <a:srgbClr val="000000"/>
                          </a:solidFill>
                          <a:latin typeface="Calibri"/>
                        </a:rPr>
                        <a:t>Online marketplaces</a:t>
                      </a:r>
                      <a:endParaRPr sz="1100"/>
                    </a:p>
                  </a:txBody>
                  <a:tcPr marL="1257300" marR="9525" marT="9525" marB="0" anchor="ctr"/>
                </a:tc>
              </a:tr>
              <a:tr h="175260">
                <a:tc>
                  <a:txBody>
                    <a:bodyPr wrap="square"/>
                    <a:lstStyle/>
                    <a:p>
                      <a:pPr algn="l"/>
                      <a:r>
                        <a:rPr sz="1100" b="0" i="1">
                          <a:solidFill>
                            <a:srgbClr val="000000"/>
                          </a:solidFill>
                          <a:latin typeface="Calibri"/>
                        </a:rPr>
                        <a:t>19.5.1.8.3.</a:t>
                      </a:r>
                      <a:r>
                        <a:rPr sz="700" b="0" i="1">
                          <a:solidFill>
                            <a:srgbClr val="000000"/>
                          </a:solidFill>
                          <a:latin typeface="Times New Roman"/>
                        </a:rPr>
                        <a:t> </a:t>
                      </a:r>
                      <a:r>
                        <a:rPr sz="1100" b="0" i="1">
                          <a:solidFill>
                            <a:srgbClr val="000000"/>
                          </a:solidFill>
                          <a:latin typeface="Calibri"/>
                        </a:rPr>
                        <a:t>Quick-commerce platforms</a:t>
                      </a:r>
                      <a:endParaRPr sz="1100"/>
                    </a:p>
                  </a:txBody>
                  <a:tcPr marL="1257300" marR="9525" marT="9525" marB="0" anchor="ctr"/>
                </a:tc>
              </a:tr>
              <a:tr h="175260">
                <a:tc>
                  <a:txBody>
                    <a:bodyPr wrap="square"/>
                    <a:lstStyle/>
                    <a:p>
                      <a:pPr algn="l"/>
                      <a:r>
                        <a:rPr sz="1100" b="0" i="1">
                          <a:solidFill>
                            <a:srgbClr val="000000"/>
                          </a:solidFill>
                          <a:latin typeface="Calibri"/>
                        </a:rPr>
                        <a:t>19.5.1.8.4.</a:t>
                      </a:r>
                      <a:r>
                        <a:rPr sz="700" b="0" i="1">
                          <a:solidFill>
                            <a:srgbClr val="000000"/>
                          </a:solidFill>
                          <a:latin typeface="Times New Roman"/>
                        </a:rPr>
                        <a:t> </a:t>
                      </a:r>
                      <a:r>
                        <a:rPr sz="1100" b="0" i="1">
                          <a:solidFill>
                            <a:srgbClr val="000000"/>
                          </a:solidFill>
                          <a:latin typeface="Calibri"/>
                        </a:rPr>
                        <a:t>Brand-owned direct-to-consumer websites</a:t>
                      </a:r>
                      <a:endParaRPr sz="1100"/>
                    </a:p>
                  </a:txBody>
                  <a:tcPr marL="1257300" marR="9525" marT="9525" marB="0" anchor="ctr"/>
                </a:tc>
              </a:tr>
              <a:tr h="175260">
                <a:tc>
                  <a:txBody>
                    <a:bodyPr wrap="square"/>
                    <a:lstStyle/>
                    <a:p>
                      <a:pPr algn="l"/>
                      <a:r>
                        <a:rPr sz="1100" b="0" i="0">
                          <a:solidFill>
                            <a:srgbClr val="000000"/>
                          </a:solidFill>
                          <a:latin typeface="Calibri"/>
                        </a:rPr>
                        <a:t>19.5.2.</a:t>
                      </a:r>
                      <a:r>
                        <a:rPr sz="700" b="0" i="0">
                          <a:solidFill>
                            <a:srgbClr val="000000"/>
                          </a:solidFill>
                          <a:latin typeface="Times New Roman"/>
                        </a:rPr>
                        <a:t> </a:t>
                      </a:r>
                      <a:r>
                        <a:rPr sz="1100" b="0" i="0">
                          <a:solidFill>
                            <a:srgbClr val="000000"/>
                          </a:solidFill>
                          <a:latin typeface="Calibri"/>
                        </a:rPr>
                        <a:t>Foodservice and institutional</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19.5.2.1.</a:t>
                      </a:r>
                      <a:r>
                        <a:rPr sz="700" b="0" i="1">
                          <a:solidFill>
                            <a:srgbClr val="000000"/>
                          </a:solidFill>
                          <a:latin typeface="Times New Roman"/>
                        </a:rPr>
                        <a:t> </a:t>
                      </a:r>
                      <a:r>
                        <a:rPr sz="1100" b="0" i="1">
                          <a:solidFill>
                            <a:srgbClr val="000000"/>
                          </a:solidFill>
                          <a:latin typeface="Calibri"/>
                        </a:rPr>
                        <a:t>Cafés and coffee chains</a:t>
                      </a:r>
                      <a:endParaRPr sz="1100"/>
                    </a:p>
                  </a:txBody>
                  <a:tcPr marL="1028700" marR="9525" marT="9525" marB="0" anchor="ctr"/>
                </a:tc>
              </a:tr>
              <a:tr h="175260">
                <a:tc>
                  <a:txBody>
                    <a:bodyPr wrap="square"/>
                    <a:lstStyle/>
                    <a:p>
                      <a:pPr algn="l"/>
                      <a:r>
                        <a:rPr sz="1100" b="0" i="1">
                          <a:solidFill>
                            <a:srgbClr val="000000"/>
                          </a:solidFill>
                          <a:latin typeface="Calibri"/>
                        </a:rPr>
                        <a:t>19.5.2.2.</a:t>
                      </a:r>
                      <a:r>
                        <a:rPr sz="700" b="0" i="1">
                          <a:solidFill>
                            <a:srgbClr val="000000"/>
                          </a:solidFill>
                          <a:latin typeface="Times New Roman"/>
                        </a:rPr>
                        <a:t> </a:t>
                      </a:r>
                      <a:r>
                        <a:rPr sz="1100" b="0" i="1">
                          <a:solidFill>
                            <a:srgbClr val="000000"/>
                          </a:solidFill>
                          <a:latin typeface="Calibri"/>
                        </a:rPr>
                        <a:t>Hotels and restaurants</a:t>
                      </a:r>
                      <a:endParaRPr sz="1100"/>
                    </a:p>
                  </a:txBody>
                  <a:tcPr marL="1028700" marR="9525" marT="9525" marB="0" anchor="ctr"/>
                </a:tc>
              </a:tr>
              <a:tr h="175260">
                <a:tc>
                  <a:txBody>
                    <a:bodyPr wrap="square"/>
                    <a:lstStyle/>
                    <a:p>
                      <a:pPr algn="l"/>
                      <a:r>
                        <a:rPr sz="1100" b="0" i="1">
                          <a:solidFill>
                            <a:srgbClr val="000000"/>
                          </a:solidFill>
                          <a:latin typeface="Calibri"/>
                        </a:rPr>
                        <a:t>19.5.2.3.</a:t>
                      </a:r>
                      <a:r>
                        <a:rPr sz="700" b="0" i="1">
                          <a:solidFill>
                            <a:srgbClr val="000000"/>
                          </a:solidFill>
                          <a:latin typeface="Times New Roman"/>
                        </a:rPr>
                        <a:t> </a:t>
                      </a:r>
                      <a:r>
                        <a:rPr sz="1100" b="0" i="1">
                          <a:solidFill>
                            <a:srgbClr val="000000"/>
                          </a:solidFill>
                          <a:latin typeface="Calibri"/>
                        </a:rPr>
                        <a:t>Quick-service restaurants</a:t>
                      </a:r>
                      <a:endParaRPr sz="1100"/>
                    </a:p>
                  </a:txBody>
                  <a:tcPr marL="1028700" marR="9525" marT="9525" marB="0" anchor="ctr"/>
                </a:tc>
              </a:tr>
              <a:tr h="175260">
                <a:tc>
                  <a:txBody>
                    <a:bodyPr wrap="square"/>
                    <a:lstStyle/>
                    <a:p>
                      <a:pPr algn="l"/>
                      <a:r>
                        <a:rPr sz="1100" b="0" i="1">
                          <a:solidFill>
                            <a:srgbClr val="000000"/>
                          </a:solidFill>
                          <a:latin typeface="Calibri"/>
                        </a:rPr>
                        <a:t>19.5.2.4.</a:t>
                      </a:r>
                      <a:r>
                        <a:rPr sz="700" b="0" i="1">
                          <a:solidFill>
                            <a:srgbClr val="000000"/>
                          </a:solidFill>
                          <a:latin typeface="Times New Roman"/>
                        </a:rPr>
                        <a:t> </a:t>
                      </a:r>
                      <a:r>
                        <a:rPr sz="1100" b="0" i="1">
                          <a:solidFill>
                            <a:srgbClr val="000000"/>
                          </a:solidFill>
                          <a:latin typeface="Calibri"/>
                        </a:rPr>
                        <a:t>Corporate catering</a:t>
                      </a:r>
                      <a:endParaRPr sz="1100"/>
                    </a:p>
                  </a:txBody>
                  <a:tcPr marL="1028700" marR="9525" marT="9525" marB="0" anchor="ctr"/>
                </a:tc>
              </a:tr>
              <a:tr h="175260">
                <a:tc>
                  <a:txBody>
                    <a:bodyPr wrap="square"/>
                    <a:lstStyle/>
                    <a:p>
                      <a:pPr algn="l"/>
                      <a:r>
                        <a:rPr sz="1100" b="0" i="1">
                          <a:solidFill>
                            <a:srgbClr val="000000"/>
                          </a:solidFill>
                          <a:latin typeface="Calibri"/>
                        </a:rPr>
                        <a:t>19.5.2.5.</a:t>
                      </a:r>
                      <a:r>
                        <a:rPr sz="700" b="0" i="1">
                          <a:solidFill>
                            <a:srgbClr val="000000"/>
                          </a:solidFill>
                          <a:latin typeface="Times New Roman"/>
                        </a:rPr>
                        <a:t> </a:t>
                      </a:r>
                      <a:r>
                        <a:rPr sz="1100" b="0" i="1">
                          <a:solidFill>
                            <a:srgbClr val="000000"/>
                          </a:solidFill>
                          <a:latin typeface="Calibri"/>
                        </a:rPr>
                        <a:t>Educational institutions</a:t>
                      </a:r>
                      <a:endParaRPr sz="1100"/>
                    </a:p>
                  </a:txBody>
                  <a:tcPr marL="1028700" marR="9525" marT="9525" marB="0" anchor="ctr"/>
                </a:tc>
              </a:tr>
              <a:tr h="175260">
                <a:tc>
                  <a:txBody>
                    <a:bodyPr wrap="square"/>
                    <a:lstStyle/>
                    <a:p>
                      <a:pPr algn="l"/>
                      <a:r>
                        <a:rPr sz="1100" b="0" i="1">
                          <a:solidFill>
                            <a:srgbClr val="000000"/>
                          </a:solidFill>
                          <a:latin typeface="Calibri"/>
                        </a:rPr>
                        <a:t>19.5.2.6.</a:t>
                      </a:r>
                      <a:r>
                        <a:rPr sz="700" b="0" i="1">
                          <a:solidFill>
                            <a:srgbClr val="000000"/>
                          </a:solidFill>
                          <a:latin typeface="Times New Roman"/>
                        </a:rPr>
                        <a:t> </a:t>
                      </a:r>
                      <a:r>
                        <a:rPr sz="1100" b="0" i="1">
                          <a:solidFill>
                            <a:srgbClr val="000000"/>
                          </a:solidFill>
                          <a:latin typeface="Calibri"/>
                        </a:rPr>
                        <a:t>Healthcare institutions</a:t>
                      </a:r>
                      <a:endParaRPr sz="1100"/>
                    </a:p>
                  </a:txBody>
                  <a:tcPr marL="1028700" marR="9525" marT="9525" marB="0" anchor="ctr"/>
                </a:tc>
              </a:tr>
              <a:tr h="175260">
                <a:tc>
                  <a:txBody>
                    <a:bodyPr wrap="square"/>
                    <a:lstStyle/>
                    <a:p>
                      <a:pPr algn="l"/>
                      <a:r>
                        <a:rPr sz="1100" b="0" i="1">
                          <a:solidFill>
                            <a:srgbClr val="000000"/>
                          </a:solidFill>
                          <a:latin typeface="Calibri"/>
                        </a:rPr>
                        <a:t>19.5.2.7.</a:t>
                      </a:r>
                      <a:r>
                        <a:rPr sz="700" b="0" i="1">
                          <a:solidFill>
                            <a:srgbClr val="000000"/>
                          </a:solidFill>
                          <a:latin typeface="Times New Roman"/>
                        </a:rPr>
                        <a:t> </a:t>
                      </a:r>
                      <a:r>
                        <a:rPr sz="1100" b="0" i="1">
                          <a:solidFill>
                            <a:srgbClr val="000000"/>
                          </a:solidFill>
                          <a:latin typeface="Calibri"/>
                        </a:rPr>
                        <a:t>Airline and travel catering</a:t>
                      </a:r>
                      <a:endParaRPr sz="1100"/>
                    </a:p>
                  </a:txBody>
                  <a:tcPr marL="1028700" marR="9525" marT="9525" marB="0" anchor="ctr"/>
                </a:tc>
              </a:tr>
              <a:tr h="175260">
                <a:tc>
                  <a:txBody>
                    <a:bodyPr wrap="square"/>
                    <a:lstStyle/>
                    <a:p>
                      <a:pPr algn="l"/>
                      <a:r>
                        <a:rPr sz="1100" b="0" i="0">
                          <a:solidFill>
                            <a:srgbClr val="000000"/>
                          </a:solidFill>
                          <a:latin typeface="Calibri"/>
                        </a:rPr>
                        <a:t>19.5.3.</a:t>
                      </a:r>
                      <a:r>
                        <a:rPr sz="700" b="0" i="0">
                          <a:solidFill>
                            <a:srgbClr val="000000"/>
                          </a:solidFill>
                          <a:latin typeface="Times New Roman"/>
                        </a:rPr>
                        <a:t> </a:t>
                      </a:r>
                      <a:r>
                        <a:rPr sz="1100" b="0" i="0">
                          <a:solidFill>
                            <a:srgbClr val="000000"/>
                          </a:solidFill>
                          <a:latin typeface="Calibri"/>
                        </a:rPr>
                        <a:t>Vending</a:t>
                      </a:r>
                      <a:endParaRPr sz="1100"/>
                    </a:p>
                  </a:txBody>
                  <a:tcPr marL="771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20.5.1.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20.5.1.1.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20.5.1.2.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20.5.2.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20.5.2.1.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20.5.2.2.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20.5.2.3.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20.5.3.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20.5.3.1.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20.5.3.2.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20.5.3.3.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20.5.4.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20.5.4.1.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20.5.4.2.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20.5.4.3.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20.5.4.4.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20.5.4.5.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20.5.4.6.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20.5.4.7.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20.5.4.8.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20.5.4.9.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20.5.5.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20.5.5.1.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20.5.5.2.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20.5.5.3.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20.5.5.4.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20.5.5.5.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20.5.5.6.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20.5.5.7.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20.5.5.8.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r h="175260">
                <a:tc>
                  <a:txBody>
                    <a:bodyPr wrap="square"/>
                    <a:lstStyle/>
                    <a:p>
                      <a:pPr algn="l"/>
                      <a:r>
                        <a:rPr sz="1100" b="0" i="1">
                          <a:solidFill>
                            <a:srgbClr val="000000"/>
                          </a:solidFill>
                          <a:latin typeface="Calibri"/>
                        </a:rPr>
                        <a:t>20.5.5.9.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20.5.5.10.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20.5.5.11.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20.5.5.12.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20.5.6.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20.5.6.1.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20.5.6.2.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20.5.6.3.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20.5.6.4.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20.5.6.5.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20.5.6.6.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20.5.6.7.</a:t>
                      </a:r>
                      <a:r>
                        <a:rPr sz="700" b="0" i="1">
                          <a:solidFill>
                            <a:srgbClr val="000000"/>
                          </a:solidFill>
                          <a:latin typeface="Times New Roman"/>
                        </a:rPr>
                        <a:t> </a:t>
                      </a:r>
                      <a:r>
                        <a:rPr sz="1100" b="0" i="1">
                          <a:solidFill>
                            <a:srgbClr val="000000"/>
                          </a:solidFill>
                          <a:latin typeface="Calibri"/>
                        </a:rPr>
                        <a:t>Rest of MEA</a:t>
                      </a:r>
                      <a:endParaRPr sz="1100"/>
                    </a:p>
                  </a:txBody>
                  <a:tcPr marL="1028700" marR="9525" marT="9525" marB="0" anchor="ctr"/>
                </a:tc>
              </a:tr>
              <a:tr h="175260">
                <a:tc>
                  <a:txBody>
                    <a:bodyPr wrap="square"/>
                    <a:lstStyle/>
                    <a:p>
                      <a:pPr algn="l"/>
                      <a:r>
                        <a:rPr sz="1100" b="0" i="1">
                          <a:solidFill>
                            <a:srgbClr val="EE0000"/>
                          </a:solidFill>
                          <a:latin typeface="Calibri"/>
                        </a:rPr>
                        <a:t>Note: Value &amp; Volume (US$ Mn / MT)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Product Type × Flavour</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Product Type × Packaging Format</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(7/12)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Product Type × Sales Channel</a:t>
                      </a:r>
                      <a:endParaRPr sz="1100"/>
                    </a:p>
                  </a:txBody>
                  <a:tcPr marL="428625" marR="9525" marT="9525" marB="0" anchor="ctr"/>
                </a:tc>
              </a:tr>
              <a:tr h="175260">
                <a:tc>
                  <a:txBody>
                    <a:bodyPr wrap="square"/>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Product Type × Individual Muffin Size</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22.4.2.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22.4.3.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22.4.4.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22.4.5.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22.4.6.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22.4.7.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22.4.8.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22.4.9.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22.4.10.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22.4.11.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22.4.12.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22.4.13.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22.4.14.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22.4.15.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22.4.16.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22.4.17.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22.4.18.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23.4.2.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23.4.3.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23.4.4.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23.4.5.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23.4.6.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23.4.7.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23.4.8.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23.4.9.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23.4.10.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23.4.11.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23.4.12.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23.4.13.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23.4.14.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23.4.15.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23.4.16.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23.4.17.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23.4.18.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24.4.1.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24.4.2.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24.4.3.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24.4.4.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24.4.5.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(8/12)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24.4.6.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24.4.7.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24.4.8.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24.4.9.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24.4.10.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24.4.11.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24.4.12.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24.4.13.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24.4.14.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24.4.15.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24.4.16.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24.4.17.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24.4.18.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25.4.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25.4.1.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25.4.2.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25.4.3.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25.4.4.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25.4.5.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25.4.6.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25.4.7.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25.4.8.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25.4.9.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25.4.10.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25.4.11.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25.4.12.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25.4.13.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25.4.14.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25.4.15.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25.4.16.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25.4.17.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25.4.18.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26.3.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26.4.1.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26.4.2.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26.4.3.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26.4.4.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26.4.5.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26.4.6.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26.4.7.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26.4.8.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26.4.9.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26.4.10.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26.4.11.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26.4.12.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26.4.13.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26.4.14.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26.4.15.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26.4.16.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26.4.17.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26.4.18.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(9/12)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27.1.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27.2.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27.3.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27.4.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27.4.1.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27.4.2.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27.4.3.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27.4.4.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27.4.5.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27.4.6.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27.4.7.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27.4.8.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27.4.9.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27.4.10.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27.4.11.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27.4.12.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27.4.13.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27.4.14.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27.4.15.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27.4.16.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27.4.17.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27.4.18.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28.1.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28.1.1.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28.1.2.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28.1.3.</a:t>
                      </a:r>
                      <a:r>
                        <a:rPr sz="700" b="0" i="0">
                          <a:solidFill>
                            <a:srgbClr val="000000"/>
                          </a:solidFill>
                          <a:latin typeface="Times New Roman"/>
                        </a:rPr>
                        <a:t> </a:t>
                      </a:r>
                      <a:r>
                        <a:rPr sz="1100" b="0" i="0">
                          <a:solidFill>
                            <a:srgbClr val="000000"/>
                          </a:solidFill>
                          <a:latin typeface="Calibri"/>
                        </a:rPr>
                        <a:t>Retail Level Pricing</a:t>
                      </a:r>
                      <a:endParaRPr sz="1100"/>
                    </a:p>
                  </a:txBody>
                  <a:tcPr marL="771525" marR="9525" marT="9525" marB="0" anchor="ctr"/>
                </a:tc>
              </a:tr>
              <a:tr h="175260">
                <a:tc>
                  <a:txBody>
                    <a:bodyPr wrap="square"/>
                    <a:lstStyle/>
                    <a:p>
                      <a:pPr algn="l"/>
                      <a:r>
                        <a:rPr sz="1100" b="0" i="0">
                          <a:solidFill>
                            <a:srgbClr val="0070C0"/>
                          </a:solidFill>
                          <a:latin typeface="Calibri"/>
                        </a:rPr>
                        <a:t>28.2.</a:t>
                      </a:r>
                      <a:r>
                        <a:rPr sz="700" b="0" i="0">
                          <a:solidFill>
                            <a:srgbClr val="0070C0"/>
                          </a:solidFill>
                          <a:latin typeface="Times New Roman"/>
                        </a:rPr>
                        <a:t>  </a:t>
                      </a:r>
                      <a:r>
                        <a:rPr sz="1100" b="0" i="0">
                          <a:solidFill>
                            <a:srgbClr val="0070C0"/>
                          </a:solidFill>
                          <a:latin typeface="Calibri"/>
                        </a:rPr>
                        <a:t>Segment-wise Price Comparison (Product Type vs Product Format)</a:t>
                      </a:r>
                      <a:endParaRPr sz="1100"/>
                    </a:p>
                  </a:txBody>
                  <a:tcPr marL="428625" marR="9525" marT="9525" marB="0" anchor="ctr"/>
                </a:tc>
              </a:tr>
              <a:tr h="175260">
                <a:tc>
                  <a:txBody>
                    <a:bodyPr wrap="square"/>
                    <a:lstStyle/>
                    <a:p>
                      <a:pPr algn="l"/>
                      <a:r>
                        <a:rPr sz="1100" b="0" i="0">
                          <a:solidFill>
                            <a:srgbClr val="0070C0"/>
                          </a:solidFill>
                          <a:latin typeface="Calibri"/>
                        </a:rPr>
                        <a:t>28.3.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28.4.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28.5.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28.6.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Voice of Customer and Decision-driver Analysis</a:t>
                      </a:r>
                      <a:endParaRPr sz="1100"/>
                    </a:p>
                  </a:txBody>
                  <a:tcPr marL="9525" marR="9525" marT="9525" marB="0" anchor="ctr"/>
                </a:tc>
              </a:tr>
              <a:tr h="175260">
                <a:tc>
                  <a:txBody>
                    <a:bodyPr wrap="square"/>
                    <a:lstStyle/>
                    <a:p>
                      <a:pPr algn="l"/>
                      <a:r>
                        <a:rPr sz="1100" b="1" i="0">
                          <a:solidFill>
                            <a:srgbClr val="000000"/>
                          </a:solidFill>
                          <a:latin typeface="Calibri"/>
                        </a:rPr>
                        <a:t>29.</a:t>
                      </a:r>
                      <a:r>
                        <a:rPr sz="700" b="1" i="0">
                          <a:solidFill>
                            <a:srgbClr val="000000"/>
                          </a:solidFill>
                          <a:latin typeface="Times New Roman"/>
                        </a:rPr>
                        <a:t>    </a:t>
                      </a:r>
                      <a:r>
                        <a:rPr sz="1100" b="1" i="0">
                          <a:solidFill>
                            <a:srgbClr val="000000"/>
                          </a:solidFill>
                          <a:latin typeface="Calibri"/>
                        </a:rPr>
                        <a:t>Consumer Perception Analysis</a:t>
                      </a:r>
                      <a:endParaRPr sz="1100"/>
                    </a:p>
                  </a:txBody>
                  <a:tcPr marL="171450" marR="9525" marT="9525" marB="0" anchor="ctr"/>
                </a:tc>
              </a:tr>
              <a:tr h="175260">
                <a:tc>
                  <a:txBody>
                    <a:bodyPr wrap="square"/>
                    <a:lstStyle/>
                    <a:p>
                      <a:pPr algn="l"/>
                      <a:r>
                        <a:rPr sz="1100" b="0" i="0">
                          <a:solidFill>
                            <a:srgbClr val="0070C0"/>
                          </a:solidFill>
                          <a:latin typeface="Calibri"/>
                        </a:rPr>
                        <a:t>29.1.</a:t>
                      </a:r>
                      <a:r>
                        <a:rPr sz="700" b="0" i="0">
                          <a:solidFill>
                            <a:srgbClr val="0070C0"/>
                          </a:solidFill>
                          <a:latin typeface="Times New Roman"/>
                        </a:rPr>
                        <a:t>  </a:t>
                      </a:r>
                      <a:r>
                        <a:rPr sz="1100" b="0" i="0">
                          <a:solidFill>
                            <a:srgbClr val="0070C0"/>
                          </a:solidFill>
                          <a:latin typeface="Calibri"/>
                        </a:rPr>
                        <a:t>Consumer Demand and Consumption Behavior</a:t>
                      </a:r>
                      <a:endParaRPr sz="1100"/>
                    </a:p>
                  </a:txBody>
                  <a:tcPr marL="428625" marR="9525" marT="9525" marB="0" anchor="ctr"/>
                </a:tc>
              </a:tr>
              <a:tr h="175260">
                <a:tc>
                  <a:txBody>
                    <a:bodyPr wrap="square"/>
                    <a:lstStyle/>
                    <a:p>
                      <a:pPr algn="l"/>
                      <a:r>
                        <a:rPr sz="1100" b="0" i="0">
                          <a:solidFill>
                            <a:srgbClr val="000000"/>
                          </a:solidFill>
                          <a:latin typeface="Calibri"/>
                        </a:rPr>
                        <a:t>29.1.1.</a:t>
                      </a:r>
                      <a:r>
                        <a:rPr sz="700" b="0" i="0">
                          <a:solidFill>
                            <a:srgbClr val="000000"/>
                          </a:solidFill>
                          <a:latin typeface="Times New Roman"/>
                        </a:rPr>
                        <a:t> </a:t>
                      </a:r>
                      <a:r>
                        <a:rPr sz="1100" b="0" i="0">
                          <a:solidFill>
                            <a:srgbClr val="000000"/>
                          </a:solidFill>
                          <a:latin typeface="Calibri"/>
                        </a:rPr>
                        <a:t>Consumer Demand by Age Group, Income Group and Household Type</a:t>
                      </a:r>
                      <a:endParaRPr sz="1100"/>
                    </a:p>
                  </a:txBody>
                  <a:tcPr marL="771525" marR="9525" marT="9525" marB="0" anchor="ctr"/>
                </a:tc>
              </a:tr>
              <a:tr h="350520">
                <a:tc>
                  <a:txBody>
                    <a:bodyPr wrap="square"/>
                    <a:lstStyle/>
                    <a:p>
                      <a:pPr algn="l"/>
                      <a:r>
                        <a:rPr sz="1100" b="0" i="0">
                          <a:solidFill>
                            <a:srgbClr val="000000"/>
                          </a:solidFill>
                          <a:latin typeface="Calibri"/>
                        </a:rPr>
                        <a:t>29.1.2.</a:t>
                      </a:r>
                      <a:r>
                        <a:rPr sz="700" b="0" i="0">
                          <a:solidFill>
                            <a:srgbClr val="000000"/>
                          </a:solidFill>
                          <a:latin typeface="Times New Roman"/>
                        </a:rPr>
                        <a:t> </a:t>
                      </a:r>
                      <a:r>
                        <a:rPr sz="1100" b="0" i="0">
                          <a:solidFill>
                            <a:srgbClr val="000000"/>
                          </a:solidFill>
                          <a:latin typeface="Calibri"/>
                        </a:rPr>
                        <a:t>Consumption Frequency by Muffin Category, Product Format and Usage Occasion</a:t>
                      </a:r>
                      <a:endParaRPr sz="1100"/>
                    </a:p>
                  </a:txBody>
                  <a:tcPr marL="771525" marR="9525" marT="9525" marB="0" anchor="ctr"/>
                </a:tc>
              </a:tr>
              <a:tr h="175260">
                <a:tc>
                  <a:txBody>
                    <a:bodyPr wrap="square"/>
                    <a:lstStyle/>
                    <a:p>
                      <a:pPr algn="l"/>
                      <a:r>
                        <a:rPr sz="1100" b="0" i="0">
                          <a:solidFill>
                            <a:srgbClr val="000000"/>
                          </a:solidFill>
                          <a:latin typeface="Calibri"/>
                        </a:rPr>
                        <a:t>29.1.3.</a:t>
                      </a:r>
                      <a:r>
                        <a:rPr sz="700" b="0" i="0">
                          <a:solidFill>
                            <a:srgbClr val="000000"/>
                          </a:solidFill>
                          <a:latin typeface="Times New Roman"/>
                        </a:rPr>
                        <a:t> </a:t>
                      </a:r>
                      <a:r>
                        <a:rPr sz="1100" b="0" i="0">
                          <a:solidFill>
                            <a:srgbClr val="000000"/>
                          </a:solidFill>
                          <a:latin typeface="Calibri"/>
                        </a:rPr>
                        <a:t>Consumption Pattern by Daypart, Purchase Mission and Household Type</a:t>
                      </a:r>
                      <a:endParaRPr sz="1100"/>
                    </a:p>
                  </a:txBody>
                  <a:tcPr marL="771525" marR="9525" marT="9525" marB="0" anchor="ctr"/>
                </a:tc>
              </a:tr>
              <a:tr h="175260">
                <a:tc>
                  <a:txBody>
                    <a:bodyPr wrap="square"/>
                    <a:lstStyle/>
                    <a:p>
                      <a:pPr algn="l"/>
                      <a:r>
                        <a:rPr sz="1100" b="0" i="0">
                          <a:solidFill>
                            <a:srgbClr val="000000"/>
                          </a:solidFill>
                          <a:latin typeface="Calibri"/>
                        </a:rPr>
                        <a:t>29.1.4.</a:t>
                      </a:r>
                      <a:r>
                        <a:rPr sz="700" b="0" i="0">
                          <a:solidFill>
                            <a:srgbClr val="000000"/>
                          </a:solidFill>
                          <a:latin typeface="Times New Roman"/>
                        </a:rPr>
                        <a:t> </a:t>
                      </a:r>
                      <a:r>
                        <a:rPr sz="1100" b="0" i="0">
                          <a:solidFill>
                            <a:srgbClr val="000000"/>
                          </a:solidFill>
                          <a:latin typeface="Calibri"/>
                        </a:rPr>
                        <a:t>Demand Preference by Region, Country and Consumer Segment</a:t>
                      </a:r>
                      <a:endParaRPr sz="1100"/>
                    </a:p>
                  </a:txBody>
                  <a:tcPr marL="771525" marR="9525" marT="9525" marB="0" anchor="ctr"/>
                </a:tc>
              </a:tr>
              <a:tr h="175260">
                <a:tc>
                  <a:txBody>
                    <a:bodyPr wrap="square"/>
                    <a:lstStyle/>
                    <a:p>
                      <a:pPr algn="l"/>
                      <a:r>
                        <a:rPr sz="1100" b="0" i="0">
                          <a:solidFill>
                            <a:srgbClr val="000000"/>
                          </a:solidFill>
                          <a:latin typeface="Calibri"/>
                        </a:rPr>
                        <a:t>29.1.5.</a:t>
                      </a:r>
                      <a:r>
                        <a:rPr sz="700" b="0" i="0">
                          <a:solidFill>
                            <a:srgbClr val="000000"/>
                          </a:solidFill>
                          <a:latin typeface="Times New Roman"/>
                        </a:rPr>
                        <a:t> </a:t>
                      </a:r>
                      <a:r>
                        <a:rPr sz="1100" b="0" i="0">
                          <a:solidFill>
                            <a:srgbClr val="000000"/>
                          </a:solidFill>
                          <a:latin typeface="Calibri"/>
                        </a:rPr>
                        <a:t>Purchase Intent by Consumption Occasion and Product Need-State</a:t>
                      </a:r>
                      <a:endParaRPr sz="1100"/>
                    </a:p>
                  </a:txBody>
                  <a:tcPr marL="771525" marR="9525" marT="9525" marB="0" anchor="ctr"/>
                </a:tc>
              </a:tr>
              <a:tr h="175260">
                <a:tc>
                  <a:txBody>
                    <a:bodyPr wrap="square"/>
                    <a:lstStyle/>
                    <a:p>
                      <a:pPr algn="l"/>
                      <a:r>
                        <a:rPr sz="1100" b="0" i="0">
                          <a:solidFill>
                            <a:srgbClr val="0070C0"/>
                          </a:solidFill>
                          <a:latin typeface="Calibri"/>
                        </a:rPr>
                        <a:t>29.2.</a:t>
                      </a:r>
                      <a:r>
                        <a:rPr sz="700" b="0" i="0">
                          <a:solidFill>
                            <a:srgbClr val="0070C0"/>
                          </a:solidFill>
                          <a:latin typeface="Times New Roman"/>
                        </a:rPr>
                        <a:t>  </a:t>
                      </a:r>
                      <a:r>
                        <a:rPr sz="1100" b="0" i="0">
                          <a:solidFill>
                            <a:srgbClr val="0070C0"/>
                          </a:solidFill>
                          <a:latin typeface="Calibri"/>
                        </a:rPr>
                        <a:t>Purchase Drivers and Consumer Decision Journey</a:t>
                      </a:r>
                      <a:endParaRPr sz="1100"/>
                    </a:p>
                  </a:txBody>
                  <a:tcPr marL="428625" marR="9525" marT="9525" marB="0" anchor="ctr"/>
                </a:tc>
              </a:tr>
              <a:tr h="175260">
                <a:tc>
                  <a:txBody>
                    <a:bodyPr wrap="square"/>
                    <a:lstStyle/>
                    <a:p>
                      <a:pPr algn="l"/>
                      <a:r>
                        <a:rPr sz="1100" b="0" i="0">
                          <a:solidFill>
                            <a:srgbClr val="000000"/>
                          </a:solidFill>
                          <a:latin typeface="Calibri"/>
                        </a:rPr>
                        <a:t>29.2.1.</a:t>
                      </a:r>
                      <a:r>
                        <a:rPr sz="700" b="0" i="0">
                          <a:solidFill>
                            <a:srgbClr val="000000"/>
                          </a:solidFill>
                          <a:latin typeface="Times New Roman"/>
                        </a:rPr>
                        <a:t> </a:t>
                      </a:r>
                      <a:r>
                        <a:rPr sz="1100" b="0" i="0">
                          <a:solidFill>
                            <a:srgbClr val="000000"/>
                          </a:solidFill>
                          <a:latin typeface="Calibri"/>
                        </a:rPr>
                        <a:t>Purchase Drivers by Taste, Freshness, Price, Convenience and Product Quality</a:t>
                      </a:r>
                      <a:endParaRPr sz="1100"/>
                    </a:p>
                  </a:txBody>
                  <a:tcPr marL="771525" marR="9525" marT="9525" marB="0" anchor="ctr"/>
                </a:tc>
              </a:tr>
              <a:tr h="175260">
                <a:tc>
                  <a:txBody>
                    <a:bodyPr wrap="square"/>
                    <a:lstStyle/>
                    <a:p>
                      <a:pPr algn="l"/>
                      <a:r>
                        <a:rPr sz="1100" b="0" i="0">
                          <a:solidFill>
                            <a:srgbClr val="000000"/>
                          </a:solidFill>
                          <a:latin typeface="Calibri"/>
                        </a:rPr>
                        <a:t>29.2.2.</a:t>
                      </a:r>
                      <a:r>
                        <a:rPr sz="700" b="0" i="0">
                          <a:solidFill>
                            <a:srgbClr val="000000"/>
                          </a:solidFill>
                          <a:latin typeface="Times New Roman"/>
                        </a:rPr>
                        <a:t> </a:t>
                      </a:r>
                      <a:r>
                        <a:rPr sz="1100" b="0" i="0">
                          <a:solidFill>
                            <a:srgbClr val="000000"/>
                          </a:solidFill>
                          <a:latin typeface="Calibri"/>
                        </a:rPr>
                        <a:t>Consumer Decision Factors by Brand, Product Format and Purchase Occasion</a:t>
                      </a:r>
                      <a:endParaRPr sz="1100"/>
                    </a:p>
                  </a:txBody>
                  <a:tcPr marL="771525" marR="9525" marT="9525" marB="0" anchor="ctr"/>
                </a:tc>
              </a:tr>
              <a:tr h="175260">
                <a:tc>
                  <a:txBody>
                    <a:bodyPr wrap="square"/>
                    <a:lstStyle/>
                    <a:p>
                      <a:pPr algn="l"/>
                      <a:r>
                        <a:rPr sz="1100" b="0" i="0">
                          <a:solidFill>
                            <a:srgbClr val="000000"/>
                          </a:solidFill>
                          <a:latin typeface="Calibri"/>
                        </a:rPr>
                        <a:t>29.2.3.</a:t>
                      </a:r>
                      <a:r>
                        <a:rPr sz="700" b="0" i="0">
                          <a:solidFill>
                            <a:srgbClr val="000000"/>
                          </a:solidFill>
                          <a:latin typeface="Times New Roman"/>
                        </a:rPr>
                        <a:t> </a:t>
                      </a:r>
                      <a:r>
                        <a:rPr sz="1100" b="0" i="0">
                          <a:solidFill>
                            <a:srgbClr val="000000"/>
                          </a:solidFill>
                          <a:latin typeface="Calibri"/>
                        </a:rPr>
                        <a:t>Shopping Journey by Product Discovery, Evaluation and Purchase Stage</a:t>
                      </a:r>
                      <a:endParaRPr sz="1100"/>
                    </a:p>
                  </a:txBody>
                  <a:tcPr marL="771525" marR="9525" marT="9525" marB="0" anchor="ctr"/>
                </a:tc>
              </a:tr>
              <a:tr h="175260">
                <a:tc>
                  <a:txBody>
                    <a:bodyPr wrap="square"/>
                    <a:lstStyle/>
                    <a:p>
                      <a:pPr algn="l"/>
                      <a:r>
                        <a:rPr sz="1100" b="0" i="0">
                          <a:solidFill>
                            <a:srgbClr val="000000"/>
                          </a:solidFill>
                          <a:latin typeface="Calibri"/>
                        </a:rPr>
                        <a:t>29.2.4.</a:t>
                      </a:r>
                      <a:r>
                        <a:rPr sz="700" b="0" i="0">
                          <a:solidFill>
                            <a:srgbClr val="000000"/>
                          </a:solidFill>
                          <a:latin typeface="Times New Roman"/>
                        </a:rPr>
                        <a:t> </a:t>
                      </a:r>
                      <a:r>
                        <a:rPr sz="1100" b="0" i="0">
                          <a:solidFill>
                            <a:srgbClr val="000000"/>
                          </a:solidFill>
                          <a:latin typeface="Calibri"/>
                        </a:rPr>
                        <a:t>Retail Price Sensitivity by Consumer Segment and Affordability Band</a:t>
                      </a:r>
                      <a:endParaRPr sz="1100"/>
                    </a:p>
                  </a:txBody>
                  <a:tcPr marL="771525" marR="9525" marT="9525" marB="0" anchor="ctr"/>
                </a:tc>
              </a:tr>
              <a:tr h="350520">
                <a:tc>
                  <a:txBody>
                    <a:bodyPr wrap="square"/>
                    <a:lstStyle/>
                    <a:p>
                      <a:pPr algn="l"/>
                      <a:r>
                        <a:rPr sz="1100" b="0" i="0">
                          <a:solidFill>
                            <a:srgbClr val="000000"/>
                          </a:solidFill>
                          <a:latin typeface="Calibri"/>
                        </a:rPr>
                        <a:t>29.2.5.</a:t>
                      </a:r>
                      <a:r>
                        <a:rPr sz="700" b="0" i="0">
                          <a:solidFill>
                            <a:srgbClr val="000000"/>
                          </a:solidFill>
                          <a:latin typeface="Times New Roman"/>
                        </a:rPr>
                        <a:t> </a:t>
                      </a:r>
                      <a:r>
                        <a:rPr sz="1100" b="0" i="0">
                          <a:solidFill>
                            <a:srgbClr val="000000"/>
                          </a:solidFill>
                          <a:latin typeface="Calibri"/>
                        </a:rPr>
                        <a:t>Repeat Purchase Drivers by Product Satisfaction, Brand Experience and Value Perception</a:t>
                      </a:r>
                      <a:endParaRPr sz="1100"/>
                    </a:p>
                  </a:txBody>
                  <a:tcPr marL="771525" marR="9525" marT="9525" marB="0" anchor="ctr"/>
                </a:tc>
              </a:tr>
              <a:tr h="175260">
                <a:tc>
                  <a:txBody>
                    <a:bodyPr wrap="square"/>
                    <a:lstStyle/>
                    <a:p>
                      <a:pPr algn="l"/>
                      <a:r>
                        <a:rPr sz="1100" b="0" i="0">
                          <a:solidFill>
                            <a:srgbClr val="0070C0"/>
                          </a:solidFill>
                          <a:latin typeface="Calibri"/>
                        </a:rPr>
                        <a:t>29.3.</a:t>
                      </a:r>
                      <a:r>
                        <a:rPr sz="700" b="0" i="0">
                          <a:solidFill>
                            <a:srgbClr val="0070C0"/>
                          </a:solidFill>
                          <a:latin typeface="Times New Roman"/>
                        </a:rPr>
                        <a:t>  </a:t>
                      </a:r>
                      <a:r>
                        <a:rPr sz="1100" b="0" i="0">
                          <a:solidFill>
                            <a:srgbClr val="0070C0"/>
                          </a:solidFill>
                          <a:latin typeface="Calibri"/>
                        </a:rPr>
                        <a:t>Product, Flavor and Attribute Preferences</a:t>
                      </a:r>
                      <a:endParaRPr sz="1100"/>
                    </a:p>
                  </a:txBody>
                  <a:tcPr marL="428625" marR="9525" marT="9525" marB="0" anchor="ctr"/>
                </a:tc>
              </a:tr>
              <a:tr h="175260">
                <a:tc>
                  <a:txBody>
                    <a:bodyPr wrap="square"/>
                    <a:lstStyle/>
                    <a:p>
                      <a:pPr algn="l"/>
                      <a:r>
                        <a:rPr sz="1100" b="0" i="0">
                          <a:solidFill>
                            <a:srgbClr val="000000"/>
                          </a:solidFill>
                          <a:latin typeface="Calibri"/>
                        </a:rPr>
                        <a:t>29.3.1.</a:t>
                      </a:r>
                      <a:r>
                        <a:rPr sz="700" b="0" i="0">
                          <a:solidFill>
                            <a:srgbClr val="000000"/>
                          </a:solidFill>
                          <a:latin typeface="Times New Roman"/>
                        </a:rPr>
                        <a:t> </a:t>
                      </a:r>
                      <a:r>
                        <a:rPr sz="1100" b="0" i="0">
                          <a:solidFill>
                            <a:srgbClr val="000000"/>
                          </a:solidFill>
                          <a:latin typeface="Calibri"/>
                        </a:rPr>
                        <a:t>Flavor Preference by Age Group, Consumption Occasion and Product Format</a:t>
                      </a:r>
                      <a:endParaRPr sz="1100"/>
                    </a:p>
                  </a:txBody>
                  <a:tcPr marL="771525" marR="9525" marT="9525" marB="0" anchor="ctr"/>
                </a:tc>
              </a:tr>
              <a:tr h="350520">
                <a:tc>
                  <a:txBody>
                    <a:bodyPr wrap="square"/>
                    <a:lstStyle/>
                    <a:p>
                      <a:pPr algn="l"/>
                      <a:r>
                        <a:rPr sz="1100" b="0" i="0">
                          <a:solidFill>
                            <a:srgbClr val="000000"/>
                          </a:solidFill>
                          <a:latin typeface="Calibri"/>
                        </a:rPr>
                        <a:t>29.3.2.</a:t>
                      </a:r>
                      <a:r>
                        <a:rPr sz="700" b="0" i="0">
                          <a:solidFill>
                            <a:srgbClr val="000000"/>
                          </a:solidFill>
                          <a:latin typeface="Times New Roman"/>
                        </a:rPr>
                        <a:t> </a:t>
                      </a:r>
                      <a:r>
                        <a:rPr sz="1100" b="0" i="0">
                          <a:solidFill>
                            <a:srgbClr val="000000"/>
                          </a:solidFill>
                          <a:latin typeface="Calibri"/>
                        </a:rPr>
                        <a:t>Ingredient Preference by Consumer Segment and Health-orientated Need-State</a:t>
                      </a:r>
                      <a:endParaRPr sz="1100"/>
                    </a:p>
                  </a:txBody>
                  <a:tcPr marL="771525" marR="9525" marT="9525" marB="0" anchor="ctr"/>
                </a:tc>
              </a:tr>
              <a:tr h="175260">
                <a:tc>
                  <a:txBody>
                    <a:bodyPr wrap="square"/>
                    <a:lstStyle/>
                    <a:p>
                      <a:pPr algn="l"/>
                      <a:r>
                        <a:rPr sz="1100" b="0" i="0">
                          <a:solidFill>
                            <a:srgbClr val="000000"/>
                          </a:solidFill>
                          <a:latin typeface="Calibri"/>
                        </a:rPr>
                        <a:t>29.3.3.</a:t>
                      </a:r>
                      <a:r>
                        <a:rPr sz="700" b="0" i="0">
                          <a:solidFill>
                            <a:srgbClr val="000000"/>
                          </a:solidFill>
                          <a:latin typeface="Times New Roman"/>
                        </a:rPr>
                        <a:t> </a:t>
                      </a:r>
                      <a:r>
                        <a:rPr sz="1100" b="0" i="0">
                          <a:solidFill>
                            <a:srgbClr val="000000"/>
                          </a:solidFill>
                          <a:latin typeface="Calibri"/>
                        </a:rPr>
                        <a:t>Product Attribute Preference by Taste, Texture, Freshness and Portion Size</a:t>
                      </a:r>
                      <a:endParaRPr sz="1100"/>
                    </a:p>
                  </a:txBody>
                  <a:tcPr marL="771525" marR="9525" marT="9525" marB="0" anchor="ctr"/>
                </a:tc>
              </a:tr>
              <a:tr h="350520">
                <a:tc>
                  <a:txBody>
                    <a:bodyPr wrap="square"/>
                    <a:lstStyle/>
                    <a:p>
                      <a:pPr algn="l"/>
                      <a:r>
                        <a:rPr sz="1100" b="0" i="0">
                          <a:solidFill>
                            <a:srgbClr val="000000"/>
                          </a:solidFill>
                          <a:latin typeface="Calibri"/>
                        </a:rPr>
                        <a:t>29.3.4.</a:t>
                      </a:r>
                      <a:r>
                        <a:rPr sz="700" b="0" i="0">
                          <a:solidFill>
                            <a:srgbClr val="000000"/>
                          </a:solidFill>
                          <a:latin typeface="Times New Roman"/>
                        </a:rPr>
                        <a:t> </a:t>
                      </a:r>
                      <a:r>
                        <a:rPr sz="1100" b="0" i="0">
                          <a:solidFill>
                            <a:srgbClr val="000000"/>
                          </a:solidFill>
                          <a:latin typeface="Calibri"/>
                        </a:rPr>
                        <a:t>Claim Preference by Consumer Segment, Product Category and Purchase Intent</a:t>
                      </a:r>
                      <a:endParaRPr sz="1100"/>
                    </a:p>
                  </a:txBody>
                  <a:tcPr marL="771525" marR="9525" marT="9525" marB="0" anchor="ctr"/>
                </a:tc>
              </a:tr>
              <a:tr h="350520">
                <a:tc>
                  <a:txBody>
                    <a:bodyPr wrap="square"/>
                    <a:lstStyle/>
                    <a:p>
                      <a:pPr algn="l"/>
                      <a:r>
                        <a:rPr sz="1100" b="0" i="0">
                          <a:solidFill>
                            <a:srgbClr val="000000"/>
                          </a:solidFill>
                          <a:latin typeface="Calibri"/>
                        </a:rPr>
                        <a:t>29.3.5.</a:t>
                      </a:r>
                      <a:r>
                        <a:rPr sz="700" b="0" i="0">
                          <a:solidFill>
                            <a:srgbClr val="000000"/>
                          </a:solidFill>
                          <a:latin typeface="Times New Roman"/>
                        </a:rPr>
                        <a:t> </a:t>
                      </a:r>
                      <a:r>
                        <a:rPr sz="1100" b="0" i="0">
                          <a:solidFill>
                            <a:srgbClr val="000000"/>
                          </a:solidFill>
                          <a:latin typeface="Calibri"/>
                        </a:rPr>
                        <a:t>Pack-size Preference by Household Type, Consumption Frequency and Purchase Mission</a:t>
                      </a:r>
                      <a:endParaRPr sz="1100"/>
                    </a:p>
                  </a:txBody>
                  <a:tcPr marL="771525" marR="9525" marT="9525" marB="0" anchor="ctr"/>
                </a:tc>
              </a:tr>
              <a:tr h="175260">
                <a:tc>
                  <a:txBody>
                    <a:bodyPr wrap="square"/>
                    <a:lstStyle/>
                    <a:p>
                      <a:pPr algn="l"/>
                      <a:r>
                        <a:rPr sz="1100" b="0" i="0">
                          <a:solidFill>
                            <a:srgbClr val="0070C0"/>
                          </a:solidFill>
                          <a:latin typeface="Calibri"/>
                        </a:rPr>
                        <a:t>29.4.</a:t>
                      </a:r>
                      <a:r>
                        <a:rPr sz="700" b="0" i="0">
                          <a:solidFill>
                            <a:srgbClr val="0070C0"/>
                          </a:solidFill>
                          <a:latin typeface="Times New Roman"/>
                        </a:rPr>
                        <a:t>  </a:t>
                      </a:r>
                      <a:r>
                        <a:rPr sz="1100" b="0" i="0">
                          <a:solidFill>
                            <a:srgbClr val="0070C0"/>
                          </a:solidFill>
                          <a:latin typeface="Calibri"/>
                        </a:rPr>
                        <a:t>Channel, Brand and Purchase Behavior</a:t>
                      </a:r>
                      <a:endParaRPr sz="1100"/>
                    </a:p>
                  </a:txBody>
                  <a:tcPr marL="428625" marR="9525" marT="9525" marB="0" anchor="ctr"/>
                </a:tc>
              </a:tr>
              <a:tr h="175260">
                <a:tc>
                  <a:txBody>
                    <a:bodyPr wrap="square"/>
                    <a:lstStyle/>
                    <a:p>
                      <a:pPr algn="l"/>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(10/12)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350520">
                <a:tc>
                  <a:txBody>
                    <a:bodyPr wrap="square"/>
                    <a:lstStyle/>
                    <a:p>
                      <a:pPr algn="l"/>
                      <a:r>
                        <a:rPr sz="1100" b="0" i="0">
                          <a:solidFill>
                            <a:srgbClr val="000000"/>
                          </a:solidFill>
                          <a:latin typeface="Calibri"/>
                        </a:rPr>
                        <a:t>29.4.1.</a:t>
                      </a:r>
                      <a:r>
                        <a:rPr sz="700" b="0" i="0">
                          <a:solidFill>
                            <a:srgbClr val="000000"/>
                          </a:solidFill>
                          <a:latin typeface="Times New Roman"/>
                        </a:rPr>
                        <a:t> </a:t>
                      </a:r>
                      <a:r>
                        <a:rPr sz="1100" b="0" i="0">
                          <a:solidFill>
                            <a:srgbClr val="000000"/>
                          </a:solidFill>
                          <a:latin typeface="Calibri"/>
                        </a:rPr>
                        <a:t>Channel Preference by Consumer Segment, Purchase Frequency and Product Category</a:t>
                      </a:r>
                      <a:endParaRPr sz="1100"/>
                    </a:p>
                  </a:txBody>
                  <a:tcPr marL="771525" marR="9525" marT="9525" marB="0" anchor="ctr"/>
                </a:tc>
              </a:tr>
              <a:tr h="350520">
                <a:tc>
                  <a:txBody>
                    <a:bodyPr wrap="square"/>
                    <a:lstStyle/>
                    <a:p>
                      <a:pPr algn="l"/>
                      <a:r>
                        <a:rPr sz="1100" b="0" i="0">
                          <a:solidFill>
                            <a:srgbClr val="000000"/>
                          </a:solidFill>
                          <a:latin typeface="Calibri"/>
                        </a:rPr>
                        <a:t>29.4.2.</a:t>
                      </a:r>
                      <a:r>
                        <a:rPr sz="700" b="0" i="0">
                          <a:solidFill>
                            <a:srgbClr val="000000"/>
                          </a:solidFill>
                          <a:latin typeface="Times New Roman"/>
                        </a:rPr>
                        <a:t> </a:t>
                      </a:r>
                      <a:r>
                        <a:rPr sz="1100" b="0" i="0">
                          <a:solidFill>
                            <a:srgbClr val="000000"/>
                          </a:solidFill>
                          <a:latin typeface="Calibri"/>
                        </a:rPr>
                        <a:t>Retail versus E-commerce Purchase Preference by Consumer Segment and Product Type</a:t>
                      </a:r>
                      <a:endParaRPr sz="1100"/>
                    </a:p>
                  </a:txBody>
                  <a:tcPr marL="771525" marR="9525" marT="9525" marB="0" anchor="ctr"/>
                </a:tc>
              </a:tr>
              <a:tr h="350520">
                <a:tc>
                  <a:txBody>
                    <a:bodyPr wrap="square"/>
                    <a:lstStyle/>
                    <a:p>
                      <a:pPr algn="l"/>
                      <a:r>
                        <a:rPr sz="1100" b="0" i="0">
                          <a:solidFill>
                            <a:srgbClr val="000000"/>
                          </a:solidFill>
                          <a:latin typeface="Calibri"/>
                        </a:rPr>
                        <a:t>29.4.3.</a:t>
                      </a:r>
                      <a:r>
                        <a:rPr sz="700" b="0" i="0">
                          <a:solidFill>
                            <a:srgbClr val="000000"/>
                          </a:solidFill>
                          <a:latin typeface="Times New Roman"/>
                        </a:rPr>
                        <a:t> </a:t>
                      </a:r>
                      <a:r>
                        <a:rPr sz="1100" b="0" i="0">
                          <a:solidFill>
                            <a:srgbClr val="000000"/>
                          </a:solidFill>
                          <a:latin typeface="Calibri"/>
                        </a:rPr>
                        <a:t>Brand Preference by Consumer Segment, Purchase Frequency and Consumption Occasion</a:t>
                      </a:r>
                      <a:endParaRPr sz="1100"/>
                    </a:p>
                  </a:txBody>
                  <a:tcPr marL="771525" marR="9525" marT="9525" marB="0" anchor="ctr"/>
                </a:tc>
              </a:tr>
              <a:tr h="350520">
                <a:tc>
                  <a:txBody>
                    <a:bodyPr wrap="square"/>
                    <a:lstStyle/>
                    <a:p>
                      <a:pPr algn="l"/>
                      <a:r>
                        <a:rPr sz="1100" b="0" i="0">
                          <a:solidFill>
                            <a:srgbClr val="000000"/>
                          </a:solidFill>
                          <a:latin typeface="Calibri"/>
                        </a:rPr>
                        <a:t>29.4.4.</a:t>
                      </a:r>
                      <a:r>
                        <a:rPr sz="700" b="0" i="0">
                          <a:solidFill>
                            <a:srgbClr val="000000"/>
                          </a:solidFill>
                          <a:latin typeface="Times New Roman"/>
                        </a:rPr>
                        <a:t> </a:t>
                      </a:r>
                      <a:r>
                        <a:rPr sz="1100" b="0" i="0">
                          <a:solidFill>
                            <a:srgbClr val="000000"/>
                          </a:solidFill>
                          <a:latin typeface="Calibri"/>
                        </a:rPr>
                        <a:t>Brand Switching by Price Change, Product Attribute and Competitive Availability</a:t>
                      </a:r>
                      <a:endParaRPr sz="1100"/>
                    </a:p>
                  </a:txBody>
                  <a:tcPr marL="771525" marR="9525" marT="9525" marB="0" anchor="ctr"/>
                </a:tc>
              </a:tr>
              <a:tr h="350520">
                <a:tc>
                  <a:txBody>
                    <a:bodyPr wrap="square"/>
                    <a:lstStyle/>
                    <a:p>
                      <a:pPr algn="l"/>
                      <a:r>
                        <a:rPr sz="1100" b="0" i="0">
                          <a:solidFill>
                            <a:srgbClr val="000000"/>
                          </a:solidFill>
                          <a:latin typeface="Calibri"/>
                        </a:rPr>
                        <a:t>29.4.5.</a:t>
                      </a:r>
                      <a:r>
                        <a:rPr sz="700" b="0" i="0">
                          <a:solidFill>
                            <a:srgbClr val="000000"/>
                          </a:solidFill>
                          <a:latin typeface="Times New Roman"/>
                        </a:rPr>
                        <a:t> </a:t>
                      </a:r>
                      <a:r>
                        <a:rPr sz="1100" b="0" i="0">
                          <a:solidFill>
                            <a:srgbClr val="000000"/>
                          </a:solidFill>
                          <a:latin typeface="Calibri"/>
                        </a:rPr>
                        <a:t>Loyalty Drivers by Brand Preference, Product Satisfaction and Repeat Purchase</a:t>
                      </a:r>
                      <a:endParaRPr sz="1100"/>
                    </a:p>
                  </a:txBody>
                  <a:tcPr marL="771525" marR="9525" marT="9525" marB="0" anchor="ctr"/>
                </a:tc>
              </a:tr>
              <a:tr h="175260">
                <a:tc>
                  <a:txBody>
                    <a:bodyPr wrap="square"/>
                    <a:lstStyle/>
                    <a:p>
                      <a:pPr algn="l"/>
                      <a:r>
                        <a:rPr sz="1100" b="0" i="0">
                          <a:solidFill>
                            <a:srgbClr val="0070C0"/>
                          </a:solidFill>
                          <a:latin typeface="Calibri"/>
                        </a:rPr>
                        <a:t>29.5.</a:t>
                      </a:r>
                      <a:r>
                        <a:rPr sz="700" b="0" i="0">
                          <a:solidFill>
                            <a:srgbClr val="0070C0"/>
                          </a:solidFill>
                          <a:latin typeface="Times New Roman"/>
                        </a:rPr>
                        <a:t>  </a:t>
                      </a:r>
                      <a:r>
                        <a:rPr sz="1100" b="0" i="0">
                          <a:solidFill>
                            <a:srgbClr val="0070C0"/>
                          </a:solidFill>
                          <a:latin typeface="Calibri"/>
                        </a:rPr>
                        <a:t>Unmet Needs and Decision-driver Opportunities</a:t>
                      </a:r>
                      <a:endParaRPr sz="1100"/>
                    </a:p>
                  </a:txBody>
                  <a:tcPr marL="428625" marR="9525" marT="9525" marB="0" anchor="ctr"/>
                </a:tc>
              </a:tr>
              <a:tr h="175260">
                <a:tc>
                  <a:txBody>
                    <a:bodyPr wrap="square"/>
                    <a:lstStyle/>
                    <a:p>
                      <a:pPr algn="l"/>
                      <a:r>
                        <a:rPr sz="1100" b="0" i="0">
                          <a:solidFill>
                            <a:srgbClr val="000000"/>
                          </a:solidFill>
                          <a:latin typeface="Calibri"/>
                        </a:rPr>
                        <a:t>29.5.1.</a:t>
                      </a:r>
                      <a:r>
                        <a:rPr sz="700" b="0" i="0">
                          <a:solidFill>
                            <a:srgbClr val="000000"/>
                          </a:solidFill>
                          <a:latin typeface="Times New Roman"/>
                        </a:rPr>
                        <a:t> </a:t>
                      </a:r>
                      <a:r>
                        <a:rPr sz="1100" b="0" i="0">
                          <a:solidFill>
                            <a:srgbClr val="000000"/>
                          </a:solidFill>
                          <a:latin typeface="Calibri"/>
                        </a:rPr>
                        <a:t>Unmet Consumer Needs by Flavor, Ingredient, Texture and Product Attribute</a:t>
                      </a:r>
                      <a:endParaRPr sz="1100"/>
                    </a:p>
                  </a:txBody>
                  <a:tcPr marL="771525" marR="9525" marT="9525" marB="0" anchor="ctr"/>
                </a:tc>
              </a:tr>
              <a:tr h="175260">
                <a:tc>
                  <a:txBody>
                    <a:bodyPr wrap="square"/>
                    <a:lstStyle/>
                    <a:p>
                      <a:pPr algn="l"/>
                      <a:r>
                        <a:rPr sz="1100" b="0" i="0">
                          <a:solidFill>
                            <a:srgbClr val="000000"/>
                          </a:solidFill>
                          <a:latin typeface="Calibri"/>
                        </a:rPr>
                        <a:t>29.5.2.</a:t>
                      </a:r>
                      <a:r>
                        <a:rPr sz="700" b="0" i="0">
                          <a:solidFill>
                            <a:srgbClr val="000000"/>
                          </a:solidFill>
                          <a:latin typeface="Times New Roman"/>
                        </a:rPr>
                        <a:t> </a:t>
                      </a:r>
                      <a:r>
                        <a:rPr sz="1100" b="0" i="0">
                          <a:solidFill>
                            <a:srgbClr val="000000"/>
                          </a:solidFill>
                          <a:latin typeface="Calibri"/>
                        </a:rPr>
                        <a:t>Consumer Pain Points by Price, Pack Size, Availability and Product Quality</a:t>
                      </a:r>
                      <a:endParaRPr sz="1100"/>
                    </a:p>
                  </a:txBody>
                  <a:tcPr marL="771525" marR="9525" marT="9525" marB="0" anchor="ctr"/>
                </a:tc>
              </a:tr>
              <a:tr h="175260">
                <a:tc>
                  <a:txBody>
                    <a:bodyPr wrap="square"/>
                    <a:lstStyle/>
                    <a:p>
                      <a:pPr algn="l"/>
                      <a:r>
                        <a:rPr sz="1100" b="0" i="0">
                          <a:solidFill>
                            <a:srgbClr val="000000"/>
                          </a:solidFill>
                          <a:latin typeface="Calibri"/>
                        </a:rPr>
                        <a:t>29.5.3.</a:t>
                      </a:r>
                      <a:r>
                        <a:rPr sz="700" b="0" i="0">
                          <a:solidFill>
                            <a:srgbClr val="000000"/>
                          </a:solidFill>
                          <a:latin typeface="Times New Roman"/>
                        </a:rPr>
                        <a:t> </a:t>
                      </a:r>
                      <a:r>
                        <a:rPr sz="1100" b="0" i="0">
                          <a:solidFill>
                            <a:srgbClr val="000000"/>
                          </a:solidFill>
                          <a:latin typeface="Calibri"/>
                        </a:rPr>
                        <a:t>Purchase Barriers by Consumer Segment, Channel and Affordability Band</a:t>
                      </a:r>
                      <a:endParaRPr sz="1100"/>
                    </a:p>
                  </a:txBody>
                  <a:tcPr marL="771525" marR="9525" marT="9525" marB="0" anchor="ctr"/>
                </a:tc>
              </a:tr>
              <a:tr h="350520">
                <a:tc>
                  <a:txBody>
                    <a:bodyPr wrap="square"/>
                    <a:lstStyle/>
                    <a:p>
                      <a:pPr algn="l"/>
                      <a:r>
                        <a:rPr sz="1100" b="0" i="0">
                          <a:solidFill>
                            <a:srgbClr val="000000"/>
                          </a:solidFill>
                          <a:latin typeface="Calibri"/>
                        </a:rPr>
                        <a:t>29.5.4.</a:t>
                      </a:r>
                      <a:r>
                        <a:rPr sz="700" b="0" i="0">
                          <a:solidFill>
                            <a:srgbClr val="000000"/>
                          </a:solidFill>
                          <a:latin typeface="Times New Roman"/>
                        </a:rPr>
                        <a:t> </a:t>
                      </a:r>
                      <a:r>
                        <a:rPr sz="1100" b="0" i="0">
                          <a:solidFill>
                            <a:srgbClr val="000000"/>
                          </a:solidFill>
                          <a:latin typeface="Calibri"/>
                        </a:rPr>
                        <a:t>Innovation Interest by Product Concept, Usage Occasion and Consumer Need-State</a:t>
                      </a:r>
                      <a:endParaRPr sz="1100"/>
                    </a:p>
                  </a:txBody>
                  <a:tcPr marL="771525" marR="9525" marT="9525" marB="0" anchor="ctr"/>
                </a:tc>
              </a:tr>
              <a:tr h="350520">
                <a:tc>
                  <a:txBody>
                    <a:bodyPr wrap="square"/>
                    <a:lstStyle/>
                    <a:p>
                      <a:pPr algn="l"/>
                      <a:r>
                        <a:rPr sz="1100" b="0" i="0">
                          <a:solidFill>
                            <a:srgbClr val="000000"/>
                          </a:solidFill>
                          <a:latin typeface="Calibri"/>
                        </a:rPr>
                        <a:t>29.5.5.</a:t>
                      </a:r>
                      <a:r>
                        <a:rPr sz="700" b="0" i="0">
                          <a:solidFill>
                            <a:srgbClr val="000000"/>
                          </a:solidFill>
                          <a:latin typeface="Times New Roman"/>
                        </a:rPr>
                        <a:t> </a:t>
                      </a:r>
                      <a:r>
                        <a:rPr sz="1100" b="0" i="0">
                          <a:solidFill>
                            <a:srgbClr val="000000"/>
                          </a:solidFill>
                          <a:latin typeface="Calibri"/>
                        </a:rPr>
                        <a:t>Purchase Intent for New Concepts by Consumer Segment, Price Point and Product Positioning</a:t>
                      </a:r>
                      <a:endParaRPr sz="1100"/>
                    </a:p>
                  </a:txBody>
                  <a:tcPr marL="771525" marR="9525" marT="9525" marB="0" anchor="ctr"/>
                </a:tc>
              </a:tr>
              <a:tr h="175260">
                <a:tc>
                  <a:txBody>
                    <a:bodyPr wrap="square"/>
                    <a:lstStyle/>
                    <a:p>
                      <a:pPr algn="l"/>
                      <a:r>
                        <a:rPr sz="1100" b="1" i="0">
                          <a:solidFill>
                            <a:srgbClr val="000000"/>
                          </a:solidFill>
                          <a:latin typeface="Calibri"/>
                        </a:rPr>
                        <a:t>Section 5: Market Dynamics</a:t>
                      </a:r>
                      <a:endParaRPr sz="1100"/>
                    </a:p>
                  </a:txBody>
                  <a:tcPr marL="9525" marR="9525" marT="9525" marB="0" anchor="ctr"/>
                </a:tc>
              </a:tr>
              <a:tr h="175260">
                <a:tc>
                  <a:txBody>
                    <a:bodyPr wrap="square"/>
                    <a:lstStyle/>
                    <a:p>
                      <a:pPr algn="l"/>
                      <a:r>
                        <a:rPr sz="1100" b="1" i="0">
                          <a:solidFill>
                            <a:srgbClr val="000000"/>
                          </a:solidFill>
                          <a:latin typeface="Calibri"/>
                        </a:rPr>
                        <a:t>30.</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30.1.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30.1.1.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30.1.2.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30.1.3.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30.2.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31.</a:t>
                      </a:r>
                      <a:r>
                        <a:rPr sz="700" b="1" i="0">
                          <a:solidFill>
                            <a:srgbClr val="000000"/>
                          </a:solidFill>
                          <a:latin typeface="Times New Roman"/>
                        </a:rPr>
                        <a:t>    </a:t>
                      </a:r>
                      <a:r>
                        <a:rPr sz="1100" b="1" i="0">
                          <a:solidFill>
                            <a:srgbClr val="000000"/>
                          </a:solidFill>
                          <a:latin typeface="Calibri"/>
                        </a:rPr>
                        <a:t>Market Dynamics</a:t>
                      </a:r>
                      <a:endParaRPr sz="1100"/>
                    </a:p>
                  </a:txBody>
                  <a:tcPr marL="171450" marR="9525" marT="9525" marB="0" anchor="ctr"/>
                </a:tc>
              </a:tr>
              <a:tr h="175260">
                <a:tc>
                  <a:txBody>
                    <a:bodyPr wrap="square"/>
                    <a:lstStyle/>
                    <a:p>
                      <a:pPr algn="l"/>
                      <a:r>
                        <a:rPr sz="1100" b="0" i="0">
                          <a:solidFill>
                            <a:srgbClr val="0070C0"/>
                          </a:solidFill>
                          <a:latin typeface="Calibri"/>
                        </a:rPr>
                        <a:t>31.1.</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31.1.1.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31.1.2.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31.1.3.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31.2.</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31.3.</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31.4.</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31.5.</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0000"/>
                          </a:solidFill>
                          <a:latin typeface="Calibri"/>
                        </a:rPr>
                        <a:t>31.5.1.</a:t>
                      </a:r>
                      <a:r>
                        <a:rPr sz="700" b="0" i="0">
                          <a:solidFill>
                            <a:srgbClr val="000000"/>
                          </a:solidFill>
                          <a:latin typeface="Times New Roman"/>
                        </a:rPr>
                        <a:t> </a:t>
                      </a:r>
                      <a:r>
                        <a:rPr sz="1100" b="0" i="0">
                          <a:solidFill>
                            <a:srgbClr val="000000"/>
                          </a:solidFill>
                          <a:latin typeface="Calibri"/>
                        </a:rPr>
                        <a:t>Expansion of On-the-Go &amp; Convenience Snacking</a:t>
                      </a:r>
                      <a:endParaRPr sz="1100"/>
                    </a:p>
                  </a:txBody>
                  <a:tcPr marL="771525" marR="9525" marT="9525" marB="0" anchor="ctr"/>
                </a:tc>
              </a:tr>
              <a:tr h="175260">
                <a:tc>
                  <a:txBody>
                    <a:bodyPr wrap="square"/>
                    <a:lstStyle/>
                    <a:p>
                      <a:pPr algn="l"/>
                      <a:r>
                        <a:rPr sz="1100" b="0" i="0">
                          <a:solidFill>
                            <a:srgbClr val="000000"/>
                          </a:solidFill>
                          <a:latin typeface="Calibri"/>
                        </a:rPr>
                        <a:t>31.5.2.</a:t>
                      </a:r>
                      <a:r>
                        <a:rPr sz="700" b="0" i="0">
                          <a:solidFill>
                            <a:srgbClr val="000000"/>
                          </a:solidFill>
                          <a:latin typeface="Times New Roman"/>
                        </a:rPr>
                        <a:t> </a:t>
                      </a:r>
                      <a:r>
                        <a:rPr sz="1100" b="0" i="0">
                          <a:solidFill>
                            <a:srgbClr val="000000"/>
                          </a:solidFill>
                          <a:latin typeface="Calibri"/>
                        </a:rPr>
                        <a:t>Growth of Snackification &amp; More Frequent Eating Occasions</a:t>
                      </a:r>
                      <a:endParaRPr sz="1100"/>
                    </a:p>
                  </a:txBody>
                  <a:tcPr marL="771525" marR="9525" marT="9525" marB="0" anchor="ctr"/>
                </a:tc>
              </a:tr>
              <a:tr h="175260">
                <a:tc>
                  <a:txBody>
                    <a:bodyPr wrap="square"/>
                    <a:lstStyle/>
                    <a:p>
                      <a:pPr algn="l"/>
                      <a:r>
                        <a:rPr sz="1100" b="0" i="0">
                          <a:solidFill>
                            <a:srgbClr val="000000"/>
                          </a:solidFill>
                          <a:latin typeface="Calibri"/>
                        </a:rPr>
                        <a:t>31.5.3.</a:t>
                      </a:r>
                      <a:r>
                        <a:rPr sz="700" b="0" i="0">
                          <a:solidFill>
                            <a:srgbClr val="000000"/>
                          </a:solidFill>
                          <a:latin typeface="Times New Roman"/>
                        </a:rPr>
                        <a:t> </a:t>
                      </a:r>
                      <a:r>
                        <a:rPr sz="1100" b="0" i="0">
                          <a:solidFill>
                            <a:srgbClr val="000000"/>
                          </a:solidFill>
                          <a:latin typeface="Calibri"/>
                        </a:rPr>
                        <a:t>Product Innovation &amp; Flavor Diversification</a:t>
                      </a:r>
                      <a:endParaRPr sz="1100"/>
                    </a:p>
                  </a:txBody>
                  <a:tcPr marL="771525" marR="9525" marT="9525" marB="0" anchor="ctr"/>
                </a:tc>
              </a:tr>
              <a:tr h="175260">
                <a:tc>
                  <a:txBody>
                    <a:bodyPr wrap="square"/>
                    <a:lstStyle/>
                    <a:p>
                      <a:pPr algn="l"/>
                      <a:r>
                        <a:rPr sz="1100" b="0" i="0">
                          <a:solidFill>
                            <a:srgbClr val="000000"/>
                          </a:solidFill>
                          <a:latin typeface="Calibri"/>
                        </a:rPr>
                        <a:t>31.5.4.</a:t>
                      </a:r>
                      <a:r>
                        <a:rPr sz="700" b="0" i="0">
                          <a:solidFill>
                            <a:srgbClr val="000000"/>
                          </a:solidFill>
                          <a:latin typeface="Times New Roman"/>
                        </a:rPr>
                        <a:t> </a:t>
                      </a:r>
                      <a:r>
                        <a:rPr sz="1100" b="0" i="0">
                          <a:solidFill>
                            <a:srgbClr val="000000"/>
                          </a:solidFill>
                          <a:latin typeface="Calibri"/>
                        </a:rPr>
                        <a:t>Rising Demand for Better-for-You Muffins</a:t>
                      </a:r>
                      <a:endParaRPr sz="1100"/>
                    </a:p>
                  </a:txBody>
                  <a:tcPr marL="771525" marR="9525" marT="9525" marB="0" anchor="ctr"/>
                </a:tc>
              </a:tr>
              <a:tr h="175260">
                <a:tc>
                  <a:txBody>
                    <a:bodyPr wrap="square"/>
                    <a:lstStyle/>
                    <a:p>
                      <a:pPr algn="l"/>
                      <a:r>
                        <a:rPr sz="1100" b="0" i="0">
                          <a:solidFill>
                            <a:srgbClr val="000000"/>
                          </a:solidFill>
                          <a:latin typeface="Calibri"/>
                        </a:rPr>
                        <a:t>31.5.5.</a:t>
                      </a:r>
                      <a:r>
                        <a:rPr sz="700" b="0" i="0">
                          <a:solidFill>
                            <a:srgbClr val="000000"/>
                          </a:solidFill>
                          <a:latin typeface="Times New Roman"/>
                        </a:rPr>
                        <a:t> </a:t>
                      </a:r>
                      <a:r>
                        <a:rPr sz="1100" b="0" i="0">
                          <a:solidFill>
                            <a:srgbClr val="000000"/>
                          </a:solidFill>
                          <a:latin typeface="Calibri"/>
                        </a:rPr>
                        <a:t>Premiumization &amp; Premium Bakery Positioning</a:t>
                      </a:r>
                      <a:endParaRPr sz="1100"/>
                    </a:p>
                  </a:txBody>
                  <a:tcPr marL="771525" marR="9525" marT="9525" marB="0" anchor="ctr"/>
                </a:tc>
              </a:tr>
              <a:tr h="175260">
                <a:tc>
                  <a:txBody>
                    <a:bodyPr wrap="square"/>
                    <a:lstStyle/>
                    <a:p>
                      <a:pPr algn="l"/>
                      <a:r>
                        <a:rPr sz="1100" b="0" i="0">
                          <a:solidFill>
                            <a:srgbClr val="000000"/>
                          </a:solidFill>
                          <a:latin typeface="Calibri"/>
                        </a:rPr>
                        <a:t>31.5.6.</a:t>
                      </a:r>
                      <a:r>
                        <a:rPr sz="700" b="0" i="0">
                          <a:solidFill>
                            <a:srgbClr val="000000"/>
                          </a:solidFill>
                          <a:latin typeface="Times New Roman"/>
                        </a:rPr>
                        <a:t> </a:t>
                      </a:r>
                      <a:r>
                        <a:rPr sz="1100" b="0" i="0">
                          <a:solidFill>
                            <a:srgbClr val="000000"/>
                          </a:solidFill>
                          <a:latin typeface="Calibri"/>
                        </a:rPr>
                        <a:t>Expansion of Supermarkets, Convenience Stores &amp; Modern Grocery Retail</a:t>
                      </a:r>
                      <a:endParaRPr sz="1100"/>
                    </a:p>
                  </a:txBody>
                  <a:tcPr marL="771525" marR="9525" marT="9525" marB="0" anchor="ctr"/>
                </a:tc>
              </a:tr>
              <a:tr h="175260">
                <a:tc>
                  <a:txBody>
                    <a:bodyPr wrap="square"/>
                    <a:lstStyle/>
                    <a:p>
                      <a:pPr algn="l"/>
                      <a:r>
                        <a:rPr sz="1100" b="0" i="0">
                          <a:solidFill>
                            <a:srgbClr val="000000"/>
                          </a:solidFill>
                          <a:latin typeface="Calibri"/>
                        </a:rPr>
                        <a:t>31.5.7.</a:t>
                      </a:r>
                      <a:r>
                        <a:rPr sz="700" b="0" i="0">
                          <a:solidFill>
                            <a:srgbClr val="000000"/>
                          </a:solidFill>
                          <a:latin typeface="Times New Roman"/>
                        </a:rPr>
                        <a:t> </a:t>
                      </a:r>
                      <a:r>
                        <a:rPr sz="1100" b="0" i="0">
                          <a:solidFill>
                            <a:srgbClr val="000000"/>
                          </a:solidFill>
                          <a:latin typeface="Calibri"/>
                        </a:rPr>
                        <a:t>Growth of Online Grocery &amp; E-Commerce Food Purchasing</a:t>
                      </a:r>
                      <a:endParaRPr sz="1100"/>
                    </a:p>
                  </a:txBody>
                  <a:tcPr marL="771525" marR="9525" marT="9525" marB="0" anchor="ctr"/>
                </a:tc>
              </a:tr>
              <a:tr h="175260">
                <a:tc>
                  <a:txBody>
                    <a:bodyPr wrap="square"/>
                    <a:lstStyle/>
                    <a:p>
                      <a:pPr algn="l"/>
                      <a:r>
                        <a:rPr sz="1100" b="0" i="0">
                          <a:solidFill>
                            <a:srgbClr val="000000"/>
                          </a:solidFill>
                          <a:latin typeface="Calibri"/>
                        </a:rPr>
                        <a:t>31.5.8.</a:t>
                      </a:r>
                      <a:r>
                        <a:rPr sz="700" b="0" i="0">
                          <a:solidFill>
                            <a:srgbClr val="000000"/>
                          </a:solidFill>
                          <a:latin typeface="Times New Roman"/>
                        </a:rPr>
                        <a:t> </a:t>
                      </a:r>
                      <a:r>
                        <a:rPr sz="1100" b="0" i="0">
                          <a:solidFill>
                            <a:srgbClr val="000000"/>
                          </a:solidFill>
                          <a:latin typeface="Calibri"/>
                        </a:rPr>
                        <a:t>Shelf-Life Extension &amp; Improved Packaging Technologies</a:t>
                      </a:r>
                      <a:endParaRPr sz="1100"/>
                    </a:p>
                  </a:txBody>
                  <a:tcPr marL="771525" marR="9525" marT="9525" marB="0" anchor="ctr"/>
                </a:tc>
              </a:tr>
              <a:tr h="175260">
                <a:tc>
                  <a:txBody>
                    <a:bodyPr wrap="square"/>
                    <a:lstStyle/>
                    <a:p>
                      <a:pPr algn="l"/>
                      <a:r>
                        <a:rPr sz="1100" b="0" i="0">
                          <a:solidFill>
                            <a:srgbClr val="000000"/>
                          </a:solidFill>
                          <a:latin typeface="Calibri"/>
                        </a:rPr>
                        <a:t>31.5.9.</a:t>
                      </a:r>
                      <a:r>
                        <a:rPr sz="700" b="0" i="0">
                          <a:solidFill>
                            <a:srgbClr val="000000"/>
                          </a:solidFill>
                          <a:latin typeface="Times New Roman"/>
                        </a:rPr>
                        <a:t> </a:t>
                      </a:r>
                      <a:r>
                        <a:rPr sz="1100" b="0" i="0">
                          <a:solidFill>
                            <a:srgbClr val="000000"/>
                          </a:solidFill>
                          <a:latin typeface="Calibri"/>
                        </a:rPr>
                        <a:t>Rising Demand for Portion-Controlled &amp; Mini Muffin Formats</a:t>
                      </a:r>
                      <a:endParaRPr sz="1100"/>
                    </a:p>
                  </a:txBody>
                  <a:tcPr marL="771525" marR="9525" marT="9525" marB="0" anchor="ctr"/>
                </a:tc>
              </a:tr>
              <a:tr h="175260">
                <a:tc>
                  <a:txBody>
                    <a:bodyPr wrap="square"/>
                    <a:lstStyle/>
                    <a:p>
                      <a:pPr algn="l"/>
                      <a:r>
                        <a:rPr sz="1100" b="0" i="0">
                          <a:solidFill>
                            <a:srgbClr val="000000"/>
                          </a:solidFill>
                          <a:latin typeface="Calibri"/>
                        </a:rPr>
                        <a:t>31.5.10.</a:t>
                      </a:r>
                      <a:r>
                        <a:rPr sz="700" b="0" i="0">
                          <a:solidFill>
                            <a:srgbClr val="000000"/>
                          </a:solidFill>
                          <a:latin typeface="Times New Roman"/>
                        </a:rPr>
                        <a:t> </a:t>
                      </a:r>
                      <a:r>
                        <a:rPr sz="1100" b="0" i="0">
                          <a:solidFill>
                            <a:srgbClr val="000000"/>
                          </a:solidFill>
                          <a:latin typeface="Calibri"/>
                        </a:rPr>
                        <a:t>Expansion of Bakery Consumption in Emerging Markets</a:t>
                      </a:r>
                      <a:endParaRPr sz="1100"/>
                    </a:p>
                  </a:txBody>
                  <a:tcPr marL="771525" marR="9525" marT="9525" marB="0" anchor="ctr"/>
                </a:tc>
              </a:tr>
              <a:tr h="175260">
                <a:tc>
                  <a:txBody>
                    <a:bodyPr wrap="square"/>
                    <a:lstStyle/>
                    <a:p>
                      <a:pPr algn="l"/>
                      <a:r>
                        <a:rPr sz="1100" b="0" i="0">
                          <a:solidFill>
                            <a:srgbClr val="000000"/>
                          </a:solidFill>
                          <a:latin typeface="Calibri"/>
                        </a:rPr>
                        <a:t>31.5.11.</a:t>
                      </a:r>
                      <a:r>
                        <a:rPr sz="700" b="0" i="0">
                          <a:solidFill>
                            <a:srgbClr val="000000"/>
                          </a:solidFill>
                          <a:latin typeface="Times New Roman"/>
                        </a:rPr>
                        <a:t> </a:t>
                      </a:r>
                      <a:r>
                        <a:rPr sz="1100" b="0" i="0">
                          <a:solidFill>
                            <a:srgbClr val="000000"/>
                          </a:solidFill>
                          <a:latin typeface="Calibri"/>
                        </a:rPr>
                        <a:t>Other Forecast Factors</a:t>
                      </a:r>
                      <a:endParaRPr sz="1100"/>
                    </a:p>
                  </a:txBody>
                  <a:tcPr marL="771525" marR="9525" marT="9525" marB="0" anchor="ctr"/>
                </a:tc>
              </a:tr>
              <a:tr h="175260">
                <a:tc>
                  <a:txBody>
                    <a:bodyPr wrap="square"/>
                    <a:lstStyle/>
                    <a:p>
                      <a:pPr algn="l"/>
                      <a:r>
                        <a:rPr sz="1100" b="0" i="0">
                          <a:solidFill>
                            <a:srgbClr val="0070C0"/>
                          </a:solidFill>
                          <a:latin typeface="Calibri"/>
                        </a:rPr>
                        <a:t>31.6.</a:t>
                      </a:r>
                      <a:r>
                        <a:rPr sz="700" b="0" i="0">
                          <a:solidFill>
                            <a:srgbClr val="0070C0"/>
                          </a:solidFill>
                          <a:latin typeface="Times New Roman"/>
                        </a:rPr>
                        <a:t>  </a:t>
                      </a:r>
                      <a:r>
                        <a:rPr sz="1100" b="0" i="0">
                          <a:solidFill>
                            <a:srgbClr val="0070C0"/>
                          </a:solidFill>
                          <a:latin typeface="Calibri"/>
                        </a:rPr>
                        <a:t>Regulations</a:t>
                      </a:r>
                      <a:endParaRPr sz="1100"/>
                    </a:p>
                  </a:txBody>
                  <a:tcPr marL="428625" marR="9525" marT="9525" marB="0" anchor="ctr"/>
                </a:tc>
              </a:tr>
              <a:tr h="175260">
                <a:tc>
                  <a:txBody>
                    <a:bodyPr wrap="square"/>
                    <a:lstStyle/>
                    <a:p>
                      <a:pPr algn="l"/>
                      <a:r>
                        <a:rPr sz="1100" b="0" i="0">
                          <a:solidFill>
                            <a:srgbClr val="0070C0"/>
                          </a:solidFill>
                          <a:latin typeface="Calibri"/>
                        </a:rPr>
                        <a:t>31.7.</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31.8.</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32.</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32.1.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32.1.1.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32.1.2.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r h="175260">
                <a:tc>
                  <a:txBody>
                    <a:bodyPr wrap="square"/>
                    <a:lstStyle/>
                    <a:p>
                      <a:pPr algn="l"/>
                      <a:r>
                        <a:rPr sz="1100" b="0" i="0">
                          <a:solidFill>
                            <a:srgbClr val="0070C0"/>
                          </a:solidFill>
                          <a:latin typeface="Calibri"/>
                        </a:rPr>
                        <a:t>32.2.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32.3.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32.3.1.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32.3.2.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32.3.3.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6: Competition Assessment</a:t>
                      </a:r>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(11/12)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Calibri"/>
                        </a:rPr>
                        <a:t>33.</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34.</a:t>
                      </a:r>
                      <a:r>
                        <a:rPr sz="700" b="1" i="0">
                          <a:solidFill>
                            <a:srgbClr val="000000"/>
                          </a:solidFill>
                          <a:latin typeface="Times New Roman"/>
                        </a:rPr>
                        <a:t>    </a:t>
                      </a:r>
                      <a:r>
                        <a:rPr sz="1100" b="1" i="0">
                          <a:solidFill>
                            <a:srgbClr val="000000"/>
                          </a:solidFill>
                          <a:latin typeface="Calibri"/>
                        </a:rPr>
                        <a:t>Brand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34.1.</a:t>
                      </a:r>
                      <a:r>
                        <a:rPr sz="700" b="0" i="0">
                          <a:solidFill>
                            <a:srgbClr val="0070C0"/>
                          </a:solidFill>
                          <a:latin typeface="Times New Roman"/>
                        </a:rPr>
                        <a:t>  </a:t>
                      </a:r>
                      <a:r>
                        <a:rPr sz="1100" b="0" i="0">
                          <a:solidFill>
                            <a:srgbClr val="0070C0"/>
                          </a:solidFill>
                          <a:latin typeface="Calibri"/>
                        </a:rPr>
                        <a:t>By Country</a:t>
                      </a:r>
                      <a:endParaRPr sz="1100"/>
                    </a:p>
                  </a:txBody>
                  <a:tcPr marL="428625" marR="9525" marT="9525" marB="0" anchor="ctr"/>
                </a:tc>
              </a:tr>
              <a:tr h="175260">
                <a:tc>
                  <a:txBody>
                    <a:bodyPr wrap="square"/>
                    <a:lstStyle/>
                    <a:p>
                      <a:pPr algn="l"/>
                      <a:r>
                        <a:rPr sz="1100" b="0" i="0">
                          <a:solidFill>
                            <a:srgbClr val="0070C0"/>
                          </a:solidFill>
                          <a:latin typeface="Calibri"/>
                        </a:rPr>
                        <a:t>34.2.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34.3.</a:t>
                      </a:r>
                      <a:r>
                        <a:rPr sz="700" b="0" i="0">
                          <a:solidFill>
                            <a:srgbClr val="0070C0"/>
                          </a:solidFill>
                          <a:latin typeface="Times New Roman"/>
                        </a:rPr>
                        <a:t>  </a:t>
                      </a:r>
                      <a:r>
                        <a:rPr sz="1100" b="0" i="0">
                          <a:solidFill>
                            <a:srgbClr val="0070C0"/>
                          </a:solidFill>
                          <a:latin typeface="Calibri"/>
                        </a:rPr>
                        <a:t>Sales Channel</a:t>
                      </a:r>
                      <a:endParaRPr sz="1100"/>
                    </a:p>
                  </a:txBody>
                  <a:tcPr marL="428625" marR="9525" marT="9525" marB="0" anchor="ctr"/>
                </a:tc>
              </a:tr>
              <a:tr h="175260">
                <a:tc>
                  <a:txBody>
                    <a:bodyPr wrap="square"/>
                    <a:lstStyle/>
                    <a:p>
                      <a:pPr algn="l"/>
                      <a:r>
                        <a:rPr sz="1100" b="1" i="0">
                          <a:solidFill>
                            <a:srgbClr val="000000"/>
                          </a:solidFill>
                          <a:latin typeface="Calibri"/>
                        </a:rPr>
                        <a:t>35.</a:t>
                      </a:r>
                      <a:r>
                        <a:rPr sz="700" b="1" i="0">
                          <a:solidFill>
                            <a:srgbClr val="000000"/>
                          </a:solidFill>
                          <a:latin typeface="Times New Roman"/>
                        </a:rPr>
                        <a:t>    </a:t>
                      </a:r>
                      <a:r>
                        <a:rPr sz="1100" b="1" i="0">
                          <a:solidFill>
                            <a:srgbClr val="000000"/>
                          </a:solidFill>
                          <a:latin typeface="Calibri"/>
                        </a:rPr>
                        <a:t>Brand Share Breakdown (2026)</a:t>
                      </a:r>
                      <a:endParaRPr sz="1100"/>
                    </a:p>
                  </a:txBody>
                  <a:tcPr marL="171450" marR="9525" marT="9525" marB="0" anchor="ctr"/>
                </a:tc>
              </a:tr>
              <a:tr h="175260">
                <a:tc>
                  <a:txBody>
                    <a:bodyPr wrap="square"/>
                    <a:lstStyle/>
                    <a:p>
                      <a:pPr algn="l"/>
                      <a:r>
                        <a:rPr sz="1100" b="0" i="0">
                          <a:solidFill>
                            <a:srgbClr val="0070C0"/>
                          </a:solidFill>
                          <a:latin typeface="Calibri"/>
                        </a:rPr>
                        <a:t>35.1.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35.2.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35.3.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36.</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36.1.</a:t>
                      </a:r>
                      <a:r>
                        <a:rPr sz="700" b="0" i="0">
                          <a:solidFill>
                            <a:srgbClr val="0070C0"/>
                          </a:solidFill>
                          <a:latin typeface="Times New Roman"/>
                        </a:rPr>
                        <a:t>  </a:t>
                      </a:r>
                      <a:r>
                        <a:rPr sz="1100" b="0" i="0">
                          <a:solidFill>
                            <a:srgbClr val="0070C0"/>
                          </a:solidFill>
                          <a:latin typeface="Calibri"/>
                        </a:rPr>
                        <a:t>Grupo Bimbo (Bimbo, Marinela, Little Bites, Thomas')</a:t>
                      </a:r>
                      <a:endParaRPr sz="1100"/>
                    </a:p>
                  </a:txBody>
                  <a:tcPr marL="428625" marR="9525" marT="9525" marB="0" anchor="ctr"/>
                </a:tc>
              </a:tr>
              <a:tr h="175260">
                <a:tc>
                  <a:txBody>
                    <a:bodyPr wrap="square"/>
                    <a:lstStyle/>
                    <a:p>
                      <a:pPr algn="l"/>
                      <a:r>
                        <a:rPr sz="1100" b="0" i="0">
                          <a:solidFill>
                            <a:srgbClr val="000000"/>
                          </a:solidFill>
                          <a:latin typeface="Calibri"/>
                        </a:rPr>
                        <a:t>36.1.1.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36.1.2.</a:t>
                      </a:r>
                      <a:r>
                        <a:rPr sz="700" b="0" i="0">
                          <a:solidFill>
                            <a:srgbClr val="000000"/>
                          </a:solidFill>
                          <a:latin typeface="Times New Roman"/>
                        </a:rPr>
                        <a:t> </a:t>
                      </a:r>
                      <a:r>
                        <a:rPr sz="1100" b="0" i="0">
                          <a:solidFill>
                            <a:srgbClr val="000000"/>
                          </a:solidFill>
                          <a:latin typeface="Calibri"/>
                        </a:rPr>
                        <a:t>Market Segments</a:t>
                      </a:r>
                      <a:endParaRPr sz="1100"/>
                    </a:p>
                  </a:txBody>
                  <a:tcPr marL="771525" marR="9525" marT="9525" marB="0" anchor="ctr"/>
                </a:tc>
              </a:tr>
              <a:tr h="175260">
                <a:tc>
                  <a:txBody>
                    <a:bodyPr wrap="square"/>
                    <a:lstStyle/>
                    <a:p>
                      <a:pPr algn="l"/>
                      <a:r>
                        <a:rPr sz="1100" b="0" i="1">
                          <a:solidFill>
                            <a:srgbClr val="000000"/>
                          </a:solidFill>
                          <a:latin typeface="Calibri"/>
                        </a:rPr>
                        <a:t>36.1.2.1.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36.1.2.2.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36.1.2.3.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36.1.3.</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36.1.4.</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36.1.4.1.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36.1.4.2.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r h="175260">
                <a:tc>
                  <a:txBody>
                    <a:bodyPr wrap="square"/>
                    <a:lstStyle/>
                    <a:p>
                      <a:pPr algn="l"/>
                      <a:r>
                        <a:rPr sz="1100" b="0" i="1">
                          <a:solidFill>
                            <a:srgbClr val="000000"/>
                          </a:solidFill>
                          <a:latin typeface="Calibri"/>
                        </a:rPr>
                        <a:t>36.1.4.3.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36.1.4.4.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36.1.5.</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36.1.6.</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36.2.</a:t>
                      </a:r>
                      <a:r>
                        <a:rPr sz="700" b="0" i="0">
                          <a:solidFill>
                            <a:srgbClr val="0070C0"/>
                          </a:solidFill>
                          <a:latin typeface="Times New Roman"/>
                        </a:rPr>
                        <a:t>  </a:t>
                      </a:r>
                      <a:r>
                        <a:rPr sz="1100" b="0" i="0">
                          <a:solidFill>
                            <a:srgbClr val="0070C0"/>
                          </a:solidFill>
                          <a:latin typeface="Calibri"/>
                        </a:rPr>
                        <a:t>McKee Foods Corporation (Little Debbie, Sunbelt Bakery, Drake's, Fieldstone Bakery)</a:t>
                      </a:r>
                      <a:endParaRPr sz="1100"/>
                    </a:p>
                  </a:txBody>
                  <a:tcPr marL="428625" marR="9525" marT="9525" marB="0" anchor="ctr"/>
                </a:tc>
              </a:tr>
              <a:tr h="175260">
                <a:tc>
                  <a:txBody>
                    <a:bodyPr wrap="square"/>
                    <a:lstStyle/>
                    <a:p>
                      <a:pPr algn="l"/>
                      <a:r>
                        <a:rPr sz="1100" b="0" i="0">
                          <a:solidFill>
                            <a:srgbClr val="0070C0"/>
                          </a:solidFill>
                          <a:latin typeface="Calibri"/>
                        </a:rPr>
                        <a:t>36.3.</a:t>
                      </a:r>
                      <a:r>
                        <a:rPr sz="700" b="0" i="0">
                          <a:solidFill>
                            <a:srgbClr val="0070C0"/>
                          </a:solidFill>
                          <a:latin typeface="Times New Roman"/>
                        </a:rPr>
                        <a:t>  </a:t>
                      </a:r>
                      <a:r>
                        <a:rPr sz="1100" b="0" i="0">
                          <a:solidFill>
                            <a:srgbClr val="0070C0"/>
                          </a:solidFill>
                          <a:latin typeface="Calibri"/>
                        </a:rPr>
                        <a:t>Hostess Brands (Hostess)</a:t>
                      </a:r>
                      <a:endParaRPr sz="1100"/>
                    </a:p>
                  </a:txBody>
                  <a:tcPr marL="428625" marR="9525" marT="9525" marB="0" anchor="ctr"/>
                </a:tc>
              </a:tr>
              <a:tr h="175260">
                <a:tc>
                  <a:txBody>
                    <a:bodyPr wrap="square"/>
                    <a:lstStyle/>
                    <a:p>
                      <a:pPr algn="l"/>
                      <a:r>
                        <a:rPr sz="1100" b="0" i="0">
                          <a:solidFill>
                            <a:srgbClr val="0070C0"/>
                          </a:solidFill>
                          <a:latin typeface="Calibri"/>
                        </a:rPr>
                        <a:t>36.4.</a:t>
                      </a:r>
                      <a:r>
                        <a:rPr sz="700" b="0" i="0">
                          <a:solidFill>
                            <a:srgbClr val="0070C0"/>
                          </a:solidFill>
                          <a:latin typeface="Times New Roman"/>
                        </a:rPr>
                        <a:t>  </a:t>
                      </a:r>
                      <a:r>
                        <a:rPr sz="1100" b="0" i="0">
                          <a:solidFill>
                            <a:srgbClr val="0070C0"/>
                          </a:solidFill>
                          <a:latin typeface="Calibri"/>
                        </a:rPr>
                        <a:t>Rich Products Corporation (Rich's)</a:t>
                      </a:r>
                      <a:endParaRPr sz="1100"/>
                    </a:p>
                  </a:txBody>
                  <a:tcPr marL="428625" marR="9525" marT="9525" marB="0" anchor="ctr"/>
                </a:tc>
              </a:tr>
              <a:tr h="350520">
                <a:tc>
                  <a:txBody>
                    <a:bodyPr wrap="square"/>
                    <a:lstStyle/>
                    <a:p>
                      <a:pPr algn="l"/>
                      <a:r>
                        <a:rPr sz="1100" b="0" i="0">
                          <a:solidFill>
                            <a:srgbClr val="0070C0"/>
                          </a:solidFill>
                          <a:latin typeface="Calibri"/>
                        </a:rPr>
                        <a:t>36.5.</a:t>
                      </a:r>
                      <a:r>
                        <a:rPr sz="700" b="0" i="0">
                          <a:solidFill>
                            <a:srgbClr val="0070C0"/>
                          </a:solidFill>
                          <a:latin typeface="Times New Roman"/>
                        </a:rPr>
                        <a:t>  </a:t>
                      </a:r>
                      <a:r>
                        <a:rPr sz="1100" b="0" i="0">
                          <a:solidFill>
                            <a:srgbClr val="0070C0"/>
                          </a:solidFill>
                          <a:latin typeface="Calibri"/>
                        </a:rPr>
                        <a:t>ARYZTA / Aspire Bakeries (Otis Spunkmeyer, Cuisine de France, Hiestand, Delice de France)</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36.6.</a:t>
                      </a:r>
                      <a:r>
                        <a:rPr sz="700" b="0" i="0">
                          <a:solidFill>
                            <a:srgbClr val="0070C0"/>
                          </a:solidFill>
                          <a:latin typeface="Times New Roman"/>
                        </a:rPr>
                        <a:t>  </a:t>
                      </a:r>
                      <a:r>
                        <a:rPr sz="1100" b="0" i="0">
                          <a:solidFill>
                            <a:srgbClr val="0070C0"/>
                          </a:solidFill>
                          <a:latin typeface="Calibri"/>
                        </a:rPr>
                        <a:t>Europastry (Europastry, Dots)</a:t>
                      </a:r>
                      <a:endParaRPr sz="1100"/>
                    </a:p>
                  </a:txBody>
                  <a:tcPr marL="428625" marR="9525" marT="9525" marB="0" anchor="ctr"/>
                </a:tc>
              </a:tr>
              <a:tr h="175260">
                <a:tc>
                  <a:txBody>
                    <a:bodyPr wrap="square"/>
                    <a:lstStyle/>
                    <a:p>
                      <a:pPr algn="l"/>
                      <a:r>
                        <a:rPr sz="1100" b="0" i="0">
                          <a:solidFill>
                            <a:srgbClr val="0070C0"/>
                          </a:solidFill>
                          <a:latin typeface="Calibri"/>
                        </a:rPr>
                        <a:t>36.7.</a:t>
                      </a:r>
                      <a:r>
                        <a:rPr sz="700" b="0" i="0">
                          <a:solidFill>
                            <a:srgbClr val="0070C0"/>
                          </a:solidFill>
                          <a:latin typeface="Times New Roman"/>
                        </a:rPr>
                        <a:t>  </a:t>
                      </a:r>
                      <a:r>
                        <a:rPr sz="1100" b="0" i="0">
                          <a:solidFill>
                            <a:srgbClr val="0070C0"/>
                          </a:solidFill>
                          <a:latin typeface="Calibri"/>
                        </a:rPr>
                        <a:t>Bridor (Bridor, Evasions)</a:t>
                      </a:r>
                      <a:endParaRPr sz="1100"/>
                    </a:p>
                  </a:txBody>
                  <a:tcPr marL="428625" marR="9525" marT="9525" marB="0" anchor="ctr"/>
                </a:tc>
              </a:tr>
              <a:tr h="175260">
                <a:tc>
                  <a:txBody>
                    <a:bodyPr wrap="square"/>
                    <a:lstStyle/>
                    <a:p>
                      <a:pPr algn="l"/>
                      <a:r>
                        <a:rPr sz="1100" b="0" i="0">
                          <a:solidFill>
                            <a:srgbClr val="0070C0"/>
                          </a:solidFill>
                          <a:latin typeface="Calibri"/>
                        </a:rPr>
                        <a:t>36.8.</a:t>
                      </a:r>
                      <a:r>
                        <a:rPr sz="700" b="0" i="0">
                          <a:solidFill>
                            <a:srgbClr val="0070C0"/>
                          </a:solidFill>
                          <a:latin typeface="Times New Roman"/>
                        </a:rPr>
                        <a:t>  </a:t>
                      </a:r>
                      <a:r>
                        <a:rPr sz="1100" b="0" i="0">
                          <a:solidFill>
                            <a:srgbClr val="0070C0"/>
                          </a:solidFill>
                          <a:latin typeface="Calibri"/>
                        </a:rPr>
                        <a:t>Lantmännen Unibake (Schulstad, Hatting, Vaasan, Pastridor, Euro-Bake)</a:t>
                      </a:r>
                      <a:endParaRPr sz="1100"/>
                    </a:p>
                  </a:txBody>
                  <a:tcPr marL="428625" marR="9525" marT="9525" marB="0" anchor="ctr"/>
                </a:tc>
              </a:tr>
              <a:tr h="350520">
                <a:tc>
                  <a:txBody>
                    <a:bodyPr wrap="square"/>
                    <a:lstStyle/>
                    <a:p>
                      <a:pPr algn="l"/>
                      <a:r>
                        <a:rPr sz="1100" b="0" i="0">
                          <a:solidFill>
                            <a:srgbClr val="0070C0"/>
                          </a:solidFill>
                          <a:latin typeface="Calibri"/>
                        </a:rPr>
                        <a:t>36.9.</a:t>
                      </a:r>
                      <a:r>
                        <a:rPr sz="700" b="0" i="0">
                          <a:solidFill>
                            <a:srgbClr val="0070C0"/>
                          </a:solidFill>
                          <a:latin typeface="Times New Roman"/>
                        </a:rPr>
                        <a:t>  </a:t>
                      </a:r>
                      <a:r>
                        <a:rPr sz="1100" b="0" i="0">
                          <a:solidFill>
                            <a:srgbClr val="0070C0"/>
                          </a:solidFill>
                          <a:latin typeface="Calibri"/>
                        </a:rPr>
                        <a:t>Flowers Foods (Tastykake, Nature's Own, Wonder, Dave's Killer Bread, Canyon Bakehouse)</a:t>
                      </a:r>
                      <a:endParaRPr sz="1100"/>
                    </a:p>
                  </a:txBody>
                  <a:tcPr marL="428625" marR="9525" marT="9525" marB="0" anchor="ctr"/>
                </a:tc>
              </a:tr>
              <a:tr h="175260">
                <a:tc>
                  <a:txBody>
                    <a:bodyPr wrap="square"/>
                    <a:lstStyle/>
                    <a:p>
                      <a:pPr algn="l"/>
                      <a:r>
                        <a:rPr sz="1100" b="0" i="0">
                          <a:solidFill>
                            <a:srgbClr val="0070C0"/>
                          </a:solidFill>
                          <a:latin typeface="Calibri"/>
                        </a:rPr>
                        <a:t>36.10.</a:t>
                      </a:r>
                      <a:r>
                        <a:rPr sz="700" b="0" i="0">
                          <a:solidFill>
                            <a:srgbClr val="0070C0"/>
                          </a:solidFill>
                          <a:latin typeface="Times New Roman"/>
                        </a:rPr>
                        <a:t> </a:t>
                      </a:r>
                      <a:r>
                        <a:rPr sz="1100" b="0" i="0">
                          <a:solidFill>
                            <a:srgbClr val="0070C0"/>
                          </a:solidFill>
                          <a:latin typeface="Calibri"/>
                        </a:rPr>
                        <a:t>Premier Foods (Mr Kipling)</a:t>
                      </a:r>
                      <a:endParaRPr sz="1100"/>
                    </a:p>
                  </a:txBody>
                  <a:tcPr marL="428625" marR="9525" marT="9525" marB="0" anchor="ctr"/>
                </a:tc>
              </a:tr>
              <a:tr h="175260">
                <a:tc>
                  <a:txBody>
                    <a:bodyPr wrap="square"/>
                    <a:lstStyle/>
                    <a:p>
                      <a:pPr algn="l"/>
                      <a:r>
                        <a:rPr sz="1100" b="0" i="0">
                          <a:solidFill>
                            <a:srgbClr val="0070C0"/>
                          </a:solidFill>
                          <a:latin typeface="Calibri"/>
                        </a:rPr>
                        <a:t>36.11.</a:t>
                      </a:r>
                      <a:r>
                        <a:rPr sz="700" b="0" i="0">
                          <a:solidFill>
                            <a:srgbClr val="0070C0"/>
                          </a:solidFill>
                          <a:latin typeface="Times New Roman"/>
                        </a:rPr>
                        <a:t> </a:t>
                      </a:r>
                      <a:r>
                        <a:rPr sz="1100" b="0" i="0">
                          <a:solidFill>
                            <a:srgbClr val="0070C0"/>
                          </a:solidFill>
                          <a:latin typeface="Calibri"/>
                        </a:rPr>
                        <a:t>Warburtons (Warburtons)</a:t>
                      </a:r>
                      <a:endParaRPr sz="1100"/>
                    </a:p>
                  </a:txBody>
                  <a:tcPr marL="428625" marR="9525" marT="9525" marB="0" anchor="ctr"/>
                </a:tc>
              </a:tr>
              <a:tr h="175260">
                <a:tc>
                  <a:txBody>
                    <a:bodyPr wrap="square"/>
                    <a:lstStyle/>
                    <a:p>
                      <a:pPr algn="l"/>
                      <a:r>
                        <a:rPr sz="1100" b="0" i="0">
                          <a:solidFill>
                            <a:srgbClr val="0070C0"/>
                          </a:solidFill>
                          <a:latin typeface="Calibri"/>
                        </a:rPr>
                        <a:t>36.12.</a:t>
                      </a:r>
                      <a:r>
                        <a:rPr sz="700" b="0" i="0">
                          <a:solidFill>
                            <a:srgbClr val="0070C0"/>
                          </a:solidFill>
                          <a:latin typeface="Times New Roman"/>
                        </a:rPr>
                        <a:t> </a:t>
                      </a:r>
                      <a:r>
                        <a:rPr sz="1100" b="0" i="0">
                          <a:solidFill>
                            <a:srgbClr val="0070C0"/>
                          </a:solidFill>
                          <a:latin typeface="Calibri"/>
                        </a:rPr>
                        <a:t>Goodman Fielder (Nature's Fresh, Freya's, Quality Bakers)</a:t>
                      </a:r>
                      <a:endParaRPr sz="1100"/>
                    </a:p>
                  </a:txBody>
                  <a:tcPr marL="428625" marR="9525" marT="9525" marB="0" anchor="ctr"/>
                </a:tc>
              </a:tr>
              <a:tr h="175260">
                <a:tc>
                  <a:txBody>
                    <a:bodyPr wrap="square"/>
                    <a:lstStyle/>
                    <a:p>
                      <a:pPr algn="l"/>
                      <a:r>
                        <a:rPr sz="1100" b="0" i="0">
                          <a:solidFill>
                            <a:srgbClr val="0070C0"/>
                          </a:solidFill>
                          <a:latin typeface="Calibri"/>
                        </a:rPr>
                        <a:t>36.13.</a:t>
                      </a:r>
                      <a:r>
                        <a:rPr sz="700" b="0" i="0">
                          <a:solidFill>
                            <a:srgbClr val="0070C0"/>
                          </a:solidFill>
                          <a:latin typeface="Times New Roman"/>
                        </a:rPr>
                        <a:t> </a:t>
                      </a:r>
                      <a:r>
                        <a:rPr sz="1100" b="0" i="0">
                          <a:solidFill>
                            <a:srgbClr val="0070C0"/>
                          </a:solidFill>
                          <a:latin typeface="Calibri"/>
                        </a:rPr>
                        <a:t>St Michel (St Michel)</a:t>
                      </a:r>
                      <a:endParaRPr sz="1100"/>
                    </a:p>
                  </a:txBody>
                  <a:tcPr marL="428625" marR="9525" marT="9525" marB="0" anchor="ctr"/>
                </a:tc>
              </a:tr>
              <a:tr h="175260">
                <a:tc>
                  <a:txBody>
                    <a:bodyPr wrap="square"/>
                    <a:lstStyle/>
                    <a:p>
                      <a:pPr algn="l"/>
                      <a:r>
                        <a:rPr sz="1100" b="0" i="0">
                          <a:solidFill>
                            <a:srgbClr val="0070C0"/>
                          </a:solidFill>
                          <a:latin typeface="Calibri"/>
                        </a:rPr>
                        <a:t>36.14.</a:t>
                      </a:r>
                      <a:r>
                        <a:rPr sz="700" b="0" i="0">
                          <a:solidFill>
                            <a:srgbClr val="0070C0"/>
                          </a:solidFill>
                          <a:latin typeface="Times New Roman"/>
                        </a:rPr>
                        <a:t> </a:t>
                      </a:r>
                      <a:r>
                        <a:rPr sz="1100" b="0" i="0">
                          <a:solidFill>
                            <a:srgbClr val="0070C0"/>
                          </a:solidFill>
                          <a:latin typeface="Calibri"/>
                        </a:rPr>
                        <a:t>Dr. Schär (Schär)</a:t>
                      </a:r>
                      <a:endParaRPr sz="1100"/>
                    </a:p>
                  </a:txBody>
                  <a:tcPr marL="428625" marR="9525" marT="9525" marB="0" anchor="ctr"/>
                </a:tc>
              </a:tr>
              <a:tr h="175260">
                <a:tc>
                  <a:txBody>
                    <a:bodyPr wrap="square"/>
                    <a:lstStyle/>
                    <a:p>
                      <a:pPr algn="l"/>
                      <a:r>
                        <a:rPr sz="1100" b="0" i="0">
                          <a:solidFill>
                            <a:srgbClr val="0070C0"/>
                          </a:solidFill>
                          <a:latin typeface="Calibri"/>
                        </a:rPr>
                        <a:t>36.15.</a:t>
                      </a:r>
                      <a:r>
                        <a:rPr sz="700" b="0" i="0">
                          <a:solidFill>
                            <a:srgbClr val="0070C0"/>
                          </a:solidFill>
                          <a:latin typeface="Times New Roman"/>
                        </a:rPr>
                        <a:t> </a:t>
                      </a:r>
                      <a:r>
                        <a:rPr sz="1100" b="0" i="0">
                          <a:solidFill>
                            <a:srgbClr val="0070C0"/>
                          </a:solidFill>
                          <a:latin typeface="Calibri"/>
                        </a:rPr>
                        <a:t>General Mills (Betty Crocker, Pillsbury)</a:t>
                      </a:r>
                      <a:endParaRPr sz="1100"/>
                    </a:p>
                  </a:txBody>
                  <a:tcPr marL="428625" marR="9525" marT="9525" marB="0" anchor="ctr"/>
                </a:tc>
              </a:tr>
              <a:tr h="175260">
                <a:tc>
                  <a:txBody>
                    <a:bodyPr wrap="square"/>
                    <a:lstStyle/>
                    <a:p>
                      <a:pPr algn="l"/>
                      <a:r>
                        <a:rPr sz="1100" b="0" i="0">
                          <a:solidFill>
                            <a:srgbClr val="0070C0"/>
                          </a:solidFill>
                          <a:latin typeface="Calibri"/>
                        </a:rPr>
                        <a:t>36.16.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37.</a:t>
                      </a:r>
                      <a:r>
                        <a:rPr sz="700" b="1" i="0">
                          <a:solidFill>
                            <a:srgbClr val="000000"/>
                          </a:solidFill>
                          <a:latin typeface="Times New Roman"/>
                        </a:rPr>
                        <a:t>    </a:t>
                      </a:r>
                      <a:r>
                        <a:rPr sz="1100" b="1" i="0">
                          <a:solidFill>
                            <a:srgbClr val="000000"/>
                          </a:solidFill>
                          <a:latin typeface="Calibri"/>
                        </a:rPr>
                        <a:t>Company Profile- Asia-Based</a:t>
                      </a:r>
                      <a:endParaRPr sz="1100"/>
                    </a:p>
                  </a:txBody>
                  <a:tcPr marL="171450" marR="9525" marT="9525" marB="0" anchor="ctr"/>
                </a:tc>
              </a:tr>
              <a:tr h="175260">
                <a:tc>
                  <a:txBody>
                    <a:bodyPr wrap="square"/>
                    <a:lstStyle/>
                    <a:p>
                      <a:pPr algn="l"/>
                      <a:r>
                        <a:rPr sz="1100" b="0" i="0">
                          <a:solidFill>
                            <a:srgbClr val="0070C0"/>
                          </a:solidFill>
                          <a:latin typeface="Calibri"/>
                        </a:rPr>
                        <a:t>37.1.</a:t>
                      </a:r>
                      <a:r>
                        <a:rPr sz="700" b="0" i="0">
                          <a:solidFill>
                            <a:srgbClr val="0070C0"/>
                          </a:solidFill>
                          <a:latin typeface="Times New Roman"/>
                        </a:rPr>
                        <a:t>  </a:t>
                      </a:r>
                      <a:r>
                        <a:rPr sz="1100" b="0" i="0">
                          <a:solidFill>
                            <a:srgbClr val="0070C0"/>
                          </a:solidFill>
                          <a:latin typeface="Calibri"/>
                        </a:rPr>
                        <a:t>Britannia Industries (Britannia)</a:t>
                      </a:r>
                      <a:endParaRPr sz="1100"/>
                    </a:p>
                  </a:txBody>
                  <a:tcPr marL="428625" marR="9525" marT="9525" marB="0" anchor="ctr"/>
                </a:tc>
              </a:tr>
              <a:tr h="175260">
                <a:tc>
                  <a:txBody>
                    <a:bodyPr wrap="square"/>
                    <a:lstStyle/>
                    <a:p>
                      <a:pPr algn="l"/>
                      <a:r>
                        <a:rPr sz="1100" b="0" i="0">
                          <a:solidFill>
                            <a:srgbClr val="0070C0"/>
                          </a:solidFill>
                          <a:latin typeface="Calibri"/>
                        </a:rPr>
                        <a:t>37.2.</a:t>
                      </a:r>
                      <a:r>
                        <a:rPr sz="700" b="0" i="0">
                          <a:solidFill>
                            <a:srgbClr val="0070C0"/>
                          </a:solidFill>
                          <a:latin typeface="Times New Roman"/>
                        </a:rPr>
                        <a:t>  </a:t>
                      </a:r>
                      <a:r>
                        <a:rPr sz="1100" b="0" i="0">
                          <a:solidFill>
                            <a:srgbClr val="0070C0"/>
                          </a:solidFill>
                          <a:latin typeface="Calibri"/>
                        </a:rPr>
                        <a:t>Monginis Foods (Monginis)</a:t>
                      </a:r>
                      <a:endParaRPr sz="1100"/>
                    </a:p>
                  </a:txBody>
                  <a:tcPr marL="428625" marR="9525" marT="9525" marB="0" anchor="ctr"/>
                </a:tc>
              </a:tr>
              <a:tr h="175260">
                <a:tc>
                  <a:txBody>
                    <a:bodyPr wrap="square"/>
                    <a:lstStyle/>
                    <a:p>
                      <a:pPr algn="l"/>
                      <a:r>
                        <a:rPr sz="1100" b="0" i="0">
                          <a:solidFill>
                            <a:srgbClr val="0070C0"/>
                          </a:solidFill>
                          <a:latin typeface="Calibri"/>
                        </a:rPr>
                        <a:t>37.3.</a:t>
                      </a:r>
                      <a:r>
                        <a:rPr sz="700" b="0" i="0">
                          <a:solidFill>
                            <a:srgbClr val="0070C0"/>
                          </a:solidFill>
                          <a:latin typeface="Times New Roman"/>
                        </a:rPr>
                        <a:t>  </a:t>
                      </a:r>
                      <a:r>
                        <a:rPr sz="1100" b="0" i="0">
                          <a:solidFill>
                            <a:srgbClr val="0070C0"/>
                          </a:solidFill>
                          <a:latin typeface="Calibri"/>
                        </a:rPr>
                        <a:t>Bonn Group of Industries (Bonn)</a:t>
                      </a:r>
                      <a:endParaRPr sz="1100"/>
                    </a:p>
                  </a:txBody>
                  <a:tcPr marL="428625" marR="9525" marT="9525" marB="0" anchor="ctr"/>
                </a:tc>
              </a:tr>
              <a:tr h="175260">
                <a:tc>
                  <a:txBody>
                    <a:bodyPr wrap="square"/>
                    <a:lstStyle/>
                    <a:p>
                      <a:pPr algn="l"/>
                      <a:r>
                        <a:rPr sz="1100" b="0" i="0">
                          <a:solidFill>
                            <a:srgbClr val="0070C0"/>
                          </a:solidFill>
                          <a:latin typeface="Calibri"/>
                        </a:rPr>
                        <a:t>37.4.</a:t>
                      </a:r>
                      <a:r>
                        <a:rPr sz="700" b="0" i="0">
                          <a:solidFill>
                            <a:srgbClr val="0070C0"/>
                          </a:solidFill>
                          <a:latin typeface="Times New Roman"/>
                        </a:rPr>
                        <a:t>  </a:t>
                      </a:r>
                      <a:r>
                        <a:rPr sz="1100" b="0" i="0">
                          <a:solidFill>
                            <a:srgbClr val="0070C0"/>
                          </a:solidFill>
                          <a:latin typeface="Calibri"/>
                        </a:rPr>
                        <a:t>Karachi Bakery (Karachi Bakery)</a:t>
                      </a:r>
                      <a:endParaRPr sz="1100"/>
                    </a:p>
                  </a:txBody>
                  <a:tcPr marL="428625" marR="9525" marT="9525" marB="0" anchor="ctr"/>
                </a:tc>
              </a:tr>
              <a:tr h="175260">
                <a:tc>
                  <a:txBody>
                    <a:bodyPr wrap="square"/>
                    <a:lstStyle/>
                    <a:p>
                      <a:pPr algn="l"/>
                      <a:r>
                        <a:rPr sz="1100" b="0" i="0">
                          <a:solidFill>
                            <a:srgbClr val="0070C0"/>
                          </a:solidFill>
                          <a:latin typeface="Calibri"/>
                        </a:rPr>
                        <a:t>37.5.</a:t>
                      </a:r>
                      <a:r>
                        <a:rPr sz="700" b="0" i="0">
                          <a:solidFill>
                            <a:srgbClr val="0070C0"/>
                          </a:solidFill>
                          <a:latin typeface="Times New Roman"/>
                        </a:rPr>
                        <a:t>  </a:t>
                      </a:r>
                      <a:r>
                        <a:rPr sz="1100" b="0" i="0">
                          <a:solidFill>
                            <a:srgbClr val="0070C0"/>
                          </a:solidFill>
                          <a:latin typeface="Calibri"/>
                        </a:rPr>
                        <a:t>Gardenia Bakeries Philippines (Gardenia)</a:t>
                      </a:r>
                      <a:endParaRPr sz="1100"/>
                    </a:p>
                  </a:txBody>
                  <a:tcPr marL="428625" marR="9525" marT="9525" marB="0" anchor="ctr"/>
                </a:tc>
              </a:tr>
              <a:tr h="175260">
                <a:tc>
                  <a:txBody>
                    <a:bodyPr wrap="square"/>
                    <a:lstStyle/>
                    <a:p>
                      <a:pPr algn="l"/>
                      <a:r>
                        <a:rPr sz="1100" b="0" i="0">
                          <a:solidFill>
                            <a:srgbClr val="0070C0"/>
                          </a:solidFill>
                          <a:latin typeface="Calibri"/>
                        </a:rPr>
                        <a:t>37.6.</a:t>
                      </a:r>
                      <a:r>
                        <a:rPr sz="700" b="0" i="0">
                          <a:solidFill>
                            <a:srgbClr val="0070C0"/>
                          </a:solidFill>
                          <a:latin typeface="Times New Roman"/>
                        </a:rPr>
                        <a:t>  </a:t>
                      </a:r>
                      <a:r>
                        <a:rPr sz="1100" b="0" i="0">
                          <a:solidFill>
                            <a:srgbClr val="0070C0"/>
                          </a:solidFill>
                          <a:latin typeface="Calibri"/>
                        </a:rPr>
                        <a:t>Gardenia Bakeries Malaysia (Gardenia, Gardenia QuickBites)</a:t>
                      </a:r>
                      <a:endParaRPr sz="1100"/>
                    </a:p>
                  </a:txBody>
                  <a:tcPr marL="428625" marR="9525" marT="9525" marB="0" anchor="ctr"/>
                </a:tc>
              </a:tr>
              <a:tr h="175260">
                <a:tc>
                  <a:txBody>
                    <a:bodyPr wrap="square"/>
                    <a:lstStyle/>
                    <a:p>
                      <a:pPr algn="l"/>
                      <a:r>
                        <a:rPr sz="1100" b="0" i="0">
                          <a:solidFill>
                            <a:srgbClr val="0070C0"/>
                          </a:solidFill>
                          <a:latin typeface="Calibri"/>
                        </a:rPr>
                        <a:t>37.7.</a:t>
                      </a:r>
                      <a:r>
                        <a:rPr sz="700" b="0" i="0">
                          <a:solidFill>
                            <a:srgbClr val="0070C0"/>
                          </a:solidFill>
                          <a:latin typeface="Times New Roman"/>
                        </a:rPr>
                        <a:t>  </a:t>
                      </a:r>
                      <a:r>
                        <a:rPr sz="1100" b="0" i="0">
                          <a:solidFill>
                            <a:srgbClr val="0070C0"/>
                          </a:solidFill>
                          <a:latin typeface="Calibri"/>
                        </a:rPr>
                        <a:t>PT Nippon Indosari Corpindo (Sari Roti)</a:t>
                      </a:r>
                      <a:endParaRPr sz="1100"/>
                    </a:p>
                  </a:txBody>
                  <a:tcPr marL="428625" marR="9525" marT="9525" marB="0" anchor="ctr"/>
                </a:tc>
              </a:tr>
              <a:tr h="175260">
                <a:tc>
                  <a:txBody>
                    <a:bodyPr wrap="square"/>
                    <a:lstStyle/>
                    <a:p>
                      <a:pPr algn="l"/>
                      <a:r>
                        <a:rPr sz="1100" b="0" i="0">
                          <a:solidFill>
                            <a:srgbClr val="0070C0"/>
                          </a:solidFill>
                          <a:latin typeface="Calibri"/>
                        </a:rPr>
                        <a:t>37.8.</a:t>
                      </a:r>
                      <a:r>
                        <a:rPr sz="700" b="0" i="0">
                          <a:solidFill>
                            <a:srgbClr val="0070C0"/>
                          </a:solidFill>
                          <a:latin typeface="Times New Roman"/>
                        </a:rPr>
                        <a:t>  </a:t>
                      </a:r>
                      <a:r>
                        <a:rPr sz="1100" b="0" i="0">
                          <a:solidFill>
                            <a:srgbClr val="0070C0"/>
                          </a:solidFill>
                          <a:latin typeface="Calibri"/>
                        </a:rPr>
                        <a:t>BreadTalk Group (BreadTalk)</a:t>
                      </a:r>
                      <a:endParaRPr sz="1100"/>
                    </a:p>
                  </a:txBody>
                  <a:tcPr marL="428625" marR="9525" marT="9525" marB="0" anchor="ctr"/>
                </a:tc>
              </a:tr>
              <a:tr h="175260">
                <a:tc>
                  <a:txBody>
                    <a:bodyPr wrap="square"/>
                    <a:lstStyle/>
                    <a:p>
                      <a:pPr algn="l"/>
                      <a:r>
                        <a:rPr sz="1100" b="0" i="0">
                          <a:solidFill>
                            <a:srgbClr val="0070C0"/>
                          </a:solidFill>
                          <a:latin typeface="Calibri"/>
                        </a:rPr>
                        <a:t>37.9.</a:t>
                      </a:r>
                      <a:r>
                        <a:rPr sz="700" b="0" i="0">
                          <a:solidFill>
                            <a:srgbClr val="0070C0"/>
                          </a:solidFill>
                          <a:latin typeface="Times New Roman"/>
                        </a:rPr>
                        <a:t>  </a:t>
                      </a:r>
                      <a:r>
                        <a:rPr sz="1100" b="0" i="0">
                          <a:solidFill>
                            <a:srgbClr val="0070C0"/>
                          </a:solidFill>
                          <a:latin typeface="Calibri"/>
                        </a:rPr>
                        <a:t>QAF Limited (Bakers Maison)</a:t>
                      </a:r>
                      <a:endParaRPr sz="1100"/>
                    </a:p>
                  </a:txBody>
                  <a:tcPr marL="428625" marR="9525" marT="9525" marB="0" anchor="ctr"/>
                </a:tc>
              </a:tr>
              <a:tr h="175260">
                <a:tc>
                  <a:txBody>
                    <a:bodyPr wrap="square"/>
                    <a:lstStyle/>
                    <a:p>
                      <a:pPr algn="l"/>
                      <a:r>
                        <a:rPr sz="1100" b="0" i="0">
                          <a:solidFill>
                            <a:srgbClr val="0070C0"/>
                          </a:solidFill>
                          <a:latin typeface="Calibri"/>
                        </a:rPr>
                        <a:t>37.10.</a:t>
                      </a:r>
                      <a:r>
                        <a:rPr sz="700" b="0" i="0">
                          <a:solidFill>
                            <a:srgbClr val="0070C0"/>
                          </a:solidFill>
                          <a:latin typeface="Times New Roman"/>
                        </a:rPr>
                        <a:t> </a:t>
                      </a:r>
                      <a:r>
                        <a:rPr sz="1100" b="0" i="0">
                          <a:solidFill>
                            <a:srgbClr val="0070C0"/>
                          </a:solidFill>
                          <a:latin typeface="Calibri"/>
                        </a:rPr>
                        <a:t>SPC Samlip (Samlip)</a:t>
                      </a:r>
                      <a:endParaRPr sz="1100"/>
                    </a:p>
                  </a:txBody>
                  <a:tcPr marL="428625" marR="9525" marT="9525" marB="0" anchor="ctr"/>
                </a:tc>
              </a:tr>
              <a:tr h="175260">
                <a:tc>
                  <a:txBody>
                    <a:bodyPr wrap="square"/>
                    <a:lstStyle/>
                    <a:p>
                      <a:pPr algn="l"/>
                      <a:r>
                        <a:rPr sz="1100" b="0" i="0">
                          <a:solidFill>
                            <a:srgbClr val="0070C0"/>
                          </a:solidFill>
                          <a:latin typeface="Calibri"/>
                        </a:rPr>
                        <a:t>37.11.</a:t>
                      </a:r>
                      <a:r>
                        <a:rPr sz="700" b="0" i="0">
                          <a:solidFill>
                            <a:srgbClr val="0070C0"/>
                          </a:solidFill>
                          <a:latin typeface="Times New Roman"/>
                        </a:rPr>
                        <a:t> </a:t>
                      </a:r>
                      <a:r>
                        <a:rPr sz="1100" b="0" i="0">
                          <a:solidFill>
                            <a:srgbClr val="0070C0"/>
                          </a:solidFill>
                          <a:latin typeface="Calibri"/>
                        </a:rPr>
                        <a:t>Yamazaki Baking (Yamazaki, Vie de France Yamazaki, Four Leaves)</a:t>
                      </a:r>
                      <a:endParaRPr sz="1100"/>
                    </a:p>
                  </a:txBody>
                  <a:tcPr marL="428625" marR="9525" marT="9525" marB="0" anchor="ctr"/>
                </a:tc>
              </a:tr>
              <a:tr h="175260">
                <a:tc>
                  <a:txBody>
                    <a:bodyPr wrap="square"/>
                    <a:lstStyle/>
                    <a:p>
                      <a:pPr algn="l"/>
                      <a:r>
                        <a:rPr sz="1100" b="0" i="0">
                          <a:solidFill>
                            <a:srgbClr val="0070C0"/>
                          </a:solidFill>
                          <a:latin typeface="Calibri"/>
                        </a:rPr>
                        <a:t>37.12.</a:t>
                      </a:r>
                      <a:r>
                        <a:rPr sz="700" b="0" i="0">
                          <a:solidFill>
                            <a:srgbClr val="0070C0"/>
                          </a:solidFill>
                          <a:latin typeface="Times New Roman"/>
                        </a:rPr>
                        <a:t> </a:t>
                      </a:r>
                      <a:r>
                        <a:rPr sz="1100" b="0" i="0">
                          <a:solidFill>
                            <a:srgbClr val="0070C0"/>
                          </a:solidFill>
                          <a:latin typeface="Calibri"/>
                        </a:rPr>
                        <a:t>Toly Bread (Toly Bread / 桃李面包)</a:t>
                      </a:r>
                      <a:endParaRPr sz="1100"/>
                    </a:p>
                  </a:txBody>
                  <a:tcPr marL="428625" marR="9525" marT="9525" marB="0" anchor="ctr"/>
                </a:tc>
              </a:tr>
              <a:tr h="175260">
                <a:tc>
                  <a:txBody>
                    <a:bodyPr wrap="square"/>
                    <a:lstStyle/>
                    <a:p>
                      <a:pPr algn="l"/>
                      <a:r>
                        <a:rPr sz="1100" b="0" i="0">
                          <a:solidFill>
                            <a:srgbClr val="0070C0"/>
                          </a:solidFill>
                          <a:latin typeface="Calibri"/>
                        </a:rPr>
                        <a:t>37.13.</a:t>
                      </a:r>
                      <a:r>
                        <a:rPr sz="700" b="0" i="0">
                          <a:solidFill>
                            <a:srgbClr val="0070C0"/>
                          </a:solidFill>
                          <a:latin typeface="Times New Roman"/>
                        </a:rPr>
                        <a:t> </a:t>
                      </a:r>
                      <a:r>
                        <a:rPr sz="1100" b="0" i="0">
                          <a:solidFill>
                            <a:srgbClr val="0070C0"/>
                          </a:solidFill>
                          <a:latin typeface="Calibri"/>
                        </a:rPr>
                        <a:t>Almarai (L'usine, Bake Mart)</a:t>
                      </a:r>
                      <a:endParaRPr sz="1100"/>
                    </a:p>
                  </a:txBody>
                  <a:tcPr marL="428625" marR="9525" marT="9525" marB="0" anchor="ctr"/>
                </a:tc>
              </a:tr>
              <a:tr h="175260">
                <a:tc>
                  <a:txBody>
                    <a:bodyPr wrap="square"/>
                    <a:lstStyle/>
                    <a:p>
                      <a:pPr algn="l"/>
                      <a:r>
                        <a:rPr sz="1100" b="0" i="0">
                          <a:solidFill>
                            <a:srgbClr val="0070C0"/>
                          </a:solidFill>
                          <a:latin typeface="Calibri"/>
                        </a:rPr>
                        <a:t>37.14.</a:t>
                      </a:r>
                      <a:r>
                        <a:rPr sz="700" b="0" i="0">
                          <a:solidFill>
                            <a:srgbClr val="0070C0"/>
                          </a:solidFill>
                          <a:latin typeface="Times New Roman"/>
                        </a:rPr>
                        <a:t> </a:t>
                      </a:r>
                      <a:r>
                        <a:rPr sz="1100" b="0" i="0">
                          <a:solidFill>
                            <a:srgbClr val="0070C0"/>
                          </a:solidFill>
                          <a:latin typeface="Calibri"/>
                        </a:rPr>
                        <a:t>United Foods International (United Foods)</a:t>
                      </a:r>
                      <a:endParaRPr sz="1100"/>
                    </a:p>
                  </a:txBody>
                  <a:tcPr marL="428625" marR="9525" marT="9525" marB="0" anchor="ctr"/>
                </a:tc>
              </a:tr>
              <a:tr h="175260">
                <a:tc>
                  <a:txBody>
                    <a:bodyPr wrap="square"/>
                    <a:lstStyle/>
                    <a:p>
                      <a:pPr algn="l"/>
                      <a:r>
                        <a:rPr sz="1100" b="0" i="0">
                          <a:solidFill>
                            <a:srgbClr val="0070C0"/>
                          </a:solidFill>
                          <a:latin typeface="Calibri"/>
                        </a:rPr>
                        <a:t>37.15.</a:t>
                      </a:r>
                      <a:r>
                        <a:rPr sz="700" b="0" i="0">
                          <a:solidFill>
                            <a:srgbClr val="0070C0"/>
                          </a:solidFill>
                          <a:latin typeface="Times New Roman"/>
                        </a:rPr>
                        <a:t> </a:t>
                      </a:r>
                      <a:r>
                        <a:rPr sz="1100" b="0" i="0">
                          <a:solidFill>
                            <a:srgbClr val="0070C0"/>
                          </a:solidFill>
                          <a:latin typeface="Calibri"/>
                        </a:rPr>
                        <a:t>Mimansa Industries / The Baker's Dozen (The Baker's Dozen)</a:t>
                      </a:r>
                      <a:endParaRPr sz="1100"/>
                    </a:p>
                  </a:txBody>
                  <a:tcPr marL="428625" marR="9525" marT="9525" marB="0" anchor="ctr"/>
                </a:tc>
              </a:tr>
              <a:tr h="175260">
                <a:tc>
                  <a:txBody>
                    <a:bodyPr wrap="square"/>
                    <a:lstStyle/>
                    <a:p>
                      <a:pPr algn="l"/>
                      <a:r>
                        <a:rPr sz="1100" b="0" i="0">
                          <a:solidFill>
                            <a:srgbClr val="0070C0"/>
                          </a:solidFill>
                          <a:latin typeface="Calibri"/>
                        </a:rPr>
                        <a:t>37.16.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38.</a:t>
                      </a:r>
                      <a:r>
                        <a:rPr sz="700" b="1" i="0">
                          <a:solidFill>
                            <a:srgbClr val="000000"/>
                          </a:solidFill>
                          <a:latin typeface="Times New Roman"/>
                        </a:rPr>
                        <a:t>    </a:t>
                      </a:r>
                      <a:r>
                        <a:rPr sz="1100" b="1" i="0">
                          <a:solidFill>
                            <a:srgbClr val="000000"/>
                          </a:solidFill>
                          <a:latin typeface="Calibri"/>
                        </a:rPr>
                        <a:t>Innovation Acceptance and White Space Analysis</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(12/12)</a:t>
            </a:r>
          </a:p>
        </p:txBody>
      </p:sp>
      <p:graphicFrame>
        <p:nvGraphicFramePr>
          <p:cNvPr id="9" name="FMI Contents Table"/>
          <p:cNvGraphicFramePr>
            <a:graphicFrameLocks noGrp="1"/>
          </p:cNvGraphicFramePr>
          <p:nvPr/>
        </p:nvGraphicFramePr>
        <p:xfrm>
          <a:off x="142875" y="981075"/>
          <a:ext cx="5876925" cy="280416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38.1.</a:t>
                      </a:r>
                      <a:r>
                        <a:rPr sz="700" b="0" i="0">
                          <a:solidFill>
                            <a:srgbClr val="0070C0"/>
                          </a:solidFill>
                          <a:latin typeface="Times New Roman"/>
                        </a:rPr>
                        <a:t>  </a:t>
                      </a:r>
                      <a:r>
                        <a:rPr sz="1100" b="0" i="0">
                          <a:solidFill>
                            <a:srgbClr val="0070C0"/>
                          </a:solidFill>
                          <a:latin typeface="Calibri"/>
                        </a:rPr>
                        <a:t>Innovation Acceptance by Consumer Segment, Product Format and Usage Occasion</a:t>
                      </a:r>
                      <a:endParaRPr sz="1100"/>
                    </a:p>
                  </a:txBody>
                  <a:tcPr marL="428625" marR="9525" marT="9525" marB="0" anchor="ctr"/>
                </a:tc>
              </a:tr>
              <a:tr h="175260">
                <a:tc>
                  <a:txBody>
                    <a:bodyPr wrap="square"/>
                    <a:lstStyle/>
                    <a:p>
                      <a:pPr algn="l"/>
                      <a:r>
                        <a:rPr sz="1100" b="0" i="0">
                          <a:solidFill>
                            <a:srgbClr val="0070C0"/>
                          </a:solidFill>
                          <a:latin typeface="Calibri"/>
                        </a:rPr>
                        <a:t>38.2.</a:t>
                      </a:r>
                      <a:r>
                        <a:rPr sz="700" b="0" i="0">
                          <a:solidFill>
                            <a:srgbClr val="0070C0"/>
                          </a:solidFill>
                          <a:latin typeface="Times New Roman"/>
                        </a:rPr>
                        <a:t>  </a:t>
                      </a:r>
                      <a:r>
                        <a:rPr sz="1100" b="0" i="0">
                          <a:solidFill>
                            <a:srgbClr val="0070C0"/>
                          </a:solidFill>
                          <a:latin typeface="Calibri"/>
                        </a:rPr>
                        <a:t>Consumer Interest in Novel Flavors, Ingredients and Muffin Formulations</a:t>
                      </a:r>
                      <a:endParaRPr sz="1100"/>
                    </a:p>
                  </a:txBody>
                  <a:tcPr marL="428625" marR="9525" marT="9525" marB="0" anchor="ctr"/>
                </a:tc>
              </a:tr>
              <a:tr h="350520">
                <a:tc>
                  <a:txBody>
                    <a:bodyPr wrap="square"/>
                    <a:lstStyle/>
                    <a:p>
                      <a:pPr algn="l"/>
                      <a:r>
                        <a:rPr sz="1100" b="0" i="0">
                          <a:solidFill>
                            <a:srgbClr val="0070C0"/>
                          </a:solidFill>
                          <a:latin typeface="Calibri"/>
                        </a:rPr>
                        <a:t>38.3.</a:t>
                      </a:r>
                      <a:r>
                        <a:rPr sz="700" b="0" i="0">
                          <a:solidFill>
                            <a:srgbClr val="0070C0"/>
                          </a:solidFill>
                          <a:latin typeface="Times New Roman"/>
                        </a:rPr>
                        <a:t>  </a:t>
                      </a:r>
                      <a:r>
                        <a:rPr sz="1100" b="0" i="0">
                          <a:solidFill>
                            <a:srgbClr val="0070C0"/>
                          </a:solidFill>
                          <a:latin typeface="Calibri"/>
                        </a:rPr>
                        <a:t>Acceptance of Functional Claims, Health-oriented Attributes and Clean-label Positioning</a:t>
                      </a:r>
                      <a:endParaRPr sz="1100"/>
                    </a:p>
                  </a:txBody>
                  <a:tcPr marL="428625" marR="9525" marT="9525" marB="0" anchor="ctr"/>
                </a:tc>
              </a:tr>
              <a:tr h="350520">
                <a:tc>
                  <a:txBody>
                    <a:bodyPr wrap="square"/>
                    <a:lstStyle/>
                    <a:p>
                      <a:pPr algn="l"/>
                      <a:r>
                        <a:rPr sz="1100" b="0" i="0">
                          <a:solidFill>
                            <a:srgbClr val="0070C0"/>
                          </a:solidFill>
                          <a:latin typeface="Calibri"/>
                        </a:rPr>
                        <a:t>38.4.</a:t>
                      </a:r>
                      <a:r>
                        <a:rPr sz="700" b="0" i="0">
                          <a:solidFill>
                            <a:srgbClr val="0070C0"/>
                          </a:solidFill>
                          <a:latin typeface="Times New Roman"/>
                        </a:rPr>
                        <a:t>  </a:t>
                      </a:r>
                      <a:r>
                        <a:rPr sz="1100" b="0" i="0">
                          <a:solidFill>
                            <a:srgbClr val="0070C0"/>
                          </a:solidFill>
                          <a:latin typeface="Calibri"/>
                        </a:rPr>
                        <a:t>Consumer Preference for Innovative Pack Formats, Portion Sizes and Convenience Features</a:t>
                      </a:r>
                      <a:endParaRPr sz="1100"/>
                    </a:p>
                  </a:txBody>
                  <a:tcPr marL="428625" marR="9525" marT="9525" marB="0" anchor="ctr"/>
                </a:tc>
              </a:tr>
              <a:tr h="175260">
                <a:tc>
                  <a:txBody>
                    <a:bodyPr wrap="square"/>
                    <a:lstStyle/>
                    <a:p>
                      <a:pPr algn="l"/>
                      <a:r>
                        <a:rPr sz="1100" b="0" i="0">
                          <a:solidFill>
                            <a:srgbClr val="0070C0"/>
                          </a:solidFill>
                          <a:latin typeface="Calibri"/>
                        </a:rPr>
                        <a:t>38.5.</a:t>
                      </a:r>
                      <a:r>
                        <a:rPr sz="700" b="0" i="0">
                          <a:solidFill>
                            <a:srgbClr val="0070C0"/>
                          </a:solidFill>
                          <a:latin typeface="Times New Roman"/>
                        </a:rPr>
                        <a:t>  </a:t>
                      </a:r>
                      <a:r>
                        <a:rPr sz="1100" b="0" i="0">
                          <a:solidFill>
                            <a:srgbClr val="0070C0"/>
                          </a:solidFill>
                          <a:latin typeface="Calibri"/>
                        </a:rPr>
                        <a:t>Purchase Intent for Premium, Indulgent and Better-for-you Muffin Concepts</a:t>
                      </a:r>
                      <a:endParaRPr sz="1100"/>
                    </a:p>
                  </a:txBody>
                  <a:tcPr marL="428625" marR="9525" marT="9525" marB="0" anchor="ctr"/>
                </a:tc>
              </a:tr>
              <a:tr h="175260">
                <a:tc>
                  <a:txBody>
                    <a:bodyPr wrap="square"/>
                    <a:lstStyle/>
                    <a:p>
                      <a:pPr algn="l"/>
                      <a:r>
                        <a:rPr sz="1100" b="0" i="0">
                          <a:solidFill>
                            <a:srgbClr val="0070C0"/>
                          </a:solidFill>
                          <a:latin typeface="Calibri"/>
                        </a:rPr>
                        <a:t>38.6.</a:t>
                      </a:r>
                      <a:r>
                        <a:rPr sz="700" b="0" i="0">
                          <a:solidFill>
                            <a:srgbClr val="0070C0"/>
                          </a:solidFill>
                          <a:latin typeface="Times New Roman"/>
                        </a:rPr>
                        <a:t>  </a:t>
                      </a:r>
                      <a:r>
                        <a:rPr sz="1100" b="0" i="0">
                          <a:solidFill>
                            <a:srgbClr val="0070C0"/>
                          </a:solidFill>
                          <a:latin typeface="Calibri"/>
                        </a:rPr>
                        <a:t>Innovation Acceptance by Price Point, Affordability Band and Premiumization Level</a:t>
                      </a:r>
                      <a:endParaRPr sz="1100"/>
                    </a:p>
                  </a:txBody>
                  <a:tcPr marL="428625" marR="9525" marT="9525" marB="0" anchor="ctr"/>
                </a:tc>
              </a:tr>
              <a:tr h="175260">
                <a:tc>
                  <a:txBody>
                    <a:bodyPr wrap="square"/>
                    <a:lstStyle/>
                    <a:p>
                      <a:pPr algn="l"/>
                      <a:r>
                        <a:rPr sz="1100" b="0" i="0">
                          <a:solidFill>
                            <a:srgbClr val="0070C0"/>
                          </a:solidFill>
                          <a:latin typeface="Calibri"/>
                        </a:rPr>
                        <a:t>38.7.</a:t>
                      </a:r>
                      <a:r>
                        <a:rPr sz="700" b="0" i="0">
                          <a:solidFill>
                            <a:srgbClr val="0070C0"/>
                          </a:solidFill>
                          <a:latin typeface="Times New Roman"/>
                        </a:rPr>
                        <a:t>  </a:t>
                      </a:r>
                      <a:r>
                        <a:rPr sz="1100" b="0" i="0">
                          <a:solidFill>
                            <a:srgbClr val="0070C0"/>
                          </a:solidFill>
                          <a:latin typeface="Calibri"/>
                        </a:rPr>
                        <a:t>Unmet Consumer Needs by Flavor, Texture, Ingredient and Product Attribute</a:t>
                      </a:r>
                      <a:endParaRPr sz="1100"/>
                    </a:p>
                  </a:txBody>
                  <a:tcPr marL="428625" marR="9525" marT="9525" marB="0" anchor="ctr"/>
                </a:tc>
              </a:tr>
              <a:tr h="350520">
                <a:tc>
                  <a:txBody>
                    <a:bodyPr wrap="square"/>
                    <a:lstStyle/>
                    <a:p>
                      <a:pPr algn="l"/>
                      <a:r>
                        <a:rPr sz="1100" b="0" i="0">
                          <a:solidFill>
                            <a:srgbClr val="0070C0"/>
                          </a:solidFill>
                          <a:latin typeface="Calibri"/>
                        </a:rPr>
                        <a:t>38.8.</a:t>
                      </a:r>
                      <a:r>
                        <a:rPr sz="700" b="0" i="0">
                          <a:solidFill>
                            <a:srgbClr val="0070C0"/>
                          </a:solidFill>
                          <a:latin typeface="Times New Roman"/>
                        </a:rPr>
                        <a:t>  </a:t>
                      </a:r>
                      <a:r>
                        <a:rPr sz="1100" b="0" i="0">
                          <a:solidFill>
                            <a:srgbClr val="0070C0"/>
                          </a:solidFill>
                          <a:latin typeface="Calibri"/>
                        </a:rPr>
                        <a:t>Market White Space by Consumer Need-State, Product Attribute and Competitive Assortment</a:t>
                      </a:r>
                      <a:endParaRPr sz="1100"/>
                    </a:p>
                  </a:txBody>
                  <a:tcPr marL="428625" marR="9525" marT="9525" marB="0" anchor="ctr"/>
                </a:tc>
              </a:tr>
              <a:tr h="175260">
                <a:tc>
                  <a:txBody>
                    <a:bodyPr wrap="square"/>
                    <a:lstStyle/>
                    <a:p>
                      <a:pPr algn="l"/>
                      <a:r>
                        <a:rPr sz="1100" b="0" i="0">
                          <a:solidFill>
                            <a:srgbClr val="0070C0"/>
                          </a:solidFill>
                          <a:latin typeface="Calibri"/>
                        </a:rPr>
                        <a:t>38.9.</a:t>
                      </a:r>
                      <a:r>
                        <a:rPr sz="700" b="0" i="0">
                          <a:solidFill>
                            <a:srgbClr val="0070C0"/>
                          </a:solidFill>
                          <a:latin typeface="Times New Roman"/>
                        </a:rPr>
                        <a:t>  </a:t>
                      </a:r>
                      <a:r>
                        <a:rPr sz="1100" b="0" i="0">
                          <a:solidFill>
                            <a:srgbClr val="0070C0"/>
                          </a:solidFill>
                          <a:latin typeface="Calibri"/>
                        </a:rPr>
                        <a:t>Launch Opportunity by Target Consumer Segment, Channel and Geographic Market</a:t>
                      </a:r>
                      <a:endParaRPr sz="1100"/>
                    </a:p>
                  </a:txBody>
                  <a:tcPr marL="428625" marR="9525" marT="9525" marB="0" anchor="ctr"/>
                </a:tc>
              </a:tr>
              <a:tr h="350520">
                <a:tc>
                  <a:txBody>
                    <a:bodyPr wrap="square"/>
                    <a:lstStyle/>
                    <a:p>
                      <a:pPr algn="l"/>
                      <a:r>
                        <a:rPr sz="1100" b="0" i="0">
                          <a:solidFill>
                            <a:srgbClr val="0070C0"/>
                          </a:solidFill>
                          <a:latin typeface="Calibri"/>
                        </a:rPr>
                        <a:t>38.10.</a:t>
                      </a:r>
                      <a:r>
                        <a:rPr sz="700" b="0" i="0">
                          <a:solidFill>
                            <a:srgbClr val="0070C0"/>
                          </a:solidFill>
                          <a:latin typeface="Times New Roman"/>
                        </a:rPr>
                        <a:t> </a:t>
                      </a:r>
                      <a:r>
                        <a:rPr sz="1100" b="0" i="0">
                          <a:solidFill>
                            <a:srgbClr val="0070C0"/>
                          </a:solidFill>
                          <a:latin typeface="Calibri"/>
                        </a:rPr>
                        <a:t>Innovation Opportunity by Product Concept, Price Positioning and Consumer Purchase Intent</a:t>
                      </a:r>
                      <a:endParaRPr sz="1100"/>
                    </a:p>
                  </a:txBody>
                  <a:tcPr marL="428625" marR="9525" marT="9525" marB="0" anchor="ctr"/>
                </a:tc>
              </a:tr>
              <a:tr h="175260">
                <a:tc>
                  <a:txBody>
                    <a:bodyPr wrap="square"/>
                    <a:lstStyle/>
                    <a:p>
                      <a:pPr algn="l"/>
                      <a:r>
                        <a:rPr sz="1100" b="1" i="0">
                          <a:solidFill>
                            <a:srgbClr val="000000"/>
                          </a:solidFill>
                          <a:latin typeface="Calibri"/>
                        </a:rPr>
                        <a:t>39.</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40.</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Flavour,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Primary Flour Base,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Dietary Formulation,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Nutritional Positioning,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10: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11: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Volume and YoY Growth, MT and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Primary Flour Base,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Recipe and Ingredient Claims,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Product Structure,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Surface Finish,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Value by Individual Muffin Size, US$ Mn, 2021–2036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Value by Storage Format, US$ Mn, 2021–2036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Value by Shelf Life, US$ Mn, 2021–2036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Value by Packaging Format, US$ Mn, 2021–2036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Value by Pack Configuration,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Value by Multipack Wrapping, US$ Mn, 2021–2036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Value by Price Positioning, US$ Mn, 2021–2036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Value by Brand Ownership, US$ Mn, 2021–2036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Value by Sales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Share by Flavour, %, 2026 and 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Share by Primary Flour Base, %, 2026 and 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Share by Dietary Formulation, %, 2026 and 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Share by Nutritional Positioning, %, 2026 and 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Share by Recipe and Ingredient Claims, %, 2026 and 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Share by Product Structure, %, 2026 and 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Share by Surface Finish, %, 2026 and 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Share by Individual Muffin Size, %, 2026 and 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Share by Storage Format, %, 2026 and 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Share by Shelf Life, %, 2026 and 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Share by Packaging Format, %, 2026 and 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Share by Pack Configuration, %, 2026 and 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Share by Multipack Wrapping, %, 2026 and 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Share by Price Positioning, %, 2026 and 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Share by Brand Ownership, %, 2026 and 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Share by Sales Channel, %, 2026 and 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Absolute $ Opportunity by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Absolute $ Opportunity by Flavour, US$ Mn,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Absolute $ Opportunity by Primary Flour Base, US$ Mn,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Absolute $ Opportunity by Dietary Formulation, US$ Mn,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Absolute $ Opportunity by Nutritional Positioning, US$ Mn, 2026–2036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Absolute $ Opportunity by Recipe and Ingredient Claims, US$ Mn, 2026–2036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Absolute $ Opportunity by Product Structure, US$ Mn, 2026–2036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Absolute $ Opportunity by Surface Finish, US$ Mn, 2026–2036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Absolute $ Opportunity by Individual Muffin Size, US$ Mn, 2026–2036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Absolute $ Opportunity by Storage Format,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Absolute $ Opportunity by Shelf Life, US$ Mn, 2026–2036</a:t>
                      </a:r>
                      <a:endParaRPr sz="1050"/>
                    </a:p>
                  </a:txBody>
                  <a:tcPr marL="9525" marR="9525" marT="9525" marB="0" anchor="ctr"/>
                </a:tc>
              </a:tr>
              <a:tr h="169606">
                <a:tc>
                  <a:txBody>
                    <a:bodyPr wrap="square"/>
                    <a:lstStyle/>
                    <a:p>
                      <a:pPr algn="l"/>
                      <a:r>
                        <a:rPr sz="1050" b="0" i="0">
                          <a:solidFill>
                            <a:srgbClr val="000000"/>
                          </a:solidFill>
                          <a:latin typeface="Calibri"/>
                        </a:rPr>
                        <a:t>Figure 64: Global Market Absolute $ Opportunity by Packaging Format, US$ Mn, 2026–2036</a:t>
                      </a:r>
                      <a:endParaRPr sz="1050"/>
                    </a:p>
                  </a:txBody>
                  <a:tcPr marL="9525" marR="9525" marT="9525" marB="0" anchor="ctr"/>
                </a:tc>
              </a:tr>
              <a:tr h="169606">
                <a:tc>
                  <a:txBody>
                    <a:bodyPr wrap="square"/>
                    <a:lstStyle/>
                    <a:p>
                      <a:pPr algn="l"/>
                      <a:r>
                        <a:rPr sz="1050" b="0" i="0">
                          <a:solidFill>
                            <a:srgbClr val="000000"/>
                          </a:solidFill>
                          <a:latin typeface="Calibri"/>
                        </a:rPr>
                        <a:t>Figure 65: Global Market Absolute $ Opportunity by Pack Configuration, US$ Mn, 2026–2036</a:t>
                      </a:r>
                      <a:endParaRPr sz="1050"/>
                    </a:p>
                  </a:txBody>
                  <a:tcPr marL="9525" marR="9525" marT="9525" marB="0" anchor="ctr"/>
                </a:tc>
              </a:tr>
              <a:tr h="169606">
                <a:tc>
                  <a:txBody>
                    <a:bodyPr wrap="square"/>
                    <a:lstStyle/>
                    <a:p>
                      <a:pPr algn="l"/>
                      <a:r>
                        <a:rPr sz="1050" b="0" i="0">
                          <a:solidFill>
                            <a:srgbClr val="000000"/>
                          </a:solidFill>
                          <a:latin typeface="Calibri"/>
                        </a:rPr>
                        <a:t>Figure 66: Global Market Absolute $ Opportunity by Multipack Wrapping, US$ Mn, 2026–2036</a:t>
                      </a:r>
                      <a:endParaRPr sz="1050"/>
                    </a:p>
                  </a:txBody>
                  <a:tcPr marL="9525" marR="9525" marT="9525" marB="0" anchor="ctr"/>
                </a:tc>
              </a:tr>
              <a:tr h="169606">
                <a:tc>
                  <a:txBody>
                    <a:bodyPr wrap="square"/>
                    <a:lstStyle/>
                    <a:p>
                      <a:pPr algn="l"/>
                      <a:r>
                        <a:rPr sz="1050" b="0" i="0">
                          <a:solidFill>
                            <a:srgbClr val="000000"/>
                          </a:solidFill>
                          <a:latin typeface="Calibri"/>
                        </a:rPr>
                        <a:t>Figure 67: Global Market Absolute $ Opportunity by Price Positioning, US$ Mn, 2026–2036</a:t>
                      </a:r>
                      <a:endParaRPr sz="1050"/>
                    </a:p>
                  </a:txBody>
                  <a:tcPr marL="9525" marR="9525" marT="9525" marB="0" anchor="ctr"/>
                </a:tc>
              </a:tr>
              <a:tr h="169606">
                <a:tc>
                  <a:txBody>
                    <a:bodyPr wrap="square"/>
                    <a:lstStyle/>
                    <a:p>
                      <a:pPr algn="l"/>
                      <a:r>
                        <a:rPr sz="1050" b="0" i="0">
                          <a:solidFill>
                            <a:srgbClr val="000000"/>
                          </a:solidFill>
                          <a:latin typeface="Calibri"/>
                        </a:rPr>
                        <a:t>Figure 68: Global Market Absolute $ Opportunity by Brand Ownership, US$ Mn, 2026–2036</a:t>
                      </a:r>
                      <a:endParaRPr sz="1050"/>
                    </a:p>
                  </a:txBody>
                  <a:tcPr marL="9525" marR="9525" marT="9525" marB="0" anchor="ctr"/>
                </a:tc>
              </a:tr>
              <a:tr h="169606">
                <a:tc>
                  <a:txBody>
                    <a:bodyPr wrap="square"/>
                    <a:lstStyle/>
                    <a:p>
                      <a:pPr algn="l"/>
                      <a:r>
                        <a:rPr sz="1050" b="0" i="0">
                          <a:solidFill>
                            <a:srgbClr val="000000"/>
                          </a:solidFill>
                          <a:latin typeface="Calibri"/>
                        </a:rPr>
                        <a:t>Figure 69: Global Market Absolute $ Opportunity by Sales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70: Global Market BPS Share Change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71: Global Market BPS Share Change by Flavour, 2026–2036</a:t>
                      </a:r>
                      <a:endParaRPr sz="1050"/>
                    </a:p>
                  </a:txBody>
                  <a:tcPr marL="9525" marR="9525" marT="9525" marB="0" anchor="ctr"/>
                </a:tc>
              </a:tr>
              <a:tr h="169606">
                <a:tc>
                  <a:txBody>
                    <a:bodyPr wrap="square"/>
                    <a:lstStyle/>
                    <a:p>
                      <a:pPr algn="l"/>
                      <a:r>
                        <a:rPr sz="1050" b="0" i="0">
                          <a:solidFill>
                            <a:srgbClr val="000000"/>
                          </a:solidFill>
                          <a:latin typeface="Calibri"/>
                        </a:rPr>
                        <a:t>Figure 72: Global Market BPS Share Change by Primary Flour Base, 2026–2036</a:t>
                      </a:r>
                      <a:endParaRPr sz="1050"/>
                    </a:p>
                  </a:txBody>
                  <a:tcPr marL="9525" marR="9525" marT="9525" marB="0" anchor="ctr"/>
                </a:tc>
              </a:tr>
              <a:tr h="169606">
                <a:tc>
                  <a:txBody>
                    <a:bodyPr wrap="square"/>
                    <a:lstStyle/>
                    <a:p>
                      <a:pPr algn="l"/>
                      <a:r>
                        <a:rPr sz="1050" b="0" i="0">
                          <a:solidFill>
                            <a:srgbClr val="000000"/>
                          </a:solidFill>
                          <a:latin typeface="Calibri"/>
                        </a:rPr>
                        <a:t>Figure 73: Global Market BPS Share Change by Dietary Formulation, 2026–2036</a:t>
                      </a:r>
                      <a:endParaRPr sz="1050"/>
                    </a:p>
                  </a:txBody>
                  <a:tcPr marL="9525" marR="9525" marT="9525" marB="0" anchor="ctr"/>
                </a:tc>
              </a:tr>
              <a:tr h="169606">
                <a:tc>
                  <a:txBody>
                    <a:bodyPr wrap="square"/>
                    <a:lstStyle/>
                    <a:p>
                      <a:pPr algn="l"/>
                      <a:r>
                        <a:rPr sz="1050" b="0" i="0">
                          <a:solidFill>
                            <a:srgbClr val="000000"/>
                          </a:solidFill>
                          <a:latin typeface="Calibri"/>
                        </a:rPr>
                        <a:t>Figure 74: Global Market BPS Share Change by Nutritional Positioning, 2026–2036</a:t>
                      </a:r>
                      <a:endParaRPr sz="1050"/>
                    </a:p>
                  </a:txBody>
                  <a:tcPr marL="9525" marR="9525" marT="9525" marB="0" anchor="ctr"/>
                </a:tc>
              </a:tr>
              <a:tr h="169606">
                <a:tc>
                  <a:txBody>
                    <a:bodyPr wrap="square"/>
                    <a:lstStyle/>
                    <a:p>
                      <a:pPr algn="l"/>
                      <a:r>
                        <a:rPr sz="1050" b="0" i="0">
                          <a:solidFill>
                            <a:srgbClr val="000000"/>
                          </a:solidFill>
                          <a:latin typeface="Calibri"/>
                        </a:rPr>
                        <a:t>Figure 75: Global Market BPS Share Change by Recipe and Ingredient Claims, 2026–2036</a:t>
                      </a:r>
                      <a:endParaRPr sz="1050"/>
                    </a:p>
                  </a:txBody>
                  <a:tcPr marL="9525" marR="9525" marT="9525" marB="0" anchor="ctr"/>
                </a:tc>
              </a:tr>
              <a:tr h="169606">
                <a:tc>
                  <a:txBody>
                    <a:bodyPr wrap="square"/>
                    <a:lstStyle/>
                    <a:p>
                      <a:pPr algn="l"/>
                      <a:r>
                        <a:rPr sz="1050" b="0" i="0">
                          <a:solidFill>
                            <a:srgbClr val="000000"/>
                          </a:solidFill>
                          <a:latin typeface="Calibri"/>
                        </a:rPr>
                        <a:t>Figure 76: Product Type × Flavour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Product Type × Primary Flour Base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Product Type × Dietary Formulation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Product Type × Nutritional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Product Type × Recipe and Ingredient Claims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Product Type × Product Structure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Product Type × Surface Finish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Product Type × Individual Muffin Size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Product Type × Storage Format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Product Type × Shelf Life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86: Product Type × Packaging Format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87: Product Type × Pack Configuration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88: Product Type × Multipack Wrapping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89: Product Type × Price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90: Product Type × Brand Ownership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91: Product Type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92: Flavour × Primary Flour Base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93: Flavour × Dietary Formulation Opportunity Matrix,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Flavour × Nutritional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95: Flavour × Recipe and Ingredient Claims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96: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97: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98: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99: Global Market Absolute $ Opportunity by Region, US$ Mn, 2026–2036</a:t>
                      </a:r>
                      <a:endParaRPr sz="1050"/>
                    </a:p>
                  </a:txBody>
                  <a:tcPr marL="9525" marR="9525" marT="9525" marB="0" anchor="ctr"/>
                </a:tc>
              </a:tr>
              <a:tr h="169606">
                <a:tc>
                  <a:txBody>
                    <a:bodyPr wrap="square"/>
                    <a:lstStyle/>
                    <a:p>
                      <a:pPr algn="l"/>
                      <a:r>
                        <a:rPr sz="1050" b="0" i="0">
                          <a:solidFill>
                            <a:srgbClr val="000000"/>
                          </a:solidFill>
                          <a:latin typeface="Calibri"/>
                        </a:rPr>
                        <a:t>Figure 100: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101: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102: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103: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104: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105: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106: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107: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108: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109: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110: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111: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112: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113: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114: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115: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116: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117: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118: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121: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122: U.S.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U.S.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124: U.S. Market Share within North America, %,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U.S.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U.S. Market Value by Primary Flour Base,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U.S. Market Value by Dietary Formulation,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U.S. Market Value by Nutritional Positioning,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130: Germany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Germany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132: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133: Germany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Germany Market Value by Primary Flour Base,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Germany Market Value by Dietary Formulation,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Germany Market Value by Nutritional Positioning,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138: Canada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139: Canada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141: Canada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Canada Market Value by Primary Flour Base,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143: Canada Market Value by Dietary Formulation,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Canada Market Value by Nutritional Positioning,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145: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146: China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147: China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149: India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150: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151: Brazil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152: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153: U.K.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Trend, US$/MT, 2021–2036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Region, US$/MT,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0"/>
        </p:xfrm>
        <a:graphic>
          <a:graphicData uri="http://schemas.openxmlformats.org/drawingml/2006/table">
            <a:tbl>
              <a:tblPr>
                <a:tableStyleId>{3B4B98B0-60AC-42C2-AFA5-B58CD77FA1E5}</a:tableStyleId>
              </a:tblPr>
              <a:tblGrid>
                <a:gridCol w="5876925"/>
              </a:tblGrid>
              <a:tr h="170486">
                <a:tc>
                  <a:txBody>
                    <a:bodyPr wrap="square"/>
                    <a:lstStyle/>
                    <a:p>
                      <a:pPr algn="l"/>
                      <a:r>
                        <a:rPr sz="1050" b="0" i="0">
                          <a:solidFill>
                            <a:srgbClr val="000000"/>
                          </a:solidFill>
                          <a:latin typeface="Calibri"/>
                        </a:rPr>
                        <a:t>Figure 156: Global Market Average Selling Price by Product Type, US$/MT, 2026 and 2036</a:t>
                      </a:r>
                      <a:endParaRPr sz="1050"/>
                    </a:p>
                  </a:txBody>
                  <a:tcPr marL="9525" marR="9525" marT="9525" marB="0" anchor="ctr"/>
                </a:tc>
              </a:tr>
              <a:tr h="170486">
                <a:tc>
                  <a:txBody>
                    <a:bodyPr wrap="square"/>
                    <a:lstStyle/>
                    <a:p>
                      <a:pPr algn="l"/>
                      <a:r>
                        <a:rPr sz="1050" b="0" i="0">
                          <a:solidFill>
                            <a:srgbClr val="000000"/>
                          </a:solidFill>
                          <a:latin typeface="Calibri"/>
                        </a:rPr>
                        <a:t>Figure 157: Global Market Average Selling Price by Flavour, US$/MT, 2026 and 2036</a:t>
                      </a:r>
                      <a:endParaRPr sz="1050"/>
                    </a:p>
                  </a:txBody>
                  <a:tcPr marL="9525" marR="9525" marT="9525" marB="0" anchor="ctr"/>
                </a:tc>
              </a:tr>
              <a:tr h="170486">
                <a:tc>
                  <a:txBody>
                    <a:bodyPr wrap="square"/>
                    <a:lstStyle/>
                    <a:p>
                      <a:pPr algn="l"/>
                      <a:r>
                        <a:rPr sz="1050" b="0" i="0">
                          <a:solidFill>
                            <a:srgbClr val="000000"/>
                          </a:solidFill>
                          <a:latin typeface="Calibri"/>
                        </a:rPr>
                        <a:t>Figure 158: Global Market Average Selling Price by Primary Flour Base, US$/MT, 2026 and 2036</a:t>
                      </a:r>
                      <a:endParaRPr sz="1050"/>
                    </a:p>
                  </a:txBody>
                  <a:tcPr marL="9525" marR="9525" marT="9525" marB="0" anchor="ctr"/>
                </a:tc>
              </a:tr>
              <a:tr h="170486">
                <a:tc>
                  <a:txBody>
                    <a:bodyPr wrap="square"/>
                    <a:lstStyle/>
                    <a:p>
                      <a:pPr algn="l"/>
                      <a:r>
                        <a:rPr sz="1050" b="0" i="0">
                          <a:solidFill>
                            <a:srgbClr val="000000"/>
                          </a:solidFill>
                          <a:latin typeface="Calibri"/>
                        </a:rPr>
                        <a:t>Figure 159: Global Market Average Selling Price by Dietary Formulation, US$/MT, 2026 and 2036</a:t>
                      </a:r>
                      <a:endParaRPr sz="1050"/>
                    </a:p>
                  </a:txBody>
                  <a:tcPr marL="9525" marR="9525" marT="9525" marB="0" anchor="ctr"/>
                </a:tc>
              </a:tr>
              <a:tr h="170486">
                <a:tc>
                  <a:txBody>
                    <a:bodyPr wrap="square"/>
                    <a:lstStyle/>
                    <a:p>
                      <a:pPr algn="l"/>
                      <a:r>
                        <a:rPr sz="1050" b="0" i="0">
                          <a:solidFill>
                            <a:srgbClr val="000000"/>
                          </a:solidFill>
                          <a:latin typeface="Calibri"/>
                        </a:rPr>
                        <a:t>Figure 160: Global Market Average Selling Price by Nutritional Positioning, US$/MT, 2026 and 2036</a:t>
                      </a:r>
                      <a:endParaRPr sz="1050"/>
                    </a:p>
                  </a:txBody>
                  <a:tcPr marL="9525" marR="9525" marT="9525" marB="0" anchor="ctr"/>
                </a:tc>
              </a:tr>
              <a:tr h="334153">
                <a:tc>
                  <a:txBody>
                    <a:bodyPr wrap="square"/>
                    <a:lstStyle/>
                    <a:p>
                      <a:pPr algn="l"/>
                      <a:r>
                        <a:rPr sz="1050" b="0" i="0">
                          <a:solidFill>
                            <a:srgbClr val="000000"/>
                          </a:solidFill>
                          <a:latin typeface="Calibri"/>
                        </a:rPr>
                        <a:t>Figure 161: Global Market Average Selling Price by Recipe and Ingredient Claims, US$/MT, 2026 and 2036</a:t>
                      </a:r>
                      <a:endParaRPr sz="1050"/>
                    </a:p>
                  </a:txBody>
                  <a:tcPr marL="9525" marR="9525" marT="9525" marB="0" anchor="ctr"/>
                </a:tc>
              </a:tr>
              <a:tr h="170486">
                <a:tc>
                  <a:txBody>
                    <a:bodyPr wrap="square"/>
                    <a:lstStyle/>
                    <a:p>
                      <a:pPr algn="l"/>
                      <a:r>
                        <a:rPr sz="1050" b="0" i="0">
                          <a:solidFill>
                            <a:srgbClr val="000000"/>
                          </a:solidFill>
                          <a:latin typeface="Calibri"/>
                        </a:rPr>
                        <a:t>Figure 162: Global Market Average Selling Price by Product Structure, US$/MT, 2026 and 2036</a:t>
                      </a:r>
                      <a:endParaRPr sz="1050"/>
                    </a:p>
                  </a:txBody>
                  <a:tcPr marL="9525" marR="9525" marT="9525" marB="0" anchor="ctr"/>
                </a:tc>
              </a:tr>
              <a:tr h="170486">
                <a:tc>
                  <a:txBody>
                    <a:bodyPr wrap="square"/>
                    <a:lstStyle/>
                    <a:p>
                      <a:pPr algn="l"/>
                      <a:r>
                        <a:rPr sz="1050" b="0" i="0">
                          <a:solidFill>
                            <a:srgbClr val="000000"/>
                          </a:solidFill>
                          <a:latin typeface="Calibri"/>
                        </a:rPr>
                        <a:t>Figure 163: Global Market Average Selling Price by Surface Finish, US$/MT, 2026 and 2036</a:t>
                      </a:r>
                      <a:endParaRPr sz="1050"/>
                    </a:p>
                  </a:txBody>
                  <a:tcPr marL="9525" marR="9525" marT="9525" marB="0" anchor="ctr"/>
                </a:tc>
              </a:tr>
              <a:tr h="170486">
                <a:tc>
                  <a:txBody>
                    <a:bodyPr wrap="square"/>
                    <a:lstStyle/>
                    <a:p>
                      <a:pPr algn="l"/>
                      <a:r>
                        <a:rPr sz="1050" b="0" i="0">
                          <a:solidFill>
                            <a:srgbClr val="000000"/>
                          </a:solidFill>
                          <a:latin typeface="Calibri"/>
                        </a:rPr>
                        <a:t>Figure 164: Global Market Average Selling Price by Individual Muffin Size, US$/MT, 2026 and 2036</a:t>
                      </a:r>
                      <a:endParaRPr sz="1050"/>
                    </a:p>
                  </a:txBody>
                  <a:tcPr marL="9525" marR="9525" marT="9525" marB="0" anchor="ctr"/>
                </a:tc>
              </a:tr>
              <a:tr h="170486">
                <a:tc>
                  <a:txBody>
                    <a:bodyPr wrap="square"/>
                    <a:lstStyle/>
                    <a:p>
                      <a:pPr algn="l"/>
                      <a:r>
                        <a:rPr sz="1050" b="0" i="0">
                          <a:solidFill>
                            <a:srgbClr val="000000"/>
                          </a:solidFill>
                          <a:latin typeface="Calibri"/>
                        </a:rPr>
                        <a:t>Figure 165: Global Market Average Selling Price by Storage Format, US$/MT, 2026 and 2036</a:t>
                      </a:r>
                      <a:endParaRPr sz="1050"/>
                    </a:p>
                  </a:txBody>
                  <a:tcPr marL="9525" marR="9525" marT="9525" marB="0" anchor="ctr"/>
                </a:tc>
              </a:tr>
              <a:tr h="170486">
                <a:tc>
                  <a:txBody>
                    <a:bodyPr wrap="square"/>
                    <a:lstStyle/>
                    <a:p>
                      <a:pPr algn="l"/>
                      <a:r>
                        <a:rPr sz="1050" b="0" i="0">
                          <a:solidFill>
                            <a:srgbClr val="000000"/>
                          </a:solidFill>
                          <a:latin typeface="Calibri"/>
                        </a:rPr>
                        <a:t>Figure 166: Company Market Share in the Global Market, %, 2026</a:t>
                      </a:r>
                      <a:endParaRPr sz="1050"/>
                    </a:p>
                  </a:txBody>
                  <a:tcPr marL="9525" marR="9525" marT="9525" marB="0" anchor="ctr"/>
                </a:tc>
              </a:tr>
              <a:tr h="170486">
                <a:tc>
                  <a:txBody>
                    <a:bodyPr wrap="square"/>
                    <a:lstStyle/>
                    <a:p>
                      <a:pPr algn="l"/>
                      <a:r>
                        <a:rPr sz="1050" b="0" i="0">
                          <a:solidFill>
                            <a:srgbClr val="000000"/>
                          </a:solidFill>
                          <a:latin typeface="Calibri"/>
                        </a:rPr>
                        <a:t>Figure 167: Competitive Positioning of Leading Packaged Muffins Manufacturers, 2026</a:t>
                      </a:r>
                      <a:endParaRPr sz="1050"/>
                    </a:p>
                  </a:txBody>
                  <a:tcPr marL="9525" marR="9525" marT="9525" marB="0" anchor="ctr"/>
                </a:tc>
              </a:tr>
              <a:tr h="170486">
                <a:tc>
                  <a:txBody>
                    <a:bodyPr wrap="square"/>
                    <a:lstStyle/>
                    <a:p>
                      <a:pPr algn="l"/>
                      <a:r>
                        <a:rPr sz="1050" b="0" i="0">
                          <a:solidFill>
                            <a:srgbClr val="000000"/>
                          </a:solidFill>
                          <a:latin typeface="Calibri"/>
                        </a:rPr>
                        <a:t>Figure 168: Company Revenue from the Global Market, US$ Mn, 2026</a:t>
                      </a:r>
                      <a:endParaRPr sz="1050"/>
                    </a:p>
                  </a:txBody>
                  <a:tcPr marL="9525" marR="9525" marT="9525" marB="0" anchor="ctr"/>
                </a:tc>
              </a:tr>
              <a:tr h="170486">
                <a:tc>
                  <a:txBody>
                    <a:bodyPr wrap="square"/>
                    <a:lstStyle/>
                    <a:p>
                      <a:pPr algn="l"/>
                      <a:r>
                        <a:rPr sz="1050" b="0" i="0">
                          <a:solidFill>
                            <a:srgbClr val="000000"/>
                          </a:solidFill>
                          <a:latin typeface="Calibri"/>
                        </a:rPr>
                        <a:t>Figure 169: Global Market Concentration by Company Tier, %, 2026</a:t>
                      </a:r>
                      <a:endParaRPr sz="1050"/>
                    </a:p>
                  </a:txBody>
                  <a:tcPr marL="9525" marR="9525" marT="9525" marB="0" anchor="ctr"/>
                </a:tc>
              </a:tr>
              <a:tr h="170486">
                <a:tc>
                  <a:txBody>
                    <a:bodyPr wrap="square"/>
                    <a:lstStyle/>
                    <a:p>
                      <a:pPr algn="l"/>
                      <a:r>
                        <a:rPr sz="1050" b="0" i="0">
                          <a:solidFill>
                            <a:srgbClr val="000000"/>
                          </a:solidFill>
                          <a:latin typeface="Calibri"/>
                        </a:rPr>
                        <a:t>Figure 170: Global Market Competitive Intensity Assessment, 2026</a:t>
                      </a:r>
                      <a:endParaRPr sz="1050"/>
                    </a:p>
                  </a:txBody>
                  <a:tcPr marL="9525" marR="9525" marT="9525" marB="0" anchor="ctr"/>
                </a:tc>
              </a:tr>
              <a:tr h="170486">
                <a:tc>
                  <a:txBody>
                    <a:bodyPr wrap="square"/>
                    <a:lstStyle/>
                    <a:p>
                      <a:pPr algn="l"/>
                      <a:r>
                        <a:rPr sz="1050" b="0" i="0">
                          <a:solidFill>
                            <a:srgbClr val="000000"/>
                          </a:solidFill>
                          <a:latin typeface="Calibri"/>
                        </a:rPr>
                        <a:t>Figure 171: Company Market Share in the North America Market, %, 2026</a:t>
                      </a:r>
                      <a:endParaRPr sz="1050"/>
                    </a:p>
                  </a:txBody>
                  <a:tcPr marL="9525" marR="9525" marT="9525" marB="0" anchor="ctr"/>
                </a:tc>
              </a:tr>
              <a:tr h="170486">
                <a:tc>
                  <a:txBody>
                    <a:bodyPr wrap="square"/>
                    <a:lstStyle/>
                    <a:p>
                      <a:pPr algn="l"/>
                      <a:r>
                        <a:rPr sz="1050" b="0" i="0">
                          <a:solidFill>
                            <a:srgbClr val="000000"/>
                          </a:solidFill>
                          <a:latin typeface="Calibri"/>
                        </a:rPr>
                        <a:t>Figure 172: Company Market Share in the Latin America Market, %, 2026</a:t>
                      </a:r>
                      <a:endParaRPr sz="1050"/>
                    </a:p>
                  </a:txBody>
                  <a:tcPr marL="9525" marR="9525" marT="9525" marB="0" anchor="ctr"/>
                </a:tc>
              </a:tr>
              <a:tr h="170486">
                <a:tc>
                  <a:txBody>
                    <a:bodyPr wrap="square"/>
                    <a:lstStyle/>
                    <a:p>
                      <a:pPr algn="l"/>
                      <a:r>
                        <a:rPr sz="1050" b="0" i="0">
                          <a:solidFill>
                            <a:srgbClr val="000000"/>
                          </a:solidFill>
                          <a:latin typeface="Calibri"/>
                        </a:rPr>
                        <a:t>Figure 173: Company Market Share in the Europe Market, %, 2026</a:t>
                      </a:r>
                      <a:endParaRPr sz="1050"/>
                    </a:p>
                  </a:txBody>
                  <a:tcPr marL="9525" marR="9525" marT="9525" marB="0" anchor="ctr"/>
                </a:tc>
              </a:tr>
              <a:tr h="170486">
                <a:tc>
                  <a:txBody>
                    <a:bodyPr wrap="square"/>
                    <a:lstStyle/>
                    <a:p>
                      <a:pPr algn="l"/>
                      <a:r>
                        <a:rPr sz="1050" b="0" i="0">
                          <a:solidFill>
                            <a:srgbClr val="000000"/>
                          </a:solidFill>
                          <a:latin typeface="Calibri"/>
                        </a:rPr>
                        <a:t>Figure 174: Company Market Share in the East Asia Market, %, 2026</a:t>
                      </a:r>
                      <a:endParaRPr sz="1050"/>
                    </a:p>
                  </a:txBody>
                  <a:tcPr marL="9525" marR="9525" marT="9525" marB="0" anchor="ctr"/>
                </a:tc>
              </a:tr>
              <a:tr h="170486">
                <a:tc>
                  <a:txBody>
                    <a:bodyPr wrap="square"/>
                    <a:lstStyle/>
                    <a:p>
                      <a:pPr algn="l"/>
                      <a:r>
                        <a:rPr sz="1050" b="0" i="0">
                          <a:solidFill>
                            <a:srgbClr val="000000"/>
                          </a:solidFill>
                          <a:latin typeface="Calibri"/>
                        </a:rPr>
                        <a:t>Figure 175: Company Market Share in the South Asia &amp; Pacific Market, %, 2026</a:t>
                      </a:r>
                      <a:endParaRPr sz="1050"/>
                    </a:p>
                  </a:txBody>
                  <a:tcPr marL="9525" marR="9525" marT="9525" marB="0" anchor="ctr"/>
                </a:tc>
              </a:tr>
              <a:tr h="170486">
                <a:tc>
                  <a:txBody>
                    <a:bodyPr wrap="square"/>
                    <a:lstStyle/>
                    <a:p>
                      <a:pPr algn="l"/>
                      <a:r>
                        <a:rPr sz="1050" b="0" i="0">
                          <a:solidFill>
                            <a:srgbClr val="000000"/>
                          </a:solidFill>
                          <a:latin typeface="Calibri"/>
                        </a:rPr>
                        <a:t>Figure 176: Company Market Share in the Middle East &amp; Africa Market, %, 2026</a:t>
                      </a:r>
                      <a:endParaRPr sz="1050"/>
                    </a:p>
                  </a:txBody>
                  <a:tcPr marL="9525" marR="9525" marT="9525" marB="0" anchor="ctr"/>
                </a:tc>
              </a:tr>
              <a:tr h="170486">
                <a:tc>
                  <a:txBody>
                    <a:bodyPr wrap="square"/>
                    <a:lstStyle/>
                    <a:p>
                      <a:pPr algn="l"/>
                      <a:r>
                        <a:rPr sz="1050" b="0" i="0">
                          <a:solidFill>
                            <a:srgbClr val="000000"/>
                          </a:solidFill>
                          <a:latin typeface="Calibri"/>
                        </a:rPr>
                        <a:t>Figure 177: Grupo Bimbo: Revenue from the Global Market and Share, US$ Mn and %, 2026</a:t>
                      </a:r>
                      <a:endParaRPr sz="1050"/>
                    </a:p>
                  </a:txBody>
                  <a:tcPr marL="9525" marR="9525" marT="9525" marB="0" anchor="ctr"/>
                </a:tc>
              </a:tr>
              <a:tr h="334153">
                <a:tc>
                  <a:txBody>
                    <a:bodyPr wrap="square"/>
                    <a:lstStyle/>
                    <a:p>
                      <a:pPr algn="l"/>
                      <a:r>
                        <a:rPr sz="1050" b="0" i="0">
                          <a:solidFill>
                            <a:srgbClr val="000000"/>
                          </a:solidFill>
                          <a:latin typeface="Calibri"/>
                        </a:rPr>
                        <a:t>Figure 178: McKee Foods Corporation: Revenue from the Global Market and Share, US$ Mn and %, 2026</a:t>
                      </a:r>
                      <a:endParaRPr sz="1050"/>
                    </a:p>
                  </a:txBody>
                  <a:tcPr marL="9525" marR="9525" marT="9525" marB="0" anchor="ctr"/>
                </a:tc>
              </a:tr>
              <a:tr h="170486">
                <a:tc>
                  <a:txBody>
                    <a:bodyPr wrap="square"/>
                    <a:lstStyle/>
                    <a:p>
                      <a:pPr algn="l"/>
                      <a:r>
                        <a:rPr sz="1050" b="0" i="0">
                          <a:solidFill>
                            <a:srgbClr val="000000"/>
                          </a:solidFill>
                          <a:latin typeface="Calibri"/>
                        </a:rPr>
                        <a:t>Figure 179: Hostess Brands: Revenue from the Global Market and Share, US$ Mn and %, 2026</a:t>
                      </a:r>
                      <a:endParaRPr sz="1050"/>
                    </a:p>
                  </a:txBody>
                  <a:tcPr marL="9525" marR="9525" marT="9525" marB="0" anchor="ctr"/>
                </a:tc>
              </a:tr>
              <a:tr h="334153">
                <a:tc>
                  <a:txBody>
                    <a:bodyPr wrap="square"/>
                    <a:lstStyle/>
                    <a:p>
                      <a:pPr algn="l"/>
                      <a:r>
                        <a:rPr sz="1050" b="0" i="0">
                          <a:solidFill>
                            <a:srgbClr val="000000"/>
                          </a:solidFill>
                          <a:latin typeface="Calibri"/>
                        </a:rPr>
                        <a:t>Figure 180: Rich Products Corporation: Revenue from the Global Market and Share, US$ Mn and %, 2026</a:t>
                      </a:r>
                      <a:endParaRPr sz="1050"/>
                    </a:p>
                  </a:txBody>
                  <a:tcPr marL="9525" marR="9525" marT="9525" marB="0" anchor="ctr"/>
                </a:tc>
              </a:tr>
              <a:tr h="334153">
                <a:tc>
                  <a:txBody>
                    <a:bodyPr wrap="square"/>
                    <a:lstStyle/>
                    <a:p>
                      <a:pPr algn="l"/>
                      <a:r>
                        <a:rPr sz="1050" b="0" i="0">
                          <a:solidFill>
                            <a:srgbClr val="000000"/>
                          </a:solidFill>
                          <a:latin typeface="Calibri"/>
                        </a:rPr>
                        <a:t>Figure 181: ARYZTA / Aspire Bakeries: Revenue from the Global Market and Share, US$ Mn and %, 2026</a:t>
                      </a:r>
                      <a:endParaRPr sz="1050"/>
                    </a:p>
                  </a:txBody>
                  <a:tcPr marL="9525" marR="9525" marT="9525" marB="0" anchor="ctr"/>
                </a:tc>
              </a:tr>
              <a:tr h="170486">
                <a:tc>
                  <a:txBody>
                    <a:bodyPr wrap="square"/>
                    <a:lstStyle/>
                    <a:p>
                      <a:pPr algn="l"/>
                      <a:r>
                        <a:rPr sz="1050" b="0" i="0">
                          <a:solidFill>
                            <a:srgbClr val="000000"/>
                          </a:solidFill>
                          <a:latin typeface="Calibri"/>
                        </a:rPr>
                        <a:t>Figure 182: Europastry: Revenue from the Global Market and Share, US$ Mn and %,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3000384"/>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183: Bridor: Revenue from the Global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184: Lantmännen Unibake: Revenue from the Global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185: Flowers Foods: Revenue from the Global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186: Global Market Value Forecast by Scenario, US$ Mn, 2026–2036</a:t>
                      </a:r>
                      <a:endParaRPr sz="1050"/>
                    </a:p>
                  </a:txBody>
                  <a:tcPr marL="9525" marR="9525" marT="9525" marB="0" anchor="ctr"/>
                </a:tc>
              </a:tr>
              <a:tr h="166688">
                <a:tc>
                  <a:txBody>
                    <a:bodyPr wrap="square"/>
                    <a:lstStyle/>
                    <a:p>
                      <a:pPr algn="l"/>
                      <a:r>
                        <a:rPr sz="1050" b="0" i="0">
                          <a:solidFill>
                            <a:srgbClr val="000000"/>
                          </a:solidFill>
                          <a:latin typeface="Calibri"/>
                        </a:rPr>
                        <a:t>Figure 187: Global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Opportunity Map by Region and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69606">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69606">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69606">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69606">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69606">
                <a:tc>
                  <a:txBody>
                    <a:bodyPr wrap="square"/>
                    <a:lstStyle/>
                    <a:p>
                      <a:pPr algn="l"/>
                      <a:r>
                        <a:rPr sz="1050" b="0" i="0">
                          <a:solidFill>
                            <a:srgbClr val="000000"/>
                          </a:solidFill>
                          <a:latin typeface="Calibri"/>
                        </a:rPr>
                        <a:t>Table 7: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Table 8: Global Market Historical Value Analysis, US$ Mn, 2021–2025</a:t>
                      </a:r>
                      <a:endParaRPr sz="1050"/>
                    </a:p>
                  </a:txBody>
                  <a:tcPr marL="9525" marR="9525" marT="9525" marB="0" anchor="ctr"/>
                </a:tc>
              </a:tr>
              <a:tr h="169606">
                <a:tc>
                  <a:txBody>
                    <a:bodyPr wrap="square"/>
                    <a:lstStyle/>
                    <a:p>
                      <a:pPr algn="l"/>
                      <a:r>
                        <a:rPr sz="1050" b="0" i="0">
                          <a:solidFill>
                            <a:srgbClr val="000000"/>
                          </a:solidFill>
                          <a:latin typeface="Calibri"/>
                        </a:rPr>
                        <a:t>Table 9: Global Market Forecast Value Analysis, US$ Mn, 2026–2036</a:t>
                      </a:r>
                      <a:endParaRPr sz="1050"/>
                    </a:p>
                  </a:txBody>
                  <a:tcPr marL="9525" marR="9525" marT="9525" marB="0" anchor="ctr"/>
                </a:tc>
              </a:tr>
              <a:tr h="169606">
                <a:tc>
                  <a:txBody>
                    <a:bodyPr wrap="square"/>
                    <a:lstStyle/>
                    <a:p>
                      <a:pPr algn="l"/>
                      <a:r>
                        <a:rPr sz="1050" b="0" i="0">
                          <a:solidFill>
                            <a:srgbClr val="000000"/>
                          </a:solidFill>
                          <a:latin typeface="Calibri"/>
                        </a:rPr>
                        <a:t>Table 10: Global Market Volume and YoY Growth, MT and %, 2021–2036</a:t>
                      </a:r>
                      <a:endParaRPr sz="1050"/>
                    </a:p>
                  </a:txBody>
                  <a:tcPr marL="9525" marR="9525" marT="9525" marB="0" anchor="ctr"/>
                </a:tc>
              </a:tr>
              <a:tr h="169606">
                <a:tc>
                  <a:txBody>
                    <a:bodyPr wrap="square"/>
                    <a:lstStyle/>
                    <a:p>
                      <a:pPr algn="l"/>
                      <a:r>
                        <a:rPr sz="1050" b="0" i="0">
                          <a:solidFill>
                            <a:srgbClr val="000000"/>
                          </a:solidFill>
                          <a:latin typeface="Calibri"/>
                        </a:rPr>
                        <a:t>Table 11: Global Market Volume Forecast, MT, 2026–2036</a:t>
                      </a:r>
                      <a:endParaRPr sz="1050"/>
                    </a:p>
                  </a:txBody>
                  <a:tcPr marL="9525" marR="9525" marT="9525" marB="0" anchor="ctr"/>
                </a:tc>
              </a:tr>
              <a:tr h="169606">
                <a:tc>
                  <a:txBody>
                    <a:bodyPr wrap="square"/>
                    <a:lstStyle/>
                    <a:p>
                      <a:pPr algn="l"/>
                      <a:r>
                        <a:rPr sz="1050" b="0" i="0">
                          <a:solidFill>
                            <a:srgbClr val="000000"/>
                          </a:solidFill>
                          <a:latin typeface="Calibri"/>
                        </a:rPr>
                        <a:t>Table 12: Global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13: Global Market Average Selling Price YoY Change, %, 2026–2036</a:t>
                      </a:r>
                      <a:endParaRPr sz="1050"/>
                    </a:p>
                  </a:txBody>
                  <a:tcPr marL="9525" marR="9525" marT="9525" marB="0" anchor="ctr"/>
                </a:tc>
              </a:tr>
              <a:tr h="169606">
                <a:tc>
                  <a:txBody>
                    <a:bodyPr wrap="square"/>
                    <a:lstStyle/>
                    <a:p>
                      <a:pPr algn="l"/>
                      <a:r>
                        <a:rPr sz="1050" b="0" i="0">
                          <a:solidFill>
                            <a:srgbClr val="000000"/>
                          </a:solidFill>
                          <a:latin typeface="Calibri"/>
                        </a:rPr>
                        <a:t>Table 14: Global Market CAGR and Absolute $ Opportunity, %, US$ Mn, 2026–2036</a:t>
                      </a:r>
                      <a:endParaRPr sz="1050"/>
                    </a:p>
                  </a:txBody>
                  <a:tcPr marL="9525" marR="9525" marT="9525" marB="0" anchor="ctr"/>
                </a:tc>
              </a:tr>
              <a:tr h="169606">
                <a:tc>
                  <a:txBody>
                    <a:bodyPr wrap="square"/>
                    <a:lstStyle/>
                    <a:p>
                      <a:pPr algn="l"/>
                      <a:r>
                        <a:rPr sz="1050" b="0" i="0">
                          <a:solidFill>
                            <a:srgbClr val="000000"/>
                          </a:solidFill>
                          <a:latin typeface="Calibri"/>
                        </a:rPr>
                        <a:t>Table 15: Global Market Absolute $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Table 16: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Table 17: Global Market Scenario CAGR Comparison, %, 2026–2036</a:t>
                      </a:r>
                      <a:endParaRPr sz="1050"/>
                    </a:p>
                  </a:txBody>
                  <a:tcPr marL="9525" marR="9525" marT="9525" marB="0" anchor="ctr"/>
                </a:tc>
              </a:tr>
              <a:tr h="169606">
                <a:tc>
                  <a:txBody>
                    <a:bodyPr wrap="square"/>
                    <a:lstStyle/>
                    <a:p>
                      <a:pPr algn="l"/>
                      <a:r>
                        <a:rPr sz="1050" b="0" i="0">
                          <a:solidFill>
                            <a:srgbClr val="000000"/>
                          </a:solidFill>
                          <a:latin typeface="Calibri"/>
                        </a:rPr>
                        <a:t>Table 18: Global Market Historical vs Forecast Growth Comparison, %, 2021–2036</a:t>
                      </a:r>
                      <a:endParaRPr sz="1050"/>
                    </a:p>
                  </a:txBody>
                  <a:tcPr marL="9525" marR="9525" marT="9525" marB="0" anchor="ctr"/>
                </a:tc>
              </a:tr>
              <a:tr h="169606">
                <a:tc>
                  <a:txBody>
                    <a:bodyPr wrap="square"/>
                    <a:lstStyle/>
                    <a:p>
                      <a:pPr algn="l"/>
                      <a:r>
                        <a:rPr sz="1050" b="0" i="0">
                          <a:solidFill>
                            <a:srgbClr val="000000"/>
                          </a:solidFill>
                          <a:latin typeface="Calibri"/>
                        </a:rPr>
                        <a:t>Table 19: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20: Global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Table 21: Global Market Value by Primary Flour Base, US$ Mn, 2021–2036</a:t>
                      </a:r>
                      <a:endParaRPr sz="1050"/>
                    </a:p>
                  </a:txBody>
                  <a:tcPr marL="9525" marR="9525" marT="9525" marB="0" anchor="ctr"/>
                </a:tc>
              </a:tr>
              <a:tr h="169606">
                <a:tc>
                  <a:txBody>
                    <a:bodyPr wrap="square"/>
                    <a:lstStyle/>
                    <a:p>
                      <a:pPr algn="l"/>
                      <a:r>
                        <a:rPr sz="1050" b="0" i="0">
                          <a:solidFill>
                            <a:srgbClr val="000000"/>
                          </a:solidFill>
                          <a:latin typeface="Calibri"/>
                        </a:rPr>
                        <a:t>Table 22: Global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Table 23: Global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Table 24: Global Market Value by Recipe and Ingredient Claims, US$ Mn, 2021–2036</a:t>
                      </a:r>
                      <a:endParaRPr sz="1050"/>
                    </a:p>
                  </a:txBody>
                  <a:tcPr marL="9525" marR="9525" marT="9525" marB="0" anchor="ctr"/>
                </a:tc>
              </a:tr>
              <a:tr h="169606">
                <a:tc>
                  <a:txBody>
                    <a:bodyPr wrap="square"/>
                    <a:lstStyle/>
                    <a:p>
                      <a:pPr algn="l"/>
                      <a:r>
                        <a:rPr sz="1050" b="0" i="0">
                          <a:solidFill>
                            <a:srgbClr val="000000"/>
                          </a:solidFill>
                          <a:latin typeface="Calibri"/>
                        </a:rPr>
                        <a:t>Table 25: Global Market Value by Product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26: Global Market Value by Surface Finish, US$ Mn, 2021–2036</a:t>
                      </a:r>
                      <a:endParaRPr sz="1050"/>
                    </a:p>
                  </a:txBody>
                  <a:tcPr marL="9525" marR="9525" marT="9525" marB="0" anchor="ctr"/>
                </a:tc>
              </a:tr>
              <a:tr h="169606">
                <a:tc>
                  <a:txBody>
                    <a:bodyPr wrap="square"/>
                    <a:lstStyle/>
                    <a:p>
                      <a:pPr algn="l"/>
                      <a:r>
                        <a:rPr sz="1050" b="0" i="0">
                          <a:solidFill>
                            <a:srgbClr val="000000"/>
                          </a:solidFill>
                          <a:latin typeface="Calibri"/>
                        </a:rPr>
                        <a:t>Table 27: Global Market Value by Individual Muffin Size, US$ Mn, 2021–2036</a:t>
                      </a:r>
                      <a:endParaRPr sz="1050"/>
                    </a:p>
                  </a:txBody>
                  <a:tcPr marL="9525" marR="9525" marT="9525" marB="0" anchor="ctr"/>
                </a:tc>
              </a:tr>
              <a:tr h="169606">
                <a:tc>
                  <a:txBody>
                    <a:bodyPr wrap="square"/>
                    <a:lstStyle/>
                    <a:p>
                      <a:pPr algn="l"/>
                      <a:r>
                        <a:rPr sz="1050" b="0" i="0">
                          <a:solidFill>
                            <a:srgbClr val="000000"/>
                          </a:solidFill>
                          <a:latin typeface="Calibri"/>
                        </a:rPr>
                        <a:t>Table 28: Global Market Value by Storage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29: Global Market Value by Shelf Life, US$ Mn, 2021–2036</a:t>
                      </a:r>
                      <a:endParaRPr sz="1050"/>
                    </a:p>
                  </a:txBody>
                  <a:tcPr marL="9525" marR="9525" marT="9525" marB="0" anchor="ctr"/>
                </a:tc>
              </a:tr>
              <a:tr h="169606">
                <a:tc>
                  <a:txBody>
                    <a:bodyPr wrap="square"/>
                    <a:lstStyle/>
                    <a:p>
                      <a:pPr algn="l"/>
                      <a:r>
                        <a:rPr sz="1050" b="0" i="0">
                          <a:solidFill>
                            <a:srgbClr val="000000"/>
                          </a:solidFill>
                          <a:latin typeface="Calibri"/>
                        </a:rPr>
                        <a:t>Table 30: Global Market Value by Packaging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31: Global Market Value by Pack Configuration,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171824">
                <a:tc>
                  <a:txBody>
                    <a:bodyPr wrap="square"/>
                    <a:lstStyle/>
                    <a:p>
                      <a:pPr algn="l"/>
                      <a:r>
                        <a:rPr sz="1050" b="0" i="0">
                          <a:solidFill>
                            <a:srgbClr val="000000"/>
                          </a:solidFill>
                          <a:latin typeface="Calibri"/>
                        </a:rPr>
                        <a:t>Table 32: Global Market Value by Multipack Wrapping, US$ Mn, 2021–2036</a:t>
                      </a:r>
                      <a:endParaRPr sz="1050"/>
                    </a:p>
                  </a:txBody>
                  <a:tcPr marL="9525" marR="9525" marT="9525" marB="0" anchor="ctr"/>
                </a:tc>
              </a:tr>
              <a:tr h="171824">
                <a:tc>
                  <a:txBody>
                    <a:bodyPr wrap="square"/>
                    <a:lstStyle/>
                    <a:p>
                      <a:pPr algn="l"/>
                      <a:r>
                        <a:rPr sz="1050" b="0" i="0">
                          <a:solidFill>
                            <a:srgbClr val="000000"/>
                          </a:solidFill>
                          <a:latin typeface="Calibri"/>
                        </a:rPr>
                        <a:t>Table 33: Global Market Value by Price Positioning, US$ Mn, 2021–2036</a:t>
                      </a:r>
                      <a:endParaRPr sz="1050"/>
                    </a:p>
                  </a:txBody>
                  <a:tcPr marL="9525" marR="9525" marT="9525" marB="0" anchor="ctr"/>
                </a:tc>
              </a:tr>
              <a:tr h="171824">
                <a:tc>
                  <a:txBody>
                    <a:bodyPr wrap="square"/>
                    <a:lstStyle/>
                    <a:p>
                      <a:pPr algn="l"/>
                      <a:r>
                        <a:rPr sz="1050" b="0" i="0">
                          <a:solidFill>
                            <a:srgbClr val="000000"/>
                          </a:solidFill>
                          <a:latin typeface="Calibri"/>
                        </a:rPr>
                        <a:t>Table 34: Global Market Value by Brand Ownership, US$ Mn, 2021–2036</a:t>
                      </a:r>
                      <a:endParaRPr sz="1050"/>
                    </a:p>
                  </a:txBody>
                  <a:tcPr marL="9525" marR="9525" marT="9525" marB="0" anchor="ctr"/>
                </a:tc>
              </a:tr>
              <a:tr h="171824">
                <a:tc>
                  <a:txBody>
                    <a:bodyPr wrap="square"/>
                    <a:lstStyle/>
                    <a:p>
                      <a:pPr algn="l"/>
                      <a:r>
                        <a:rPr sz="1050" b="0" i="0">
                          <a:solidFill>
                            <a:srgbClr val="000000"/>
                          </a:solidFill>
                          <a:latin typeface="Calibri"/>
                        </a:rPr>
                        <a:t>Table 35: Global Market Value by Sales Channel, US$ Mn, 2021–2036</a:t>
                      </a:r>
                      <a:endParaRPr sz="1050"/>
                    </a:p>
                  </a:txBody>
                  <a:tcPr marL="9525" marR="9525" marT="9525" marB="0" anchor="ctr"/>
                </a:tc>
              </a:tr>
              <a:tr h="171824">
                <a:tc>
                  <a:txBody>
                    <a:bodyPr wrap="square"/>
                    <a:lstStyle/>
                    <a:p>
                      <a:pPr algn="l"/>
                      <a:r>
                        <a:rPr sz="1050" b="0" i="0">
                          <a:solidFill>
                            <a:srgbClr val="000000"/>
                          </a:solidFill>
                          <a:latin typeface="Calibri"/>
                        </a:rPr>
                        <a:t>Table 36: Global Market CAGR and Absolute $ Opportunity by Product Type, %, US$ Mn, 2026–2036</a:t>
                      </a:r>
                      <a:endParaRPr sz="1050"/>
                    </a:p>
                  </a:txBody>
                  <a:tcPr marL="9525" marR="9525" marT="9525" marB="0" anchor="ctr"/>
                </a:tc>
              </a:tr>
              <a:tr h="171824">
                <a:tc>
                  <a:txBody>
                    <a:bodyPr wrap="square"/>
                    <a:lstStyle/>
                    <a:p>
                      <a:pPr algn="l"/>
                      <a:r>
                        <a:rPr sz="1050" b="0" i="0">
                          <a:solidFill>
                            <a:srgbClr val="000000"/>
                          </a:solidFill>
                          <a:latin typeface="Calibri"/>
                        </a:rPr>
                        <a:t>Table 37: Global Market CAGR and Absolute $ Opportunity by Flavour, %, US$ Mn, 2026–2036</a:t>
                      </a:r>
                      <a:endParaRPr sz="1050"/>
                    </a:p>
                  </a:txBody>
                  <a:tcPr marL="9525" marR="9525" marT="9525" marB="0" anchor="ctr"/>
                </a:tc>
              </a:tr>
              <a:tr h="336774">
                <a:tc>
                  <a:txBody>
                    <a:bodyPr wrap="square"/>
                    <a:lstStyle/>
                    <a:p>
                      <a:pPr algn="l"/>
                      <a:r>
                        <a:rPr sz="1050" b="0" i="0">
                          <a:solidFill>
                            <a:srgbClr val="000000"/>
                          </a:solidFill>
                          <a:latin typeface="Calibri"/>
                        </a:rPr>
                        <a:t>Table 38: Global Market CAGR and Absolute $ Opportunity by Primary Flour Base, %, US$ Mn, 2026–2036</a:t>
                      </a:r>
                      <a:endParaRPr sz="1050"/>
                    </a:p>
                  </a:txBody>
                  <a:tcPr marL="9525" marR="9525" marT="9525" marB="0" anchor="ctr"/>
                </a:tc>
              </a:tr>
              <a:tr h="336774">
                <a:tc>
                  <a:txBody>
                    <a:bodyPr wrap="square"/>
                    <a:lstStyle/>
                    <a:p>
                      <a:pPr algn="l"/>
                      <a:r>
                        <a:rPr sz="1050" b="0" i="0">
                          <a:solidFill>
                            <a:srgbClr val="000000"/>
                          </a:solidFill>
                          <a:latin typeface="Calibri"/>
                        </a:rPr>
                        <a:t>Table 39: Global Market CAGR and Absolute $ Opportunity by Dietary Formulation, %, US$ Mn, 2026–2036</a:t>
                      </a:r>
                      <a:endParaRPr sz="1050"/>
                    </a:p>
                  </a:txBody>
                  <a:tcPr marL="9525" marR="9525" marT="9525" marB="0" anchor="ctr"/>
                </a:tc>
              </a:tr>
              <a:tr h="336774">
                <a:tc>
                  <a:txBody>
                    <a:bodyPr wrap="square"/>
                    <a:lstStyle/>
                    <a:p>
                      <a:pPr algn="l"/>
                      <a:r>
                        <a:rPr sz="1050" b="0" i="0">
                          <a:solidFill>
                            <a:srgbClr val="000000"/>
                          </a:solidFill>
                          <a:latin typeface="Calibri"/>
                        </a:rPr>
                        <a:t>Table 40: Global Market CAGR and Absolute $ Opportunity by Nutritional Positioning, %, US$ Mn, 2026–2036</a:t>
                      </a:r>
                      <a:endParaRPr sz="1050"/>
                    </a:p>
                  </a:txBody>
                  <a:tcPr marL="9525" marR="9525" marT="9525" marB="0" anchor="ctr"/>
                </a:tc>
              </a:tr>
              <a:tr h="336774">
                <a:tc>
                  <a:txBody>
                    <a:bodyPr wrap="square"/>
                    <a:lstStyle/>
                    <a:p>
                      <a:pPr algn="l"/>
                      <a:r>
                        <a:rPr sz="1050" b="0" i="0">
                          <a:solidFill>
                            <a:srgbClr val="000000"/>
                          </a:solidFill>
                          <a:latin typeface="Calibri"/>
                        </a:rPr>
                        <a:t>Table 41: Global Market CAGR and Absolute $ Opportunity by Recipe and Ingredient Claims, %, US$ Mn, 2026–2036</a:t>
                      </a:r>
                      <a:endParaRPr sz="1050"/>
                    </a:p>
                  </a:txBody>
                  <a:tcPr marL="9525" marR="9525" marT="9525" marB="0" anchor="ctr"/>
                </a:tc>
              </a:tr>
              <a:tr h="336774">
                <a:tc>
                  <a:txBody>
                    <a:bodyPr wrap="square"/>
                    <a:lstStyle/>
                    <a:p>
                      <a:pPr algn="l"/>
                      <a:r>
                        <a:rPr sz="1050" b="0" i="0">
                          <a:solidFill>
                            <a:srgbClr val="000000"/>
                          </a:solidFill>
                          <a:latin typeface="Calibri"/>
                        </a:rPr>
                        <a:t>Table 42: Global Market CAGR and Absolute $ Opportunity by Product Structure, %, US$ Mn, 2026–2036</a:t>
                      </a:r>
                      <a:endParaRPr sz="1050"/>
                    </a:p>
                  </a:txBody>
                  <a:tcPr marL="9525" marR="9525" marT="9525" marB="0" anchor="ctr"/>
                </a:tc>
              </a:tr>
              <a:tr h="171824">
                <a:tc>
                  <a:txBody>
                    <a:bodyPr wrap="square"/>
                    <a:lstStyle/>
                    <a:p>
                      <a:pPr algn="l"/>
                      <a:r>
                        <a:rPr sz="1050" b="0" i="0">
                          <a:solidFill>
                            <a:srgbClr val="000000"/>
                          </a:solidFill>
                          <a:latin typeface="Calibri"/>
                        </a:rPr>
                        <a:t>Table 43: Global Market CAGR and Absolute $ Opportunity by Surface Finish, %, US$ Mn, 2026–2036</a:t>
                      </a:r>
                      <a:endParaRPr sz="1050"/>
                    </a:p>
                  </a:txBody>
                  <a:tcPr marL="9525" marR="9525" marT="9525" marB="0" anchor="ctr"/>
                </a:tc>
              </a:tr>
              <a:tr h="336774">
                <a:tc>
                  <a:txBody>
                    <a:bodyPr wrap="square"/>
                    <a:lstStyle/>
                    <a:p>
                      <a:pPr algn="l"/>
                      <a:r>
                        <a:rPr sz="1050" b="0" i="0">
                          <a:solidFill>
                            <a:srgbClr val="000000"/>
                          </a:solidFill>
                          <a:latin typeface="Calibri"/>
                        </a:rPr>
                        <a:t>Table 44: Global Market CAGR and Absolute $ Opportunity by Individual Muffin Size, %, US$ Mn, 2026–2036</a:t>
                      </a:r>
                      <a:endParaRPr sz="1050"/>
                    </a:p>
                  </a:txBody>
                  <a:tcPr marL="9525" marR="9525" marT="9525" marB="0" anchor="ctr"/>
                </a:tc>
              </a:tr>
              <a:tr h="171824">
                <a:tc>
                  <a:txBody>
                    <a:bodyPr wrap="square"/>
                    <a:lstStyle/>
                    <a:p>
                      <a:pPr algn="l"/>
                      <a:r>
                        <a:rPr sz="1050" b="0" i="0">
                          <a:solidFill>
                            <a:srgbClr val="000000"/>
                          </a:solidFill>
                          <a:latin typeface="Calibri"/>
                        </a:rPr>
                        <a:t>Table 45: Global Market CAGR and Absolute $ Opportunity by Storage Format, %, US$ Mn, 2026–2036</a:t>
                      </a:r>
                      <a:endParaRPr sz="1050"/>
                    </a:p>
                  </a:txBody>
                  <a:tcPr marL="9525" marR="9525" marT="9525" marB="0" anchor="ctr"/>
                </a:tc>
              </a:tr>
              <a:tr h="171824">
                <a:tc>
                  <a:txBody>
                    <a:bodyPr wrap="square"/>
                    <a:lstStyle/>
                    <a:p>
                      <a:pPr algn="l"/>
                      <a:r>
                        <a:rPr sz="1050" b="0" i="0">
                          <a:solidFill>
                            <a:srgbClr val="000000"/>
                          </a:solidFill>
                          <a:latin typeface="Calibri"/>
                        </a:rPr>
                        <a:t>Table 46: Global Market CAGR and Absolute $ Opportunity by Shelf Life, %, US$ Mn, 2026–2036</a:t>
                      </a:r>
                      <a:endParaRPr sz="1050"/>
                    </a:p>
                  </a:txBody>
                  <a:tcPr marL="9525" marR="9525" marT="9525" marB="0" anchor="ctr"/>
                </a:tc>
              </a:tr>
              <a:tr h="336774">
                <a:tc>
                  <a:txBody>
                    <a:bodyPr wrap="square"/>
                    <a:lstStyle/>
                    <a:p>
                      <a:pPr algn="l"/>
                      <a:r>
                        <a:rPr sz="1050" b="0" i="0">
                          <a:solidFill>
                            <a:srgbClr val="000000"/>
                          </a:solidFill>
                          <a:latin typeface="Calibri"/>
                        </a:rPr>
                        <a:t>Table 47: Global Market CAGR and Absolute $ Opportunity by Packaging Format, %, US$ Mn, 2026–2036</a:t>
                      </a:r>
                      <a:endParaRPr sz="1050"/>
                    </a:p>
                  </a:txBody>
                  <a:tcPr marL="9525" marR="9525" marT="9525" marB="0" anchor="ctr"/>
                </a:tc>
              </a:tr>
              <a:tr h="336774">
                <a:tc>
                  <a:txBody>
                    <a:bodyPr wrap="square"/>
                    <a:lstStyle/>
                    <a:p>
                      <a:pPr algn="l"/>
                      <a:r>
                        <a:rPr sz="1050" b="0" i="0">
                          <a:solidFill>
                            <a:srgbClr val="000000"/>
                          </a:solidFill>
                          <a:latin typeface="Calibri"/>
                        </a:rPr>
                        <a:t>Table 48: Global Market CAGR and Absolute $ Opportunity by Pack Configuration, %, US$ Mn, 2026–2036</a:t>
                      </a:r>
                      <a:endParaRPr sz="1050"/>
                    </a:p>
                  </a:txBody>
                  <a:tcPr marL="9525" marR="9525" marT="9525" marB="0" anchor="ctr"/>
                </a:tc>
              </a:tr>
              <a:tr h="336774">
                <a:tc>
                  <a:txBody>
                    <a:bodyPr wrap="square"/>
                    <a:lstStyle/>
                    <a:p>
                      <a:pPr algn="l"/>
                      <a:r>
                        <a:rPr sz="1050" b="0" i="0">
                          <a:solidFill>
                            <a:srgbClr val="000000"/>
                          </a:solidFill>
                          <a:latin typeface="Calibri"/>
                        </a:rPr>
                        <a:t>Table 49: Global Market CAGR and Absolute $ Opportunity by Multipack Wrapping, %, US$ Mn, 2026–2036</a:t>
                      </a:r>
                      <a:endParaRPr sz="1050"/>
                    </a:p>
                  </a:txBody>
                  <a:tcPr marL="9525" marR="9525" marT="9525" marB="0" anchor="ctr"/>
                </a:tc>
              </a:tr>
              <a:tr h="171824">
                <a:tc>
                  <a:txBody>
                    <a:bodyPr wrap="square"/>
                    <a:lstStyle/>
                    <a:p>
                      <a:pPr algn="l"/>
                      <a:r>
                        <a:rPr sz="1050" b="0" i="0">
                          <a:solidFill>
                            <a:srgbClr val="000000"/>
                          </a:solidFill>
                          <a:latin typeface="Calibri"/>
                        </a:rPr>
                        <a:t>Table 50: Global Market CAGR and Absolute $ Opportunity by Price Positioning, %, US$ Mn, 2026–2036</a:t>
                      </a:r>
                      <a:endParaRPr sz="1050"/>
                    </a:p>
                  </a:txBody>
                  <a:tcPr marL="9525" marR="9525" marT="9525" marB="0" anchor="ctr"/>
                </a:tc>
              </a:tr>
              <a:tr h="336774">
                <a:tc>
                  <a:txBody>
                    <a:bodyPr wrap="square"/>
                    <a:lstStyle/>
                    <a:p>
                      <a:pPr algn="l"/>
                      <a:r>
                        <a:rPr sz="1050" b="0" i="0">
                          <a:solidFill>
                            <a:srgbClr val="000000"/>
                          </a:solidFill>
                          <a:latin typeface="Calibri"/>
                        </a:rPr>
                        <a:t>Table 51: Global Market CAGR and Absolute $ Opportunity by Brand Ownership, %, US$ Mn, 2026–2036</a:t>
                      </a:r>
                      <a:endParaRPr sz="1050"/>
                    </a:p>
                  </a:txBody>
                  <a:tcPr marL="9525" marR="9525" marT="9525" marB="0" anchor="ctr"/>
                </a:tc>
              </a:tr>
              <a:tr h="171824">
                <a:tc>
                  <a:txBody>
                    <a:bodyPr wrap="square"/>
                    <a:lstStyle/>
                    <a:p>
                      <a:pPr algn="l"/>
                      <a:r>
                        <a:rPr sz="1050" b="0" i="0">
                          <a:solidFill>
                            <a:srgbClr val="000000"/>
                          </a:solidFill>
                          <a:latin typeface="Calibri"/>
                        </a:rPr>
                        <a:t>Table 52: Global Market CAGR and Absolute $ Opportunity by Sales Channel,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53: Global Market Share and BPS Change by Product Type, %, 2025, 2026 and 2036</a:t>
                      </a:r>
                      <a:endParaRPr sz="1050"/>
                    </a:p>
                  </a:txBody>
                  <a:tcPr marL="9525" marR="9525" marT="9525" marB="0" anchor="ctr"/>
                </a:tc>
              </a:tr>
              <a:tr h="169826">
                <a:tc>
                  <a:txBody>
                    <a:bodyPr wrap="square"/>
                    <a:lstStyle/>
                    <a:p>
                      <a:pPr algn="l"/>
                      <a:r>
                        <a:rPr sz="1050" b="0" i="0">
                          <a:solidFill>
                            <a:srgbClr val="000000"/>
                          </a:solidFill>
                          <a:latin typeface="Calibri"/>
                        </a:rPr>
                        <a:t>Table 54: Global Market Share and BPS Change by Flavour, %, 2025, 2026 and 2036</a:t>
                      </a:r>
                      <a:endParaRPr sz="1050"/>
                    </a:p>
                  </a:txBody>
                  <a:tcPr marL="9525" marR="9525" marT="9525" marB="0" anchor="ctr"/>
                </a:tc>
              </a:tr>
              <a:tr h="169826">
                <a:tc>
                  <a:txBody>
                    <a:bodyPr wrap="square"/>
                    <a:lstStyle/>
                    <a:p>
                      <a:pPr algn="l"/>
                      <a:r>
                        <a:rPr sz="1050" b="0" i="0">
                          <a:solidFill>
                            <a:srgbClr val="000000"/>
                          </a:solidFill>
                          <a:latin typeface="Calibri"/>
                        </a:rPr>
                        <a:t>Table 55: Global Market Share and BPS Change by Primary Flour Base, %, 2025, 2026 and 2036</a:t>
                      </a:r>
                      <a:endParaRPr sz="1050"/>
                    </a:p>
                  </a:txBody>
                  <a:tcPr marL="9525" marR="9525" marT="9525" marB="0" anchor="ctr"/>
                </a:tc>
              </a:tr>
              <a:tr h="169826">
                <a:tc>
                  <a:txBody>
                    <a:bodyPr wrap="square"/>
                    <a:lstStyle/>
                    <a:p>
                      <a:pPr algn="l"/>
                      <a:r>
                        <a:rPr sz="1050" b="0" i="0">
                          <a:solidFill>
                            <a:srgbClr val="000000"/>
                          </a:solidFill>
                          <a:latin typeface="Calibri"/>
                        </a:rPr>
                        <a:t>Table 56: Global Market Share and BPS Change by Dietary Formulation, %, 2025, 2026 and 2036</a:t>
                      </a:r>
                      <a:endParaRPr sz="1050"/>
                    </a:p>
                  </a:txBody>
                  <a:tcPr marL="9525" marR="9525" marT="9525" marB="0" anchor="ctr"/>
                </a:tc>
              </a:tr>
              <a:tr h="169826">
                <a:tc>
                  <a:txBody>
                    <a:bodyPr wrap="square"/>
                    <a:lstStyle/>
                    <a:p>
                      <a:pPr algn="l"/>
                      <a:r>
                        <a:rPr sz="1050" b="0" i="0">
                          <a:solidFill>
                            <a:srgbClr val="000000"/>
                          </a:solidFill>
                          <a:latin typeface="Calibri"/>
                        </a:rPr>
                        <a:t>Table 57: Global Market Share and BPS Change by Nutritional Positioning, %, 2025, 2026 and 2036</a:t>
                      </a:r>
                      <a:endParaRPr sz="1050"/>
                    </a:p>
                  </a:txBody>
                  <a:tcPr marL="9525" marR="9525" marT="9525" marB="0" anchor="ctr"/>
                </a:tc>
              </a:tr>
              <a:tr h="332858">
                <a:tc>
                  <a:txBody>
                    <a:bodyPr wrap="square"/>
                    <a:lstStyle/>
                    <a:p>
                      <a:pPr algn="l"/>
                      <a:r>
                        <a:rPr sz="1050" b="0" i="0">
                          <a:solidFill>
                            <a:srgbClr val="000000"/>
                          </a:solidFill>
                          <a:latin typeface="Calibri"/>
                        </a:rPr>
                        <a:t>Table 58: Global Market Share and BPS Change by Recipe and Ingredient Claims, %, 2025, 2026 and 2036</a:t>
                      </a:r>
                      <a:endParaRPr sz="1050"/>
                    </a:p>
                  </a:txBody>
                  <a:tcPr marL="9525" marR="9525" marT="9525" marB="0" anchor="ctr"/>
                </a:tc>
              </a:tr>
              <a:tr h="169826">
                <a:tc>
                  <a:txBody>
                    <a:bodyPr wrap="square"/>
                    <a:lstStyle/>
                    <a:p>
                      <a:pPr algn="l"/>
                      <a:r>
                        <a:rPr sz="1050" b="0" i="0">
                          <a:solidFill>
                            <a:srgbClr val="000000"/>
                          </a:solidFill>
                          <a:latin typeface="Calibri"/>
                        </a:rPr>
                        <a:t>Table 59: Global Market Share and BPS Change by Product Structure, %, 2025, 2026 and 2036</a:t>
                      </a:r>
                      <a:endParaRPr sz="1050"/>
                    </a:p>
                  </a:txBody>
                  <a:tcPr marL="9525" marR="9525" marT="9525" marB="0" anchor="ctr"/>
                </a:tc>
              </a:tr>
              <a:tr h="169826">
                <a:tc>
                  <a:txBody>
                    <a:bodyPr wrap="square"/>
                    <a:lstStyle/>
                    <a:p>
                      <a:pPr algn="l"/>
                      <a:r>
                        <a:rPr sz="1050" b="0" i="0">
                          <a:solidFill>
                            <a:srgbClr val="000000"/>
                          </a:solidFill>
                          <a:latin typeface="Calibri"/>
                        </a:rPr>
                        <a:t>Table 60: Global Market Share and BPS Change by Surface Finish, %, 2025, 2026 and 2036</a:t>
                      </a:r>
                      <a:endParaRPr sz="1050"/>
                    </a:p>
                  </a:txBody>
                  <a:tcPr marL="9525" marR="9525" marT="9525" marB="0" anchor="ctr"/>
                </a:tc>
              </a:tr>
              <a:tr h="169826">
                <a:tc>
                  <a:txBody>
                    <a:bodyPr wrap="square"/>
                    <a:lstStyle/>
                    <a:p>
                      <a:pPr algn="l"/>
                      <a:r>
                        <a:rPr sz="1050" b="0" i="0">
                          <a:solidFill>
                            <a:srgbClr val="000000"/>
                          </a:solidFill>
                          <a:latin typeface="Calibri"/>
                        </a:rPr>
                        <a:t>Table 61: Global Market Share and BPS Change by Individual Muffin Size, %, 2025, 2026 and 2036</a:t>
                      </a:r>
                      <a:endParaRPr sz="1050"/>
                    </a:p>
                  </a:txBody>
                  <a:tcPr marL="9525" marR="9525" marT="9525" marB="0" anchor="ctr"/>
                </a:tc>
              </a:tr>
              <a:tr h="169826">
                <a:tc>
                  <a:txBody>
                    <a:bodyPr wrap="square"/>
                    <a:lstStyle/>
                    <a:p>
                      <a:pPr algn="l"/>
                      <a:r>
                        <a:rPr sz="1050" b="0" i="0">
                          <a:solidFill>
                            <a:srgbClr val="000000"/>
                          </a:solidFill>
                          <a:latin typeface="Calibri"/>
                        </a:rPr>
                        <a:t>Table 62: Global Market Share and BPS Change by Storage Format, %, 2025, 2026 and 2036</a:t>
                      </a:r>
                      <a:endParaRPr sz="1050"/>
                    </a:p>
                  </a:txBody>
                  <a:tcPr marL="9525" marR="9525" marT="9525" marB="0" anchor="ctr"/>
                </a:tc>
              </a:tr>
              <a:tr h="169826">
                <a:tc>
                  <a:txBody>
                    <a:bodyPr wrap="square"/>
                    <a:lstStyle/>
                    <a:p>
                      <a:pPr algn="l"/>
                      <a:r>
                        <a:rPr sz="1050" b="0" i="0">
                          <a:solidFill>
                            <a:srgbClr val="000000"/>
                          </a:solidFill>
                          <a:latin typeface="Calibri"/>
                        </a:rPr>
                        <a:t>Table 63: Global Market Share and BPS Change by Shelf Life, %, 2025, 2026 and 2036</a:t>
                      </a:r>
                      <a:endParaRPr sz="1050"/>
                    </a:p>
                  </a:txBody>
                  <a:tcPr marL="9525" marR="9525" marT="9525" marB="0" anchor="ctr"/>
                </a:tc>
              </a:tr>
              <a:tr h="169826">
                <a:tc>
                  <a:txBody>
                    <a:bodyPr wrap="square"/>
                    <a:lstStyle/>
                    <a:p>
                      <a:pPr algn="l"/>
                      <a:r>
                        <a:rPr sz="1050" b="0" i="0">
                          <a:solidFill>
                            <a:srgbClr val="000000"/>
                          </a:solidFill>
                          <a:latin typeface="Calibri"/>
                        </a:rPr>
                        <a:t>Table 64: Global Market Share and BPS Change by Packaging Format, %, 2025, 2026 and 2036</a:t>
                      </a:r>
                      <a:endParaRPr sz="1050"/>
                    </a:p>
                  </a:txBody>
                  <a:tcPr marL="9525" marR="9525" marT="9525" marB="0" anchor="ctr"/>
                </a:tc>
              </a:tr>
              <a:tr h="169826">
                <a:tc>
                  <a:txBody>
                    <a:bodyPr wrap="square"/>
                    <a:lstStyle/>
                    <a:p>
                      <a:pPr algn="l"/>
                      <a:r>
                        <a:rPr sz="1050" b="0" i="0">
                          <a:solidFill>
                            <a:srgbClr val="000000"/>
                          </a:solidFill>
                          <a:latin typeface="Calibri"/>
                        </a:rPr>
                        <a:t>Table 65: Global Market Share and BPS Change by Pack Configuration, %, 2025, 2026 and 2036</a:t>
                      </a:r>
                      <a:endParaRPr sz="1050"/>
                    </a:p>
                  </a:txBody>
                  <a:tcPr marL="9525" marR="9525" marT="9525" marB="0" anchor="ctr"/>
                </a:tc>
              </a:tr>
              <a:tr h="169826">
                <a:tc>
                  <a:txBody>
                    <a:bodyPr wrap="square"/>
                    <a:lstStyle/>
                    <a:p>
                      <a:pPr algn="l"/>
                      <a:r>
                        <a:rPr sz="1050" b="0" i="0">
                          <a:solidFill>
                            <a:srgbClr val="000000"/>
                          </a:solidFill>
                          <a:latin typeface="Calibri"/>
                        </a:rPr>
                        <a:t>Table 66: Global Market Share and BPS Change by Multipack Wrapping, %, 2025, 2026 and 2036</a:t>
                      </a:r>
                      <a:endParaRPr sz="1050"/>
                    </a:p>
                  </a:txBody>
                  <a:tcPr marL="9525" marR="9525" marT="9525" marB="0" anchor="ctr"/>
                </a:tc>
              </a:tr>
              <a:tr h="169826">
                <a:tc>
                  <a:txBody>
                    <a:bodyPr wrap="square"/>
                    <a:lstStyle/>
                    <a:p>
                      <a:pPr algn="l"/>
                      <a:r>
                        <a:rPr sz="1050" b="0" i="0">
                          <a:solidFill>
                            <a:srgbClr val="000000"/>
                          </a:solidFill>
                          <a:latin typeface="Calibri"/>
                        </a:rPr>
                        <a:t>Table 67: Global Market Share and BPS Change by Price Positioning, %, 2025, 2026 and 2036</a:t>
                      </a:r>
                      <a:endParaRPr sz="1050"/>
                    </a:p>
                  </a:txBody>
                  <a:tcPr marL="9525" marR="9525" marT="9525" marB="0" anchor="ctr"/>
                </a:tc>
              </a:tr>
              <a:tr h="169826">
                <a:tc>
                  <a:txBody>
                    <a:bodyPr wrap="square"/>
                    <a:lstStyle/>
                    <a:p>
                      <a:pPr algn="l"/>
                      <a:r>
                        <a:rPr sz="1050" b="0" i="0">
                          <a:solidFill>
                            <a:srgbClr val="000000"/>
                          </a:solidFill>
                          <a:latin typeface="Calibri"/>
                        </a:rPr>
                        <a:t>Table 68: Global Market Share and BPS Change by Brand Ownership, %, 2025, 2026 and 2036</a:t>
                      </a:r>
                      <a:endParaRPr sz="1050"/>
                    </a:p>
                  </a:txBody>
                  <a:tcPr marL="9525" marR="9525" marT="9525" marB="0" anchor="ctr"/>
                </a:tc>
              </a:tr>
              <a:tr h="169826">
                <a:tc>
                  <a:txBody>
                    <a:bodyPr wrap="square"/>
                    <a:lstStyle/>
                    <a:p>
                      <a:pPr algn="l"/>
                      <a:r>
                        <a:rPr sz="1050" b="0" i="0">
                          <a:solidFill>
                            <a:srgbClr val="000000"/>
                          </a:solidFill>
                          <a:latin typeface="Calibri"/>
                        </a:rPr>
                        <a:t>Table 69: Global Market Share and BPS Change by Sales Channel, %, 2025, 2026 and 2036</a:t>
                      </a:r>
                      <a:endParaRPr sz="1050"/>
                    </a:p>
                  </a:txBody>
                  <a:tcPr marL="9525" marR="9525" marT="9525" marB="0" anchor="ctr"/>
                </a:tc>
              </a:tr>
              <a:tr h="169826">
                <a:tc>
                  <a:txBody>
                    <a:bodyPr wrap="square"/>
                    <a:lstStyle/>
                    <a:p>
                      <a:pPr algn="l"/>
                      <a:r>
                        <a:rPr sz="1050" b="0" i="0">
                          <a:solidFill>
                            <a:srgbClr val="000000"/>
                          </a:solidFill>
                          <a:latin typeface="Calibri"/>
                        </a:rPr>
                        <a:t>Table 70: Global Market YoY Growth by Product Type, %, 2026–2036</a:t>
                      </a:r>
                      <a:endParaRPr sz="1050"/>
                    </a:p>
                  </a:txBody>
                  <a:tcPr marL="9525" marR="9525" marT="9525" marB="0" anchor="ctr"/>
                </a:tc>
              </a:tr>
              <a:tr h="169826">
                <a:tc>
                  <a:txBody>
                    <a:bodyPr wrap="square"/>
                    <a:lstStyle/>
                    <a:p>
                      <a:pPr algn="l"/>
                      <a:r>
                        <a:rPr sz="1050" b="0" i="0">
                          <a:solidFill>
                            <a:srgbClr val="000000"/>
                          </a:solidFill>
                          <a:latin typeface="Calibri"/>
                        </a:rPr>
                        <a:t>Table 71: Global Market YoY Growth by Flavour, %, 2026–2036</a:t>
                      </a:r>
                      <a:endParaRPr sz="1050"/>
                    </a:p>
                  </a:txBody>
                  <a:tcPr marL="9525" marR="9525" marT="9525" marB="0" anchor="ctr"/>
                </a:tc>
              </a:tr>
              <a:tr h="169826">
                <a:tc>
                  <a:txBody>
                    <a:bodyPr wrap="square"/>
                    <a:lstStyle/>
                    <a:p>
                      <a:pPr algn="l"/>
                      <a:r>
                        <a:rPr sz="1050" b="0" i="0">
                          <a:solidFill>
                            <a:srgbClr val="000000"/>
                          </a:solidFill>
                          <a:latin typeface="Calibri"/>
                        </a:rPr>
                        <a:t>Table 72: Global Market YoY Growth by Primary Flour Base, %, 2026–2036</a:t>
                      </a:r>
                      <a:endParaRPr sz="1050"/>
                    </a:p>
                  </a:txBody>
                  <a:tcPr marL="9525" marR="9525" marT="9525" marB="0" anchor="ctr"/>
                </a:tc>
              </a:tr>
              <a:tr h="169826">
                <a:tc>
                  <a:txBody>
                    <a:bodyPr wrap="square"/>
                    <a:lstStyle/>
                    <a:p>
                      <a:pPr algn="l"/>
                      <a:r>
                        <a:rPr sz="1050" b="0" i="0">
                          <a:solidFill>
                            <a:srgbClr val="000000"/>
                          </a:solidFill>
                          <a:latin typeface="Calibri"/>
                        </a:rPr>
                        <a:t>Table 73: Global Market YoY Growth by Dietary Formulation, %, 2026–2036</a:t>
                      </a:r>
                      <a:endParaRPr sz="1050"/>
                    </a:p>
                  </a:txBody>
                  <a:tcPr marL="9525" marR="9525" marT="9525" marB="0" anchor="ctr"/>
                </a:tc>
              </a:tr>
              <a:tr h="169826">
                <a:tc>
                  <a:txBody>
                    <a:bodyPr wrap="square"/>
                    <a:lstStyle/>
                    <a:p>
                      <a:pPr algn="l"/>
                      <a:r>
                        <a:rPr sz="1050" b="0" i="0">
                          <a:solidFill>
                            <a:srgbClr val="000000"/>
                          </a:solidFill>
                          <a:latin typeface="Calibri"/>
                        </a:rPr>
                        <a:t>Table 74: Global Market YoY Growth by Nutritional Positioning, %, 2026–2036</a:t>
                      </a:r>
                      <a:endParaRPr sz="1050"/>
                    </a:p>
                  </a:txBody>
                  <a:tcPr marL="9525" marR="9525" marT="9525" marB="0" anchor="ctr"/>
                </a:tc>
              </a:tr>
              <a:tr h="169826">
                <a:tc>
                  <a:txBody>
                    <a:bodyPr wrap="square"/>
                    <a:lstStyle/>
                    <a:p>
                      <a:pPr algn="l"/>
                      <a:r>
                        <a:rPr sz="1050" b="0" i="0">
                          <a:solidFill>
                            <a:srgbClr val="000000"/>
                          </a:solidFill>
                          <a:latin typeface="Calibri"/>
                        </a:rPr>
                        <a:t>Table 75: Global Market YoY Growth by Recipe and Ingredient Claims, %, 2026–2036</a:t>
                      </a:r>
                      <a:endParaRPr sz="1050"/>
                    </a:p>
                  </a:txBody>
                  <a:tcPr marL="9525" marR="9525" marT="9525" marB="0" anchor="ctr"/>
                </a:tc>
              </a:tr>
              <a:tr h="169826">
                <a:tc>
                  <a:txBody>
                    <a:bodyPr wrap="square"/>
                    <a:lstStyle/>
                    <a:p>
                      <a:pPr algn="l"/>
                      <a:r>
                        <a:rPr sz="1050" b="0" i="0">
                          <a:solidFill>
                            <a:srgbClr val="000000"/>
                          </a:solidFill>
                          <a:latin typeface="Calibri"/>
                        </a:rPr>
                        <a:t>Table 76: Global Market YoY Growth by Product Structure, %, 2026–2036</a:t>
                      </a:r>
                      <a:endParaRPr sz="1050"/>
                    </a:p>
                  </a:txBody>
                  <a:tcPr marL="9525" marR="9525" marT="9525" marB="0" anchor="ctr"/>
                </a:tc>
              </a:tr>
              <a:tr h="169826">
                <a:tc>
                  <a:txBody>
                    <a:bodyPr wrap="square"/>
                    <a:lstStyle/>
                    <a:p>
                      <a:pPr algn="l"/>
                      <a:r>
                        <a:rPr sz="1050" b="0" i="0">
                          <a:solidFill>
                            <a:srgbClr val="000000"/>
                          </a:solidFill>
                          <a:latin typeface="Calibri"/>
                        </a:rPr>
                        <a:t>Table 77: Global Market YoY Growth by Surface Finish, %, 2026–2036</a:t>
                      </a:r>
                      <a:endParaRPr sz="1050"/>
                    </a:p>
                  </a:txBody>
                  <a:tcPr marL="9525" marR="9525" marT="9525" marB="0" anchor="ctr"/>
                </a:tc>
              </a:tr>
              <a:tr h="169826">
                <a:tc>
                  <a:txBody>
                    <a:bodyPr wrap="square"/>
                    <a:lstStyle/>
                    <a:p>
                      <a:pPr algn="l"/>
                      <a:r>
                        <a:rPr sz="1050" b="0" i="0">
                          <a:solidFill>
                            <a:srgbClr val="000000"/>
                          </a:solidFill>
                          <a:latin typeface="Calibri"/>
                        </a:rPr>
                        <a:t>Table 78: Global Market YoY Growth by Individual Muffin Size, %, 2026–2036</a:t>
                      </a:r>
                      <a:endParaRPr sz="1050"/>
                    </a:p>
                  </a:txBody>
                  <a:tcPr marL="9525" marR="9525" marT="9525" marB="0" anchor="ctr"/>
                </a:tc>
              </a:tr>
              <a:tr h="169826">
                <a:tc>
                  <a:txBody>
                    <a:bodyPr wrap="square"/>
                    <a:lstStyle/>
                    <a:p>
                      <a:pPr algn="l"/>
                      <a:r>
                        <a:rPr sz="1050" b="0" i="0">
                          <a:solidFill>
                            <a:srgbClr val="000000"/>
                          </a:solidFill>
                          <a:latin typeface="Calibri"/>
                        </a:rPr>
                        <a:t>Table 79: Global Market YoY Growth by Storage Format, %, 2026–2036</a:t>
                      </a:r>
                      <a:endParaRPr sz="1050"/>
                    </a:p>
                  </a:txBody>
                  <a:tcPr marL="9525" marR="9525" marT="9525" marB="0" anchor="ctr"/>
                </a:tc>
              </a:tr>
              <a:tr h="169826">
                <a:tc>
                  <a:txBody>
                    <a:bodyPr wrap="square"/>
                    <a:lstStyle/>
                    <a:p>
                      <a:pPr algn="l"/>
                      <a:r>
                        <a:rPr sz="1050" b="0" i="0">
                          <a:solidFill>
                            <a:srgbClr val="000000"/>
                          </a:solidFill>
                          <a:latin typeface="Calibri"/>
                        </a:rPr>
                        <a:t>Table 80: Global Market YoY Growth by Shelf Life, %, 2026–2036</a:t>
                      </a:r>
                      <a:endParaRPr sz="1050"/>
                    </a:p>
                  </a:txBody>
                  <a:tcPr marL="9525" marR="9525" marT="9525" marB="0" anchor="ctr"/>
                </a:tc>
              </a:tr>
              <a:tr h="169826">
                <a:tc>
                  <a:txBody>
                    <a:bodyPr wrap="square"/>
                    <a:lstStyle/>
                    <a:p>
                      <a:pPr algn="l"/>
                      <a:r>
                        <a:rPr sz="1050" b="0" i="0">
                          <a:solidFill>
                            <a:srgbClr val="000000"/>
                          </a:solidFill>
                          <a:latin typeface="Calibri"/>
                        </a:rPr>
                        <a:t>Table 81: Global Market YoY Growth by Packaging Format, %, 2026–2036</a:t>
                      </a:r>
                      <a:endParaRPr sz="1050"/>
                    </a:p>
                  </a:txBody>
                  <a:tcPr marL="9525" marR="9525" marT="9525" marB="0" anchor="ctr"/>
                </a:tc>
              </a:tr>
              <a:tr h="169826">
                <a:tc>
                  <a:txBody>
                    <a:bodyPr wrap="square"/>
                    <a:lstStyle/>
                    <a:p>
                      <a:pPr algn="l"/>
                      <a:r>
                        <a:rPr sz="1050" b="0" i="0">
                          <a:solidFill>
                            <a:srgbClr val="000000"/>
                          </a:solidFill>
                          <a:latin typeface="Calibri"/>
                        </a:rPr>
                        <a:t>Table 82: Global Market YoY Growth by Pack Configuration, %,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83: Global Market YoY Growth by Multipack Wrapping, %,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YoY Growth by Price Positioning, %,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YoY Growth by Brand Ownership, %,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YoY Growth by Sales Channel, %,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Volume by Product Type, MT, 2021–2036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Volume by Flavour, MT, 2021–2036</a:t>
                      </a:r>
                      <a:endParaRPr sz="1050"/>
                    </a:p>
                  </a:txBody>
                  <a:tcPr marL="9525" marR="9525" marT="9525" marB="0" anchor="ctr"/>
                </a:tc>
              </a:tr>
              <a:tr h="169606">
                <a:tc>
                  <a:txBody>
                    <a:bodyPr wrap="square"/>
                    <a:lstStyle/>
                    <a:p>
                      <a:pPr algn="l"/>
                      <a:r>
                        <a:rPr sz="1050" b="0" i="0">
                          <a:solidFill>
                            <a:srgbClr val="000000"/>
                          </a:solidFill>
                          <a:latin typeface="Calibri"/>
                        </a:rPr>
                        <a:t>Table 89: Global Market Value by Product Type and Flavour, US$ Mn, 2026–2036</a:t>
                      </a:r>
                      <a:endParaRPr sz="1050"/>
                    </a:p>
                  </a:txBody>
                  <a:tcPr marL="9525" marR="9525" marT="9525" marB="0" anchor="ctr"/>
                </a:tc>
              </a:tr>
              <a:tr h="169606">
                <a:tc>
                  <a:txBody>
                    <a:bodyPr wrap="square"/>
                    <a:lstStyle/>
                    <a:p>
                      <a:pPr algn="l"/>
                      <a:r>
                        <a:rPr sz="1050" b="0" i="0">
                          <a:solidFill>
                            <a:srgbClr val="000000"/>
                          </a:solidFill>
                          <a:latin typeface="Calibri"/>
                        </a:rPr>
                        <a:t>Table 90: Global Market Value by Product Type and Primary Flour Base, US$ Mn, 2026–2036</a:t>
                      </a:r>
                      <a:endParaRPr sz="1050"/>
                    </a:p>
                  </a:txBody>
                  <a:tcPr marL="9525" marR="9525" marT="9525" marB="0" anchor="ctr"/>
                </a:tc>
              </a:tr>
              <a:tr h="169606">
                <a:tc>
                  <a:txBody>
                    <a:bodyPr wrap="square"/>
                    <a:lstStyle/>
                    <a:p>
                      <a:pPr algn="l"/>
                      <a:r>
                        <a:rPr sz="1050" b="0" i="0">
                          <a:solidFill>
                            <a:srgbClr val="000000"/>
                          </a:solidFill>
                          <a:latin typeface="Calibri"/>
                        </a:rPr>
                        <a:t>Table 91: Global Market Value by Product Type and Dietary Formulation, US$ Mn, 2026–2036</a:t>
                      </a:r>
                      <a:endParaRPr sz="1050"/>
                    </a:p>
                  </a:txBody>
                  <a:tcPr marL="9525" marR="9525" marT="9525" marB="0" anchor="ctr"/>
                </a:tc>
              </a:tr>
              <a:tr h="169606">
                <a:tc>
                  <a:txBody>
                    <a:bodyPr wrap="square"/>
                    <a:lstStyle/>
                    <a:p>
                      <a:pPr algn="l"/>
                      <a:r>
                        <a:rPr sz="1050" b="0" i="0">
                          <a:solidFill>
                            <a:srgbClr val="000000"/>
                          </a:solidFill>
                          <a:latin typeface="Calibri"/>
                        </a:rPr>
                        <a:t>Table 92: Global Market Value by Product Type and Nutritional Positioning, US$ Mn, 2026–2036</a:t>
                      </a:r>
                      <a:endParaRPr sz="1050"/>
                    </a:p>
                  </a:txBody>
                  <a:tcPr marL="9525" marR="9525" marT="9525" marB="0" anchor="ctr"/>
                </a:tc>
              </a:tr>
              <a:tr h="169606">
                <a:tc>
                  <a:txBody>
                    <a:bodyPr wrap="square"/>
                    <a:lstStyle/>
                    <a:p>
                      <a:pPr algn="l"/>
                      <a:r>
                        <a:rPr sz="1050" b="0" i="0">
                          <a:solidFill>
                            <a:srgbClr val="000000"/>
                          </a:solidFill>
                          <a:latin typeface="Calibri"/>
                        </a:rPr>
                        <a:t>Table 93: Global Market Value by Product Type and Recipe and Ingredient Claims, US$ Mn, 2026–2036</a:t>
                      </a:r>
                      <a:endParaRPr sz="1050"/>
                    </a:p>
                  </a:txBody>
                  <a:tcPr marL="9525" marR="9525" marT="9525" marB="0" anchor="ctr"/>
                </a:tc>
              </a:tr>
              <a:tr h="169606">
                <a:tc>
                  <a:txBody>
                    <a:bodyPr wrap="square"/>
                    <a:lstStyle/>
                    <a:p>
                      <a:pPr algn="l"/>
                      <a:r>
                        <a:rPr sz="1050" b="0" i="0">
                          <a:solidFill>
                            <a:srgbClr val="000000"/>
                          </a:solidFill>
                          <a:latin typeface="Calibri"/>
                        </a:rPr>
                        <a:t>Table 94: Global Market Value by Product Type and Product Structure, US$ Mn, 2026–2036</a:t>
                      </a:r>
                      <a:endParaRPr sz="1050"/>
                    </a:p>
                  </a:txBody>
                  <a:tcPr marL="9525" marR="9525" marT="9525" marB="0" anchor="ctr"/>
                </a:tc>
              </a:tr>
              <a:tr h="169606">
                <a:tc>
                  <a:txBody>
                    <a:bodyPr wrap="square"/>
                    <a:lstStyle/>
                    <a:p>
                      <a:pPr algn="l"/>
                      <a:r>
                        <a:rPr sz="1050" b="0" i="0">
                          <a:solidFill>
                            <a:srgbClr val="000000"/>
                          </a:solidFill>
                          <a:latin typeface="Calibri"/>
                        </a:rPr>
                        <a:t>Table 95: Global Market Value by Product Type and Surface Finish, US$ Mn, 2026–2036</a:t>
                      </a:r>
                      <a:endParaRPr sz="1050"/>
                    </a:p>
                  </a:txBody>
                  <a:tcPr marL="9525" marR="9525" marT="9525" marB="0" anchor="ctr"/>
                </a:tc>
              </a:tr>
              <a:tr h="169606">
                <a:tc>
                  <a:txBody>
                    <a:bodyPr wrap="square"/>
                    <a:lstStyle/>
                    <a:p>
                      <a:pPr algn="l"/>
                      <a:r>
                        <a:rPr sz="1050" b="0" i="0">
                          <a:solidFill>
                            <a:srgbClr val="000000"/>
                          </a:solidFill>
                          <a:latin typeface="Calibri"/>
                        </a:rPr>
                        <a:t>Table 96: Global Market Value by Product Type and Individual Muffin Size, US$ Mn, 2026–2036</a:t>
                      </a:r>
                      <a:endParaRPr sz="1050"/>
                    </a:p>
                  </a:txBody>
                  <a:tcPr marL="9525" marR="9525" marT="9525" marB="0" anchor="ctr"/>
                </a:tc>
              </a:tr>
              <a:tr h="169606">
                <a:tc>
                  <a:txBody>
                    <a:bodyPr wrap="square"/>
                    <a:lstStyle/>
                    <a:p>
                      <a:pPr algn="l"/>
                      <a:r>
                        <a:rPr sz="1050" b="0" i="0">
                          <a:solidFill>
                            <a:srgbClr val="000000"/>
                          </a:solidFill>
                          <a:latin typeface="Calibri"/>
                        </a:rPr>
                        <a:t>Table 97: Global Market Value by Product Type and Storage Format, US$ Mn, 2026–2036</a:t>
                      </a:r>
                      <a:endParaRPr sz="1050"/>
                    </a:p>
                  </a:txBody>
                  <a:tcPr marL="9525" marR="9525" marT="9525" marB="0" anchor="ctr"/>
                </a:tc>
              </a:tr>
              <a:tr h="169606">
                <a:tc>
                  <a:txBody>
                    <a:bodyPr wrap="square"/>
                    <a:lstStyle/>
                    <a:p>
                      <a:pPr algn="l"/>
                      <a:r>
                        <a:rPr sz="1050" b="0" i="0">
                          <a:solidFill>
                            <a:srgbClr val="000000"/>
                          </a:solidFill>
                          <a:latin typeface="Calibri"/>
                        </a:rPr>
                        <a:t>Table 98: Global Market Value by Product Type and Shelf Life, US$ Mn, 2026–2036</a:t>
                      </a:r>
                      <a:endParaRPr sz="1050"/>
                    </a:p>
                  </a:txBody>
                  <a:tcPr marL="9525" marR="9525" marT="9525" marB="0" anchor="ctr"/>
                </a:tc>
              </a:tr>
              <a:tr h="169606">
                <a:tc>
                  <a:txBody>
                    <a:bodyPr wrap="square"/>
                    <a:lstStyle/>
                    <a:p>
                      <a:pPr algn="l"/>
                      <a:r>
                        <a:rPr sz="1050" b="0" i="0">
                          <a:solidFill>
                            <a:srgbClr val="000000"/>
                          </a:solidFill>
                          <a:latin typeface="Calibri"/>
                        </a:rPr>
                        <a:t>Table 99: Global Market Value by Product Type and Packaging Format, US$ Mn, 2026–2036</a:t>
                      </a:r>
                      <a:endParaRPr sz="1050"/>
                    </a:p>
                  </a:txBody>
                  <a:tcPr marL="9525" marR="9525" marT="9525" marB="0" anchor="ctr"/>
                </a:tc>
              </a:tr>
              <a:tr h="169606">
                <a:tc>
                  <a:txBody>
                    <a:bodyPr wrap="square"/>
                    <a:lstStyle/>
                    <a:p>
                      <a:pPr algn="l"/>
                      <a:r>
                        <a:rPr sz="1050" b="0" i="0">
                          <a:solidFill>
                            <a:srgbClr val="000000"/>
                          </a:solidFill>
                          <a:latin typeface="Calibri"/>
                        </a:rPr>
                        <a:t>Table 100: Global Market Value by Product Type and Pack Configuration, US$ Mn, 2026–2036</a:t>
                      </a:r>
                      <a:endParaRPr sz="1050"/>
                    </a:p>
                  </a:txBody>
                  <a:tcPr marL="9525" marR="9525" marT="9525" marB="0" anchor="ctr"/>
                </a:tc>
              </a:tr>
              <a:tr h="169606">
                <a:tc>
                  <a:txBody>
                    <a:bodyPr wrap="square"/>
                    <a:lstStyle/>
                    <a:p>
                      <a:pPr algn="l"/>
                      <a:r>
                        <a:rPr sz="1050" b="0" i="0">
                          <a:solidFill>
                            <a:srgbClr val="000000"/>
                          </a:solidFill>
                          <a:latin typeface="Calibri"/>
                        </a:rPr>
                        <a:t>Table 101: Global Market Value by Product Type and Multipack Wrapping, US$ Mn, 2026–2036</a:t>
                      </a:r>
                      <a:endParaRPr sz="1050"/>
                    </a:p>
                  </a:txBody>
                  <a:tcPr marL="9525" marR="9525" marT="9525" marB="0" anchor="ctr"/>
                </a:tc>
              </a:tr>
              <a:tr h="169606">
                <a:tc>
                  <a:txBody>
                    <a:bodyPr wrap="square"/>
                    <a:lstStyle/>
                    <a:p>
                      <a:pPr algn="l"/>
                      <a:r>
                        <a:rPr sz="1050" b="0" i="0">
                          <a:solidFill>
                            <a:srgbClr val="000000"/>
                          </a:solidFill>
                          <a:latin typeface="Calibri"/>
                        </a:rPr>
                        <a:t>Table 102: Global Market Value by Product Type and Price Positioning, US$ Mn, 2026–2036</a:t>
                      </a:r>
                      <a:endParaRPr sz="1050"/>
                    </a:p>
                  </a:txBody>
                  <a:tcPr marL="9525" marR="9525" marT="9525" marB="0" anchor="ctr"/>
                </a:tc>
              </a:tr>
              <a:tr h="169606">
                <a:tc>
                  <a:txBody>
                    <a:bodyPr wrap="square"/>
                    <a:lstStyle/>
                    <a:p>
                      <a:pPr algn="l"/>
                      <a:r>
                        <a:rPr sz="1050" b="0" i="0">
                          <a:solidFill>
                            <a:srgbClr val="000000"/>
                          </a:solidFill>
                          <a:latin typeface="Calibri"/>
                        </a:rPr>
                        <a:t>Table 103: Global Market Value by Product Type and Brand Ownership, US$ Mn, 2026–2036</a:t>
                      </a:r>
                      <a:endParaRPr sz="1050"/>
                    </a:p>
                  </a:txBody>
                  <a:tcPr marL="9525" marR="9525" marT="9525" marB="0" anchor="ctr"/>
                </a:tc>
              </a:tr>
              <a:tr h="169606">
                <a:tc>
                  <a:txBody>
                    <a:bodyPr wrap="square"/>
                    <a:lstStyle/>
                    <a:p>
                      <a:pPr algn="l"/>
                      <a:r>
                        <a:rPr sz="1050" b="0" i="0">
                          <a:solidFill>
                            <a:srgbClr val="000000"/>
                          </a:solidFill>
                          <a:latin typeface="Calibri"/>
                        </a:rPr>
                        <a:t>Table 104: Global Market Value by Product Type and Sales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105: Global Market Value by Flavour and Primary Flour Base, US$ Mn, 2026–2036</a:t>
                      </a:r>
                      <a:endParaRPr sz="1050"/>
                    </a:p>
                  </a:txBody>
                  <a:tcPr marL="9525" marR="9525" marT="9525" marB="0" anchor="ctr"/>
                </a:tc>
              </a:tr>
              <a:tr h="169606">
                <a:tc>
                  <a:txBody>
                    <a:bodyPr wrap="square"/>
                    <a:lstStyle/>
                    <a:p>
                      <a:pPr algn="l"/>
                      <a:r>
                        <a:rPr sz="1050" b="0" i="0">
                          <a:solidFill>
                            <a:srgbClr val="000000"/>
                          </a:solidFill>
                          <a:latin typeface="Calibri"/>
                        </a:rPr>
                        <a:t>Table 106: Global Market Value by Flavour and Dietary Formulation, US$ Mn, 2026–2036</a:t>
                      </a:r>
                      <a:endParaRPr sz="1050"/>
                    </a:p>
                  </a:txBody>
                  <a:tcPr marL="9525" marR="9525" marT="9525" marB="0" anchor="ctr"/>
                </a:tc>
              </a:tr>
              <a:tr h="169606">
                <a:tc>
                  <a:txBody>
                    <a:bodyPr wrap="square"/>
                    <a:lstStyle/>
                    <a:p>
                      <a:pPr algn="l"/>
                      <a:r>
                        <a:rPr sz="1050" b="0" i="0">
                          <a:solidFill>
                            <a:srgbClr val="000000"/>
                          </a:solidFill>
                          <a:latin typeface="Calibri"/>
                        </a:rPr>
                        <a:t>Table 107: Global Market Value by Flavour and Nutritional Positioning, US$ Mn, 2026–2036</a:t>
                      </a:r>
                      <a:endParaRPr sz="1050"/>
                    </a:p>
                  </a:txBody>
                  <a:tcPr marL="9525" marR="9525" marT="9525" marB="0" anchor="ctr"/>
                </a:tc>
              </a:tr>
              <a:tr h="169606">
                <a:tc>
                  <a:txBody>
                    <a:bodyPr wrap="square"/>
                    <a:lstStyle/>
                    <a:p>
                      <a:pPr algn="l"/>
                      <a:r>
                        <a:rPr sz="1050" b="0" i="0">
                          <a:solidFill>
                            <a:srgbClr val="000000"/>
                          </a:solidFill>
                          <a:latin typeface="Calibri"/>
                        </a:rPr>
                        <a:t>Table 108: Global Market Value by Flavour and Recipe and Ingredient Claims, US$ Mn, 2026–2036</a:t>
                      </a:r>
                      <a:endParaRPr sz="1050"/>
                    </a:p>
                  </a:txBody>
                  <a:tcPr marL="9525" marR="9525" marT="9525" marB="0" anchor="ctr"/>
                </a:tc>
              </a:tr>
              <a:tr h="169606">
                <a:tc>
                  <a:txBody>
                    <a:bodyPr wrap="square"/>
                    <a:lstStyle/>
                    <a:p>
                      <a:pPr algn="l"/>
                      <a:r>
                        <a:rPr sz="1050" b="0" i="0">
                          <a:solidFill>
                            <a:srgbClr val="000000"/>
                          </a:solidFill>
                          <a:latin typeface="Calibri"/>
                        </a:rPr>
                        <a:t>Table 109: Global Market Value by Flavour and Product Structure, US$ Mn, 2026–2036</a:t>
                      </a:r>
                      <a:endParaRPr sz="1050"/>
                    </a:p>
                  </a:txBody>
                  <a:tcPr marL="9525" marR="9525" marT="9525" marB="0" anchor="ctr"/>
                </a:tc>
              </a:tr>
              <a:tr h="169606">
                <a:tc>
                  <a:txBody>
                    <a:bodyPr wrap="square"/>
                    <a:lstStyle/>
                    <a:p>
                      <a:pPr algn="l"/>
                      <a:r>
                        <a:rPr sz="1050" b="0" i="0">
                          <a:solidFill>
                            <a:srgbClr val="000000"/>
                          </a:solidFill>
                          <a:latin typeface="Calibri"/>
                        </a:rPr>
                        <a:t>Table 110: Global Market Value by Flavour and Surface Finish, US$ Mn, 2026–2036</a:t>
                      </a:r>
                      <a:endParaRPr sz="1050"/>
                    </a:p>
                  </a:txBody>
                  <a:tcPr marL="9525" marR="9525" marT="9525" marB="0" anchor="ctr"/>
                </a:tc>
              </a:tr>
              <a:tr h="169606">
                <a:tc>
                  <a:txBody>
                    <a:bodyPr wrap="square"/>
                    <a:lstStyle/>
                    <a:p>
                      <a:pPr algn="l"/>
                      <a:r>
                        <a:rPr sz="1050" b="0" i="0">
                          <a:solidFill>
                            <a:srgbClr val="000000"/>
                          </a:solidFill>
                          <a:latin typeface="Calibri"/>
                        </a:rPr>
                        <a:t>Table 111: Global Market Value by Flavour and Individual Muffin Size, US$ Mn, 2026–2036</a:t>
                      </a:r>
                      <a:endParaRPr sz="1050"/>
                    </a:p>
                  </a:txBody>
                  <a:tcPr marL="9525" marR="9525" marT="9525" marB="0" anchor="ctr"/>
                </a:tc>
              </a:tr>
              <a:tr h="169606">
                <a:tc>
                  <a:txBody>
                    <a:bodyPr wrap="square"/>
                    <a:lstStyle/>
                    <a:p>
                      <a:pPr algn="l"/>
                      <a:r>
                        <a:rPr sz="1050" b="0" i="0">
                          <a:solidFill>
                            <a:srgbClr val="000000"/>
                          </a:solidFill>
                          <a:latin typeface="Calibri"/>
                        </a:rPr>
                        <a:t>Table 112: Global Market Value by Flavour and Storage Format, US$ Mn, 2026–2036</a:t>
                      </a:r>
                      <a:endParaRPr sz="1050"/>
                    </a:p>
                  </a:txBody>
                  <a:tcPr marL="9525" marR="9525" marT="9525" marB="0" anchor="ctr"/>
                </a:tc>
              </a:tr>
              <a:tr h="169606">
                <a:tc>
                  <a:txBody>
                    <a:bodyPr wrap="square"/>
                    <a:lstStyle/>
                    <a:p>
                      <a:pPr algn="l"/>
                      <a:r>
                        <a:rPr sz="1050" b="0" i="0">
                          <a:solidFill>
                            <a:srgbClr val="000000"/>
                          </a:solidFill>
                          <a:latin typeface="Calibri"/>
                        </a:rPr>
                        <a:t>Table 113: Global Market Value by Flavour and Shelf Life,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114: Global Market Value by Region, US$ Mn, 2021–2036</a:t>
                      </a:r>
                      <a:endParaRPr sz="1050"/>
                    </a:p>
                  </a:txBody>
                  <a:tcPr marL="9525" marR="9525" marT="9525" marB="0" anchor="ctr"/>
                </a:tc>
              </a:tr>
              <a:tr h="170266">
                <a:tc>
                  <a:txBody>
                    <a:bodyPr wrap="square"/>
                    <a:lstStyle/>
                    <a:p>
                      <a:pPr algn="l"/>
                      <a:r>
                        <a:rPr sz="1050" b="0" i="0">
                          <a:solidFill>
                            <a:srgbClr val="000000"/>
                          </a:solidFill>
                          <a:latin typeface="Calibri"/>
                        </a:rPr>
                        <a:t>Table 115: Global Market CAGR and Absolute $ Opportunity by Region, %, US$ Mn, 2026–2036</a:t>
                      </a:r>
                      <a:endParaRPr sz="1050"/>
                    </a:p>
                  </a:txBody>
                  <a:tcPr marL="9525" marR="9525" marT="9525" marB="0" anchor="ctr"/>
                </a:tc>
              </a:tr>
              <a:tr h="170266">
                <a:tc>
                  <a:txBody>
                    <a:bodyPr wrap="square"/>
                    <a:lstStyle/>
                    <a:p>
                      <a:pPr algn="l"/>
                      <a:r>
                        <a:rPr sz="1050" b="0" i="0">
                          <a:solidFill>
                            <a:srgbClr val="000000"/>
                          </a:solidFill>
                          <a:latin typeface="Calibri"/>
                        </a:rPr>
                        <a:t>Table 116: Global Market Share and BPS Change by Region, %, 2026 and 2036</a:t>
                      </a:r>
                      <a:endParaRPr sz="1050"/>
                    </a:p>
                  </a:txBody>
                  <a:tcPr marL="9525" marR="9525" marT="9525" marB="0" anchor="ctr"/>
                </a:tc>
              </a:tr>
              <a:tr h="170266">
                <a:tc>
                  <a:txBody>
                    <a:bodyPr wrap="square"/>
                    <a:lstStyle/>
                    <a:p>
                      <a:pPr algn="l"/>
                      <a:r>
                        <a:rPr sz="1050" b="0" i="0">
                          <a:solidFill>
                            <a:srgbClr val="000000"/>
                          </a:solidFill>
                          <a:latin typeface="Calibri"/>
                        </a:rPr>
                        <a:t>Table 117: Global Market Volume by Region, MT, 2021–2036</a:t>
                      </a:r>
                      <a:endParaRPr sz="1050"/>
                    </a:p>
                  </a:txBody>
                  <a:tcPr marL="9525" marR="9525" marT="9525" marB="0" anchor="ctr"/>
                </a:tc>
              </a:tr>
              <a:tr h="170266">
                <a:tc>
                  <a:txBody>
                    <a:bodyPr wrap="square"/>
                    <a:lstStyle/>
                    <a:p>
                      <a:pPr algn="l"/>
                      <a:r>
                        <a:rPr sz="1050" b="0" i="0">
                          <a:solidFill>
                            <a:srgbClr val="000000"/>
                          </a:solidFill>
                          <a:latin typeface="Calibri"/>
                        </a:rPr>
                        <a:t>Table 118: North America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119: Latin America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120: Europe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121: East Asia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122: South Asia &amp; Pacific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123: Middle East &amp; Africa Market Value by Country, US$ Mn, 2021–2036</a:t>
                      </a:r>
                      <a:endParaRPr sz="1050"/>
                    </a:p>
                  </a:txBody>
                  <a:tcPr marL="9525" marR="9525" marT="9525" marB="0" anchor="ctr"/>
                </a:tc>
              </a:tr>
              <a:tr h="333720">
                <a:tc>
                  <a:txBody>
                    <a:bodyPr wrap="square"/>
                    <a:lstStyle/>
                    <a:p>
                      <a:pPr algn="l"/>
                      <a:r>
                        <a:rPr sz="1050" b="0" i="0">
                          <a:solidFill>
                            <a:srgbClr val="000000"/>
                          </a:solidFill>
                          <a:latin typeface="Calibri"/>
                        </a:rPr>
                        <a:t>Table 124: North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125: Latin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126: Europe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127: East Asia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128: South Asia &amp; Pacific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129: Middle East &amp; Africa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130: North America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131: Latin America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132: Europe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133: East Asia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134: South Asia &amp; Pacific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135: Middle East &amp; Africa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136: U.S.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137: U.S.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138: U.S. Market Value by Sales Channel, US$ Mn, 2021–2036</a:t>
                      </a:r>
                      <a:endParaRPr sz="1050"/>
                    </a:p>
                  </a:txBody>
                  <a:tcPr marL="9525" marR="9525" marT="9525" marB="0" anchor="ctr"/>
                </a:tc>
              </a:tr>
              <a:tr h="170266">
                <a:tc>
                  <a:txBody>
                    <a:bodyPr wrap="square"/>
                    <a:lstStyle/>
                    <a:p>
                      <a:pPr algn="l"/>
                      <a:r>
                        <a:rPr sz="1050" b="0" i="0">
                          <a:solidFill>
                            <a:srgbClr val="000000"/>
                          </a:solidFill>
                          <a:latin typeface="Calibri"/>
                        </a:rPr>
                        <a:t>Table 139: U.S. Market Share within North America, %, 2025, 2026 and 2036</a:t>
                      </a:r>
                      <a:endParaRPr sz="1050"/>
                    </a:p>
                  </a:txBody>
                  <a:tcPr marL="9525" marR="9525" marT="9525" marB="0" anchor="ctr"/>
                </a:tc>
              </a:tr>
              <a:tr h="170266">
                <a:tc>
                  <a:txBody>
                    <a:bodyPr wrap="square"/>
                    <a:lstStyle/>
                    <a:p>
                      <a:pPr algn="l"/>
                      <a:r>
                        <a:rPr sz="1050" b="0" i="0">
                          <a:solidFill>
                            <a:srgbClr val="000000"/>
                          </a:solidFill>
                          <a:latin typeface="Calibri"/>
                        </a:rPr>
                        <a:t>Table 140: U.S. Market Value by Flavour, US$ Mn, 2021–2036</a:t>
                      </a:r>
                      <a:endParaRPr sz="1050"/>
                    </a:p>
                  </a:txBody>
                  <a:tcPr marL="9525" marR="9525" marT="9525" marB="0" anchor="ctr"/>
                </a:tc>
              </a:tr>
              <a:tr h="170266">
                <a:tc>
                  <a:txBody>
                    <a:bodyPr wrap="square"/>
                    <a:lstStyle/>
                    <a:p>
                      <a:pPr algn="l"/>
                      <a:r>
                        <a:rPr sz="1050" b="0" i="0">
                          <a:solidFill>
                            <a:srgbClr val="000000"/>
                          </a:solidFill>
                          <a:latin typeface="Calibri"/>
                        </a:rPr>
                        <a:t>Table 141: U.S. Market Value by Primary Flour Base,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142: U.S.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143: U.S.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Table 144: Germany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145: Germany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146: Germany Market Value by Sales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147: Germany Market Share within Europe, %, 2025, 2026 and 2036</a:t>
                      </a:r>
                      <a:endParaRPr sz="1050"/>
                    </a:p>
                  </a:txBody>
                  <a:tcPr marL="9525" marR="9525" marT="9525" marB="0" anchor="ctr"/>
                </a:tc>
              </a:tr>
              <a:tr h="169606">
                <a:tc>
                  <a:txBody>
                    <a:bodyPr wrap="square"/>
                    <a:lstStyle/>
                    <a:p>
                      <a:pPr algn="l"/>
                      <a:r>
                        <a:rPr sz="1050" b="0" i="0">
                          <a:solidFill>
                            <a:srgbClr val="000000"/>
                          </a:solidFill>
                          <a:latin typeface="Calibri"/>
                        </a:rPr>
                        <a:t>Table 148: Germany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Table 149: Germany Market Value by Primary Flour Base, US$ Mn, 2021–2036</a:t>
                      </a:r>
                      <a:endParaRPr sz="1050"/>
                    </a:p>
                  </a:txBody>
                  <a:tcPr marL="9525" marR="9525" marT="9525" marB="0" anchor="ctr"/>
                </a:tc>
              </a:tr>
              <a:tr h="169606">
                <a:tc>
                  <a:txBody>
                    <a:bodyPr wrap="square"/>
                    <a:lstStyle/>
                    <a:p>
                      <a:pPr algn="l"/>
                      <a:r>
                        <a:rPr sz="1050" b="0" i="0">
                          <a:solidFill>
                            <a:srgbClr val="000000"/>
                          </a:solidFill>
                          <a:latin typeface="Calibri"/>
                        </a:rPr>
                        <a:t>Table 150: Germany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151: Germany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Table 152: Canada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153: Canada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154: Canada Market Value by Sales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155: Canada Market Share within North America,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156: Canada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Table 157: Canada Market Value by Primary Flour Base, US$ Mn, 2021–2036</a:t>
                      </a:r>
                      <a:endParaRPr sz="1050"/>
                    </a:p>
                  </a:txBody>
                  <a:tcPr marL="9525" marR="9525" marT="9525" marB="0" anchor="ctr"/>
                </a:tc>
              </a:tr>
              <a:tr h="169606">
                <a:tc>
                  <a:txBody>
                    <a:bodyPr wrap="square"/>
                    <a:lstStyle/>
                    <a:p>
                      <a:pPr algn="l"/>
                      <a:r>
                        <a:rPr sz="1050" b="0" i="0">
                          <a:solidFill>
                            <a:srgbClr val="000000"/>
                          </a:solidFill>
                          <a:latin typeface="Calibri"/>
                        </a:rPr>
                        <a:t>Table 158: Canada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159: Canada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Table 160: China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161: China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162: India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163: India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164: Brazil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165: Brazil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166: Market Product Price Comparison by Company and Product Type, US$/MT, 2026</a:t>
                      </a:r>
                      <a:endParaRPr sz="1050"/>
                    </a:p>
                  </a:txBody>
                  <a:tcPr marL="9525" marR="9525" marT="9525" marB="0" anchor="ctr"/>
                </a:tc>
              </a:tr>
              <a:tr h="169606">
                <a:tc>
                  <a:txBody>
                    <a:bodyPr wrap="square"/>
                    <a:lstStyle/>
                    <a:p>
                      <a:pPr algn="l"/>
                      <a:r>
                        <a:rPr sz="1050" b="0" i="0">
                          <a:solidFill>
                            <a:srgbClr val="000000"/>
                          </a:solidFill>
                          <a:latin typeface="Calibri"/>
                        </a:rPr>
                        <a:t>Table 167: Global Market Average Selling Price by Region, US$/MT, 2021–2036</a:t>
                      </a:r>
                      <a:endParaRPr sz="1050"/>
                    </a:p>
                  </a:txBody>
                  <a:tcPr marL="9525" marR="9525" marT="9525" marB="0" anchor="ctr"/>
                </a:tc>
              </a:tr>
              <a:tr h="169606">
                <a:tc>
                  <a:txBody>
                    <a:bodyPr wrap="square"/>
                    <a:lstStyle/>
                    <a:p>
                      <a:pPr algn="l"/>
                      <a:r>
                        <a:rPr sz="1050" b="0" i="0">
                          <a:solidFill>
                            <a:srgbClr val="000000"/>
                          </a:solidFill>
                          <a:latin typeface="Calibri"/>
                        </a:rPr>
                        <a:t>Table 168: Global Market Average Selling Price by Product Type, US$/MT, 2021–2036</a:t>
                      </a:r>
                      <a:endParaRPr sz="1050"/>
                    </a:p>
                  </a:txBody>
                  <a:tcPr marL="9525" marR="9525" marT="9525" marB="0" anchor="ctr"/>
                </a:tc>
              </a:tr>
              <a:tr h="169606">
                <a:tc>
                  <a:txBody>
                    <a:bodyPr wrap="square"/>
                    <a:lstStyle/>
                    <a:p>
                      <a:pPr algn="l"/>
                      <a:r>
                        <a:rPr sz="1050" b="0" i="0">
                          <a:solidFill>
                            <a:srgbClr val="000000"/>
                          </a:solidFill>
                          <a:latin typeface="Calibri"/>
                        </a:rPr>
                        <a:t>Table 169: Global Market Average Selling Price by Flavour, US$/MT, 2021–2036</a:t>
                      </a:r>
                      <a:endParaRPr sz="1050"/>
                    </a:p>
                  </a:txBody>
                  <a:tcPr marL="9525" marR="9525" marT="9525" marB="0" anchor="ctr"/>
                </a:tc>
              </a:tr>
              <a:tr h="169606">
                <a:tc>
                  <a:txBody>
                    <a:bodyPr wrap="square"/>
                    <a:lstStyle/>
                    <a:p>
                      <a:pPr algn="l"/>
                      <a:r>
                        <a:rPr sz="1050" b="0" i="0">
                          <a:solidFill>
                            <a:srgbClr val="000000"/>
                          </a:solidFill>
                          <a:latin typeface="Calibri"/>
                        </a:rPr>
                        <a:t>Table 170: Global Market Average Selling Price by Primary Flour Base, US$/MT, 2021–2036</a:t>
                      </a:r>
                      <a:endParaRPr sz="1050"/>
                    </a:p>
                  </a:txBody>
                  <a:tcPr marL="9525" marR="9525" marT="9525" marB="0" anchor="ctr"/>
                </a:tc>
              </a:tr>
              <a:tr h="169606">
                <a:tc>
                  <a:txBody>
                    <a:bodyPr wrap="square"/>
                    <a:lstStyle/>
                    <a:p>
                      <a:pPr algn="l"/>
                      <a:r>
                        <a:rPr sz="1050" b="0" i="0">
                          <a:solidFill>
                            <a:srgbClr val="000000"/>
                          </a:solidFill>
                          <a:latin typeface="Calibri"/>
                        </a:rPr>
                        <a:t>Table 171: Global Market Average Selling Price by Dietary Formulation, US$/MT, 2021–2036</a:t>
                      </a:r>
                      <a:endParaRPr sz="1050"/>
                    </a:p>
                  </a:txBody>
                  <a:tcPr marL="9525" marR="9525" marT="9525" marB="0" anchor="ctr"/>
                </a:tc>
              </a:tr>
              <a:tr h="169606">
                <a:tc>
                  <a:txBody>
                    <a:bodyPr wrap="square"/>
                    <a:lstStyle/>
                    <a:p>
                      <a:pPr algn="l"/>
                      <a:r>
                        <a:rPr sz="1050" b="0" i="0">
                          <a:solidFill>
                            <a:srgbClr val="000000"/>
                          </a:solidFill>
                          <a:latin typeface="Calibri"/>
                        </a:rPr>
                        <a:t>Table 172: Global Market Average Selling Price by Nutritional Positioning, US$/MT,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4667264"/>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173: Global Market Average Selling Price by Recipe and Ingredient Claims, US$/MT, 2021–2036</a:t>
                      </a:r>
                      <a:endParaRPr sz="1050"/>
                    </a:p>
                  </a:txBody>
                  <a:tcPr marL="9525" marR="9525" marT="9525" marB="0" anchor="ctr"/>
                </a:tc>
              </a:tr>
              <a:tr h="166688">
                <a:tc>
                  <a:txBody>
                    <a:bodyPr wrap="square"/>
                    <a:lstStyle/>
                    <a:p>
                      <a:pPr algn="l"/>
                      <a:r>
                        <a:rPr sz="1050" b="0" i="0">
                          <a:solidFill>
                            <a:srgbClr val="000000"/>
                          </a:solidFill>
                          <a:latin typeface="Calibri"/>
                        </a:rPr>
                        <a:t>Table 174: Global Market Average Selling Price by Product Structure, US$/MT, 2021–2036</a:t>
                      </a:r>
                      <a:endParaRPr sz="1050"/>
                    </a:p>
                  </a:txBody>
                  <a:tcPr marL="9525" marR="9525" marT="9525" marB="0" anchor="ctr"/>
                </a:tc>
              </a:tr>
              <a:tr h="166688">
                <a:tc>
                  <a:txBody>
                    <a:bodyPr wrap="square"/>
                    <a:lstStyle/>
                    <a:p>
                      <a:pPr algn="l"/>
                      <a:r>
                        <a:rPr sz="1050" b="0" i="0">
                          <a:solidFill>
                            <a:srgbClr val="000000"/>
                          </a:solidFill>
                          <a:latin typeface="Calibri"/>
                        </a:rPr>
                        <a:t>Table 175: Global Market Average Selling Price by Surface Finish, US$/MT, 2021–2036</a:t>
                      </a:r>
                      <a:endParaRPr sz="1050"/>
                    </a:p>
                  </a:txBody>
                  <a:tcPr marL="9525" marR="9525" marT="9525" marB="0" anchor="ctr"/>
                </a:tc>
              </a:tr>
              <a:tr h="166688">
                <a:tc>
                  <a:txBody>
                    <a:bodyPr wrap="square"/>
                    <a:lstStyle/>
                    <a:p>
                      <a:pPr algn="l"/>
                      <a:r>
                        <a:rPr sz="1050" b="0" i="0">
                          <a:solidFill>
                            <a:srgbClr val="000000"/>
                          </a:solidFill>
                          <a:latin typeface="Calibri"/>
                        </a:rPr>
                        <a:t>Table 176: Global Market Average Selling Price by Individual Muffin Size, US$/MT, 2021–2036</a:t>
                      </a:r>
                      <a:endParaRPr sz="1050"/>
                    </a:p>
                  </a:txBody>
                  <a:tcPr marL="9525" marR="9525" marT="9525" marB="0" anchor="ctr"/>
                </a:tc>
              </a:tr>
              <a:tr h="166688">
                <a:tc>
                  <a:txBody>
                    <a:bodyPr wrap="square"/>
                    <a:lstStyle/>
                    <a:p>
                      <a:pPr algn="l"/>
                      <a:r>
                        <a:rPr sz="1050" b="0" i="0">
                          <a:solidFill>
                            <a:srgbClr val="000000"/>
                          </a:solidFill>
                          <a:latin typeface="Calibri"/>
                        </a:rPr>
                        <a:t>Table 177: Global Market Average Selling Price by Storage Format, US$/MT, 2021–2036</a:t>
                      </a:r>
                      <a:endParaRPr sz="1050"/>
                    </a:p>
                  </a:txBody>
                  <a:tcPr marL="9525" marR="9525" marT="9525" marB="0" anchor="ctr"/>
                </a:tc>
              </a:tr>
              <a:tr h="166688">
                <a:tc>
                  <a:txBody>
                    <a:bodyPr wrap="square"/>
                    <a:lstStyle/>
                    <a:p>
                      <a:pPr algn="l"/>
                      <a:r>
                        <a:rPr sz="1050" b="0" i="0">
                          <a:solidFill>
                            <a:srgbClr val="000000"/>
                          </a:solidFill>
                          <a:latin typeface="Calibri"/>
                        </a:rPr>
                        <a:t>Table 178: Global Market Average Selling Price by Shelf Life, US$/MT, 2021–2036</a:t>
                      </a:r>
                      <a:endParaRPr sz="1050"/>
                    </a:p>
                  </a:txBody>
                  <a:tcPr marL="9525" marR="9525" marT="9525" marB="0" anchor="ctr"/>
                </a:tc>
              </a:tr>
              <a:tr h="166688">
                <a:tc>
                  <a:txBody>
                    <a:bodyPr wrap="square"/>
                    <a:lstStyle/>
                    <a:p>
                      <a:pPr algn="l"/>
                      <a:r>
                        <a:rPr sz="1050" b="0" i="0">
                          <a:solidFill>
                            <a:srgbClr val="000000"/>
                          </a:solidFill>
                          <a:latin typeface="Calibri"/>
                        </a:rPr>
                        <a:t>Table 179: Global Market Average Selling Price by Packaging Format, US$/MT, 2021–2036</a:t>
                      </a:r>
                      <a:endParaRPr sz="1050"/>
                    </a:p>
                  </a:txBody>
                  <a:tcPr marL="9525" marR="9525" marT="9525" marB="0" anchor="ctr"/>
                </a:tc>
              </a:tr>
              <a:tr h="166688">
                <a:tc>
                  <a:txBody>
                    <a:bodyPr wrap="square"/>
                    <a:lstStyle/>
                    <a:p>
                      <a:pPr algn="l"/>
                      <a:r>
                        <a:rPr sz="1050" b="0" i="0">
                          <a:solidFill>
                            <a:srgbClr val="000000"/>
                          </a:solidFill>
                          <a:latin typeface="Calibri"/>
                        </a:rPr>
                        <a:t>Table 180: Leading Packaged Muffins Manufacturers: Product Portfolio and Geographic Presence, 2026</a:t>
                      </a:r>
                      <a:endParaRPr sz="1050"/>
                    </a:p>
                  </a:txBody>
                  <a:tcPr marL="9525" marR="9525" marT="9525" marB="0" anchor="ctr"/>
                </a:tc>
              </a:tr>
              <a:tr h="166688">
                <a:tc>
                  <a:txBody>
                    <a:bodyPr wrap="square"/>
                    <a:lstStyle/>
                    <a:p>
                      <a:pPr algn="l"/>
                      <a:r>
                        <a:rPr sz="1050" b="0" i="0">
                          <a:solidFill>
                            <a:srgbClr val="000000"/>
                          </a:solidFill>
                          <a:latin typeface="Calibri"/>
                        </a:rPr>
                        <a:t>Table 181: Company Revenue from the Global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182: Company Market Share in the Global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183: Global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184: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185: Grupo Bimbo: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186: McKee Foods Corporation: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Hostess Brands: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Rich Products Corporation: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ARYZTA / Aspire Bakeries: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Europastry: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Bridor: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Lantmännen Unibake: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Flowers Foods: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Premier Foods: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195: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200: Global Market Customer Purchase Criteria by Product Type,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6668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1971675"/>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2676525"/>
            <a:ext cx="5067300" cy="59613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Flour Base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Dietary Formulation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Nutritional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Recipe and Ingredient Claims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Surface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Individual Muffin Size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Storage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Shelf Life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Packaging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 Configuration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Multipack Wrapping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Price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Brand Ownership</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Sales Channel</a:t>
            </a:r>
          </a:p>
        </p:txBody>
      </p:sp>
      <p:sp>
        <p:nvSpPr>
          <p:cNvPr id="8" name="TextBox 7"/>
          <p:cNvSpPr txBox="1"/>
          <p:nvPr/>
        </p:nvSpPr>
        <p:spPr>
          <a:xfrm>
            <a:off x="6096000" y="2676525"/>
            <a:ext cx="5067300" cy="159131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Packaging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Sales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Individual Muffin Size</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Summary, By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1384089" cy="194310"/>
          </a:xfrm>
          <a:prstGeom prst="rect">
            <a:avLst/>
          </a:prstGeom>
          <a:noFill/>
        </p:spPr>
        <p:txBody>
          <a:bodyPr wrap="none" lIns="0" rIns="0" tIns="0" bIns="0">
            <a:spAutoFit/>
          </a:bodyPr>
          <a:lstStyle/>
          <a:p>
            <a:r>
              <a:rPr sz="1150" b="0">
                <a:solidFill>
                  <a:srgbClr val="2E2E2E"/>
                </a:solidFill>
                <a:latin typeface="Calibri"/>
              </a:rPr>
              <a:t>▪ The market grows at</a:t>
            </a:r>
          </a:p>
        </p:txBody>
      </p:sp>
      <p:pic>
        <p:nvPicPr>
          <p:cNvPr id="36" name="Picture 35" descr="lock.png"/>
          <p:cNvPicPr>
            <a:picLocks noChangeAspect="1"/>
          </p:cNvPicPr>
          <p:nvPr/>
        </p:nvPicPr>
        <p:blipFill>
          <a:blip r:embed="rId6"/>
          <a:stretch>
            <a:fillRect/>
          </a:stretch>
        </p:blipFill>
        <p:spPr>
          <a:xfrm>
            <a:off x="9381868" y="2036763"/>
            <a:ext cx="134549" cy="195707"/>
          </a:xfrm>
          <a:prstGeom prst="rect">
            <a:avLst/>
          </a:prstGeom>
        </p:spPr>
      </p:pic>
      <p:sp>
        <p:nvSpPr>
          <p:cNvPr id="37" name="TextBox 36"/>
          <p:cNvSpPr txBox="1"/>
          <p:nvPr/>
        </p:nvSpPr>
        <p:spPr>
          <a:xfrm>
            <a:off x="9556977" y="2046987"/>
            <a:ext cx="2148266" cy="194310"/>
          </a:xfrm>
          <a:prstGeom prst="rect">
            <a:avLst/>
          </a:prstGeom>
          <a:noFill/>
        </p:spPr>
        <p:txBody>
          <a:bodyPr wrap="none" lIns="0" rIns="0" tIns="0" bIns="0">
            <a:spAutoFit/>
          </a:bodyPr>
          <a:lstStyle/>
          <a:p>
            <a:r>
              <a:rPr sz="1150" b="0">
                <a:solidFill>
                  <a:srgbClr val="2E2E2E"/>
                </a:solidFill>
                <a:latin typeface="Calibri"/>
              </a:rPr>
              <a:t>CAGR (2021–2026), accelerating to</a:t>
            </a:r>
          </a:p>
        </p:txBody>
      </p:sp>
      <p:pic>
        <p:nvPicPr>
          <p:cNvPr id="38" name="Picture 37" descr="lock.png"/>
          <p:cNvPicPr>
            <a:picLocks noChangeAspect="1"/>
          </p:cNvPicPr>
          <p:nvPr/>
        </p:nvPicPr>
        <p:blipFill>
          <a:blip r:embed="rId6"/>
          <a:stretch>
            <a:fillRect/>
          </a:stretch>
        </p:blipFill>
        <p:spPr>
          <a:xfrm>
            <a:off x="8034545" y="2212023"/>
            <a:ext cx="134549" cy="195707"/>
          </a:xfrm>
          <a:prstGeom prst="rect">
            <a:avLst/>
          </a:prstGeom>
        </p:spPr>
      </p:pic>
      <p:sp>
        <p:nvSpPr>
          <p:cNvPr id="39" name="TextBox 38"/>
          <p:cNvSpPr txBox="1"/>
          <p:nvPr/>
        </p:nvSpPr>
        <p:spPr>
          <a:xfrm>
            <a:off x="8209654" y="2222247"/>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40" name="TextBox 39"/>
          <p:cNvSpPr txBox="1"/>
          <p:nvPr/>
        </p:nvSpPr>
        <p:spPr>
          <a:xfrm>
            <a:off x="8048625" y="2450085"/>
            <a:ext cx="1509315" cy="194310"/>
          </a:xfrm>
          <a:prstGeom prst="rect">
            <a:avLst/>
          </a:prstGeom>
          <a:noFill/>
        </p:spPr>
        <p:txBody>
          <a:bodyPr wrap="none" lIns="0" rIns="0" tIns="0" bIns="0">
            <a:spAutoFit/>
          </a:bodyPr>
          <a:lstStyle/>
          <a:p>
            <a:r>
              <a:rPr sz="1150" b="0">
                <a:solidFill>
                  <a:srgbClr val="2E2E2E"/>
                </a:solidFill>
                <a:latin typeface="Calibri"/>
              </a:rPr>
              <a:t>▪ Incremental volume of</a:t>
            </a:r>
          </a:p>
        </p:txBody>
      </p:sp>
      <p:pic>
        <p:nvPicPr>
          <p:cNvPr id="41" name="Picture 40" descr="lock.png"/>
          <p:cNvPicPr>
            <a:picLocks noChangeAspect="1"/>
          </p:cNvPicPr>
          <p:nvPr/>
        </p:nvPicPr>
        <p:blipFill>
          <a:blip r:embed="rId6"/>
          <a:stretch>
            <a:fillRect/>
          </a:stretch>
        </p:blipFill>
        <p:spPr>
          <a:xfrm>
            <a:off x="9507094" y="2439861"/>
            <a:ext cx="134549" cy="195707"/>
          </a:xfrm>
          <a:prstGeom prst="rect">
            <a:avLst/>
          </a:prstGeom>
        </p:spPr>
      </p:pic>
      <p:sp>
        <p:nvSpPr>
          <p:cNvPr id="42" name="TextBox 41"/>
          <p:cNvSpPr txBox="1"/>
          <p:nvPr/>
        </p:nvSpPr>
        <p:spPr>
          <a:xfrm>
            <a:off x="9682203" y="2450085"/>
            <a:ext cx="1946609" cy="194310"/>
          </a:xfrm>
          <a:prstGeom prst="rect">
            <a:avLst/>
          </a:prstGeom>
          <a:noFill/>
        </p:spPr>
        <p:txBody>
          <a:bodyPr wrap="none" lIns="0" rIns="0" tIns="0" bIns="0">
            <a:spAutoFit/>
          </a:bodyPr>
          <a:lstStyle/>
          <a:p>
            <a:r>
              <a:rPr sz="1150" b="0">
                <a:solidFill>
                  <a:srgbClr val="2E2E2E"/>
                </a:solidFill>
                <a:latin typeface="Calibri"/>
              </a:rPr>
              <a:t>MT is added between 2021 and</a:t>
            </a:r>
          </a:p>
        </p:txBody>
      </p:sp>
      <p:sp>
        <p:nvSpPr>
          <p:cNvPr id="43" name="TextBox 42"/>
          <p:cNvSpPr txBox="1"/>
          <p:nvPr/>
        </p:nvSpPr>
        <p:spPr>
          <a:xfrm>
            <a:off x="8048625" y="2625345"/>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4" name="TextBox 43"/>
          <p:cNvSpPr txBox="1"/>
          <p:nvPr/>
        </p:nvSpPr>
        <p:spPr>
          <a:xfrm>
            <a:off x="8048625" y="2853182"/>
            <a:ext cx="700335" cy="194310"/>
          </a:xfrm>
          <a:prstGeom prst="rect">
            <a:avLst/>
          </a:prstGeom>
          <a:noFill/>
        </p:spPr>
        <p:txBody>
          <a:bodyPr wrap="none" lIns="0" rIns="0" tIns="0" bIns="0">
            <a:spAutoFit/>
          </a:bodyPr>
          <a:lstStyle/>
          <a:p>
            <a:r>
              <a:rPr sz="1150" b="0">
                <a:solidFill>
                  <a:srgbClr val="2E2E2E"/>
                </a:solidFill>
                <a:latin typeface="Calibri"/>
              </a:rPr>
              <a:t>▪ A further</a:t>
            </a:r>
          </a:p>
        </p:txBody>
      </p:sp>
      <p:pic>
        <p:nvPicPr>
          <p:cNvPr id="45" name="Picture 44" descr="lock.png"/>
          <p:cNvPicPr>
            <a:picLocks noChangeAspect="1"/>
          </p:cNvPicPr>
          <p:nvPr/>
        </p:nvPicPr>
        <p:blipFill>
          <a:blip r:embed="rId6"/>
          <a:stretch>
            <a:fillRect/>
          </a:stretch>
        </p:blipFill>
        <p:spPr>
          <a:xfrm>
            <a:off x="8698114" y="2842959"/>
            <a:ext cx="134549" cy="195707"/>
          </a:xfrm>
          <a:prstGeom prst="rect">
            <a:avLst/>
          </a:prstGeom>
        </p:spPr>
      </p:pic>
      <p:sp>
        <p:nvSpPr>
          <p:cNvPr id="46" name="TextBox 45"/>
          <p:cNvSpPr txBox="1"/>
          <p:nvPr/>
        </p:nvSpPr>
        <p:spPr>
          <a:xfrm>
            <a:off x="8873223" y="2853182"/>
            <a:ext cx="2933017" cy="194310"/>
          </a:xfrm>
          <a:prstGeom prst="rect">
            <a:avLst/>
          </a:prstGeom>
          <a:noFill/>
        </p:spPr>
        <p:txBody>
          <a:bodyPr wrap="none" lIns="0" rIns="0" tIns="0" bIns="0">
            <a:spAutoFit/>
          </a:bodyPr>
          <a:lstStyle/>
          <a:p>
            <a:r>
              <a:rPr sz="1150" b="0">
                <a:solidFill>
                  <a:srgbClr val="2E2E2E"/>
                </a:solidFill>
                <a:latin typeface="Calibri"/>
              </a:rPr>
              <a:t>MT is added 2026–2036 more than the previous</a:t>
            </a:r>
          </a:p>
        </p:txBody>
      </p:sp>
      <p:sp>
        <p:nvSpPr>
          <p:cNvPr id="47" name="TextBox 46"/>
          <p:cNvSpPr txBox="1"/>
          <p:nvPr/>
        </p:nvSpPr>
        <p:spPr>
          <a:xfrm>
            <a:off x="8048625" y="3028442"/>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48" name="TextBox 47"/>
          <p:cNvSpPr txBox="1"/>
          <p:nvPr/>
        </p:nvSpPr>
        <p:spPr>
          <a:xfrm>
            <a:off x="8048625" y="3256280"/>
            <a:ext cx="1724682" cy="194310"/>
          </a:xfrm>
          <a:prstGeom prst="rect">
            <a:avLst/>
          </a:prstGeom>
          <a:noFill/>
        </p:spPr>
        <p:txBody>
          <a:bodyPr wrap="none" lIns="0" rIns="0" tIns="0" bIns="0">
            <a:spAutoFit/>
          </a:bodyPr>
          <a:lstStyle/>
          <a:p>
            <a:r>
              <a:rPr sz="1150" b="0">
                <a:solidFill>
                  <a:srgbClr val="2E2E2E"/>
                </a:solidFill>
                <a:latin typeface="Calibri"/>
              </a:rPr>
              <a:t>▪ Total incremental volume:</a:t>
            </a:r>
          </a:p>
        </p:txBody>
      </p:sp>
      <p:pic>
        <p:nvPicPr>
          <p:cNvPr id="49" name="Picture 48" descr="lock.png"/>
          <p:cNvPicPr>
            <a:picLocks noChangeAspect="1"/>
          </p:cNvPicPr>
          <p:nvPr/>
        </p:nvPicPr>
        <p:blipFill>
          <a:blip r:embed="rId6"/>
          <a:stretch>
            <a:fillRect/>
          </a:stretch>
        </p:blipFill>
        <p:spPr>
          <a:xfrm>
            <a:off x="9722461" y="3246057"/>
            <a:ext cx="134549" cy="195707"/>
          </a:xfrm>
          <a:prstGeom prst="rect">
            <a:avLst/>
          </a:prstGeom>
        </p:spPr>
      </p:pic>
      <p:sp>
        <p:nvSpPr>
          <p:cNvPr id="50" name="TextBox 49"/>
          <p:cNvSpPr txBox="1"/>
          <p:nvPr/>
        </p:nvSpPr>
        <p:spPr>
          <a:xfrm>
            <a:off x="9897570" y="3256280"/>
            <a:ext cx="1410903" cy="194310"/>
          </a:xfrm>
          <a:prstGeom prst="rect">
            <a:avLst/>
          </a:prstGeom>
          <a:noFill/>
        </p:spPr>
        <p:txBody>
          <a:bodyPr wrap="none" lIns="0" rIns="0" tIns="0" bIns="0">
            <a:spAutoFit/>
          </a:bodyPr>
          <a:lstStyle/>
          <a:p>
            <a:r>
              <a:rPr sz="1150" b="0">
                <a:solidFill>
                  <a:srgbClr val="2E2E2E"/>
                </a:solidFill>
                <a:latin typeface="Calibri"/>
              </a:rPr>
              <a:t>MT over 2021–2036, a</a:t>
            </a:r>
          </a:p>
        </p:txBody>
      </p:sp>
      <p:pic>
        <p:nvPicPr>
          <p:cNvPr id="51" name="Picture 50" descr="lock.png"/>
          <p:cNvPicPr>
            <a:picLocks noChangeAspect="1"/>
          </p:cNvPicPr>
          <p:nvPr/>
        </p:nvPicPr>
        <p:blipFill>
          <a:blip r:embed="rId6"/>
          <a:stretch>
            <a:fillRect/>
          </a:stretch>
        </p:blipFill>
        <p:spPr>
          <a:xfrm>
            <a:off x="11257627" y="3246057"/>
            <a:ext cx="134549" cy="195707"/>
          </a:xfrm>
          <a:prstGeom prst="rect">
            <a:avLst/>
          </a:prstGeom>
        </p:spPr>
      </p:pic>
      <p:sp>
        <p:nvSpPr>
          <p:cNvPr id="52" name="TextBox 51"/>
          <p:cNvSpPr txBox="1"/>
          <p:nvPr/>
        </p:nvSpPr>
        <p:spPr>
          <a:xfrm>
            <a:off x="11432736" y="3256280"/>
            <a:ext cx="148939" cy="194310"/>
          </a:xfrm>
          <a:prstGeom prst="rect">
            <a:avLst/>
          </a:prstGeom>
          <a:noFill/>
        </p:spPr>
        <p:txBody>
          <a:bodyPr wrap="none" lIns="0" rIns="0" tIns="0" bIns="0">
            <a:spAutoFit/>
          </a:bodyPr>
          <a:lstStyle/>
          <a:p>
            <a:r>
              <a:rPr sz="1150" b="0">
                <a:solidFill>
                  <a:srgbClr val="2E2E2E"/>
                </a:solidFill>
                <a:latin typeface="Calibri"/>
              </a:rPr>
              <a:t>×</a:t>
            </a:r>
          </a:p>
        </p:txBody>
      </p:sp>
      <p:sp>
        <p:nvSpPr>
          <p:cNvPr id="53" name="TextBox 52"/>
          <p:cNvSpPr txBox="1"/>
          <p:nvPr/>
        </p:nvSpPr>
        <p:spPr>
          <a:xfrm>
            <a:off x="8048625" y="3431540"/>
            <a:ext cx="716880" cy="194310"/>
          </a:xfrm>
          <a:prstGeom prst="rect">
            <a:avLst/>
          </a:prstGeom>
          <a:noFill/>
        </p:spPr>
        <p:txBody>
          <a:bodyPr wrap="none" lIns="0" rIns="0" tIns="0" bIns="0">
            <a:spAutoFit/>
          </a:bodyPr>
          <a:lstStyle/>
          <a:p>
            <a:r>
              <a:rPr sz="1150" b="0">
                <a:solidFill>
                  <a:srgbClr val="2E2E2E"/>
                </a:solidFill>
                <a:latin typeface="Calibri"/>
              </a:rPr>
              <a:t>expansion.</a:t>
            </a:r>
          </a:p>
        </p:txBody>
      </p:sp>
      <p:sp>
        <p:nvSpPr>
          <p:cNvPr id="54" name="TextBox 53"/>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55" name="Picture 54" descr="lock.png"/>
          <p:cNvPicPr>
            <a:picLocks noChangeAspect="1"/>
          </p:cNvPicPr>
          <p:nvPr/>
        </p:nvPicPr>
        <p:blipFill>
          <a:blip r:embed="rId6"/>
          <a:stretch>
            <a:fillRect/>
          </a:stretch>
        </p:blipFill>
        <p:spPr>
          <a:xfrm>
            <a:off x="10866614" y="4446251"/>
            <a:ext cx="134549" cy="195707"/>
          </a:xfrm>
          <a:prstGeom prst="rect">
            <a:avLst/>
          </a:prstGeom>
        </p:spPr>
      </p:pic>
      <p:sp>
        <p:nvSpPr>
          <p:cNvPr id="56" name="TextBox 55"/>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8048625" y="4684312"/>
            <a:ext cx="3827859" cy="194310"/>
          </a:xfrm>
          <a:prstGeom prst="rect">
            <a:avLst/>
          </a:prstGeom>
          <a:noFill/>
        </p:spPr>
        <p:txBody>
          <a:bodyPr wrap="none" lIns="0" rIns="0" tIns="0" bIns="0">
            <a:spAutoFit/>
          </a:bodyPr>
          <a:lstStyle/>
          <a:p>
            <a:r>
              <a:rPr sz="1150" b="0">
                <a:solidFill>
                  <a:srgbClr val="2E2E2E"/>
                </a:solidFill>
                <a:latin typeface="Calibri"/>
              </a:rPr>
              <a:t>▪ Demand concentrates in 'Sweet muffins' within Product Type.</a:t>
            </a:r>
          </a:p>
        </p:txBody>
      </p:sp>
      <p:sp>
        <p:nvSpPr>
          <p:cNvPr id="58" name="TextBox 57"/>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9" name="TextBox 58"/>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7" name="Connector 26"/>
          <p:cNvCxnSpPr/>
          <p:nvPr/>
        </p:nvCxnSpPr>
        <p:spPr>
          <a:xfrm flipV="1">
            <a:off x="2409825" y="1670329"/>
            <a:ext cx="0" cy="56072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2278380" y="223105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22783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2190750" y="1816360"/>
            <a:ext cx="438150" cy="28024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2190750" y="195841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151792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5915025" y="2684514"/>
            <a:ext cx="0" cy="43503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7835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783580" y="268451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5695950" y="2797403"/>
            <a:ext cx="438150" cy="21745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5695950" y="290749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4162425" y="2532114"/>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9" name="TextBox 38"/>
          <p:cNvSpPr txBox="1"/>
          <p:nvPr/>
        </p:nvSpPr>
        <p:spPr>
          <a:xfrm>
            <a:off x="6572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Sweet muffins</a:t>
            </a:r>
          </a:p>
        </p:txBody>
      </p:sp>
      <p:sp>
        <p:nvSpPr>
          <p:cNvPr id="40" name="TextBox 39"/>
          <p:cNvSpPr txBox="1"/>
          <p:nvPr/>
        </p:nvSpPr>
        <p:spPr>
          <a:xfrm>
            <a:off x="41624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Savoury muffins</a:t>
            </a:r>
          </a:p>
        </p:txBody>
      </p:sp>
      <p:sp>
        <p:nvSpPr>
          <p:cNvPr id="41" name="Rounded Rectangle 40"/>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43" name="Connector 42"/>
          <p:cNvCxnSpPr/>
          <p:nvPr/>
        </p:nvCxnSpPr>
        <p:spPr>
          <a:xfrm>
            <a:off x="619125" y="43200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619125" y="472992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9125" y="554962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19125" y="595947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619125" y="4320076"/>
            <a:ext cx="0" cy="1639399"/>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90550" y="43200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590550" y="472992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590550" y="554962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590550" y="595947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54" name="FMI Scale tick"/>
          <p:cNvSpPr txBox="1"/>
          <p:nvPr/>
        </p:nvSpPr>
        <p:spPr>
          <a:xfrm>
            <a:off x="138112" y="425340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+8.6%</a:t>
            </a:r>
          </a:p>
        </p:txBody>
      </p:sp>
      <p:sp>
        <p:nvSpPr>
          <p:cNvPr id="55" name="FMI Scale tick"/>
          <p:cNvSpPr txBox="1"/>
          <p:nvPr/>
        </p:nvSpPr>
        <p:spPr>
          <a:xfrm>
            <a:off x="138112" y="466325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+4.3%</a:t>
            </a:r>
          </a:p>
        </p:txBody>
      </p:sp>
      <p:sp>
        <p:nvSpPr>
          <p:cNvPr id="56"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57" name="FMI Scale tick"/>
          <p:cNvSpPr txBox="1"/>
          <p:nvPr/>
        </p:nvSpPr>
        <p:spPr>
          <a:xfrm>
            <a:off x="164306" y="5482951"/>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-4.3%</a:t>
            </a:r>
          </a:p>
        </p:txBody>
      </p:sp>
      <p:sp>
        <p:nvSpPr>
          <p:cNvPr id="58" name="FMI Scale tick"/>
          <p:cNvSpPr txBox="1"/>
          <p:nvPr/>
        </p:nvSpPr>
        <p:spPr>
          <a:xfrm>
            <a:off x="164306" y="5892800"/>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-8.6%</a:t>
            </a:r>
          </a:p>
        </p:txBody>
      </p:sp>
      <p:cxnSp>
        <p:nvCxnSpPr>
          <p:cNvPr id="59" name="Connector 58"/>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977900" y="5139776"/>
            <a:ext cx="457200" cy="71631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MI Data Label"/>
          <p:cNvSpPr txBox="1"/>
          <p:nvPr/>
        </p:nvSpPr>
        <p:spPr>
          <a:xfrm>
            <a:off x="619125" y="586561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2" name="Rectangle 61"/>
          <p:cNvSpPr/>
          <p:nvPr/>
        </p:nvSpPr>
        <p:spPr>
          <a:xfrm>
            <a:off x="2152650" y="4906805"/>
            <a:ext cx="457200" cy="23297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MI Data Label"/>
          <p:cNvSpPr txBox="1"/>
          <p:nvPr/>
        </p:nvSpPr>
        <p:spPr>
          <a:xfrm>
            <a:off x="1793875" y="476393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4" name="Rectangle 63"/>
          <p:cNvSpPr/>
          <p:nvPr/>
        </p:nvSpPr>
        <p:spPr>
          <a:xfrm>
            <a:off x="3327400" y="4430421"/>
            <a:ext cx="457200" cy="70935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MI Data Label"/>
          <p:cNvSpPr txBox="1"/>
          <p:nvPr/>
        </p:nvSpPr>
        <p:spPr>
          <a:xfrm>
            <a:off x="2968625" y="4287546"/>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6" name="FMI Data Label"/>
          <p:cNvSpPr txBox="1"/>
          <p:nvPr/>
        </p:nvSpPr>
        <p:spPr>
          <a:xfrm>
            <a:off x="4143375" y="515669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7" name="Rectangle 66"/>
          <p:cNvSpPr/>
          <p:nvPr/>
        </p:nvSpPr>
        <p:spPr>
          <a:xfrm>
            <a:off x="5676900" y="4948103"/>
            <a:ext cx="457200" cy="19167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5318125" y="480522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9" name="Rectangle 68"/>
          <p:cNvSpPr/>
          <p:nvPr/>
        </p:nvSpPr>
        <p:spPr>
          <a:xfrm>
            <a:off x="6851650" y="4868773"/>
            <a:ext cx="457200" cy="27100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6492875" y="472589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1" name="TextBox 70"/>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72" name="TextBox 71"/>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73" name="TextBox 72"/>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74" name="TextBox 73"/>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75" name="TextBox 74"/>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76" name="TextBox 75"/>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77" name="Rounded Rectangle 76"/>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9" name="Rectangle 78"/>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81" name="TextBox 8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2" name="Picture 81" descr="lock.png"/>
          <p:cNvPicPr>
            <a:picLocks noChangeAspect="1"/>
          </p:cNvPicPr>
          <p:nvPr/>
        </p:nvPicPr>
        <p:blipFill>
          <a:blip r:embed="rId4"/>
          <a:stretch>
            <a:fillRect/>
          </a:stretch>
        </p:blipFill>
        <p:spPr>
          <a:xfrm>
            <a:off x="2345475" y="1491005"/>
            <a:ext cx="128699" cy="187198"/>
          </a:xfrm>
          <a:prstGeom prst="rect">
            <a:avLst/>
          </a:prstGeom>
        </p:spPr>
      </p:pic>
      <p:pic>
        <p:nvPicPr>
          <p:cNvPr id="83" name="Picture 82" descr="lock.png"/>
          <p:cNvPicPr>
            <a:picLocks noChangeAspect="1"/>
          </p:cNvPicPr>
          <p:nvPr/>
        </p:nvPicPr>
        <p:blipFill>
          <a:blip r:embed="rId4"/>
          <a:stretch>
            <a:fillRect/>
          </a:stretch>
        </p:blipFill>
        <p:spPr>
          <a:xfrm>
            <a:off x="5850675" y="2505190"/>
            <a:ext cx="128699" cy="187198"/>
          </a:xfrm>
          <a:prstGeom prst="rect">
            <a:avLst/>
          </a:prstGeom>
        </p:spPr>
      </p:pic>
      <p:pic>
        <p:nvPicPr>
          <p:cNvPr id="84" name="Picture 83" descr="lock.png"/>
          <p:cNvPicPr>
            <a:picLocks noChangeAspect="1"/>
          </p:cNvPicPr>
          <p:nvPr/>
        </p:nvPicPr>
        <p:blipFill>
          <a:blip r:embed="rId4"/>
          <a:stretch>
            <a:fillRect/>
          </a:stretch>
        </p:blipFill>
        <p:spPr>
          <a:xfrm>
            <a:off x="1142150" y="5838694"/>
            <a:ext cx="128699" cy="187198"/>
          </a:xfrm>
          <a:prstGeom prst="rect">
            <a:avLst/>
          </a:prstGeom>
        </p:spPr>
      </p:pic>
      <p:pic>
        <p:nvPicPr>
          <p:cNvPr id="85" name="Picture 84" descr="lock.png"/>
          <p:cNvPicPr>
            <a:picLocks noChangeAspect="1"/>
          </p:cNvPicPr>
          <p:nvPr/>
        </p:nvPicPr>
        <p:blipFill>
          <a:blip r:embed="rId4"/>
          <a:stretch>
            <a:fillRect/>
          </a:stretch>
        </p:blipFill>
        <p:spPr>
          <a:xfrm>
            <a:off x="2316900" y="4737006"/>
            <a:ext cx="128699" cy="187198"/>
          </a:xfrm>
          <a:prstGeom prst="rect">
            <a:avLst/>
          </a:prstGeom>
        </p:spPr>
      </p:pic>
      <p:pic>
        <p:nvPicPr>
          <p:cNvPr id="86" name="Picture 85" descr="lock.png"/>
          <p:cNvPicPr>
            <a:picLocks noChangeAspect="1"/>
          </p:cNvPicPr>
          <p:nvPr/>
        </p:nvPicPr>
        <p:blipFill>
          <a:blip r:embed="rId4"/>
          <a:stretch>
            <a:fillRect/>
          </a:stretch>
        </p:blipFill>
        <p:spPr>
          <a:xfrm>
            <a:off x="3491650" y="4260622"/>
            <a:ext cx="128699" cy="187198"/>
          </a:xfrm>
          <a:prstGeom prst="rect">
            <a:avLst/>
          </a:prstGeom>
        </p:spPr>
      </p:pic>
      <p:pic>
        <p:nvPicPr>
          <p:cNvPr id="87" name="Picture 86" descr="lock.png"/>
          <p:cNvPicPr>
            <a:picLocks noChangeAspect="1"/>
          </p:cNvPicPr>
          <p:nvPr/>
        </p:nvPicPr>
        <p:blipFill>
          <a:blip r:embed="rId4"/>
          <a:stretch>
            <a:fillRect/>
          </a:stretch>
        </p:blipFill>
        <p:spPr>
          <a:xfrm>
            <a:off x="4666400" y="5129766"/>
            <a:ext cx="128699" cy="187198"/>
          </a:xfrm>
          <a:prstGeom prst="rect">
            <a:avLst/>
          </a:prstGeom>
        </p:spPr>
      </p:pic>
      <p:pic>
        <p:nvPicPr>
          <p:cNvPr id="88" name="Picture 87" descr="lock.png"/>
          <p:cNvPicPr>
            <a:picLocks noChangeAspect="1"/>
          </p:cNvPicPr>
          <p:nvPr/>
        </p:nvPicPr>
        <p:blipFill>
          <a:blip r:embed="rId4"/>
          <a:stretch>
            <a:fillRect/>
          </a:stretch>
        </p:blipFill>
        <p:spPr>
          <a:xfrm>
            <a:off x="5841150" y="4778304"/>
            <a:ext cx="128699" cy="187198"/>
          </a:xfrm>
          <a:prstGeom prst="rect">
            <a:avLst/>
          </a:prstGeom>
        </p:spPr>
      </p:pic>
      <p:pic>
        <p:nvPicPr>
          <p:cNvPr id="89" name="Picture 88" descr="lock.png"/>
          <p:cNvPicPr>
            <a:picLocks noChangeAspect="1"/>
          </p:cNvPicPr>
          <p:nvPr/>
        </p:nvPicPr>
        <p:blipFill>
          <a:blip r:embed="rId4"/>
          <a:stretch>
            <a:fillRect/>
          </a:stretch>
        </p:blipFill>
        <p:spPr>
          <a:xfrm>
            <a:off x="7015900" y="4698974"/>
            <a:ext cx="128699" cy="187198"/>
          </a:xfrm>
          <a:prstGeom prst="rect">
            <a:avLst/>
          </a:prstGeom>
        </p:spPr>
      </p:pic>
      <p:sp>
        <p:nvSpPr>
          <p:cNvPr id="90" name="TextBox 89"/>
          <p:cNvSpPr txBox="1"/>
          <p:nvPr/>
        </p:nvSpPr>
        <p:spPr>
          <a:xfrm>
            <a:off x="8048625" y="1471995"/>
            <a:ext cx="3589632" cy="194310"/>
          </a:xfrm>
          <a:prstGeom prst="rect">
            <a:avLst/>
          </a:prstGeom>
          <a:noFill/>
        </p:spPr>
        <p:txBody>
          <a:bodyPr wrap="none" lIns="0" rIns="0" tIns="0" bIns="0">
            <a:spAutoFit/>
          </a:bodyPr>
          <a:lstStyle/>
          <a:p>
            <a:r>
              <a:rPr sz="1150" b="0">
                <a:solidFill>
                  <a:srgbClr val="2E2E2E"/>
                </a:solidFill>
                <a:latin typeface="Calibri"/>
              </a:rPr>
              <a:t>▪ Average selling price is derived as Value ÷ Volume; 'Sweet</a:t>
            </a:r>
          </a:p>
        </p:txBody>
      </p:sp>
      <p:sp>
        <p:nvSpPr>
          <p:cNvPr id="91" name="TextBox 90"/>
          <p:cNvSpPr txBox="1"/>
          <p:nvPr/>
        </p:nvSpPr>
        <p:spPr>
          <a:xfrm>
            <a:off x="8048625" y="1647255"/>
            <a:ext cx="3224832" cy="194310"/>
          </a:xfrm>
          <a:prstGeom prst="rect">
            <a:avLst/>
          </a:prstGeom>
          <a:noFill/>
        </p:spPr>
        <p:txBody>
          <a:bodyPr wrap="none" lIns="0" rIns="0" tIns="0" bIns="0">
            <a:spAutoFit/>
          </a:bodyPr>
          <a:lstStyle/>
          <a:p>
            <a:r>
              <a:rPr sz="1150" b="0">
                <a:solidFill>
                  <a:srgbClr val="2E2E2E"/>
                </a:solidFill>
                <a:latin typeface="Calibri"/>
              </a:rPr>
              <a:t>muffins' commands the highest product type price at</a:t>
            </a:r>
          </a:p>
        </p:txBody>
      </p:sp>
      <p:pic>
        <p:nvPicPr>
          <p:cNvPr id="92" name="Picture 91" descr="lock.png"/>
          <p:cNvPicPr>
            <a:picLocks noChangeAspect="1"/>
          </p:cNvPicPr>
          <p:nvPr/>
        </p:nvPicPr>
        <p:blipFill>
          <a:blip r:embed="rId4"/>
          <a:stretch>
            <a:fillRect/>
          </a:stretch>
        </p:blipFill>
        <p:spPr>
          <a:xfrm>
            <a:off x="11222611" y="1637031"/>
            <a:ext cx="134549" cy="195707"/>
          </a:xfrm>
          <a:prstGeom prst="rect">
            <a:avLst/>
          </a:prstGeom>
        </p:spPr>
      </p:pic>
      <p:sp>
        <p:nvSpPr>
          <p:cNvPr id="93" name="TextBox 92"/>
          <p:cNvSpPr txBox="1"/>
          <p:nvPr/>
        </p:nvSpPr>
        <p:spPr>
          <a:xfrm>
            <a:off x="8048625" y="1822515"/>
            <a:ext cx="1074018" cy="194310"/>
          </a:xfrm>
          <a:prstGeom prst="rect">
            <a:avLst/>
          </a:prstGeom>
          <a:noFill/>
        </p:spPr>
        <p:txBody>
          <a:bodyPr wrap="none" lIns="0" rIns="0" tIns="0" bIns="0">
            <a:spAutoFit/>
          </a:bodyPr>
          <a:lstStyle/>
          <a:p>
            <a:r>
              <a:rPr sz="1150" b="0">
                <a:solidFill>
                  <a:srgbClr val="2E2E2E"/>
                </a:solidFill>
                <a:latin typeface="Calibri"/>
              </a:rPr>
              <a:t>US$/MT in 2036.</a:t>
            </a:r>
          </a:p>
        </p:txBody>
      </p:sp>
      <p:sp>
        <p:nvSpPr>
          <p:cNvPr id="94" name="TextBox 93"/>
          <p:cNvSpPr txBox="1"/>
          <p:nvPr/>
        </p:nvSpPr>
        <p:spPr>
          <a:xfrm>
            <a:off x="8048625" y="2050353"/>
            <a:ext cx="3227970" cy="194310"/>
          </a:xfrm>
          <a:prstGeom prst="rect">
            <a:avLst/>
          </a:prstGeom>
          <a:noFill/>
        </p:spPr>
        <p:txBody>
          <a:bodyPr wrap="none" lIns="0" rIns="0" tIns="0" bIns="0">
            <a:spAutoFit/>
          </a:bodyPr>
          <a:lstStyle/>
          <a:p>
            <a:r>
              <a:rPr sz="1150" b="0">
                <a:solidFill>
                  <a:srgbClr val="2E2E2E"/>
                </a:solidFill>
                <a:latin typeface="Calibri"/>
              </a:rPr>
              <a:t>▪ 'Sweet muffins' shows the steepest price uplift over</a:t>
            </a:r>
          </a:p>
        </p:txBody>
      </p:sp>
      <p:sp>
        <p:nvSpPr>
          <p:cNvPr id="95" name="TextBox 94"/>
          <p:cNvSpPr txBox="1"/>
          <p:nvPr/>
        </p:nvSpPr>
        <p:spPr>
          <a:xfrm>
            <a:off x="8048625" y="2225613"/>
            <a:ext cx="892311" cy="194310"/>
          </a:xfrm>
          <a:prstGeom prst="rect">
            <a:avLst/>
          </a:prstGeom>
          <a:noFill/>
        </p:spPr>
        <p:txBody>
          <a:bodyPr wrap="none" lIns="0" rIns="0" tIns="0" bIns="0">
            <a:spAutoFit/>
          </a:bodyPr>
          <a:lstStyle/>
          <a:p>
            <a:r>
              <a:rPr sz="1150" b="0">
                <a:solidFill>
                  <a:srgbClr val="2E2E2E"/>
                </a:solidFill>
                <a:latin typeface="Calibri"/>
              </a:rPr>
              <a:t>2026–2036 (+</a:t>
            </a:r>
          </a:p>
        </p:txBody>
      </p:sp>
      <p:pic>
        <p:nvPicPr>
          <p:cNvPr id="96" name="Picture 95" descr="lock.png"/>
          <p:cNvPicPr>
            <a:picLocks noChangeAspect="1"/>
          </p:cNvPicPr>
          <p:nvPr/>
        </p:nvPicPr>
        <p:blipFill>
          <a:blip r:embed="rId4"/>
          <a:stretch>
            <a:fillRect/>
          </a:stretch>
        </p:blipFill>
        <p:spPr>
          <a:xfrm>
            <a:off x="8890090" y="2215389"/>
            <a:ext cx="134549" cy="195707"/>
          </a:xfrm>
          <a:prstGeom prst="rect">
            <a:avLst/>
          </a:prstGeom>
        </p:spPr>
      </p:pic>
      <p:sp>
        <p:nvSpPr>
          <p:cNvPr id="97" name="TextBox 96"/>
          <p:cNvSpPr txBox="1"/>
          <p:nvPr/>
        </p:nvSpPr>
        <p:spPr>
          <a:xfrm>
            <a:off x="9065199" y="222561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98" name="TextBox 97"/>
          <p:cNvSpPr txBox="1"/>
          <p:nvPr/>
        </p:nvSpPr>
        <p:spPr>
          <a:xfrm>
            <a:off x="8048625" y="2453451"/>
            <a:ext cx="1708708" cy="194310"/>
          </a:xfrm>
          <a:prstGeom prst="rect">
            <a:avLst/>
          </a:prstGeom>
          <a:noFill/>
        </p:spPr>
        <p:txBody>
          <a:bodyPr wrap="none" lIns="0" rIns="0" tIns="0" bIns="0">
            <a:spAutoFit/>
          </a:bodyPr>
          <a:lstStyle/>
          <a:p>
            <a:r>
              <a:rPr sz="1150" b="0">
                <a:solidFill>
                  <a:srgbClr val="2E2E2E"/>
                </a:solidFill>
                <a:latin typeface="Calibri"/>
              </a:rPr>
              <a:t>▪ Against the global price of</a:t>
            </a:r>
          </a:p>
        </p:txBody>
      </p:sp>
      <p:pic>
        <p:nvPicPr>
          <p:cNvPr id="99" name="Picture 98" descr="lock.png"/>
          <p:cNvPicPr>
            <a:picLocks noChangeAspect="1"/>
          </p:cNvPicPr>
          <p:nvPr/>
        </p:nvPicPr>
        <p:blipFill>
          <a:blip r:embed="rId4"/>
          <a:stretch>
            <a:fillRect/>
          </a:stretch>
        </p:blipFill>
        <p:spPr>
          <a:xfrm>
            <a:off x="9706487" y="2443227"/>
            <a:ext cx="134549" cy="195707"/>
          </a:xfrm>
          <a:prstGeom prst="rect">
            <a:avLst/>
          </a:prstGeom>
        </p:spPr>
      </p:pic>
      <p:sp>
        <p:nvSpPr>
          <p:cNvPr id="100" name="TextBox 99"/>
          <p:cNvSpPr txBox="1"/>
          <p:nvPr/>
        </p:nvSpPr>
        <p:spPr>
          <a:xfrm>
            <a:off x="9881596" y="2453451"/>
            <a:ext cx="1768896" cy="194310"/>
          </a:xfrm>
          <a:prstGeom prst="rect">
            <a:avLst/>
          </a:prstGeom>
          <a:noFill/>
        </p:spPr>
        <p:txBody>
          <a:bodyPr wrap="none" lIns="0" rIns="0" tIns="0" bIns="0">
            <a:spAutoFit/>
          </a:bodyPr>
          <a:lstStyle/>
          <a:p>
            <a:r>
              <a:rPr sz="1150" b="0">
                <a:solidFill>
                  <a:srgbClr val="2E2E2E"/>
                </a:solidFill>
                <a:latin typeface="Calibri"/>
              </a:rPr>
              <a:t>US$/MT, 4 of 6 regions price</a:t>
            </a:r>
          </a:p>
        </p:txBody>
      </p:sp>
      <p:sp>
        <p:nvSpPr>
          <p:cNvPr id="101" name="TextBox 100"/>
          <p:cNvSpPr txBox="1"/>
          <p:nvPr/>
        </p:nvSpPr>
        <p:spPr>
          <a:xfrm>
            <a:off x="8048625" y="2628711"/>
            <a:ext cx="1236612" cy="194310"/>
          </a:xfrm>
          <a:prstGeom prst="rect">
            <a:avLst/>
          </a:prstGeom>
          <a:noFill/>
        </p:spPr>
        <p:txBody>
          <a:bodyPr wrap="none" lIns="0" rIns="0" tIns="0" bIns="0">
            <a:spAutoFit/>
          </a:bodyPr>
          <a:lstStyle/>
          <a:p>
            <a:r>
              <a:rPr sz="1150" b="0">
                <a:solidFill>
                  <a:srgbClr val="2E2E2E"/>
                </a:solidFill>
                <a:latin typeface="Calibri"/>
              </a:rPr>
              <a:t>above and 2 below.</a:t>
            </a:r>
          </a:p>
        </p:txBody>
      </p:sp>
      <p:sp>
        <p:nvSpPr>
          <p:cNvPr id="102" name="TextBox 101"/>
          <p:cNvSpPr txBox="1"/>
          <p:nvPr/>
        </p:nvSpPr>
        <p:spPr>
          <a:xfrm>
            <a:off x="8048625" y="2856548"/>
            <a:ext cx="1746646" cy="194310"/>
          </a:xfrm>
          <a:prstGeom prst="rect">
            <a:avLst/>
          </a:prstGeom>
          <a:noFill/>
        </p:spPr>
        <p:txBody>
          <a:bodyPr wrap="none" lIns="0" rIns="0" tIns="0" bIns="0">
            <a:spAutoFit/>
          </a:bodyPr>
          <a:lstStyle/>
          <a:p>
            <a:r>
              <a:rPr sz="1150" b="0">
                <a:solidFill>
                  <a:srgbClr val="2E2E2E"/>
                </a:solidFill>
                <a:latin typeface="Calibri"/>
              </a:rPr>
              <a:t>▪ 'Europe' is the dearest at +</a:t>
            </a:r>
          </a:p>
        </p:txBody>
      </p:sp>
      <p:pic>
        <p:nvPicPr>
          <p:cNvPr id="103" name="Picture 102" descr="lock.png"/>
          <p:cNvPicPr>
            <a:picLocks noChangeAspect="1"/>
          </p:cNvPicPr>
          <p:nvPr/>
        </p:nvPicPr>
        <p:blipFill>
          <a:blip r:embed="rId4"/>
          <a:stretch>
            <a:fillRect/>
          </a:stretch>
        </p:blipFill>
        <p:spPr>
          <a:xfrm>
            <a:off x="9744425" y="2846325"/>
            <a:ext cx="134549" cy="195707"/>
          </a:xfrm>
          <a:prstGeom prst="rect">
            <a:avLst/>
          </a:prstGeom>
        </p:spPr>
      </p:pic>
      <p:sp>
        <p:nvSpPr>
          <p:cNvPr id="104" name="TextBox 103"/>
          <p:cNvSpPr txBox="1"/>
          <p:nvPr/>
        </p:nvSpPr>
        <p:spPr>
          <a:xfrm>
            <a:off x="9919535" y="2856548"/>
            <a:ext cx="1878719" cy="194310"/>
          </a:xfrm>
          <a:prstGeom prst="rect">
            <a:avLst/>
          </a:prstGeom>
          <a:noFill/>
        </p:spPr>
        <p:txBody>
          <a:bodyPr wrap="none" lIns="0" rIns="0" tIns="0" bIns="0">
            <a:spAutoFit/>
          </a:bodyPr>
          <a:lstStyle/>
          <a:p>
            <a:r>
              <a:rPr sz="1150" b="0">
                <a:solidFill>
                  <a:srgbClr val="2E2E2E"/>
                </a:solidFill>
                <a:latin typeface="Calibri"/>
              </a:rPr>
              <a:t>versus Global, 'North America'</a:t>
            </a:r>
          </a:p>
        </p:txBody>
      </p:sp>
      <p:sp>
        <p:nvSpPr>
          <p:cNvPr id="105" name="TextBox 104"/>
          <p:cNvSpPr txBox="1"/>
          <p:nvPr/>
        </p:nvSpPr>
        <p:spPr>
          <a:xfrm>
            <a:off x="8048625" y="3031808"/>
            <a:ext cx="1074588" cy="194310"/>
          </a:xfrm>
          <a:prstGeom prst="rect">
            <a:avLst/>
          </a:prstGeom>
          <a:noFill/>
        </p:spPr>
        <p:txBody>
          <a:bodyPr wrap="none" lIns="0" rIns="0" tIns="0" bIns="0">
            <a:spAutoFit/>
          </a:bodyPr>
          <a:lstStyle/>
          <a:p>
            <a:r>
              <a:rPr sz="1150" b="0">
                <a:solidFill>
                  <a:srgbClr val="2E2E2E"/>
                </a:solidFill>
                <a:latin typeface="Calibri"/>
              </a:rPr>
              <a:t>the cheapest at -</a:t>
            </a:r>
          </a:p>
        </p:txBody>
      </p:sp>
      <p:pic>
        <p:nvPicPr>
          <p:cNvPr id="106" name="Picture 105" descr="lock.png"/>
          <p:cNvPicPr>
            <a:picLocks noChangeAspect="1"/>
          </p:cNvPicPr>
          <p:nvPr/>
        </p:nvPicPr>
        <p:blipFill>
          <a:blip r:embed="rId4"/>
          <a:stretch>
            <a:fillRect/>
          </a:stretch>
        </p:blipFill>
        <p:spPr>
          <a:xfrm>
            <a:off x="9072367" y="3021585"/>
            <a:ext cx="134549" cy="195707"/>
          </a:xfrm>
          <a:prstGeom prst="rect">
            <a:avLst/>
          </a:prstGeom>
        </p:spPr>
      </p:pic>
      <p:sp>
        <p:nvSpPr>
          <p:cNvPr id="107" name="TextBox 106"/>
          <p:cNvSpPr txBox="1"/>
          <p:nvPr/>
        </p:nvSpPr>
        <p:spPr>
          <a:xfrm>
            <a:off x="9247476" y="3031808"/>
            <a:ext cx="2496579" cy="194310"/>
          </a:xfrm>
          <a:prstGeom prst="rect">
            <a:avLst/>
          </a:prstGeom>
          <a:noFill/>
        </p:spPr>
        <p:txBody>
          <a:bodyPr wrap="none" lIns="0" rIns="0" tIns="0" bIns="0">
            <a:spAutoFit/>
          </a:bodyPr>
          <a:lstStyle/>
          <a:p>
            <a:r>
              <a:rPr sz="1150" b="0">
                <a:solidFill>
                  <a:srgbClr val="2E2E2E"/>
                </a:solidFill>
                <a:latin typeface="Calibri"/>
              </a:rPr>
              <a:t>pointing to premiumisation headroom in</a:t>
            </a:r>
          </a:p>
        </p:txBody>
      </p:sp>
      <p:sp>
        <p:nvSpPr>
          <p:cNvPr id="108" name="TextBox 107"/>
          <p:cNvSpPr txBox="1"/>
          <p:nvPr/>
        </p:nvSpPr>
        <p:spPr>
          <a:xfrm>
            <a:off x="8048625" y="3207068"/>
            <a:ext cx="1571215" cy="194310"/>
          </a:xfrm>
          <a:prstGeom prst="rect">
            <a:avLst/>
          </a:prstGeom>
          <a:noFill/>
        </p:spPr>
        <p:txBody>
          <a:bodyPr wrap="none" lIns="0" rIns="0" tIns="0" bIns="0">
            <a:spAutoFit/>
          </a:bodyPr>
          <a:lstStyle/>
          <a:p>
            <a:r>
              <a:rPr sz="1150" b="0">
                <a:solidFill>
                  <a:srgbClr val="2E2E2E"/>
                </a:solidFill>
                <a:latin typeface="Calibri"/>
              </a:rPr>
              <a:t>the lower-priced regions.</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1384089" cy="194310"/>
          </a:xfrm>
          <a:prstGeom prst="rect">
            <a:avLst/>
          </a:prstGeom>
          <a:noFill/>
        </p:spPr>
        <p:txBody>
          <a:bodyPr wrap="none" lIns="0" rIns="0" tIns="0" bIns="0">
            <a:spAutoFit/>
          </a:bodyPr>
          <a:lstStyle/>
          <a:p>
            <a:r>
              <a:rPr sz="1150" b="0">
                <a:solidFill>
                  <a:srgbClr val="2E2E2E"/>
                </a:solidFill>
                <a:latin typeface="Calibri"/>
              </a:rPr>
              <a:t>▪ The market grows at</a:t>
            </a:r>
          </a:p>
        </p:txBody>
      </p:sp>
      <p:pic>
        <p:nvPicPr>
          <p:cNvPr id="36" name="Picture 35" descr="lock.png"/>
          <p:cNvPicPr>
            <a:picLocks noChangeAspect="1"/>
          </p:cNvPicPr>
          <p:nvPr/>
        </p:nvPicPr>
        <p:blipFill>
          <a:blip r:embed="rId6"/>
          <a:stretch>
            <a:fillRect/>
          </a:stretch>
        </p:blipFill>
        <p:spPr>
          <a:xfrm>
            <a:off x="9381868" y="2036763"/>
            <a:ext cx="134549" cy="195707"/>
          </a:xfrm>
          <a:prstGeom prst="rect">
            <a:avLst/>
          </a:prstGeom>
        </p:spPr>
      </p:pic>
      <p:sp>
        <p:nvSpPr>
          <p:cNvPr id="37" name="TextBox 36"/>
          <p:cNvSpPr txBox="1"/>
          <p:nvPr/>
        </p:nvSpPr>
        <p:spPr>
          <a:xfrm>
            <a:off x="9556977" y="2046987"/>
            <a:ext cx="2148266" cy="194310"/>
          </a:xfrm>
          <a:prstGeom prst="rect">
            <a:avLst/>
          </a:prstGeom>
          <a:noFill/>
        </p:spPr>
        <p:txBody>
          <a:bodyPr wrap="none" lIns="0" rIns="0" tIns="0" bIns="0">
            <a:spAutoFit/>
          </a:bodyPr>
          <a:lstStyle/>
          <a:p>
            <a:r>
              <a:rPr sz="1150" b="0">
                <a:solidFill>
                  <a:srgbClr val="2E2E2E"/>
                </a:solidFill>
                <a:latin typeface="Calibri"/>
              </a:rPr>
              <a:t>CAGR (2021–2026), accelerating to</a:t>
            </a:r>
          </a:p>
        </p:txBody>
      </p:sp>
      <p:pic>
        <p:nvPicPr>
          <p:cNvPr id="38" name="Picture 37" descr="lock.png"/>
          <p:cNvPicPr>
            <a:picLocks noChangeAspect="1"/>
          </p:cNvPicPr>
          <p:nvPr/>
        </p:nvPicPr>
        <p:blipFill>
          <a:blip r:embed="rId6"/>
          <a:stretch>
            <a:fillRect/>
          </a:stretch>
        </p:blipFill>
        <p:spPr>
          <a:xfrm>
            <a:off x="8034545" y="2212023"/>
            <a:ext cx="134549" cy="195707"/>
          </a:xfrm>
          <a:prstGeom prst="rect">
            <a:avLst/>
          </a:prstGeom>
        </p:spPr>
      </p:pic>
      <p:sp>
        <p:nvSpPr>
          <p:cNvPr id="39" name="TextBox 38"/>
          <p:cNvSpPr txBox="1"/>
          <p:nvPr/>
        </p:nvSpPr>
        <p:spPr>
          <a:xfrm>
            <a:off x="8209654" y="2222247"/>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40" name="TextBox 39"/>
          <p:cNvSpPr txBox="1"/>
          <p:nvPr/>
        </p:nvSpPr>
        <p:spPr>
          <a:xfrm>
            <a:off x="8048625" y="2450085"/>
            <a:ext cx="1385515" cy="194310"/>
          </a:xfrm>
          <a:prstGeom prst="rect">
            <a:avLst/>
          </a:prstGeom>
          <a:noFill/>
        </p:spPr>
        <p:txBody>
          <a:bodyPr wrap="none" lIns="0" rIns="0" tIns="0" bIns="0">
            <a:spAutoFit/>
          </a:bodyPr>
          <a:lstStyle/>
          <a:p>
            <a:r>
              <a:rPr sz="1150" b="0">
                <a:solidFill>
                  <a:srgbClr val="2E2E2E"/>
                </a:solidFill>
                <a:latin typeface="Calibri"/>
              </a:rPr>
              <a:t>▪ Incremental value of</a:t>
            </a:r>
          </a:p>
        </p:txBody>
      </p:sp>
      <p:pic>
        <p:nvPicPr>
          <p:cNvPr id="41" name="Picture 40" descr="lock.png"/>
          <p:cNvPicPr>
            <a:picLocks noChangeAspect="1"/>
          </p:cNvPicPr>
          <p:nvPr/>
        </p:nvPicPr>
        <p:blipFill>
          <a:blip r:embed="rId6"/>
          <a:stretch>
            <a:fillRect/>
          </a:stretch>
        </p:blipFill>
        <p:spPr>
          <a:xfrm>
            <a:off x="9383294" y="2439861"/>
            <a:ext cx="134549" cy="195707"/>
          </a:xfrm>
          <a:prstGeom prst="rect">
            <a:avLst/>
          </a:prstGeom>
        </p:spPr>
      </p:pic>
      <p:sp>
        <p:nvSpPr>
          <p:cNvPr id="42" name="TextBox 41"/>
          <p:cNvSpPr txBox="1"/>
          <p:nvPr/>
        </p:nvSpPr>
        <p:spPr>
          <a:xfrm>
            <a:off x="9558403" y="2450085"/>
            <a:ext cx="2220168" cy="194310"/>
          </a:xfrm>
          <a:prstGeom prst="rect">
            <a:avLst/>
          </a:prstGeom>
          <a:noFill/>
        </p:spPr>
        <p:txBody>
          <a:bodyPr wrap="none" lIns="0" rIns="0" tIns="0" bIns="0">
            <a:spAutoFit/>
          </a:bodyPr>
          <a:lstStyle/>
          <a:p>
            <a:r>
              <a:rPr sz="1150" b="0">
                <a:solidFill>
                  <a:srgbClr val="2E2E2E"/>
                </a:solidFill>
                <a:latin typeface="Calibri"/>
              </a:rPr>
              <a:t>US$ Mn is added between 2021 and</a:t>
            </a:r>
          </a:p>
        </p:txBody>
      </p:sp>
      <p:sp>
        <p:nvSpPr>
          <p:cNvPr id="43" name="TextBox 42"/>
          <p:cNvSpPr txBox="1"/>
          <p:nvPr/>
        </p:nvSpPr>
        <p:spPr>
          <a:xfrm>
            <a:off x="8048625" y="2625345"/>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4" name="TextBox 43"/>
          <p:cNvSpPr txBox="1"/>
          <p:nvPr/>
        </p:nvSpPr>
        <p:spPr>
          <a:xfrm>
            <a:off x="8048625" y="2853182"/>
            <a:ext cx="700335" cy="194310"/>
          </a:xfrm>
          <a:prstGeom prst="rect">
            <a:avLst/>
          </a:prstGeom>
          <a:noFill/>
        </p:spPr>
        <p:txBody>
          <a:bodyPr wrap="none" lIns="0" rIns="0" tIns="0" bIns="0">
            <a:spAutoFit/>
          </a:bodyPr>
          <a:lstStyle/>
          <a:p>
            <a:r>
              <a:rPr sz="1150" b="0">
                <a:solidFill>
                  <a:srgbClr val="2E2E2E"/>
                </a:solidFill>
                <a:latin typeface="Calibri"/>
              </a:rPr>
              <a:t>▪ A further</a:t>
            </a:r>
          </a:p>
        </p:txBody>
      </p:sp>
      <p:pic>
        <p:nvPicPr>
          <p:cNvPr id="45" name="Picture 44" descr="lock.png"/>
          <p:cNvPicPr>
            <a:picLocks noChangeAspect="1"/>
          </p:cNvPicPr>
          <p:nvPr/>
        </p:nvPicPr>
        <p:blipFill>
          <a:blip r:embed="rId6"/>
          <a:stretch>
            <a:fillRect/>
          </a:stretch>
        </p:blipFill>
        <p:spPr>
          <a:xfrm>
            <a:off x="8698114" y="2842959"/>
            <a:ext cx="134549" cy="195707"/>
          </a:xfrm>
          <a:prstGeom prst="rect">
            <a:avLst/>
          </a:prstGeom>
        </p:spPr>
      </p:pic>
      <p:sp>
        <p:nvSpPr>
          <p:cNvPr id="46" name="TextBox 45"/>
          <p:cNvSpPr txBox="1"/>
          <p:nvPr/>
        </p:nvSpPr>
        <p:spPr>
          <a:xfrm>
            <a:off x="8873223" y="2853182"/>
            <a:ext cx="2662597" cy="194310"/>
          </a:xfrm>
          <a:prstGeom prst="rect">
            <a:avLst/>
          </a:prstGeom>
          <a:noFill/>
        </p:spPr>
        <p:txBody>
          <a:bodyPr wrap="none" lIns="0" rIns="0" tIns="0" bIns="0">
            <a:spAutoFit/>
          </a:bodyPr>
          <a:lstStyle/>
          <a:p>
            <a:r>
              <a:rPr sz="1150" b="0">
                <a:solidFill>
                  <a:srgbClr val="2E2E2E"/>
                </a:solidFill>
                <a:latin typeface="Calibri"/>
              </a:rPr>
              <a:t>US$ Mn is added 2026–2036 more than the</a:t>
            </a:r>
          </a:p>
        </p:txBody>
      </p:sp>
      <p:sp>
        <p:nvSpPr>
          <p:cNvPr id="47" name="TextBox 46"/>
          <p:cNvSpPr txBox="1"/>
          <p:nvPr/>
        </p:nvSpPr>
        <p:spPr>
          <a:xfrm>
            <a:off x="8048625" y="3028442"/>
            <a:ext cx="1044922" cy="194310"/>
          </a:xfrm>
          <a:prstGeom prst="rect">
            <a:avLst/>
          </a:prstGeom>
          <a:noFill/>
        </p:spPr>
        <p:txBody>
          <a:bodyPr wrap="none" lIns="0" rIns="0" tIns="0" bIns="0">
            <a:spAutoFit/>
          </a:bodyPr>
          <a:lstStyle/>
          <a:p>
            <a:r>
              <a:rPr sz="1150" b="0">
                <a:solidFill>
                  <a:srgbClr val="2E2E2E"/>
                </a:solidFill>
                <a:latin typeface="Calibri"/>
              </a:rPr>
              <a:t>previous period.</a:t>
            </a:r>
          </a:p>
        </p:txBody>
      </p:sp>
      <p:sp>
        <p:nvSpPr>
          <p:cNvPr id="48" name="TextBox 47"/>
          <p:cNvSpPr txBox="1"/>
          <p:nvPr/>
        </p:nvSpPr>
        <p:spPr>
          <a:xfrm>
            <a:off x="8048625" y="3256280"/>
            <a:ext cx="1600882" cy="194310"/>
          </a:xfrm>
          <a:prstGeom prst="rect">
            <a:avLst/>
          </a:prstGeom>
          <a:noFill/>
        </p:spPr>
        <p:txBody>
          <a:bodyPr wrap="none" lIns="0" rIns="0" tIns="0" bIns="0">
            <a:spAutoFit/>
          </a:bodyPr>
          <a:lstStyle/>
          <a:p>
            <a:r>
              <a:rPr sz="1150" b="0">
                <a:solidFill>
                  <a:srgbClr val="2E2E2E"/>
                </a:solidFill>
                <a:latin typeface="Calibri"/>
              </a:rPr>
              <a:t>▪ Total incremental value:</a:t>
            </a:r>
          </a:p>
        </p:txBody>
      </p:sp>
      <p:pic>
        <p:nvPicPr>
          <p:cNvPr id="49" name="Picture 48" descr="lock.png"/>
          <p:cNvPicPr>
            <a:picLocks noChangeAspect="1"/>
          </p:cNvPicPr>
          <p:nvPr/>
        </p:nvPicPr>
        <p:blipFill>
          <a:blip r:embed="rId6"/>
          <a:stretch>
            <a:fillRect/>
          </a:stretch>
        </p:blipFill>
        <p:spPr>
          <a:xfrm>
            <a:off x="9598661" y="3246057"/>
            <a:ext cx="134549" cy="195707"/>
          </a:xfrm>
          <a:prstGeom prst="rect">
            <a:avLst/>
          </a:prstGeom>
        </p:spPr>
      </p:pic>
      <p:sp>
        <p:nvSpPr>
          <p:cNvPr id="50" name="TextBox 49"/>
          <p:cNvSpPr txBox="1"/>
          <p:nvPr/>
        </p:nvSpPr>
        <p:spPr>
          <a:xfrm>
            <a:off x="9773770" y="3256280"/>
            <a:ext cx="1684461" cy="194310"/>
          </a:xfrm>
          <a:prstGeom prst="rect">
            <a:avLst/>
          </a:prstGeom>
          <a:noFill/>
        </p:spPr>
        <p:txBody>
          <a:bodyPr wrap="none" lIns="0" rIns="0" tIns="0" bIns="0">
            <a:spAutoFit/>
          </a:bodyPr>
          <a:lstStyle/>
          <a:p>
            <a:r>
              <a:rPr sz="1150" b="0">
                <a:solidFill>
                  <a:srgbClr val="2E2E2E"/>
                </a:solidFill>
                <a:latin typeface="Calibri"/>
              </a:rPr>
              <a:t>US$ Mn over 2021–2036, a</a:t>
            </a:r>
          </a:p>
        </p:txBody>
      </p:sp>
      <p:pic>
        <p:nvPicPr>
          <p:cNvPr id="51" name="Picture 50" descr="lock.png"/>
          <p:cNvPicPr>
            <a:picLocks noChangeAspect="1"/>
          </p:cNvPicPr>
          <p:nvPr/>
        </p:nvPicPr>
        <p:blipFill>
          <a:blip r:embed="rId6"/>
          <a:stretch>
            <a:fillRect/>
          </a:stretch>
        </p:blipFill>
        <p:spPr>
          <a:xfrm>
            <a:off x="11407385" y="3246057"/>
            <a:ext cx="134549" cy="195707"/>
          </a:xfrm>
          <a:prstGeom prst="rect">
            <a:avLst/>
          </a:prstGeom>
        </p:spPr>
      </p:pic>
      <p:sp>
        <p:nvSpPr>
          <p:cNvPr id="52" name="TextBox 51"/>
          <p:cNvSpPr txBox="1"/>
          <p:nvPr/>
        </p:nvSpPr>
        <p:spPr>
          <a:xfrm>
            <a:off x="11582495" y="3256280"/>
            <a:ext cx="148939" cy="194310"/>
          </a:xfrm>
          <a:prstGeom prst="rect">
            <a:avLst/>
          </a:prstGeom>
          <a:noFill/>
        </p:spPr>
        <p:txBody>
          <a:bodyPr wrap="none" lIns="0" rIns="0" tIns="0" bIns="0">
            <a:spAutoFit/>
          </a:bodyPr>
          <a:lstStyle/>
          <a:p>
            <a:r>
              <a:rPr sz="1150" b="0">
                <a:solidFill>
                  <a:srgbClr val="2E2E2E"/>
                </a:solidFill>
                <a:latin typeface="Calibri"/>
              </a:rPr>
              <a:t>×</a:t>
            </a:r>
          </a:p>
        </p:txBody>
      </p:sp>
      <p:sp>
        <p:nvSpPr>
          <p:cNvPr id="53" name="TextBox 52"/>
          <p:cNvSpPr txBox="1"/>
          <p:nvPr/>
        </p:nvSpPr>
        <p:spPr>
          <a:xfrm>
            <a:off x="8048625" y="3431540"/>
            <a:ext cx="716880" cy="194310"/>
          </a:xfrm>
          <a:prstGeom prst="rect">
            <a:avLst/>
          </a:prstGeom>
          <a:noFill/>
        </p:spPr>
        <p:txBody>
          <a:bodyPr wrap="none" lIns="0" rIns="0" tIns="0" bIns="0">
            <a:spAutoFit/>
          </a:bodyPr>
          <a:lstStyle/>
          <a:p>
            <a:r>
              <a:rPr sz="1150" b="0">
                <a:solidFill>
                  <a:srgbClr val="2E2E2E"/>
                </a:solidFill>
                <a:latin typeface="Calibri"/>
              </a:rPr>
              <a:t>expansion.</a:t>
            </a:r>
          </a:p>
        </p:txBody>
      </p:sp>
      <p:sp>
        <p:nvSpPr>
          <p:cNvPr id="54" name="TextBox 53"/>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55" name="Picture 54" descr="lock.png"/>
          <p:cNvPicPr>
            <a:picLocks noChangeAspect="1"/>
          </p:cNvPicPr>
          <p:nvPr/>
        </p:nvPicPr>
        <p:blipFill>
          <a:blip r:embed="rId6"/>
          <a:stretch>
            <a:fillRect/>
          </a:stretch>
        </p:blipFill>
        <p:spPr>
          <a:xfrm>
            <a:off x="10866614" y="4446251"/>
            <a:ext cx="134549" cy="195707"/>
          </a:xfrm>
          <a:prstGeom prst="rect">
            <a:avLst/>
          </a:prstGeom>
        </p:spPr>
      </p:pic>
      <p:sp>
        <p:nvSpPr>
          <p:cNvPr id="56" name="TextBox 55"/>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8048625" y="4684312"/>
            <a:ext cx="3827859" cy="194310"/>
          </a:xfrm>
          <a:prstGeom prst="rect">
            <a:avLst/>
          </a:prstGeom>
          <a:noFill/>
        </p:spPr>
        <p:txBody>
          <a:bodyPr wrap="none" lIns="0" rIns="0" tIns="0" bIns="0">
            <a:spAutoFit/>
          </a:bodyPr>
          <a:lstStyle/>
          <a:p>
            <a:r>
              <a:rPr sz="1150" b="0">
                <a:solidFill>
                  <a:srgbClr val="2E2E2E"/>
                </a:solidFill>
                <a:latin typeface="Calibri"/>
              </a:rPr>
              <a:t>▪ Demand concentrates in 'Sweet muffins' within Product Type.</a:t>
            </a:r>
          </a:p>
        </p:txBody>
      </p:sp>
      <p:sp>
        <p:nvSpPr>
          <p:cNvPr id="58" name="TextBox 57"/>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9" name="TextBox 58"/>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4022407"/>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4022407"/>
            <a:ext cx="157162" cy="228600"/>
          </a:xfrm>
          <a:prstGeom prst="rect">
            <a:avLst/>
          </a:prstGeom>
        </p:spPr>
      </p:pic>
      <p:sp>
        <p:nvSpPr>
          <p:cNvPr id="32" name="TextBox 31"/>
          <p:cNvSpPr txBox="1"/>
          <p:nvPr/>
        </p:nvSpPr>
        <p:spPr>
          <a:xfrm>
            <a:off x="276225" y="4972050"/>
            <a:ext cx="1345579" cy="194310"/>
          </a:xfrm>
          <a:prstGeom prst="rect">
            <a:avLst/>
          </a:prstGeom>
          <a:noFill/>
        </p:spPr>
        <p:txBody>
          <a:bodyPr wrap="none" lIns="0" rIns="0" tIns="0" bIns="0">
            <a:spAutoFit/>
          </a:bodyPr>
          <a:lstStyle/>
          <a:p>
            <a:r>
              <a:rPr sz="1150" b="0">
                <a:solidFill>
                  <a:srgbClr val="2E2E2E"/>
                </a:solidFill>
                <a:latin typeface="Calibri"/>
              </a:rPr>
              <a:t>▪ Value expands from</a:t>
            </a:r>
          </a:p>
        </p:txBody>
      </p:sp>
      <p:pic>
        <p:nvPicPr>
          <p:cNvPr id="33" name="Picture 32" descr="lock.png"/>
          <p:cNvPicPr>
            <a:picLocks noChangeAspect="1"/>
          </p:cNvPicPr>
          <p:nvPr/>
        </p:nvPicPr>
        <p:blipFill>
          <a:blip r:embed="rId6"/>
          <a:stretch>
            <a:fillRect/>
          </a:stretch>
        </p:blipFill>
        <p:spPr>
          <a:xfrm>
            <a:off x="1570958" y="4961826"/>
            <a:ext cx="134549" cy="195707"/>
          </a:xfrm>
          <a:prstGeom prst="rect">
            <a:avLst/>
          </a:prstGeom>
        </p:spPr>
      </p:pic>
      <p:sp>
        <p:nvSpPr>
          <p:cNvPr id="34" name="TextBox 33"/>
          <p:cNvSpPr txBox="1"/>
          <p:nvPr/>
        </p:nvSpPr>
        <p:spPr>
          <a:xfrm>
            <a:off x="1746068" y="4972050"/>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5" name="Picture 34" descr="lock.png"/>
          <p:cNvPicPr>
            <a:picLocks noChangeAspect="1"/>
          </p:cNvPicPr>
          <p:nvPr/>
        </p:nvPicPr>
        <p:blipFill>
          <a:blip r:embed="rId6"/>
          <a:stretch>
            <a:fillRect/>
          </a:stretch>
        </p:blipFill>
        <p:spPr>
          <a:xfrm>
            <a:off x="1897504" y="4961826"/>
            <a:ext cx="134549" cy="195707"/>
          </a:xfrm>
          <a:prstGeom prst="rect">
            <a:avLst/>
          </a:prstGeom>
        </p:spPr>
      </p:pic>
      <p:sp>
        <p:nvSpPr>
          <p:cNvPr id="36" name="TextBox 35"/>
          <p:cNvSpPr txBox="1"/>
          <p:nvPr/>
        </p:nvSpPr>
        <p:spPr>
          <a:xfrm>
            <a:off x="2072613" y="4972050"/>
            <a:ext cx="1051768" cy="194310"/>
          </a:xfrm>
          <a:prstGeom prst="rect">
            <a:avLst/>
          </a:prstGeom>
          <a:noFill/>
        </p:spPr>
        <p:txBody>
          <a:bodyPr wrap="none" lIns="0" rIns="0" tIns="0" bIns="0">
            <a:spAutoFit/>
          </a:bodyPr>
          <a:lstStyle/>
          <a:p>
            <a:r>
              <a:rPr sz="1150" b="0">
                <a:solidFill>
                  <a:srgbClr val="2E2E2E"/>
                </a:solidFill>
                <a:latin typeface="Calibri"/>
              </a:rPr>
              <a:t>US$ Mn by 2036</a:t>
            </a:r>
          </a:p>
        </p:txBody>
      </p:sp>
      <p:pic>
        <p:nvPicPr>
          <p:cNvPr id="37" name="Picture 36" descr="lock.png"/>
          <p:cNvPicPr>
            <a:picLocks noChangeAspect="1"/>
          </p:cNvPicPr>
          <p:nvPr/>
        </p:nvPicPr>
        <p:blipFill>
          <a:blip r:embed="rId6"/>
          <a:stretch>
            <a:fillRect/>
          </a:stretch>
        </p:blipFill>
        <p:spPr>
          <a:xfrm>
            <a:off x="3073535" y="4961826"/>
            <a:ext cx="134549" cy="195707"/>
          </a:xfrm>
          <a:prstGeom prst="rect">
            <a:avLst/>
          </a:prstGeom>
        </p:spPr>
      </p:pic>
      <p:sp>
        <p:nvSpPr>
          <p:cNvPr id="38" name="TextBox 37"/>
          <p:cNvSpPr txBox="1"/>
          <p:nvPr/>
        </p:nvSpPr>
        <p:spPr>
          <a:xfrm>
            <a:off x="3248645" y="4972050"/>
            <a:ext cx="1523845" cy="194310"/>
          </a:xfrm>
          <a:prstGeom prst="rect">
            <a:avLst/>
          </a:prstGeom>
          <a:noFill/>
        </p:spPr>
        <p:txBody>
          <a:bodyPr wrap="none" lIns="0" rIns="0" tIns="0" bIns="0">
            <a:spAutoFit/>
          </a:bodyPr>
          <a:lstStyle/>
          <a:p>
            <a:r>
              <a:rPr sz="1150" b="0">
                <a:solidFill>
                  <a:srgbClr val="2E2E2E"/>
                </a:solidFill>
                <a:latin typeface="Calibri"/>
              </a:rPr>
              <a:t>CAGR, accelerating from</a:t>
            </a:r>
          </a:p>
        </p:txBody>
      </p:sp>
      <p:pic>
        <p:nvPicPr>
          <p:cNvPr id="39" name="Picture 38" descr="lock.png"/>
          <p:cNvPicPr>
            <a:picLocks noChangeAspect="1"/>
          </p:cNvPicPr>
          <p:nvPr/>
        </p:nvPicPr>
        <p:blipFill>
          <a:blip r:embed="rId6"/>
          <a:stretch>
            <a:fillRect/>
          </a:stretch>
        </p:blipFill>
        <p:spPr>
          <a:xfrm>
            <a:off x="4721644" y="4961826"/>
            <a:ext cx="134549" cy="195707"/>
          </a:xfrm>
          <a:prstGeom prst="rect">
            <a:avLst/>
          </a:prstGeom>
        </p:spPr>
      </p:pic>
      <p:sp>
        <p:nvSpPr>
          <p:cNvPr id="40" name="TextBox 39"/>
          <p:cNvSpPr txBox="1"/>
          <p:nvPr/>
        </p:nvSpPr>
        <p:spPr>
          <a:xfrm>
            <a:off x="4896754" y="4972050"/>
            <a:ext cx="922548" cy="194310"/>
          </a:xfrm>
          <a:prstGeom prst="rect">
            <a:avLst/>
          </a:prstGeom>
          <a:noFill/>
        </p:spPr>
        <p:txBody>
          <a:bodyPr wrap="none" lIns="0" rIns="0" tIns="0" bIns="0">
            <a:spAutoFit/>
          </a:bodyPr>
          <a:lstStyle/>
          <a:p>
            <a:r>
              <a:rPr sz="1150" b="0">
                <a:solidFill>
                  <a:srgbClr val="2E2E2E"/>
                </a:solidFill>
                <a:latin typeface="Calibri"/>
              </a:rPr>
              <a:t>in 2021–2025.</a:t>
            </a:r>
          </a:p>
        </p:txBody>
      </p:sp>
      <p:sp>
        <p:nvSpPr>
          <p:cNvPr id="41" name="TextBox 40"/>
          <p:cNvSpPr txBox="1"/>
          <p:nvPr/>
        </p:nvSpPr>
        <p:spPr>
          <a:xfrm>
            <a:off x="276225" y="5199888"/>
            <a:ext cx="1247737" cy="194310"/>
          </a:xfrm>
          <a:prstGeom prst="rect">
            <a:avLst/>
          </a:prstGeom>
          <a:noFill/>
        </p:spPr>
        <p:txBody>
          <a:bodyPr wrap="none" lIns="0" rIns="0" tIns="0" bIns="0">
            <a:spAutoFit/>
          </a:bodyPr>
          <a:lstStyle/>
          <a:p>
            <a:r>
              <a:rPr sz="1150" b="0">
                <a:solidFill>
                  <a:srgbClr val="2E2E2E"/>
                </a:solidFill>
                <a:latin typeface="Calibri"/>
              </a:rPr>
              <a:t>▪ Volume rises from</a:t>
            </a:r>
          </a:p>
        </p:txBody>
      </p:sp>
      <p:pic>
        <p:nvPicPr>
          <p:cNvPr id="42" name="Picture 41" descr="lock.png"/>
          <p:cNvPicPr>
            <a:picLocks noChangeAspect="1"/>
          </p:cNvPicPr>
          <p:nvPr/>
        </p:nvPicPr>
        <p:blipFill>
          <a:blip r:embed="rId6"/>
          <a:stretch>
            <a:fillRect/>
          </a:stretch>
        </p:blipFill>
        <p:spPr>
          <a:xfrm>
            <a:off x="1473116" y="5189664"/>
            <a:ext cx="134549" cy="195707"/>
          </a:xfrm>
          <a:prstGeom prst="rect">
            <a:avLst/>
          </a:prstGeom>
        </p:spPr>
      </p:pic>
      <p:sp>
        <p:nvSpPr>
          <p:cNvPr id="43" name="TextBox 42"/>
          <p:cNvSpPr txBox="1"/>
          <p:nvPr/>
        </p:nvSpPr>
        <p:spPr>
          <a:xfrm>
            <a:off x="1648226" y="51998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6"/>
          <a:stretch>
            <a:fillRect/>
          </a:stretch>
        </p:blipFill>
        <p:spPr>
          <a:xfrm>
            <a:off x="1799662" y="5189664"/>
            <a:ext cx="134549" cy="195707"/>
          </a:xfrm>
          <a:prstGeom prst="rect">
            <a:avLst/>
          </a:prstGeom>
        </p:spPr>
      </p:pic>
      <p:sp>
        <p:nvSpPr>
          <p:cNvPr id="45" name="TextBox 44"/>
          <p:cNvSpPr txBox="1"/>
          <p:nvPr/>
        </p:nvSpPr>
        <p:spPr>
          <a:xfrm>
            <a:off x="1974771" y="5199888"/>
            <a:ext cx="1653939" cy="194310"/>
          </a:xfrm>
          <a:prstGeom prst="rect">
            <a:avLst/>
          </a:prstGeom>
          <a:noFill/>
        </p:spPr>
        <p:txBody>
          <a:bodyPr wrap="none" lIns="0" rIns="0" tIns="0" bIns="0">
            <a:spAutoFit/>
          </a:bodyPr>
          <a:lstStyle/>
          <a:p>
            <a:r>
              <a:rPr sz="1150" b="0">
                <a:solidFill>
                  <a:srgbClr val="2E2E2E"/>
                </a:solidFill>
                <a:latin typeface="Calibri"/>
              </a:rPr>
              <a:t>MT over the same decade.</a:t>
            </a:r>
          </a:p>
        </p:txBody>
      </p:sp>
      <p:sp>
        <p:nvSpPr>
          <p:cNvPr id="46" name="TextBox 45"/>
          <p:cNvSpPr txBox="1"/>
          <p:nvPr/>
        </p:nvSpPr>
        <p:spPr>
          <a:xfrm>
            <a:off x="276225" y="5427725"/>
            <a:ext cx="888317" cy="194310"/>
          </a:xfrm>
          <a:prstGeom prst="rect">
            <a:avLst/>
          </a:prstGeom>
          <a:noFill/>
        </p:spPr>
        <p:txBody>
          <a:bodyPr wrap="none" lIns="0" rIns="0" tIns="0" bIns="0">
            <a:spAutoFit/>
          </a:bodyPr>
          <a:lstStyle/>
          <a:p>
            <a:r>
              <a:rPr sz="1150" b="0">
                <a:solidFill>
                  <a:srgbClr val="2E2E2E"/>
                </a:solidFill>
                <a:latin typeface="Calibri"/>
              </a:rPr>
              <a:t>▪ Value grows</a:t>
            </a:r>
          </a:p>
        </p:txBody>
      </p:sp>
      <p:pic>
        <p:nvPicPr>
          <p:cNvPr id="47" name="Picture 46" descr="lock.png"/>
          <p:cNvPicPr>
            <a:picLocks noChangeAspect="1"/>
          </p:cNvPicPr>
          <p:nvPr/>
        </p:nvPicPr>
        <p:blipFill>
          <a:blip r:embed="rId6"/>
          <a:stretch>
            <a:fillRect/>
          </a:stretch>
        </p:blipFill>
        <p:spPr>
          <a:xfrm>
            <a:off x="1113696" y="5417502"/>
            <a:ext cx="134549" cy="195707"/>
          </a:xfrm>
          <a:prstGeom prst="rect">
            <a:avLst/>
          </a:prstGeom>
        </p:spPr>
      </p:pic>
      <p:sp>
        <p:nvSpPr>
          <p:cNvPr id="48" name="TextBox 47"/>
          <p:cNvSpPr txBox="1"/>
          <p:nvPr/>
        </p:nvSpPr>
        <p:spPr>
          <a:xfrm>
            <a:off x="1288806" y="5427725"/>
            <a:ext cx="3072774" cy="194310"/>
          </a:xfrm>
          <a:prstGeom prst="rect">
            <a:avLst/>
          </a:prstGeom>
          <a:noFill/>
        </p:spPr>
        <p:txBody>
          <a:bodyPr wrap="none" lIns="0" rIns="0" tIns="0" bIns="0">
            <a:spAutoFit/>
          </a:bodyPr>
          <a:lstStyle/>
          <a:p>
            <a:r>
              <a:rPr sz="1150" b="0">
                <a:solidFill>
                  <a:srgbClr val="2E2E2E"/>
                </a:solidFill>
                <a:latin typeface="Calibri"/>
              </a:rPr>
              <a:t>BPS of CAGR faster than volume firming price/mix.</a:t>
            </a:r>
          </a:p>
        </p:txBody>
      </p:sp>
      <p:sp>
        <p:nvSpPr>
          <p:cNvPr id="49" name="TextBox 48"/>
          <p:cNvSpPr txBox="1"/>
          <p:nvPr/>
        </p:nvSpPr>
        <p:spPr>
          <a:xfrm>
            <a:off x="276225" y="5655563"/>
            <a:ext cx="1675333" cy="194310"/>
          </a:xfrm>
          <a:prstGeom prst="rect">
            <a:avLst/>
          </a:prstGeom>
          <a:noFill/>
        </p:spPr>
        <p:txBody>
          <a:bodyPr wrap="none" lIns="0" rIns="0" tIns="0" bIns="0">
            <a:spAutoFit/>
          </a:bodyPr>
          <a:lstStyle/>
          <a:p>
            <a:r>
              <a:rPr sz="1150" b="0">
                <a:solidFill>
                  <a:srgbClr val="2E2E2E"/>
                </a:solidFill>
                <a:latin typeface="Calibri"/>
              </a:rPr>
              <a:t>▪ The forecast decade adds</a:t>
            </a:r>
          </a:p>
        </p:txBody>
      </p:sp>
      <p:pic>
        <p:nvPicPr>
          <p:cNvPr id="50" name="Picture 49" descr="lock.png"/>
          <p:cNvPicPr>
            <a:picLocks noChangeAspect="1"/>
          </p:cNvPicPr>
          <p:nvPr/>
        </p:nvPicPr>
        <p:blipFill>
          <a:blip r:embed="rId6"/>
          <a:stretch>
            <a:fillRect/>
          </a:stretch>
        </p:blipFill>
        <p:spPr>
          <a:xfrm>
            <a:off x="1900712" y="5645340"/>
            <a:ext cx="134549" cy="195707"/>
          </a:xfrm>
          <a:prstGeom prst="rect">
            <a:avLst/>
          </a:prstGeom>
        </p:spPr>
      </p:pic>
      <p:sp>
        <p:nvSpPr>
          <p:cNvPr id="51" name="TextBox 50"/>
          <p:cNvSpPr txBox="1"/>
          <p:nvPr/>
        </p:nvSpPr>
        <p:spPr>
          <a:xfrm>
            <a:off x="2075821" y="5655563"/>
            <a:ext cx="2268946" cy="194310"/>
          </a:xfrm>
          <a:prstGeom prst="rect">
            <a:avLst/>
          </a:prstGeom>
          <a:noFill/>
        </p:spPr>
        <p:txBody>
          <a:bodyPr wrap="none" lIns="0" rIns="0" tIns="0" bIns="0">
            <a:spAutoFit/>
          </a:bodyPr>
          <a:lstStyle/>
          <a:p>
            <a:r>
              <a:rPr sz="1150" b="0">
                <a:solidFill>
                  <a:srgbClr val="2E2E2E"/>
                </a:solidFill>
                <a:latin typeface="Calibri"/>
              </a:rPr>
              <a:t>US$ Mn of incremental opportunity (</a:t>
            </a:r>
          </a:p>
        </p:txBody>
      </p:sp>
      <p:pic>
        <p:nvPicPr>
          <p:cNvPr id="52" name="Picture 51" descr="lock.png"/>
          <p:cNvPicPr>
            <a:picLocks noChangeAspect="1"/>
          </p:cNvPicPr>
          <p:nvPr/>
        </p:nvPicPr>
        <p:blipFill>
          <a:blip r:embed="rId6"/>
          <a:stretch>
            <a:fillRect/>
          </a:stretch>
        </p:blipFill>
        <p:spPr>
          <a:xfrm>
            <a:off x="4293922" y="5645340"/>
            <a:ext cx="134549" cy="195707"/>
          </a:xfrm>
          <a:prstGeom prst="rect">
            <a:avLst/>
          </a:prstGeom>
        </p:spPr>
      </p:pic>
      <p:sp>
        <p:nvSpPr>
          <p:cNvPr id="53" name="TextBox 52"/>
          <p:cNvSpPr txBox="1"/>
          <p:nvPr/>
        </p:nvSpPr>
        <p:spPr>
          <a:xfrm>
            <a:off x="4469031" y="5655563"/>
            <a:ext cx="2516547" cy="194310"/>
          </a:xfrm>
          <a:prstGeom prst="rect">
            <a:avLst/>
          </a:prstGeom>
          <a:noFill/>
        </p:spPr>
        <p:txBody>
          <a:bodyPr wrap="none" lIns="0" rIns="0" tIns="0" bIns="0">
            <a:spAutoFit/>
          </a:bodyPr>
          <a:lstStyle/>
          <a:p>
            <a:r>
              <a:rPr sz="1150" b="0">
                <a:solidFill>
                  <a:srgbClr val="2E2E2E"/>
                </a:solidFill>
                <a:latin typeface="Calibri"/>
              </a:rPr>
              <a:t>in the first five years) the market reaches</a:t>
            </a:r>
          </a:p>
        </p:txBody>
      </p:sp>
      <p:pic>
        <p:nvPicPr>
          <p:cNvPr id="54" name="Picture 53" descr="lock.png"/>
          <p:cNvPicPr>
            <a:picLocks noChangeAspect="1"/>
          </p:cNvPicPr>
          <p:nvPr/>
        </p:nvPicPr>
        <p:blipFill>
          <a:blip r:embed="rId6"/>
          <a:stretch>
            <a:fillRect/>
          </a:stretch>
        </p:blipFill>
        <p:spPr>
          <a:xfrm>
            <a:off x="6934732" y="5645340"/>
            <a:ext cx="134549" cy="195707"/>
          </a:xfrm>
          <a:prstGeom prst="rect">
            <a:avLst/>
          </a:prstGeom>
        </p:spPr>
      </p:pic>
      <p:sp>
        <p:nvSpPr>
          <p:cNvPr id="55" name="TextBox 54"/>
          <p:cNvSpPr txBox="1"/>
          <p:nvPr/>
        </p:nvSpPr>
        <p:spPr>
          <a:xfrm>
            <a:off x="7109841" y="5655563"/>
            <a:ext cx="1040358" cy="194310"/>
          </a:xfrm>
          <a:prstGeom prst="rect">
            <a:avLst/>
          </a:prstGeom>
          <a:noFill/>
        </p:spPr>
        <p:txBody>
          <a:bodyPr wrap="none" lIns="0" rIns="0" tIns="0" bIns="0">
            <a:spAutoFit/>
          </a:bodyPr>
          <a:lstStyle/>
          <a:p>
            <a:r>
              <a:rPr sz="1150" b="0">
                <a:solidFill>
                  <a:srgbClr val="2E2E2E"/>
                </a:solidFill>
                <a:latin typeface="Calibri"/>
              </a:rPr>
              <a:t>× its 2026 value.</a:t>
            </a:r>
          </a:p>
        </p:txBody>
      </p:sp>
      <p:sp>
        <p:nvSpPr>
          <p:cNvPr id="56"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5" cy="2132071"/>
        </p:xfrm>
        <a:graphic>
          <a:graphicData uri="http://schemas.openxmlformats.org/drawingml/2006/table">
            <a:tbl>
              <a:tblPr>
                <a:tableStyleId>{5C22544A-7EE6-4342-B048-85BDC9FD1C3A}</a:tableStyleId>
              </a:tblPr>
              <a:tblGrid>
                <a:gridCol w="1136545"/>
                <a:gridCol w="928871"/>
                <a:gridCol w="633949"/>
                <a:gridCol w="1215410"/>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77189">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Rest of LATAM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Saudi Arabia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2" cy="1981679"/>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2" y="1293011"/>
            <a:ext cx="1369293" cy="198167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74690"/>
            <a:ext cx="1544155" cy="1471924"/>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46614"/>
            <a:ext cx="1544155" cy="113199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54205" y="3274690"/>
            <a:ext cx="1130944" cy="1177604"/>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885149" y="3274690"/>
            <a:ext cx="1068226" cy="1177604"/>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54205" y="4452295"/>
            <a:ext cx="1192218" cy="795849"/>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54205" y="5248143"/>
            <a:ext cx="1192218" cy="630466"/>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46423" y="4452295"/>
            <a:ext cx="1006952" cy="73345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46423" y="5185752"/>
            <a:ext cx="1006952" cy="692857"/>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1"/>
        </p:xfrm>
        <a:graphic>
          <a:graphicData uri="http://schemas.openxmlformats.org/drawingml/2006/table">
            <a:tbl>
              <a:tblPr>
                <a:tableStyleId>{5C22544A-7EE6-4342-B048-85BDC9FD1C3A}</a:tableStyleId>
              </a:tblPr>
              <a:tblGrid>
                <a:gridCol w="671383"/>
                <a:gridCol w="1081131"/>
                <a:gridCol w="1081131"/>
                <a:gridCol w="10811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82665">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510039" y="4515032"/>
            <a:ext cx="330041" cy="480060"/>
          </a:xfrm>
          <a:prstGeom prst="rect">
            <a:avLst/>
          </a:prstGeom>
        </p:spPr>
      </p:pic>
      <p:pic>
        <p:nvPicPr>
          <p:cNvPr id="38" name="Picture 37" descr="lock.png"/>
          <p:cNvPicPr>
            <a:picLocks noChangeAspect="1"/>
          </p:cNvPicPr>
          <p:nvPr/>
        </p:nvPicPr>
        <p:blipFill>
          <a:blip r:embed="rId6"/>
          <a:stretch>
            <a:fillRect/>
          </a:stretch>
        </p:blipFill>
        <p:spPr>
          <a:xfrm>
            <a:off x="5339440" y="2283850"/>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2" y="2283850"/>
            <a:ext cx="115252" cy="167639"/>
          </a:xfrm>
          <a:prstGeom prst="rect">
            <a:avLst/>
          </a:prstGeom>
        </p:spPr>
      </p:pic>
      <p:pic>
        <p:nvPicPr>
          <p:cNvPr id="40" name="Picture 39" descr="lock.png"/>
          <p:cNvPicPr>
            <a:picLocks noChangeAspect="1"/>
          </p:cNvPicPr>
          <p:nvPr/>
        </p:nvPicPr>
        <p:blipFill>
          <a:blip r:embed="rId6"/>
          <a:stretch>
            <a:fillRect/>
          </a:stretch>
        </p:blipFill>
        <p:spPr>
          <a:xfrm>
            <a:off x="4924501" y="4010652"/>
            <a:ext cx="115252" cy="167639"/>
          </a:xfrm>
          <a:prstGeom prst="rect">
            <a:avLst/>
          </a:prstGeom>
        </p:spPr>
      </p:pic>
      <p:pic>
        <p:nvPicPr>
          <p:cNvPr id="41" name="Picture 40" descr="lock.png"/>
          <p:cNvPicPr>
            <a:picLocks noChangeAspect="1"/>
          </p:cNvPicPr>
          <p:nvPr/>
        </p:nvPicPr>
        <p:blipFill>
          <a:blip r:embed="rId6"/>
          <a:stretch>
            <a:fillRect/>
          </a:stretch>
        </p:blipFill>
        <p:spPr>
          <a:xfrm>
            <a:off x="4924501" y="5312612"/>
            <a:ext cx="115252" cy="167639"/>
          </a:xfrm>
          <a:prstGeom prst="rect">
            <a:avLst/>
          </a:prstGeom>
        </p:spPr>
      </p:pic>
      <p:pic>
        <p:nvPicPr>
          <p:cNvPr id="42" name="Picture 41" descr="lock.png"/>
          <p:cNvPicPr>
            <a:picLocks noChangeAspect="1"/>
          </p:cNvPicPr>
          <p:nvPr/>
        </p:nvPicPr>
        <p:blipFill>
          <a:blip r:embed="rId6"/>
          <a:stretch>
            <a:fillRect/>
          </a:stretch>
        </p:blipFill>
        <p:spPr>
          <a:xfrm>
            <a:off x="6262051" y="3863491"/>
            <a:ext cx="115252" cy="167639"/>
          </a:xfrm>
          <a:prstGeom prst="rect">
            <a:avLst/>
          </a:prstGeom>
        </p:spPr>
      </p:pic>
      <p:pic>
        <p:nvPicPr>
          <p:cNvPr id="43" name="Picture 42" descr="lock.png"/>
          <p:cNvPicPr>
            <a:picLocks noChangeAspect="1"/>
          </p:cNvPicPr>
          <p:nvPr/>
        </p:nvPicPr>
        <p:blipFill>
          <a:blip r:embed="rId6"/>
          <a:stretch>
            <a:fillRect/>
          </a:stretch>
        </p:blipFill>
        <p:spPr>
          <a:xfrm>
            <a:off x="7361636" y="3863491"/>
            <a:ext cx="115252" cy="167639"/>
          </a:xfrm>
          <a:prstGeom prst="rect">
            <a:avLst/>
          </a:prstGeom>
        </p:spPr>
      </p:pic>
      <p:pic>
        <p:nvPicPr>
          <p:cNvPr id="44" name="Picture 43" descr="lock.png"/>
          <p:cNvPicPr>
            <a:picLocks noChangeAspect="1"/>
          </p:cNvPicPr>
          <p:nvPr/>
        </p:nvPicPr>
        <p:blipFill>
          <a:blip r:embed="rId6"/>
          <a:stretch>
            <a:fillRect/>
          </a:stretch>
        </p:blipFill>
        <p:spPr>
          <a:xfrm>
            <a:off x="6292688" y="4850219"/>
            <a:ext cx="115252" cy="167639"/>
          </a:xfrm>
          <a:prstGeom prst="rect">
            <a:avLst/>
          </a:prstGeom>
        </p:spPr>
      </p:pic>
      <p:pic>
        <p:nvPicPr>
          <p:cNvPr id="45" name="Picture 44" descr="lock.png"/>
          <p:cNvPicPr>
            <a:picLocks noChangeAspect="1"/>
          </p:cNvPicPr>
          <p:nvPr/>
        </p:nvPicPr>
        <p:blipFill>
          <a:blip r:embed="rId6"/>
          <a:stretch>
            <a:fillRect/>
          </a:stretch>
        </p:blipFill>
        <p:spPr>
          <a:xfrm>
            <a:off x="6292688" y="5563376"/>
            <a:ext cx="115252" cy="167639"/>
          </a:xfrm>
          <a:prstGeom prst="rect">
            <a:avLst/>
          </a:prstGeom>
        </p:spPr>
      </p:pic>
      <p:pic>
        <p:nvPicPr>
          <p:cNvPr id="46" name="Picture 45" descr="lock.png"/>
          <p:cNvPicPr>
            <a:picLocks noChangeAspect="1"/>
          </p:cNvPicPr>
          <p:nvPr/>
        </p:nvPicPr>
        <p:blipFill>
          <a:blip r:embed="rId6"/>
          <a:stretch>
            <a:fillRect/>
          </a:stretch>
        </p:blipFill>
        <p:spPr>
          <a:xfrm>
            <a:off x="7392273" y="4819024"/>
            <a:ext cx="115252" cy="167639"/>
          </a:xfrm>
          <a:prstGeom prst="rect">
            <a:avLst/>
          </a:prstGeom>
        </p:spPr>
      </p:pic>
      <p:pic>
        <p:nvPicPr>
          <p:cNvPr id="47" name="Picture 46" descr="lock.png"/>
          <p:cNvPicPr>
            <a:picLocks noChangeAspect="1"/>
          </p:cNvPicPr>
          <p:nvPr/>
        </p:nvPicPr>
        <p:blipFill>
          <a:blip r:embed="rId6"/>
          <a:stretch>
            <a:fillRect/>
          </a:stretch>
        </p:blipFill>
        <p:spPr>
          <a:xfrm>
            <a:off x="7392273" y="5532180"/>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2129663" cy="186689"/>
          </a:xfrm>
          <a:prstGeom prst="rect">
            <a:avLst/>
          </a:prstGeom>
          <a:noFill/>
        </p:spPr>
        <p:txBody>
          <a:bodyPr wrap="none" lIns="0" rIns="0" tIns="0" bIns="0">
            <a:spAutoFit/>
          </a:bodyPr>
          <a:lstStyle/>
          <a:p>
            <a:r>
              <a:rPr sz="1100" b="0">
                <a:solidFill>
                  <a:srgbClr val="2E2E2E"/>
                </a:solidFill>
                <a:latin typeface="Calibri"/>
              </a:rPr>
              <a:t>India posts the highest CAGR Index (</a:t>
            </a:r>
          </a:p>
        </p:txBody>
      </p:sp>
      <p:pic>
        <p:nvPicPr>
          <p:cNvPr id="51" name="Picture 50" descr="lock.png"/>
          <p:cNvPicPr>
            <a:picLocks noChangeAspect="1"/>
          </p:cNvPicPr>
          <p:nvPr/>
        </p:nvPicPr>
        <p:blipFill>
          <a:blip r:embed="rId6"/>
          <a:stretch>
            <a:fillRect/>
          </a:stretch>
        </p:blipFill>
        <p:spPr>
          <a:xfrm>
            <a:off x="2334890" y="6150795"/>
            <a:ext cx="128699" cy="187198"/>
          </a:xfrm>
          <a:prstGeom prst="rect">
            <a:avLst/>
          </a:prstGeom>
        </p:spPr>
      </p:pic>
      <p:sp>
        <p:nvSpPr>
          <p:cNvPr id="52" name="TextBox 51"/>
          <p:cNvSpPr txBox="1"/>
          <p:nvPr/>
        </p:nvSpPr>
        <p:spPr>
          <a:xfrm>
            <a:off x="2502386"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53" name="Picture 52" descr="lock.png"/>
          <p:cNvPicPr>
            <a:picLocks noChangeAspect="1"/>
          </p:cNvPicPr>
          <p:nvPr/>
        </p:nvPicPr>
        <p:blipFill>
          <a:blip r:embed="rId6"/>
          <a:stretch>
            <a:fillRect/>
          </a:stretch>
        </p:blipFill>
        <p:spPr>
          <a:xfrm>
            <a:off x="3240417" y="6150795"/>
            <a:ext cx="128699" cy="187198"/>
          </a:xfrm>
          <a:prstGeom prst="rect">
            <a:avLst/>
          </a:prstGeom>
        </p:spPr>
      </p:pic>
      <p:sp>
        <p:nvSpPr>
          <p:cNvPr id="54" name="TextBox 53"/>
          <p:cNvSpPr txBox="1"/>
          <p:nvPr/>
        </p:nvSpPr>
        <p:spPr>
          <a:xfrm>
            <a:off x="3407913" y="6160574"/>
            <a:ext cx="4615631" cy="186689"/>
          </a:xfrm>
          <a:prstGeom prst="rect">
            <a:avLst/>
          </a:prstGeom>
          <a:noFill/>
        </p:spPr>
        <p:txBody>
          <a:bodyPr wrap="none" lIns="0" rIns="0" tIns="0" bIns="0">
            <a:spAutoFit/>
          </a:bodyPr>
          <a:lstStyle/>
          <a:p>
            <a:r>
              <a:rPr sz="1100" b="0">
                <a:solidFill>
                  <a:srgbClr val="2E2E2E"/>
                </a:solidFill>
                <a:latin typeface="Calibri"/>
              </a:rPr>
              <a:t>against the global benchmark, while U.S. offers the largest absolute opportunity</a:t>
            </a:r>
          </a:p>
        </p:txBody>
      </p:sp>
      <p:pic>
        <p:nvPicPr>
          <p:cNvPr id="55" name="Picture 54" descr="lock.png"/>
          <p:cNvPicPr>
            <a:picLocks noChangeAspect="1"/>
          </p:cNvPicPr>
          <p:nvPr/>
        </p:nvPicPr>
        <p:blipFill>
          <a:blip r:embed="rId6"/>
          <a:stretch>
            <a:fillRect/>
          </a:stretch>
        </p:blipFill>
        <p:spPr>
          <a:xfrm>
            <a:off x="7971596" y="6150795"/>
            <a:ext cx="128699" cy="187198"/>
          </a:xfrm>
          <a:prstGeom prst="rect">
            <a:avLst/>
          </a:prstGeom>
        </p:spPr>
      </p:pic>
      <p:sp>
        <p:nvSpPr>
          <p:cNvPr id="56" name="TextBox 55"/>
          <p:cNvSpPr txBox="1"/>
          <p:nvPr/>
        </p:nvSpPr>
        <p:spPr>
          <a:xfrm>
            <a:off x="8139092" y="6160574"/>
            <a:ext cx="2361877" cy="186689"/>
          </a:xfrm>
          <a:prstGeom prst="rect">
            <a:avLst/>
          </a:prstGeom>
          <a:noFill/>
        </p:spPr>
        <p:txBody>
          <a:bodyPr wrap="none" lIns="0" rIns="0" tIns="0" bIns="0">
            <a:spAutoFit/>
          </a:bodyPr>
          <a:lstStyle/>
          <a:p>
            <a:r>
              <a:rPr sz="1100" b="0">
                <a:solidFill>
                  <a:srgbClr val="2E2E2E"/>
                </a:solidFill>
                <a:latin typeface="Calibri"/>
              </a:rPr>
              <a:t>US$ Mn of incremental market between</a:t>
            </a:r>
          </a:p>
        </p:txBody>
      </p:sp>
      <p:sp>
        <p:nvSpPr>
          <p:cNvPr id="57" name="TextBox 56"/>
          <p:cNvSpPr txBox="1"/>
          <p:nvPr/>
        </p:nvSpPr>
        <p:spPr>
          <a:xfrm>
            <a:off x="257175" y="6328214"/>
            <a:ext cx="994618" cy="186689"/>
          </a:xfrm>
          <a:prstGeom prst="rect">
            <a:avLst/>
          </a:prstGeom>
          <a:noFill/>
        </p:spPr>
        <p:txBody>
          <a:bodyPr wrap="none" lIns="0" rIns="0" tIns="0" bIns="0">
            <a:spAutoFit/>
          </a:bodyPr>
          <a:lstStyle/>
          <a:p>
            <a:r>
              <a:rPr sz="1100" b="0">
                <a:solidFill>
                  <a:srgbClr val="2E2E2E"/>
                </a:solidFill>
                <a:latin typeface="Calibri"/>
              </a:rPr>
              <a:t>2026 and 2036 (</a:t>
            </a:r>
          </a:p>
        </p:txBody>
      </p:sp>
      <p:pic>
        <p:nvPicPr>
          <p:cNvPr id="58" name="Picture 57" descr="lock.png"/>
          <p:cNvPicPr>
            <a:picLocks noChangeAspect="1"/>
          </p:cNvPicPr>
          <p:nvPr/>
        </p:nvPicPr>
        <p:blipFill>
          <a:blip r:embed="rId6"/>
          <a:stretch>
            <a:fillRect/>
          </a:stretch>
        </p:blipFill>
        <p:spPr>
          <a:xfrm>
            <a:off x="1199844" y="6318435"/>
            <a:ext cx="128699" cy="187198"/>
          </a:xfrm>
          <a:prstGeom prst="rect">
            <a:avLst/>
          </a:prstGeom>
        </p:spPr>
      </p:pic>
      <p:sp>
        <p:nvSpPr>
          <p:cNvPr id="59" name="TextBox 58"/>
          <p:cNvSpPr txBox="1"/>
          <p:nvPr/>
        </p:nvSpPr>
        <p:spPr>
          <a:xfrm>
            <a:off x="1367340" y="6328214"/>
            <a:ext cx="1483568" cy="186689"/>
          </a:xfrm>
          <a:prstGeom prst="rect">
            <a:avLst/>
          </a:prstGeom>
          <a:noFill/>
        </p:spPr>
        <p:txBody>
          <a:bodyPr wrap="none" lIns="0" rIns="0" tIns="0" bIns="0">
            <a:spAutoFit/>
          </a:bodyPr>
          <a:lstStyle/>
          <a:p>
            <a:r>
              <a:rPr sz="1100" b="0">
                <a:solidFill>
                  <a:srgbClr val="2E2E2E"/>
                </a:solidFill>
                <a:latin typeface="Calibri"/>
              </a:rPr>
              <a:t>of the global increment).</a:t>
            </a:r>
          </a:p>
        </p:txBody>
      </p:sp>
      <p:sp>
        <p:nvSpPr>
          <p:cNvPr id="60"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200" cy="1485896"/>
        </p:xfrm>
        <a:graphic>
          <a:graphicData uri="http://schemas.openxmlformats.org/drawingml/2006/table">
            <a:tbl>
              <a:tblPr>
                <a:tableStyleId>{5C22544A-7EE6-4342-B048-85BDC9FD1C3A}</a:tableStyleId>
              </a:tblPr>
              <a:tblGrid>
                <a:gridCol w="3764787"/>
                <a:gridCol w="2707471"/>
                <a:gridCol w="2707471"/>
                <a:gridCol w="270747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Australia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Rest of South East Asia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552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981325"/>
          <a:ext cx="11887200" cy="1485896"/>
        </p:xfrm>
        <a:graphic>
          <a:graphicData uri="http://schemas.openxmlformats.org/drawingml/2006/table">
            <a:tbl>
              <a:tblPr>
                <a:tableStyleId>{5C22544A-7EE6-4342-B048-85BDC9FD1C3A}</a:tableStyleId>
              </a:tblPr>
              <a:tblGrid>
                <a:gridCol w="1846407"/>
                <a:gridCol w="3346931"/>
                <a:gridCol w="3346931"/>
                <a:gridCol w="33469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7791703"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32513" y="3580638"/>
            <a:ext cx="366712" cy="533400"/>
          </a:xfrm>
          <a:prstGeom prst="rect">
            <a:avLst/>
          </a:prstGeom>
        </p:spPr>
      </p:pic>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142875" y="2781300"/>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8670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051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190875"/>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581525"/>
            <a:ext cx="39433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6672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053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991100"/>
            <a:ext cx="36766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581525"/>
            <a:ext cx="3819525"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6672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053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4991100"/>
            <a:ext cx="3552825"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581525"/>
            <a:ext cx="3819525"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6672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053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4991100"/>
            <a:ext cx="3552825"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'Sweet muffins'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2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024299" cy="194310"/>
          </a:xfrm>
          <a:prstGeom prst="rect">
            <a:avLst/>
          </a:prstGeom>
          <a:noFill/>
        </p:spPr>
        <p:txBody>
          <a:bodyPr wrap="none" lIns="0" rIns="0" tIns="0" bIns="0">
            <a:spAutoFit/>
          </a:bodyPr>
          <a:lstStyle/>
          <a:p>
            <a:r>
              <a:rPr sz="1150" b="0">
                <a:solidFill>
                  <a:srgbClr val="2E2E2E"/>
                </a:solidFill>
                <a:latin typeface="Calibri"/>
              </a:rPr>
              <a:t>▪ The global Packaged Muffins market is valued at</a:t>
            </a:r>
          </a:p>
        </p:txBody>
      </p:sp>
      <p:pic>
        <p:nvPicPr>
          <p:cNvPr id="32" name="Picture 31" descr="lock.png"/>
          <p:cNvPicPr>
            <a:picLocks noChangeAspect="1"/>
          </p:cNvPicPr>
          <p:nvPr/>
        </p:nvPicPr>
        <p:blipFill>
          <a:blip r:embed="rId4"/>
          <a:stretch>
            <a:fillRect/>
          </a:stretch>
        </p:blipFill>
        <p:spPr>
          <a:xfrm>
            <a:off x="3249678" y="1389951"/>
            <a:ext cx="134549" cy="195707"/>
          </a:xfrm>
          <a:prstGeom prst="rect">
            <a:avLst/>
          </a:prstGeom>
        </p:spPr>
      </p:pic>
      <p:sp>
        <p:nvSpPr>
          <p:cNvPr id="33" name="TextBox 32"/>
          <p:cNvSpPr txBox="1"/>
          <p:nvPr/>
        </p:nvSpPr>
        <p:spPr>
          <a:xfrm>
            <a:off x="3424787" y="1400175"/>
            <a:ext cx="2440384" cy="194310"/>
          </a:xfrm>
          <a:prstGeom prst="rect">
            <a:avLst/>
          </a:prstGeom>
          <a:noFill/>
        </p:spPr>
        <p:txBody>
          <a:bodyPr wrap="none" lIns="0" rIns="0" tIns="0" bIns="0">
            <a:spAutoFit/>
          </a:bodyPr>
          <a:lstStyle/>
          <a:p>
            <a:r>
              <a:rPr sz="1150" b="0">
                <a:solidFill>
                  <a:srgbClr val="2E2E2E"/>
                </a:solidFill>
                <a:latin typeface="Calibri"/>
              </a:rPr>
              <a:t>US$ Mn in 2026 and is forecast to reach</a:t>
            </a:r>
          </a:p>
        </p:txBody>
      </p:sp>
      <p:pic>
        <p:nvPicPr>
          <p:cNvPr id="34" name="Picture 33" descr="lock.png"/>
          <p:cNvPicPr>
            <a:picLocks noChangeAspect="1"/>
          </p:cNvPicPr>
          <p:nvPr/>
        </p:nvPicPr>
        <p:blipFill>
          <a:blip r:embed="rId4"/>
          <a:stretch>
            <a:fillRect/>
          </a:stretch>
        </p:blipFill>
        <p:spPr>
          <a:xfrm>
            <a:off x="5814325" y="1389951"/>
            <a:ext cx="134549" cy="195707"/>
          </a:xfrm>
          <a:prstGeom prst="rect">
            <a:avLst/>
          </a:prstGeom>
        </p:spPr>
      </p:pic>
      <p:sp>
        <p:nvSpPr>
          <p:cNvPr id="35" name="TextBox 34"/>
          <p:cNvSpPr txBox="1"/>
          <p:nvPr/>
        </p:nvSpPr>
        <p:spPr>
          <a:xfrm>
            <a:off x="5989434" y="1400175"/>
            <a:ext cx="1088566" cy="194310"/>
          </a:xfrm>
          <a:prstGeom prst="rect">
            <a:avLst/>
          </a:prstGeom>
          <a:noFill/>
        </p:spPr>
        <p:txBody>
          <a:bodyPr wrap="none" lIns="0" rIns="0" tIns="0" bIns="0">
            <a:spAutoFit/>
          </a:bodyPr>
          <a:lstStyle/>
          <a:p>
            <a:r>
              <a:rPr sz="1150" b="0">
                <a:solidFill>
                  <a:srgbClr val="2E2E2E"/>
                </a:solidFill>
                <a:latin typeface="Calibri"/>
              </a:rPr>
              <a:t>US$ Mn by 2036.</a:t>
            </a:r>
          </a:p>
        </p:txBody>
      </p:sp>
      <p:sp>
        <p:nvSpPr>
          <p:cNvPr id="36" name="TextBox 35"/>
          <p:cNvSpPr txBox="1"/>
          <p:nvPr/>
        </p:nvSpPr>
        <p:spPr>
          <a:xfrm>
            <a:off x="276225" y="1628013"/>
            <a:ext cx="988156" cy="194310"/>
          </a:xfrm>
          <a:prstGeom prst="rect">
            <a:avLst/>
          </a:prstGeom>
          <a:noFill/>
        </p:spPr>
        <p:txBody>
          <a:bodyPr wrap="none" lIns="0" rIns="0" tIns="0" bIns="0">
            <a:spAutoFit/>
          </a:bodyPr>
          <a:lstStyle/>
          <a:p>
            <a:r>
              <a:rPr sz="1150" b="0">
                <a:solidFill>
                  <a:srgbClr val="2E2E2E"/>
                </a:solidFill>
                <a:latin typeface="Calibri"/>
              </a:rPr>
              <a:t>▪ That implies a</a:t>
            </a:r>
          </a:p>
        </p:txBody>
      </p:sp>
      <p:pic>
        <p:nvPicPr>
          <p:cNvPr id="37" name="Picture 36" descr="lock.png"/>
          <p:cNvPicPr>
            <a:picLocks noChangeAspect="1"/>
          </p:cNvPicPr>
          <p:nvPr/>
        </p:nvPicPr>
        <p:blipFill>
          <a:blip r:embed="rId4"/>
          <a:stretch>
            <a:fillRect/>
          </a:stretch>
        </p:blipFill>
        <p:spPr>
          <a:xfrm>
            <a:off x="1213535" y="1617789"/>
            <a:ext cx="134549" cy="195707"/>
          </a:xfrm>
          <a:prstGeom prst="rect">
            <a:avLst/>
          </a:prstGeom>
        </p:spPr>
      </p:pic>
      <p:sp>
        <p:nvSpPr>
          <p:cNvPr id="38" name="TextBox 37"/>
          <p:cNvSpPr txBox="1"/>
          <p:nvPr/>
        </p:nvSpPr>
        <p:spPr>
          <a:xfrm>
            <a:off x="1388644" y="1628013"/>
            <a:ext cx="2163955" cy="194310"/>
          </a:xfrm>
          <a:prstGeom prst="rect">
            <a:avLst/>
          </a:prstGeom>
          <a:noFill/>
        </p:spPr>
        <p:txBody>
          <a:bodyPr wrap="none" lIns="0" rIns="0" tIns="0" bIns="0">
            <a:spAutoFit/>
          </a:bodyPr>
          <a:lstStyle/>
          <a:p>
            <a:r>
              <a:rPr sz="1150" b="0">
                <a:solidFill>
                  <a:srgbClr val="2E2E2E"/>
                </a:solidFill>
                <a:latin typeface="Calibri"/>
              </a:rPr>
              <a:t>forecast CAGR (2026–2036), versus</a:t>
            </a:r>
          </a:p>
        </p:txBody>
      </p:sp>
      <p:pic>
        <p:nvPicPr>
          <p:cNvPr id="39" name="Picture 38" descr="lock.png"/>
          <p:cNvPicPr>
            <a:picLocks noChangeAspect="1"/>
          </p:cNvPicPr>
          <p:nvPr/>
        </p:nvPicPr>
        <p:blipFill>
          <a:blip r:embed="rId4"/>
          <a:stretch>
            <a:fillRect/>
          </a:stretch>
        </p:blipFill>
        <p:spPr>
          <a:xfrm>
            <a:off x="3501754" y="1617789"/>
            <a:ext cx="134549" cy="195707"/>
          </a:xfrm>
          <a:prstGeom prst="rect">
            <a:avLst/>
          </a:prstGeom>
        </p:spPr>
      </p:pic>
      <p:sp>
        <p:nvSpPr>
          <p:cNvPr id="40" name="TextBox 39"/>
          <p:cNvSpPr txBox="1"/>
          <p:nvPr/>
        </p:nvSpPr>
        <p:spPr>
          <a:xfrm>
            <a:off x="3676863" y="1628013"/>
            <a:ext cx="1078867" cy="194310"/>
          </a:xfrm>
          <a:prstGeom prst="rect">
            <a:avLst/>
          </a:prstGeom>
          <a:noFill/>
        </p:spPr>
        <p:txBody>
          <a:bodyPr wrap="none" lIns="0" rIns="0" tIns="0" bIns="0">
            <a:spAutoFit/>
          </a:bodyPr>
          <a:lstStyle/>
          <a:p>
            <a:r>
              <a:rPr sz="1150" b="0">
                <a:solidFill>
                  <a:srgbClr val="2E2E2E"/>
                </a:solidFill>
                <a:latin typeface="Calibri"/>
              </a:rPr>
              <a:t>over 2021–2025.</a:t>
            </a:r>
          </a:p>
        </p:txBody>
      </p:sp>
      <p:sp>
        <p:nvSpPr>
          <p:cNvPr id="41" name="TextBox 40"/>
          <p:cNvSpPr txBox="1"/>
          <p:nvPr/>
        </p:nvSpPr>
        <p:spPr>
          <a:xfrm>
            <a:off x="276225" y="1855851"/>
            <a:ext cx="1070024" cy="194310"/>
          </a:xfrm>
          <a:prstGeom prst="rect">
            <a:avLst/>
          </a:prstGeom>
          <a:noFill/>
        </p:spPr>
        <p:txBody>
          <a:bodyPr wrap="none" lIns="0" rIns="0" tIns="0" bIns="0">
            <a:spAutoFit/>
          </a:bodyPr>
          <a:lstStyle/>
          <a:p>
            <a:r>
              <a:rPr sz="1150" b="0">
                <a:solidFill>
                  <a:srgbClr val="2E2E2E"/>
                </a:solidFill>
                <a:latin typeface="Calibri"/>
              </a:rPr>
              <a:t>▪ An incremental</a:t>
            </a:r>
          </a:p>
        </p:txBody>
      </p:sp>
      <p:pic>
        <p:nvPicPr>
          <p:cNvPr id="42" name="Picture 41" descr="lock.png"/>
          <p:cNvPicPr>
            <a:picLocks noChangeAspect="1"/>
          </p:cNvPicPr>
          <p:nvPr/>
        </p:nvPicPr>
        <p:blipFill>
          <a:blip r:embed="rId4"/>
          <a:stretch>
            <a:fillRect/>
          </a:stretch>
        </p:blipFill>
        <p:spPr>
          <a:xfrm>
            <a:off x="1295403" y="1845627"/>
            <a:ext cx="134549" cy="195707"/>
          </a:xfrm>
          <a:prstGeom prst="rect">
            <a:avLst/>
          </a:prstGeom>
        </p:spPr>
      </p:pic>
      <p:sp>
        <p:nvSpPr>
          <p:cNvPr id="43" name="TextBox 42"/>
          <p:cNvSpPr txBox="1"/>
          <p:nvPr/>
        </p:nvSpPr>
        <p:spPr>
          <a:xfrm>
            <a:off x="1470512" y="1855851"/>
            <a:ext cx="2984934" cy="194310"/>
          </a:xfrm>
          <a:prstGeom prst="rect">
            <a:avLst/>
          </a:prstGeom>
          <a:noFill/>
        </p:spPr>
        <p:txBody>
          <a:bodyPr wrap="none" lIns="0" rIns="0" tIns="0" bIns="0">
            <a:spAutoFit/>
          </a:bodyPr>
          <a:lstStyle/>
          <a:p>
            <a:r>
              <a:rPr sz="1150" b="0">
                <a:solidFill>
                  <a:srgbClr val="2E2E2E"/>
                </a:solidFill>
                <a:latin typeface="Calibri"/>
              </a:rPr>
              <a:t>US$ Mn of demand is created over the forecast a</a:t>
            </a:r>
          </a:p>
        </p:txBody>
      </p:sp>
      <p:pic>
        <p:nvPicPr>
          <p:cNvPr id="44" name="Picture 43" descr="lock.png"/>
          <p:cNvPicPr>
            <a:picLocks noChangeAspect="1"/>
          </p:cNvPicPr>
          <p:nvPr/>
        </p:nvPicPr>
        <p:blipFill>
          <a:blip r:embed="rId4"/>
          <a:stretch>
            <a:fillRect/>
          </a:stretch>
        </p:blipFill>
        <p:spPr>
          <a:xfrm>
            <a:off x="4404600" y="1845627"/>
            <a:ext cx="134549" cy="195707"/>
          </a:xfrm>
          <a:prstGeom prst="rect">
            <a:avLst/>
          </a:prstGeom>
        </p:spPr>
      </p:pic>
      <p:sp>
        <p:nvSpPr>
          <p:cNvPr id="45" name="TextBox 44"/>
          <p:cNvSpPr txBox="1"/>
          <p:nvPr/>
        </p:nvSpPr>
        <p:spPr>
          <a:xfrm>
            <a:off x="4579710" y="1855851"/>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6" name="TextBox 45"/>
          <p:cNvSpPr txBox="1"/>
          <p:nvPr/>
        </p:nvSpPr>
        <p:spPr>
          <a:xfrm>
            <a:off x="276225" y="3200400"/>
            <a:ext cx="5146302" cy="194310"/>
          </a:xfrm>
          <a:prstGeom prst="rect">
            <a:avLst/>
          </a:prstGeom>
          <a:noFill/>
        </p:spPr>
        <p:txBody>
          <a:bodyPr wrap="none" lIns="0" rIns="0" tIns="0" bIns="0">
            <a:spAutoFit/>
          </a:bodyPr>
          <a:lstStyle/>
          <a:p>
            <a:r>
              <a:rPr sz="1150" b="0">
                <a:solidFill>
                  <a:srgbClr val="2E2E2E"/>
                </a:solidFill>
                <a:latin typeface="Calibri"/>
              </a:rPr>
              <a:t>▪ The market is consolidated: the leading product type category 'Sweet muffins' holds</a:t>
            </a:r>
          </a:p>
        </p:txBody>
      </p:sp>
      <p:pic>
        <p:nvPicPr>
          <p:cNvPr id="47" name="Picture 46" descr="lock.png"/>
          <p:cNvPicPr>
            <a:picLocks noChangeAspect="1"/>
          </p:cNvPicPr>
          <p:nvPr/>
        </p:nvPicPr>
        <p:blipFill>
          <a:blip r:embed="rId4"/>
          <a:stretch>
            <a:fillRect/>
          </a:stretch>
        </p:blipFill>
        <p:spPr>
          <a:xfrm>
            <a:off x="5371681" y="3190176"/>
            <a:ext cx="134549" cy="195707"/>
          </a:xfrm>
          <a:prstGeom prst="rect">
            <a:avLst/>
          </a:prstGeom>
        </p:spPr>
      </p:pic>
      <p:sp>
        <p:nvSpPr>
          <p:cNvPr id="48" name="TextBox 47"/>
          <p:cNvSpPr txBox="1"/>
          <p:nvPr/>
        </p:nvSpPr>
        <p:spPr>
          <a:xfrm>
            <a:off x="5546791" y="32004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9" name="TextBox 48"/>
          <p:cNvSpPr txBox="1"/>
          <p:nvPr/>
        </p:nvSpPr>
        <p:spPr>
          <a:xfrm>
            <a:off x="276225" y="3428237"/>
            <a:ext cx="4985134" cy="194310"/>
          </a:xfrm>
          <a:prstGeom prst="rect">
            <a:avLst/>
          </a:prstGeom>
          <a:noFill/>
        </p:spPr>
        <p:txBody>
          <a:bodyPr wrap="none" lIns="0" rIns="0" tIns="0" bIns="0">
            <a:spAutoFit/>
          </a:bodyPr>
          <a:lstStyle/>
          <a:p>
            <a:r>
              <a:rPr sz="1150" b="0">
                <a:solidFill>
                  <a:srgbClr val="2E2E2E"/>
                </a:solidFill>
                <a:latin typeface="Calibri"/>
              </a:rPr>
              <a:t>▪ Demand spans 6 regions and 21 segmentation lenses (2 product type categories).</a:t>
            </a:r>
          </a:p>
        </p:txBody>
      </p:sp>
      <p:sp>
        <p:nvSpPr>
          <p:cNvPr id="50" name="TextBox 49"/>
          <p:cNvSpPr txBox="1"/>
          <p:nvPr/>
        </p:nvSpPr>
        <p:spPr>
          <a:xfrm>
            <a:off x="276225" y="3656075"/>
            <a:ext cx="2950988" cy="194310"/>
          </a:xfrm>
          <a:prstGeom prst="rect">
            <a:avLst/>
          </a:prstGeom>
          <a:noFill/>
        </p:spPr>
        <p:txBody>
          <a:bodyPr wrap="none" lIns="0" rIns="0" tIns="0" bIns="0">
            <a:spAutoFit/>
          </a:bodyPr>
          <a:lstStyle/>
          <a:p>
            <a:r>
              <a:rPr sz="1150" b="0">
                <a:solidFill>
                  <a:srgbClr val="2E2E2E"/>
                </a:solidFill>
                <a:latin typeface="Calibri"/>
              </a:rPr>
              <a:t>▪ North America is the largest regional market at</a:t>
            </a:r>
          </a:p>
        </p:txBody>
      </p:sp>
      <p:pic>
        <p:nvPicPr>
          <p:cNvPr id="51" name="Picture 50" descr="lock.png"/>
          <p:cNvPicPr>
            <a:picLocks noChangeAspect="1"/>
          </p:cNvPicPr>
          <p:nvPr/>
        </p:nvPicPr>
        <p:blipFill>
          <a:blip r:embed="rId4"/>
          <a:stretch>
            <a:fillRect/>
          </a:stretch>
        </p:blipFill>
        <p:spPr>
          <a:xfrm>
            <a:off x="3176367" y="3645852"/>
            <a:ext cx="134549" cy="195707"/>
          </a:xfrm>
          <a:prstGeom prst="rect">
            <a:avLst/>
          </a:prstGeom>
        </p:spPr>
      </p:pic>
      <p:sp>
        <p:nvSpPr>
          <p:cNvPr id="52" name="TextBox 51"/>
          <p:cNvSpPr txBox="1"/>
          <p:nvPr/>
        </p:nvSpPr>
        <p:spPr>
          <a:xfrm>
            <a:off x="3351477" y="36560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3" name="TextBox 52"/>
          <p:cNvSpPr txBox="1"/>
          <p:nvPr/>
        </p:nvSpPr>
        <p:spPr>
          <a:xfrm>
            <a:off x="276225" y="5000625"/>
            <a:ext cx="2520540" cy="194310"/>
          </a:xfrm>
          <a:prstGeom prst="rect">
            <a:avLst/>
          </a:prstGeom>
          <a:noFill/>
        </p:spPr>
        <p:txBody>
          <a:bodyPr wrap="none" lIns="0" rIns="0" tIns="0" bIns="0">
            <a:spAutoFit/>
          </a:bodyPr>
          <a:lstStyle/>
          <a:p>
            <a:r>
              <a:rPr sz="1150" b="0">
                <a:solidFill>
                  <a:srgbClr val="2E2E2E"/>
                </a:solidFill>
                <a:latin typeface="Calibri"/>
              </a:rPr>
              <a:t>▪ Accelerating uptake of 'Sweet muffins' (</a:t>
            </a:r>
          </a:p>
        </p:txBody>
      </p:sp>
      <p:pic>
        <p:nvPicPr>
          <p:cNvPr id="54" name="Picture 53" descr="lock.png"/>
          <p:cNvPicPr>
            <a:picLocks noChangeAspect="1"/>
          </p:cNvPicPr>
          <p:nvPr/>
        </p:nvPicPr>
        <p:blipFill>
          <a:blip r:embed="rId4"/>
          <a:stretch>
            <a:fillRect/>
          </a:stretch>
        </p:blipFill>
        <p:spPr>
          <a:xfrm>
            <a:off x="2745919" y="4990401"/>
            <a:ext cx="134549" cy="195707"/>
          </a:xfrm>
          <a:prstGeom prst="rect">
            <a:avLst/>
          </a:prstGeom>
        </p:spPr>
      </p:pic>
      <p:sp>
        <p:nvSpPr>
          <p:cNvPr id="55" name="TextBox 54"/>
          <p:cNvSpPr txBox="1"/>
          <p:nvPr/>
        </p:nvSpPr>
        <p:spPr>
          <a:xfrm>
            <a:off x="2921028" y="500062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6" name="TextBox 55"/>
          <p:cNvSpPr txBox="1"/>
          <p:nvPr/>
        </p:nvSpPr>
        <p:spPr>
          <a:xfrm>
            <a:off x="276225" y="5228463"/>
            <a:ext cx="2877045" cy="194310"/>
          </a:xfrm>
          <a:prstGeom prst="rect">
            <a:avLst/>
          </a:prstGeom>
          <a:noFill/>
        </p:spPr>
        <p:txBody>
          <a:bodyPr wrap="none" lIns="0" rIns="0" tIns="0" bIns="0">
            <a:spAutoFit/>
          </a:bodyPr>
          <a:lstStyle/>
          <a:p>
            <a:r>
              <a:rPr sz="1150" b="0">
                <a:solidFill>
                  <a:srgbClr val="2E2E2E"/>
                </a:solidFill>
                <a:latin typeface="Calibri"/>
              </a:rPr>
              <a:t>▪ Fast-growing demand in South Asia &amp; Pacific (</a:t>
            </a:r>
          </a:p>
        </p:txBody>
      </p:sp>
      <p:pic>
        <p:nvPicPr>
          <p:cNvPr id="57" name="Picture 56" descr="lock.png"/>
          <p:cNvPicPr>
            <a:picLocks noChangeAspect="1"/>
          </p:cNvPicPr>
          <p:nvPr/>
        </p:nvPicPr>
        <p:blipFill>
          <a:blip r:embed="rId4"/>
          <a:stretch>
            <a:fillRect/>
          </a:stretch>
        </p:blipFill>
        <p:spPr>
          <a:xfrm>
            <a:off x="3102424" y="5218239"/>
            <a:ext cx="134549" cy="195707"/>
          </a:xfrm>
          <a:prstGeom prst="rect">
            <a:avLst/>
          </a:prstGeom>
        </p:spPr>
      </p:pic>
      <p:sp>
        <p:nvSpPr>
          <p:cNvPr id="58" name="TextBox 57"/>
          <p:cNvSpPr txBox="1"/>
          <p:nvPr/>
        </p:nvSpPr>
        <p:spPr>
          <a:xfrm>
            <a:off x="3277533" y="522846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9" name="TextBox 58"/>
          <p:cNvSpPr txBox="1"/>
          <p:nvPr/>
        </p:nvSpPr>
        <p:spPr>
          <a:xfrm>
            <a:off x="276225" y="5456300"/>
            <a:ext cx="3497218" cy="194310"/>
          </a:xfrm>
          <a:prstGeom prst="rect">
            <a:avLst/>
          </a:prstGeom>
          <a:noFill/>
        </p:spPr>
        <p:txBody>
          <a:bodyPr wrap="none" lIns="0" rIns="0" tIns="0" bIns="0">
            <a:spAutoFit/>
          </a:bodyPr>
          <a:lstStyle/>
          <a:p>
            <a:r>
              <a:rPr sz="1150" b="0">
                <a:solidFill>
                  <a:srgbClr val="2E2E2E"/>
                </a:solidFill>
                <a:latin typeface="Calibri"/>
              </a:rPr>
              <a:t>▪ Momentum in Foodservice and institutional within sales</a:t>
            </a:r>
          </a:p>
        </p:txBody>
      </p:sp>
      <p:sp>
        <p:nvSpPr>
          <p:cNvPr id="60" name="TextBox 59"/>
          <p:cNvSpPr txBox="1"/>
          <p:nvPr/>
        </p:nvSpPr>
        <p:spPr>
          <a:xfrm>
            <a:off x="276225" y="5631560"/>
            <a:ext cx="621890" cy="194310"/>
          </a:xfrm>
          <a:prstGeom prst="rect">
            <a:avLst/>
          </a:prstGeom>
          <a:noFill/>
        </p:spPr>
        <p:txBody>
          <a:bodyPr wrap="none" lIns="0" rIns="0" tIns="0" bIns="0">
            <a:spAutoFit/>
          </a:bodyPr>
          <a:lstStyle/>
          <a:p>
            <a:r>
              <a:rPr sz="1150" b="0">
                <a:solidFill>
                  <a:srgbClr val="2E2E2E"/>
                </a:solidFill>
                <a:latin typeface="Calibri"/>
              </a:rPr>
              <a:t>channel (</a:t>
            </a:r>
          </a:p>
        </p:txBody>
      </p:sp>
      <p:pic>
        <p:nvPicPr>
          <p:cNvPr id="61" name="Picture 60" descr="lock.png"/>
          <p:cNvPicPr>
            <a:picLocks noChangeAspect="1"/>
          </p:cNvPicPr>
          <p:nvPr/>
        </p:nvPicPr>
        <p:blipFill>
          <a:blip r:embed="rId4"/>
          <a:stretch>
            <a:fillRect/>
          </a:stretch>
        </p:blipFill>
        <p:spPr>
          <a:xfrm>
            <a:off x="847269" y="5621337"/>
            <a:ext cx="134549" cy="195707"/>
          </a:xfrm>
          <a:prstGeom prst="rect">
            <a:avLst/>
          </a:prstGeom>
        </p:spPr>
      </p:pic>
      <p:sp>
        <p:nvSpPr>
          <p:cNvPr id="62" name="TextBox 61"/>
          <p:cNvSpPr txBox="1"/>
          <p:nvPr/>
        </p:nvSpPr>
        <p:spPr>
          <a:xfrm>
            <a:off x="1022378" y="56315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3" name="TextBox 62"/>
          <p:cNvSpPr txBox="1"/>
          <p:nvPr/>
        </p:nvSpPr>
        <p:spPr>
          <a:xfrm>
            <a:off x="4371975" y="5000625"/>
            <a:ext cx="2577306" cy="194310"/>
          </a:xfrm>
          <a:prstGeom prst="rect">
            <a:avLst/>
          </a:prstGeom>
          <a:noFill/>
        </p:spPr>
        <p:txBody>
          <a:bodyPr wrap="none" lIns="0" rIns="0" tIns="0" bIns="0">
            <a:spAutoFit/>
          </a:bodyPr>
          <a:lstStyle/>
          <a:p>
            <a:r>
              <a:rPr sz="1150" b="0">
                <a:solidFill>
                  <a:srgbClr val="2E2E2E"/>
                </a:solidFill>
                <a:latin typeface="Calibri"/>
              </a:rPr>
              <a:t>▪ Slower momentum in 'Savoury muffins' (</a:t>
            </a:r>
          </a:p>
        </p:txBody>
      </p:sp>
      <p:pic>
        <p:nvPicPr>
          <p:cNvPr id="64" name="Picture 63" descr="lock.png"/>
          <p:cNvPicPr>
            <a:picLocks noChangeAspect="1"/>
          </p:cNvPicPr>
          <p:nvPr/>
        </p:nvPicPr>
        <p:blipFill>
          <a:blip r:embed="rId4"/>
          <a:stretch>
            <a:fillRect/>
          </a:stretch>
        </p:blipFill>
        <p:spPr>
          <a:xfrm>
            <a:off x="6898435" y="4990401"/>
            <a:ext cx="134549" cy="195707"/>
          </a:xfrm>
          <a:prstGeom prst="rect">
            <a:avLst/>
          </a:prstGeom>
        </p:spPr>
      </p:pic>
      <p:sp>
        <p:nvSpPr>
          <p:cNvPr id="65" name="TextBox 64"/>
          <p:cNvSpPr txBox="1"/>
          <p:nvPr/>
        </p:nvSpPr>
        <p:spPr>
          <a:xfrm>
            <a:off x="7073544" y="50006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6" name="TextBox 65"/>
          <p:cNvSpPr txBox="1"/>
          <p:nvPr/>
        </p:nvSpPr>
        <p:spPr>
          <a:xfrm>
            <a:off x="4371975" y="52284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7" name="TextBox 66"/>
          <p:cNvSpPr txBox="1"/>
          <p:nvPr/>
        </p:nvSpPr>
        <p:spPr>
          <a:xfrm>
            <a:off x="4371975" y="54037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8" name="Picture 67" descr="lock.png"/>
          <p:cNvPicPr>
            <a:picLocks noChangeAspect="1"/>
          </p:cNvPicPr>
          <p:nvPr/>
        </p:nvPicPr>
        <p:blipFill>
          <a:blip r:embed="rId4"/>
          <a:stretch>
            <a:fillRect/>
          </a:stretch>
        </p:blipFill>
        <p:spPr>
          <a:xfrm>
            <a:off x="4883401" y="5393499"/>
            <a:ext cx="134549" cy="195707"/>
          </a:xfrm>
          <a:prstGeom prst="rect">
            <a:avLst/>
          </a:prstGeom>
        </p:spPr>
      </p:pic>
      <p:sp>
        <p:nvSpPr>
          <p:cNvPr id="69" name="TextBox 68"/>
          <p:cNvSpPr txBox="1"/>
          <p:nvPr/>
        </p:nvSpPr>
        <p:spPr>
          <a:xfrm>
            <a:off x="5058510" y="54037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4371975" y="5631560"/>
            <a:ext cx="3530054" cy="194310"/>
          </a:xfrm>
          <a:prstGeom prst="rect">
            <a:avLst/>
          </a:prstGeom>
          <a:noFill/>
        </p:spPr>
        <p:txBody>
          <a:bodyPr wrap="none" lIns="0" rIns="0" tIns="0" bIns="0">
            <a:spAutoFit/>
          </a:bodyPr>
          <a:lstStyle/>
          <a:p>
            <a:r>
              <a:rPr sz="1150" b="0">
                <a:solidFill>
                  <a:srgbClr val="2E2E2E"/>
                </a:solidFill>
                <a:latin typeface="Calibri"/>
              </a:rPr>
              <a:t>▪ Value concentration in 'Sweet muffins' raises barriers for</a:t>
            </a:r>
          </a:p>
        </p:txBody>
      </p:sp>
      <p:sp>
        <p:nvSpPr>
          <p:cNvPr id="71" name="TextBox 70"/>
          <p:cNvSpPr txBox="1"/>
          <p:nvPr/>
        </p:nvSpPr>
        <p:spPr>
          <a:xfrm>
            <a:off x="4371975" y="5806820"/>
            <a:ext cx="902295" cy="194310"/>
          </a:xfrm>
          <a:prstGeom prst="rect">
            <a:avLst/>
          </a:prstGeom>
          <a:noFill/>
        </p:spPr>
        <p:txBody>
          <a:bodyPr wrap="none" lIns="0" rIns="0" tIns="0" bIns="0">
            <a:spAutoFit/>
          </a:bodyPr>
          <a:lstStyle/>
          <a:p>
            <a:r>
              <a:rPr sz="1150" b="0">
                <a:solidFill>
                  <a:srgbClr val="2E2E2E"/>
                </a:solidFill>
                <a:latin typeface="Calibri"/>
              </a:rPr>
              <a:t>new entrants.</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'Sweet muffins' and South Asia &amp; Pacific.</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North America and South Asia &amp; Pacific.</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1856829" cy="186689"/>
          </a:xfrm>
          <a:prstGeom prst="rect">
            <a:avLst/>
          </a:prstGeom>
          <a:noFill/>
        </p:spPr>
        <p:txBody>
          <a:bodyPr wrap="none" lIns="0" rIns="0" tIns="0" bIns="0">
            <a:spAutoFit/>
          </a:bodyPr>
          <a:lstStyle/>
          <a:p>
            <a:r>
              <a:rPr sz="1100" b="0">
                <a:solidFill>
                  <a:srgbClr val="2E2E2E"/>
                </a:solidFill>
                <a:latin typeface="Calibri"/>
              </a:rPr>
              <a:t>▪ Lead category 'Sweet muffins'</a:t>
            </a:r>
          </a:p>
        </p:txBody>
      </p:sp>
      <p:pic>
        <p:nvPicPr>
          <p:cNvPr id="41" name="Picture 40" descr="lock.png"/>
          <p:cNvPicPr>
            <a:picLocks noChangeAspect="1"/>
          </p:cNvPicPr>
          <p:nvPr/>
        </p:nvPicPr>
        <p:blipFill>
          <a:blip r:embed="rId5"/>
          <a:stretch>
            <a:fillRect/>
          </a:stretch>
        </p:blipFill>
        <p:spPr>
          <a:xfrm>
            <a:off x="8110430" y="1826260"/>
            <a:ext cx="128699" cy="187198"/>
          </a:xfrm>
          <a:prstGeom prst="rect">
            <a:avLst/>
          </a:prstGeom>
        </p:spPr>
      </p:pic>
      <p:sp>
        <p:nvSpPr>
          <p:cNvPr id="42" name="TextBox 41"/>
          <p:cNvSpPr txBox="1"/>
          <p:nvPr/>
        </p:nvSpPr>
        <p:spPr>
          <a:xfrm>
            <a:off x="8277926"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686297" cy="186689"/>
          </a:xfrm>
          <a:prstGeom prst="rect">
            <a:avLst/>
          </a:prstGeom>
          <a:noFill/>
        </p:spPr>
        <p:txBody>
          <a:bodyPr wrap="none" lIns="0" rIns="0" tIns="0" bIns="0">
            <a:spAutoFit/>
          </a:bodyPr>
          <a:lstStyle/>
          <a:p>
            <a:r>
              <a:rPr sz="1100" b="0">
                <a:solidFill>
                  <a:srgbClr val="2E2E2E"/>
                </a:solidFill>
                <a:latin typeface="Calibri"/>
              </a:rPr>
              <a:t>▪ Lead region North America</a:t>
            </a:r>
          </a:p>
        </p:txBody>
      </p:sp>
      <p:pic>
        <p:nvPicPr>
          <p:cNvPr id="44" name="Picture 43" descr="lock.png"/>
          <p:cNvPicPr>
            <a:picLocks noChangeAspect="1"/>
          </p:cNvPicPr>
          <p:nvPr/>
        </p:nvPicPr>
        <p:blipFill>
          <a:blip r:embed="rId5"/>
          <a:stretch>
            <a:fillRect/>
          </a:stretch>
        </p:blipFill>
        <p:spPr>
          <a:xfrm>
            <a:off x="7939898" y="2044192"/>
            <a:ext cx="128699" cy="187198"/>
          </a:xfrm>
          <a:prstGeom prst="rect">
            <a:avLst/>
          </a:prstGeom>
        </p:spPr>
      </p:pic>
      <p:sp>
        <p:nvSpPr>
          <p:cNvPr id="45" name="TextBox 44"/>
          <p:cNvSpPr txBox="1"/>
          <p:nvPr/>
        </p:nvSpPr>
        <p:spPr>
          <a:xfrm>
            <a:off x="8107394"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343883" cy="194310"/>
          </a:xfrm>
          <a:prstGeom prst="rect">
            <a:avLst/>
          </a:prstGeom>
          <a:noFill/>
        </p:spPr>
        <p:txBody>
          <a:bodyPr wrap="none" lIns="0" rIns="0" tIns="0" bIns="0">
            <a:spAutoFit/>
          </a:bodyPr>
          <a:lstStyle/>
          <a:p>
            <a:r>
              <a:rPr sz="1150" b="0">
                <a:solidFill>
                  <a:srgbClr val="2E2E2E"/>
                </a:solidFill>
                <a:latin typeface="Calibri"/>
              </a:rPr>
              <a:t>▪ Investment is flowing toward the fastest-growing tier 'Sweet muffins' (</a:t>
            </a:r>
          </a:p>
        </p:txBody>
      </p:sp>
      <p:pic>
        <p:nvPicPr>
          <p:cNvPr id="50" name="Picture 49" descr="lock.png"/>
          <p:cNvPicPr>
            <a:picLocks noChangeAspect="1"/>
          </p:cNvPicPr>
          <p:nvPr/>
        </p:nvPicPr>
        <p:blipFill>
          <a:blip r:embed="rId5"/>
          <a:stretch>
            <a:fillRect/>
          </a:stretch>
        </p:blipFill>
        <p:spPr>
          <a:xfrm>
            <a:off x="4569262" y="3304476"/>
            <a:ext cx="134549" cy="195707"/>
          </a:xfrm>
          <a:prstGeom prst="rect">
            <a:avLst/>
          </a:prstGeom>
        </p:spPr>
      </p:pic>
      <p:sp>
        <p:nvSpPr>
          <p:cNvPr id="51" name="TextBox 50"/>
          <p:cNvSpPr txBox="1"/>
          <p:nvPr/>
        </p:nvSpPr>
        <p:spPr>
          <a:xfrm>
            <a:off x="4744371" y="33147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2" name="TextBox 51"/>
          <p:cNvSpPr txBox="1"/>
          <p:nvPr/>
        </p:nvSpPr>
        <p:spPr>
          <a:xfrm>
            <a:off x="276225" y="3542537"/>
            <a:ext cx="1409762" cy="194310"/>
          </a:xfrm>
          <a:prstGeom prst="rect">
            <a:avLst/>
          </a:prstGeom>
          <a:noFill/>
        </p:spPr>
        <p:txBody>
          <a:bodyPr wrap="none" lIns="0" rIns="0" tIns="0" bIns="0">
            <a:spAutoFit/>
          </a:bodyPr>
          <a:lstStyle/>
          <a:p>
            <a:r>
              <a:rPr sz="1150" b="0">
                <a:solidFill>
                  <a:srgbClr val="2E2E2E"/>
                </a:solidFill>
                <a:latin typeface="Calibri"/>
              </a:rPr>
              <a:t>▪ South Asia &amp; Pacific (</a:t>
            </a:r>
          </a:p>
        </p:txBody>
      </p:sp>
      <p:pic>
        <p:nvPicPr>
          <p:cNvPr id="53" name="Picture 52" descr="lock.png"/>
          <p:cNvPicPr>
            <a:picLocks noChangeAspect="1"/>
          </p:cNvPicPr>
          <p:nvPr/>
        </p:nvPicPr>
        <p:blipFill>
          <a:blip r:embed="rId5"/>
          <a:stretch>
            <a:fillRect/>
          </a:stretch>
        </p:blipFill>
        <p:spPr>
          <a:xfrm>
            <a:off x="1635140" y="3532314"/>
            <a:ext cx="134549" cy="195707"/>
          </a:xfrm>
          <a:prstGeom prst="rect">
            <a:avLst/>
          </a:prstGeom>
        </p:spPr>
      </p:pic>
      <p:sp>
        <p:nvSpPr>
          <p:cNvPr id="54" name="TextBox 53"/>
          <p:cNvSpPr txBox="1"/>
          <p:nvPr/>
        </p:nvSpPr>
        <p:spPr>
          <a:xfrm>
            <a:off x="1810250" y="3542537"/>
            <a:ext cx="2283494" cy="194310"/>
          </a:xfrm>
          <a:prstGeom prst="rect">
            <a:avLst/>
          </a:prstGeom>
          <a:noFill/>
        </p:spPr>
        <p:txBody>
          <a:bodyPr wrap="none" lIns="0" rIns="0" tIns="0" bIns="0">
            <a:spAutoFit/>
          </a:bodyPr>
          <a:lstStyle/>
          <a:p>
            <a:r>
              <a:rPr sz="1150" b="0">
                <a:solidFill>
                  <a:srgbClr val="2E2E2E"/>
                </a:solidFill>
                <a:latin typeface="Calibri"/>
              </a:rPr>
              <a:t>) is a priority region for new capacity.</a:t>
            </a:r>
          </a:p>
        </p:txBody>
      </p:sp>
      <p:sp>
        <p:nvSpPr>
          <p:cNvPr id="55" name="TextBox 54"/>
          <p:cNvSpPr txBox="1"/>
          <p:nvPr/>
        </p:nvSpPr>
        <p:spPr>
          <a:xfrm>
            <a:off x="276225" y="3770375"/>
            <a:ext cx="2857996" cy="194310"/>
          </a:xfrm>
          <a:prstGeom prst="rect">
            <a:avLst/>
          </a:prstGeom>
          <a:noFill/>
        </p:spPr>
        <p:txBody>
          <a:bodyPr wrap="none" lIns="0" rIns="0" tIns="0" bIns="0">
            <a:spAutoFit/>
          </a:bodyPr>
          <a:lstStyle/>
          <a:p>
            <a:r>
              <a:rPr sz="1150" b="0">
                <a:solidFill>
                  <a:srgbClr val="2E2E2E"/>
                </a:solidFill>
                <a:latin typeface="Calibri"/>
              </a:rPr>
              <a:t>▪ Scale players anchor around 'Sweet muffins' (</a:t>
            </a:r>
          </a:p>
        </p:txBody>
      </p:sp>
      <p:pic>
        <p:nvPicPr>
          <p:cNvPr id="56" name="Picture 55" descr="lock.png"/>
          <p:cNvPicPr>
            <a:picLocks noChangeAspect="1"/>
          </p:cNvPicPr>
          <p:nvPr/>
        </p:nvPicPr>
        <p:blipFill>
          <a:blip r:embed="rId5"/>
          <a:stretch>
            <a:fillRect/>
          </a:stretch>
        </p:blipFill>
        <p:spPr>
          <a:xfrm>
            <a:off x="3083375" y="3760152"/>
            <a:ext cx="134549" cy="195707"/>
          </a:xfrm>
          <a:prstGeom prst="rect">
            <a:avLst/>
          </a:prstGeom>
        </p:spPr>
      </p:pic>
      <p:sp>
        <p:nvSpPr>
          <p:cNvPr id="57" name="TextBox 56"/>
          <p:cNvSpPr txBox="1"/>
          <p:nvPr/>
        </p:nvSpPr>
        <p:spPr>
          <a:xfrm>
            <a:off x="3258484" y="3770375"/>
            <a:ext cx="484683"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58" name="TextBox 57"/>
          <p:cNvSpPr txBox="1"/>
          <p:nvPr/>
        </p:nvSpPr>
        <p:spPr>
          <a:xfrm>
            <a:off x="6305550" y="3314700"/>
            <a:ext cx="4758642" cy="194310"/>
          </a:xfrm>
          <a:prstGeom prst="rect">
            <a:avLst/>
          </a:prstGeom>
          <a:noFill/>
        </p:spPr>
        <p:txBody>
          <a:bodyPr wrap="none" lIns="0" rIns="0" tIns="0" bIns="0">
            <a:spAutoFit/>
          </a:bodyPr>
          <a:lstStyle/>
          <a:p>
            <a:r>
              <a:rPr sz="1150" b="0">
                <a:solidFill>
                  <a:srgbClr val="2E2E2E"/>
                </a:solidFill>
                <a:latin typeface="Calibri"/>
              </a:rPr>
              <a:t>▪ R&amp;D aligns with the migration to 'Sweet muffins' and adjacent premium tiers.</a:t>
            </a:r>
          </a:p>
        </p:txBody>
      </p:sp>
      <p:sp>
        <p:nvSpPr>
          <p:cNvPr id="59" name="TextBox 58"/>
          <p:cNvSpPr txBox="1"/>
          <p:nvPr/>
        </p:nvSpPr>
        <p:spPr>
          <a:xfrm>
            <a:off x="6305550" y="3542537"/>
            <a:ext cx="4603179" cy="194310"/>
          </a:xfrm>
          <a:prstGeom prst="rect">
            <a:avLst/>
          </a:prstGeom>
          <a:noFill/>
        </p:spPr>
        <p:txBody>
          <a:bodyPr wrap="none" lIns="0" rIns="0" tIns="0" bIns="0">
            <a:spAutoFit/>
          </a:bodyPr>
          <a:lstStyle/>
          <a:p>
            <a:r>
              <a:rPr sz="1150" b="0">
                <a:solidFill>
                  <a:srgbClr val="2E2E2E"/>
                </a:solidFill>
                <a:latin typeface="Calibri"/>
              </a:rPr>
              <a:t>▪ Development spend targets product type categories gaining share to 2036.</a:t>
            </a:r>
          </a:p>
        </p:txBody>
      </p:sp>
      <p:sp>
        <p:nvSpPr>
          <p:cNvPr id="60" name="TextBox 59"/>
          <p:cNvSpPr txBox="1"/>
          <p:nvPr/>
        </p:nvSpPr>
        <p:spPr>
          <a:xfrm>
            <a:off x="6305550" y="3770375"/>
            <a:ext cx="1663352" cy="194310"/>
          </a:xfrm>
          <a:prstGeom prst="rect">
            <a:avLst/>
          </a:prstGeom>
          <a:noFill/>
        </p:spPr>
        <p:txBody>
          <a:bodyPr wrap="none" lIns="0" rIns="0" tIns="0" bIns="0">
            <a:spAutoFit/>
          </a:bodyPr>
          <a:lstStyle/>
          <a:p>
            <a:r>
              <a:rPr sz="115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918056" y="3760152"/>
            <a:ext cx="134549" cy="195707"/>
          </a:xfrm>
          <a:prstGeom prst="rect">
            <a:avLst/>
          </a:prstGeom>
        </p:spPr>
      </p:pic>
      <p:sp>
        <p:nvSpPr>
          <p:cNvPr id="62" name="TextBox 61"/>
          <p:cNvSpPr txBox="1"/>
          <p:nvPr/>
        </p:nvSpPr>
        <p:spPr>
          <a:xfrm>
            <a:off x="8093165" y="3770375"/>
            <a:ext cx="963036" cy="194310"/>
          </a:xfrm>
          <a:prstGeom prst="rect">
            <a:avLst/>
          </a:prstGeom>
          <a:noFill/>
        </p:spPr>
        <p:txBody>
          <a:bodyPr wrap="none" lIns="0" rIns="0" tIns="0" bIns="0">
            <a:spAutoFit/>
          </a:bodyPr>
          <a:lstStyle/>
          <a:p>
            <a:r>
              <a:rPr sz="115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'Sweet muffins' tier and Foodservice and institutional within sales channel.</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52417" cy="194310"/>
          </a:xfrm>
          <a:prstGeom prst="rect">
            <a:avLst/>
          </a:prstGeom>
          <a:noFill/>
        </p:spPr>
        <p:txBody>
          <a:bodyPr wrap="none" lIns="0" rIns="0" tIns="0" bIns="0">
            <a:spAutoFit/>
          </a:bodyPr>
          <a:lstStyle/>
          <a:p>
            <a:r>
              <a:rPr sz="1150" b="0">
                <a:solidFill>
                  <a:srgbClr val="2E2E2E"/>
                </a:solidFill>
                <a:latin typeface="Calibri"/>
              </a:rPr>
              <a:t>▪ Balance scale in 'Sweet muffins' with targeted growth in 'Sweet muffins', pursuing the</a:t>
            </a:r>
          </a:p>
        </p:txBody>
      </p:sp>
      <p:pic>
        <p:nvPicPr>
          <p:cNvPr id="32" name="Picture 31" descr="lock.png"/>
          <p:cNvPicPr>
            <a:picLocks noChangeAspect="1"/>
          </p:cNvPicPr>
          <p:nvPr/>
        </p:nvPicPr>
        <p:blipFill>
          <a:blip r:embed="rId4"/>
          <a:stretch>
            <a:fillRect/>
          </a:stretch>
        </p:blipFill>
        <p:spPr>
          <a:xfrm>
            <a:off x="5477796" y="1389951"/>
            <a:ext cx="134549" cy="195707"/>
          </a:xfrm>
          <a:prstGeom prst="rect">
            <a:avLst/>
          </a:prstGeom>
        </p:spPr>
      </p:pic>
      <p:sp>
        <p:nvSpPr>
          <p:cNvPr id="33" name="TextBox 32"/>
          <p:cNvSpPr txBox="1"/>
          <p:nvPr/>
        </p:nvSpPr>
        <p:spPr>
          <a:xfrm>
            <a:off x="276225"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4" name="TextBox 33"/>
          <p:cNvSpPr txBox="1"/>
          <p:nvPr/>
        </p:nvSpPr>
        <p:spPr>
          <a:xfrm>
            <a:off x="276225" y="3276600"/>
            <a:ext cx="1719262" cy="194310"/>
          </a:xfrm>
          <a:prstGeom prst="rect">
            <a:avLst/>
          </a:prstGeom>
          <a:noFill/>
        </p:spPr>
        <p:txBody>
          <a:bodyPr wrap="none" lIns="0" rIns="0" tIns="0" bIns="0">
            <a:spAutoFit/>
          </a:bodyPr>
          <a:lstStyle/>
          <a:p>
            <a:r>
              <a:rPr sz="1150" b="0">
                <a:solidFill>
                  <a:srgbClr val="2E2E2E"/>
                </a:solidFill>
                <a:latin typeface="Calibri"/>
              </a:rPr>
              <a:t>▪ Prioritise 'Sweet muffins' (</a:t>
            </a:r>
          </a:p>
        </p:txBody>
      </p:sp>
      <p:pic>
        <p:nvPicPr>
          <p:cNvPr id="35" name="Picture 34" descr="lock.png"/>
          <p:cNvPicPr>
            <a:picLocks noChangeAspect="1"/>
          </p:cNvPicPr>
          <p:nvPr/>
        </p:nvPicPr>
        <p:blipFill>
          <a:blip r:embed="rId4"/>
          <a:stretch>
            <a:fillRect/>
          </a:stretch>
        </p:blipFill>
        <p:spPr>
          <a:xfrm>
            <a:off x="1944641" y="3266376"/>
            <a:ext cx="134549" cy="195707"/>
          </a:xfrm>
          <a:prstGeom prst="rect">
            <a:avLst/>
          </a:prstGeom>
        </p:spPr>
      </p:pic>
      <p:sp>
        <p:nvSpPr>
          <p:cNvPr id="36" name="TextBox 35"/>
          <p:cNvSpPr txBox="1"/>
          <p:nvPr/>
        </p:nvSpPr>
        <p:spPr>
          <a:xfrm>
            <a:off x="2119750" y="3276600"/>
            <a:ext cx="1609439" cy="194310"/>
          </a:xfrm>
          <a:prstGeom prst="rect">
            <a:avLst/>
          </a:prstGeom>
          <a:noFill/>
        </p:spPr>
        <p:txBody>
          <a:bodyPr wrap="none" lIns="0" rIns="0" tIns="0" bIns="0">
            <a:spAutoFit/>
          </a:bodyPr>
          <a:lstStyle/>
          <a:p>
            <a:r>
              <a:rPr sz="1150" b="0">
                <a:solidFill>
                  <a:srgbClr val="2E2E2E"/>
                </a:solidFill>
                <a:latin typeface="Calibri"/>
              </a:rPr>
              <a:t>); 'Sweet muffins' anchors</a:t>
            </a:r>
          </a:p>
        </p:txBody>
      </p:sp>
      <p:pic>
        <p:nvPicPr>
          <p:cNvPr id="37" name="Picture 36" descr="lock.png"/>
          <p:cNvPicPr>
            <a:picLocks noChangeAspect="1"/>
          </p:cNvPicPr>
          <p:nvPr/>
        </p:nvPicPr>
        <p:blipFill>
          <a:blip r:embed="rId4"/>
          <a:stretch>
            <a:fillRect/>
          </a:stretch>
        </p:blipFill>
        <p:spPr>
          <a:xfrm>
            <a:off x="3678344" y="3266376"/>
            <a:ext cx="134549" cy="195707"/>
          </a:xfrm>
          <a:prstGeom prst="rect">
            <a:avLst/>
          </a:prstGeom>
        </p:spPr>
      </p:pic>
      <p:sp>
        <p:nvSpPr>
          <p:cNvPr id="38" name="TextBox 37"/>
          <p:cNvSpPr txBox="1"/>
          <p:nvPr/>
        </p:nvSpPr>
        <p:spPr>
          <a:xfrm>
            <a:off x="3853453" y="3276600"/>
            <a:ext cx="586519" cy="194310"/>
          </a:xfrm>
          <a:prstGeom prst="rect">
            <a:avLst/>
          </a:prstGeom>
          <a:noFill/>
        </p:spPr>
        <p:txBody>
          <a:bodyPr wrap="none" lIns="0" rIns="0" tIns="0" bIns="0">
            <a:spAutoFit/>
          </a:bodyPr>
          <a:lstStyle/>
          <a:p>
            <a:r>
              <a:rPr sz="1150" b="0">
                <a:solidFill>
                  <a:srgbClr val="2E2E2E"/>
                </a:solidFill>
                <a:latin typeface="Calibri"/>
              </a:rPr>
              <a:t>of value.</a:t>
            </a:r>
          </a:p>
        </p:txBody>
      </p:sp>
      <p:sp>
        <p:nvSpPr>
          <p:cNvPr id="39" name="TextBox 38"/>
          <p:cNvSpPr txBox="1"/>
          <p:nvPr/>
        </p:nvSpPr>
        <p:spPr>
          <a:xfrm>
            <a:off x="6305550" y="3276600"/>
            <a:ext cx="1720688" cy="194310"/>
          </a:xfrm>
          <a:prstGeom prst="rect">
            <a:avLst/>
          </a:prstGeom>
          <a:noFill/>
        </p:spPr>
        <p:txBody>
          <a:bodyPr wrap="none" lIns="0" rIns="0" tIns="0" bIns="0">
            <a:spAutoFit/>
          </a:bodyPr>
          <a:lstStyle/>
          <a:p>
            <a:r>
              <a:rPr sz="1150" b="0">
                <a:solidFill>
                  <a:srgbClr val="2E2E2E"/>
                </a:solidFill>
                <a:latin typeface="Calibri"/>
              </a:rPr>
              <a:t>▪ Lead with North America (</a:t>
            </a:r>
          </a:p>
        </p:txBody>
      </p:sp>
      <p:pic>
        <p:nvPicPr>
          <p:cNvPr id="40" name="Picture 39" descr="lock.png"/>
          <p:cNvPicPr>
            <a:picLocks noChangeAspect="1"/>
          </p:cNvPicPr>
          <p:nvPr/>
        </p:nvPicPr>
        <p:blipFill>
          <a:blip r:embed="rId4"/>
          <a:stretch>
            <a:fillRect/>
          </a:stretch>
        </p:blipFill>
        <p:spPr>
          <a:xfrm>
            <a:off x="7975392" y="3266376"/>
            <a:ext cx="134549" cy="195707"/>
          </a:xfrm>
          <a:prstGeom prst="rect">
            <a:avLst/>
          </a:prstGeom>
        </p:spPr>
      </p:pic>
      <p:sp>
        <p:nvSpPr>
          <p:cNvPr id="41" name="TextBox 40"/>
          <p:cNvSpPr txBox="1"/>
          <p:nvPr/>
        </p:nvSpPr>
        <p:spPr>
          <a:xfrm>
            <a:off x="8150501" y="3276600"/>
            <a:ext cx="2502854" cy="194310"/>
          </a:xfrm>
          <a:prstGeom prst="rect">
            <a:avLst/>
          </a:prstGeom>
          <a:noFill/>
        </p:spPr>
        <p:txBody>
          <a:bodyPr wrap="none" lIns="0" rIns="0" tIns="0" bIns="0">
            <a:spAutoFit/>
          </a:bodyPr>
          <a:lstStyle/>
          <a:p>
            <a:r>
              <a:rPr sz="1150" b="0">
                <a:solidFill>
                  <a:srgbClr val="2E2E2E"/>
                </a:solidFill>
                <a:latin typeface="Calibri"/>
              </a:rPr>
              <a:t>); capture upside in South Asia &amp; Pacific (</a:t>
            </a:r>
          </a:p>
        </p:txBody>
      </p:sp>
      <p:pic>
        <p:nvPicPr>
          <p:cNvPr id="42" name="Picture 41" descr="lock.png"/>
          <p:cNvPicPr>
            <a:picLocks noChangeAspect="1"/>
          </p:cNvPicPr>
          <p:nvPr/>
        </p:nvPicPr>
        <p:blipFill>
          <a:blip r:embed="rId4"/>
          <a:stretch>
            <a:fillRect/>
          </a:stretch>
        </p:blipFill>
        <p:spPr>
          <a:xfrm>
            <a:off x="10602510" y="3266376"/>
            <a:ext cx="134549" cy="195707"/>
          </a:xfrm>
          <a:prstGeom prst="rect">
            <a:avLst/>
          </a:prstGeom>
        </p:spPr>
      </p:pic>
      <p:sp>
        <p:nvSpPr>
          <p:cNvPr id="43" name="TextBox 42"/>
          <p:cNvSpPr txBox="1"/>
          <p:nvPr/>
        </p:nvSpPr>
        <p:spPr>
          <a:xfrm>
            <a:off x="10777620" y="32766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4" name="TextBox 43"/>
          <p:cNvSpPr txBox="1"/>
          <p:nvPr/>
        </p:nvSpPr>
        <p:spPr>
          <a:xfrm>
            <a:off x="276225" y="4972050"/>
            <a:ext cx="1527571" cy="194310"/>
          </a:xfrm>
          <a:prstGeom prst="rect">
            <a:avLst/>
          </a:prstGeom>
          <a:noFill/>
        </p:spPr>
        <p:txBody>
          <a:bodyPr wrap="none" lIns="0" rIns="0" tIns="0" bIns="0">
            <a:spAutoFit/>
          </a:bodyPr>
          <a:lstStyle/>
          <a:p>
            <a:r>
              <a:rPr sz="1150" b="0">
                <a:solidFill>
                  <a:srgbClr val="2E2E2E"/>
                </a:solidFill>
                <a:latin typeface="Calibri"/>
              </a:rPr>
              <a:t>▪ Packaged Muffins adds</a:t>
            </a:r>
          </a:p>
        </p:txBody>
      </p:sp>
      <p:pic>
        <p:nvPicPr>
          <p:cNvPr id="45" name="Picture 44" descr="lock.png"/>
          <p:cNvPicPr>
            <a:picLocks noChangeAspect="1"/>
          </p:cNvPicPr>
          <p:nvPr/>
        </p:nvPicPr>
        <p:blipFill>
          <a:blip r:embed="rId4"/>
          <a:stretch>
            <a:fillRect/>
          </a:stretch>
        </p:blipFill>
        <p:spPr>
          <a:xfrm>
            <a:off x="1752950" y="4961826"/>
            <a:ext cx="134549" cy="195707"/>
          </a:xfrm>
          <a:prstGeom prst="rect">
            <a:avLst/>
          </a:prstGeom>
        </p:spPr>
      </p:pic>
      <p:sp>
        <p:nvSpPr>
          <p:cNvPr id="46" name="TextBox 45"/>
          <p:cNvSpPr txBox="1"/>
          <p:nvPr/>
        </p:nvSpPr>
        <p:spPr>
          <a:xfrm>
            <a:off x="1928060" y="4972050"/>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7" name="Picture 46" descr="lock.png"/>
          <p:cNvPicPr>
            <a:picLocks noChangeAspect="1"/>
          </p:cNvPicPr>
          <p:nvPr/>
        </p:nvPicPr>
        <p:blipFill>
          <a:blip r:embed="rId4"/>
          <a:stretch>
            <a:fillRect/>
          </a:stretch>
        </p:blipFill>
        <p:spPr>
          <a:xfrm>
            <a:off x="3692321" y="4961826"/>
            <a:ext cx="134549" cy="195707"/>
          </a:xfrm>
          <a:prstGeom prst="rect">
            <a:avLst/>
          </a:prstGeom>
        </p:spPr>
      </p:pic>
      <p:sp>
        <p:nvSpPr>
          <p:cNvPr id="48" name="TextBox 47"/>
          <p:cNvSpPr txBox="1"/>
          <p:nvPr/>
        </p:nvSpPr>
        <p:spPr>
          <a:xfrm>
            <a:off x="3867431" y="4972050"/>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9" name="TextBox 48"/>
          <p:cNvSpPr txBox="1"/>
          <p:nvPr/>
        </p:nvSpPr>
        <p:spPr>
          <a:xfrm>
            <a:off x="276225" y="5199888"/>
            <a:ext cx="626563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segment/region while seeding the fastest-growing pockets early.</a:t>
            </a:r>
          </a:p>
        </p:txBody>
      </p:sp>
      <p:sp>
        <p:nvSpPr>
          <p:cNvPr id="50" name="TextBox 49"/>
          <p:cNvSpPr txBox="1"/>
          <p:nvPr/>
        </p:nvSpPr>
        <p:spPr>
          <a:xfrm>
            <a:off x="276225" y="5427725"/>
            <a:ext cx="4210670" cy="194310"/>
          </a:xfrm>
          <a:prstGeom prst="rect">
            <a:avLst/>
          </a:prstGeom>
          <a:noFill/>
        </p:spPr>
        <p:txBody>
          <a:bodyPr wrap="none" lIns="0" rIns="0" tIns="0" bIns="0">
            <a:spAutoFit/>
          </a:bodyPr>
          <a:lstStyle/>
          <a:p>
            <a:r>
              <a:rPr sz="1150" b="0">
                <a:solidFill>
                  <a:srgbClr val="2E2E2E"/>
                </a:solidFill>
                <a:latin typeface="Calibri"/>
              </a:rPr>
              <a:t>▪ Defend share in 'Sweet muffins' as the value anchor of the portfolio.</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6.2%</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5.0%</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3.6%</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Packaged Muffins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4907"/>
            <a:ext cx="635826" cy="830393"/>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68631"/>
            <a:ext cx="635826" cy="1236669"/>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97496"/>
            <a:ext cx="635826" cy="1407804"/>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705100"/>
            <a:ext cx="635826" cy="160020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35281"/>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30506"/>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3.6%</a:t>
            </a:r>
          </a:p>
        </p:txBody>
      </p:sp>
      <p:cxnSp>
        <p:nvCxnSpPr>
          <p:cNvPr id="22" name="Connector 21"/>
          <p:cNvCxnSpPr/>
          <p:nvPr/>
        </p:nvCxnSpPr>
        <p:spPr>
          <a:xfrm>
            <a:off x="1456468" y="2678106"/>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73331"/>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5.0%</a:t>
            </a:r>
          </a:p>
        </p:txBody>
      </p:sp>
      <p:cxnSp>
        <p:nvCxnSpPr>
          <p:cNvPr id="24" name="Connector 23"/>
          <p:cNvCxnSpPr/>
          <p:nvPr/>
        </p:nvCxnSpPr>
        <p:spPr>
          <a:xfrm>
            <a:off x="1456468" y="2420931"/>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16156"/>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6.2%</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Packaged Muffins Market Attractiveness Analysis By Region, 2026–2036</a:t>
            </a:r>
          </a:p>
        </p:txBody>
      </p:sp>
      <p:graphicFrame>
        <p:nvGraphicFramePr>
          <p:cNvPr id="36" name="Chart 35"/>
          <p:cNvGraphicFramePr>
            <a:graphicFrameLocks noGrp="1"/>
          </p:cNvGraphicFramePr>
          <p:nvPr/>
        </p:nvGraphicFramePr>
        <p:xfrm>
          <a:off x="6267450" y="2095500"/>
          <a:ext cx="5686425" cy="266700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46" name="Picture 45" descr="lock.png"/>
          <p:cNvPicPr>
            <a:picLocks noChangeAspect="1"/>
          </p:cNvPicPr>
          <p:nvPr/>
        </p:nvPicPr>
        <p:blipFill>
          <a:blip r:embed="rId5"/>
          <a:stretch>
            <a:fillRect/>
          </a:stretch>
        </p:blipFill>
        <p:spPr>
          <a:xfrm>
            <a:off x="1033540" y="5361876"/>
            <a:ext cx="134549" cy="195707"/>
          </a:xfrm>
          <a:prstGeom prst="rect">
            <a:avLst/>
          </a:prstGeom>
        </p:spPr>
      </p:pic>
      <p:sp>
        <p:nvSpPr>
          <p:cNvPr id="47" name="TextBox 46"/>
          <p:cNvSpPr txBox="1"/>
          <p:nvPr/>
        </p:nvSpPr>
        <p:spPr>
          <a:xfrm>
            <a:off x="1208649" y="5372100"/>
            <a:ext cx="1930047" cy="194310"/>
          </a:xfrm>
          <a:prstGeom prst="rect">
            <a:avLst/>
          </a:prstGeom>
          <a:noFill/>
        </p:spPr>
        <p:txBody>
          <a:bodyPr wrap="none" lIns="0" rIns="0" tIns="0" bIns="0">
            <a:spAutoFit/>
          </a:bodyPr>
          <a:lstStyle/>
          <a:p>
            <a:r>
              <a:rPr sz="1150" b="0">
                <a:solidFill>
                  <a:srgbClr val="2E2E2E"/>
                </a:solidFill>
                <a:latin typeface="Calibri"/>
              </a:rPr>
              <a:t>US$ Mn by 2036 at 6.2% CAGR.</a:t>
            </a:r>
          </a:p>
        </p:txBody>
      </p:sp>
      <p:sp>
        <p:nvSpPr>
          <p:cNvPr id="48" name="TextBox 47"/>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49" name="Picture 48" descr="lock.png"/>
          <p:cNvPicPr>
            <a:picLocks noChangeAspect="1"/>
          </p:cNvPicPr>
          <p:nvPr/>
        </p:nvPicPr>
        <p:blipFill>
          <a:blip r:embed="rId5"/>
          <a:stretch>
            <a:fillRect/>
          </a:stretch>
        </p:blipFill>
        <p:spPr>
          <a:xfrm>
            <a:off x="1673650" y="5589714"/>
            <a:ext cx="134549" cy="195707"/>
          </a:xfrm>
          <a:prstGeom prst="rect">
            <a:avLst/>
          </a:prstGeom>
        </p:spPr>
      </p:pic>
      <p:sp>
        <p:nvSpPr>
          <p:cNvPr id="50" name="TextBox 49"/>
          <p:cNvSpPr txBox="1"/>
          <p:nvPr/>
        </p:nvSpPr>
        <p:spPr>
          <a:xfrm>
            <a:off x="1848759" y="5599938"/>
            <a:ext cx="1424292" cy="194310"/>
          </a:xfrm>
          <a:prstGeom prst="rect">
            <a:avLst/>
          </a:prstGeom>
          <a:noFill/>
        </p:spPr>
        <p:txBody>
          <a:bodyPr wrap="none" lIns="0" rIns="0" tIns="0" bIns="0">
            <a:spAutoFit/>
          </a:bodyPr>
          <a:lstStyle/>
          <a:p>
            <a:r>
              <a:rPr sz="1150" b="0">
                <a:solidFill>
                  <a:srgbClr val="2E2E2E"/>
                </a:solidFill>
                <a:latin typeface="Calibri"/>
              </a:rPr>
              <a:t>US$ Mn at 5.0% CAGR.</a:t>
            </a:r>
          </a:p>
        </p:txBody>
      </p:sp>
      <p:sp>
        <p:nvSpPr>
          <p:cNvPr id="51" name="TextBox 50"/>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52" name="Picture 51" descr="lock.png"/>
          <p:cNvPicPr>
            <a:picLocks noChangeAspect="1"/>
          </p:cNvPicPr>
          <p:nvPr/>
        </p:nvPicPr>
        <p:blipFill>
          <a:blip r:embed="rId5"/>
          <a:stretch>
            <a:fillRect/>
          </a:stretch>
        </p:blipFill>
        <p:spPr>
          <a:xfrm>
            <a:off x="1194994" y="5817552"/>
            <a:ext cx="134549" cy="195707"/>
          </a:xfrm>
          <a:prstGeom prst="rect">
            <a:avLst/>
          </a:prstGeom>
        </p:spPr>
      </p:pic>
      <p:sp>
        <p:nvSpPr>
          <p:cNvPr id="53" name="TextBox 52"/>
          <p:cNvSpPr txBox="1"/>
          <p:nvPr/>
        </p:nvSpPr>
        <p:spPr>
          <a:xfrm>
            <a:off x="1370103" y="5827775"/>
            <a:ext cx="1424292" cy="194310"/>
          </a:xfrm>
          <a:prstGeom prst="rect">
            <a:avLst/>
          </a:prstGeom>
          <a:noFill/>
        </p:spPr>
        <p:txBody>
          <a:bodyPr wrap="none" lIns="0" rIns="0" tIns="0" bIns="0">
            <a:spAutoFit/>
          </a:bodyPr>
          <a:lstStyle/>
          <a:p>
            <a:r>
              <a:rPr sz="1150" b="0">
                <a:solidFill>
                  <a:srgbClr val="2E2E2E"/>
                </a:solidFill>
                <a:latin typeface="Calibri"/>
              </a:rPr>
              <a:t>US$ Mn at 3.6% CAGR.</a:t>
            </a:r>
          </a:p>
        </p:txBody>
      </p:sp>
      <p:sp>
        <p:nvSpPr>
          <p:cNvPr id="54" name="TextBox 53"/>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55" name="Picture 54" descr="lock.png"/>
          <p:cNvPicPr>
            <a:picLocks noChangeAspect="1"/>
          </p:cNvPicPr>
          <p:nvPr/>
        </p:nvPicPr>
        <p:blipFill>
          <a:blip r:embed="rId5"/>
          <a:stretch>
            <a:fillRect/>
          </a:stretch>
        </p:blipFill>
        <p:spPr>
          <a:xfrm>
            <a:off x="3885509" y="6045390"/>
            <a:ext cx="134549" cy="195707"/>
          </a:xfrm>
          <a:prstGeom prst="rect">
            <a:avLst/>
          </a:prstGeom>
        </p:spPr>
      </p:pic>
      <p:sp>
        <p:nvSpPr>
          <p:cNvPr id="56" name="TextBox 55"/>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57" name="lockshield_36"/>
          <p:cNvSpPr/>
          <p:nvPr/>
        </p:nvSpPr>
        <p:spPr>
          <a:xfrm>
            <a:off x="6267450" y="2095500"/>
            <a:ext cx="5686425" cy="2667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Packaged Muffins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 (1/2)</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 (2/2)</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3_597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5_353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4_1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2_943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5_056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6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1_417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2_264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4_8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1_308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2_314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5_9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872_0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1_527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5_8__605E5C.png"/>
          <p:cNvPicPr>
            <a:picLocks noChangeAspect="1"/>
          </p:cNvPicPr>
          <p:nvPr/>
        </p:nvPicPr>
        <p:blipFill>
          <a:blip r:embed="rId18"/>
          <a:stretch>
            <a:fillRect/>
          </a:stretch>
        </p:blipFill>
        <p:spPr>
          <a:xfrm>
            <a:off x="8905194" y="3272281"/>
            <a:ext cx="982436" cy="361950"/>
          </a:xfrm>
          <a:prstGeom prst="rect">
            <a:avLst/>
          </a:prstGeom>
        </p:spPr>
      </p:pic>
      <p:pic>
        <p:nvPicPr>
          <p:cNvPr id="93" name="Picture 92" descr="763_0_605E5C.png"/>
          <p:cNvPicPr>
            <a:picLocks noChangeAspect="1"/>
          </p:cNvPicPr>
          <p:nvPr/>
        </p:nvPicPr>
        <p:blipFill>
          <a:blip r:embed="rId19"/>
          <a:stretch>
            <a:fillRect/>
          </a:stretch>
        </p:blipFill>
        <p:spPr>
          <a:xfrm>
            <a:off x="10484473" y="2286582"/>
            <a:ext cx="1195728" cy="361950"/>
          </a:xfrm>
          <a:prstGeom prst="rect">
            <a:avLst/>
          </a:prstGeom>
        </p:spPr>
      </p:pic>
      <p:pic>
        <p:nvPicPr>
          <p:cNvPr id="94" name="Picture 93" descr="1_231_605E5C.png"/>
          <p:cNvPicPr>
            <a:picLocks noChangeAspect="1"/>
          </p:cNvPicPr>
          <p:nvPr/>
        </p:nvPicPr>
        <p:blipFill>
          <a:blip r:embed="rId20"/>
          <a:stretch>
            <a:fillRect/>
          </a:stretch>
        </p:blipFill>
        <p:spPr>
          <a:xfrm>
            <a:off x="10484473" y="2779432"/>
            <a:ext cx="1195728" cy="361950"/>
          </a:xfrm>
          <a:prstGeom prst="rect">
            <a:avLst/>
          </a:prstGeom>
        </p:spPr>
      </p:pic>
      <p:pic>
        <p:nvPicPr>
          <p:cNvPr id="95" name="Picture 94" descr="4_9__605E5C.png"/>
          <p:cNvPicPr>
            <a:picLocks noChangeAspect="1"/>
          </p:cNvPicPr>
          <p:nvPr/>
        </p:nvPicPr>
        <p:blipFill>
          <a:blip r:embed="rId21"/>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2"/>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2"/>
          <a:stretch>
            <a:fillRect/>
          </a:stretch>
        </p:blipFill>
        <p:spPr>
          <a:xfrm>
            <a:off x="10988992" y="2827057"/>
            <a:ext cx="183356" cy="266700"/>
          </a:xfrm>
          <a:prstGeom prst="rect">
            <a:avLst/>
          </a:prstGeom>
        </p:spPr>
      </p:pic>
      <p:sp>
        <p:nvSpPr>
          <p:cNvPr id="102" name="TextBox 101"/>
          <p:cNvSpPr txBox="1"/>
          <p:nvPr/>
        </p:nvSpPr>
        <p:spPr>
          <a:xfrm>
            <a:off x="485775" y="4229437"/>
            <a:ext cx="2827089" cy="186689"/>
          </a:xfrm>
          <a:prstGeom prst="rect">
            <a:avLst/>
          </a:prstGeom>
          <a:noFill/>
        </p:spPr>
        <p:txBody>
          <a:bodyPr wrap="none" lIns="0" rIns="0" tIns="0" bIns="0">
            <a:spAutoFit/>
          </a:bodyPr>
          <a:lstStyle/>
          <a:p>
            <a:r>
              <a:rPr sz="1100" b="0">
                <a:solidFill>
                  <a:srgbClr val="2E2E2E"/>
                </a:solidFill>
                <a:latin typeface="Calibri"/>
              </a:rPr>
              <a:t>▪ 'North America' holds the largest share in 2026</a:t>
            </a:r>
          </a:p>
        </p:txBody>
      </p:sp>
      <p:pic>
        <p:nvPicPr>
          <p:cNvPr id="103" name="Picture 102" descr="lock.png"/>
          <p:cNvPicPr>
            <a:picLocks noChangeAspect="1"/>
          </p:cNvPicPr>
          <p:nvPr/>
        </p:nvPicPr>
        <p:blipFill>
          <a:blip r:embed="rId22"/>
          <a:stretch>
            <a:fillRect/>
          </a:stretch>
        </p:blipFill>
        <p:spPr>
          <a:xfrm>
            <a:off x="472307" y="4387298"/>
            <a:ext cx="128699" cy="187198"/>
          </a:xfrm>
          <a:prstGeom prst="rect">
            <a:avLst/>
          </a:prstGeom>
        </p:spPr>
      </p:pic>
      <p:sp>
        <p:nvSpPr>
          <p:cNvPr id="104" name="TextBox 103"/>
          <p:cNvSpPr txBox="1"/>
          <p:nvPr/>
        </p:nvSpPr>
        <p:spPr>
          <a:xfrm>
            <a:off x="639803" y="4397077"/>
            <a:ext cx="1003349" cy="186689"/>
          </a:xfrm>
          <a:prstGeom prst="rect">
            <a:avLst/>
          </a:prstGeom>
          <a:noFill/>
        </p:spPr>
        <p:txBody>
          <a:bodyPr wrap="none" lIns="0" rIns="0" tIns="0" bIns="0">
            <a:spAutoFit/>
          </a:bodyPr>
          <a:lstStyle/>
          <a:p>
            <a:r>
              <a:rPr sz="1100" b="0">
                <a:solidFill>
                  <a:srgbClr val="2E2E2E"/>
                </a:solidFill>
                <a:latin typeface="Calibri"/>
              </a:rPr>
              <a:t>of market value.</a:t>
            </a:r>
          </a:p>
        </p:txBody>
      </p:sp>
      <p:sp>
        <p:nvSpPr>
          <p:cNvPr id="105" name="TextBox 104"/>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'South Asia &amp; Pacific' is the fastest-growing region</a:t>
            </a:r>
          </a:p>
        </p:txBody>
      </p:sp>
      <p:sp>
        <p:nvSpPr>
          <p:cNvPr id="106" name="TextBox 105"/>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107" name="Picture 106" descr="lock.png"/>
          <p:cNvPicPr>
            <a:picLocks noChangeAspect="1"/>
          </p:cNvPicPr>
          <p:nvPr/>
        </p:nvPicPr>
        <p:blipFill>
          <a:blip r:embed="rId22"/>
          <a:stretch>
            <a:fillRect/>
          </a:stretch>
        </p:blipFill>
        <p:spPr>
          <a:xfrm>
            <a:off x="623805" y="4772870"/>
            <a:ext cx="128699" cy="187198"/>
          </a:xfrm>
          <a:prstGeom prst="rect">
            <a:avLst/>
          </a:prstGeom>
        </p:spPr>
      </p:pic>
      <p:sp>
        <p:nvSpPr>
          <p:cNvPr id="108" name="TextBox 107"/>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109" name="TextBox 108"/>
          <p:cNvSpPr txBox="1"/>
          <p:nvPr/>
        </p:nvSpPr>
        <p:spPr>
          <a:xfrm>
            <a:off x="485775" y="5000581"/>
            <a:ext cx="1720949" cy="186689"/>
          </a:xfrm>
          <a:prstGeom prst="rect">
            <a:avLst/>
          </a:prstGeom>
          <a:noFill/>
        </p:spPr>
        <p:txBody>
          <a:bodyPr wrap="none" lIns="0" rIns="0" tIns="0" bIns="0">
            <a:spAutoFit/>
          </a:bodyPr>
          <a:lstStyle/>
          <a:p>
            <a:r>
              <a:rPr sz="1100" b="0">
                <a:solidFill>
                  <a:srgbClr val="2E2E2E"/>
                </a:solidFill>
                <a:latin typeface="Calibri"/>
              </a:rPr>
              <a:t>▪ Market value expands from</a:t>
            </a:r>
          </a:p>
        </p:txBody>
      </p:sp>
      <p:pic>
        <p:nvPicPr>
          <p:cNvPr id="110" name="Picture 109" descr="lock.png"/>
          <p:cNvPicPr>
            <a:picLocks noChangeAspect="1"/>
          </p:cNvPicPr>
          <p:nvPr/>
        </p:nvPicPr>
        <p:blipFill>
          <a:blip r:embed="rId22"/>
          <a:stretch>
            <a:fillRect/>
          </a:stretch>
        </p:blipFill>
        <p:spPr>
          <a:xfrm>
            <a:off x="2154775" y="4990801"/>
            <a:ext cx="128699" cy="187198"/>
          </a:xfrm>
          <a:prstGeom prst="rect">
            <a:avLst/>
          </a:prstGeom>
        </p:spPr>
      </p:pic>
      <p:sp>
        <p:nvSpPr>
          <p:cNvPr id="111" name="TextBox 110"/>
          <p:cNvSpPr txBox="1"/>
          <p:nvPr/>
        </p:nvSpPr>
        <p:spPr>
          <a:xfrm>
            <a:off x="2322271"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112" name="Picture 111" descr="lock.png"/>
          <p:cNvPicPr>
            <a:picLocks noChangeAspect="1"/>
          </p:cNvPicPr>
          <p:nvPr/>
        </p:nvPicPr>
        <p:blipFill>
          <a:blip r:embed="rId22"/>
          <a:stretch>
            <a:fillRect/>
          </a:stretch>
        </p:blipFill>
        <p:spPr>
          <a:xfrm>
            <a:off x="2467123" y="4990801"/>
            <a:ext cx="128699" cy="187198"/>
          </a:xfrm>
          <a:prstGeom prst="rect">
            <a:avLst/>
          </a:prstGeom>
        </p:spPr>
      </p:pic>
      <p:sp>
        <p:nvSpPr>
          <p:cNvPr id="113" name="TextBox 112"/>
          <p:cNvSpPr txBox="1"/>
          <p:nvPr/>
        </p:nvSpPr>
        <p:spPr>
          <a:xfrm>
            <a:off x="2634619"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4" name="TextBox 113"/>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115" name="TextBox 114"/>
          <p:cNvSpPr txBox="1"/>
          <p:nvPr/>
        </p:nvSpPr>
        <p:spPr>
          <a:xfrm>
            <a:off x="485775" y="5386153"/>
            <a:ext cx="2717675" cy="186689"/>
          </a:xfrm>
          <a:prstGeom prst="rect">
            <a:avLst/>
          </a:prstGeom>
          <a:noFill/>
        </p:spPr>
        <p:txBody>
          <a:bodyPr wrap="none" lIns="0" rIns="0" tIns="0" bIns="0">
            <a:spAutoFit/>
          </a:bodyPr>
          <a:lstStyle/>
          <a:p>
            <a:r>
              <a:rPr sz="1100" b="0">
                <a:solidFill>
                  <a:srgbClr val="2E2E2E"/>
                </a:solidFill>
                <a:latin typeface="Calibri"/>
              </a:rPr>
              <a:t>▪ 6 regions make up the geographic landscape.</a:t>
            </a:r>
          </a:p>
        </p:txBody>
      </p:sp>
      <p:sp>
        <p:nvSpPr>
          <p:cNvPr id="116" name="TextBox 115"/>
          <p:cNvSpPr txBox="1"/>
          <p:nvPr/>
        </p:nvSpPr>
        <p:spPr>
          <a:xfrm>
            <a:off x="3838575" y="4229437"/>
            <a:ext cx="1063376" cy="186689"/>
          </a:xfrm>
          <a:prstGeom prst="rect">
            <a:avLst/>
          </a:prstGeom>
          <a:noFill/>
        </p:spPr>
        <p:txBody>
          <a:bodyPr wrap="none" lIns="0" rIns="0" tIns="0" bIns="0">
            <a:spAutoFit/>
          </a:bodyPr>
          <a:lstStyle/>
          <a:p>
            <a:r>
              <a:rPr sz="1100" b="0">
                <a:solidFill>
                  <a:srgbClr val="2E2E2E"/>
                </a:solidFill>
                <a:latin typeface="Calibri"/>
              </a:rPr>
              <a:t>● North America:</a:t>
            </a:r>
          </a:p>
        </p:txBody>
      </p:sp>
      <p:pic>
        <p:nvPicPr>
          <p:cNvPr id="117" name="Picture 116" descr="lock.png"/>
          <p:cNvPicPr>
            <a:picLocks noChangeAspect="1"/>
          </p:cNvPicPr>
          <p:nvPr/>
        </p:nvPicPr>
        <p:blipFill>
          <a:blip r:embed="rId22"/>
          <a:stretch>
            <a:fillRect/>
          </a:stretch>
        </p:blipFill>
        <p:spPr>
          <a:xfrm>
            <a:off x="4850003" y="4219658"/>
            <a:ext cx="128699" cy="187198"/>
          </a:xfrm>
          <a:prstGeom prst="rect">
            <a:avLst/>
          </a:prstGeom>
        </p:spPr>
      </p:pic>
      <p:sp>
        <p:nvSpPr>
          <p:cNvPr id="118" name="TextBox 117"/>
          <p:cNvSpPr txBox="1"/>
          <p:nvPr/>
        </p:nvSpPr>
        <p:spPr>
          <a:xfrm>
            <a:off x="50174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9" name="Picture 118" descr="lock.png"/>
          <p:cNvPicPr>
            <a:picLocks noChangeAspect="1"/>
          </p:cNvPicPr>
          <p:nvPr/>
        </p:nvPicPr>
        <p:blipFill>
          <a:blip r:embed="rId22"/>
          <a:stretch>
            <a:fillRect/>
          </a:stretch>
        </p:blipFill>
        <p:spPr>
          <a:xfrm>
            <a:off x="5876949" y="4219658"/>
            <a:ext cx="128699" cy="187198"/>
          </a:xfrm>
          <a:prstGeom prst="rect">
            <a:avLst/>
          </a:prstGeom>
        </p:spPr>
      </p:pic>
      <p:sp>
        <p:nvSpPr>
          <p:cNvPr id="120" name="TextBox 119"/>
          <p:cNvSpPr txBox="1"/>
          <p:nvPr/>
        </p:nvSpPr>
        <p:spPr>
          <a:xfrm>
            <a:off x="604444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121" name="TextBox 120"/>
          <p:cNvSpPr txBox="1"/>
          <p:nvPr/>
        </p:nvSpPr>
        <p:spPr>
          <a:xfrm>
            <a:off x="3838575" y="4447369"/>
            <a:ext cx="636637" cy="186689"/>
          </a:xfrm>
          <a:prstGeom prst="rect">
            <a:avLst/>
          </a:prstGeom>
          <a:noFill/>
        </p:spPr>
        <p:txBody>
          <a:bodyPr wrap="none" lIns="0" rIns="0" tIns="0" bIns="0">
            <a:spAutoFit/>
          </a:bodyPr>
          <a:lstStyle/>
          <a:p>
            <a:r>
              <a:rPr sz="1100" b="0">
                <a:solidFill>
                  <a:srgbClr val="2E2E2E"/>
                </a:solidFill>
                <a:latin typeface="Calibri"/>
              </a:rPr>
              <a:t>● Europe:</a:t>
            </a:r>
          </a:p>
        </p:txBody>
      </p:sp>
      <p:pic>
        <p:nvPicPr>
          <p:cNvPr id="122" name="Picture 121" descr="lock.png"/>
          <p:cNvPicPr>
            <a:picLocks noChangeAspect="1"/>
          </p:cNvPicPr>
          <p:nvPr/>
        </p:nvPicPr>
        <p:blipFill>
          <a:blip r:embed="rId22"/>
          <a:stretch>
            <a:fillRect/>
          </a:stretch>
        </p:blipFill>
        <p:spPr>
          <a:xfrm>
            <a:off x="4423263" y="4437590"/>
            <a:ext cx="128699" cy="187198"/>
          </a:xfrm>
          <a:prstGeom prst="rect">
            <a:avLst/>
          </a:prstGeom>
        </p:spPr>
      </p:pic>
      <p:sp>
        <p:nvSpPr>
          <p:cNvPr id="123" name="TextBox 122"/>
          <p:cNvSpPr txBox="1"/>
          <p:nvPr/>
        </p:nvSpPr>
        <p:spPr>
          <a:xfrm>
            <a:off x="459075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4" name="Picture 123" descr="lock.png"/>
          <p:cNvPicPr>
            <a:picLocks noChangeAspect="1"/>
          </p:cNvPicPr>
          <p:nvPr/>
        </p:nvPicPr>
        <p:blipFill>
          <a:blip r:embed="rId22"/>
          <a:stretch>
            <a:fillRect/>
          </a:stretch>
        </p:blipFill>
        <p:spPr>
          <a:xfrm>
            <a:off x="5450209" y="4437590"/>
            <a:ext cx="128699" cy="187198"/>
          </a:xfrm>
          <a:prstGeom prst="rect">
            <a:avLst/>
          </a:prstGeom>
        </p:spPr>
      </p:pic>
      <p:sp>
        <p:nvSpPr>
          <p:cNvPr id="125" name="TextBox 124"/>
          <p:cNvSpPr txBox="1"/>
          <p:nvPr/>
        </p:nvSpPr>
        <p:spPr>
          <a:xfrm>
            <a:off x="5617705" y="4447369"/>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26" name="TextBox 125"/>
          <p:cNvSpPr txBox="1"/>
          <p:nvPr/>
        </p:nvSpPr>
        <p:spPr>
          <a:xfrm>
            <a:off x="3838575" y="4665301"/>
            <a:ext cx="732101" cy="186689"/>
          </a:xfrm>
          <a:prstGeom prst="rect">
            <a:avLst/>
          </a:prstGeom>
          <a:noFill/>
        </p:spPr>
        <p:txBody>
          <a:bodyPr wrap="none" lIns="0" rIns="0" tIns="0" bIns="0">
            <a:spAutoFit/>
          </a:bodyPr>
          <a:lstStyle/>
          <a:p>
            <a:r>
              <a:rPr sz="1100" b="0">
                <a:solidFill>
                  <a:srgbClr val="2E2E2E"/>
                </a:solidFill>
                <a:latin typeface="Calibri"/>
              </a:rPr>
              <a:t>● East Asia:</a:t>
            </a:r>
          </a:p>
        </p:txBody>
      </p:sp>
      <p:pic>
        <p:nvPicPr>
          <p:cNvPr id="127" name="Picture 126" descr="lock.png"/>
          <p:cNvPicPr>
            <a:picLocks noChangeAspect="1"/>
          </p:cNvPicPr>
          <p:nvPr/>
        </p:nvPicPr>
        <p:blipFill>
          <a:blip r:embed="rId22"/>
          <a:stretch>
            <a:fillRect/>
          </a:stretch>
        </p:blipFill>
        <p:spPr>
          <a:xfrm>
            <a:off x="4518727" y="4655522"/>
            <a:ext cx="128699" cy="187198"/>
          </a:xfrm>
          <a:prstGeom prst="rect">
            <a:avLst/>
          </a:prstGeom>
        </p:spPr>
      </p:pic>
      <p:sp>
        <p:nvSpPr>
          <p:cNvPr id="128" name="TextBox 127"/>
          <p:cNvSpPr txBox="1"/>
          <p:nvPr/>
        </p:nvSpPr>
        <p:spPr>
          <a:xfrm>
            <a:off x="46862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9" name="Picture 128" descr="lock.png"/>
          <p:cNvPicPr>
            <a:picLocks noChangeAspect="1"/>
          </p:cNvPicPr>
          <p:nvPr/>
        </p:nvPicPr>
        <p:blipFill>
          <a:blip r:embed="rId22"/>
          <a:stretch>
            <a:fillRect/>
          </a:stretch>
        </p:blipFill>
        <p:spPr>
          <a:xfrm>
            <a:off x="5545673" y="4655522"/>
            <a:ext cx="128699" cy="187198"/>
          </a:xfrm>
          <a:prstGeom prst="rect">
            <a:avLst/>
          </a:prstGeom>
        </p:spPr>
      </p:pic>
      <p:sp>
        <p:nvSpPr>
          <p:cNvPr id="130" name="TextBox 129"/>
          <p:cNvSpPr txBox="1"/>
          <p:nvPr/>
        </p:nvSpPr>
        <p:spPr>
          <a:xfrm>
            <a:off x="5713169" y="4665301"/>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1" name="TextBox 130"/>
          <p:cNvSpPr txBox="1"/>
          <p:nvPr/>
        </p:nvSpPr>
        <p:spPr>
          <a:xfrm>
            <a:off x="3838575" y="4883233"/>
            <a:ext cx="1350143" cy="186689"/>
          </a:xfrm>
          <a:prstGeom prst="rect">
            <a:avLst/>
          </a:prstGeom>
          <a:noFill/>
        </p:spPr>
        <p:txBody>
          <a:bodyPr wrap="none" lIns="0" rIns="0" tIns="0" bIns="0">
            <a:spAutoFit/>
          </a:bodyPr>
          <a:lstStyle/>
          <a:p>
            <a:r>
              <a:rPr sz="1100" b="0">
                <a:solidFill>
                  <a:srgbClr val="2E2E2E"/>
                </a:solidFill>
                <a:latin typeface="Calibri"/>
              </a:rPr>
              <a:t>● South Asia &amp; Pacific:</a:t>
            </a:r>
          </a:p>
        </p:txBody>
      </p:sp>
      <p:pic>
        <p:nvPicPr>
          <p:cNvPr id="132" name="Picture 131" descr="lock.png"/>
          <p:cNvPicPr>
            <a:picLocks noChangeAspect="1"/>
          </p:cNvPicPr>
          <p:nvPr/>
        </p:nvPicPr>
        <p:blipFill>
          <a:blip r:embed="rId22"/>
          <a:stretch>
            <a:fillRect/>
          </a:stretch>
        </p:blipFill>
        <p:spPr>
          <a:xfrm>
            <a:off x="5136770" y="4873454"/>
            <a:ext cx="128699" cy="187198"/>
          </a:xfrm>
          <a:prstGeom prst="rect">
            <a:avLst/>
          </a:prstGeom>
        </p:spPr>
      </p:pic>
      <p:sp>
        <p:nvSpPr>
          <p:cNvPr id="133" name="TextBox 132"/>
          <p:cNvSpPr txBox="1"/>
          <p:nvPr/>
        </p:nvSpPr>
        <p:spPr>
          <a:xfrm>
            <a:off x="5304266"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4" name="Picture 133" descr="lock.png"/>
          <p:cNvPicPr>
            <a:picLocks noChangeAspect="1"/>
          </p:cNvPicPr>
          <p:nvPr/>
        </p:nvPicPr>
        <p:blipFill>
          <a:blip r:embed="rId22"/>
          <a:stretch>
            <a:fillRect/>
          </a:stretch>
        </p:blipFill>
        <p:spPr>
          <a:xfrm>
            <a:off x="6163716" y="4873454"/>
            <a:ext cx="128699" cy="187198"/>
          </a:xfrm>
          <a:prstGeom prst="rect">
            <a:avLst/>
          </a:prstGeom>
        </p:spPr>
      </p:pic>
      <p:sp>
        <p:nvSpPr>
          <p:cNvPr id="135" name="TextBox 134"/>
          <p:cNvSpPr txBox="1"/>
          <p:nvPr/>
        </p:nvSpPr>
        <p:spPr>
          <a:xfrm>
            <a:off x="6331212"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36" name="TextBox 135"/>
          <p:cNvSpPr txBox="1"/>
          <p:nvPr/>
        </p:nvSpPr>
        <p:spPr>
          <a:xfrm>
            <a:off x="3838575" y="5101165"/>
            <a:ext cx="1008260" cy="186689"/>
          </a:xfrm>
          <a:prstGeom prst="rect">
            <a:avLst/>
          </a:prstGeom>
          <a:noFill/>
        </p:spPr>
        <p:txBody>
          <a:bodyPr wrap="none" lIns="0" rIns="0" tIns="0" bIns="0">
            <a:spAutoFit/>
          </a:bodyPr>
          <a:lstStyle/>
          <a:p>
            <a:r>
              <a:rPr sz="1100" b="0">
                <a:solidFill>
                  <a:srgbClr val="2E2E2E"/>
                </a:solidFill>
                <a:latin typeface="Calibri"/>
              </a:rPr>
              <a:t>● Latin America:</a:t>
            </a:r>
          </a:p>
        </p:txBody>
      </p:sp>
      <p:pic>
        <p:nvPicPr>
          <p:cNvPr id="137" name="Picture 136" descr="lock.png"/>
          <p:cNvPicPr>
            <a:picLocks noChangeAspect="1"/>
          </p:cNvPicPr>
          <p:nvPr/>
        </p:nvPicPr>
        <p:blipFill>
          <a:blip r:embed="rId22"/>
          <a:stretch>
            <a:fillRect/>
          </a:stretch>
        </p:blipFill>
        <p:spPr>
          <a:xfrm>
            <a:off x="4794887" y="5091385"/>
            <a:ext cx="128699" cy="187198"/>
          </a:xfrm>
          <a:prstGeom prst="rect">
            <a:avLst/>
          </a:prstGeom>
        </p:spPr>
      </p:pic>
      <p:sp>
        <p:nvSpPr>
          <p:cNvPr id="138" name="TextBox 137"/>
          <p:cNvSpPr txBox="1"/>
          <p:nvPr/>
        </p:nvSpPr>
        <p:spPr>
          <a:xfrm>
            <a:off x="4962383"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9" name="Picture 138" descr="lock.png"/>
          <p:cNvPicPr>
            <a:picLocks noChangeAspect="1"/>
          </p:cNvPicPr>
          <p:nvPr/>
        </p:nvPicPr>
        <p:blipFill>
          <a:blip r:embed="rId22"/>
          <a:stretch>
            <a:fillRect/>
          </a:stretch>
        </p:blipFill>
        <p:spPr>
          <a:xfrm>
            <a:off x="5821833" y="5091385"/>
            <a:ext cx="128699" cy="187198"/>
          </a:xfrm>
          <a:prstGeom prst="rect">
            <a:avLst/>
          </a:prstGeom>
        </p:spPr>
      </p:pic>
      <p:sp>
        <p:nvSpPr>
          <p:cNvPr id="140" name="TextBox 139"/>
          <p:cNvSpPr txBox="1"/>
          <p:nvPr/>
        </p:nvSpPr>
        <p:spPr>
          <a:xfrm>
            <a:off x="5989329" y="5101165"/>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1" name="TextBox 140"/>
          <p:cNvSpPr txBox="1"/>
          <p:nvPr/>
        </p:nvSpPr>
        <p:spPr>
          <a:xfrm>
            <a:off x="3838575" y="5319097"/>
            <a:ext cx="1386944" cy="186689"/>
          </a:xfrm>
          <a:prstGeom prst="rect">
            <a:avLst/>
          </a:prstGeom>
          <a:noFill/>
        </p:spPr>
        <p:txBody>
          <a:bodyPr wrap="none" lIns="0" rIns="0" tIns="0" bIns="0">
            <a:spAutoFit/>
          </a:bodyPr>
          <a:lstStyle/>
          <a:p>
            <a:r>
              <a:rPr sz="1100" b="0">
                <a:solidFill>
                  <a:srgbClr val="2E2E2E"/>
                </a:solidFill>
                <a:latin typeface="Calibri"/>
              </a:rPr>
              <a:t>● Middle East &amp; Africa:</a:t>
            </a:r>
          </a:p>
        </p:txBody>
      </p:sp>
      <p:pic>
        <p:nvPicPr>
          <p:cNvPr id="142" name="Picture 141" descr="lock.png"/>
          <p:cNvPicPr>
            <a:picLocks noChangeAspect="1"/>
          </p:cNvPicPr>
          <p:nvPr/>
        </p:nvPicPr>
        <p:blipFill>
          <a:blip r:embed="rId22"/>
          <a:stretch>
            <a:fillRect/>
          </a:stretch>
        </p:blipFill>
        <p:spPr>
          <a:xfrm>
            <a:off x="5173571" y="5309317"/>
            <a:ext cx="128699" cy="187198"/>
          </a:xfrm>
          <a:prstGeom prst="rect">
            <a:avLst/>
          </a:prstGeom>
        </p:spPr>
      </p:pic>
      <p:sp>
        <p:nvSpPr>
          <p:cNvPr id="143" name="TextBox 142"/>
          <p:cNvSpPr txBox="1"/>
          <p:nvPr/>
        </p:nvSpPr>
        <p:spPr>
          <a:xfrm>
            <a:off x="5341067"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4" name="Picture 143" descr="lock.png"/>
          <p:cNvPicPr>
            <a:picLocks noChangeAspect="1"/>
          </p:cNvPicPr>
          <p:nvPr/>
        </p:nvPicPr>
        <p:blipFill>
          <a:blip r:embed="rId22"/>
          <a:stretch>
            <a:fillRect/>
          </a:stretch>
        </p:blipFill>
        <p:spPr>
          <a:xfrm>
            <a:off x="6200517" y="5309317"/>
            <a:ext cx="128699" cy="187198"/>
          </a:xfrm>
          <a:prstGeom prst="rect">
            <a:avLst/>
          </a:prstGeom>
        </p:spPr>
      </p:pic>
      <p:sp>
        <p:nvSpPr>
          <p:cNvPr id="145" name="TextBox 144"/>
          <p:cNvSpPr txBox="1"/>
          <p:nvPr/>
        </p:nvSpPr>
        <p:spPr>
          <a:xfrm>
            <a:off x="6368013" y="5319097"/>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6" name="TextBox 145"/>
          <p:cNvSpPr txBox="1"/>
          <p:nvPr/>
        </p:nvSpPr>
        <p:spPr>
          <a:xfrm>
            <a:off x="8524875" y="5842641"/>
            <a:ext cx="3081608" cy="194310"/>
          </a:xfrm>
          <a:prstGeom prst="rect">
            <a:avLst/>
          </a:prstGeom>
          <a:noFill/>
        </p:spPr>
        <p:txBody>
          <a:bodyPr wrap="none" lIns="0" rIns="0" tIns="0" bIns="0">
            <a:spAutoFit/>
          </a:bodyPr>
          <a:lstStyle/>
          <a:p>
            <a:r>
              <a:rPr sz="1150" b="1">
                <a:solidFill>
                  <a:srgbClr val="0B2E4A"/>
                </a:solidFill>
                <a:latin typeface="Calibri"/>
              </a:rPr>
              <a:t>The Global market is projected to grow at a CAGR</a:t>
            </a:r>
          </a:p>
        </p:txBody>
      </p:sp>
      <p:sp>
        <p:nvSpPr>
          <p:cNvPr id="147" name="TextBox 146"/>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148" name="Picture 147" descr="lock.png"/>
          <p:cNvPicPr>
            <a:picLocks noChangeAspect="1"/>
          </p:cNvPicPr>
          <p:nvPr/>
        </p:nvPicPr>
        <p:blipFill>
          <a:blip r:embed="rId22"/>
          <a:stretch>
            <a:fillRect/>
          </a:stretch>
        </p:blipFill>
        <p:spPr>
          <a:xfrm>
            <a:off x="8674884" y="6007677"/>
            <a:ext cx="134549" cy="195707"/>
          </a:xfrm>
          <a:prstGeom prst="rect">
            <a:avLst/>
          </a:prstGeom>
        </p:spPr>
      </p:pic>
      <p:sp>
        <p:nvSpPr>
          <p:cNvPr id="149" name="TextBox 148"/>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Analysis, By Region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589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11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493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668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6413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5937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317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508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5298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24822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7202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27" name="BPS Value 3"/>
          <p:cNvSpPr txBox="1"/>
          <p:nvPr/>
        </p:nvSpPr>
        <p:spPr>
          <a:xfrm>
            <a:off x="6305550" y="223393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551045" y="272218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71742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122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1" name="BPS Value 4"/>
          <p:cNvSpPr txBox="1"/>
          <p:nvPr/>
        </p:nvSpPr>
        <p:spPr>
          <a:xfrm>
            <a:off x="6305550" y="270313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551045" y="344436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396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36340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2531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3048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2572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4952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1143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4_2__605E5C.png"/>
          <p:cNvPicPr>
            <a:picLocks noChangeAspect="1"/>
          </p:cNvPicPr>
          <p:nvPr/>
        </p:nvPicPr>
        <p:blipFill>
          <a:blip r:embed="rId6"/>
          <a:stretch>
            <a:fillRect/>
          </a:stretch>
        </p:blipFill>
        <p:spPr>
          <a:xfrm>
            <a:off x="9465355" y="5897562"/>
            <a:ext cx="1309912" cy="482599"/>
          </a:xfrm>
          <a:prstGeom prst="rect">
            <a:avLst/>
          </a:prstGeom>
        </p:spPr>
      </p:pic>
      <p:pic>
        <p:nvPicPr>
          <p:cNvPr id="50" name="Picture 49" descr="lock.png"/>
          <p:cNvPicPr>
            <a:picLocks noChangeAspect="1"/>
          </p:cNvPicPr>
          <p:nvPr/>
        </p:nvPicPr>
        <p:blipFill>
          <a:blip r:embed="rId5"/>
          <a:stretch>
            <a:fillRect/>
          </a:stretch>
        </p:blipFill>
        <p:spPr>
          <a:xfrm>
            <a:off x="10003631" y="5972175"/>
            <a:ext cx="229195" cy="333375"/>
          </a:xfrm>
          <a:prstGeom prst="rect">
            <a:avLst/>
          </a:prstGeom>
        </p:spPr>
      </p:pic>
      <p:sp>
        <p:nvSpPr>
          <p:cNvPr id="51" name="TextBox 50"/>
          <p:cNvSpPr txBox="1"/>
          <p:nvPr/>
        </p:nvSpPr>
        <p:spPr>
          <a:xfrm>
            <a:off x="7239000" y="1400175"/>
            <a:ext cx="2424980" cy="194310"/>
          </a:xfrm>
          <a:prstGeom prst="rect">
            <a:avLst/>
          </a:prstGeom>
          <a:noFill/>
        </p:spPr>
        <p:txBody>
          <a:bodyPr wrap="none" lIns="0" rIns="0" tIns="0" bIns="0">
            <a:spAutoFit/>
          </a:bodyPr>
          <a:lstStyle/>
          <a:p>
            <a:r>
              <a:rPr sz="1150" b="0">
                <a:solidFill>
                  <a:srgbClr val="2E2E2E"/>
                </a:solidFill>
                <a:latin typeface="Calibri"/>
              </a:rPr>
              <a:t>▪ North America is the largest region, at</a:t>
            </a:r>
          </a:p>
        </p:txBody>
      </p:sp>
      <p:pic>
        <p:nvPicPr>
          <p:cNvPr id="52" name="Picture 51" descr="lock.png"/>
          <p:cNvPicPr>
            <a:picLocks noChangeAspect="1"/>
          </p:cNvPicPr>
          <p:nvPr/>
        </p:nvPicPr>
        <p:blipFill>
          <a:blip r:embed="rId5"/>
          <a:stretch>
            <a:fillRect/>
          </a:stretch>
        </p:blipFill>
        <p:spPr>
          <a:xfrm>
            <a:off x="9613134" y="1389951"/>
            <a:ext cx="134549" cy="195707"/>
          </a:xfrm>
          <a:prstGeom prst="rect">
            <a:avLst/>
          </a:prstGeom>
        </p:spPr>
      </p:pic>
      <p:sp>
        <p:nvSpPr>
          <p:cNvPr id="53" name="TextBox 52"/>
          <p:cNvSpPr txBox="1"/>
          <p:nvPr/>
        </p:nvSpPr>
        <p:spPr>
          <a:xfrm>
            <a:off x="9788243" y="1400175"/>
            <a:ext cx="1040072" cy="194310"/>
          </a:xfrm>
          <a:prstGeom prst="rect">
            <a:avLst/>
          </a:prstGeom>
          <a:noFill/>
        </p:spPr>
        <p:txBody>
          <a:bodyPr wrap="none" lIns="0" rIns="0" tIns="0" bIns="0">
            <a:spAutoFit/>
          </a:bodyPr>
          <a:lstStyle/>
          <a:p>
            <a:r>
              <a:rPr sz="1150" b="0">
                <a:solidFill>
                  <a:srgbClr val="2E2E2E"/>
                </a:solidFill>
                <a:latin typeface="Calibri"/>
              </a:rPr>
              <a:t>of 2036 volume.</a:t>
            </a:r>
          </a:p>
        </p:txBody>
      </p:sp>
      <p:sp>
        <p:nvSpPr>
          <p:cNvPr id="54" name="TextBox 53"/>
          <p:cNvSpPr txBox="1"/>
          <p:nvPr/>
        </p:nvSpPr>
        <p:spPr>
          <a:xfrm>
            <a:off x="7239000" y="1628013"/>
            <a:ext cx="2021061" cy="194310"/>
          </a:xfrm>
          <a:prstGeom prst="rect">
            <a:avLst/>
          </a:prstGeom>
          <a:noFill/>
        </p:spPr>
        <p:txBody>
          <a:bodyPr wrap="none" lIns="0" rIns="0" tIns="0" bIns="0">
            <a:spAutoFit/>
          </a:bodyPr>
          <a:lstStyle/>
          <a:p>
            <a:r>
              <a:rPr sz="1150" b="0">
                <a:solidFill>
                  <a:srgbClr val="2E2E2E"/>
                </a:solidFill>
                <a:latin typeface="Calibri"/>
              </a:rPr>
              <a:t>▪ 'Europe' gains the most share +</a:t>
            </a:r>
          </a:p>
        </p:txBody>
      </p:sp>
      <p:pic>
        <p:nvPicPr>
          <p:cNvPr id="55" name="Picture 54" descr="lock.png"/>
          <p:cNvPicPr>
            <a:picLocks noChangeAspect="1"/>
          </p:cNvPicPr>
          <p:nvPr/>
        </p:nvPicPr>
        <p:blipFill>
          <a:blip r:embed="rId5"/>
          <a:stretch>
            <a:fillRect/>
          </a:stretch>
        </p:blipFill>
        <p:spPr>
          <a:xfrm>
            <a:off x="9209215" y="1617789"/>
            <a:ext cx="134549" cy="195707"/>
          </a:xfrm>
          <a:prstGeom prst="rect">
            <a:avLst/>
          </a:prstGeom>
        </p:spPr>
      </p:pic>
      <p:sp>
        <p:nvSpPr>
          <p:cNvPr id="56" name="TextBox 55"/>
          <p:cNvSpPr txBox="1"/>
          <p:nvPr/>
        </p:nvSpPr>
        <p:spPr>
          <a:xfrm>
            <a:off x="9384324" y="1628013"/>
            <a:ext cx="2342542"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a:t>
            </a:r>
            <a:r>
              <a:rPr sz="1150" b="0">
                <a:solidFill>
                  <a:srgbClr val="2E2E2E"/>
                </a:solidFill>
                <a:latin typeface="Calibri"/>
              </a:rPr>
              <a:t> on the</a:t>
            </a:r>
          </a:p>
        </p:txBody>
      </p:sp>
      <p:sp>
        <p:nvSpPr>
          <p:cNvPr id="57" name="TextBox 56"/>
          <p:cNvSpPr txBox="1"/>
          <p:nvPr/>
        </p:nvSpPr>
        <p:spPr>
          <a:xfrm>
            <a:off x="7239000" y="1803273"/>
            <a:ext cx="764802" cy="194310"/>
          </a:xfrm>
          <a:prstGeom prst="rect">
            <a:avLst/>
          </a:prstGeom>
          <a:noFill/>
        </p:spPr>
        <p:txBody>
          <a:bodyPr wrap="none" lIns="0" rIns="0" tIns="0" bIns="0">
            <a:spAutoFit/>
          </a:bodyPr>
          <a:lstStyle/>
          <a:p>
            <a:r>
              <a:rPr sz="1150" b="0">
                <a:solidFill>
                  <a:srgbClr val="2E2E2E"/>
                </a:solidFill>
                <a:latin typeface="Calibri"/>
              </a:rPr>
              <a:t>right scale).</a:t>
            </a:r>
          </a:p>
        </p:txBody>
      </p:sp>
      <p:sp>
        <p:nvSpPr>
          <p:cNvPr id="58" name="TextBox 57"/>
          <p:cNvSpPr txBox="1"/>
          <p:nvPr/>
        </p:nvSpPr>
        <p:spPr>
          <a:xfrm>
            <a:off x="7239000" y="2031111"/>
            <a:ext cx="2113768" cy="194310"/>
          </a:xfrm>
          <a:prstGeom prst="rect">
            <a:avLst/>
          </a:prstGeom>
          <a:noFill/>
        </p:spPr>
        <p:txBody>
          <a:bodyPr wrap="none" lIns="0" rIns="0" tIns="0" bIns="0">
            <a:spAutoFit/>
          </a:bodyPr>
          <a:lstStyle/>
          <a:p>
            <a:r>
              <a:rPr sz="1150" b="0">
                <a:solidFill>
                  <a:srgbClr val="2E2E2E"/>
                </a:solidFill>
                <a:latin typeface="Calibri"/>
              </a:rPr>
              <a:t>▪ 'North America' cedes the most -</a:t>
            </a:r>
          </a:p>
        </p:txBody>
      </p:sp>
      <p:pic>
        <p:nvPicPr>
          <p:cNvPr id="59" name="Picture 58" descr="lock.png"/>
          <p:cNvPicPr>
            <a:picLocks noChangeAspect="1"/>
          </p:cNvPicPr>
          <p:nvPr/>
        </p:nvPicPr>
        <p:blipFill>
          <a:blip r:embed="rId5"/>
          <a:stretch>
            <a:fillRect/>
          </a:stretch>
        </p:blipFill>
        <p:spPr>
          <a:xfrm>
            <a:off x="9301922" y="2020887"/>
            <a:ext cx="134549" cy="195707"/>
          </a:xfrm>
          <a:prstGeom prst="rect">
            <a:avLst/>
          </a:prstGeom>
        </p:spPr>
      </p:pic>
      <p:sp>
        <p:nvSpPr>
          <p:cNvPr id="60" name="TextBox 59"/>
          <p:cNvSpPr txBox="1"/>
          <p:nvPr/>
        </p:nvSpPr>
        <p:spPr>
          <a:xfrm>
            <a:off x="9477031" y="2031111"/>
            <a:ext cx="1917799"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a:t>
            </a:r>
            <a:r>
              <a:rPr sz="1150" b="0">
                <a:solidFill>
                  <a:srgbClr val="2E2E2E"/>
                </a:solidFill>
                <a:latin typeface="Calibri"/>
              </a:rPr>
              <a:t>).</a:t>
            </a:r>
          </a:p>
        </p:txBody>
      </p:sp>
      <p:sp>
        <p:nvSpPr>
          <p:cNvPr id="61" name="TextBox 60"/>
          <p:cNvSpPr txBox="1"/>
          <p:nvPr/>
        </p:nvSpPr>
        <p:spPr>
          <a:xfrm>
            <a:off x="7239000" y="2258949"/>
            <a:ext cx="2156271" cy="194310"/>
          </a:xfrm>
          <a:prstGeom prst="rect">
            <a:avLst/>
          </a:prstGeom>
          <a:noFill/>
        </p:spPr>
        <p:txBody>
          <a:bodyPr wrap="none" lIns="0" rIns="0" tIns="0" bIns="0">
            <a:spAutoFit/>
          </a:bodyPr>
          <a:lstStyle/>
          <a:p>
            <a:r>
              <a:rPr sz="1150" b="0">
                <a:solidFill>
                  <a:srgbClr val="2E2E2E"/>
                </a:solidFill>
                <a:latin typeface="Calibri"/>
              </a:rPr>
              <a:t>▪ South Asia &amp; Pacific grows fastest</a:t>
            </a:r>
          </a:p>
        </p:txBody>
      </p:sp>
      <p:pic>
        <p:nvPicPr>
          <p:cNvPr id="62" name="Picture 61" descr="lock.png"/>
          <p:cNvPicPr>
            <a:picLocks noChangeAspect="1"/>
          </p:cNvPicPr>
          <p:nvPr/>
        </p:nvPicPr>
        <p:blipFill>
          <a:blip r:embed="rId5"/>
          <a:stretch>
            <a:fillRect/>
          </a:stretch>
        </p:blipFill>
        <p:spPr>
          <a:xfrm>
            <a:off x="9344425" y="2248725"/>
            <a:ext cx="134549" cy="195707"/>
          </a:xfrm>
          <a:prstGeom prst="rect">
            <a:avLst/>
          </a:prstGeom>
        </p:spPr>
      </p:pic>
      <p:sp>
        <p:nvSpPr>
          <p:cNvPr id="63" name="TextBox 62"/>
          <p:cNvSpPr txBox="1"/>
          <p:nvPr/>
        </p:nvSpPr>
        <p:spPr>
          <a:xfrm>
            <a:off x="9519534" y="2258949"/>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4" name="TextBox 63"/>
          <p:cNvSpPr txBox="1"/>
          <p:nvPr/>
        </p:nvSpPr>
        <p:spPr>
          <a:xfrm>
            <a:off x="7239000" y="2486787"/>
            <a:ext cx="1088851" cy="194310"/>
          </a:xfrm>
          <a:prstGeom prst="rect">
            <a:avLst/>
          </a:prstGeom>
          <a:noFill/>
        </p:spPr>
        <p:txBody>
          <a:bodyPr wrap="none" lIns="0" rIns="0" tIns="0" bIns="0">
            <a:spAutoFit/>
          </a:bodyPr>
          <a:lstStyle/>
          <a:p>
            <a:r>
              <a:rPr sz="1150" b="0">
                <a:solidFill>
                  <a:srgbClr val="2E2E2E"/>
                </a:solidFill>
                <a:latin typeface="Calibri"/>
              </a:rPr>
              <a:t>▪ Total rises from</a:t>
            </a:r>
          </a:p>
        </p:txBody>
      </p:sp>
      <p:pic>
        <p:nvPicPr>
          <p:cNvPr id="65" name="Picture 64" descr="lock.png"/>
          <p:cNvPicPr>
            <a:picLocks noChangeAspect="1"/>
          </p:cNvPicPr>
          <p:nvPr/>
        </p:nvPicPr>
        <p:blipFill>
          <a:blip r:embed="rId5"/>
          <a:stretch>
            <a:fillRect/>
          </a:stretch>
        </p:blipFill>
        <p:spPr>
          <a:xfrm>
            <a:off x="8277005" y="2476563"/>
            <a:ext cx="134549" cy="195707"/>
          </a:xfrm>
          <a:prstGeom prst="rect">
            <a:avLst/>
          </a:prstGeom>
        </p:spPr>
      </p:pic>
      <p:sp>
        <p:nvSpPr>
          <p:cNvPr id="66" name="TextBox 65"/>
          <p:cNvSpPr txBox="1"/>
          <p:nvPr/>
        </p:nvSpPr>
        <p:spPr>
          <a:xfrm>
            <a:off x="8452114" y="2486787"/>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7" name="Picture 66" descr="lock.png"/>
          <p:cNvPicPr>
            <a:picLocks noChangeAspect="1"/>
          </p:cNvPicPr>
          <p:nvPr/>
        </p:nvPicPr>
        <p:blipFill>
          <a:blip r:embed="rId5"/>
          <a:stretch>
            <a:fillRect/>
          </a:stretch>
        </p:blipFill>
        <p:spPr>
          <a:xfrm>
            <a:off x="8603550" y="2476563"/>
            <a:ext cx="134549" cy="195707"/>
          </a:xfrm>
          <a:prstGeom prst="rect">
            <a:avLst/>
          </a:prstGeom>
        </p:spPr>
      </p:pic>
      <p:sp>
        <p:nvSpPr>
          <p:cNvPr id="68" name="TextBox 67"/>
          <p:cNvSpPr txBox="1"/>
          <p:nvPr/>
        </p:nvSpPr>
        <p:spPr>
          <a:xfrm>
            <a:off x="8778660" y="2486787"/>
            <a:ext cx="1293663" cy="194310"/>
          </a:xfrm>
          <a:prstGeom prst="rect">
            <a:avLst/>
          </a:prstGeom>
          <a:noFill/>
        </p:spPr>
        <p:txBody>
          <a:bodyPr wrap="none" lIns="0" rIns="0" tIns="0" bIns="0">
            <a:spAutoFit/>
          </a:bodyPr>
          <a:lstStyle/>
          <a:p>
            <a:r>
              <a:rPr sz="1150" b="0">
                <a:solidFill>
                  <a:srgbClr val="2E2E2E"/>
                </a:solidFill>
                <a:latin typeface="Calibri"/>
              </a:rPr>
              <a:t>MT across 6 regions.</a:t>
            </a:r>
          </a:p>
        </p:txBody>
      </p:sp>
      <p:sp>
        <p:nvSpPr>
          <p:cNvPr id="69" name="TextBox 68"/>
          <p:cNvSpPr txBox="1"/>
          <p:nvPr/>
        </p:nvSpPr>
        <p:spPr>
          <a:xfrm>
            <a:off x="1613208" y="5877496"/>
            <a:ext cx="1078882" cy="186689"/>
          </a:xfrm>
          <a:prstGeom prst="rect">
            <a:avLst/>
          </a:prstGeom>
          <a:noFill/>
        </p:spPr>
        <p:txBody>
          <a:bodyPr wrap="none" lIns="0" rIns="0" tIns="0" bIns="0">
            <a:spAutoFit/>
          </a:bodyPr>
          <a:lstStyle/>
          <a:p>
            <a:r>
              <a:rPr sz="1100" b="1">
                <a:solidFill>
                  <a:srgbClr val="6C7A89"/>
                </a:solidFill>
                <a:latin typeface="Calibri"/>
              </a:rPr>
              <a:t>2026 TOTAL (MT)</a:t>
            </a:r>
          </a:p>
        </p:txBody>
      </p:sp>
      <p:pic>
        <p:nvPicPr>
          <p:cNvPr id="70" name="Picture 69" descr="lock.png"/>
          <p:cNvPicPr>
            <a:picLocks noChangeAspect="1"/>
          </p:cNvPicPr>
          <p:nvPr/>
        </p:nvPicPr>
        <p:blipFill>
          <a:blip r:embed="rId5"/>
          <a:stretch>
            <a:fillRect/>
          </a:stretch>
        </p:blipFill>
        <p:spPr>
          <a:xfrm>
            <a:off x="1984327" y="6077648"/>
            <a:ext cx="233998" cy="340360"/>
          </a:xfrm>
          <a:prstGeom prst="rect">
            <a:avLst/>
          </a:prstGeom>
        </p:spPr>
      </p:pic>
      <p:sp>
        <p:nvSpPr>
          <p:cNvPr id="71" name="TextBox 70"/>
          <p:cNvSpPr txBox="1"/>
          <p:nvPr/>
        </p:nvSpPr>
        <p:spPr>
          <a:xfrm>
            <a:off x="5647046" y="5877496"/>
            <a:ext cx="1078882" cy="186689"/>
          </a:xfrm>
          <a:prstGeom prst="rect">
            <a:avLst/>
          </a:prstGeom>
          <a:noFill/>
        </p:spPr>
        <p:txBody>
          <a:bodyPr wrap="none" lIns="0" rIns="0" tIns="0" bIns="0">
            <a:spAutoFit/>
          </a:bodyPr>
          <a:lstStyle/>
          <a:p>
            <a:r>
              <a:rPr sz="1100" b="1">
                <a:solidFill>
                  <a:srgbClr val="6C7A89"/>
                </a:solidFill>
                <a:latin typeface="Calibri"/>
              </a:rPr>
              <a:t>2036 TOTAL (MT)</a:t>
            </a:r>
          </a:p>
        </p:txBody>
      </p:sp>
      <p:pic>
        <p:nvPicPr>
          <p:cNvPr id="72" name="Picture 71" descr="lock.png"/>
          <p:cNvPicPr>
            <a:picLocks noChangeAspect="1"/>
          </p:cNvPicPr>
          <p:nvPr/>
        </p:nvPicPr>
        <p:blipFill>
          <a:blip r:embed="rId5"/>
          <a:stretch>
            <a:fillRect/>
          </a:stretch>
        </p:blipFill>
        <p:spPr>
          <a:xfrm>
            <a:off x="6018165" y="6077648"/>
            <a:ext cx="233998" cy="340360"/>
          </a:xfrm>
          <a:prstGeom prst="rect">
            <a:avLst/>
          </a:prstGeom>
        </p:spPr>
      </p:pic>
      <p:sp>
        <p:nvSpPr>
          <p:cNvPr id="73"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930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454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834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25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7429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95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9333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5524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6593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6117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8497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24688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273894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73418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5798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989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5005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9575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41955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8146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760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713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9512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70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10_900_605E5C.png"/>
          <p:cNvPicPr>
            <a:picLocks noChangeAspect="1"/>
          </p:cNvPicPr>
          <p:nvPr/>
        </p:nvPicPr>
        <p:blipFill>
          <a:blip r:embed="rId6"/>
          <a:stretch>
            <a:fillRect/>
          </a:stretch>
        </p:blipFill>
        <p:spPr>
          <a:xfrm>
            <a:off x="1175203" y="5897562"/>
            <a:ext cx="1878689" cy="482599"/>
          </a:xfrm>
          <a:prstGeom prst="rect">
            <a:avLst/>
          </a:prstGeom>
        </p:spPr>
      </p:pic>
      <p:pic>
        <p:nvPicPr>
          <p:cNvPr id="50" name="Picture 49" descr="17_746_605E5C.png"/>
          <p:cNvPicPr>
            <a:picLocks noChangeAspect="1"/>
          </p:cNvPicPr>
          <p:nvPr/>
        </p:nvPicPr>
        <p:blipFill>
          <a:blip r:embed="rId7"/>
          <a:stretch>
            <a:fillRect/>
          </a:stretch>
        </p:blipFill>
        <p:spPr>
          <a:xfrm>
            <a:off x="5209041" y="5897562"/>
            <a:ext cx="1878689" cy="482599"/>
          </a:xfrm>
          <a:prstGeom prst="rect">
            <a:avLst/>
          </a:prstGeom>
        </p:spPr>
      </p:pic>
      <p:pic>
        <p:nvPicPr>
          <p:cNvPr id="51" name="Picture 50" descr="5_0__605E5C.png"/>
          <p:cNvPicPr>
            <a:picLocks noChangeAspect="1"/>
          </p:cNvPicPr>
          <p:nvPr/>
        </p:nvPicPr>
        <p:blipFill>
          <a:blip r:embed="rId8"/>
          <a:stretch>
            <a:fillRect/>
          </a:stretch>
        </p:blipFill>
        <p:spPr>
          <a:xfrm>
            <a:off x="9465355" y="5897562"/>
            <a:ext cx="1309912" cy="482599"/>
          </a:xfrm>
          <a:prstGeom prst="rect">
            <a:avLst/>
          </a:prstGeom>
        </p:spPr>
      </p:pic>
      <p:pic>
        <p:nvPicPr>
          <p:cNvPr id="52" name="Picture 51" descr="lock.png"/>
          <p:cNvPicPr>
            <a:picLocks noChangeAspect="1"/>
          </p:cNvPicPr>
          <p:nvPr/>
        </p:nvPicPr>
        <p:blipFill>
          <a:blip r:embed="rId5"/>
          <a:stretch>
            <a:fillRect/>
          </a:stretch>
        </p:blipFill>
        <p:spPr>
          <a:xfrm>
            <a:off x="5914657" y="5893409"/>
            <a:ext cx="337498" cy="490906"/>
          </a:xfrm>
          <a:prstGeom prst="rect">
            <a:avLst/>
          </a:prstGeom>
        </p:spPr>
      </p:pic>
      <p:sp>
        <p:nvSpPr>
          <p:cNvPr id="53" name="TextBox 52"/>
          <p:cNvSpPr txBox="1"/>
          <p:nvPr/>
        </p:nvSpPr>
        <p:spPr>
          <a:xfrm>
            <a:off x="7239000" y="1400175"/>
            <a:ext cx="2424980" cy="194310"/>
          </a:xfrm>
          <a:prstGeom prst="rect">
            <a:avLst/>
          </a:prstGeom>
          <a:noFill/>
        </p:spPr>
        <p:txBody>
          <a:bodyPr wrap="none" lIns="0" rIns="0" tIns="0" bIns="0">
            <a:spAutoFit/>
          </a:bodyPr>
          <a:lstStyle/>
          <a:p>
            <a:r>
              <a:rPr sz="1150" b="0">
                <a:solidFill>
                  <a:srgbClr val="2E2E2E"/>
                </a:solidFill>
                <a:latin typeface="Calibri"/>
              </a:rPr>
              <a:t>▪ North America is the largest region, at</a:t>
            </a:r>
          </a:p>
        </p:txBody>
      </p:sp>
      <p:pic>
        <p:nvPicPr>
          <p:cNvPr id="54" name="Picture 53" descr="lock.png"/>
          <p:cNvPicPr>
            <a:picLocks noChangeAspect="1"/>
          </p:cNvPicPr>
          <p:nvPr/>
        </p:nvPicPr>
        <p:blipFill>
          <a:blip r:embed="rId5"/>
          <a:stretch>
            <a:fillRect/>
          </a:stretch>
        </p:blipFill>
        <p:spPr>
          <a:xfrm>
            <a:off x="9613134" y="1389951"/>
            <a:ext cx="134549" cy="195707"/>
          </a:xfrm>
          <a:prstGeom prst="rect">
            <a:avLst/>
          </a:prstGeom>
        </p:spPr>
      </p:pic>
      <p:sp>
        <p:nvSpPr>
          <p:cNvPr id="55" name="TextBox 54"/>
          <p:cNvSpPr txBox="1"/>
          <p:nvPr/>
        </p:nvSpPr>
        <p:spPr>
          <a:xfrm>
            <a:off x="9788243" y="14001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6" name="TextBox 55"/>
          <p:cNvSpPr txBox="1"/>
          <p:nvPr/>
        </p:nvSpPr>
        <p:spPr>
          <a:xfrm>
            <a:off x="7239000" y="1628013"/>
            <a:ext cx="2021061" cy="194310"/>
          </a:xfrm>
          <a:prstGeom prst="rect">
            <a:avLst/>
          </a:prstGeom>
          <a:noFill/>
        </p:spPr>
        <p:txBody>
          <a:bodyPr wrap="none" lIns="0" rIns="0" tIns="0" bIns="0">
            <a:spAutoFit/>
          </a:bodyPr>
          <a:lstStyle/>
          <a:p>
            <a:r>
              <a:rPr sz="1150" b="0">
                <a:solidFill>
                  <a:srgbClr val="2E2E2E"/>
                </a:solidFill>
                <a:latin typeface="Calibri"/>
              </a:rPr>
              <a:t>▪ 'Europe' gains the most share +</a:t>
            </a:r>
          </a:p>
        </p:txBody>
      </p:sp>
      <p:pic>
        <p:nvPicPr>
          <p:cNvPr id="57" name="Picture 56" descr="lock.png"/>
          <p:cNvPicPr>
            <a:picLocks noChangeAspect="1"/>
          </p:cNvPicPr>
          <p:nvPr/>
        </p:nvPicPr>
        <p:blipFill>
          <a:blip r:embed="rId5"/>
          <a:stretch>
            <a:fillRect/>
          </a:stretch>
        </p:blipFill>
        <p:spPr>
          <a:xfrm>
            <a:off x="9209215" y="1617789"/>
            <a:ext cx="134549" cy="195707"/>
          </a:xfrm>
          <a:prstGeom prst="rect">
            <a:avLst/>
          </a:prstGeom>
        </p:spPr>
      </p:pic>
      <p:sp>
        <p:nvSpPr>
          <p:cNvPr id="58" name="TextBox 57"/>
          <p:cNvSpPr txBox="1"/>
          <p:nvPr/>
        </p:nvSpPr>
        <p:spPr>
          <a:xfrm>
            <a:off x="9384324" y="1628013"/>
            <a:ext cx="2342542"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a:t>
            </a:r>
            <a:r>
              <a:rPr sz="1150" b="0">
                <a:solidFill>
                  <a:srgbClr val="2E2E2E"/>
                </a:solidFill>
                <a:latin typeface="Calibri"/>
              </a:rPr>
              <a:t> on the</a:t>
            </a:r>
          </a:p>
        </p:txBody>
      </p:sp>
      <p:sp>
        <p:nvSpPr>
          <p:cNvPr id="59" name="TextBox 58"/>
          <p:cNvSpPr txBox="1"/>
          <p:nvPr/>
        </p:nvSpPr>
        <p:spPr>
          <a:xfrm>
            <a:off x="7239000" y="1803273"/>
            <a:ext cx="764802" cy="194310"/>
          </a:xfrm>
          <a:prstGeom prst="rect">
            <a:avLst/>
          </a:prstGeom>
          <a:noFill/>
        </p:spPr>
        <p:txBody>
          <a:bodyPr wrap="none" lIns="0" rIns="0" tIns="0" bIns="0">
            <a:spAutoFit/>
          </a:bodyPr>
          <a:lstStyle/>
          <a:p>
            <a:r>
              <a:rPr sz="1150" b="0">
                <a:solidFill>
                  <a:srgbClr val="2E2E2E"/>
                </a:solidFill>
                <a:latin typeface="Calibri"/>
              </a:rPr>
              <a:t>right scale).</a:t>
            </a:r>
          </a:p>
        </p:txBody>
      </p:sp>
      <p:sp>
        <p:nvSpPr>
          <p:cNvPr id="60" name="TextBox 59"/>
          <p:cNvSpPr txBox="1"/>
          <p:nvPr/>
        </p:nvSpPr>
        <p:spPr>
          <a:xfrm>
            <a:off x="7239000" y="2031111"/>
            <a:ext cx="2113768" cy="194310"/>
          </a:xfrm>
          <a:prstGeom prst="rect">
            <a:avLst/>
          </a:prstGeom>
          <a:noFill/>
        </p:spPr>
        <p:txBody>
          <a:bodyPr wrap="none" lIns="0" rIns="0" tIns="0" bIns="0">
            <a:spAutoFit/>
          </a:bodyPr>
          <a:lstStyle/>
          <a:p>
            <a:r>
              <a:rPr sz="1150" b="0">
                <a:solidFill>
                  <a:srgbClr val="2E2E2E"/>
                </a:solidFill>
                <a:latin typeface="Calibri"/>
              </a:rPr>
              <a:t>▪ 'North America' cedes the most -</a:t>
            </a:r>
          </a:p>
        </p:txBody>
      </p:sp>
      <p:pic>
        <p:nvPicPr>
          <p:cNvPr id="61" name="Picture 60" descr="lock.png"/>
          <p:cNvPicPr>
            <a:picLocks noChangeAspect="1"/>
          </p:cNvPicPr>
          <p:nvPr/>
        </p:nvPicPr>
        <p:blipFill>
          <a:blip r:embed="rId5"/>
          <a:stretch>
            <a:fillRect/>
          </a:stretch>
        </p:blipFill>
        <p:spPr>
          <a:xfrm>
            <a:off x="9301922" y="2020887"/>
            <a:ext cx="134549" cy="195707"/>
          </a:xfrm>
          <a:prstGeom prst="rect">
            <a:avLst/>
          </a:prstGeom>
        </p:spPr>
      </p:pic>
      <p:sp>
        <p:nvSpPr>
          <p:cNvPr id="62" name="TextBox 61"/>
          <p:cNvSpPr txBox="1"/>
          <p:nvPr/>
        </p:nvSpPr>
        <p:spPr>
          <a:xfrm>
            <a:off x="9477031" y="2031111"/>
            <a:ext cx="1917799"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a:t>
            </a:r>
            <a:r>
              <a:rPr sz="1150" b="0">
                <a:solidFill>
                  <a:srgbClr val="2E2E2E"/>
                </a:solidFill>
                <a:latin typeface="Calibri"/>
              </a:rPr>
              <a:t>).</a:t>
            </a:r>
          </a:p>
        </p:txBody>
      </p:sp>
      <p:sp>
        <p:nvSpPr>
          <p:cNvPr id="63" name="TextBox 62"/>
          <p:cNvSpPr txBox="1"/>
          <p:nvPr/>
        </p:nvSpPr>
        <p:spPr>
          <a:xfrm>
            <a:off x="7239000" y="2258949"/>
            <a:ext cx="2156271" cy="194310"/>
          </a:xfrm>
          <a:prstGeom prst="rect">
            <a:avLst/>
          </a:prstGeom>
          <a:noFill/>
        </p:spPr>
        <p:txBody>
          <a:bodyPr wrap="none" lIns="0" rIns="0" tIns="0" bIns="0">
            <a:spAutoFit/>
          </a:bodyPr>
          <a:lstStyle/>
          <a:p>
            <a:r>
              <a:rPr sz="1150" b="0">
                <a:solidFill>
                  <a:srgbClr val="2E2E2E"/>
                </a:solidFill>
                <a:latin typeface="Calibri"/>
              </a:rPr>
              <a:t>▪ South Asia &amp; Pacific grows fastest</a:t>
            </a:r>
          </a:p>
        </p:txBody>
      </p:sp>
      <p:pic>
        <p:nvPicPr>
          <p:cNvPr id="64" name="Picture 63" descr="lock.png"/>
          <p:cNvPicPr>
            <a:picLocks noChangeAspect="1"/>
          </p:cNvPicPr>
          <p:nvPr/>
        </p:nvPicPr>
        <p:blipFill>
          <a:blip r:embed="rId5"/>
          <a:stretch>
            <a:fillRect/>
          </a:stretch>
        </p:blipFill>
        <p:spPr>
          <a:xfrm>
            <a:off x="9344425" y="2248725"/>
            <a:ext cx="134549" cy="195707"/>
          </a:xfrm>
          <a:prstGeom prst="rect">
            <a:avLst/>
          </a:prstGeom>
        </p:spPr>
      </p:pic>
      <p:sp>
        <p:nvSpPr>
          <p:cNvPr id="65" name="TextBox 64"/>
          <p:cNvSpPr txBox="1"/>
          <p:nvPr/>
        </p:nvSpPr>
        <p:spPr>
          <a:xfrm>
            <a:off x="9519534" y="2258949"/>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6" name="TextBox 65"/>
          <p:cNvSpPr txBox="1"/>
          <p:nvPr/>
        </p:nvSpPr>
        <p:spPr>
          <a:xfrm>
            <a:off x="7239000" y="2486787"/>
            <a:ext cx="1088851" cy="194310"/>
          </a:xfrm>
          <a:prstGeom prst="rect">
            <a:avLst/>
          </a:prstGeom>
          <a:noFill/>
        </p:spPr>
        <p:txBody>
          <a:bodyPr wrap="none" lIns="0" rIns="0" tIns="0" bIns="0">
            <a:spAutoFit/>
          </a:bodyPr>
          <a:lstStyle/>
          <a:p>
            <a:r>
              <a:rPr sz="1150" b="0">
                <a:solidFill>
                  <a:srgbClr val="2E2E2E"/>
                </a:solidFill>
                <a:latin typeface="Calibri"/>
              </a:rPr>
              <a:t>▪ Total rises from</a:t>
            </a:r>
          </a:p>
        </p:txBody>
      </p:sp>
      <p:pic>
        <p:nvPicPr>
          <p:cNvPr id="67" name="Picture 66" descr="lock.png"/>
          <p:cNvPicPr>
            <a:picLocks noChangeAspect="1"/>
          </p:cNvPicPr>
          <p:nvPr/>
        </p:nvPicPr>
        <p:blipFill>
          <a:blip r:embed="rId5"/>
          <a:stretch>
            <a:fillRect/>
          </a:stretch>
        </p:blipFill>
        <p:spPr>
          <a:xfrm>
            <a:off x="8277005" y="2476563"/>
            <a:ext cx="134549" cy="195707"/>
          </a:xfrm>
          <a:prstGeom prst="rect">
            <a:avLst/>
          </a:prstGeom>
        </p:spPr>
      </p:pic>
      <p:sp>
        <p:nvSpPr>
          <p:cNvPr id="68" name="TextBox 67"/>
          <p:cNvSpPr txBox="1"/>
          <p:nvPr/>
        </p:nvSpPr>
        <p:spPr>
          <a:xfrm>
            <a:off x="8452114" y="2486787"/>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9" name="Picture 68" descr="lock.png"/>
          <p:cNvPicPr>
            <a:picLocks noChangeAspect="1"/>
          </p:cNvPicPr>
          <p:nvPr/>
        </p:nvPicPr>
        <p:blipFill>
          <a:blip r:embed="rId5"/>
          <a:stretch>
            <a:fillRect/>
          </a:stretch>
        </p:blipFill>
        <p:spPr>
          <a:xfrm>
            <a:off x="8603550" y="2476563"/>
            <a:ext cx="134549" cy="195707"/>
          </a:xfrm>
          <a:prstGeom prst="rect">
            <a:avLst/>
          </a:prstGeom>
        </p:spPr>
      </p:pic>
      <p:sp>
        <p:nvSpPr>
          <p:cNvPr id="70" name="TextBox 69"/>
          <p:cNvSpPr txBox="1"/>
          <p:nvPr/>
        </p:nvSpPr>
        <p:spPr>
          <a:xfrm>
            <a:off x="8778660" y="2486787"/>
            <a:ext cx="1567222" cy="194310"/>
          </a:xfrm>
          <a:prstGeom prst="rect">
            <a:avLst/>
          </a:prstGeom>
          <a:noFill/>
        </p:spPr>
        <p:txBody>
          <a:bodyPr wrap="none" lIns="0" rIns="0" tIns="0" bIns="0">
            <a:spAutoFit/>
          </a:bodyPr>
          <a:lstStyle/>
          <a:p>
            <a:r>
              <a:rPr sz="1150" b="0">
                <a:solidFill>
                  <a:srgbClr val="2E2E2E"/>
                </a:solidFill>
                <a:latin typeface="Calibri"/>
              </a:rPr>
              <a:t>US$ Mn across 6 regions.</a:t>
            </a:r>
          </a:p>
        </p:txBody>
      </p:sp>
      <p:sp>
        <p:nvSpPr>
          <p:cNvPr id="71"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Share Analysis, By Region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(MT)</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South Asia &amp;</a:t>
                      </a:r>
                      <a:endParaRPr sz="1100"/>
                    </a:p>
                    <a:p>
                      <a:pPr algn="l"/>
                      <a:r>
                        <a:rPr sz="1100" b="1">
                          <a:solidFill>
                            <a:srgbClr val="2E2E2E"/>
                          </a:solidFill>
                          <a:latin typeface="Calibri"/>
                        </a:rPr>
                        <a:t>Pacific</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Middle East &amp;</a:t>
                      </a:r>
                      <a:endParaRPr sz="1100"/>
                    </a:p>
                    <a:p>
                      <a:pPr algn="l"/>
                      <a:r>
                        <a:rPr sz="1100" b="1">
                          <a:solidFill>
                            <a:srgbClr val="2E2E2E"/>
                          </a:solidFill>
                          <a:latin typeface="Calibri"/>
                        </a:rPr>
                        <a:t>Africa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2300895" cy="194310"/>
          </a:xfrm>
          <a:prstGeom prst="rect">
            <a:avLst/>
          </a:prstGeom>
          <a:noFill/>
        </p:spPr>
        <p:txBody>
          <a:bodyPr wrap="none" lIns="0" rIns="0" tIns="0" bIns="0">
            <a:spAutoFit/>
          </a:bodyPr>
          <a:lstStyle/>
          <a:p>
            <a:r>
              <a:rPr sz="1150" b="0">
                <a:solidFill>
                  <a:srgbClr val="2E2E2E"/>
                </a:solidFill>
                <a:latin typeface="Calibri"/>
              </a:rPr>
              <a:t>▪ 'North America' is the largest region</a:t>
            </a:r>
          </a:p>
        </p:txBody>
      </p:sp>
      <p:pic>
        <p:nvPicPr>
          <p:cNvPr id="22" name="Picture 21" descr="lock.png"/>
          <p:cNvPicPr>
            <a:picLocks noChangeAspect="1"/>
          </p:cNvPicPr>
          <p:nvPr/>
        </p:nvPicPr>
        <p:blipFill>
          <a:blip r:embed="rId4"/>
          <a:stretch>
            <a:fillRect/>
          </a:stretch>
        </p:blipFill>
        <p:spPr>
          <a:xfrm>
            <a:off x="2526274" y="4542726"/>
            <a:ext cx="134549" cy="195707"/>
          </a:xfrm>
          <a:prstGeom prst="rect">
            <a:avLst/>
          </a:prstGeom>
        </p:spPr>
      </p:pic>
      <p:sp>
        <p:nvSpPr>
          <p:cNvPr id="23" name="TextBox 22"/>
          <p:cNvSpPr txBox="1"/>
          <p:nvPr/>
        </p:nvSpPr>
        <p:spPr>
          <a:xfrm>
            <a:off x="2701383" y="45529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731116" y="4542726"/>
            <a:ext cx="134549" cy="195707"/>
          </a:xfrm>
          <a:prstGeom prst="rect">
            <a:avLst/>
          </a:prstGeom>
        </p:spPr>
      </p:pic>
      <p:sp>
        <p:nvSpPr>
          <p:cNvPr id="25" name="TextBox 24"/>
          <p:cNvSpPr txBox="1"/>
          <p:nvPr/>
        </p:nvSpPr>
        <p:spPr>
          <a:xfrm>
            <a:off x="3906225" y="45529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780788"/>
            <a:ext cx="2372779" cy="194310"/>
          </a:xfrm>
          <a:prstGeom prst="rect">
            <a:avLst/>
          </a:prstGeom>
          <a:noFill/>
        </p:spPr>
        <p:txBody>
          <a:bodyPr wrap="none" lIns="0" rIns="0" tIns="0" bIns="0">
            <a:spAutoFit/>
          </a:bodyPr>
          <a:lstStyle/>
          <a:p>
            <a:r>
              <a:rPr sz="1150" b="0">
                <a:solidFill>
                  <a:srgbClr val="2E2E2E"/>
                </a:solidFill>
                <a:latin typeface="Calibri"/>
              </a:rPr>
              <a:t>▪ 'South Asia &amp; Pacific' grows fastest at</a:t>
            </a:r>
          </a:p>
        </p:txBody>
      </p:sp>
      <p:pic>
        <p:nvPicPr>
          <p:cNvPr id="27" name="Picture 26" descr="lock.png"/>
          <p:cNvPicPr>
            <a:picLocks noChangeAspect="1"/>
          </p:cNvPicPr>
          <p:nvPr/>
        </p:nvPicPr>
        <p:blipFill>
          <a:blip r:embed="rId4"/>
          <a:stretch>
            <a:fillRect/>
          </a:stretch>
        </p:blipFill>
        <p:spPr>
          <a:xfrm>
            <a:off x="2598158" y="4770564"/>
            <a:ext cx="134549" cy="195707"/>
          </a:xfrm>
          <a:prstGeom prst="rect">
            <a:avLst/>
          </a:prstGeom>
        </p:spPr>
      </p:pic>
      <p:sp>
        <p:nvSpPr>
          <p:cNvPr id="28" name="TextBox 27"/>
          <p:cNvSpPr txBox="1"/>
          <p:nvPr/>
        </p:nvSpPr>
        <p:spPr>
          <a:xfrm>
            <a:off x="2773267" y="478078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008625"/>
            <a:ext cx="1983978" cy="194310"/>
          </a:xfrm>
          <a:prstGeom prst="rect">
            <a:avLst/>
          </a:prstGeom>
          <a:noFill/>
        </p:spPr>
        <p:txBody>
          <a:bodyPr wrap="none" lIns="0" rIns="0" tIns="0" bIns="0">
            <a:spAutoFit/>
          </a:bodyPr>
          <a:lstStyle/>
          <a:p>
            <a:r>
              <a:rPr sz="1150" b="0">
                <a:solidFill>
                  <a:srgbClr val="2E2E2E"/>
                </a:solidFill>
                <a:latin typeface="Calibri"/>
              </a:rPr>
              <a:t>▪ Share shifts toward 'Europe' (+</a:t>
            </a:r>
          </a:p>
        </p:txBody>
      </p:sp>
      <p:pic>
        <p:nvPicPr>
          <p:cNvPr id="30" name="Picture 29" descr="lock.png"/>
          <p:cNvPicPr>
            <a:picLocks noChangeAspect="1"/>
          </p:cNvPicPr>
          <p:nvPr/>
        </p:nvPicPr>
        <p:blipFill>
          <a:blip r:embed="rId4"/>
          <a:stretch>
            <a:fillRect/>
          </a:stretch>
        </p:blipFill>
        <p:spPr>
          <a:xfrm>
            <a:off x="2209357" y="4998402"/>
            <a:ext cx="134549" cy="195707"/>
          </a:xfrm>
          <a:prstGeom prst="rect">
            <a:avLst/>
          </a:prstGeom>
        </p:spPr>
      </p:pic>
      <p:sp>
        <p:nvSpPr>
          <p:cNvPr id="31" name="TextBox 30"/>
          <p:cNvSpPr txBox="1"/>
          <p:nvPr/>
        </p:nvSpPr>
        <p:spPr>
          <a:xfrm>
            <a:off x="2384466" y="5008625"/>
            <a:ext cx="2356234" cy="194310"/>
          </a:xfrm>
          <a:prstGeom prst="rect">
            <a:avLst/>
          </a:prstGeom>
          <a:noFill/>
        </p:spPr>
        <p:txBody>
          <a:bodyPr wrap="none" lIns="0" rIns="0" tIns="0" bIns="0">
            <a:spAutoFit/>
          </a:bodyPr>
          <a:lstStyle/>
          <a:p>
            <a:r>
              <a:rPr sz="1150" b="0">
                <a:solidFill>
                  <a:srgbClr val="2E2E2E"/>
                </a:solidFill>
                <a:latin typeface="Calibri"/>
              </a:rPr>
              <a:t>BPS) and away from 'North America' (-</a:t>
            </a:r>
          </a:p>
        </p:txBody>
      </p:sp>
      <p:pic>
        <p:nvPicPr>
          <p:cNvPr id="32" name="Picture 31" descr="lock.png"/>
          <p:cNvPicPr>
            <a:picLocks noChangeAspect="1"/>
          </p:cNvPicPr>
          <p:nvPr/>
        </p:nvPicPr>
        <p:blipFill>
          <a:blip r:embed="rId4"/>
          <a:stretch>
            <a:fillRect/>
          </a:stretch>
        </p:blipFill>
        <p:spPr>
          <a:xfrm>
            <a:off x="4689854" y="4998402"/>
            <a:ext cx="134549" cy="195707"/>
          </a:xfrm>
          <a:prstGeom prst="rect">
            <a:avLst/>
          </a:prstGeom>
        </p:spPr>
      </p:pic>
      <p:sp>
        <p:nvSpPr>
          <p:cNvPr id="33" name="TextBox 32"/>
          <p:cNvSpPr txBox="1"/>
          <p:nvPr/>
        </p:nvSpPr>
        <p:spPr>
          <a:xfrm>
            <a:off x="4864964" y="50086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2364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226240"/>
            <a:ext cx="134549" cy="195707"/>
          </a:xfrm>
          <a:prstGeom prst="rect">
            <a:avLst/>
          </a:prstGeom>
        </p:spPr>
      </p:pic>
      <p:sp>
        <p:nvSpPr>
          <p:cNvPr id="36" name="TextBox 35"/>
          <p:cNvSpPr txBox="1"/>
          <p:nvPr/>
        </p:nvSpPr>
        <p:spPr>
          <a:xfrm>
            <a:off x="1965143" y="52364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226240"/>
            <a:ext cx="134549" cy="195707"/>
          </a:xfrm>
          <a:prstGeom prst="rect">
            <a:avLst/>
          </a:prstGeom>
        </p:spPr>
      </p:pic>
      <p:sp>
        <p:nvSpPr>
          <p:cNvPr id="38" name="TextBox 37"/>
          <p:cNvSpPr txBox="1"/>
          <p:nvPr/>
        </p:nvSpPr>
        <p:spPr>
          <a:xfrm>
            <a:off x="2291688" y="5236463"/>
            <a:ext cx="1293663" cy="194310"/>
          </a:xfrm>
          <a:prstGeom prst="rect">
            <a:avLst/>
          </a:prstGeom>
          <a:noFill/>
        </p:spPr>
        <p:txBody>
          <a:bodyPr wrap="none" lIns="0" rIns="0" tIns="0" bIns="0">
            <a:spAutoFit/>
          </a:bodyPr>
          <a:lstStyle/>
          <a:p>
            <a:r>
              <a:rPr sz="1150" b="0">
                <a:solidFill>
                  <a:srgbClr val="2E2E2E"/>
                </a:solidFill>
                <a:latin typeface="Calibri"/>
              </a:rPr>
              <a:t>MT across 6 regions.</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6995" y="2080450"/>
            <a:ext cx="366712" cy="533400"/>
          </a:xfrm>
          <a:prstGeom prst="rect">
            <a:avLst/>
          </a:prstGeom>
        </p:spPr>
      </p:pic>
      <p:sp>
        <p:nvSpPr>
          <p:cNvPr id="21" name="TextBox 20"/>
          <p:cNvSpPr txBox="1"/>
          <p:nvPr/>
        </p:nvSpPr>
        <p:spPr>
          <a:xfrm>
            <a:off x="276225" y="3971925"/>
            <a:ext cx="2300895" cy="194310"/>
          </a:xfrm>
          <a:prstGeom prst="rect">
            <a:avLst/>
          </a:prstGeom>
          <a:noFill/>
        </p:spPr>
        <p:txBody>
          <a:bodyPr wrap="none" lIns="0" rIns="0" tIns="0" bIns="0">
            <a:spAutoFit/>
          </a:bodyPr>
          <a:lstStyle/>
          <a:p>
            <a:r>
              <a:rPr sz="1150" b="0">
                <a:solidFill>
                  <a:srgbClr val="2E2E2E"/>
                </a:solidFill>
                <a:latin typeface="Calibri"/>
              </a:rPr>
              <a:t>▪ 'North America' is the largest region</a:t>
            </a:r>
          </a:p>
        </p:txBody>
      </p:sp>
      <p:pic>
        <p:nvPicPr>
          <p:cNvPr id="22" name="Picture 21" descr="lock.png"/>
          <p:cNvPicPr>
            <a:picLocks noChangeAspect="1"/>
          </p:cNvPicPr>
          <p:nvPr/>
        </p:nvPicPr>
        <p:blipFill>
          <a:blip r:embed="rId4"/>
          <a:stretch>
            <a:fillRect/>
          </a:stretch>
        </p:blipFill>
        <p:spPr>
          <a:xfrm>
            <a:off x="2526274" y="3961701"/>
            <a:ext cx="134549" cy="195707"/>
          </a:xfrm>
          <a:prstGeom prst="rect">
            <a:avLst/>
          </a:prstGeom>
        </p:spPr>
      </p:pic>
      <p:sp>
        <p:nvSpPr>
          <p:cNvPr id="23" name="TextBox 22"/>
          <p:cNvSpPr txBox="1"/>
          <p:nvPr/>
        </p:nvSpPr>
        <p:spPr>
          <a:xfrm>
            <a:off x="2701383" y="39719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607316" y="3961701"/>
            <a:ext cx="134549" cy="195707"/>
          </a:xfrm>
          <a:prstGeom prst="rect">
            <a:avLst/>
          </a:prstGeom>
        </p:spPr>
      </p:pic>
      <p:sp>
        <p:nvSpPr>
          <p:cNvPr id="25" name="TextBox 24"/>
          <p:cNvSpPr txBox="1"/>
          <p:nvPr/>
        </p:nvSpPr>
        <p:spPr>
          <a:xfrm>
            <a:off x="3782425" y="39719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199763"/>
            <a:ext cx="2372779" cy="194310"/>
          </a:xfrm>
          <a:prstGeom prst="rect">
            <a:avLst/>
          </a:prstGeom>
          <a:noFill/>
        </p:spPr>
        <p:txBody>
          <a:bodyPr wrap="none" lIns="0" rIns="0" tIns="0" bIns="0">
            <a:spAutoFit/>
          </a:bodyPr>
          <a:lstStyle/>
          <a:p>
            <a:r>
              <a:rPr sz="1150" b="0">
                <a:solidFill>
                  <a:srgbClr val="2E2E2E"/>
                </a:solidFill>
                <a:latin typeface="Calibri"/>
              </a:rPr>
              <a:t>▪ 'South Asia &amp; Pacific' grows fastest at</a:t>
            </a:r>
          </a:p>
        </p:txBody>
      </p:sp>
      <p:pic>
        <p:nvPicPr>
          <p:cNvPr id="27" name="Picture 26" descr="lock.png"/>
          <p:cNvPicPr>
            <a:picLocks noChangeAspect="1"/>
          </p:cNvPicPr>
          <p:nvPr/>
        </p:nvPicPr>
        <p:blipFill>
          <a:blip r:embed="rId4"/>
          <a:stretch>
            <a:fillRect/>
          </a:stretch>
        </p:blipFill>
        <p:spPr>
          <a:xfrm>
            <a:off x="2598158" y="4189539"/>
            <a:ext cx="134549" cy="195707"/>
          </a:xfrm>
          <a:prstGeom prst="rect">
            <a:avLst/>
          </a:prstGeom>
        </p:spPr>
      </p:pic>
      <p:sp>
        <p:nvSpPr>
          <p:cNvPr id="28" name="TextBox 27"/>
          <p:cNvSpPr txBox="1"/>
          <p:nvPr/>
        </p:nvSpPr>
        <p:spPr>
          <a:xfrm>
            <a:off x="2773267" y="41997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27600"/>
            <a:ext cx="1983978" cy="194310"/>
          </a:xfrm>
          <a:prstGeom prst="rect">
            <a:avLst/>
          </a:prstGeom>
          <a:noFill/>
        </p:spPr>
        <p:txBody>
          <a:bodyPr wrap="none" lIns="0" rIns="0" tIns="0" bIns="0">
            <a:spAutoFit/>
          </a:bodyPr>
          <a:lstStyle/>
          <a:p>
            <a:r>
              <a:rPr sz="1150" b="0">
                <a:solidFill>
                  <a:srgbClr val="2E2E2E"/>
                </a:solidFill>
                <a:latin typeface="Calibri"/>
              </a:rPr>
              <a:t>▪ Share shifts toward 'Europe' (+</a:t>
            </a:r>
          </a:p>
        </p:txBody>
      </p:sp>
      <p:pic>
        <p:nvPicPr>
          <p:cNvPr id="30" name="Picture 29" descr="lock.png"/>
          <p:cNvPicPr>
            <a:picLocks noChangeAspect="1"/>
          </p:cNvPicPr>
          <p:nvPr/>
        </p:nvPicPr>
        <p:blipFill>
          <a:blip r:embed="rId4"/>
          <a:stretch>
            <a:fillRect/>
          </a:stretch>
        </p:blipFill>
        <p:spPr>
          <a:xfrm>
            <a:off x="2209357" y="4417377"/>
            <a:ext cx="134549" cy="195707"/>
          </a:xfrm>
          <a:prstGeom prst="rect">
            <a:avLst/>
          </a:prstGeom>
        </p:spPr>
      </p:pic>
      <p:sp>
        <p:nvSpPr>
          <p:cNvPr id="31" name="TextBox 30"/>
          <p:cNvSpPr txBox="1"/>
          <p:nvPr/>
        </p:nvSpPr>
        <p:spPr>
          <a:xfrm>
            <a:off x="2384466" y="4427600"/>
            <a:ext cx="2356234" cy="194310"/>
          </a:xfrm>
          <a:prstGeom prst="rect">
            <a:avLst/>
          </a:prstGeom>
          <a:noFill/>
        </p:spPr>
        <p:txBody>
          <a:bodyPr wrap="none" lIns="0" rIns="0" tIns="0" bIns="0">
            <a:spAutoFit/>
          </a:bodyPr>
          <a:lstStyle/>
          <a:p>
            <a:r>
              <a:rPr sz="1150" b="0">
                <a:solidFill>
                  <a:srgbClr val="2E2E2E"/>
                </a:solidFill>
                <a:latin typeface="Calibri"/>
              </a:rPr>
              <a:t>BPS) and away from 'North America' (-</a:t>
            </a:r>
          </a:p>
        </p:txBody>
      </p:sp>
      <p:pic>
        <p:nvPicPr>
          <p:cNvPr id="32" name="Picture 31" descr="lock.png"/>
          <p:cNvPicPr>
            <a:picLocks noChangeAspect="1"/>
          </p:cNvPicPr>
          <p:nvPr/>
        </p:nvPicPr>
        <p:blipFill>
          <a:blip r:embed="rId4"/>
          <a:stretch>
            <a:fillRect/>
          </a:stretch>
        </p:blipFill>
        <p:spPr>
          <a:xfrm>
            <a:off x="4689854" y="4417377"/>
            <a:ext cx="134549" cy="195707"/>
          </a:xfrm>
          <a:prstGeom prst="rect">
            <a:avLst/>
          </a:prstGeom>
        </p:spPr>
      </p:pic>
      <p:sp>
        <p:nvSpPr>
          <p:cNvPr id="33" name="TextBox 32"/>
          <p:cNvSpPr txBox="1"/>
          <p:nvPr/>
        </p:nvSpPr>
        <p:spPr>
          <a:xfrm>
            <a:off x="4864964" y="44276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554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645215"/>
            <a:ext cx="134549" cy="195707"/>
          </a:xfrm>
          <a:prstGeom prst="rect">
            <a:avLst/>
          </a:prstGeom>
        </p:spPr>
      </p:pic>
      <p:sp>
        <p:nvSpPr>
          <p:cNvPr id="36" name="TextBox 35"/>
          <p:cNvSpPr txBox="1"/>
          <p:nvPr/>
        </p:nvSpPr>
        <p:spPr>
          <a:xfrm>
            <a:off x="1841342" y="46554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645215"/>
            <a:ext cx="134549" cy="195707"/>
          </a:xfrm>
          <a:prstGeom prst="rect">
            <a:avLst/>
          </a:prstGeom>
        </p:spPr>
      </p:pic>
      <p:sp>
        <p:nvSpPr>
          <p:cNvPr id="38" name="TextBox 37"/>
          <p:cNvSpPr txBox="1"/>
          <p:nvPr/>
        </p:nvSpPr>
        <p:spPr>
          <a:xfrm>
            <a:off x="2167888" y="4655438"/>
            <a:ext cx="1567222" cy="194310"/>
          </a:xfrm>
          <a:prstGeom prst="rect">
            <a:avLst/>
          </a:prstGeom>
          <a:noFill/>
        </p:spPr>
        <p:txBody>
          <a:bodyPr wrap="none" lIns="0" rIns="0" tIns="0" bIns="0">
            <a:spAutoFit/>
          </a:bodyPr>
          <a:lstStyle/>
          <a:p>
            <a:r>
              <a:rPr sz="1150" b="0">
                <a:solidFill>
                  <a:srgbClr val="2E2E2E"/>
                </a:solidFill>
                <a:latin typeface="Calibri"/>
              </a:rPr>
              <a:t>US$ Mn across 6 regions.</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(MT)</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pPr/>
            <a:r>
              <a:rPr sz="850" b="1">
                <a:solidFill>
                  <a:srgbClr val="6C7A89"/>
                </a:solidFill>
                <a:latin typeface="Calibri"/>
              </a:rPr>
              <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pPr/>
            <a:r>
              <a:rPr sz="850" b="1">
                <a:solidFill>
                  <a:srgbClr val="6C7A89"/>
                </a:solidFill>
                <a:latin typeface="Calibri"/>
              </a:rPr>
              <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4" name="TextBox 23"/>
          <p:cNvSpPr txBox="1"/>
          <p:nvPr/>
        </p:nvSpPr>
        <p:spPr>
          <a:xfrm>
            <a:off x="9930765" y="1407795"/>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5" name="TextBox 24"/>
          <p:cNvSpPr txBox="1"/>
          <p:nvPr/>
        </p:nvSpPr>
        <p:spPr>
          <a:xfrm>
            <a:off x="9930765" y="4293870"/>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6" name="lockshield_13"/>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9"/>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10971"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3449096" y="1266825"/>
            <a:ext cx="3403312" cy="288711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5" name="Rectangle 14"/>
          <p:cNvSpPr/>
          <p:nvPr/>
        </p:nvSpPr>
        <p:spPr>
          <a:xfrm>
            <a:off x="3449096" y="4153944"/>
            <a:ext cx="3403312" cy="241830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6" name="Rectangle 15"/>
          <p:cNvSpPr/>
          <p:nvPr/>
        </p:nvSpPr>
        <p:spPr>
          <a:xfrm>
            <a:off x="6852408" y="1266825"/>
            <a:ext cx="2895416" cy="2186057"/>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17" name="Rectangle 16"/>
          <p:cNvSpPr/>
          <p:nvPr/>
        </p:nvSpPr>
        <p:spPr>
          <a:xfrm>
            <a:off x="9747824" y="1266825"/>
            <a:ext cx="2206051" cy="2186057"/>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18" name="Rectangle 17"/>
          <p:cNvSpPr/>
          <p:nvPr/>
        </p:nvSpPr>
        <p:spPr>
          <a:xfrm>
            <a:off x="6852408" y="3452882"/>
            <a:ext cx="2561697" cy="1778163"/>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9" name="Rectangle 18"/>
          <p:cNvSpPr/>
          <p:nvPr/>
        </p:nvSpPr>
        <p:spPr>
          <a:xfrm>
            <a:off x="6852408" y="5231045"/>
            <a:ext cx="2561697" cy="1341205"/>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0" name="Rectangle 19"/>
          <p:cNvSpPr/>
          <p:nvPr/>
        </p:nvSpPr>
        <p:spPr>
          <a:xfrm>
            <a:off x="9414105" y="3452882"/>
            <a:ext cx="1281045" cy="2124662"/>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1" name="Rectangle 20"/>
          <p:cNvSpPr/>
          <p:nvPr/>
        </p:nvSpPr>
        <p:spPr>
          <a:xfrm>
            <a:off x="10695150" y="3452882"/>
            <a:ext cx="1258725" cy="2124662"/>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2" name="Rectangle 21"/>
          <p:cNvSpPr/>
          <p:nvPr/>
        </p:nvSpPr>
        <p:spPr>
          <a:xfrm>
            <a:off x="9414105" y="5577544"/>
            <a:ext cx="2539770" cy="994706"/>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1689172" y="3919537"/>
            <a:ext cx="308877" cy="449275"/>
          </a:xfrm>
          <a:prstGeom prst="rect">
            <a:avLst/>
          </a:prstGeom>
        </p:spPr>
      </p:pic>
      <p:pic>
        <p:nvPicPr>
          <p:cNvPr id="25" name="Picture 24" descr="lock.png"/>
          <p:cNvPicPr>
            <a:picLocks noChangeAspect="1"/>
          </p:cNvPicPr>
          <p:nvPr/>
        </p:nvPicPr>
        <p:blipFill>
          <a:blip r:embed="rId4"/>
          <a:stretch>
            <a:fillRect/>
          </a:stretch>
        </p:blipFill>
        <p:spPr>
          <a:xfrm>
            <a:off x="4996313" y="2710384"/>
            <a:ext cx="308877" cy="449275"/>
          </a:xfrm>
          <a:prstGeom prst="rect">
            <a:avLst/>
          </a:prstGeom>
        </p:spPr>
      </p:pic>
      <p:pic>
        <p:nvPicPr>
          <p:cNvPr id="26" name="Picture 25" descr="lock.png"/>
          <p:cNvPicPr>
            <a:picLocks noChangeAspect="1"/>
          </p:cNvPicPr>
          <p:nvPr/>
        </p:nvPicPr>
        <p:blipFill>
          <a:blip r:embed="rId4"/>
          <a:stretch>
            <a:fillRect/>
          </a:stretch>
        </p:blipFill>
        <p:spPr>
          <a:xfrm>
            <a:off x="4996313" y="5363097"/>
            <a:ext cx="308877" cy="449275"/>
          </a:xfrm>
          <a:prstGeom prst="rect">
            <a:avLst/>
          </a:prstGeom>
        </p:spPr>
      </p:pic>
      <p:pic>
        <p:nvPicPr>
          <p:cNvPr id="27" name="Picture 26" descr="lock.png"/>
          <p:cNvPicPr>
            <a:picLocks noChangeAspect="1"/>
          </p:cNvPicPr>
          <p:nvPr/>
        </p:nvPicPr>
        <p:blipFill>
          <a:blip r:embed="rId4"/>
          <a:stretch>
            <a:fillRect/>
          </a:stretch>
        </p:blipFill>
        <p:spPr>
          <a:xfrm>
            <a:off x="8145677" y="2359853"/>
            <a:ext cx="308877" cy="449275"/>
          </a:xfrm>
          <a:prstGeom prst="rect">
            <a:avLst/>
          </a:prstGeom>
        </p:spPr>
      </p:pic>
      <p:pic>
        <p:nvPicPr>
          <p:cNvPr id="28" name="Picture 27" descr="lock.png"/>
          <p:cNvPicPr>
            <a:picLocks noChangeAspect="1"/>
          </p:cNvPicPr>
          <p:nvPr/>
        </p:nvPicPr>
        <p:blipFill>
          <a:blip r:embed="rId4"/>
          <a:stretch>
            <a:fillRect/>
          </a:stretch>
        </p:blipFill>
        <p:spPr>
          <a:xfrm>
            <a:off x="10696411" y="2359853"/>
            <a:ext cx="308877" cy="449275"/>
          </a:xfrm>
          <a:prstGeom prst="rect">
            <a:avLst/>
          </a:prstGeom>
        </p:spPr>
      </p:pic>
      <p:pic>
        <p:nvPicPr>
          <p:cNvPr id="29" name="Picture 28" descr="lock.png"/>
          <p:cNvPicPr>
            <a:picLocks noChangeAspect="1"/>
          </p:cNvPicPr>
          <p:nvPr/>
        </p:nvPicPr>
        <p:blipFill>
          <a:blip r:embed="rId4"/>
          <a:stretch>
            <a:fillRect/>
          </a:stretch>
        </p:blipFill>
        <p:spPr>
          <a:xfrm>
            <a:off x="7978818" y="4341963"/>
            <a:ext cx="308877" cy="449275"/>
          </a:xfrm>
          <a:prstGeom prst="rect">
            <a:avLst/>
          </a:prstGeom>
        </p:spPr>
      </p:pic>
      <p:pic>
        <p:nvPicPr>
          <p:cNvPr id="30" name="Picture 29" descr="lock.png"/>
          <p:cNvPicPr>
            <a:picLocks noChangeAspect="1"/>
          </p:cNvPicPr>
          <p:nvPr/>
        </p:nvPicPr>
        <p:blipFill>
          <a:blip r:embed="rId4"/>
          <a:stretch>
            <a:fillRect/>
          </a:stretch>
        </p:blipFill>
        <p:spPr>
          <a:xfrm>
            <a:off x="7978818" y="5901647"/>
            <a:ext cx="308877" cy="449275"/>
          </a:xfrm>
          <a:prstGeom prst="rect">
            <a:avLst/>
          </a:prstGeom>
        </p:spPr>
      </p:pic>
      <p:pic>
        <p:nvPicPr>
          <p:cNvPr id="31" name="Picture 30" descr="lock.png"/>
          <p:cNvPicPr>
            <a:picLocks noChangeAspect="1"/>
          </p:cNvPicPr>
          <p:nvPr/>
        </p:nvPicPr>
        <p:blipFill>
          <a:blip r:embed="rId4"/>
          <a:stretch>
            <a:fillRect/>
          </a:stretch>
        </p:blipFill>
        <p:spPr>
          <a:xfrm>
            <a:off x="9900189" y="4515213"/>
            <a:ext cx="308877" cy="449275"/>
          </a:xfrm>
          <a:prstGeom prst="rect">
            <a:avLst/>
          </a:prstGeom>
        </p:spPr>
      </p:pic>
      <p:pic>
        <p:nvPicPr>
          <p:cNvPr id="32" name="Picture 31" descr="lock.png"/>
          <p:cNvPicPr>
            <a:picLocks noChangeAspect="1"/>
          </p:cNvPicPr>
          <p:nvPr/>
        </p:nvPicPr>
        <p:blipFill>
          <a:blip r:embed="rId4"/>
          <a:stretch>
            <a:fillRect/>
          </a:stretch>
        </p:blipFill>
        <p:spPr>
          <a:xfrm>
            <a:off x="11170074" y="4515213"/>
            <a:ext cx="308877" cy="449275"/>
          </a:xfrm>
          <a:prstGeom prst="rect">
            <a:avLst/>
          </a:prstGeom>
        </p:spPr>
      </p:pic>
      <p:pic>
        <p:nvPicPr>
          <p:cNvPr id="33" name="Picture 32" descr="lock.png"/>
          <p:cNvPicPr>
            <a:picLocks noChangeAspect="1"/>
          </p:cNvPicPr>
          <p:nvPr/>
        </p:nvPicPr>
        <p:blipFill>
          <a:blip r:embed="rId4"/>
          <a:stretch>
            <a:fillRect/>
          </a:stretch>
        </p:blipFill>
        <p:spPr>
          <a:xfrm>
            <a:off x="10529551" y="6074897"/>
            <a:ext cx="308877" cy="449275"/>
          </a:xfrm>
          <a:prstGeom prst="rect">
            <a:avLst/>
          </a:prstGeom>
        </p:spPr>
      </p:pic>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666875"/>
            <a:ext cx="103632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009775"/>
            <a:ext cx="103632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2695575"/>
            <a:ext cx="5067300" cy="36385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Flour Base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Dietary Formulation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Nutritional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Recipe and Ingredient Claims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Surface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Individual Muffin Size</a:t>
            </a:r>
          </a:p>
        </p:txBody>
      </p:sp>
      <p:sp>
        <p:nvSpPr>
          <p:cNvPr id="12" name="TextBox 11"/>
          <p:cNvSpPr txBox="1"/>
          <p:nvPr/>
        </p:nvSpPr>
        <p:spPr>
          <a:xfrm>
            <a:off x="6096000" y="2695575"/>
            <a:ext cx="5067300" cy="32448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Storage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Shelf Life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 Configuration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Multipack Wrapping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Price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Brand Ownership</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a:t>
            </a:r>
          </a:p>
        </p:txBody>
      </p:sp>
      <p:sp>
        <p:nvSpPr>
          <p:cNvPr id="13" name="TextBox 1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Sweet muffins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Savoury muffins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_053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0_236_605E5C.png"/>
          <p:cNvPicPr>
            <a:picLocks noChangeAspect="1"/>
          </p:cNvPicPr>
          <p:nvPr/>
        </p:nvPicPr>
        <p:blipFill>
          <a:blip r:embed="rId5"/>
          <a:stretch>
            <a:fillRect/>
          </a:stretch>
        </p:blipFill>
        <p:spPr>
          <a:xfrm>
            <a:off x="3634127" y="2779432"/>
            <a:ext cx="1409020" cy="361950"/>
          </a:xfrm>
          <a:prstGeom prst="rect">
            <a:avLst/>
          </a:prstGeom>
        </p:spPr>
      </p:pic>
      <p:pic>
        <p:nvPicPr>
          <p:cNvPr id="52" name="Picture 51" descr="5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_847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7_51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5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05261" cy="186689"/>
          </a:xfrm>
          <a:prstGeom prst="rect">
            <a:avLst/>
          </a:prstGeom>
          <a:noFill/>
        </p:spPr>
        <p:txBody>
          <a:bodyPr wrap="none" lIns="0" rIns="0" tIns="0" bIns="0">
            <a:spAutoFit/>
          </a:bodyPr>
          <a:lstStyle/>
          <a:p>
            <a:r>
              <a:rPr sz="1100" b="0">
                <a:solidFill>
                  <a:srgbClr val="2E2E2E"/>
                </a:solidFill>
                <a:latin typeface="Calibri"/>
              </a:rPr>
              <a:t>▪ 'Sweet muffins' holds the largest share in 2026</a:t>
            </a:r>
          </a:p>
        </p:txBody>
      </p:sp>
      <p:pic>
        <p:nvPicPr>
          <p:cNvPr id="59" name="Picture 58" descr="lock.png"/>
          <p:cNvPicPr>
            <a:picLocks noChangeAspect="1"/>
          </p:cNvPicPr>
          <p:nvPr/>
        </p:nvPicPr>
        <p:blipFill>
          <a:blip r:embed="rId10"/>
          <a:stretch>
            <a:fillRect/>
          </a:stretch>
        </p:blipFill>
        <p:spPr>
          <a:xfrm>
            <a:off x="472307" y="4387298"/>
            <a:ext cx="128699" cy="187198"/>
          </a:xfrm>
          <a:prstGeom prst="rect">
            <a:avLst/>
          </a:prstGeom>
        </p:spPr>
      </p:pic>
      <p:sp>
        <p:nvSpPr>
          <p:cNvPr id="60" name="TextBox 59"/>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1" name="TextBox 60"/>
          <p:cNvSpPr txBox="1"/>
          <p:nvPr/>
        </p:nvSpPr>
        <p:spPr>
          <a:xfrm>
            <a:off x="485775" y="4615009"/>
            <a:ext cx="2286843" cy="186689"/>
          </a:xfrm>
          <a:prstGeom prst="rect">
            <a:avLst/>
          </a:prstGeom>
          <a:noFill/>
        </p:spPr>
        <p:txBody>
          <a:bodyPr wrap="none" lIns="0" rIns="0" tIns="0" bIns="0">
            <a:spAutoFit/>
          </a:bodyPr>
          <a:lstStyle/>
          <a:p>
            <a:r>
              <a:rPr sz="1100" b="0">
                <a:solidFill>
                  <a:srgbClr val="2E2E2E"/>
                </a:solidFill>
                <a:latin typeface="Calibri"/>
              </a:rPr>
              <a:t>▪ 'Sweet muffins' is the fastest-growing</a:t>
            </a:r>
          </a:p>
        </p:txBody>
      </p:sp>
      <p:sp>
        <p:nvSpPr>
          <p:cNvPr id="62" name="TextBox 61"/>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3" name="Picture 62" descr="lock.png"/>
          <p:cNvPicPr>
            <a:picLocks noChangeAspect="1"/>
          </p:cNvPicPr>
          <p:nvPr/>
        </p:nvPicPr>
        <p:blipFill>
          <a:blip r:embed="rId10"/>
          <a:stretch>
            <a:fillRect/>
          </a:stretch>
        </p:blipFill>
        <p:spPr>
          <a:xfrm>
            <a:off x="1391064" y="4772870"/>
            <a:ext cx="128699" cy="187198"/>
          </a:xfrm>
          <a:prstGeom prst="rect">
            <a:avLst/>
          </a:prstGeom>
        </p:spPr>
      </p:pic>
      <p:sp>
        <p:nvSpPr>
          <p:cNvPr id="64" name="TextBox 63"/>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6" name="Picture 65" descr="lock.png"/>
          <p:cNvPicPr>
            <a:picLocks noChangeAspect="1"/>
          </p:cNvPicPr>
          <p:nvPr/>
        </p:nvPicPr>
        <p:blipFill>
          <a:blip r:embed="rId10"/>
          <a:stretch>
            <a:fillRect/>
          </a:stretch>
        </p:blipFill>
        <p:spPr>
          <a:xfrm>
            <a:off x="2240451" y="4990801"/>
            <a:ext cx="128699" cy="187198"/>
          </a:xfrm>
          <a:prstGeom prst="rect">
            <a:avLst/>
          </a:prstGeom>
        </p:spPr>
      </p:pic>
      <p:sp>
        <p:nvSpPr>
          <p:cNvPr id="67" name="TextBox 66"/>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552799" y="4990801"/>
            <a:ext cx="128699" cy="187198"/>
          </a:xfrm>
          <a:prstGeom prst="rect">
            <a:avLst/>
          </a:prstGeom>
        </p:spPr>
      </p:pic>
      <p:sp>
        <p:nvSpPr>
          <p:cNvPr id="69" name="TextBox 68"/>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558603" cy="186689"/>
          </a:xfrm>
          <a:prstGeom prst="rect">
            <a:avLst/>
          </a:prstGeom>
          <a:noFill/>
        </p:spPr>
        <p:txBody>
          <a:bodyPr wrap="none" lIns="0" rIns="0" tIns="0" bIns="0">
            <a:spAutoFit/>
          </a:bodyPr>
          <a:lstStyle/>
          <a:p>
            <a:r>
              <a:rPr sz="1100" b="0">
                <a:solidFill>
                  <a:srgbClr val="2E2E2E"/>
                </a:solidFill>
                <a:latin typeface="Calibri"/>
              </a:rPr>
              <a:t>▪ 2 sub-segments make up the product type</a:t>
            </a:r>
          </a:p>
        </p:txBody>
      </p:sp>
      <p:sp>
        <p:nvSpPr>
          <p:cNvPr id="72" name="TextBox 71"/>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3" name="TextBox 72"/>
          <p:cNvSpPr txBox="1"/>
          <p:nvPr/>
        </p:nvSpPr>
        <p:spPr>
          <a:xfrm>
            <a:off x="3838575" y="4229437"/>
            <a:ext cx="1041548" cy="186689"/>
          </a:xfrm>
          <a:prstGeom prst="rect">
            <a:avLst/>
          </a:prstGeom>
          <a:noFill/>
        </p:spPr>
        <p:txBody>
          <a:bodyPr wrap="none" lIns="0" rIns="0" tIns="0" bIns="0">
            <a:spAutoFit/>
          </a:bodyPr>
          <a:lstStyle/>
          <a:p>
            <a:r>
              <a:rPr sz="1100" b="0">
                <a:solidFill>
                  <a:srgbClr val="2E2E2E"/>
                </a:solidFill>
                <a:latin typeface="Calibri"/>
              </a:rPr>
              <a:t>● Sweet muffins:</a:t>
            </a:r>
          </a:p>
        </p:txBody>
      </p:sp>
      <p:pic>
        <p:nvPicPr>
          <p:cNvPr id="74" name="Picture 73" descr="lock.png"/>
          <p:cNvPicPr>
            <a:picLocks noChangeAspect="1"/>
          </p:cNvPicPr>
          <p:nvPr/>
        </p:nvPicPr>
        <p:blipFill>
          <a:blip r:embed="rId10"/>
          <a:stretch>
            <a:fillRect/>
          </a:stretch>
        </p:blipFill>
        <p:spPr>
          <a:xfrm>
            <a:off x="4828175" y="4219658"/>
            <a:ext cx="128699" cy="187198"/>
          </a:xfrm>
          <a:prstGeom prst="rect">
            <a:avLst/>
          </a:prstGeom>
        </p:spPr>
      </p:pic>
      <p:sp>
        <p:nvSpPr>
          <p:cNvPr id="75" name="TextBox 74"/>
          <p:cNvSpPr txBox="1"/>
          <p:nvPr/>
        </p:nvSpPr>
        <p:spPr>
          <a:xfrm>
            <a:off x="499567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855121" y="4219658"/>
            <a:ext cx="128699" cy="187198"/>
          </a:xfrm>
          <a:prstGeom prst="rect">
            <a:avLst/>
          </a:prstGeom>
        </p:spPr>
      </p:pic>
      <p:sp>
        <p:nvSpPr>
          <p:cNvPr id="77" name="TextBox 76"/>
          <p:cNvSpPr txBox="1"/>
          <p:nvPr/>
        </p:nvSpPr>
        <p:spPr>
          <a:xfrm>
            <a:off x="602261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1144686" cy="186689"/>
          </a:xfrm>
          <a:prstGeom prst="rect">
            <a:avLst/>
          </a:prstGeom>
          <a:noFill/>
        </p:spPr>
        <p:txBody>
          <a:bodyPr wrap="none" lIns="0" rIns="0" tIns="0" bIns="0">
            <a:spAutoFit/>
          </a:bodyPr>
          <a:lstStyle/>
          <a:p>
            <a:r>
              <a:rPr sz="1100" b="0">
                <a:solidFill>
                  <a:srgbClr val="2E2E2E"/>
                </a:solidFill>
                <a:latin typeface="Calibri"/>
              </a:rPr>
              <a:t>● Savoury muffins:</a:t>
            </a:r>
          </a:p>
        </p:txBody>
      </p:sp>
      <p:pic>
        <p:nvPicPr>
          <p:cNvPr id="79" name="Picture 78" descr="lock.png"/>
          <p:cNvPicPr>
            <a:picLocks noChangeAspect="1"/>
          </p:cNvPicPr>
          <p:nvPr/>
        </p:nvPicPr>
        <p:blipFill>
          <a:blip r:embed="rId10"/>
          <a:stretch>
            <a:fillRect/>
          </a:stretch>
        </p:blipFill>
        <p:spPr>
          <a:xfrm>
            <a:off x="4931313" y="4437590"/>
            <a:ext cx="128699" cy="187198"/>
          </a:xfrm>
          <a:prstGeom prst="rect">
            <a:avLst/>
          </a:prstGeom>
        </p:spPr>
      </p:pic>
      <p:sp>
        <p:nvSpPr>
          <p:cNvPr id="80" name="TextBox 79"/>
          <p:cNvSpPr txBox="1"/>
          <p:nvPr/>
        </p:nvSpPr>
        <p:spPr>
          <a:xfrm>
            <a:off x="509880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958259" y="4437590"/>
            <a:ext cx="128699" cy="187198"/>
          </a:xfrm>
          <a:prstGeom prst="rect">
            <a:avLst/>
          </a:prstGeom>
        </p:spPr>
      </p:pic>
      <p:sp>
        <p:nvSpPr>
          <p:cNvPr id="82" name="TextBox 81"/>
          <p:cNvSpPr txBox="1"/>
          <p:nvPr/>
        </p:nvSpPr>
        <p:spPr>
          <a:xfrm>
            <a:off x="6125755"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84" name="TextBox 83"/>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5" name="Picture 84" descr="lock.png"/>
          <p:cNvPicPr>
            <a:picLocks noChangeAspect="1"/>
          </p:cNvPicPr>
          <p:nvPr/>
        </p:nvPicPr>
        <p:blipFill>
          <a:blip r:embed="rId10"/>
          <a:stretch>
            <a:fillRect/>
          </a:stretch>
        </p:blipFill>
        <p:spPr>
          <a:xfrm>
            <a:off x="9048826" y="6007677"/>
            <a:ext cx="134549" cy="195707"/>
          </a:xfrm>
          <a:prstGeom prst="rect">
            <a:avLst/>
          </a:prstGeom>
        </p:spPr>
      </p:pic>
      <p:sp>
        <p:nvSpPr>
          <p:cNvPr id="86" name="TextBox 85"/>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4946327" cy="186689"/>
          </a:xfrm>
          <a:prstGeom prst="rect">
            <a:avLst/>
          </a:prstGeom>
          <a:noFill/>
        </p:spPr>
        <p:txBody>
          <a:bodyPr wrap="none" lIns="0" rIns="0" tIns="0" bIns="0">
            <a:spAutoFit/>
          </a:bodyPr>
          <a:lstStyle/>
          <a:p>
            <a:r>
              <a:rPr sz="1100" b="0">
                <a:solidFill>
                  <a:srgbClr val="2E2E2E"/>
                </a:solidFill>
                <a:latin typeface="Calibri"/>
              </a:rPr>
              <a:t>Between 2026 and 2036, 'Sweet muffins' gains the most share in the Global market (+</a:t>
            </a:r>
          </a:p>
        </p:txBody>
      </p:sp>
      <p:pic>
        <p:nvPicPr>
          <p:cNvPr id="21" name="Picture 20" descr="lock.png"/>
          <p:cNvPicPr>
            <a:picLocks noChangeAspect="1"/>
          </p:cNvPicPr>
          <p:nvPr/>
        </p:nvPicPr>
        <p:blipFill>
          <a:blip r:embed="rId6"/>
          <a:stretch>
            <a:fillRect/>
          </a:stretch>
        </p:blipFill>
        <p:spPr>
          <a:xfrm>
            <a:off x="5151554" y="5851905"/>
            <a:ext cx="128699" cy="187198"/>
          </a:xfrm>
          <a:prstGeom prst="rect">
            <a:avLst/>
          </a:prstGeom>
        </p:spPr>
      </p:pic>
      <p:sp>
        <p:nvSpPr>
          <p:cNvPr id="22" name="TextBox 21"/>
          <p:cNvSpPr txBox="1"/>
          <p:nvPr/>
        </p:nvSpPr>
        <p:spPr>
          <a:xfrm>
            <a:off x="5319049" y="5861685"/>
            <a:ext cx="2036365" cy="186689"/>
          </a:xfrm>
          <a:prstGeom prst="rect">
            <a:avLst/>
          </a:prstGeom>
          <a:noFill/>
        </p:spPr>
        <p:txBody>
          <a:bodyPr wrap="none" lIns="0" rIns="0" tIns="0" bIns="0">
            <a:spAutoFit/>
          </a:bodyPr>
          <a:lstStyle/>
          <a:p>
            <a:r>
              <a:rPr sz="1100" b="0">
                <a:solidFill>
                  <a:srgbClr val="2E2E2E"/>
                </a:solidFill>
                <a:latin typeface="Calibri"/>
              </a:rPr>
              <a:t>BPS) while 'Savoury muffins' cedes</a:t>
            </a:r>
          </a:p>
        </p:txBody>
      </p:sp>
      <p:pic>
        <p:nvPicPr>
          <p:cNvPr id="23" name="Picture 22" descr="lock.png"/>
          <p:cNvPicPr>
            <a:picLocks noChangeAspect="1"/>
          </p:cNvPicPr>
          <p:nvPr/>
        </p:nvPicPr>
        <p:blipFill>
          <a:blip r:embed="rId6"/>
          <a:stretch>
            <a:fillRect/>
          </a:stretch>
        </p:blipFill>
        <p:spPr>
          <a:xfrm>
            <a:off x="7303467" y="5851905"/>
            <a:ext cx="128699" cy="187198"/>
          </a:xfrm>
          <a:prstGeom prst="rect">
            <a:avLst/>
          </a:prstGeom>
        </p:spPr>
      </p:pic>
      <p:sp>
        <p:nvSpPr>
          <p:cNvPr id="24" name="TextBox 23"/>
          <p:cNvSpPr txBox="1"/>
          <p:nvPr/>
        </p:nvSpPr>
        <p:spPr>
          <a:xfrm>
            <a:off x="7470962"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Sweet muffins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Savoury muffins</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Product Type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Product Type (MT)</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1036885"/>
                <a:gridCol w="646489"/>
                <a:gridCol w="646489"/>
                <a:gridCol w="646489"/>
                <a:gridCol w="646489"/>
                <a:gridCol w="646489"/>
                <a:gridCol w="646489"/>
                <a:gridCol w="646489"/>
                <a:gridCol w="646489"/>
                <a:gridCol w="646489"/>
                <a:gridCol w="646489"/>
                <a:gridCol w="646489"/>
                <a:gridCol w="646489"/>
                <a:gridCol w="646489"/>
                <a:gridCol w="646489"/>
                <a:gridCol w="646489"/>
                <a:gridCol w="646489"/>
                <a:gridCol w="506497"/>
              </a:tblGrid>
              <a:tr h="246126">
                <a:tc>
                  <a:txBody>
                    <a:bodyPr wrap="none"/>
                    <a:lstStyle/>
                    <a:p>
                      <a:pPr algn="l"/>
                      <a:r>
                        <a:rPr sz="1100" b="1">
                          <a:solidFill>
                            <a:srgbClr val="0B2E4A"/>
                          </a:solidFill>
                          <a:latin typeface="Calibri"/>
                        </a:rPr>
                        <a:t>Product Type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19050" marR="1905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Product Type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27755" y="1589913"/>
            <a:ext cx="366712" cy="533400"/>
          </a:xfrm>
          <a:prstGeom prst="rect">
            <a:avLst/>
          </a:prstGeom>
        </p:spPr>
      </p:pic>
      <p:sp>
        <p:nvSpPr>
          <p:cNvPr id="21" name="TextBox 20"/>
          <p:cNvSpPr txBox="1"/>
          <p:nvPr/>
        </p:nvSpPr>
        <p:spPr>
          <a:xfrm>
            <a:off x="276225" y="2990850"/>
            <a:ext cx="2817204" cy="194310"/>
          </a:xfrm>
          <a:prstGeom prst="rect">
            <a:avLst/>
          </a:prstGeom>
          <a:noFill/>
        </p:spPr>
        <p:txBody>
          <a:bodyPr wrap="none" lIns="0" rIns="0" tIns="0" bIns="0">
            <a:spAutoFit/>
          </a:bodyPr>
          <a:lstStyle/>
          <a:p>
            <a:r>
              <a:rPr sz="1150" b="0">
                <a:solidFill>
                  <a:srgbClr val="2E2E2E"/>
                </a:solidFill>
                <a:latin typeface="Calibri"/>
              </a:rPr>
              <a:t>▪ 'Sweet muffins' is the largest product type at</a:t>
            </a:r>
          </a:p>
        </p:txBody>
      </p:sp>
      <p:pic>
        <p:nvPicPr>
          <p:cNvPr id="22" name="Picture 21" descr="lock.png"/>
          <p:cNvPicPr>
            <a:picLocks noChangeAspect="1"/>
          </p:cNvPicPr>
          <p:nvPr/>
        </p:nvPicPr>
        <p:blipFill>
          <a:blip r:embed="rId4"/>
          <a:stretch>
            <a:fillRect/>
          </a:stretch>
        </p:blipFill>
        <p:spPr>
          <a:xfrm>
            <a:off x="3042583" y="2980626"/>
            <a:ext cx="134549" cy="195707"/>
          </a:xfrm>
          <a:prstGeom prst="rect">
            <a:avLst/>
          </a:prstGeom>
        </p:spPr>
      </p:pic>
      <p:sp>
        <p:nvSpPr>
          <p:cNvPr id="23" name="TextBox 22"/>
          <p:cNvSpPr txBox="1"/>
          <p:nvPr/>
        </p:nvSpPr>
        <p:spPr>
          <a:xfrm>
            <a:off x="3217692" y="29908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247425" y="2980626"/>
            <a:ext cx="134549" cy="195707"/>
          </a:xfrm>
          <a:prstGeom prst="rect">
            <a:avLst/>
          </a:prstGeom>
        </p:spPr>
      </p:pic>
      <p:sp>
        <p:nvSpPr>
          <p:cNvPr id="25" name="TextBox 24"/>
          <p:cNvSpPr txBox="1"/>
          <p:nvPr/>
        </p:nvSpPr>
        <p:spPr>
          <a:xfrm>
            <a:off x="4422535" y="29908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218687"/>
            <a:ext cx="1898116" cy="194310"/>
          </a:xfrm>
          <a:prstGeom prst="rect">
            <a:avLst/>
          </a:prstGeom>
          <a:noFill/>
        </p:spPr>
        <p:txBody>
          <a:bodyPr wrap="none" lIns="0" rIns="0" tIns="0" bIns="0">
            <a:spAutoFit/>
          </a:bodyPr>
          <a:lstStyle/>
          <a:p>
            <a:r>
              <a:rPr sz="1150" b="0">
                <a:solidFill>
                  <a:srgbClr val="2E2E2E"/>
                </a:solidFill>
                <a:latin typeface="Calibri"/>
              </a:rPr>
              <a:t>▪ 'Sweet muffins' grows fastest</a:t>
            </a:r>
          </a:p>
        </p:txBody>
      </p:sp>
      <p:pic>
        <p:nvPicPr>
          <p:cNvPr id="27" name="Picture 26" descr="lock.png"/>
          <p:cNvPicPr>
            <a:picLocks noChangeAspect="1"/>
          </p:cNvPicPr>
          <p:nvPr/>
        </p:nvPicPr>
        <p:blipFill>
          <a:blip r:embed="rId4"/>
          <a:stretch>
            <a:fillRect/>
          </a:stretch>
        </p:blipFill>
        <p:spPr>
          <a:xfrm>
            <a:off x="2123495" y="3208464"/>
            <a:ext cx="134549" cy="195707"/>
          </a:xfrm>
          <a:prstGeom prst="rect">
            <a:avLst/>
          </a:prstGeom>
        </p:spPr>
      </p:pic>
      <p:sp>
        <p:nvSpPr>
          <p:cNvPr id="28" name="TextBox 27"/>
          <p:cNvSpPr txBox="1"/>
          <p:nvPr/>
        </p:nvSpPr>
        <p:spPr>
          <a:xfrm>
            <a:off x="2298604"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407294" cy="194310"/>
          </a:xfrm>
          <a:prstGeom prst="rect">
            <a:avLst/>
          </a:prstGeom>
          <a:noFill/>
        </p:spPr>
        <p:txBody>
          <a:bodyPr wrap="none" lIns="0" rIns="0" tIns="0" bIns="0">
            <a:spAutoFit/>
          </a:bodyPr>
          <a:lstStyle/>
          <a:p>
            <a:r>
              <a:rPr sz="1150" b="0">
                <a:solidFill>
                  <a:srgbClr val="2E2E2E"/>
                </a:solidFill>
                <a:latin typeface="Calibri"/>
              </a:rPr>
              <a:t>▪ Share shifts toward 'Sweet muffins' (+</a:t>
            </a:r>
          </a:p>
        </p:txBody>
      </p:sp>
      <p:pic>
        <p:nvPicPr>
          <p:cNvPr id="30" name="Picture 29" descr="lock.png"/>
          <p:cNvPicPr>
            <a:picLocks noChangeAspect="1"/>
          </p:cNvPicPr>
          <p:nvPr/>
        </p:nvPicPr>
        <p:blipFill>
          <a:blip r:embed="rId4"/>
          <a:stretch>
            <a:fillRect/>
          </a:stretch>
        </p:blipFill>
        <p:spPr>
          <a:xfrm>
            <a:off x="2632673" y="3436302"/>
            <a:ext cx="134549" cy="195707"/>
          </a:xfrm>
          <a:prstGeom prst="rect">
            <a:avLst/>
          </a:prstGeom>
        </p:spPr>
      </p:pic>
      <p:sp>
        <p:nvSpPr>
          <p:cNvPr id="31" name="TextBox 30"/>
          <p:cNvSpPr txBox="1"/>
          <p:nvPr/>
        </p:nvSpPr>
        <p:spPr>
          <a:xfrm>
            <a:off x="2807783" y="3446525"/>
            <a:ext cx="2441240" cy="194310"/>
          </a:xfrm>
          <a:prstGeom prst="rect">
            <a:avLst/>
          </a:prstGeom>
          <a:noFill/>
        </p:spPr>
        <p:txBody>
          <a:bodyPr wrap="none" lIns="0" rIns="0" tIns="0" bIns="0">
            <a:spAutoFit/>
          </a:bodyPr>
          <a:lstStyle/>
          <a:p>
            <a:r>
              <a:rPr sz="1150" b="0">
                <a:solidFill>
                  <a:srgbClr val="2E2E2E"/>
                </a:solidFill>
                <a:latin typeface="Calibri"/>
              </a:rPr>
              <a:t>BPS) and away from 'Savoury muffins' (-</a:t>
            </a:r>
          </a:p>
        </p:txBody>
      </p:sp>
      <p:pic>
        <p:nvPicPr>
          <p:cNvPr id="32" name="Picture 31" descr="lock.png"/>
          <p:cNvPicPr>
            <a:picLocks noChangeAspect="1"/>
          </p:cNvPicPr>
          <p:nvPr/>
        </p:nvPicPr>
        <p:blipFill>
          <a:blip r:embed="rId4"/>
          <a:stretch>
            <a:fillRect/>
          </a:stretch>
        </p:blipFill>
        <p:spPr>
          <a:xfrm>
            <a:off x="5198177" y="3436302"/>
            <a:ext cx="134549" cy="195707"/>
          </a:xfrm>
          <a:prstGeom prst="rect">
            <a:avLst/>
          </a:prstGeom>
        </p:spPr>
      </p:pic>
      <p:sp>
        <p:nvSpPr>
          <p:cNvPr id="33" name="TextBox 32"/>
          <p:cNvSpPr txBox="1"/>
          <p:nvPr/>
        </p:nvSpPr>
        <p:spPr>
          <a:xfrm>
            <a:off x="5373286"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664140"/>
            <a:ext cx="134549" cy="195707"/>
          </a:xfrm>
          <a:prstGeom prst="rect">
            <a:avLst/>
          </a:prstGeom>
        </p:spPr>
      </p:pic>
      <p:sp>
        <p:nvSpPr>
          <p:cNvPr id="36" name="TextBox 35"/>
          <p:cNvSpPr txBox="1"/>
          <p:nvPr/>
        </p:nvSpPr>
        <p:spPr>
          <a:xfrm>
            <a:off x="1965143"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664140"/>
            <a:ext cx="134549" cy="195707"/>
          </a:xfrm>
          <a:prstGeom prst="rect">
            <a:avLst/>
          </a:prstGeom>
        </p:spPr>
      </p:pic>
      <p:sp>
        <p:nvSpPr>
          <p:cNvPr id="38" name="TextBox 37"/>
          <p:cNvSpPr txBox="1"/>
          <p:nvPr/>
        </p:nvSpPr>
        <p:spPr>
          <a:xfrm>
            <a:off x="2291688" y="36743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Type (US$ Mn)</a:t>
            </a:r>
          </a:p>
        </p:txBody>
      </p:sp>
      <p:graphicFrame>
        <p:nvGraphicFramePr>
          <p:cNvPr id="13" name="Table 12"/>
          <p:cNvGraphicFramePr>
            <a:graphicFrameLocks noGrp="1"/>
          </p:cNvGraphicFramePr>
          <p:nvPr/>
        </p:nvGraphicFramePr>
        <p:xfrm>
          <a:off x="152400" y="1238250"/>
          <a:ext cx="11887207" cy="990600"/>
        </p:xfrm>
        <a:graphic>
          <a:graphicData uri="http://schemas.openxmlformats.org/drawingml/2006/table">
            <a:tbl>
              <a:tblPr>
                <a:tableStyleId>{5C22544A-7EE6-4342-B048-85BDC9FD1C3A}</a:tableStyleId>
              </a:tblPr>
              <a:tblGrid>
                <a:gridCol w="1227204"/>
                <a:gridCol w="627059"/>
                <a:gridCol w="627059"/>
                <a:gridCol w="627059"/>
                <a:gridCol w="627059"/>
                <a:gridCol w="627059"/>
                <a:gridCol w="627059"/>
                <a:gridCol w="627059"/>
                <a:gridCol w="627059"/>
                <a:gridCol w="627059"/>
                <a:gridCol w="627059"/>
                <a:gridCol w="627059"/>
                <a:gridCol w="627059"/>
                <a:gridCol w="627059"/>
                <a:gridCol w="627059"/>
                <a:gridCol w="627059"/>
                <a:gridCol w="627059"/>
                <a:gridCol w="627059"/>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Type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2915" y="1589913"/>
            <a:ext cx="366712" cy="533400"/>
          </a:xfrm>
          <a:prstGeom prst="rect">
            <a:avLst/>
          </a:prstGeom>
        </p:spPr>
      </p:pic>
      <p:sp>
        <p:nvSpPr>
          <p:cNvPr id="21" name="TextBox 20"/>
          <p:cNvSpPr txBox="1"/>
          <p:nvPr/>
        </p:nvSpPr>
        <p:spPr>
          <a:xfrm>
            <a:off x="276225" y="2990850"/>
            <a:ext cx="2817204" cy="194310"/>
          </a:xfrm>
          <a:prstGeom prst="rect">
            <a:avLst/>
          </a:prstGeom>
          <a:noFill/>
        </p:spPr>
        <p:txBody>
          <a:bodyPr wrap="none" lIns="0" rIns="0" tIns="0" bIns="0">
            <a:spAutoFit/>
          </a:bodyPr>
          <a:lstStyle/>
          <a:p>
            <a:r>
              <a:rPr sz="1150" b="0">
                <a:solidFill>
                  <a:srgbClr val="2E2E2E"/>
                </a:solidFill>
                <a:latin typeface="Calibri"/>
              </a:rPr>
              <a:t>▪ 'Sweet muffins' is the largest product type at</a:t>
            </a:r>
          </a:p>
        </p:txBody>
      </p:sp>
      <p:pic>
        <p:nvPicPr>
          <p:cNvPr id="22" name="Picture 21" descr="lock.png"/>
          <p:cNvPicPr>
            <a:picLocks noChangeAspect="1"/>
          </p:cNvPicPr>
          <p:nvPr/>
        </p:nvPicPr>
        <p:blipFill>
          <a:blip r:embed="rId4"/>
          <a:stretch>
            <a:fillRect/>
          </a:stretch>
        </p:blipFill>
        <p:spPr>
          <a:xfrm>
            <a:off x="3042583" y="2980626"/>
            <a:ext cx="134549" cy="195707"/>
          </a:xfrm>
          <a:prstGeom prst="rect">
            <a:avLst/>
          </a:prstGeom>
        </p:spPr>
      </p:pic>
      <p:sp>
        <p:nvSpPr>
          <p:cNvPr id="23" name="TextBox 22"/>
          <p:cNvSpPr txBox="1"/>
          <p:nvPr/>
        </p:nvSpPr>
        <p:spPr>
          <a:xfrm>
            <a:off x="3217692"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123625" y="2980626"/>
            <a:ext cx="134549" cy="195707"/>
          </a:xfrm>
          <a:prstGeom prst="rect">
            <a:avLst/>
          </a:prstGeom>
        </p:spPr>
      </p:pic>
      <p:sp>
        <p:nvSpPr>
          <p:cNvPr id="25" name="TextBox 24"/>
          <p:cNvSpPr txBox="1"/>
          <p:nvPr/>
        </p:nvSpPr>
        <p:spPr>
          <a:xfrm>
            <a:off x="4298735"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898116" cy="194310"/>
          </a:xfrm>
          <a:prstGeom prst="rect">
            <a:avLst/>
          </a:prstGeom>
          <a:noFill/>
        </p:spPr>
        <p:txBody>
          <a:bodyPr wrap="none" lIns="0" rIns="0" tIns="0" bIns="0">
            <a:spAutoFit/>
          </a:bodyPr>
          <a:lstStyle/>
          <a:p>
            <a:r>
              <a:rPr sz="1150" b="0">
                <a:solidFill>
                  <a:srgbClr val="2E2E2E"/>
                </a:solidFill>
                <a:latin typeface="Calibri"/>
              </a:rPr>
              <a:t>▪ 'Sweet muffins' grows fastest</a:t>
            </a:r>
          </a:p>
        </p:txBody>
      </p:sp>
      <p:pic>
        <p:nvPicPr>
          <p:cNvPr id="27" name="Picture 26" descr="lock.png"/>
          <p:cNvPicPr>
            <a:picLocks noChangeAspect="1"/>
          </p:cNvPicPr>
          <p:nvPr/>
        </p:nvPicPr>
        <p:blipFill>
          <a:blip r:embed="rId4"/>
          <a:stretch>
            <a:fillRect/>
          </a:stretch>
        </p:blipFill>
        <p:spPr>
          <a:xfrm>
            <a:off x="2123495" y="3208464"/>
            <a:ext cx="134549" cy="195707"/>
          </a:xfrm>
          <a:prstGeom prst="rect">
            <a:avLst/>
          </a:prstGeom>
        </p:spPr>
      </p:pic>
      <p:sp>
        <p:nvSpPr>
          <p:cNvPr id="28" name="TextBox 27"/>
          <p:cNvSpPr txBox="1"/>
          <p:nvPr/>
        </p:nvSpPr>
        <p:spPr>
          <a:xfrm>
            <a:off x="2298604"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407294" cy="194310"/>
          </a:xfrm>
          <a:prstGeom prst="rect">
            <a:avLst/>
          </a:prstGeom>
          <a:noFill/>
        </p:spPr>
        <p:txBody>
          <a:bodyPr wrap="none" lIns="0" rIns="0" tIns="0" bIns="0">
            <a:spAutoFit/>
          </a:bodyPr>
          <a:lstStyle/>
          <a:p>
            <a:r>
              <a:rPr sz="1150" b="0">
                <a:solidFill>
                  <a:srgbClr val="2E2E2E"/>
                </a:solidFill>
                <a:latin typeface="Calibri"/>
              </a:rPr>
              <a:t>▪ Share shifts toward 'Sweet muffins' (+</a:t>
            </a:r>
          </a:p>
        </p:txBody>
      </p:sp>
      <p:pic>
        <p:nvPicPr>
          <p:cNvPr id="30" name="Picture 29" descr="lock.png"/>
          <p:cNvPicPr>
            <a:picLocks noChangeAspect="1"/>
          </p:cNvPicPr>
          <p:nvPr/>
        </p:nvPicPr>
        <p:blipFill>
          <a:blip r:embed="rId4"/>
          <a:stretch>
            <a:fillRect/>
          </a:stretch>
        </p:blipFill>
        <p:spPr>
          <a:xfrm>
            <a:off x="2632673" y="3436302"/>
            <a:ext cx="134549" cy="195707"/>
          </a:xfrm>
          <a:prstGeom prst="rect">
            <a:avLst/>
          </a:prstGeom>
        </p:spPr>
      </p:pic>
      <p:sp>
        <p:nvSpPr>
          <p:cNvPr id="31" name="TextBox 30"/>
          <p:cNvSpPr txBox="1"/>
          <p:nvPr/>
        </p:nvSpPr>
        <p:spPr>
          <a:xfrm>
            <a:off x="2807783" y="3446525"/>
            <a:ext cx="2441240" cy="194310"/>
          </a:xfrm>
          <a:prstGeom prst="rect">
            <a:avLst/>
          </a:prstGeom>
          <a:noFill/>
        </p:spPr>
        <p:txBody>
          <a:bodyPr wrap="none" lIns="0" rIns="0" tIns="0" bIns="0">
            <a:spAutoFit/>
          </a:bodyPr>
          <a:lstStyle/>
          <a:p>
            <a:r>
              <a:rPr sz="1150" b="0">
                <a:solidFill>
                  <a:srgbClr val="2E2E2E"/>
                </a:solidFill>
                <a:latin typeface="Calibri"/>
              </a:rPr>
              <a:t>BPS) and away from 'Savoury muffins' (-</a:t>
            </a:r>
          </a:p>
        </p:txBody>
      </p:sp>
      <p:pic>
        <p:nvPicPr>
          <p:cNvPr id="32" name="Picture 31" descr="lock.png"/>
          <p:cNvPicPr>
            <a:picLocks noChangeAspect="1"/>
          </p:cNvPicPr>
          <p:nvPr/>
        </p:nvPicPr>
        <p:blipFill>
          <a:blip r:embed="rId4"/>
          <a:stretch>
            <a:fillRect/>
          </a:stretch>
        </p:blipFill>
        <p:spPr>
          <a:xfrm>
            <a:off x="5198177" y="3436302"/>
            <a:ext cx="134549" cy="195707"/>
          </a:xfrm>
          <a:prstGeom prst="rect">
            <a:avLst/>
          </a:prstGeom>
        </p:spPr>
      </p:pic>
      <p:sp>
        <p:nvSpPr>
          <p:cNvPr id="33" name="TextBox 32"/>
          <p:cNvSpPr txBox="1"/>
          <p:nvPr/>
        </p:nvSpPr>
        <p:spPr>
          <a:xfrm>
            <a:off x="5373286"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387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6340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578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Savoury muffins</a:t>
            </a:r>
          </a:p>
        </p:txBody>
      </p:sp>
      <p:sp>
        <p:nvSpPr>
          <p:cNvPr id="19" name="BPS Value 1"/>
          <p:cNvSpPr txBox="1"/>
          <p:nvPr/>
        </p:nvSpPr>
        <p:spPr>
          <a:xfrm>
            <a:off x="6896100" y="261972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92496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9201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439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Sweet muffins</a:t>
            </a:r>
          </a:p>
        </p:txBody>
      </p:sp>
      <p:sp>
        <p:nvSpPr>
          <p:cNvPr id="23" name="BPS Value 2"/>
          <p:cNvSpPr txBox="1"/>
          <p:nvPr/>
        </p:nvSpPr>
        <p:spPr>
          <a:xfrm>
            <a:off x="6896100" y="490591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Type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2444377" cy="194310"/>
          </a:xfrm>
          <a:prstGeom prst="rect">
            <a:avLst/>
          </a:prstGeom>
          <a:noFill/>
        </p:spPr>
        <p:txBody>
          <a:bodyPr wrap="none" lIns="0" rIns="0" tIns="0" bIns="0">
            <a:spAutoFit/>
          </a:bodyPr>
          <a:lstStyle/>
          <a:p>
            <a:r>
              <a:rPr sz="1150" b="0">
                <a:solidFill>
                  <a:srgbClr val="2E2E2E"/>
                </a:solidFill>
                <a:latin typeface="Calibri"/>
              </a:rPr>
              <a:t>▪ 'Sweet muffins' gains the most share +</a:t>
            </a:r>
          </a:p>
        </p:txBody>
      </p:sp>
      <p:pic>
        <p:nvPicPr>
          <p:cNvPr id="31" name="Picture 30" descr="lock.png"/>
          <p:cNvPicPr>
            <a:picLocks noChangeAspect="1"/>
          </p:cNvPicPr>
          <p:nvPr/>
        </p:nvPicPr>
        <p:blipFill>
          <a:blip r:embed="rId5"/>
          <a:stretch>
            <a:fillRect/>
          </a:stretch>
        </p:blipFill>
        <p:spPr>
          <a:xfrm>
            <a:off x="10223081" y="1389951"/>
            <a:ext cx="134549" cy="195707"/>
          </a:xfrm>
          <a:prstGeom prst="rect">
            <a:avLst/>
          </a:prstGeom>
        </p:spPr>
      </p:pic>
      <p:sp>
        <p:nvSpPr>
          <p:cNvPr id="32" name="TextBox 31"/>
          <p:cNvSpPr txBox="1"/>
          <p:nvPr/>
        </p:nvSpPr>
        <p:spPr>
          <a:xfrm>
            <a:off x="10398191"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3" name="TextBox 32"/>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198774" cy="194310"/>
          </a:xfrm>
          <a:prstGeom prst="rect">
            <a:avLst/>
          </a:prstGeom>
          <a:noFill/>
        </p:spPr>
        <p:txBody>
          <a:bodyPr wrap="none" lIns="0" rIns="0" tIns="0" bIns="0">
            <a:spAutoFit/>
          </a:bodyPr>
          <a:lstStyle/>
          <a:p>
            <a:r>
              <a:rPr sz="1150" b="0">
                <a:solidFill>
                  <a:srgbClr val="2E2E2E"/>
                </a:solidFill>
                <a:latin typeface="Calibri"/>
              </a:rPr>
              <a:t>▪ 'Savoury muffins' cedes the most -</a:t>
            </a:r>
          </a:p>
        </p:txBody>
      </p:sp>
      <p:pic>
        <p:nvPicPr>
          <p:cNvPr id="35" name="Picture 34" descr="lock.png"/>
          <p:cNvPicPr>
            <a:picLocks noChangeAspect="1"/>
          </p:cNvPicPr>
          <p:nvPr/>
        </p:nvPicPr>
        <p:blipFill>
          <a:blip r:embed="rId5"/>
          <a:stretch>
            <a:fillRect/>
          </a:stretch>
        </p:blipFill>
        <p:spPr>
          <a:xfrm>
            <a:off x="9977478" y="1793049"/>
            <a:ext cx="134549" cy="195707"/>
          </a:xfrm>
          <a:prstGeom prst="rect">
            <a:avLst/>
          </a:prstGeom>
        </p:spPr>
      </p:pic>
      <p:sp>
        <p:nvSpPr>
          <p:cNvPr id="36" name="TextBox 35"/>
          <p:cNvSpPr txBox="1"/>
          <p:nvPr/>
        </p:nvSpPr>
        <p:spPr>
          <a:xfrm>
            <a:off x="10152587"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37" name="TextBox 36"/>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339504" cy="194310"/>
          </a:xfrm>
          <a:prstGeom prst="rect">
            <a:avLst/>
          </a:prstGeom>
          <a:noFill/>
        </p:spPr>
        <p:txBody>
          <a:bodyPr wrap="none" lIns="0" rIns="0" tIns="0" bIns="0">
            <a:spAutoFit/>
          </a:bodyPr>
          <a:lstStyle/>
          <a:p>
            <a:r>
              <a:rPr sz="1150" b="0">
                <a:solidFill>
                  <a:srgbClr val="2E2E2E"/>
                </a:solidFill>
                <a:latin typeface="Calibri"/>
              </a:rPr>
              <a:t>▪ 'Sweet muffins' is the fastest-growing product type at</a:t>
            </a:r>
          </a:p>
        </p:txBody>
      </p:sp>
      <p:pic>
        <p:nvPicPr>
          <p:cNvPr id="39" name="Picture 38" descr="lock.png"/>
          <p:cNvPicPr>
            <a:picLocks noChangeAspect="1"/>
          </p:cNvPicPr>
          <p:nvPr/>
        </p:nvPicPr>
        <p:blipFill>
          <a:blip r:embed="rId5"/>
          <a:stretch>
            <a:fillRect/>
          </a:stretch>
        </p:blipFill>
        <p:spPr>
          <a:xfrm>
            <a:off x="11118208" y="2196147"/>
            <a:ext cx="134549" cy="195707"/>
          </a:xfrm>
          <a:prstGeom prst="rect">
            <a:avLst/>
          </a:prstGeom>
        </p:spPr>
      </p:pic>
      <p:sp>
        <p:nvSpPr>
          <p:cNvPr id="40" name="TextBox 39"/>
          <p:cNvSpPr txBox="1"/>
          <p:nvPr/>
        </p:nvSpPr>
        <p:spPr>
          <a:xfrm>
            <a:off x="11293317"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1" name="TextBox 40"/>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2" name="TextBox 41"/>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3" name="Picture 42" descr="lock.png"/>
          <p:cNvPicPr>
            <a:picLocks noChangeAspect="1"/>
          </p:cNvPicPr>
          <p:nvPr/>
        </p:nvPicPr>
        <p:blipFill>
          <a:blip r:embed="rId5"/>
          <a:stretch>
            <a:fillRect/>
          </a:stretch>
        </p:blipFill>
        <p:spPr>
          <a:xfrm>
            <a:off x="9327669" y="2599245"/>
            <a:ext cx="134549" cy="195707"/>
          </a:xfrm>
          <a:prstGeom prst="rect">
            <a:avLst/>
          </a:prstGeom>
        </p:spPr>
      </p:pic>
      <p:sp>
        <p:nvSpPr>
          <p:cNvPr id="44" name="TextBox 43"/>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5" name="Picture 44" descr="lock.png"/>
          <p:cNvPicPr>
            <a:picLocks noChangeAspect="1"/>
          </p:cNvPicPr>
          <p:nvPr/>
        </p:nvPicPr>
        <p:blipFill>
          <a:blip r:embed="rId5"/>
          <a:stretch>
            <a:fillRect/>
          </a:stretch>
        </p:blipFill>
        <p:spPr>
          <a:xfrm>
            <a:off x="9654215" y="2599245"/>
            <a:ext cx="134549" cy="195707"/>
          </a:xfrm>
          <a:prstGeom prst="rect">
            <a:avLst/>
          </a:prstGeom>
        </p:spPr>
      </p:pic>
      <p:sp>
        <p:nvSpPr>
          <p:cNvPr id="46" name="TextBox 45"/>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7" name="TextBox 46"/>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8" name="TextBox 47"/>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9"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Product Type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a:t>
            </a:r>
          </a:p>
        </p:txBody>
      </p:sp>
      <p:sp>
        <p:nvSpPr>
          <p:cNvPr id="33" name="Rectangle 32"/>
          <p:cNvSpPr/>
          <p:nvPr/>
        </p:nvSpPr>
        <p:spPr>
          <a:xfrm>
            <a:off x="1857375" y="2752725"/>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01417" y="1482090"/>
            <a:ext cx="330041" cy="480060"/>
          </a:xfrm>
          <a:prstGeom prst="rect">
            <a:avLst/>
          </a:prstGeom>
        </p:spPr>
      </p:pic>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Type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a:t>
            </a:r>
          </a:p>
        </p:txBody>
      </p:sp>
      <p:sp>
        <p:nvSpPr>
          <p:cNvPr id="33" name="Rectangle 32"/>
          <p:cNvSpPr/>
          <p:nvPr/>
        </p:nvSpPr>
        <p:spPr>
          <a:xfrm>
            <a:off x="1857375" y="2752725"/>
            <a:ext cx="643890" cy="190976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01417" y="1482090"/>
            <a:ext cx="330041" cy="480060"/>
          </a:xfrm>
          <a:prstGeom prst="rect">
            <a:avLst/>
          </a:prstGeom>
        </p:spPr>
      </p:pic>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Flavour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Flavour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Flavour,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Flavour segment categorizes the market by flavour.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Sweet Muffins Flavours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Savoury Muffins Flavours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Flavour split shows how demand is distributed across flavour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_27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9_656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_629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8_09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7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8835" cy="186689"/>
          </a:xfrm>
          <a:prstGeom prst="rect">
            <a:avLst/>
          </a:prstGeom>
          <a:noFill/>
        </p:spPr>
        <p:txBody>
          <a:bodyPr wrap="none" lIns="0" rIns="0" tIns="0" bIns="0">
            <a:spAutoFit/>
          </a:bodyPr>
          <a:lstStyle/>
          <a:p>
            <a:r>
              <a:rPr sz="1100" b="0">
                <a:solidFill>
                  <a:srgbClr val="2E2E2E"/>
                </a:solidFill>
                <a:latin typeface="Calibri"/>
              </a:rPr>
              <a:t>▪ 'Sweet Muffins Flavours' holds the largest share</a:t>
            </a:r>
          </a:p>
        </p:txBody>
      </p:sp>
      <p:sp>
        <p:nvSpPr>
          <p:cNvPr id="59" name="TextBox 58"/>
          <p:cNvSpPr txBox="1"/>
          <p:nvPr/>
        </p:nvSpPr>
        <p:spPr>
          <a:xfrm>
            <a:off x="485775" y="4397077"/>
            <a:ext cx="497209" cy="186689"/>
          </a:xfrm>
          <a:prstGeom prst="rect">
            <a:avLst/>
          </a:prstGeom>
          <a:noFill/>
        </p:spPr>
        <p:txBody>
          <a:bodyPr wrap="none" lIns="0" rIns="0" tIns="0" bIns="0">
            <a:spAutoFit/>
          </a:bodyPr>
          <a:lstStyle/>
          <a:p>
            <a:r>
              <a:rPr sz="1100" b="0">
                <a:solidFill>
                  <a:srgbClr val="2E2E2E"/>
                </a:solidFill>
                <a:latin typeface="Calibri"/>
              </a:rPr>
              <a:t>in 2026</a:t>
            </a:r>
          </a:p>
        </p:txBody>
      </p:sp>
      <p:pic>
        <p:nvPicPr>
          <p:cNvPr id="60" name="Picture 59" descr="lock.png"/>
          <p:cNvPicPr>
            <a:picLocks noChangeAspect="1"/>
          </p:cNvPicPr>
          <p:nvPr/>
        </p:nvPicPr>
        <p:blipFill>
          <a:blip r:embed="rId10"/>
          <a:stretch>
            <a:fillRect/>
          </a:stretch>
        </p:blipFill>
        <p:spPr>
          <a:xfrm>
            <a:off x="931036" y="4387298"/>
            <a:ext cx="128699" cy="187198"/>
          </a:xfrm>
          <a:prstGeom prst="rect">
            <a:avLst/>
          </a:prstGeom>
        </p:spPr>
      </p:pic>
      <p:sp>
        <p:nvSpPr>
          <p:cNvPr id="61" name="TextBox 60"/>
          <p:cNvSpPr txBox="1"/>
          <p:nvPr/>
        </p:nvSpPr>
        <p:spPr>
          <a:xfrm>
            <a:off x="1098532"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2" name="TextBox 61"/>
          <p:cNvSpPr txBox="1"/>
          <p:nvPr/>
        </p:nvSpPr>
        <p:spPr>
          <a:xfrm>
            <a:off x="485775" y="4615009"/>
            <a:ext cx="2906216" cy="186689"/>
          </a:xfrm>
          <a:prstGeom prst="rect">
            <a:avLst/>
          </a:prstGeom>
          <a:noFill/>
        </p:spPr>
        <p:txBody>
          <a:bodyPr wrap="none" lIns="0" rIns="0" tIns="0" bIns="0">
            <a:spAutoFit/>
          </a:bodyPr>
          <a:lstStyle/>
          <a:p>
            <a:r>
              <a:rPr sz="1100" b="0">
                <a:solidFill>
                  <a:srgbClr val="2E2E2E"/>
                </a:solidFill>
                <a:latin typeface="Calibri"/>
              </a:rPr>
              <a:t>▪ 'Savoury Muffins Flavours' is the fastest-growing</a:t>
            </a:r>
          </a:p>
        </p:txBody>
      </p:sp>
      <p:sp>
        <p:nvSpPr>
          <p:cNvPr id="63" name="TextBox 62"/>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4" name="Picture 63" descr="lock.png"/>
          <p:cNvPicPr>
            <a:picLocks noChangeAspect="1"/>
          </p:cNvPicPr>
          <p:nvPr/>
        </p:nvPicPr>
        <p:blipFill>
          <a:blip r:embed="rId10"/>
          <a:stretch>
            <a:fillRect/>
          </a:stretch>
        </p:blipFill>
        <p:spPr>
          <a:xfrm>
            <a:off x="1391064" y="4772870"/>
            <a:ext cx="128699" cy="187198"/>
          </a:xfrm>
          <a:prstGeom prst="rect">
            <a:avLst/>
          </a:prstGeom>
        </p:spPr>
      </p:pic>
      <p:sp>
        <p:nvSpPr>
          <p:cNvPr id="65" name="TextBox 64"/>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6" name="TextBox 6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7" name="Picture 66" descr="lock.png"/>
          <p:cNvPicPr>
            <a:picLocks noChangeAspect="1"/>
          </p:cNvPicPr>
          <p:nvPr/>
        </p:nvPicPr>
        <p:blipFill>
          <a:blip r:embed="rId10"/>
          <a:stretch>
            <a:fillRect/>
          </a:stretch>
        </p:blipFill>
        <p:spPr>
          <a:xfrm>
            <a:off x="2240451" y="4990801"/>
            <a:ext cx="128699" cy="187198"/>
          </a:xfrm>
          <a:prstGeom prst="rect">
            <a:avLst/>
          </a:prstGeom>
        </p:spPr>
      </p:pic>
      <p:sp>
        <p:nvSpPr>
          <p:cNvPr id="68" name="TextBox 6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9" name="Picture 68" descr="lock.png"/>
          <p:cNvPicPr>
            <a:picLocks noChangeAspect="1"/>
          </p:cNvPicPr>
          <p:nvPr/>
        </p:nvPicPr>
        <p:blipFill>
          <a:blip r:embed="rId10"/>
          <a:stretch>
            <a:fillRect/>
          </a:stretch>
        </p:blipFill>
        <p:spPr>
          <a:xfrm>
            <a:off x="2552799" y="4990801"/>
            <a:ext cx="128699" cy="187198"/>
          </a:xfrm>
          <a:prstGeom prst="rect">
            <a:avLst/>
          </a:prstGeom>
        </p:spPr>
      </p:pic>
      <p:sp>
        <p:nvSpPr>
          <p:cNvPr id="70" name="TextBox 6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2" name="TextBox 71"/>
          <p:cNvSpPr txBox="1"/>
          <p:nvPr/>
        </p:nvSpPr>
        <p:spPr>
          <a:xfrm>
            <a:off x="485775" y="5386153"/>
            <a:ext cx="2861741" cy="186689"/>
          </a:xfrm>
          <a:prstGeom prst="rect">
            <a:avLst/>
          </a:prstGeom>
          <a:noFill/>
        </p:spPr>
        <p:txBody>
          <a:bodyPr wrap="none" lIns="0" rIns="0" tIns="0" bIns="0">
            <a:spAutoFit/>
          </a:bodyPr>
          <a:lstStyle/>
          <a:p>
            <a:r>
              <a:rPr sz="1100" b="0">
                <a:solidFill>
                  <a:srgbClr val="2E2E2E"/>
                </a:solidFill>
                <a:latin typeface="Calibri"/>
              </a:rPr>
              <a:t>▪ 2 sub-segments make up the flavour landscape.</a:t>
            </a:r>
          </a:p>
        </p:txBody>
      </p:sp>
      <p:sp>
        <p:nvSpPr>
          <p:cNvPr id="73" name="TextBox 72"/>
          <p:cNvSpPr txBox="1"/>
          <p:nvPr/>
        </p:nvSpPr>
        <p:spPr>
          <a:xfrm>
            <a:off x="3838575" y="4229437"/>
            <a:ext cx="1557783" cy="186689"/>
          </a:xfrm>
          <a:prstGeom prst="rect">
            <a:avLst/>
          </a:prstGeom>
          <a:noFill/>
        </p:spPr>
        <p:txBody>
          <a:bodyPr wrap="none" lIns="0" rIns="0" tIns="0" bIns="0">
            <a:spAutoFit/>
          </a:bodyPr>
          <a:lstStyle/>
          <a:p>
            <a:r>
              <a:rPr sz="1100" b="0">
                <a:solidFill>
                  <a:srgbClr val="2E2E2E"/>
                </a:solidFill>
                <a:latin typeface="Calibri"/>
              </a:rPr>
              <a:t>● Sweet Muffins Flavours:</a:t>
            </a:r>
          </a:p>
        </p:txBody>
      </p:sp>
      <p:pic>
        <p:nvPicPr>
          <p:cNvPr id="74" name="Picture 73" descr="lock.png"/>
          <p:cNvPicPr>
            <a:picLocks noChangeAspect="1"/>
          </p:cNvPicPr>
          <p:nvPr/>
        </p:nvPicPr>
        <p:blipFill>
          <a:blip r:embed="rId10"/>
          <a:stretch>
            <a:fillRect/>
          </a:stretch>
        </p:blipFill>
        <p:spPr>
          <a:xfrm>
            <a:off x="5344410" y="4219658"/>
            <a:ext cx="128699" cy="187198"/>
          </a:xfrm>
          <a:prstGeom prst="rect">
            <a:avLst/>
          </a:prstGeom>
        </p:spPr>
      </p:pic>
      <p:sp>
        <p:nvSpPr>
          <p:cNvPr id="75" name="TextBox 74"/>
          <p:cNvSpPr txBox="1"/>
          <p:nvPr/>
        </p:nvSpPr>
        <p:spPr>
          <a:xfrm>
            <a:off x="551190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6371356" y="4219658"/>
            <a:ext cx="128699" cy="187198"/>
          </a:xfrm>
          <a:prstGeom prst="rect">
            <a:avLst/>
          </a:prstGeom>
        </p:spPr>
      </p:pic>
      <p:sp>
        <p:nvSpPr>
          <p:cNvPr id="77" name="TextBox 76"/>
          <p:cNvSpPr txBox="1"/>
          <p:nvPr/>
        </p:nvSpPr>
        <p:spPr>
          <a:xfrm>
            <a:off x="653885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78" name="TextBox 77"/>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79" name="TextBox 78"/>
          <p:cNvSpPr txBox="1"/>
          <p:nvPr/>
        </p:nvSpPr>
        <p:spPr>
          <a:xfrm>
            <a:off x="3838575" y="4615009"/>
            <a:ext cx="1660921" cy="186689"/>
          </a:xfrm>
          <a:prstGeom prst="rect">
            <a:avLst/>
          </a:prstGeom>
          <a:noFill/>
        </p:spPr>
        <p:txBody>
          <a:bodyPr wrap="none" lIns="0" rIns="0" tIns="0" bIns="0">
            <a:spAutoFit/>
          </a:bodyPr>
          <a:lstStyle/>
          <a:p>
            <a:r>
              <a:rPr sz="1100" b="0">
                <a:solidFill>
                  <a:srgbClr val="2E2E2E"/>
                </a:solidFill>
                <a:latin typeface="Calibri"/>
              </a:rPr>
              <a:t>● Savoury Muffins Flavours:</a:t>
            </a:r>
          </a:p>
        </p:txBody>
      </p:sp>
      <p:pic>
        <p:nvPicPr>
          <p:cNvPr id="80" name="Picture 79" descr="lock.png"/>
          <p:cNvPicPr>
            <a:picLocks noChangeAspect="1"/>
          </p:cNvPicPr>
          <p:nvPr/>
        </p:nvPicPr>
        <p:blipFill>
          <a:blip r:embed="rId10"/>
          <a:stretch>
            <a:fillRect/>
          </a:stretch>
        </p:blipFill>
        <p:spPr>
          <a:xfrm>
            <a:off x="5447548" y="4605230"/>
            <a:ext cx="128699" cy="187198"/>
          </a:xfrm>
          <a:prstGeom prst="rect">
            <a:avLst/>
          </a:prstGeom>
        </p:spPr>
      </p:pic>
      <p:sp>
        <p:nvSpPr>
          <p:cNvPr id="81" name="TextBox 80"/>
          <p:cNvSpPr txBox="1"/>
          <p:nvPr/>
        </p:nvSpPr>
        <p:spPr>
          <a:xfrm>
            <a:off x="5615044"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0"/>
          <a:stretch>
            <a:fillRect/>
          </a:stretch>
        </p:blipFill>
        <p:spPr>
          <a:xfrm>
            <a:off x="6474494" y="4605230"/>
            <a:ext cx="128699" cy="187198"/>
          </a:xfrm>
          <a:prstGeom prst="rect">
            <a:avLst/>
          </a:prstGeom>
        </p:spPr>
      </p:pic>
      <p:sp>
        <p:nvSpPr>
          <p:cNvPr id="83" name="TextBox 82"/>
          <p:cNvSpPr txBox="1"/>
          <p:nvPr/>
        </p:nvSpPr>
        <p:spPr>
          <a:xfrm>
            <a:off x="6641990" y="461500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4" name="TextBox 83"/>
          <p:cNvSpPr txBox="1"/>
          <p:nvPr/>
        </p:nvSpPr>
        <p:spPr>
          <a:xfrm>
            <a:off x="3838575" y="478264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85" name="TextBox 84"/>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Flavour segment is projected to grow at a CAGR</a:t>
            </a:r>
          </a:p>
        </p:txBody>
      </p:sp>
      <p:sp>
        <p:nvSpPr>
          <p:cNvPr id="86" name="TextBox 85"/>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87" name="Picture 86" descr="lock.png"/>
          <p:cNvPicPr>
            <a:picLocks noChangeAspect="1"/>
          </p:cNvPicPr>
          <p:nvPr/>
        </p:nvPicPr>
        <p:blipFill>
          <a:blip r:embed="rId10"/>
          <a:stretch>
            <a:fillRect/>
          </a:stretch>
        </p:blipFill>
        <p:spPr>
          <a:xfrm>
            <a:off x="8674884" y="6007677"/>
            <a:ext cx="134549" cy="195707"/>
          </a:xfrm>
          <a:prstGeom prst="rect">
            <a:avLst/>
          </a:prstGeom>
        </p:spPr>
      </p:pic>
      <p:sp>
        <p:nvSpPr>
          <p:cNvPr id="88" name="TextBox 87"/>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Flavour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Flavour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Flavour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Flavour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565700" cy="186689"/>
          </a:xfrm>
          <a:prstGeom prst="rect">
            <a:avLst/>
          </a:prstGeom>
          <a:noFill/>
        </p:spPr>
        <p:txBody>
          <a:bodyPr wrap="none" lIns="0" rIns="0" tIns="0" bIns="0">
            <a:spAutoFit/>
          </a:bodyPr>
          <a:lstStyle/>
          <a:p>
            <a:r>
              <a:rPr sz="1100" b="0">
                <a:solidFill>
                  <a:srgbClr val="2E2E2E"/>
                </a:solidFill>
                <a:latin typeface="Calibri"/>
              </a:rPr>
              <a:t>Between 2026 and 2036, 'Savoury Muffins Flavours' gains the most share in the Global market (+</a:t>
            </a:r>
          </a:p>
        </p:txBody>
      </p:sp>
      <p:pic>
        <p:nvPicPr>
          <p:cNvPr id="21" name="Picture 20" descr="lock.png"/>
          <p:cNvPicPr>
            <a:picLocks noChangeAspect="1"/>
          </p:cNvPicPr>
          <p:nvPr/>
        </p:nvPicPr>
        <p:blipFill>
          <a:blip r:embed="rId6"/>
          <a:stretch>
            <a:fillRect/>
          </a:stretch>
        </p:blipFill>
        <p:spPr>
          <a:xfrm>
            <a:off x="5770927" y="5851905"/>
            <a:ext cx="128699" cy="187198"/>
          </a:xfrm>
          <a:prstGeom prst="rect">
            <a:avLst/>
          </a:prstGeom>
        </p:spPr>
      </p:pic>
      <p:sp>
        <p:nvSpPr>
          <p:cNvPr id="22" name="TextBox 21"/>
          <p:cNvSpPr txBox="1"/>
          <p:nvPr/>
        </p:nvSpPr>
        <p:spPr>
          <a:xfrm>
            <a:off x="5938423" y="5861685"/>
            <a:ext cx="2449462" cy="186689"/>
          </a:xfrm>
          <a:prstGeom prst="rect">
            <a:avLst/>
          </a:prstGeom>
          <a:noFill/>
        </p:spPr>
        <p:txBody>
          <a:bodyPr wrap="none" lIns="0" rIns="0" tIns="0" bIns="0">
            <a:spAutoFit/>
          </a:bodyPr>
          <a:lstStyle/>
          <a:p>
            <a:r>
              <a:rPr sz="1100" b="0">
                <a:solidFill>
                  <a:srgbClr val="2E2E2E"/>
                </a:solidFill>
                <a:latin typeface="Calibri"/>
              </a:rPr>
              <a:t>BPS) while 'Sweet Muffins Flavours' cedes</a:t>
            </a:r>
          </a:p>
        </p:txBody>
      </p:sp>
      <p:pic>
        <p:nvPicPr>
          <p:cNvPr id="23" name="Picture 22" descr="lock.png"/>
          <p:cNvPicPr>
            <a:picLocks noChangeAspect="1"/>
          </p:cNvPicPr>
          <p:nvPr/>
        </p:nvPicPr>
        <p:blipFill>
          <a:blip r:embed="rId6"/>
          <a:stretch>
            <a:fillRect/>
          </a:stretch>
        </p:blipFill>
        <p:spPr>
          <a:xfrm>
            <a:off x="8335937" y="5851905"/>
            <a:ext cx="128699" cy="187198"/>
          </a:xfrm>
          <a:prstGeom prst="rect">
            <a:avLst/>
          </a:prstGeom>
        </p:spPr>
      </p:pic>
      <p:sp>
        <p:nvSpPr>
          <p:cNvPr id="24" name="TextBox 23"/>
          <p:cNvSpPr txBox="1"/>
          <p:nvPr/>
        </p:nvSpPr>
        <p:spPr>
          <a:xfrm>
            <a:off x="8503433" y="5861685"/>
            <a:ext cx="310210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a:t>
            </a:r>
          </a:p>
        </p:txBody>
      </p:sp>
      <p:sp>
        <p:nvSpPr>
          <p:cNvPr id="25" name="TextBox 24"/>
          <p:cNvSpPr txBox="1"/>
          <p:nvPr/>
        </p:nvSpPr>
        <p:spPr>
          <a:xfrm>
            <a:off x="257175" y="602932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Flavour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Sweet Muffins Flavours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Savoury Muffins Flavours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Flavour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Flavour,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38350"/>
          </a:xfrm>
          <a:prstGeom prst="roundRect">
            <a:avLst>
              <a:gd name="adj" fmla="val 37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Flavour (MT)</a:t>
            </a:r>
          </a:p>
        </p:txBody>
      </p:sp>
      <p:graphicFrame>
        <p:nvGraphicFramePr>
          <p:cNvPr id="13" name="Table 12"/>
          <p:cNvGraphicFramePr>
            <a:graphicFrameLocks noGrp="1"/>
          </p:cNvGraphicFramePr>
          <p:nvPr/>
        </p:nvGraphicFramePr>
        <p:xfrm>
          <a:off x="152400" y="1238250"/>
          <a:ext cx="11887208" cy="1571623"/>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Flavour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41832">
                <a:tc>
                  <a:txBody>
                    <a:bodyPr wrap="none"/>
                    <a:lstStyle/>
                    <a:p>
                      <a:pPr algn="l"/>
                      <a:r>
                        <a:rPr sz="1100" b="1">
                          <a:solidFill>
                            <a:srgbClr val="2E2E2E"/>
                          </a:solidFill>
                          <a:latin typeface="Calibri"/>
                        </a:rPr>
                        <a:t>Sweet Muffins</a:t>
                      </a:r>
                      <a:endParaRPr sz="1100"/>
                    </a:p>
                    <a:p>
                      <a:pPr algn="l"/>
                      <a:r>
                        <a:rPr sz="1100" b="1">
                          <a:solidFill>
                            <a:srgbClr val="2E2E2E"/>
                          </a:solidFill>
                          <a:latin typeface="Calibri"/>
                        </a:rPr>
                        <a:t>Flavours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1832">
                <a:tc>
                  <a:txBody>
                    <a:bodyPr wrap="none"/>
                    <a:lstStyle/>
                    <a:p>
                      <a:pPr algn="l"/>
                      <a:r>
                        <a:rPr sz="1100" b="1">
                          <a:solidFill>
                            <a:srgbClr val="2E2E2E"/>
                          </a:solidFill>
                          <a:latin typeface="Calibri"/>
                        </a:rPr>
                        <a:t>Savoury Muffins</a:t>
                      </a:r>
                      <a:endParaRPr sz="1100"/>
                    </a:p>
                    <a:p>
                      <a:pPr algn="l"/>
                      <a:r>
                        <a:rPr sz="1100" b="1">
                          <a:solidFill>
                            <a:srgbClr val="2E2E2E"/>
                          </a:solidFill>
                          <a:latin typeface="Calibri"/>
                        </a:rPr>
                        <a:t>Flavours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904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19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152775"/>
            <a:ext cx="11906250" cy="3476625"/>
          </a:xfrm>
          <a:prstGeom prst="roundRect">
            <a:avLst>
              <a:gd name="adj" fmla="val 219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385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Flavour</a:t>
            </a:r>
          </a:p>
        </p:txBody>
      </p:sp>
      <p:sp>
        <p:nvSpPr>
          <p:cNvPr id="17" name="Rectangle 16"/>
          <p:cNvSpPr/>
          <p:nvPr/>
        </p:nvSpPr>
        <p:spPr>
          <a:xfrm>
            <a:off x="276225" y="3476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62350"/>
            <a:ext cx="11639550" cy="2990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1976818"/>
            <a:ext cx="366712" cy="533400"/>
          </a:xfrm>
          <a:prstGeom prst="rect">
            <a:avLst/>
          </a:prstGeom>
        </p:spPr>
      </p:pic>
      <p:sp>
        <p:nvSpPr>
          <p:cNvPr id="21" name="TextBox 20"/>
          <p:cNvSpPr txBox="1"/>
          <p:nvPr/>
        </p:nvSpPr>
        <p:spPr>
          <a:xfrm>
            <a:off x="276225" y="3571875"/>
            <a:ext cx="3008610" cy="194310"/>
          </a:xfrm>
          <a:prstGeom prst="rect">
            <a:avLst/>
          </a:prstGeom>
          <a:noFill/>
        </p:spPr>
        <p:txBody>
          <a:bodyPr wrap="none" lIns="0" rIns="0" tIns="0" bIns="0">
            <a:spAutoFit/>
          </a:bodyPr>
          <a:lstStyle/>
          <a:p>
            <a:r>
              <a:rPr sz="1150" b="0">
                <a:solidFill>
                  <a:srgbClr val="2E2E2E"/>
                </a:solidFill>
                <a:latin typeface="Calibri"/>
              </a:rPr>
              <a:t>▪ 'Sweet Muffins Flavours' is the largest flavour at</a:t>
            </a:r>
          </a:p>
        </p:txBody>
      </p:sp>
      <p:pic>
        <p:nvPicPr>
          <p:cNvPr id="22" name="Picture 21" descr="lock.png"/>
          <p:cNvPicPr>
            <a:picLocks noChangeAspect="1"/>
          </p:cNvPicPr>
          <p:nvPr/>
        </p:nvPicPr>
        <p:blipFill>
          <a:blip r:embed="rId4"/>
          <a:stretch>
            <a:fillRect/>
          </a:stretch>
        </p:blipFill>
        <p:spPr>
          <a:xfrm>
            <a:off x="3233989" y="3561651"/>
            <a:ext cx="134549" cy="195707"/>
          </a:xfrm>
          <a:prstGeom prst="rect">
            <a:avLst/>
          </a:prstGeom>
        </p:spPr>
      </p:pic>
      <p:sp>
        <p:nvSpPr>
          <p:cNvPr id="23" name="TextBox 22"/>
          <p:cNvSpPr txBox="1"/>
          <p:nvPr/>
        </p:nvSpPr>
        <p:spPr>
          <a:xfrm>
            <a:off x="3409098" y="357187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38831" y="3561651"/>
            <a:ext cx="134549" cy="195707"/>
          </a:xfrm>
          <a:prstGeom prst="rect">
            <a:avLst/>
          </a:prstGeom>
        </p:spPr>
      </p:pic>
      <p:sp>
        <p:nvSpPr>
          <p:cNvPr id="25" name="TextBox 24"/>
          <p:cNvSpPr txBox="1"/>
          <p:nvPr/>
        </p:nvSpPr>
        <p:spPr>
          <a:xfrm>
            <a:off x="4613940" y="357187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799712"/>
            <a:ext cx="2545643" cy="194310"/>
          </a:xfrm>
          <a:prstGeom prst="rect">
            <a:avLst/>
          </a:prstGeom>
          <a:noFill/>
        </p:spPr>
        <p:txBody>
          <a:bodyPr wrap="none" lIns="0" rIns="0" tIns="0" bIns="0">
            <a:spAutoFit/>
          </a:bodyPr>
          <a:lstStyle/>
          <a:p>
            <a:r>
              <a:rPr sz="1150" b="0">
                <a:solidFill>
                  <a:srgbClr val="2E2E2E"/>
                </a:solidFill>
                <a:latin typeface="Calibri"/>
              </a:rPr>
              <a:t>▪ 'Savoury Muffins Flavours' grows fastest</a:t>
            </a:r>
          </a:p>
        </p:txBody>
      </p:sp>
      <p:pic>
        <p:nvPicPr>
          <p:cNvPr id="27" name="Picture 26" descr="lock.png"/>
          <p:cNvPicPr>
            <a:picLocks noChangeAspect="1"/>
          </p:cNvPicPr>
          <p:nvPr/>
        </p:nvPicPr>
        <p:blipFill>
          <a:blip r:embed="rId4"/>
          <a:stretch>
            <a:fillRect/>
          </a:stretch>
        </p:blipFill>
        <p:spPr>
          <a:xfrm>
            <a:off x="2771022" y="3789489"/>
            <a:ext cx="134549" cy="195707"/>
          </a:xfrm>
          <a:prstGeom prst="rect">
            <a:avLst/>
          </a:prstGeom>
        </p:spPr>
      </p:pic>
      <p:sp>
        <p:nvSpPr>
          <p:cNvPr id="28" name="TextBox 27"/>
          <p:cNvSpPr txBox="1"/>
          <p:nvPr/>
        </p:nvSpPr>
        <p:spPr>
          <a:xfrm>
            <a:off x="2946131" y="3799712"/>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027550"/>
            <a:ext cx="3054821" cy="194310"/>
          </a:xfrm>
          <a:prstGeom prst="rect">
            <a:avLst/>
          </a:prstGeom>
          <a:noFill/>
        </p:spPr>
        <p:txBody>
          <a:bodyPr wrap="none" lIns="0" rIns="0" tIns="0" bIns="0">
            <a:spAutoFit/>
          </a:bodyPr>
          <a:lstStyle/>
          <a:p>
            <a:r>
              <a:rPr sz="1150" b="0">
                <a:solidFill>
                  <a:srgbClr val="2E2E2E"/>
                </a:solidFill>
                <a:latin typeface="Calibri"/>
              </a:rPr>
              <a:t>▪ Share shifts toward 'Savoury Muffins Flavours' (+</a:t>
            </a:r>
          </a:p>
        </p:txBody>
      </p:sp>
      <p:pic>
        <p:nvPicPr>
          <p:cNvPr id="30" name="Picture 29" descr="lock.png"/>
          <p:cNvPicPr>
            <a:picLocks noChangeAspect="1"/>
          </p:cNvPicPr>
          <p:nvPr/>
        </p:nvPicPr>
        <p:blipFill>
          <a:blip r:embed="rId4"/>
          <a:stretch>
            <a:fillRect/>
          </a:stretch>
        </p:blipFill>
        <p:spPr>
          <a:xfrm>
            <a:off x="3280200" y="4017327"/>
            <a:ext cx="134549" cy="195707"/>
          </a:xfrm>
          <a:prstGeom prst="rect">
            <a:avLst/>
          </a:prstGeom>
        </p:spPr>
      </p:pic>
      <p:sp>
        <p:nvSpPr>
          <p:cNvPr id="31" name="TextBox 30"/>
          <p:cNvSpPr txBox="1"/>
          <p:nvPr/>
        </p:nvSpPr>
        <p:spPr>
          <a:xfrm>
            <a:off x="3455309" y="4027550"/>
            <a:ext cx="2873114" cy="194310"/>
          </a:xfrm>
          <a:prstGeom prst="rect">
            <a:avLst/>
          </a:prstGeom>
          <a:noFill/>
        </p:spPr>
        <p:txBody>
          <a:bodyPr wrap="none" lIns="0" rIns="0" tIns="0" bIns="0">
            <a:spAutoFit/>
          </a:bodyPr>
          <a:lstStyle/>
          <a:p>
            <a:r>
              <a:rPr sz="1150" b="0">
                <a:solidFill>
                  <a:srgbClr val="2E2E2E"/>
                </a:solidFill>
                <a:latin typeface="Calibri"/>
              </a:rPr>
              <a:t>BPS) and away from 'Sweet Muffins Flavours' (-</a:t>
            </a:r>
          </a:p>
        </p:txBody>
      </p:sp>
      <p:pic>
        <p:nvPicPr>
          <p:cNvPr id="32" name="Picture 31" descr="lock.png"/>
          <p:cNvPicPr>
            <a:picLocks noChangeAspect="1"/>
          </p:cNvPicPr>
          <p:nvPr/>
        </p:nvPicPr>
        <p:blipFill>
          <a:blip r:embed="rId4"/>
          <a:stretch>
            <a:fillRect/>
          </a:stretch>
        </p:blipFill>
        <p:spPr>
          <a:xfrm>
            <a:off x="6277577" y="4017327"/>
            <a:ext cx="134549" cy="195707"/>
          </a:xfrm>
          <a:prstGeom prst="rect">
            <a:avLst/>
          </a:prstGeom>
        </p:spPr>
      </p:pic>
      <p:sp>
        <p:nvSpPr>
          <p:cNvPr id="33" name="TextBox 32"/>
          <p:cNvSpPr txBox="1"/>
          <p:nvPr/>
        </p:nvSpPr>
        <p:spPr>
          <a:xfrm>
            <a:off x="6452687" y="40275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25538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245165"/>
            <a:ext cx="134549" cy="195707"/>
          </a:xfrm>
          <a:prstGeom prst="rect">
            <a:avLst/>
          </a:prstGeom>
        </p:spPr>
      </p:pic>
      <p:sp>
        <p:nvSpPr>
          <p:cNvPr id="36" name="TextBox 35"/>
          <p:cNvSpPr txBox="1"/>
          <p:nvPr/>
        </p:nvSpPr>
        <p:spPr>
          <a:xfrm>
            <a:off x="1965143" y="42553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245165"/>
            <a:ext cx="134549" cy="195707"/>
          </a:xfrm>
          <a:prstGeom prst="rect">
            <a:avLst/>
          </a:prstGeom>
        </p:spPr>
      </p:pic>
      <p:sp>
        <p:nvSpPr>
          <p:cNvPr id="38" name="TextBox 37"/>
          <p:cNvSpPr txBox="1"/>
          <p:nvPr/>
        </p:nvSpPr>
        <p:spPr>
          <a:xfrm>
            <a:off x="2291688" y="4255388"/>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Flavour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Flavour,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Flavour (US$ Mn)</a:t>
            </a:r>
          </a:p>
        </p:txBody>
      </p:sp>
      <p:graphicFrame>
        <p:nvGraphicFramePr>
          <p:cNvPr id="13" name="Table 12"/>
          <p:cNvGraphicFramePr>
            <a:graphicFrameLocks noGrp="1"/>
          </p:cNvGraphicFramePr>
          <p:nvPr/>
        </p:nvGraphicFramePr>
        <p:xfrm>
          <a:off x="152400" y="1238250"/>
          <a:ext cx="11887208" cy="990600"/>
        </p:xfrm>
        <a:graphic>
          <a:graphicData uri="http://schemas.openxmlformats.org/drawingml/2006/table">
            <a:tbl>
              <a:tblPr>
                <a:tableStyleId>{5C22544A-7EE6-4342-B048-85BDC9FD1C3A}</a:tableStyleId>
              </a:tblPr>
              <a:tblGrid>
                <a:gridCol w="1757520"/>
                <a:gridCol w="595864"/>
                <a:gridCol w="595864"/>
                <a:gridCol w="595864"/>
                <a:gridCol w="595864"/>
                <a:gridCol w="595864"/>
                <a:gridCol w="595864"/>
                <a:gridCol w="595864"/>
                <a:gridCol w="595864"/>
                <a:gridCol w="595864"/>
                <a:gridCol w="595864"/>
                <a:gridCol w="595864"/>
                <a:gridCol w="595864"/>
                <a:gridCol w="595864"/>
                <a:gridCol w="595864"/>
                <a:gridCol w="595864"/>
                <a:gridCol w="595864"/>
                <a:gridCol w="595864"/>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Flavour</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88074" y="1589913"/>
            <a:ext cx="366712" cy="533400"/>
          </a:xfrm>
          <a:prstGeom prst="rect">
            <a:avLst/>
          </a:prstGeom>
        </p:spPr>
      </p:pic>
      <p:sp>
        <p:nvSpPr>
          <p:cNvPr id="21" name="TextBox 20"/>
          <p:cNvSpPr txBox="1"/>
          <p:nvPr/>
        </p:nvSpPr>
        <p:spPr>
          <a:xfrm>
            <a:off x="276225" y="2990850"/>
            <a:ext cx="3008610" cy="194310"/>
          </a:xfrm>
          <a:prstGeom prst="rect">
            <a:avLst/>
          </a:prstGeom>
          <a:noFill/>
        </p:spPr>
        <p:txBody>
          <a:bodyPr wrap="none" lIns="0" rIns="0" tIns="0" bIns="0">
            <a:spAutoFit/>
          </a:bodyPr>
          <a:lstStyle/>
          <a:p>
            <a:r>
              <a:rPr sz="1150" b="0">
                <a:solidFill>
                  <a:srgbClr val="2E2E2E"/>
                </a:solidFill>
                <a:latin typeface="Calibri"/>
              </a:rPr>
              <a:t>▪ 'Sweet Muffins Flavours' is the largest flavour at</a:t>
            </a:r>
          </a:p>
        </p:txBody>
      </p:sp>
      <p:pic>
        <p:nvPicPr>
          <p:cNvPr id="22" name="Picture 21" descr="lock.png"/>
          <p:cNvPicPr>
            <a:picLocks noChangeAspect="1"/>
          </p:cNvPicPr>
          <p:nvPr/>
        </p:nvPicPr>
        <p:blipFill>
          <a:blip r:embed="rId4"/>
          <a:stretch>
            <a:fillRect/>
          </a:stretch>
        </p:blipFill>
        <p:spPr>
          <a:xfrm>
            <a:off x="3233989" y="2980626"/>
            <a:ext cx="134549" cy="195707"/>
          </a:xfrm>
          <a:prstGeom prst="rect">
            <a:avLst/>
          </a:prstGeom>
        </p:spPr>
      </p:pic>
      <p:sp>
        <p:nvSpPr>
          <p:cNvPr id="23" name="TextBox 22"/>
          <p:cNvSpPr txBox="1"/>
          <p:nvPr/>
        </p:nvSpPr>
        <p:spPr>
          <a:xfrm>
            <a:off x="3409098"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15031" y="2980626"/>
            <a:ext cx="134549" cy="195707"/>
          </a:xfrm>
          <a:prstGeom prst="rect">
            <a:avLst/>
          </a:prstGeom>
        </p:spPr>
      </p:pic>
      <p:sp>
        <p:nvSpPr>
          <p:cNvPr id="25" name="TextBox 24"/>
          <p:cNvSpPr txBox="1"/>
          <p:nvPr/>
        </p:nvSpPr>
        <p:spPr>
          <a:xfrm>
            <a:off x="4490140"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2545643" cy="194310"/>
          </a:xfrm>
          <a:prstGeom prst="rect">
            <a:avLst/>
          </a:prstGeom>
          <a:noFill/>
        </p:spPr>
        <p:txBody>
          <a:bodyPr wrap="none" lIns="0" rIns="0" tIns="0" bIns="0">
            <a:spAutoFit/>
          </a:bodyPr>
          <a:lstStyle/>
          <a:p>
            <a:r>
              <a:rPr sz="1150" b="0">
                <a:solidFill>
                  <a:srgbClr val="2E2E2E"/>
                </a:solidFill>
                <a:latin typeface="Calibri"/>
              </a:rPr>
              <a:t>▪ 'Savoury Muffins Flavours' grows fastest</a:t>
            </a:r>
          </a:p>
        </p:txBody>
      </p:sp>
      <p:pic>
        <p:nvPicPr>
          <p:cNvPr id="27" name="Picture 26" descr="lock.png"/>
          <p:cNvPicPr>
            <a:picLocks noChangeAspect="1"/>
          </p:cNvPicPr>
          <p:nvPr/>
        </p:nvPicPr>
        <p:blipFill>
          <a:blip r:embed="rId4"/>
          <a:stretch>
            <a:fillRect/>
          </a:stretch>
        </p:blipFill>
        <p:spPr>
          <a:xfrm>
            <a:off x="2771022" y="3208464"/>
            <a:ext cx="134549" cy="195707"/>
          </a:xfrm>
          <a:prstGeom prst="rect">
            <a:avLst/>
          </a:prstGeom>
        </p:spPr>
      </p:pic>
      <p:sp>
        <p:nvSpPr>
          <p:cNvPr id="28" name="TextBox 27"/>
          <p:cNvSpPr txBox="1"/>
          <p:nvPr/>
        </p:nvSpPr>
        <p:spPr>
          <a:xfrm>
            <a:off x="294613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3054821" cy="194310"/>
          </a:xfrm>
          <a:prstGeom prst="rect">
            <a:avLst/>
          </a:prstGeom>
          <a:noFill/>
        </p:spPr>
        <p:txBody>
          <a:bodyPr wrap="none" lIns="0" rIns="0" tIns="0" bIns="0">
            <a:spAutoFit/>
          </a:bodyPr>
          <a:lstStyle/>
          <a:p>
            <a:r>
              <a:rPr sz="1150" b="0">
                <a:solidFill>
                  <a:srgbClr val="2E2E2E"/>
                </a:solidFill>
                <a:latin typeface="Calibri"/>
              </a:rPr>
              <a:t>▪ Share shifts toward 'Savoury Muffins Flavours' (+</a:t>
            </a:r>
          </a:p>
        </p:txBody>
      </p:sp>
      <p:pic>
        <p:nvPicPr>
          <p:cNvPr id="30" name="Picture 29" descr="lock.png"/>
          <p:cNvPicPr>
            <a:picLocks noChangeAspect="1"/>
          </p:cNvPicPr>
          <p:nvPr/>
        </p:nvPicPr>
        <p:blipFill>
          <a:blip r:embed="rId4"/>
          <a:stretch>
            <a:fillRect/>
          </a:stretch>
        </p:blipFill>
        <p:spPr>
          <a:xfrm>
            <a:off x="3280200" y="3436302"/>
            <a:ext cx="134549" cy="195707"/>
          </a:xfrm>
          <a:prstGeom prst="rect">
            <a:avLst/>
          </a:prstGeom>
        </p:spPr>
      </p:pic>
      <p:sp>
        <p:nvSpPr>
          <p:cNvPr id="31" name="TextBox 30"/>
          <p:cNvSpPr txBox="1"/>
          <p:nvPr/>
        </p:nvSpPr>
        <p:spPr>
          <a:xfrm>
            <a:off x="3455309" y="3446525"/>
            <a:ext cx="2873114" cy="194310"/>
          </a:xfrm>
          <a:prstGeom prst="rect">
            <a:avLst/>
          </a:prstGeom>
          <a:noFill/>
        </p:spPr>
        <p:txBody>
          <a:bodyPr wrap="none" lIns="0" rIns="0" tIns="0" bIns="0">
            <a:spAutoFit/>
          </a:bodyPr>
          <a:lstStyle/>
          <a:p>
            <a:r>
              <a:rPr sz="1150" b="0">
                <a:solidFill>
                  <a:srgbClr val="2E2E2E"/>
                </a:solidFill>
                <a:latin typeface="Calibri"/>
              </a:rPr>
              <a:t>BPS) and away from 'Sweet Muffins Flavours' (-</a:t>
            </a:r>
          </a:p>
        </p:txBody>
      </p:sp>
      <p:pic>
        <p:nvPicPr>
          <p:cNvPr id="32" name="Picture 31" descr="lock.png"/>
          <p:cNvPicPr>
            <a:picLocks noChangeAspect="1"/>
          </p:cNvPicPr>
          <p:nvPr/>
        </p:nvPicPr>
        <p:blipFill>
          <a:blip r:embed="rId4"/>
          <a:stretch>
            <a:fillRect/>
          </a:stretch>
        </p:blipFill>
        <p:spPr>
          <a:xfrm>
            <a:off x="6277577" y="3436302"/>
            <a:ext cx="134549" cy="195707"/>
          </a:xfrm>
          <a:prstGeom prst="rect">
            <a:avLst/>
          </a:prstGeom>
        </p:spPr>
      </p:pic>
      <p:sp>
        <p:nvSpPr>
          <p:cNvPr id="33" name="TextBox 32"/>
          <p:cNvSpPr txBox="1"/>
          <p:nvPr/>
        </p:nvSpPr>
        <p:spPr>
          <a:xfrm>
            <a:off x="6452687"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Flavour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Flavour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5863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816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054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Savoury Muffins Flavours</a:t>
            </a:r>
          </a:p>
        </p:txBody>
      </p:sp>
      <p:sp>
        <p:nvSpPr>
          <p:cNvPr id="19" name="BPS Value 1"/>
          <p:cNvSpPr txBox="1"/>
          <p:nvPr/>
        </p:nvSpPr>
        <p:spPr>
          <a:xfrm>
            <a:off x="6896100" y="256734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5488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501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739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Sweet Muffins Flavours</a:t>
            </a:r>
          </a:p>
        </p:txBody>
      </p:sp>
      <p:sp>
        <p:nvSpPr>
          <p:cNvPr id="23" name="BPS Value 2"/>
          <p:cNvSpPr txBox="1"/>
          <p:nvPr/>
        </p:nvSpPr>
        <p:spPr>
          <a:xfrm>
            <a:off x="6896100" y="493583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Flavour</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751325"/>
            <a:ext cx="275034" cy="400050"/>
          </a:xfrm>
          <a:prstGeom prst="rect">
            <a:avLst/>
          </a:prstGeom>
        </p:spPr>
      </p:pic>
      <p:sp>
        <p:nvSpPr>
          <p:cNvPr id="30" name="TextBox 29"/>
          <p:cNvSpPr txBox="1"/>
          <p:nvPr/>
        </p:nvSpPr>
        <p:spPr>
          <a:xfrm>
            <a:off x="7829550" y="1400175"/>
            <a:ext cx="3091904" cy="194310"/>
          </a:xfrm>
          <a:prstGeom prst="rect">
            <a:avLst/>
          </a:prstGeom>
          <a:noFill/>
        </p:spPr>
        <p:txBody>
          <a:bodyPr wrap="none" lIns="0" rIns="0" tIns="0" bIns="0">
            <a:spAutoFit/>
          </a:bodyPr>
          <a:lstStyle/>
          <a:p>
            <a:r>
              <a:rPr sz="1150" b="0">
                <a:solidFill>
                  <a:srgbClr val="2E2E2E"/>
                </a:solidFill>
                <a:latin typeface="Calibri"/>
              </a:rPr>
              <a:t>▪ 'Savoury Muffins Flavours' gains the most share +</a:t>
            </a:r>
          </a:p>
        </p:txBody>
      </p:sp>
      <p:pic>
        <p:nvPicPr>
          <p:cNvPr id="31" name="Picture 30" descr="lock.png"/>
          <p:cNvPicPr>
            <a:picLocks noChangeAspect="1"/>
          </p:cNvPicPr>
          <p:nvPr/>
        </p:nvPicPr>
        <p:blipFill>
          <a:blip r:embed="rId5"/>
          <a:stretch>
            <a:fillRect/>
          </a:stretch>
        </p:blipFill>
        <p:spPr>
          <a:xfrm>
            <a:off x="10870608" y="1389951"/>
            <a:ext cx="134549" cy="195707"/>
          </a:xfrm>
          <a:prstGeom prst="rect">
            <a:avLst/>
          </a:prstGeom>
        </p:spPr>
      </p:pic>
      <p:sp>
        <p:nvSpPr>
          <p:cNvPr id="32" name="TextBox 31"/>
          <p:cNvSpPr txBox="1"/>
          <p:nvPr/>
        </p:nvSpPr>
        <p:spPr>
          <a:xfrm>
            <a:off x="11045717"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3" name="TextBox 32"/>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630648" cy="194310"/>
          </a:xfrm>
          <a:prstGeom prst="rect">
            <a:avLst/>
          </a:prstGeom>
          <a:noFill/>
        </p:spPr>
        <p:txBody>
          <a:bodyPr wrap="none" lIns="0" rIns="0" tIns="0" bIns="0">
            <a:spAutoFit/>
          </a:bodyPr>
          <a:lstStyle/>
          <a:p>
            <a:r>
              <a:rPr sz="1150" b="0">
                <a:solidFill>
                  <a:srgbClr val="2E2E2E"/>
                </a:solidFill>
                <a:latin typeface="Calibri"/>
              </a:rPr>
              <a:t>▪ 'Sweet Muffins Flavours' cedes the most -</a:t>
            </a:r>
          </a:p>
        </p:txBody>
      </p:sp>
      <p:pic>
        <p:nvPicPr>
          <p:cNvPr id="35" name="Picture 34" descr="lock.png"/>
          <p:cNvPicPr>
            <a:picLocks noChangeAspect="1"/>
          </p:cNvPicPr>
          <p:nvPr/>
        </p:nvPicPr>
        <p:blipFill>
          <a:blip r:embed="rId5"/>
          <a:stretch>
            <a:fillRect/>
          </a:stretch>
        </p:blipFill>
        <p:spPr>
          <a:xfrm>
            <a:off x="10409352" y="1793049"/>
            <a:ext cx="134549" cy="195707"/>
          </a:xfrm>
          <a:prstGeom prst="rect">
            <a:avLst/>
          </a:prstGeom>
        </p:spPr>
      </p:pic>
      <p:sp>
        <p:nvSpPr>
          <p:cNvPr id="36" name="TextBox 35"/>
          <p:cNvSpPr txBox="1"/>
          <p:nvPr/>
        </p:nvSpPr>
        <p:spPr>
          <a:xfrm>
            <a:off x="10584461"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37" name="TextBox 36"/>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638736" cy="194310"/>
          </a:xfrm>
          <a:prstGeom prst="rect">
            <a:avLst/>
          </a:prstGeom>
          <a:noFill/>
        </p:spPr>
        <p:txBody>
          <a:bodyPr wrap="none" lIns="0" rIns="0" tIns="0" bIns="0">
            <a:spAutoFit/>
          </a:bodyPr>
          <a:lstStyle/>
          <a:p>
            <a:r>
              <a:rPr sz="1150" b="0">
                <a:solidFill>
                  <a:srgbClr val="2E2E2E"/>
                </a:solidFill>
                <a:latin typeface="Calibri"/>
              </a:rPr>
              <a:t>▪ 'Savoury Muffins Flavours' is the fastest-growing flavour at</a:t>
            </a:r>
          </a:p>
        </p:txBody>
      </p:sp>
      <p:pic>
        <p:nvPicPr>
          <p:cNvPr id="39" name="Picture 38" descr="lock.png"/>
          <p:cNvPicPr>
            <a:picLocks noChangeAspect="1"/>
          </p:cNvPicPr>
          <p:nvPr/>
        </p:nvPicPr>
        <p:blipFill>
          <a:blip r:embed="rId5"/>
          <a:stretch>
            <a:fillRect/>
          </a:stretch>
        </p:blipFill>
        <p:spPr>
          <a:xfrm>
            <a:off x="11417439" y="2196147"/>
            <a:ext cx="134549" cy="195707"/>
          </a:xfrm>
          <a:prstGeom prst="rect">
            <a:avLst/>
          </a:prstGeom>
        </p:spPr>
      </p:pic>
      <p:sp>
        <p:nvSpPr>
          <p:cNvPr id="40" name="TextBox 39"/>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Flavour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Flavour,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Flavour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 Flavours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 Flavours</a:t>
            </a:r>
          </a:p>
        </p:txBody>
      </p:sp>
      <p:sp>
        <p:nvSpPr>
          <p:cNvPr id="49" name="Rectangle 48"/>
          <p:cNvSpPr/>
          <p:nvPr/>
        </p:nvSpPr>
        <p:spPr>
          <a:xfrm>
            <a:off x="1857375" y="4662488"/>
            <a:ext cx="643890" cy="1909762"/>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87778" y="1482090"/>
            <a:ext cx="330041" cy="480060"/>
          </a:xfrm>
          <a:prstGeom prst="rect">
            <a:avLst/>
          </a:prstGeom>
        </p:spPr>
      </p:pic>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Flavour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Flavour,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Flavour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 Flavours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 Flavours</a:t>
            </a:r>
          </a:p>
        </p:txBody>
      </p:sp>
      <p:sp>
        <p:nvSpPr>
          <p:cNvPr id="49" name="Rectangle 48"/>
          <p:cNvSpPr/>
          <p:nvPr/>
        </p:nvSpPr>
        <p:spPr>
          <a:xfrm>
            <a:off x="1857375" y="4662488"/>
            <a:ext cx="643890" cy="190976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87778" y="1482090"/>
            <a:ext cx="330041" cy="480060"/>
          </a:xfrm>
          <a:prstGeom prst="rect">
            <a:avLst/>
          </a:prstGeom>
        </p:spPr>
      </p:pic>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Flour Base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Flour Base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Flour Base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Primary Flour Base,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Flour Base segment categorizes the market by primary flour base.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Rice-based</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Oat-based</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Wheat-based</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Corn-based</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Flour Base split shows how demand is distributed across primary flour base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2_073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_965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6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_02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3_873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6_7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819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_999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_792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_70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610718" cy="186689"/>
          </a:xfrm>
          <a:prstGeom prst="rect">
            <a:avLst/>
          </a:prstGeom>
          <a:noFill/>
        </p:spPr>
        <p:txBody>
          <a:bodyPr wrap="none" lIns="0" rIns="0" tIns="0" bIns="0">
            <a:spAutoFit/>
          </a:bodyPr>
          <a:lstStyle/>
          <a:p>
            <a:r>
              <a:rPr sz="1100" b="0">
                <a:solidFill>
                  <a:srgbClr val="2E2E2E"/>
                </a:solidFill>
                <a:latin typeface="Calibri"/>
              </a:rPr>
              <a:t>▪ 'Rice-based' holds the largest share in 2026</a:t>
            </a:r>
          </a:p>
        </p:txBody>
      </p:sp>
      <p:pic>
        <p:nvPicPr>
          <p:cNvPr id="81" name="Picture 80" descr="lock.png"/>
          <p:cNvPicPr>
            <a:picLocks noChangeAspect="1"/>
          </p:cNvPicPr>
          <p:nvPr/>
        </p:nvPicPr>
        <p:blipFill>
          <a:blip r:embed="rId16"/>
          <a:stretch>
            <a:fillRect/>
          </a:stretch>
        </p:blipFill>
        <p:spPr>
          <a:xfrm>
            <a:off x="3044544"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'Millet-based' is the fastest-growing sub-segment</a:t>
            </a:r>
          </a:p>
        </p:txBody>
      </p:sp>
      <p:sp>
        <p:nvSpPr>
          <p:cNvPr id="84" name="TextBox 83"/>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85" name="Picture 84" descr="lock.png"/>
          <p:cNvPicPr>
            <a:picLocks noChangeAspect="1"/>
          </p:cNvPicPr>
          <p:nvPr/>
        </p:nvPicPr>
        <p:blipFill>
          <a:blip r:embed="rId16"/>
          <a:stretch>
            <a:fillRect/>
          </a:stretch>
        </p:blipFill>
        <p:spPr>
          <a:xfrm>
            <a:off x="623805" y="4772870"/>
            <a:ext cx="128699" cy="187198"/>
          </a:xfrm>
          <a:prstGeom prst="rect">
            <a:avLst/>
          </a:prstGeom>
        </p:spPr>
      </p:pic>
      <p:sp>
        <p:nvSpPr>
          <p:cNvPr id="86" name="TextBox 85"/>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868290" cy="186689"/>
          </a:xfrm>
          <a:prstGeom prst="rect">
            <a:avLst/>
          </a:prstGeom>
          <a:noFill/>
        </p:spPr>
        <p:txBody>
          <a:bodyPr wrap="none" lIns="0" rIns="0" tIns="0" bIns="0">
            <a:spAutoFit/>
          </a:bodyPr>
          <a:lstStyle/>
          <a:p>
            <a:r>
              <a:rPr sz="1100" b="0">
                <a:solidFill>
                  <a:srgbClr val="2E2E2E"/>
                </a:solidFill>
                <a:latin typeface="Calibri"/>
              </a:rPr>
              <a:t>▪ 8 sub-segments make up the primary flour base</a:t>
            </a:r>
          </a:p>
        </p:txBody>
      </p:sp>
      <p:sp>
        <p:nvSpPr>
          <p:cNvPr id="94" name="TextBox 9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5" name="TextBox 94"/>
          <p:cNvSpPr txBox="1"/>
          <p:nvPr/>
        </p:nvSpPr>
        <p:spPr>
          <a:xfrm>
            <a:off x="3838575" y="4229437"/>
            <a:ext cx="847005" cy="186689"/>
          </a:xfrm>
          <a:prstGeom prst="rect">
            <a:avLst/>
          </a:prstGeom>
          <a:noFill/>
        </p:spPr>
        <p:txBody>
          <a:bodyPr wrap="none" lIns="0" rIns="0" tIns="0" bIns="0">
            <a:spAutoFit/>
          </a:bodyPr>
          <a:lstStyle/>
          <a:p>
            <a:r>
              <a:rPr sz="1100" b="0">
                <a:solidFill>
                  <a:srgbClr val="2E2E2E"/>
                </a:solidFill>
                <a:latin typeface="Calibri"/>
              </a:rPr>
              <a:t>● Rice-based:</a:t>
            </a:r>
          </a:p>
        </p:txBody>
      </p:sp>
      <p:pic>
        <p:nvPicPr>
          <p:cNvPr id="96" name="Picture 95" descr="lock.png"/>
          <p:cNvPicPr>
            <a:picLocks noChangeAspect="1"/>
          </p:cNvPicPr>
          <p:nvPr/>
        </p:nvPicPr>
        <p:blipFill>
          <a:blip r:embed="rId16"/>
          <a:stretch>
            <a:fillRect/>
          </a:stretch>
        </p:blipFill>
        <p:spPr>
          <a:xfrm>
            <a:off x="4633632" y="4219658"/>
            <a:ext cx="128699" cy="187198"/>
          </a:xfrm>
          <a:prstGeom prst="rect">
            <a:avLst/>
          </a:prstGeom>
        </p:spPr>
      </p:pic>
      <p:sp>
        <p:nvSpPr>
          <p:cNvPr id="97" name="TextBox 96"/>
          <p:cNvSpPr txBox="1"/>
          <p:nvPr/>
        </p:nvSpPr>
        <p:spPr>
          <a:xfrm>
            <a:off x="480112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5660578" y="4219658"/>
            <a:ext cx="128699" cy="187198"/>
          </a:xfrm>
          <a:prstGeom prst="rect">
            <a:avLst/>
          </a:prstGeom>
        </p:spPr>
      </p:pic>
      <p:sp>
        <p:nvSpPr>
          <p:cNvPr id="99" name="TextBox 98"/>
          <p:cNvSpPr txBox="1"/>
          <p:nvPr/>
        </p:nvSpPr>
        <p:spPr>
          <a:xfrm>
            <a:off x="5828074"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816446" cy="186689"/>
          </a:xfrm>
          <a:prstGeom prst="rect">
            <a:avLst/>
          </a:prstGeom>
          <a:noFill/>
        </p:spPr>
        <p:txBody>
          <a:bodyPr wrap="none" lIns="0" rIns="0" tIns="0" bIns="0">
            <a:spAutoFit/>
          </a:bodyPr>
          <a:lstStyle/>
          <a:p>
            <a:r>
              <a:rPr sz="1100" b="0">
                <a:solidFill>
                  <a:srgbClr val="2E2E2E"/>
                </a:solidFill>
                <a:latin typeface="Calibri"/>
              </a:rPr>
              <a:t>● Oat-based:</a:t>
            </a:r>
          </a:p>
        </p:txBody>
      </p:sp>
      <p:pic>
        <p:nvPicPr>
          <p:cNvPr id="101" name="Picture 100" descr="lock.png"/>
          <p:cNvPicPr>
            <a:picLocks noChangeAspect="1"/>
          </p:cNvPicPr>
          <p:nvPr/>
        </p:nvPicPr>
        <p:blipFill>
          <a:blip r:embed="rId16"/>
          <a:stretch>
            <a:fillRect/>
          </a:stretch>
        </p:blipFill>
        <p:spPr>
          <a:xfrm>
            <a:off x="4603072" y="4437590"/>
            <a:ext cx="128699" cy="187198"/>
          </a:xfrm>
          <a:prstGeom prst="rect">
            <a:avLst/>
          </a:prstGeom>
        </p:spPr>
      </p:pic>
      <p:sp>
        <p:nvSpPr>
          <p:cNvPr id="102" name="TextBox 101"/>
          <p:cNvSpPr txBox="1"/>
          <p:nvPr/>
        </p:nvSpPr>
        <p:spPr>
          <a:xfrm>
            <a:off x="4770568"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5630018" y="4437590"/>
            <a:ext cx="128699" cy="187198"/>
          </a:xfrm>
          <a:prstGeom prst="rect">
            <a:avLst/>
          </a:prstGeom>
        </p:spPr>
      </p:pic>
      <p:sp>
        <p:nvSpPr>
          <p:cNvPr id="104" name="TextBox 103"/>
          <p:cNvSpPr txBox="1"/>
          <p:nvPr/>
        </p:nvSpPr>
        <p:spPr>
          <a:xfrm>
            <a:off x="5797514"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991344" cy="186689"/>
          </a:xfrm>
          <a:prstGeom prst="rect">
            <a:avLst/>
          </a:prstGeom>
          <a:noFill/>
        </p:spPr>
        <p:txBody>
          <a:bodyPr wrap="none" lIns="0" rIns="0" tIns="0" bIns="0">
            <a:spAutoFit/>
          </a:bodyPr>
          <a:lstStyle/>
          <a:p>
            <a:r>
              <a:rPr sz="1100" b="0">
                <a:solidFill>
                  <a:srgbClr val="2E2E2E"/>
                </a:solidFill>
                <a:latin typeface="Calibri"/>
              </a:rPr>
              <a:t>● Wheat-based:</a:t>
            </a:r>
          </a:p>
        </p:txBody>
      </p:sp>
      <p:pic>
        <p:nvPicPr>
          <p:cNvPr id="106" name="Picture 105" descr="lock.png"/>
          <p:cNvPicPr>
            <a:picLocks noChangeAspect="1"/>
          </p:cNvPicPr>
          <p:nvPr/>
        </p:nvPicPr>
        <p:blipFill>
          <a:blip r:embed="rId16"/>
          <a:stretch>
            <a:fillRect/>
          </a:stretch>
        </p:blipFill>
        <p:spPr>
          <a:xfrm>
            <a:off x="4777970" y="4655522"/>
            <a:ext cx="128699" cy="187198"/>
          </a:xfrm>
          <a:prstGeom prst="rect">
            <a:avLst/>
          </a:prstGeom>
        </p:spPr>
      </p:pic>
      <p:sp>
        <p:nvSpPr>
          <p:cNvPr id="107" name="TextBox 106"/>
          <p:cNvSpPr txBox="1"/>
          <p:nvPr/>
        </p:nvSpPr>
        <p:spPr>
          <a:xfrm>
            <a:off x="494546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804916" y="4655522"/>
            <a:ext cx="128699" cy="187198"/>
          </a:xfrm>
          <a:prstGeom prst="rect">
            <a:avLst/>
          </a:prstGeom>
        </p:spPr>
      </p:pic>
      <p:sp>
        <p:nvSpPr>
          <p:cNvPr id="109" name="TextBox 108"/>
          <p:cNvSpPr txBox="1"/>
          <p:nvPr/>
        </p:nvSpPr>
        <p:spPr>
          <a:xfrm>
            <a:off x="5972412"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0" name="TextBox 109"/>
          <p:cNvSpPr txBox="1"/>
          <p:nvPr/>
        </p:nvSpPr>
        <p:spPr>
          <a:xfrm>
            <a:off x="3838575" y="4883233"/>
            <a:ext cx="880566" cy="186689"/>
          </a:xfrm>
          <a:prstGeom prst="rect">
            <a:avLst/>
          </a:prstGeom>
          <a:noFill/>
        </p:spPr>
        <p:txBody>
          <a:bodyPr wrap="none" lIns="0" rIns="0" tIns="0" bIns="0">
            <a:spAutoFit/>
          </a:bodyPr>
          <a:lstStyle/>
          <a:p>
            <a:r>
              <a:rPr sz="1100" b="0">
                <a:solidFill>
                  <a:srgbClr val="2E2E2E"/>
                </a:solidFill>
                <a:latin typeface="Calibri"/>
              </a:rPr>
              <a:t>● Corn-based:</a:t>
            </a:r>
          </a:p>
        </p:txBody>
      </p:sp>
      <p:pic>
        <p:nvPicPr>
          <p:cNvPr id="111" name="Picture 110" descr="lock.png"/>
          <p:cNvPicPr>
            <a:picLocks noChangeAspect="1"/>
          </p:cNvPicPr>
          <p:nvPr/>
        </p:nvPicPr>
        <p:blipFill>
          <a:blip r:embed="rId16"/>
          <a:stretch>
            <a:fillRect/>
          </a:stretch>
        </p:blipFill>
        <p:spPr>
          <a:xfrm>
            <a:off x="4667193" y="4873454"/>
            <a:ext cx="128699" cy="187198"/>
          </a:xfrm>
          <a:prstGeom prst="rect">
            <a:avLst/>
          </a:prstGeom>
        </p:spPr>
      </p:pic>
      <p:sp>
        <p:nvSpPr>
          <p:cNvPr id="112" name="TextBox 111"/>
          <p:cNvSpPr txBox="1"/>
          <p:nvPr/>
        </p:nvSpPr>
        <p:spPr>
          <a:xfrm>
            <a:off x="4834688"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5694139" y="4873454"/>
            <a:ext cx="128699" cy="187198"/>
          </a:xfrm>
          <a:prstGeom prst="rect">
            <a:avLst/>
          </a:prstGeom>
        </p:spPr>
      </p:pic>
      <p:sp>
        <p:nvSpPr>
          <p:cNvPr id="114" name="TextBox 113"/>
          <p:cNvSpPr txBox="1"/>
          <p:nvPr/>
        </p:nvSpPr>
        <p:spPr>
          <a:xfrm>
            <a:off x="5861634"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5" name="TextBox 114"/>
          <p:cNvSpPr txBox="1"/>
          <p:nvPr/>
        </p:nvSpPr>
        <p:spPr>
          <a:xfrm>
            <a:off x="8524875" y="5842641"/>
            <a:ext cx="2937867" cy="194310"/>
          </a:xfrm>
          <a:prstGeom prst="rect">
            <a:avLst/>
          </a:prstGeom>
          <a:noFill/>
        </p:spPr>
        <p:txBody>
          <a:bodyPr wrap="none" lIns="0" rIns="0" tIns="0" bIns="0">
            <a:spAutoFit/>
          </a:bodyPr>
          <a:lstStyle/>
          <a:p>
            <a:r>
              <a:rPr sz="1150" b="1">
                <a:solidFill>
                  <a:srgbClr val="0B2E4A"/>
                </a:solidFill>
                <a:latin typeface="Calibri"/>
              </a:rPr>
              <a:t>The Primary Flour Base segment is projected to</a:t>
            </a:r>
          </a:p>
        </p:txBody>
      </p:sp>
      <p:sp>
        <p:nvSpPr>
          <p:cNvPr id="116" name="TextBox 11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7" name="Picture 116" descr="lock.png"/>
          <p:cNvPicPr>
            <a:picLocks noChangeAspect="1"/>
          </p:cNvPicPr>
          <p:nvPr/>
        </p:nvPicPr>
        <p:blipFill>
          <a:blip r:embed="rId16"/>
          <a:stretch>
            <a:fillRect/>
          </a:stretch>
        </p:blipFill>
        <p:spPr>
          <a:xfrm>
            <a:off x="9651852" y="6007677"/>
            <a:ext cx="134549" cy="195707"/>
          </a:xfrm>
          <a:prstGeom prst="rect">
            <a:avLst/>
          </a:prstGeom>
        </p:spPr>
      </p:pic>
      <p:sp>
        <p:nvSpPr>
          <p:cNvPr id="118" name="TextBox 11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Flour Base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Primary Flour Base,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Flour Base segment categorizes the market by primary flour base.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single-flour bases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Multigrain and blended flour bases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Millet-based</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Almond and other nut flour-based</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1_318_605E5C.png"/>
          <p:cNvPicPr>
            <a:picLocks noChangeAspect="1"/>
          </p:cNvPicPr>
          <p:nvPr/>
        </p:nvPicPr>
        <p:blipFill>
          <a:blip r:embed="rId4"/>
          <a:stretch>
            <a:fillRect/>
          </a:stretch>
        </p:blipFill>
        <p:spPr>
          <a:xfrm>
            <a:off x="2476330" y="2286582"/>
            <a:ext cx="1195728" cy="361950"/>
          </a:xfrm>
          <a:prstGeom prst="rect">
            <a:avLst/>
          </a:prstGeom>
        </p:spPr>
      </p:pic>
      <p:pic>
        <p:nvPicPr>
          <p:cNvPr id="54" name="Picture 53" descr="2_297_605E5C.png"/>
          <p:cNvPicPr>
            <a:picLocks noChangeAspect="1"/>
          </p:cNvPicPr>
          <p:nvPr/>
        </p:nvPicPr>
        <p:blipFill>
          <a:blip r:embed="rId5"/>
          <a:stretch>
            <a:fillRect/>
          </a:stretch>
        </p:blipFill>
        <p:spPr>
          <a:xfrm>
            <a:off x="2476330" y="2779432"/>
            <a:ext cx="1195728" cy="361950"/>
          </a:xfrm>
          <a:prstGeom prst="rect">
            <a:avLst/>
          </a:prstGeom>
        </p:spPr>
      </p:pic>
      <p:pic>
        <p:nvPicPr>
          <p:cNvPr id="55" name="Picture 54" descr="5_7__605E5C.png"/>
          <p:cNvPicPr>
            <a:picLocks noChangeAspect="1"/>
          </p:cNvPicPr>
          <p:nvPr/>
        </p:nvPicPr>
        <p:blipFill>
          <a:blip r:embed="rId6"/>
          <a:stretch>
            <a:fillRect/>
          </a:stretch>
        </p:blipFill>
        <p:spPr>
          <a:xfrm>
            <a:off x="2582976" y="3272281"/>
            <a:ext cx="982436" cy="361950"/>
          </a:xfrm>
          <a:prstGeom prst="rect">
            <a:avLst/>
          </a:prstGeom>
        </p:spPr>
      </p:pic>
      <p:pic>
        <p:nvPicPr>
          <p:cNvPr id="56" name="Picture 55" descr="831_0_605E5C.png"/>
          <p:cNvPicPr>
            <a:picLocks noChangeAspect="1"/>
          </p:cNvPicPr>
          <p:nvPr/>
        </p:nvPicPr>
        <p:blipFill>
          <a:blip r:embed="rId7"/>
          <a:stretch>
            <a:fillRect/>
          </a:stretch>
        </p:blipFill>
        <p:spPr>
          <a:xfrm>
            <a:off x="5005218" y="2286582"/>
            <a:ext cx="1195728" cy="361950"/>
          </a:xfrm>
          <a:prstGeom prst="rect">
            <a:avLst/>
          </a:prstGeom>
        </p:spPr>
      </p:pic>
      <p:pic>
        <p:nvPicPr>
          <p:cNvPr id="57" name="Picture 56" descr="984_0_605E5C.png"/>
          <p:cNvPicPr>
            <a:picLocks noChangeAspect="1"/>
          </p:cNvPicPr>
          <p:nvPr/>
        </p:nvPicPr>
        <p:blipFill>
          <a:blip r:embed="rId8"/>
          <a:stretch>
            <a:fillRect/>
          </a:stretch>
        </p:blipFill>
        <p:spPr>
          <a:xfrm>
            <a:off x="5005218" y="2779432"/>
            <a:ext cx="1195728" cy="361950"/>
          </a:xfrm>
          <a:prstGeom prst="rect">
            <a:avLst/>
          </a:prstGeom>
        </p:spPr>
      </p:pic>
      <p:pic>
        <p:nvPicPr>
          <p:cNvPr id="58" name="Picture 57" descr="1_7__605E5C.png"/>
          <p:cNvPicPr>
            <a:picLocks noChangeAspect="1"/>
          </p:cNvPicPr>
          <p:nvPr/>
        </p:nvPicPr>
        <p:blipFill>
          <a:blip r:embed="rId9"/>
          <a:stretch>
            <a:fillRect/>
          </a:stretch>
        </p:blipFill>
        <p:spPr>
          <a:xfrm>
            <a:off x="5111864" y="3272281"/>
            <a:ext cx="982436" cy="361950"/>
          </a:xfrm>
          <a:prstGeom prst="rect">
            <a:avLst/>
          </a:prstGeom>
        </p:spPr>
      </p:pic>
      <p:pic>
        <p:nvPicPr>
          <p:cNvPr id="59" name="Picture 58" descr="744_5_605E5C.png"/>
          <p:cNvPicPr>
            <a:picLocks noChangeAspect="1"/>
          </p:cNvPicPr>
          <p:nvPr/>
        </p:nvPicPr>
        <p:blipFill>
          <a:blip r:embed="rId10"/>
          <a:stretch>
            <a:fillRect/>
          </a:stretch>
        </p:blipFill>
        <p:spPr>
          <a:xfrm>
            <a:off x="7534105" y="2286582"/>
            <a:ext cx="1195728" cy="361950"/>
          </a:xfrm>
          <a:prstGeom prst="rect">
            <a:avLst/>
          </a:prstGeom>
        </p:spPr>
      </p:pic>
      <p:pic>
        <p:nvPicPr>
          <p:cNvPr id="60" name="Picture 59" descr="1_437_605E5C.png"/>
          <p:cNvPicPr>
            <a:picLocks noChangeAspect="1"/>
          </p:cNvPicPr>
          <p:nvPr/>
        </p:nvPicPr>
        <p:blipFill>
          <a:blip r:embed="rId11"/>
          <a:stretch>
            <a:fillRect/>
          </a:stretch>
        </p:blipFill>
        <p:spPr>
          <a:xfrm>
            <a:off x="7534105" y="2779432"/>
            <a:ext cx="1195728" cy="361950"/>
          </a:xfrm>
          <a:prstGeom prst="rect">
            <a:avLst/>
          </a:prstGeom>
        </p:spPr>
      </p:pic>
      <p:pic>
        <p:nvPicPr>
          <p:cNvPr id="61" name="Picture 60" descr="6_8__605E5C.png"/>
          <p:cNvPicPr>
            <a:picLocks noChangeAspect="1"/>
          </p:cNvPicPr>
          <p:nvPr/>
        </p:nvPicPr>
        <p:blipFill>
          <a:blip r:embed="rId12"/>
          <a:stretch>
            <a:fillRect/>
          </a:stretch>
        </p:blipFill>
        <p:spPr>
          <a:xfrm>
            <a:off x="7640751" y="3272281"/>
            <a:ext cx="982436" cy="361950"/>
          </a:xfrm>
          <a:prstGeom prst="rect">
            <a:avLst/>
          </a:prstGeom>
        </p:spPr>
      </p:pic>
      <p:pic>
        <p:nvPicPr>
          <p:cNvPr id="62" name="Picture 61" descr="295_9_605E5C.png"/>
          <p:cNvPicPr>
            <a:picLocks noChangeAspect="1"/>
          </p:cNvPicPr>
          <p:nvPr/>
        </p:nvPicPr>
        <p:blipFill>
          <a:blip r:embed="rId13"/>
          <a:stretch>
            <a:fillRect/>
          </a:stretch>
        </p:blipFill>
        <p:spPr>
          <a:xfrm>
            <a:off x="10062992" y="2286582"/>
            <a:ext cx="1195728" cy="361950"/>
          </a:xfrm>
          <a:prstGeom prst="rect">
            <a:avLst/>
          </a:prstGeom>
        </p:spPr>
      </p:pic>
      <p:pic>
        <p:nvPicPr>
          <p:cNvPr id="63" name="Picture 62" descr="488_5_605E5C.png"/>
          <p:cNvPicPr>
            <a:picLocks noChangeAspect="1"/>
          </p:cNvPicPr>
          <p:nvPr/>
        </p:nvPicPr>
        <p:blipFill>
          <a:blip r:embed="rId14"/>
          <a:stretch>
            <a:fillRect/>
          </a:stretch>
        </p:blipFill>
        <p:spPr>
          <a:xfrm>
            <a:off x="10062992" y="2779432"/>
            <a:ext cx="1195728" cy="361950"/>
          </a:xfrm>
          <a:prstGeom prst="rect">
            <a:avLst/>
          </a:prstGeom>
        </p:spPr>
      </p:pic>
      <p:pic>
        <p:nvPicPr>
          <p:cNvPr id="64" name="Picture 63" descr="5_1__605E5C.png"/>
          <p:cNvPicPr>
            <a:picLocks noChangeAspect="1"/>
          </p:cNvPicPr>
          <p:nvPr/>
        </p:nvPicPr>
        <p:blipFill>
          <a:blip r:embed="rId15"/>
          <a:stretch>
            <a:fillRect/>
          </a:stretch>
        </p:blipFill>
        <p:spPr>
          <a:xfrm>
            <a:off x="10169638" y="3272281"/>
            <a:ext cx="982436" cy="361950"/>
          </a:xfrm>
          <a:prstGeom prst="rect">
            <a:avLst/>
          </a:prstGeom>
        </p:spPr>
      </p:pic>
      <p:pic>
        <p:nvPicPr>
          <p:cNvPr id="65" name="Picture 64" descr="lock.png"/>
          <p:cNvPicPr>
            <a:picLocks noChangeAspect="1"/>
          </p:cNvPicPr>
          <p:nvPr/>
        </p:nvPicPr>
        <p:blipFill>
          <a:blip r:embed="rId16"/>
          <a:stretch>
            <a:fillRect/>
          </a:stretch>
        </p:blipFill>
        <p:spPr>
          <a:xfrm>
            <a:off x="2980848" y="2827057"/>
            <a:ext cx="183356" cy="266700"/>
          </a:xfrm>
          <a:prstGeom prst="rect">
            <a:avLst/>
          </a:prstGeom>
        </p:spPr>
      </p:pic>
      <p:pic>
        <p:nvPicPr>
          <p:cNvPr id="66" name="Picture 65" descr="lock.png"/>
          <p:cNvPicPr>
            <a:picLocks noChangeAspect="1"/>
          </p:cNvPicPr>
          <p:nvPr/>
        </p:nvPicPr>
        <p:blipFill>
          <a:blip r:embed="rId16"/>
          <a:stretch>
            <a:fillRect/>
          </a:stretch>
        </p:blipFill>
        <p:spPr>
          <a:xfrm>
            <a:off x="5509737" y="2827057"/>
            <a:ext cx="183356" cy="266700"/>
          </a:xfrm>
          <a:prstGeom prst="rect">
            <a:avLst/>
          </a:prstGeom>
        </p:spPr>
      </p:pic>
      <p:pic>
        <p:nvPicPr>
          <p:cNvPr id="67" name="Picture 66" descr="lock.png"/>
          <p:cNvPicPr>
            <a:picLocks noChangeAspect="1"/>
          </p:cNvPicPr>
          <p:nvPr/>
        </p:nvPicPr>
        <p:blipFill>
          <a:blip r:embed="rId16"/>
          <a:stretch>
            <a:fillRect/>
          </a:stretch>
        </p:blipFill>
        <p:spPr>
          <a:xfrm>
            <a:off x="8038624" y="2827057"/>
            <a:ext cx="183356" cy="266700"/>
          </a:xfrm>
          <a:prstGeom prst="rect">
            <a:avLst/>
          </a:prstGeom>
        </p:spPr>
      </p:pic>
      <p:pic>
        <p:nvPicPr>
          <p:cNvPr id="68" name="Picture 67" descr="lock.png"/>
          <p:cNvPicPr>
            <a:picLocks noChangeAspect="1"/>
          </p:cNvPicPr>
          <p:nvPr/>
        </p:nvPicPr>
        <p:blipFill>
          <a:blip r:embed="rId16"/>
          <a:stretch>
            <a:fillRect/>
          </a:stretch>
        </p:blipFill>
        <p:spPr>
          <a:xfrm>
            <a:off x="10567511" y="2827057"/>
            <a:ext cx="183356" cy="266700"/>
          </a:xfrm>
          <a:prstGeom prst="rect">
            <a:avLst/>
          </a:prstGeom>
        </p:spPr>
      </p:pic>
      <p:sp>
        <p:nvSpPr>
          <p:cNvPr id="69" name="TextBox 68"/>
          <p:cNvSpPr txBox="1"/>
          <p:nvPr/>
        </p:nvSpPr>
        <p:spPr>
          <a:xfrm>
            <a:off x="485775" y="4229437"/>
            <a:ext cx="1584250" cy="186689"/>
          </a:xfrm>
          <a:prstGeom prst="rect">
            <a:avLst/>
          </a:prstGeom>
          <a:noFill/>
        </p:spPr>
        <p:txBody>
          <a:bodyPr wrap="none" lIns="0" rIns="0" tIns="0" bIns="0">
            <a:spAutoFit/>
          </a:bodyPr>
          <a:lstStyle/>
          <a:p>
            <a:r>
              <a:rPr sz="1100" b="0">
                <a:solidFill>
                  <a:srgbClr val="2E2E2E"/>
                </a:solidFill>
                <a:latin typeface="Calibri"/>
              </a:rPr>
              <a:t>● Other single-flour bases:</a:t>
            </a:r>
          </a:p>
        </p:txBody>
      </p:sp>
      <p:pic>
        <p:nvPicPr>
          <p:cNvPr id="70" name="Picture 69" descr="lock.png"/>
          <p:cNvPicPr>
            <a:picLocks noChangeAspect="1"/>
          </p:cNvPicPr>
          <p:nvPr/>
        </p:nvPicPr>
        <p:blipFill>
          <a:blip r:embed="rId16"/>
          <a:stretch>
            <a:fillRect/>
          </a:stretch>
        </p:blipFill>
        <p:spPr>
          <a:xfrm>
            <a:off x="2018077" y="4219658"/>
            <a:ext cx="128699" cy="187198"/>
          </a:xfrm>
          <a:prstGeom prst="rect">
            <a:avLst/>
          </a:prstGeom>
        </p:spPr>
      </p:pic>
      <p:sp>
        <p:nvSpPr>
          <p:cNvPr id="71" name="TextBox 70"/>
          <p:cNvSpPr txBox="1"/>
          <p:nvPr/>
        </p:nvSpPr>
        <p:spPr>
          <a:xfrm>
            <a:off x="218557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2" name="Picture 71" descr="lock.png"/>
          <p:cNvPicPr>
            <a:picLocks noChangeAspect="1"/>
          </p:cNvPicPr>
          <p:nvPr/>
        </p:nvPicPr>
        <p:blipFill>
          <a:blip r:embed="rId16"/>
          <a:stretch>
            <a:fillRect/>
          </a:stretch>
        </p:blipFill>
        <p:spPr>
          <a:xfrm>
            <a:off x="3045023" y="4219658"/>
            <a:ext cx="128699" cy="187198"/>
          </a:xfrm>
          <a:prstGeom prst="rect">
            <a:avLst/>
          </a:prstGeom>
        </p:spPr>
      </p:pic>
      <p:sp>
        <p:nvSpPr>
          <p:cNvPr id="73" name="TextBox 72"/>
          <p:cNvSpPr txBox="1"/>
          <p:nvPr/>
        </p:nvSpPr>
        <p:spPr>
          <a:xfrm>
            <a:off x="3212519"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4" name="TextBox 73"/>
          <p:cNvSpPr txBox="1"/>
          <p:nvPr/>
        </p:nvSpPr>
        <p:spPr>
          <a:xfrm>
            <a:off x="485775" y="4447369"/>
            <a:ext cx="2215629" cy="186689"/>
          </a:xfrm>
          <a:prstGeom prst="rect">
            <a:avLst/>
          </a:prstGeom>
          <a:noFill/>
        </p:spPr>
        <p:txBody>
          <a:bodyPr wrap="none" lIns="0" rIns="0" tIns="0" bIns="0">
            <a:spAutoFit/>
          </a:bodyPr>
          <a:lstStyle/>
          <a:p>
            <a:r>
              <a:rPr sz="1100" b="0">
                <a:solidFill>
                  <a:srgbClr val="2E2E2E"/>
                </a:solidFill>
                <a:latin typeface="Calibri"/>
              </a:rPr>
              <a:t>● Multigrain and blended flour bases:</a:t>
            </a:r>
          </a:p>
        </p:txBody>
      </p:sp>
      <p:pic>
        <p:nvPicPr>
          <p:cNvPr id="75" name="Picture 74" descr="lock.png"/>
          <p:cNvPicPr>
            <a:picLocks noChangeAspect="1"/>
          </p:cNvPicPr>
          <p:nvPr/>
        </p:nvPicPr>
        <p:blipFill>
          <a:blip r:embed="rId16"/>
          <a:stretch>
            <a:fillRect/>
          </a:stretch>
        </p:blipFill>
        <p:spPr>
          <a:xfrm>
            <a:off x="2649455" y="4437590"/>
            <a:ext cx="128699" cy="187198"/>
          </a:xfrm>
          <a:prstGeom prst="rect">
            <a:avLst/>
          </a:prstGeom>
        </p:spPr>
      </p:pic>
      <p:sp>
        <p:nvSpPr>
          <p:cNvPr id="76" name="TextBox 75"/>
          <p:cNvSpPr txBox="1"/>
          <p:nvPr/>
        </p:nvSpPr>
        <p:spPr>
          <a:xfrm>
            <a:off x="2816951"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6"/>
          <a:stretch>
            <a:fillRect/>
          </a:stretch>
        </p:blipFill>
        <p:spPr>
          <a:xfrm>
            <a:off x="3676401" y="4437590"/>
            <a:ext cx="128699" cy="187198"/>
          </a:xfrm>
          <a:prstGeom prst="rect">
            <a:avLst/>
          </a:prstGeom>
        </p:spPr>
      </p:pic>
      <p:sp>
        <p:nvSpPr>
          <p:cNvPr id="78" name="TextBox 77"/>
          <p:cNvSpPr txBox="1"/>
          <p:nvPr/>
        </p:nvSpPr>
        <p:spPr>
          <a:xfrm>
            <a:off x="3843897"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9" name="TextBox 78"/>
          <p:cNvSpPr txBox="1"/>
          <p:nvPr/>
        </p:nvSpPr>
        <p:spPr>
          <a:xfrm>
            <a:off x="485775" y="4665301"/>
            <a:ext cx="942776" cy="186689"/>
          </a:xfrm>
          <a:prstGeom prst="rect">
            <a:avLst/>
          </a:prstGeom>
          <a:noFill/>
        </p:spPr>
        <p:txBody>
          <a:bodyPr wrap="none" lIns="0" rIns="0" tIns="0" bIns="0">
            <a:spAutoFit/>
          </a:bodyPr>
          <a:lstStyle/>
          <a:p>
            <a:r>
              <a:rPr sz="1100" b="0">
                <a:solidFill>
                  <a:srgbClr val="2E2E2E"/>
                </a:solidFill>
                <a:latin typeface="Calibri"/>
              </a:rPr>
              <a:t>● Millet-based:</a:t>
            </a:r>
          </a:p>
        </p:txBody>
      </p:sp>
      <p:pic>
        <p:nvPicPr>
          <p:cNvPr id="80" name="Picture 79" descr="lock.png"/>
          <p:cNvPicPr>
            <a:picLocks noChangeAspect="1"/>
          </p:cNvPicPr>
          <p:nvPr/>
        </p:nvPicPr>
        <p:blipFill>
          <a:blip r:embed="rId16"/>
          <a:stretch>
            <a:fillRect/>
          </a:stretch>
        </p:blipFill>
        <p:spPr>
          <a:xfrm>
            <a:off x="1376603" y="4655522"/>
            <a:ext cx="128699" cy="187198"/>
          </a:xfrm>
          <a:prstGeom prst="rect">
            <a:avLst/>
          </a:prstGeom>
        </p:spPr>
      </p:pic>
      <p:sp>
        <p:nvSpPr>
          <p:cNvPr id="81" name="TextBox 80"/>
          <p:cNvSpPr txBox="1"/>
          <p:nvPr/>
        </p:nvSpPr>
        <p:spPr>
          <a:xfrm>
            <a:off x="154409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6"/>
          <a:stretch>
            <a:fillRect/>
          </a:stretch>
        </p:blipFill>
        <p:spPr>
          <a:xfrm>
            <a:off x="2403549" y="4655522"/>
            <a:ext cx="128699" cy="187198"/>
          </a:xfrm>
          <a:prstGeom prst="rect">
            <a:avLst/>
          </a:prstGeom>
        </p:spPr>
      </p:pic>
      <p:sp>
        <p:nvSpPr>
          <p:cNvPr id="83" name="TextBox 82"/>
          <p:cNvSpPr txBox="1"/>
          <p:nvPr/>
        </p:nvSpPr>
        <p:spPr>
          <a:xfrm>
            <a:off x="2571045"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4" name="TextBox 83"/>
          <p:cNvSpPr txBox="1"/>
          <p:nvPr/>
        </p:nvSpPr>
        <p:spPr>
          <a:xfrm>
            <a:off x="485775" y="4883233"/>
            <a:ext cx="2172245" cy="186689"/>
          </a:xfrm>
          <a:prstGeom prst="rect">
            <a:avLst/>
          </a:prstGeom>
          <a:noFill/>
        </p:spPr>
        <p:txBody>
          <a:bodyPr wrap="none" lIns="0" rIns="0" tIns="0" bIns="0">
            <a:spAutoFit/>
          </a:bodyPr>
          <a:lstStyle/>
          <a:p>
            <a:r>
              <a:rPr sz="1100" b="0">
                <a:solidFill>
                  <a:srgbClr val="2E2E2E"/>
                </a:solidFill>
                <a:latin typeface="Calibri"/>
              </a:rPr>
              <a:t>● Almond and other nut flour-based:</a:t>
            </a:r>
          </a:p>
        </p:txBody>
      </p:sp>
      <p:pic>
        <p:nvPicPr>
          <p:cNvPr id="85" name="Picture 84" descr="lock.png"/>
          <p:cNvPicPr>
            <a:picLocks noChangeAspect="1"/>
          </p:cNvPicPr>
          <p:nvPr/>
        </p:nvPicPr>
        <p:blipFill>
          <a:blip r:embed="rId16"/>
          <a:stretch>
            <a:fillRect/>
          </a:stretch>
        </p:blipFill>
        <p:spPr>
          <a:xfrm>
            <a:off x="2606072" y="4873454"/>
            <a:ext cx="128699" cy="187198"/>
          </a:xfrm>
          <a:prstGeom prst="rect">
            <a:avLst/>
          </a:prstGeom>
        </p:spPr>
      </p:pic>
      <p:sp>
        <p:nvSpPr>
          <p:cNvPr id="86" name="TextBox 85"/>
          <p:cNvSpPr txBox="1"/>
          <p:nvPr/>
        </p:nvSpPr>
        <p:spPr>
          <a:xfrm>
            <a:off x="2773568"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6"/>
          <a:stretch>
            <a:fillRect/>
          </a:stretch>
        </p:blipFill>
        <p:spPr>
          <a:xfrm>
            <a:off x="3633018" y="4873454"/>
            <a:ext cx="128699" cy="187198"/>
          </a:xfrm>
          <a:prstGeom prst="rect">
            <a:avLst/>
          </a:prstGeom>
        </p:spPr>
      </p:pic>
      <p:sp>
        <p:nvSpPr>
          <p:cNvPr id="88" name="TextBox 87"/>
          <p:cNvSpPr txBox="1"/>
          <p:nvPr/>
        </p:nvSpPr>
        <p:spPr>
          <a:xfrm>
            <a:off x="3800514"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Primary Flour Base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Flour Base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Flour Base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Flour Base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721225" cy="186689"/>
          </a:xfrm>
          <a:prstGeom prst="rect">
            <a:avLst/>
          </a:prstGeom>
          <a:noFill/>
        </p:spPr>
        <p:txBody>
          <a:bodyPr wrap="none" lIns="0" rIns="0" tIns="0" bIns="0">
            <a:spAutoFit/>
          </a:bodyPr>
          <a:lstStyle/>
          <a:p>
            <a:r>
              <a:rPr sz="1100" b="0">
                <a:solidFill>
                  <a:srgbClr val="2E2E2E"/>
                </a:solidFill>
                <a:latin typeface="Calibri"/>
              </a:rPr>
              <a:t>Between 2026 and 2036, 'Oat-based' gains the most share in the Global market (+</a:t>
            </a:r>
          </a:p>
        </p:txBody>
      </p:sp>
      <p:pic>
        <p:nvPicPr>
          <p:cNvPr id="21" name="Picture 20" descr="lock.png"/>
          <p:cNvPicPr>
            <a:picLocks noChangeAspect="1"/>
          </p:cNvPicPr>
          <p:nvPr/>
        </p:nvPicPr>
        <p:blipFill>
          <a:blip r:embed="rId6"/>
          <a:stretch>
            <a:fillRect/>
          </a:stretch>
        </p:blipFill>
        <p:spPr>
          <a:xfrm>
            <a:off x="4926451" y="5935726"/>
            <a:ext cx="128699" cy="187198"/>
          </a:xfrm>
          <a:prstGeom prst="rect">
            <a:avLst/>
          </a:prstGeom>
        </p:spPr>
      </p:pic>
      <p:sp>
        <p:nvSpPr>
          <p:cNvPr id="22" name="TextBox 21"/>
          <p:cNvSpPr txBox="1"/>
          <p:nvPr/>
        </p:nvSpPr>
        <p:spPr>
          <a:xfrm>
            <a:off x="5093947" y="5945505"/>
            <a:ext cx="1738684" cy="186689"/>
          </a:xfrm>
          <a:prstGeom prst="rect">
            <a:avLst/>
          </a:prstGeom>
          <a:noFill/>
        </p:spPr>
        <p:txBody>
          <a:bodyPr wrap="none" lIns="0" rIns="0" tIns="0" bIns="0">
            <a:spAutoFit/>
          </a:bodyPr>
          <a:lstStyle/>
          <a:p>
            <a:r>
              <a:rPr sz="1100" b="0">
                <a:solidFill>
                  <a:srgbClr val="2E2E2E"/>
                </a:solidFill>
                <a:latin typeface="Calibri"/>
              </a:rPr>
              <a:t>BPS) while 'Rice-based' cedes</a:t>
            </a:r>
          </a:p>
        </p:txBody>
      </p:sp>
      <p:pic>
        <p:nvPicPr>
          <p:cNvPr id="23" name="Picture 22" descr="lock.png"/>
          <p:cNvPicPr>
            <a:picLocks noChangeAspect="1"/>
          </p:cNvPicPr>
          <p:nvPr/>
        </p:nvPicPr>
        <p:blipFill>
          <a:blip r:embed="rId6"/>
          <a:stretch>
            <a:fillRect/>
          </a:stretch>
        </p:blipFill>
        <p:spPr>
          <a:xfrm>
            <a:off x="6780683" y="5935726"/>
            <a:ext cx="128699" cy="187198"/>
          </a:xfrm>
          <a:prstGeom prst="rect">
            <a:avLst/>
          </a:prstGeom>
        </p:spPr>
      </p:pic>
      <p:sp>
        <p:nvSpPr>
          <p:cNvPr id="24" name="TextBox 23"/>
          <p:cNvSpPr txBox="1"/>
          <p:nvPr/>
        </p:nvSpPr>
        <p:spPr>
          <a:xfrm>
            <a:off x="6948179"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Primary Flour Base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Flour Base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Wheat-based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Oat-based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Rice-based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Corn-based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Primary Flour Base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Flour Base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Millet-based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Almond and other nut flour-based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single-flour bases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Multigrain and blended flour bases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Primary Flour Base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Primary Flour Base,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895725"/>
          </a:xfrm>
          <a:prstGeom prst="roundRect">
            <a:avLst>
              <a:gd name="adj" fmla="val 19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Primary Flour Base (MT)</a:t>
            </a:r>
          </a:p>
        </p:txBody>
      </p:sp>
      <p:graphicFrame>
        <p:nvGraphicFramePr>
          <p:cNvPr id="13" name="Table 12"/>
          <p:cNvGraphicFramePr>
            <a:graphicFrameLocks noGrp="1"/>
          </p:cNvGraphicFramePr>
          <p:nvPr/>
        </p:nvGraphicFramePr>
        <p:xfrm>
          <a:off x="152400" y="1238250"/>
          <a:ext cx="11887208" cy="342899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Primary Flour Base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49">
                <a:tc>
                  <a:txBody>
                    <a:bodyPr wrap="none"/>
                    <a:lstStyle/>
                    <a:p>
                      <a:pPr algn="l"/>
                      <a:r>
                        <a:rPr sz="1100" b="1">
                          <a:solidFill>
                            <a:srgbClr val="2E2E2E"/>
                          </a:solidFill>
                          <a:latin typeface="Calibri"/>
                        </a:rPr>
                        <a:t>Wheat-based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49">
                <a:tc>
                  <a:txBody>
                    <a:bodyPr wrap="none"/>
                    <a:lstStyle/>
                    <a:p>
                      <a:pPr algn="l"/>
                      <a:r>
                        <a:rPr sz="1100" b="1">
                          <a:solidFill>
                            <a:srgbClr val="2E2E2E"/>
                          </a:solidFill>
                          <a:latin typeface="Calibri"/>
                        </a:rPr>
                        <a:t>Oat-based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49">
                <a:tc>
                  <a:txBody>
                    <a:bodyPr wrap="none"/>
                    <a:lstStyle/>
                    <a:p>
                      <a:pPr algn="l"/>
                      <a:r>
                        <a:rPr sz="1100" b="1">
                          <a:solidFill>
                            <a:srgbClr val="2E2E2E"/>
                          </a:solidFill>
                          <a:latin typeface="Calibri"/>
                        </a:rPr>
                        <a:t>Rice-based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49">
                <a:tc>
                  <a:txBody>
                    <a:bodyPr wrap="none"/>
                    <a:lstStyle/>
                    <a:p>
                      <a:pPr algn="l"/>
                      <a:r>
                        <a:rPr sz="1100" b="1">
                          <a:solidFill>
                            <a:srgbClr val="2E2E2E"/>
                          </a:solidFill>
                          <a:latin typeface="Calibri"/>
                        </a:rPr>
                        <a:t>Corn-based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49">
                <a:tc>
                  <a:txBody>
                    <a:bodyPr wrap="none"/>
                    <a:lstStyle/>
                    <a:p>
                      <a:pPr algn="l"/>
                      <a:r>
                        <a:rPr sz="1100" b="1">
                          <a:solidFill>
                            <a:srgbClr val="2E2E2E"/>
                          </a:solidFill>
                          <a:latin typeface="Calibri"/>
                        </a:rPr>
                        <a:t>Millet-based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335">
                <a:tc>
                  <a:txBody>
                    <a:bodyPr wrap="none"/>
                    <a:lstStyle/>
                    <a:p>
                      <a:pPr algn="l"/>
                      <a:r>
                        <a:rPr sz="1100" b="1">
                          <a:solidFill>
                            <a:srgbClr val="2E2E2E"/>
                          </a:solidFill>
                          <a:latin typeface="Calibri"/>
                        </a:rPr>
                        <a:t>Almond and other</a:t>
                      </a:r>
                      <a:endParaRPr sz="1100"/>
                    </a:p>
                    <a:p>
                      <a:pPr algn="l"/>
                      <a:r>
                        <a:rPr sz="1100" b="1">
                          <a:solidFill>
                            <a:srgbClr val="2E2E2E"/>
                          </a:solidFill>
                          <a:latin typeface="Calibri"/>
                        </a:rPr>
                        <a:t>nut flour-based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335">
                <a:tc>
                  <a:txBody>
                    <a:bodyPr wrap="none"/>
                    <a:lstStyle/>
                    <a:p>
                      <a:pPr algn="l"/>
                      <a:r>
                        <a:rPr sz="1100" b="1">
                          <a:solidFill>
                            <a:srgbClr val="2E2E2E"/>
                          </a:solidFill>
                          <a:latin typeface="Calibri"/>
                        </a:rPr>
                        <a:t>Other single-flour</a:t>
                      </a:r>
                      <a:endParaRPr sz="1100"/>
                    </a:p>
                    <a:p>
                      <a:pPr algn="l"/>
                      <a:r>
                        <a:rPr sz="1100" b="1">
                          <a:solidFill>
                            <a:srgbClr val="2E2E2E"/>
                          </a:solidFill>
                          <a:latin typeface="Calibri"/>
                        </a:rPr>
                        <a:t>bases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121">
                <a:tc>
                  <a:txBody>
                    <a:bodyPr wrap="none"/>
                    <a:lstStyle/>
                    <a:p>
                      <a:pPr algn="l"/>
                      <a:r>
                        <a:rPr sz="1100" b="1">
                          <a:solidFill>
                            <a:srgbClr val="2E2E2E"/>
                          </a:solidFill>
                          <a:latin typeface="Calibri"/>
                        </a:rPr>
                        <a:t>Multigrain and</a:t>
                      </a:r>
                      <a:endParaRPr sz="1100"/>
                    </a:p>
                    <a:p>
                      <a:pPr algn="l"/>
                      <a:r>
                        <a:rPr sz="1100" b="1">
                          <a:solidFill>
                            <a:srgbClr val="2E2E2E"/>
                          </a:solidFill>
                          <a:latin typeface="Calibri"/>
                        </a:rPr>
                        <a:t>blended flour</a:t>
                      </a:r>
                      <a:endParaRPr sz="1100"/>
                    </a:p>
                    <a:p>
                      <a:pPr algn="l"/>
                      <a:r>
                        <a:rPr sz="1100" b="1">
                          <a:solidFill>
                            <a:srgbClr val="2E2E2E"/>
                          </a:solidFill>
                          <a:latin typeface="Calibri"/>
                        </a:rPr>
                        <a:t>bases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49">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6767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10150"/>
            <a:ext cx="11906250" cy="1619250"/>
          </a:xfrm>
          <a:prstGeom prst="roundRect">
            <a:avLst>
              <a:gd name="adj" fmla="val 47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0958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Primary Flour Base</a:t>
            </a:r>
          </a:p>
        </p:txBody>
      </p:sp>
      <p:sp>
        <p:nvSpPr>
          <p:cNvPr id="17" name="Rectangle 16"/>
          <p:cNvSpPr/>
          <p:nvPr/>
        </p:nvSpPr>
        <p:spPr>
          <a:xfrm>
            <a:off x="276225" y="53340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19725"/>
            <a:ext cx="11639550" cy="1133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905504"/>
            <a:ext cx="366712" cy="533400"/>
          </a:xfrm>
          <a:prstGeom prst="rect">
            <a:avLst/>
          </a:prstGeom>
        </p:spPr>
      </p:pic>
      <p:sp>
        <p:nvSpPr>
          <p:cNvPr id="21" name="TextBox 20"/>
          <p:cNvSpPr txBox="1"/>
          <p:nvPr/>
        </p:nvSpPr>
        <p:spPr>
          <a:xfrm>
            <a:off x="276225" y="5429250"/>
            <a:ext cx="2905633" cy="194310"/>
          </a:xfrm>
          <a:prstGeom prst="rect">
            <a:avLst/>
          </a:prstGeom>
          <a:noFill/>
        </p:spPr>
        <p:txBody>
          <a:bodyPr wrap="none" lIns="0" rIns="0" tIns="0" bIns="0">
            <a:spAutoFit/>
          </a:bodyPr>
          <a:lstStyle/>
          <a:p>
            <a:r>
              <a:rPr sz="1150" b="0">
                <a:solidFill>
                  <a:srgbClr val="2E2E2E"/>
                </a:solidFill>
                <a:latin typeface="Calibri"/>
              </a:rPr>
              <a:t>▪ 'Oat-based' is the largest primary flour base at</a:t>
            </a:r>
          </a:p>
        </p:txBody>
      </p:sp>
      <p:pic>
        <p:nvPicPr>
          <p:cNvPr id="22" name="Picture 21" descr="lock.png"/>
          <p:cNvPicPr>
            <a:picLocks noChangeAspect="1"/>
          </p:cNvPicPr>
          <p:nvPr/>
        </p:nvPicPr>
        <p:blipFill>
          <a:blip r:embed="rId4"/>
          <a:stretch>
            <a:fillRect/>
          </a:stretch>
        </p:blipFill>
        <p:spPr>
          <a:xfrm>
            <a:off x="3131012" y="5419026"/>
            <a:ext cx="134549" cy="195707"/>
          </a:xfrm>
          <a:prstGeom prst="rect">
            <a:avLst/>
          </a:prstGeom>
        </p:spPr>
      </p:pic>
      <p:sp>
        <p:nvSpPr>
          <p:cNvPr id="23" name="TextBox 22"/>
          <p:cNvSpPr txBox="1"/>
          <p:nvPr/>
        </p:nvSpPr>
        <p:spPr>
          <a:xfrm>
            <a:off x="3306121" y="54292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335854" y="5419026"/>
            <a:ext cx="134549" cy="195707"/>
          </a:xfrm>
          <a:prstGeom prst="rect">
            <a:avLst/>
          </a:prstGeom>
        </p:spPr>
      </p:pic>
      <p:sp>
        <p:nvSpPr>
          <p:cNvPr id="25" name="TextBox 24"/>
          <p:cNvSpPr txBox="1"/>
          <p:nvPr/>
        </p:nvSpPr>
        <p:spPr>
          <a:xfrm>
            <a:off x="4510963" y="54292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5657088"/>
            <a:ext cx="1794854" cy="194310"/>
          </a:xfrm>
          <a:prstGeom prst="rect">
            <a:avLst/>
          </a:prstGeom>
          <a:noFill/>
        </p:spPr>
        <p:txBody>
          <a:bodyPr wrap="none" lIns="0" rIns="0" tIns="0" bIns="0">
            <a:spAutoFit/>
          </a:bodyPr>
          <a:lstStyle/>
          <a:p>
            <a:r>
              <a:rPr sz="1150" b="0">
                <a:solidFill>
                  <a:srgbClr val="2E2E2E"/>
                </a:solidFill>
                <a:latin typeface="Calibri"/>
              </a:rPr>
              <a:t>▪ 'Millet-based' grows fastest</a:t>
            </a:r>
          </a:p>
        </p:txBody>
      </p:sp>
      <p:pic>
        <p:nvPicPr>
          <p:cNvPr id="27" name="Picture 26" descr="lock.png"/>
          <p:cNvPicPr>
            <a:picLocks noChangeAspect="1"/>
          </p:cNvPicPr>
          <p:nvPr/>
        </p:nvPicPr>
        <p:blipFill>
          <a:blip r:embed="rId4"/>
          <a:stretch>
            <a:fillRect/>
          </a:stretch>
        </p:blipFill>
        <p:spPr>
          <a:xfrm>
            <a:off x="2020233" y="5646864"/>
            <a:ext cx="134549" cy="195707"/>
          </a:xfrm>
          <a:prstGeom prst="rect">
            <a:avLst/>
          </a:prstGeom>
        </p:spPr>
      </p:pic>
      <p:sp>
        <p:nvSpPr>
          <p:cNvPr id="28" name="TextBox 27"/>
          <p:cNvSpPr txBox="1"/>
          <p:nvPr/>
        </p:nvSpPr>
        <p:spPr>
          <a:xfrm>
            <a:off x="2195342" y="565708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884925"/>
            <a:ext cx="2171960" cy="194310"/>
          </a:xfrm>
          <a:prstGeom prst="rect">
            <a:avLst/>
          </a:prstGeom>
          <a:noFill/>
        </p:spPr>
        <p:txBody>
          <a:bodyPr wrap="none" lIns="0" rIns="0" tIns="0" bIns="0">
            <a:spAutoFit/>
          </a:bodyPr>
          <a:lstStyle/>
          <a:p>
            <a:r>
              <a:rPr sz="1150" b="0">
                <a:solidFill>
                  <a:srgbClr val="2E2E2E"/>
                </a:solidFill>
                <a:latin typeface="Calibri"/>
              </a:rPr>
              <a:t>▪ Share shifts toward 'Oat-based' (+</a:t>
            </a:r>
          </a:p>
        </p:txBody>
      </p:sp>
      <p:pic>
        <p:nvPicPr>
          <p:cNvPr id="30" name="Picture 29" descr="lock.png"/>
          <p:cNvPicPr>
            <a:picLocks noChangeAspect="1"/>
          </p:cNvPicPr>
          <p:nvPr/>
        </p:nvPicPr>
        <p:blipFill>
          <a:blip r:embed="rId4"/>
          <a:stretch>
            <a:fillRect/>
          </a:stretch>
        </p:blipFill>
        <p:spPr>
          <a:xfrm>
            <a:off x="2397339" y="5874702"/>
            <a:ext cx="134549" cy="195707"/>
          </a:xfrm>
          <a:prstGeom prst="rect">
            <a:avLst/>
          </a:prstGeom>
        </p:spPr>
      </p:pic>
      <p:sp>
        <p:nvSpPr>
          <p:cNvPr id="31" name="TextBox 30"/>
          <p:cNvSpPr txBox="1"/>
          <p:nvPr/>
        </p:nvSpPr>
        <p:spPr>
          <a:xfrm>
            <a:off x="2572448" y="5884925"/>
            <a:ext cx="3560861" cy="194310"/>
          </a:xfrm>
          <a:prstGeom prst="rect">
            <a:avLst/>
          </a:prstGeom>
          <a:noFill/>
        </p:spPr>
        <p:txBody>
          <a:bodyPr wrap="none" lIns="0" rIns="0" tIns="0" bIns="0">
            <a:spAutoFit/>
          </a:bodyPr>
          <a:lstStyle/>
          <a:p>
            <a:r>
              <a:rPr sz="1150" b="0">
                <a:solidFill>
                  <a:srgbClr val="2E2E2E"/>
                </a:solidFill>
                <a:latin typeface="Calibri"/>
              </a:rPr>
              <a:t>BPS) and away from 'Multigrain and blended flour bases' (-</a:t>
            </a:r>
          </a:p>
        </p:txBody>
      </p:sp>
      <p:pic>
        <p:nvPicPr>
          <p:cNvPr id="32" name="Picture 31" descr="lock.png"/>
          <p:cNvPicPr>
            <a:picLocks noChangeAspect="1"/>
          </p:cNvPicPr>
          <p:nvPr/>
        </p:nvPicPr>
        <p:blipFill>
          <a:blip r:embed="rId4"/>
          <a:stretch>
            <a:fillRect/>
          </a:stretch>
        </p:blipFill>
        <p:spPr>
          <a:xfrm>
            <a:off x="6082464" y="5874702"/>
            <a:ext cx="134549" cy="195707"/>
          </a:xfrm>
          <a:prstGeom prst="rect">
            <a:avLst/>
          </a:prstGeom>
        </p:spPr>
      </p:pic>
      <p:sp>
        <p:nvSpPr>
          <p:cNvPr id="33" name="TextBox 32"/>
          <p:cNvSpPr txBox="1"/>
          <p:nvPr/>
        </p:nvSpPr>
        <p:spPr>
          <a:xfrm>
            <a:off x="6257573" y="58849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61127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6102540"/>
            <a:ext cx="134549" cy="195707"/>
          </a:xfrm>
          <a:prstGeom prst="rect">
            <a:avLst/>
          </a:prstGeom>
        </p:spPr>
      </p:pic>
      <p:sp>
        <p:nvSpPr>
          <p:cNvPr id="36" name="TextBox 35"/>
          <p:cNvSpPr txBox="1"/>
          <p:nvPr/>
        </p:nvSpPr>
        <p:spPr>
          <a:xfrm>
            <a:off x="1965143" y="61127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6102540"/>
            <a:ext cx="134549" cy="195707"/>
          </a:xfrm>
          <a:prstGeom prst="rect">
            <a:avLst/>
          </a:prstGeom>
        </p:spPr>
      </p:pic>
      <p:sp>
        <p:nvSpPr>
          <p:cNvPr id="38" name="TextBox 37"/>
          <p:cNvSpPr txBox="1"/>
          <p:nvPr/>
        </p:nvSpPr>
        <p:spPr>
          <a:xfrm>
            <a:off x="2291688" y="6112763"/>
            <a:ext cx="1470521" cy="194310"/>
          </a:xfrm>
          <a:prstGeom prst="rect">
            <a:avLst/>
          </a:prstGeom>
          <a:noFill/>
        </p:spPr>
        <p:txBody>
          <a:bodyPr wrap="none" lIns="0" rIns="0" tIns="0" bIns="0">
            <a:spAutoFit/>
          </a:bodyPr>
          <a:lstStyle/>
          <a:p>
            <a:r>
              <a:rPr sz="1150" b="0">
                <a:solidFill>
                  <a:srgbClr val="2E2E2E"/>
                </a:solidFill>
                <a:latin typeface="Calibri"/>
              </a:rPr>
              <a:t>MT across 8 categories.</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Primary Flour Base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Flour Base,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Primary Flour Base (US$ Mn)</a:t>
            </a:r>
          </a:p>
        </p:txBody>
      </p:sp>
      <p:graphicFrame>
        <p:nvGraphicFramePr>
          <p:cNvPr id="13" name="Table 12"/>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264040"/>
                <a:gridCol w="566068"/>
                <a:gridCol w="566068"/>
                <a:gridCol w="566068"/>
                <a:gridCol w="566068"/>
                <a:gridCol w="566068"/>
                <a:gridCol w="566068"/>
                <a:gridCol w="566068"/>
                <a:gridCol w="566068"/>
                <a:gridCol w="566068"/>
                <a:gridCol w="566068"/>
                <a:gridCol w="566068"/>
                <a:gridCol w="566068"/>
                <a:gridCol w="566068"/>
                <a:gridCol w="566068"/>
                <a:gridCol w="566068"/>
                <a:gridCol w="566068"/>
                <a:gridCol w="566068"/>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Primary Flour Base</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41327" y="2328100"/>
            <a:ext cx="366712" cy="533400"/>
          </a:xfrm>
          <a:prstGeom prst="rect">
            <a:avLst/>
          </a:prstGeom>
        </p:spPr>
      </p:pic>
      <p:sp>
        <p:nvSpPr>
          <p:cNvPr id="21" name="TextBox 20"/>
          <p:cNvSpPr txBox="1"/>
          <p:nvPr/>
        </p:nvSpPr>
        <p:spPr>
          <a:xfrm>
            <a:off x="276225" y="4467225"/>
            <a:ext cx="2905633" cy="194310"/>
          </a:xfrm>
          <a:prstGeom prst="rect">
            <a:avLst/>
          </a:prstGeom>
          <a:noFill/>
        </p:spPr>
        <p:txBody>
          <a:bodyPr wrap="none" lIns="0" rIns="0" tIns="0" bIns="0">
            <a:spAutoFit/>
          </a:bodyPr>
          <a:lstStyle/>
          <a:p>
            <a:r>
              <a:rPr sz="1150" b="0">
                <a:solidFill>
                  <a:srgbClr val="2E2E2E"/>
                </a:solidFill>
                <a:latin typeface="Calibri"/>
              </a:rPr>
              <a:t>▪ 'Oat-based' is the largest primary flour base at</a:t>
            </a:r>
          </a:p>
        </p:txBody>
      </p:sp>
      <p:pic>
        <p:nvPicPr>
          <p:cNvPr id="22" name="Picture 21" descr="lock.png"/>
          <p:cNvPicPr>
            <a:picLocks noChangeAspect="1"/>
          </p:cNvPicPr>
          <p:nvPr/>
        </p:nvPicPr>
        <p:blipFill>
          <a:blip r:embed="rId4"/>
          <a:stretch>
            <a:fillRect/>
          </a:stretch>
        </p:blipFill>
        <p:spPr>
          <a:xfrm>
            <a:off x="3131012" y="4457001"/>
            <a:ext cx="134549" cy="195707"/>
          </a:xfrm>
          <a:prstGeom prst="rect">
            <a:avLst/>
          </a:prstGeom>
        </p:spPr>
      </p:pic>
      <p:sp>
        <p:nvSpPr>
          <p:cNvPr id="23" name="TextBox 22"/>
          <p:cNvSpPr txBox="1"/>
          <p:nvPr/>
        </p:nvSpPr>
        <p:spPr>
          <a:xfrm>
            <a:off x="3306121" y="44672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212054" y="4457001"/>
            <a:ext cx="134549" cy="195707"/>
          </a:xfrm>
          <a:prstGeom prst="rect">
            <a:avLst/>
          </a:prstGeom>
        </p:spPr>
      </p:pic>
      <p:sp>
        <p:nvSpPr>
          <p:cNvPr id="25" name="TextBox 24"/>
          <p:cNvSpPr txBox="1"/>
          <p:nvPr/>
        </p:nvSpPr>
        <p:spPr>
          <a:xfrm>
            <a:off x="4387163" y="44672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695063"/>
            <a:ext cx="1794854" cy="194310"/>
          </a:xfrm>
          <a:prstGeom prst="rect">
            <a:avLst/>
          </a:prstGeom>
          <a:noFill/>
        </p:spPr>
        <p:txBody>
          <a:bodyPr wrap="none" lIns="0" rIns="0" tIns="0" bIns="0">
            <a:spAutoFit/>
          </a:bodyPr>
          <a:lstStyle/>
          <a:p>
            <a:r>
              <a:rPr sz="1150" b="0">
                <a:solidFill>
                  <a:srgbClr val="2E2E2E"/>
                </a:solidFill>
                <a:latin typeface="Calibri"/>
              </a:rPr>
              <a:t>▪ 'Millet-based' grows fastest</a:t>
            </a:r>
          </a:p>
        </p:txBody>
      </p:sp>
      <p:pic>
        <p:nvPicPr>
          <p:cNvPr id="27" name="Picture 26" descr="lock.png"/>
          <p:cNvPicPr>
            <a:picLocks noChangeAspect="1"/>
          </p:cNvPicPr>
          <p:nvPr/>
        </p:nvPicPr>
        <p:blipFill>
          <a:blip r:embed="rId4"/>
          <a:stretch>
            <a:fillRect/>
          </a:stretch>
        </p:blipFill>
        <p:spPr>
          <a:xfrm>
            <a:off x="2020233" y="4684839"/>
            <a:ext cx="134549" cy="195707"/>
          </a:xfrm>
          <a:prstGeom prst="rect">
            <a:avLst/>
          </a:prstGeom>
        </p:spPr>
      </p:pic>
      <p:sp>
        <p:nvSpPr>
          <p:cNvPr id="28" name="TextBox 27"/>
          <p:cNvSpPr txBox="1"/>
          <p:nvPr/>
        </p:nvSpPr>
        <p:spPr>
          <a:xfrm>
            <a:off x="2195342" y="46950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922900"/>
            <a:ext cx="2171960" cy="194310"/>
          </a:xfrm>
          <a:prstGeom prst="rect">
            <a:avLst/>
          </a:prstGeom>
          <a:noFill/>
        </p:spPr>
        <p:txBody>
          <a:bodyPr wrap="none" lIns="0" rIns="0" tIns="0" bIns="0">
            <a:spAutoFit/>
          </a:bodyPr>
          <a:lstStyle/>
          <a:p>
            <a:r>
              <a:rPr sz="1150" b="0">
                <a:solidFill>
                  <a:srgbClr val="2E2E2E"/>
                </a:solidFill>
                <a:latin typeface="Calibri"/>
              </a:rPr>
              <a:t>▪ Share shifts toward 'Oat-based' (+</a:t>
            </a:r>
          </a:p>
        </p:txBody>
      </p:sp>
      <p:pic>
        <p:nvPicPr>
          <p:cNvPr id="30" name="Picture 29" descr="lock.png"/>
          <p:cNvPicPr>
            <a:picLocks noChangeAspect="1"/>
          </p:cNvPicPr>
          <p:nvPr/>
        </p:nvPicPr>
        <p:blipFill>
          <a:blip r:embed="rId4"/>
          <a:stretch>
            <a:fillRect/>
          </a:stretch>
        </p:blipFill>
        <p:spPr>
          <a:xfrm>
            <a:off x="2397339" y="4912677"/>
            <a:ext cx="134549" cy="195707"/>
          </a:xfrm>
          <a:prstGeom prst="rect">
            <a:avLst/>
          </a:prstGeom>
        </p:spPr>
      </p:pic>
      <p:sp>
        <p:nvSpPr>
          <p:cNvPr id="31" name="TextBox 30"/>
          <p:cNvSpPr txBox="1"/>
          <p:nvPr/>
        </p:nvSpPr>
        <p:spPr>
          <a:xfrm>
            <a:off x="2572448" y="4922900"/>
            <a:ext cx="2130028" cy="194310"/>
          </a:xfrm>
          <a:prstGeom prst="rect">
            <a:avLst/>
          </a:prstGeom>
          <a:noFill/>
        </p:spPr>
        <p:txBody>
          <a:bodyPr wrap="none" lIns="0" rIns="0" tIns="0" bIns="0">
            <a:spAutoFit/>
          </a:bodyPr>
          <a:lstStyle/>
          <a:p>
            <a:r>
              <a:rPr sz="1150" b="0">
                <a:solidFill>
                  <a:srgbClr val="2E2E2E"/>
                </a:solidFill>
                <a:latin typeface="Calibri"/>
              </a:rPr>
              <a:t>BPS) and away from 'Rice-based' (-</a:t>
            </a:r>
          </a:p>
        </p:txBody>
      </p:sp>
      <p:pic>
        <p:nvPicPr>
          <p:cNvPr id="32" name="Picture 31" descr="lock.png"/>
          <p:cNvPicPr>
            <a:picLocks noChangeAspect="1"/>
          </p:cNvPicPr>
          <p:nvPr/>
        </p:nvPicPr>
        <p:blipFill>
          <a:blip r:embed="rId4"/>
          <a:stretch>
            <a:fillRect/>
          </a:stretch>
        </p:blipFill>
        <p:spPr>
          <a:xfrm>
            <a:off x="4651630" y="4912677"/>
            <a:ext cx="134549" cy="195707"/>
          </a:xfrm>
          <a:prstGeom prst="rect">
            <a:avLst/>
          </a:prstGeom>
        </p:spPr>
      </p:pic>
      <p:sp>
        <p:nvSpPr>
          <p:cNvPr id="33" name="TextBox 32"/>
          <p:cNvSpPr txBox="1"/>
          <p:nvPr/>
        </p:nvSpPr>
        <p:spPr>
          <a:xfrm>
            <a:off x="4826739" y="49229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1507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5140515"/>
            <a:ext cx="134549" cy="195707"/>
          </a:xfrm>
          <a:prstGeom prst="rect">
            <a:avLst/>
          </a:prstGeom>
        </p:spPr>
      </p:pic>
      <p:sp>
        <p:nvSpPr>
          <p:cNvPr id="36" name="TextBox 35"/>
          <p:cNvSpPr txBox="1"/>
          <p:nvPr/>
        </p:nvSpPr>
        <p:spPr>
          <a:xfrm>
            <a:off x="1841342" y="51507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5140515"/>
            <a:ext cx="134549" cy="195707"/>
          </a:xfrm>
          <a:prstGeom prst="rect">
            <a:avLst/>
          </a:prstGeom>
        </p:spPr>
      </p:pic>
      <p:sp>
        <p:nvSpPr>
          <p:cNvPr id="38" name="TextBox 37"/>
          <p:cNvSpPr txBox="1"/>
          <p:nvPr/>
        </p:nvSpPr>
        <p:spPr>
          <a:xfrm>
            <a:off x="2167888" y="5150738"/>
            <a:ext cx="1744079" cy="194310"/>
          </a:xfrm>
          <a:prstGeom prst="rect">
            <a:avLst/>
          </a:prstGeom>
          <a:noFill/>
        </p:spPr>
        <p:txBody>
          <a:bodyPr wrap="none" lIns="0" rIns="0" tIns="0" bIns="0">
            <a:spAutoFit/>
          </a:bodyPr>
          <a:lstStyle/>
          <a:p>
            <a:r>
              <a:rPr sz="1150" b="0">
                <a:solidFill>
                  <a:srgbClr val="2E2E2E"/>
                </a:solidFill>
                <a:latin typeface="Calibri"/>
              </a:rPr>
              <a:t>US$ Mn across 8 categories.</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Primary Flour Base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Flour Base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Primary Flour Base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34191"/>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294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532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Almond and other nut flour-based</a:t>
            </a:r>
          </a:p>
        </p:txBody>
      </p:sp>
      <p:sp>
        <p:nvSpPr>
          <p:cNvPr id="19" name="BPS Value 1"/>
          <p:cNvSpPr txBox="1"/>
          <p:nvPr/>
        </p:nvSpPr>
        <p:spPr>
          <a:xfrm>
            <a:off x="6896100" y="171514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1923900"/>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19191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8429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Multigrain and blended flour bases</a:t>
            </a:r>
          </a:p>
        </p:txBody>
      </p:sp>
      <p:sp>
        <p:nvSpPr>
          <p:cNvPr id="23" name="BPS Value 2"/>
          <p:cNvSpPr txBox="1"/>
          <p:nvPr/>
        </p:nvSpPr>
        <p:spPr>
          <a:xfrm>
            <a:off x="6896100" y="190485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23577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23101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5481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Millet-based</a:t>
            </a:r>
          </a:p>
        </p:txBody>
      </p:sp>
      <p:sp>
        <p:nvSpPr>
          <p:cNvPr id="27" name="BPS Value 3"/>
          <p:cNvSpPr txBox="1"/>
          <p:nvPr/>
        </p:nvSpPr>
        <p:spPr>
          <a:xfrm>
            <a:off x="6896100" y="221672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271673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7119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6357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single-flour bases</a:t>
            </a:r>
          </a:p>
        </p:txBody>
      </p:sp>
      <p:sp>
        <p:nvSpPr>
          <p:cNvPr id="31" name="BPS Value 4"/>
          <p:cNvSpPr txBox="1"/>
          <p:nvPr/>
        </p:nvSpPr>
        <p:spPr>
          <a:xfrm>
            <a:off x="6896100" y="269768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336062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35586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2796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Corn-based</a:t>
            </a:r>
          </a:p>
        </p:txBody>
      </p:sp>
      <p:sp>
        <p:nvSpPr>
          <p:cNvPr id="35" name="BPS Value 5"/>
          <p:cNvSpPr txBox="1"/>
          <p:nvPr/>
        </p:nvSpPr>
        <p:spPr>
          <a:xfrm>
            <a:off x="6896100" y="334157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09069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0859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0097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Rice-based</a:t>
            </a:r>
          </a:p>
        </p:txBody>
      </p:sp>
      <p:sp>
        <p:nvSpPr>
          <p:cNvPr id="39" name="BPS Value 6"/>
          <p:cNvSpPr txBox="1"/>
          <p:nvPr/>
        </p:nvSpPr>
        <p:spPr>
          <a:xfrm>
            <a:off x="6896100" y="40716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FMI Legend Chip"/>
          <p:cNvSpPr/>
          <p:nvPr/>
        </p:nvSpPr>
        <p:spPr>
          <a:xfrm>
            <a:off x="4928997" y="485916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48543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7781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Wheat-based</a:t>
            </a:r>
          </a:p>
        </p:txBody>
      </p:sp>
      <p:sp>
        <p:nvSpPr>
          <p:cNvPr id="43" name="BPS Value 7"/>
          <p:cNvSpPr txBox="1"/>
          <p:nvPr/>
        </p:nvSpPr>
        <p:spPr>
          <a:xfrm>
            <a:off x="6896100" y="484011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4" name="FMI Legend Chip"/>
          <p:cNvSpPr/>
          <p:nvPr/>
        </p:nvSpPr>
        <p:spPr>
          <a:xfrm>
            <a:off x="4928997" y="57446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3985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636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Oat-based</a:t>
            </a:r>
          </a:p>
        </p:txBody>
      </p:sp>
      <p:sp>
        <p:nvSpPr>
          <p:cNvPr id="47" name="BPS Value 8"/>
          <p:cNvSpPr txBox="1"/>
          <p:nvPr/>
        </p:nvSpPr>
        <p:spPr>
          <a:xfrm>
            <a:off x="6896100" y="572556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Primary Flour Base</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lock.png"/>
          <p:cNvPicPr>
            <a:picLocks noChangeAspect="1"/>
          </p:cNvPicPr>
          <p:nvPr/>
        </p:nvPicPr>
        <p:blipFill>
          <a:blip r:embed="rId5"/>
          <a:stretch>
            <a:fillRect/>
          </a:stretch>
        </p:blipFill>
        <p:spPr>
          <a:xfrm>
            <a:off x="2557843" y="3833622"/>
            <a:ext cx="275034" cy="400050"/>
          </a:xfrm>
          <a:prstGeom prst="rect">
            <a:avLst/>
          </a:prstGeom>
        </p:spPr>
      </p:pic>
      <p:sp>
        <p:nvSpPr>
          <p:cNvPr id="54" name="TextBox 53"/>
          <p:cNvSpPr txBox="1"/>
          <p:nvPr/>
        </p:nvSpPr>
        <p:spPr>
          <a:xfrm>
            <a:off x="7829550" y="1400175"/>
            <a:ext cx="2209043" cy="194310"/>
          </a:xfrm>
          <a:prstGeom prst="rect">
            <a:avLst/>
          </a:prstGeom>
          <a:noFill/>
        </p:spPr>
        <p:txBody>
          <a:bodyPr wrap="none" lIns="0" rIns="0" tIns="0" bIns="0">
            <a:spAutoFit/>
          </a:bodyPr>
          <a:lstStyle/>
          <a:p>
            <a:r>
              <a:rPr sz="1150" b="0">
                <a:solidFill>
                  <a:srgbClr val="2E2E2E"/>
                </a:solidFill>
                <a:latin typeface="Calibri"/>
              </a:rPr>
              <a:t>▪ 'Oat-based' gains the most share +</a:t>
            </a:r>
          </a:p>
        </p:txBody>
      </p:sp>
      <p:pic>
        <p:nvPicPr>
          <p:cNvPr id="55" name="Picture 54" descr="lock.png"/>
          <p:cNvPicPr>
            <a:picLocks noChangeAspect="1"/>
          </p:cNvPicPr>
          <p:nvPr/>
        </p:nvPicPr>
        <p:blipFill>
          <a:blip r:embed="rId5"/>
          <a:stretch>
            <a:fillRect/>
          </a:stretch>
        </p:blipFill>
        <p:spPr>
          <a:xfrm>
            <a:off x="9987747" y="1389951"/>
            <a:ext cx="134549" cy="195707"/>
          </a:xfrm>
          <a:prstGeom prst="rect">
            <a:avLst/>
          </a:prstGeom>
        </p:spPr>
      </p:pic>
      <p:sp>
        <p:nvSpPr>
          <p:cNvPr id="56" name="TextBox 55"/>
          <p:cNvSpPr txBox="1"/>
          <p:nvPr/>
        </p:nvSpPr>
        <p:spPr>
          <a:xfrm>
            <a:off x="10162856"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57" name="TextBox 56"/>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58" name="TextBox 57"/>
          <p:cNvSpPr txBox="1"/>
          <p:nvPr/>
        </p:nvSpPr>
        <p:spPr>
          <a:xfrm>
            <a:off x="7829550" y="1803273"/>
            <a:ext cx="1887562" cy="194310"/>
          </a:xfrm>
          <a:prstGeom prst="rect">
            <a:avLst/>
          </a:prstGeom>
          <a:noFill/>
        </p:spPr>
        <p:txBody>
          <a:bodyPr wrap="none" lIns="0" rIns="0" tIns="0" bIns="0">
            <a:spAutoFit/>
          </a:bodyPr>
          <a:lstStyle/>
          <a:p>
            <a:r>
              <a:rPr sz="1150" b="0">
                <a:solidFill>
                  <a:srgbClr val="2E2E2E"/>
                </a:solidFill>
                <a:latin typeface="Calibri"/>
              </a:rPr>
              <a:t>▪ 'Rice-based' cedes the most -</a:t>
            </a:r>
          </a:p>
        </p:txBody>
      </p:sp>
      <p:pic>
        <p:nvPicPr>
          <p:cNvPr id="59" name="Picture 58" descr="lock.png"/>
          <p:cNvPicPr>
            <a:picLocks noChangeAspect="1"/>
          </p:cNvPicPr>
          <p:nvPr/>
        </p:nvPicPr>
        <p:blipFill>
          <a:blip r:embed="rId5"/>
          <a:stretch>
            <a:fillRect/>
          </a:stretch>
        </p:blipFill>
        <p:spPr>
          <a:xfrm>
            <a:off x="9666266" y="1793049"/>
            <a:ext cx="134549" cy="195707"/>
          </a:xfrm>
          <a:prstGeom prst="rect">
            <a:avLst/>
          </a:prstGeom>
        </p:spPr>
      </p:pic>
      <p:sp>
        <p:nvSpPr>
          <p:cNvPr id="60" name="TextBox 59"/>
          <p:cNvSpPr txBox="1"/>
          <p:nvPr/>
        </p:nvSpPr>
        <p:spPr>
          <a:xfrm>
            <a:off x="9841375"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61" name="TextBox 60"/>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62" name="TextBox 61"/>
          <p:cNvSpPr txBox="1"/>
          <p:nvPr/>
        </p:nvSpPr>
        <p:spPr>
          <a:xfrm>
            <a:off x="7829550" y="2206371"/>
            <a:ext cx="3560005" cy="194310"/>
          </a:xfrm>
          <a:prstGeom prst="rect">
            <a:avLst/>
          </a:prstGeom>
          <a:noFill/>
        </p:spPr>
        <p:txBody>
          <a:bodyPr wrap="none" lIns="0" rIns="0" tIns="0" bIns="0">
            <a:spAutoFit/>
          </a:bodyPr>
          <a:lstStyle/>
          <a:p>
            <a:r>
              <a:rPr sz="1150" b="0">
                <a:solidFill>
                  <a:srgbClr val="2E2E2E"/>
                </a:solidFill>
                <a:latin typeface="Calibri"/>
              </a:rPr>
              <a:t>▪ 'Millet-based' is the fastest-growing primary flour base at</a:t>
            </a:r>
          </a:p>
        </p:txBody>
      </p:sp>
      <p:pic>
        <p:nvPicPr>
          <p:cNvPr id="63" name="Picture 62" descr="lock.png"/>
          <p:cNvPicPr>
            <a:picLocks noChangeAspect="1"/>
          </p:cNvPicPr>
          <p:nvPr/>
        </p:nvPicPr>
        <p:blipFill>
          <a:blip r:embed="rId5"/>
          <a:stretch>
            <a:fillRect/>
          </a:stretch>
        </p:blipFill>
        <p:spPr>
          <a:xfrm>
            <a:off x="11338709" y="2196147"/>
            <a:ext cx="134549" cy="195707"/>
          </a:xfrm>
          <a:prstGeom prst="rect">
            <a:avLst/>
          </a:prstGeom>
        </p:spPr>
      </p:pic>
      <p:sp>
        <p:nvSpPr>
          <p:cNvPr id="64" name="TextBox 63"/>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5" name="TextBox 64"/>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66" name="Picture 65" descr="lock.png"/>
          <p:cNvPicPr>
            <a:picLocks noChangeAspect="1"/>
          </p:cNvPicPr>
          <p:nvPr/>
        </p:nvPicPr>
        <p:blipFill>
          <a:blip r:embed="rId5"/>
          <a:stretch>
            <a:fillRect/>
          </a:stretch>
        </p:blipFill>
        <p:spPr>
          <a:xfrm>
            <a:off x="9327669" y="2599245"/>
            <a:ext cx="134549" cy="195707"/>
          </a:xfrm>
          <a:prstGeom prst="rect">
            <a:avLst/>
          </a:prstGeom>
        </p:spPr>
      </p:pic>
      <p:sp>
        <p:nvSpPr>
          <p:cNvPr id="67" name="TextBox 66"/>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8" name="Picture 67" descr="lock.png"/>
          <p:cNvPicPr>
            <a:picLocks noChangeAspect="1"/>
          </p:cNvPicPr>
          <p:nvPr/>
        </p:nvPicPr>
        <p:blipFill>
          <a:blip r:embed="rId5"/>
          <a:stretch>
            <a:fillRect/>
          </a:stretch>
        </p:blipFill>
        <p:spPr>
          <a:xfrm>
            <a:off x="9654215" y="2599245"/>
            <a:ext cx="134549" cy="195707"/>
          </a:xfrm>
          <a:prstGeom prst="rect">
            <a:avLst/>
          </a:prstGeom>
        </p:spPr>
      </p:pic>
      <p:sp>
        <p:nvSpPr>
          <p:cNvPr id="69" name="TextBox 68"/>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70" name="TextBox 69"/>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71" name="TextBox 70"/>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7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Primary Flour Base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Primary Flour Base,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2461476"/>
                <a:gridCol w="628382"/>
                <a:gridCol w="628382"/>
                <a:gridCol w="628382"/>
                <a:gridCol w="628382"/>
                <a:gridCol w="628382"/>
                <a:gridCol w="628382"/>
                <a:gridCol w="628382"/>
                <a:gridCol w="628382"/>
                <a:gridCol w="628382"/>
                <a:gridCol w="628382"/>
                <a:gridCol w="628382"/>
                <a:gridCol w="628382"/>
                <a:gridCol w="628382"/>
                <a:gridCol w="628382"/>
                <a:gridCol w="62838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Primary Flour Base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Wheat-based</a:t>
            </a:r>
          </a:p>
        </p:txBody>
      </p:sp>
      <p:sp>
        <p:nvSpPr>
          <p:cNvPr id="33" name="Rectangle 32"/>
          <p:cNvSpPr/>
          <p:nvPr/>
        </p:nvSpPr>
        <p:spPr>
          <a:xfrm>
            <a:off x="1857375" y="4229100"/>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Oat-based</a:t>
            </a:r>
          </a:p>
        </p:txBody>
      </p:sp>
      <p:sp>
        <p:nvSpPr>
          <p:cNvPr id="49" name="Rectangle 48"/>
          <p:cNvSpPr/>
          <p:nvPr/>
        </p:nvSpPr>
        <p:spPr>
          <a:xfrm>
            <a:off x="1857375" y="4521994"/>
            <a:ext cx="643890" cy="29289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Rice-based</a:t>
            </a:r>
          </a:p>
        </p:txBody>
      </p:sp>
      <p:sp>
        <p:nvSpPr>
          <p:cNvPr id="65" name="Rectangle 64"/>
          <p:cNvSpPr/>
          <p:nvPr/>
        </p:nvSpPr>
        <p:spPr>
          <a:xfrm>
            <a:off x="185737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Corn-based</a:t>
            </a:r>
          </a:p>
        </p:txBody>
      </p:sp>
      <p:sp>
        <p:nvSpPr>
          <p:cNvPr id="81" name="Rectangle 80"/>
          <p:cNvSpPr/>
          <p:nvPr/>
        </p:nvSpPr>
        <p:spPr>
          <a:xfrm>
            <a:off x="1857375" y="5107781"/>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Millet-based</a:t>
            </a:r>
          </a:p>
        </p:txBody>
      </p:sp>
      <p:sp>
        <p:nvSpPr>
          <p:cNvPr id="97" name="Rectangle 96"/>
          <p:cNvSpPr/>
          <p:nvPr/>
        </p:nvSpPr>
        <p:spPr>
          <a:xfrm>
            <a:off x="1857375" y="5400675"/>
            <a:ext cx="643890" cy="29289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Almond and other nut flour-based</a:t>
            </a:r>
          </a:p>
        </p:txBody>
      </p:sp>
      <p:sp>
        <p:nvSpPr>
          <p:cNvPr id="113" name="Rectangle 112"/>
          <p:cNvSpPr/>
          <p:nvPr/>
        </p:nvSpPr>
        <p:spPr>
          <a:xfrm>
            <a:off x="1857375" y="5693569"/>
            <a:ext cx="643890" cy="29289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Other single-flour bases</a:t>
            </a:r>
          </a:p>
        </p:txBody>
      </p:sp>
      <p:sp>
        <p:nvSpPr>
          <p:cNvPr id="129" name="Rectangle 128"/>
          <p:cNvSpPr/>
          <p:nvPr/>
        </p:nvSpPr>
        <p:spPr>
          <a:xfrm>
            <a:off x="1857375" y="5986462"/>
            <a:ext cx="643890" cy="29289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Multigrain and blended flour bases</a:t>
            </a:r>
          </a:p>
        </p:txBody>
      </p:sp>
      <p:sp>
        <p:nvSpPr>
          <p:cNvPr id="145" name="Rectangle 144"/>
          <p:cNvSpPr/>
          <p:nvPr/>
        </p:nvSpPr>
        <p:spPr>
          <a:xfrm>
            <a:off x="185737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40051" y="2204276"/>
            <a:ext cx="366712" cy="533400"/>
          </a:xfrm>
          <a:prstGeom prst="rect">
            <a:avLst/>
          </a:prstGeom>
        </p:spPr>
      </p:pic>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Primary Flour Base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Flour Base,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2461476"/>
                <a:gridCol w="628382"/>
                <a:gridCol w="628382"/>
                <a:gridCol w="628382"/>
                <a:gridCol w="628382"/>
                <a:gridCol w="628382"/>
                <a:gridCol w="628382"/>
                <a:gridCol w="628382"/>
                <a:gridCol w="628382"/>
                <a:gridCol w="628382"/>
                <a:gridCol w="628382"/>
                <a:gridCol w="628382"/>
                <a:gridCol w="628382"/>
                <a:gridCol w="628382"/>
                <a:gridCol w="628382"/>
                <a:gridCol w="62838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Primary Flour Base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Wheat-based</a:t>
            </a:r>
          </a:p>
        </p:txBody>
      </p:sp>
      <p:sp>
        <p:nvSpPr>
          <p:cNvPr id="33" name="Rectangle 32"/>
          <p:cNvSpPr/>
          <p:nvPr/>
        </p:nvSpPr>
        <p:spPr>
          <a:xfrm>
            <a:off x="1857375" y="4229100"/>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Oat-based</a:t>
            </a:r>
          </a:p>
        </p:txBody>
      </p:sp>
      <p:sp>
        <p:nvSpPr>
          <p:cNvPr id="49" name="Rectangle 48"/>
          <p:cNvSpPr/>
          <p:nvPr/>
        </p:nvSpPr>
        <p:spPr>
          <a:xfrm>
            <a:off x="1857375" y="4521994"/>
            <a:ext cx="643890" cy="29289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Rice-based</a:t>
            </a:r>
          </a:p>
        </p:txBody>
      </p:sp>
      <p:sp>
        <p:nvSpPr>
          <p:cNvPr id="65" name="Rectangle 64"/>
          <p:cNvSpPr/>
          <p:nvPr/>
        </p:nvSpPr>
        <p:spPr>
          <a:xfrm>
            <a:off x="185737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Corn-based</a:t>
            </a:r>
          </a:p>
        </p:txBody>
      </p:sp>
      <p:sp>
        <p:nvSpPr>
          <p:cNvPr id="81" name="Rectangle 80"/>
          <p:cNvSpPr/>
          <p:nvPr/>
        </p:nvSpPr>
        <p:spPr>
          <a:xfrm>
            <a:off x="1857375" y="5107781"/>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Millet-based</a:t>
            </a:r>
          </a:p>
        </p:txBody>
      </p:sp>
      <p:sp>
        <p:nvSpPr>
          <p:cNvPr id="97" name="Rectangle 96"/>
          <p:cNvSpPr/>
          <p:nvPr/>
        </p:nvSpPr>
        <p:spPr>
          <a:xfrm>
            <a:off x="1857375" y="5400675"/>
            <a:ext cx="643890" cy="292894"/>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Almond and other nut flour-based</a:t>
            </a:r>
          </a:p>
        </p:txBody>
      </p:sp>
      <p:sp>
        <p:nvSpPr>
          <p:cNvPr id="113" name="Rectangle 112"/>
          <p:cNvSpPr/>
          <p:nvPr/>
        </p:nvSpPr>
        <p:spPr>
          <a:xfrm>
            <a:off x="1857375" y="5693569"/>
            <a:ext cx="643890" cy="29289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Other single-flour bases</a:t>
            </a:r>
          </a:p>
        </p:txBody>
      </p:sp>
      <p:sp>
        <p:nvSpPr>
          <p:cNvPr id="129" name="Rectangle 128"/>
          <p:cNvSpPr/>
          <p:nvPr/>
        </p:nvSpPr>
        <p:spPr>
          <a:xfrm>
            <a:off x="1857375" y="5986462"/>
            <a:ext cx="643890" cy="29289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Multigrain and blended flour bases</a:t>
            </a:r>
          </a:p>
        </p:txBody>
      </p:sp>
      <p:sp>
        <p:nvSpPr>
          <p:cNvPr id="145" name="Rectangle 144"/>
          <p:cNvSpPr/>
          <p:nvPr/>
        </p:nvSpPr>
        <p:spPr>
          <a:xfrm>
            <a:off x="185737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40051" y="2204276"/>
            <a:ext cx="366712" cy="533400"/>
          </a:xfrm>
          <a:prstGeom prst="rect">
            <a:avLst/>
          </a:prstGeom>
        </p:spPr>
      </p:pic>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Dietary Formulation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Dietary Formulation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Dietary Formulation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Dietary Formulation,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Dietary Formulation segment categorizes the market by dietary formulation.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(base)</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and vegan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Vegan</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Dietary Formulation split shows how demand is distributed across dietary formulation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_958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8_42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4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_44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5_185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803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3_275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690_8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857_2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2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650281" cy="186689"/>
          </a:xfrm>
          <a:prstGeom prst="rect">
            <a:avLst/>
          </a:prstGeom>
          <a:noFill/>
        </p:spPr>
        <p:txBody>
          <a:bodyPr wrap="none" lIns="0" rIns="0" tIns="0" bIns="0">
            <a:spAutoFit/>
          </a:bodyPr>
          <a:lstStyle/>
          <a:p>
            <a:r>
              <a:rPr sz="1100" b="0">
                <a:solidFill>
                  <a:srgbClr val="2E2E2E"/>
                </a:solidFill>
                <a:latin typeface="Calibri"/>
              </a:rPr>
              <a:t>▪ 'Gluten-free' holds the largest share in 2026</a:t>
            </a:r>
          </a:p>
        </p:txBody>
      </p:sp>
      <p:pic>
        <p:nvPicPr>
          <p:cNvPr id="81" name="Picture 80" descr="lock.png"/>
          <p:cNvPicPr>
            <a:picLocks noChangeAspect="1"/>
          </p:cNvPicPr>
          <p:nvPr/>
        </p:nvPicPr>
        <p:blipFill>
          <a:blip r:embed="rId16"/>
          <a:stretch>
            <a:fillRect/>
          </a:stretch>
        </p:blipFill>
        <p:spPr>
          <a:xfrm>
            <a:off x="3084108"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227634" cy="186689"/>
          </a:xfrm>
          <a:prstGeom prst="rect">
            <a:avLst/>
          </a:prstGeom>
          <a:noFill/>
        </p:spPr>
        <p:txBody>
          <a:bodyPr wrap="none" lIns="0" rIns="0" tIns="0" bIns="0">
            <a:spAutoFit/>
          </a:bodyPr>
          <a:lstStyle/>
          <a:p>
            <a:r>
              <a:rPr sz="1100" b="0">
                <a:solidFill>
                  <a:srgbClr val="2E2E2E"/>
                </a:solidFill>
                <a:latin typeface="Calibri"/>
              </a:rPr>
              <a:t>▪ 'Conventional' is the fastest-growing</a:t>
            </a:r>
          </a:p>
        </p:txBody>
      </p:sp>
      <p:sp>
        <p:nvSpPr>
          <p:cNvPr id="84" name="TextBox 8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5" name="Picture 84" descr="lock.png"/>
          <p:cNvPicPr>
            <a:picLocks noChangeAspect="1"/>
          </p:cNvPicPr>
          <p:nvPr/>
        </p:nvPicPr>
        <p:blipFill>
          <a:blip r:embed="rId16"/>
          <a:stretch>
            <a:fillRect/>
          </a:stretch>
        </p:blipFill>
        <p:spPr>
          <a:xfrm>
            <a:off x="1391064" y="4772870"/>
            <a:ext cx="128699" cy="187198"/>
          </a:xfrm>
          <a:prstGeom prst="rect">
            <a:avLst/>
          </a:prstGeom>
        </p:spPr>
      </p:pic>
      <p:sp>
        <p:nvSpPr>
          <p:cNvPr id="86" name="TextBox 8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914650" cy="186689"/>
          </a:xfrm>
          <a:prstGeom prst="rect">
            <a:avLst/>
          </a:prstGeom>
          <a:noFill/>
        </p:spPr>
        <p:txBody>
          <a:bodyPr wrap="none" lIns="0" rIns="0" tIns="0" bIns="0">
            <a:spAutoFit/>
          </a:bodyPr>
          <a:lstStyle/>
          <a:p>
            <a:r>
              <a:rPr sz="1100" b="0">
                <a:solidFill>
                  <a:srgbClr val="2E2E2E"/>
                </a:solidFill>
                <a:latin typeface="Calibri"/>
              </a:rPr>
              <a:t>▪ 4 sub-segments make up the dietary formulation</a:t>
            </a:r>
          </a:p>
        </p:txBody>
      </p:sp>
      <p:sp>
        <p:nvSpPr>
          <p:cNvPr id="94" name="TextBox 9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5" name="TextBox 94"/>
          <p:cNvSpPr txBox="1"/>
          <p:nvPr/>
        </p:nvSpPr>
        <p:spPr>
          <a:xfrm>
            <a:off x="3838575" y="4229437"/>
            <a:ext cx="886569" cy="186689"/>
          </a:xfrm>
          <a:prstGeom prst="rect">
            <a:avLst/>
          </a:prstGeom>
          <a:noFill/>
        </p:spPr>
        <p:txBody>
          <a:bodyPr wrap="none" lIns="0" rIns="0" tIns="0" bIns="0">
            <a:spAutoFit/>
          </a:bodyPr>
          <a:lstStyle/>
          <a:p>
            <a:r>
              <a:rPr sz="1100" b="0">
                <a:solidFill>
                  <a:srgbClr val="2E2E2E"/>
                </a:solidFill>
                <a:latin typeface="Calibri"/>
              </a:rPr>
              <a:t>● Gluten-free:</a:t>
            </a:r>
          </a:p>
        </p:txBody>
      </p:sp>
      <p:pic>
        <p:nvPicPr>
          <p:cNvPr id="96" name="Picture 95" descr="lock.png"/>
          <p:cNvPicPr>
            <a:picLocks noChangeAspect="1"/>
          </p:cNvPicPr>
          <p:nvPr/>
        </p:nvPicPr>
        <p:blipFill>
          <a:blip r:embed="rId16"/>
          <a:stretch>
            <a:fillRect/>
          </a:stretch>
        </p:blipFill>
        <p:spPr>
          <a:xfrm>
            <a:off x="4673195" y="4219658"/>
            <a:ext cx="128699" cy="187198"/>
          </a:xfrm>
          <a:prstGeom prst="rect">
            <a:avLst/>
          </a:prstGeom>
        </p:spPr>
      </p:pic>
      <p:sp>
        <p:nvSpPr>
          <p:cNvPr id="97" name="TextBox 96"/>
          <p:cNvSpPr txBox="1"/>
          <p:nvPr/>
        </p:nvSpPr>
        <p:spPr>
          <a:xfrm>
            <a:off x="484069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5700141" y="4219658"/>
            <a:ext cx="128699" cy="187198"/>
          </a:xfrm>
          <a:prstGeom prst="rect">
            <a:avLst/>
          </a:prstGeom>
        </p:spPr>
      </p:pic>
      <p:sp>
        <p:nvSpPr>
          <p:cNvPr id="99" name="TextBox 98"/>
          <p:cNvSpPr txBox="1"/>
          <p:nvPr/>
        </p:nvSpPr>
        <p:spPr>
          <a:xfrm>
            <a:off x="586763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1502122" cy="186689"/>
          </a:xfrm>
          <a:prstGeom prst="rect">
            <a:avLst/>
          </a:prstGeom>
          <a:noFill/>
        </p:spPr>
        <p:txBody>
          <a:bodyPr wrap="none" lIns="0" rIns="0" tIns="0" bIns="0">
            <a:spAutoFit/>
          </a:bodyPr>
          <a:lstStyle/>
          <a:p>
            <a:r>
              <a:rPr sz="1100" b="0">
                <a:solidFill>
                  <a:srgbClr val="2E2E2E"/>
                </a:solidFill>
                <a:latin typeface="Calibri"/>
              </a:rPr>
              <a:t>● Gluten-free and vegan:</a:t>
            </a:r>
          </a:p>
        </p:txBody>
      </p:sp>
      <p:pic>
        <p:nvPicPr>
          <p:cNvPr id="101" name="Picture 100" descr="lock.png"/>
          <p:cNvPicPr>
            <a:picLocks noChangeAspect="1"/>
          </p:cNvPicPr>
          <p:nvPr/>
        </p:nvPicPr>
        <p:blipFill>
          <a:blip r:embed="rId16"/>
          <a:stretch>
            <a:fillRect/>
          </a:stretch>
        </p:blipFill>
        <p:spPr>
          <a:xfrm>
            <a:off x="5288748" y="4437590"/>
            <a:ext cx="128699" cy="187198"/>
          </a:xfrm>
          <a:prstGeom prst="rect">
            <a:avLst/>
          </a:prstGeom>
        </p:spPr>
      </p:pic>
      <p:sp>
        <p:nvSpPr>
          <p:cNvPr id="102" name="TextBox 101"/>
          <p:cNvSpPr txBox="1"/>
          <p:nvPr/>
        </p:nvSpPr>
        <p:spPr>
          <a:xfrm>
            <a:off x="545624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6315694" y="4437590"/>
            <a:ext cx="128699" cy="187198"/>
          </a:xfrm>
          <a:prstGeom prst="rect">
            <a:avLst/>
          </a:prstGeom>
        </p:spPr>
      </p:pic>
      <p:sp>
        <p:nvSpPr>
          <p:cNvPr id="104" name="TextBox 103"/>
          <p:cNvSpPr txBox="1"/>
          <p:nvPr/>
        </p:nvSpPr>
        <p:spPr>
          <a:xfrm>
            <a:off x="648319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982340" cy="186689"/>
          </a:xfrm>
          <a:prstGeom prst="rect">
            <a:avLst/>
          </a:prstGeom>
          <a:noFill/>
        </p:spPr>
        <p:txBody>
          <a:bodyPr wrap="none" lIns="0" rIns="0" tIns="0" bIns="0">
            <a:spAutoFit/>
          </a:bodyPr>
          <a:lstStyle/>
          <a:p>
            <a:r>
              <a:rPr sz="1100" b="0">
                <a:solidFill>
                  <a:srgbClr val="2E2E2E"/>
                </a:solidFill>
                <a:latin typeface="Calibri"/>
              </a:rPr>
              <a:t>● Conventional:</a:t>
            </a:r>
          </a:p>
        </p:txBody>
      </p:sp>
      <p:pic>
        <p:nvPicPr>
          <p:cNvPr id="106" name="Picture 105" descr="lock.png"/>
          <p:cNvPicPr>
            <a:picLocks noChangeAspect="1"/>
          </p:cNvPicPr>
          <p:nvPr/>
        </p:nvPicPr>
        <p:blipFill>
          <a:blip r:embed="rId16"/>
          <a:stretch>
            <a:fillRect/>
          </a:stretch>
        </p:blipFill>
        <p:spPr>
          <a:xfrm>
            <a:off x="4768966" y="4655522"/>
            <a:ext cx="128699" cy="187198"/>
          </a:xfrm>
          <a:prstGeom prst="rect">
            <a:avLst/>
          </a:prstGeom>
        </p:spPr>
      </p:pic>
      <p:sp>
        <p:nvSpPr>
          <p:cNvPr id="107" name="TextBox 106"/>
          <p:cNvSpPr txBox="1"/>
          <p:nvPr/>
        </p:nvSpPr>
        <p:spPr>
          <a:xfrm>
            <a:off x="49364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795912" y="4655522"/>
            <a:ext cx="128699" cy="187198"/>
          </a:xfrm>
          <a:prstGeom prst="rect">
            <a:avLst/>
          </a:prstGeom>
        </p:spPr>
      </p:pic>
      <p:sp>
        <p:nvSpPr>
          <p:cNvPr id="109" name="TextBox 108"/>
          <p:cNvSpPr txBox="1"/>
          <p:nvPr/>
        </p:nvSpPr>
        <p:spPr>
          <a:xfrm>
            <a:off x="5963408"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0" name="TextBox 109"/>
          <p:cNvSpPr txBox="1"/>
          <p:nvPr/>
        </p:nvSpPr>
        <p:spPr>
          <a:xfrm>
            <a:off x="3838575" y="4883233"/>
            <a:ext cx="584522" cy="186689"/>
          </a:xfrm>
          <a:prstGeom prst="rect">
            <a:avLst/>
          </a:prstGeom>
          <a:noFill/>
        </p:spPr>
        <p:txBody>
          <a:bodyPr wrap="none" lIns="0" rIns="0" tIns="0" bIns="0">
            <a:spAutoFit/>
          </a:bodyPr>
          <a:lstStyle/>
          <a:p>
            <a:r>
              <a:rPr sz="1100" b="0">
                <a:solidFill>
                  <a:srgbClr val="2E2E2E"/>
                </a:solidFill>
                <a:latin typeface="Calibri"/>
              </a:rPr>
              <a:t>● Vegan:</a:t>
            </a:r>
          </a:p>
        </p:txBody>
      </p:sp>
      <p:pic>
        <p:nvPicPr>
          <p:cNvPr id="111" name="Picture 110" descr="lock.png"/>
          <p:cNvPicPr>
            <a:picLocks noChangeAspect="1"/>
          </p:cNvPicPr>
          <p:nvPr/>
        </p:nvPicPr>
        <p:blipFill>
          <a:blip r:embed="rId16"/>
          <a:stretch>
            <a:fillRect/>
          </a:stretch>
        </p:blipFill>
        <p:spPr>
          <a:xfrm>
            <a:off x="4371149" y="4873454"/>
            <a:ext cx="128699" cy="187198"/>
          </a:xfrm>
          <a:prstGeom prst="rect">
            <a:avLst/>
          </a:prstGeom>
        </p:spPr>
      </p:pic>
      <p:sp>
        <p:nvSpPr>
          <p:cNvPr id="112" name="TextBox 111"/>
          <p:cNvSpPr txBox="1"/>
          <p:nvPr/>
        </p:nvSpPr>
        <p:spPr>
          <a:xfrm>
            <a:off x="453864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5398095" y="4873454"/>
            <a:ext cx="128699" cy="187198"/>
          </a:xfrm>
          <a:prstGeom prst="rect">
            <a:avLst/>
          </a:prstGeom>
        </p:spPr>
      </p:pic>
      <p:sp>
        <p:nvSpPr>
          <p:cNvPr id="114" name="TextBox 113"/>
          <p:cNvSpPr txBox="1"/>
          <p:nvPr/>
        </p:nvSpPr>
        <p:spPr>
          <a:xfrm>
            <a:off x="5565590"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5" name="TextBox 114"/>
          <p:cNvSpPr txBox="1"/>
          <p:nvPr/>
        </p:nvSpPr>
        <p:spPr>
          <a:xfrm>
            <a:off x="8524875" y="5842641"/>
            <a:ext cx="3021419" cy="194310"/>
          </a:xfrm>
          <a:prstGeom prst="rect">
            <a:avLst/>
          </a:prstGeom>
          <a:noFill/>
        </p:spPr>
        <p:txBody>
          <a:bodyPr wrap="none" lIns="0" rIns="0" tIns="0" bIns="0">
            <a:spAutoFit/>
          </a:bodyPr>
          <a:lstStyle/>
          <a:p>
            <a:r>
              <a:rPr sz="1150" b="1">
                <a:solidFill>
                  <a:srgbClr val="0B2E4A"/>
                </a:solidFill>
                <a:latin typeface="Calibri"/>
              </a:rPr>
              <a:t>The Dietary Formulation segment is projected to</a:t>
            </a:r>
          </a:p>
        </p:txBody>
      </p:sp>
      <p:sp>
        <p:nvSpPr>
          <p:cNvPr id="116" name="TextBox 11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7" name="Picture 116" descr="lock.png"/>
          <p:cNvPicPr>
            <a:picLocks noChangeAspect="1"/>
          </p:cNvPicPr>
          <p:nvPr/>
        </p:nvPicPr>
        <p:blipFill>
          <a:blip r:embed="rId16"/>
          <a:stretch>
            <a:fillRect/>
          </a:stretch>
        </p:blipFill>
        <p:spPr>
          <a:xfrm>
            <a:off x="9651852" y="6007677"/>
            <a:ext cx="134549" cy="195707"/>
          </a:xfrm>
          <a:prstGeom prst="rect">
            <a:avLst/>
          </a:prstGeom>
        </p:spPr>
      </p:pic>
      <p:sp>
        <p:nvSpPr>
          <p:cNvPr id="118" name="TextBox 11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Dietary Formulation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Dietary Formulation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Dietary Formulation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Dietary Formulation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4791347" cy="186689"/>
          </a:xfrm>
          <a:prstGeom prst="rect">
            <a:avLst/>
          </a:prstGeom>
          <a:noFill/>
        </p:spPr>
        <p:txBody>
          <a:bodyPr wrap="none" lIns="0" rIns="0" tIns="0" bIns="0">
            <a:spAutoFit/>
          </a:bodyPr>
          <a:lstStyle/>
          <a:p>
            <a:r>
              <a:rPr sz="1100" b="0">
                <a:solidFill>
                  <a:srgbClr val="2E2E2E"/>
                </a:solidFill>
                <a:latin typeface="Calibri"/>
              </a:rPr>
              <a:t>Between 2026 and 2036, 'Gluten-free' gains the most share in the Global market (+</a:t>
            </a:r>
          </a:p>
        </p:txBody>
      </p:sp>
      <p:pic>
        <p:nvPicPr>
          <p:cNvPr id="21" name="Picture 20" descr="lock.png"/>
          <p:cNvPicPr>
            <a:picLocks noChangeAspect="1"/>
          </p:cNvPicPr>
          <p:nvPr/>
        </p:nvPicPr>
        <p:blipFill>
          <a:blip r:embed="rId6"/>
          <a:stretch>
            <a:fillRect/>
          </a:stretch>
        </p:blipFill>
        <p:spPr>
          <a:xfrm>
            <a:off x="4996574" y="5851905"/>
            <a:ext cx="128699" cy="187198"/>
          </a:xfrm>
          <a:prstGeom prst="rect">
            <a:avLst/>
          </a:prstGeom>
        </p:spPr>
      </p:pic>
      <p:sp>
        <p:nvSpPr>
          <p:cNvPr id="22" name="TextBox 21"/>
          <p:cNvSpPr txBox="1"/>
          <p:nvPr/>
        </p:nvSpPr>
        <p:spPr>
          <a:xfrm>
            <a:off x="5164070" y="5861685"/>
            <a:ext cx="2393801" cy="186689"/>
          </a:xfrm>
          <a:prstGeom prst="rect">
            <a:avLst/>
          </a:prstGeom>
          <a:noFill/>
        </p:spPr>
        <p:txBody>
          <a:bodyPr wrap="none" lIns="0" rIns="0" tIns="0" bIns="0">
            <a:spAutoFit/>
          </a:bodyPr>
          <a:lstStyle/>
          <a:p>
            <a:r>
              <a:rPr sz="1100" b="0">
                <a:solidFill>
                  <a:srgbClr val="2E2E2E"/>
                </a:solidFill>
                <a:latin typeface="Calibri"/>
              </a:rPr>
              <a:t>BPS) while 'Gluten-free and vegan' cedes</a:t>
            </a:r>
          </a:p>
        </p:txBody>
      </p:sp>
      <p:pic>
        <p:nvPicPr>
          <p:cNvPr id="23" name="Picture 22" descr="lock.png"/>
          <p:cNvPicPr>
            <a:picLocks noChangeAspect="1"/>
          </p:cNvPicPr>
          <p:nvPr/>
        </p:nvPicPr>
        <p:blipFill>
          <a:blip r:embed="rId6"/>
          <a:stretch>
            <a:fillRect/>
          </a:stretch>
        </p:blipFill>
        <p:spPr>
          <a:xfrm>
            <a:off x="7505923" y="5851905"/>
            <a:ext cx="128699" cy="187198"/>
          </a:xfrm>
          <a:prstGeom prst="rect">
            <a:avLst/>
          </a:prstGeom>
        </p:spPr>
      </p:pic>
      <p:sp>
        <p:nvSpPr>
          <p:cNvPr id="24" name="TextBox 23"/>
          <p:cNvSpPr txBox="1"/>
          <p:nvPr/>
        </p:nvSpPr>
        <p:spPr>
          <a:xfrm>
            <a:off x="7673418"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Dietary Formulation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Gluten-free</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Vegan</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Gluten-free and vegan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Dietary Formulation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Dietary Formulation,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Dietary Formulation (MT)</a:t>
            </a:r>
          </a:p>
        </p:txBody>
      </p:sp>
      <p:graphicFrame>
        <p:nvGraphicFramePr>
          <p:cNvPr id="13" name="Table 12"/>
          <p:cNvGraphicFramePr>
            <a:graphicFrameLocks noGrp="1"/>
          </p:cNvGraphicFramePr>
          <p:nvPr/>
        </p:nvGraphicFramePr>
        <p:xfrm>
          <a:off x="152400" y="1238250"/>
          <a:ext cx="11887208" cy="18668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Dietary</a:t>
                      </a:r>
                      <a:endParaRPr sz="1100"/>
                    </a:p>
                    <a:p>
                      <a:pPr algn="l"/>
                      <a:r>
                        <a:rPr sz="1100" b="1">
                          <a:solidFill>
                            <a:srgbClr val="0B2E4A"/>
                          </a:solidFill>
                          <a:latin typeface="Calibri"/>
                        </a:rPr>
                        <a:t>Formulation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Conventional</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Gluten-free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Vegan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Gluten-free and</a:t>
                      </a:r>
                      <a:endParaRPr sz="1100"/>
                    </a:p>
                    <a:p>
                      <a:pPr algn="l"/>
                      <a:r>
                        <a:rPr sz="1100" b="1">
                          <a:solidFill>
                            <a:srgbClr val="2E2E2E"/>
                          </a:solidFill>
                          <a:latin typeface="Calibri"/>
                        </a:rPr>
                        <a:t>vegan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Dietary Formulation</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24454"/>
            <a:ext cx="366712" cy="533399"/>
          </a:xfrm>
          <a:prstGeom prst="rect">
            <a:avLst/>
          </a:prstGeom>
        </p:spPr>
      </p:pic>
      <p:sp>
        <p:nvSpPr>
          <p:cNvPr id="21" name="TextBox 20"/>
          <p:cNvSpPr txBox="1"/>
          <p:nvPr/>
        </p:nvSpPr>
        <p:spPr>
          <a:xfrm>
            <a:off x="276225" y="3867150"/>
            <a:ext cx="3046548" cy="194310"/>
          </a:xfrm>
          <a:prstGeom prst="rect">
            <a:avLst/>
          </a:prstGeom>
          <a:noFill/>
        </p:spPr>
        <p:txBody>
          <a:bodyPr wrap="none" lIns="0" rIns="0" tIns="0" bIns="0">
            <a:spAutoFit/>
          </a:bodyPr>
          <a:lstStyle/>
          <a:p>
            <a:r>
              <a:rPr sz="1150" b="0">
                <a:solidFill>
                  <a:srgbClr val="2E2E2E"/>
                </a:solidFill>
                <a:latin typeface="Calibri"/>
              </a:rPr>
              <a:t>▪ 'Gluten-free' is the largest dietary formulation at</a:t>
            </a:r>
          </a:p>
        </p:txBody>
      </p:sp>
      <p:pic>
        <p:nvPicPr>
          <p:cNvPr id="22" name="Picture 21" descr="lock.png"/>
          <p:cNvPicPr>
            <a:picLocks noChangeAspect="1"/>
          </p:cNvPicPr>
          <p:nvPr/>
        </p:nvPicPr>
        <p:blipFill>
          <a:blip r:embed="rId4"/>
          <a:stretch>
            <a:fillRect/>
          </a:stretch>
        </p:blipFill>
        <p:spPr>
          <a:xfrm>
            <a:off x="3271927" y="3856926"/>
            <a:ext cx="134549" cy="195707"/>
          </a:xfrm>
          <a:prstGeom prst="rect">
            <a:avLst/>
          </a:prstGeom>
        </p:spPr>
      </p:pic>
      <p:sp>
        <p:nvSpPr>
          <p:cNvPr id="23" name="TextBox 22"/>
          <p:cNvSpPr txBox="1"/>
          <p:nvPr/>
        </p:nvSpPr>
        <p:spPr>
          <a:xfrm>
            <a:off x="3447037" y="3867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76770" y="3856926"/>
            <a:ext cx="134549" cy="195707"/>
          </a:xfrm>
          <a:prstGeom prst="rect">
            <a:avLst/>
          </a:prstGeom>
        </p:spPr>
      </p:pic>
      <p:sp>
        <p:nvSpPr>
          <p:cNvPr id="25" name="TextBox 24"/>
          <p:cNvSpPr txBox="1"/>
          <p:nvPr/>
        </p:nvSpPr>
        <p:spPr>
          <a:xfrm>
            <a:off x="4651879" y="3867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094987"/>
            <a:ext cx="1836216" cy="194310"/>
          </a:xfrm>
          <a:prstGeom prst="rect">
            <a:avLst/>
          </a:prstGeom>
          <a:noFill/>
        </p:spPr>
        <p:txBody>
          <a:bodyPr wrap="none" lIns="0" rIns="0" tIns="0" bIns="0">
            <a:spAutoFit/>
          </a:bodyPr>
          <a:lstStyle/>
          <a:p>
            <a:r>
              <a:rPr sz="1150" b="0">
                <a:solidFill>
                  <a:srgbClr val="2E2E2E"/>
                </a:solidFill>
                <a:latin typeface="Calibri"/>
              </a:rPr>
              <a:t>▪ 'Conventional' grows fastest</a:t>
            </a:r>
          </a:p>
        </p:txBody>
      </p:sp>
      <p:pic>
        <p:nvPicPr>
          <p:cNvPr id="27" name="Picture 26" descr="lock.png"/>
          <p:cNvPicPr>
            <a:picLocks noChangeAspect="1"/>
          </p:cNvPicPr>
          <p:nvPr/>
        </p:nvPicPr>
        <p:blipFill>
          <a:blip r:embed="rId4"/>
          <a:stretch>
            <a:fillRect/>
          </a:stretch>
        </p:blipFill>
        <p:spPr>
          <a:xfrm>
            <a:off x="2061595" y="4084764"/>
            <a:ext cx="134549" cy="195707"/>
          </a:xfrm>
          <a:prstGeom prst="rect">
            <a:avLst/>
          </a:prstGeom>
        </p:spPr>
      </p:pic>
      <p:sp>
        <p:nvSpPr>
          <p:cNvPr id="28" name="TextBox 27"/>
          <p:cNvSpPr txBox="1"/>
          <p:nvPr/>
        </p:nvSpPr>
        <p:spPr>
          <a:xfrm>
            <a:off x="2236704" y="4094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322825"/>
            <a:ext cx="2345394" cy="194310"/>
          </a:xfrm>
          <a:prstGeom prst="rect">
            <a:avLst/>
          </a:prstGeom>
          <a:noFill/>
        </p:spPr>
        <p:txBody>
          <a:bodyPr wrap="none" lIns="0" rIns="0" tIns="0" bIns="0">
            <a:spAutoFit/>
          </a:bodyPr>
          <a:lstStyle/>
          <a:p>
            <a:r>
              <a:rPr sz="1150" b="0">
                <a:solidFill>
                  <a:srgbClr val="2E2E2E"/>
                </a:solidFill>
                <a:latin typeface="Calibri"/>
              </a:rPr>
              <a:t>▪ Share shifts toward 'Conventional' (+</a:t>
            </a:r>
          </a:p>
        </p:txBody>
      </p:sp>
      <p:pic>
        <p:nvPicPr>
          <p:cNvPr id="30" name="Picture 29" descr="lock.png"/>
          <p:cNvPicPr>
            <a:picLocks noChangeAspect="1"/>
          </p:cNvPicPr>
          <p:nvPr/>
        </p:nvPicPr>
        <p:blipFill>
          <a:blip r:embed="rId4"/>
          <a:stretch>
            <a:fillRect/>
          </a:stretch>
        </p:blipFill>
        <p:spPr>
          <a:xfrm>
            <a:off x="2570773" y="4312602"/>
            <a:ext cx="134549" cy="195707"/>
          </a:xfrm>
          <a:prstGeom prst="rect">
            <a:avLst/>
          </a:prstGeom>
        </p:spPr>
      </p:pic>
      <p:sp>
        <p:nvSpPr>
          <p:cNvPr id="31" name="TextBox 30"/>
          <p:cNvSpPr txBox="1"/>
          <p:nvPr/>
        </p:nvSpPr>
        <p:spPr>
          <a:xfrm>
            <a:off x="2745883" y="4322825"/>
            <a:ext cx="2814922" cy="194310"/>
          </a:xfrm>
          <a:prstGeom prst="rect">
            <a:avLst/>
          </a:prstGeom>
          <a:noFill/>
        </p:spPr>
        <p:txBody>
          <a:bodyPr wrap="none" lIns="0" rIns="0" tIns="0" bIns="0">
            <a:spAutoFit/>
          </a:bodyPr>
          <a:lstStyle/>
          <a:p>
            <a:r>
              <a:rPr sz="1150" b="0">
                <a:solidFill>
                  <a:srgbClr val="2E2E2E"/>
                </a:solidFill>
                <a:latin typeface="Calibri"/>
              </a:rPr>
              <a:t>BPS) and away from 'Gluten-free and vegan' (-</a:t>
            </a:r>
          </a:p>
        </p:txBody>
      </p:sp>
      <p:pic>
        <p:nvPicPr>
          <p:cNvPr id="32" name="Picture 31" descr="lock.png"/>
          <p:cNvPicPr>
            <a:picLocks noChangeAspect="1"/>
          </p:cNvPicPr>
          <p:nvPr/>
        </p:nvPicPr>
        <p:blipFill>
          <a:blip r:embed="rId4"/>
          <a:stretch>
            <a:fillRect/>
          </a:stretch>
        </p:blipFill>
        <p:spPr>
          <a:xfrm>
            <a:off x="5509959" y="4312602"/>
            <a:ext cx="134549" cy="195707"/>
          </a:xfrm>
          <a:prstGeom prst="rect">
            <a:avLst/>
          </a:prstGeom>
        </p:spPr>
      </p:pic>
      <p:sp>
        <p:nvSpPr>
          <p:cNvPr id="33" name="TextBox 32"/>
          <p:cNvSpPr txBox="1"/>
          <p:nvPr/>
        </p:nvSpPr>
        <p:spPr>
          <a:xfrm>
            <a:off x="5685068" y="4322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550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540440"/>
            <a:ext cx="134549" cy="195707"/>
          </a:xfrm>
          <a:prstGeom prst="rect">
            <a:avLst/>
          </a:prstGeom>
        </p:spPr>
      </p:pic>
      <p:sp>
        <p:nvSpPr>
          <p:cNvPr id="36" name="TextBox 35"/>
          <p:cNvSpPr txBox="1"/>
          <p:nvPr/>
        </p:nvSpPr>
        <p:spPr>
          <a:xfrm>
            <a:off x="1965143" y="4550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540440"/>
            <a:ext cx="134549" cy="195707"/>
          </a:xfrm>
          <a:prstGeom prst="rect">
            <a:avLst/>
          </a:prstGeom>
        </p:spPr>
      </p:pic>
      <p:sp>
        <p:nvSpPr>
          <p:cNvPr id="38" name="TextBox 37"/>
          <p:cNvSpPr txBox="1"/>
          <p:nvPr/>
        </p:nvSpPr>
        <p:spPr>
          <a:xfrm>
            <a:off x="2291688" y="4550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Dietary Formulation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Dietary Formulation,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Dietary Formulation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1590585"/>
                <a:gridCol w="605683"/>
                <a:gridCol w="605683"/>
                <a:gridCol w="605683"/>
                <a:gridCol w="605683"/>
                <a:gridCol w="605683"/>
                <a:gridCol w="605683"/>
                <a:gridCol w="605683"/>
                <a:gridCol w="605683"/>
                <a:gridCol w="605683"/>
                <a:gridCol w="605683"/>
                <a:gridCol w="605683"/>
                <a:gridCol w="605683"/>
                <a:gridCol w="605683"/>
                <a:gridCol w="605683"/>
                <a:gridCol w="605683"/>
                <a:gridCol w="605683"/>
                <a:gridCol w="605683"/>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Dietary Formulation</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04600" y="1837563"/>
            <a:ext cx="366712" cy="533400"/>
          </a:xfrm>
          <a:prstGeom prst="rect">
            <a:avLst/>
          </a:prstGeom>
        </p:spPr>
      </p:pic>
      <p:sp>
        <p:nvSpPr>
          <p:cNvPr id="21" name="TextBox 20"/>
          <p:cNvSpPr txBox="1"/>
          <p:nvPr/>
        </p:nvSpPr>
        <p:spPr>
          <a:xfrm>
            <a:off x="276225" y="3486150"/>
            <a:ext cx="3046548" cy="194310"/>
          </a:xfrm>
          <a:prstGeom prst="rect">
            <a:avLst/>
          </a:prstGeom>
          <a:noFill/>
        </p:spPr>
        <p:txBody>
          <a:bodyPr wrap="none" lIns="0" rIns="0" tIns="0" bIns="0">
            <a:spAutoFit/>
          </a:bodyPr>
          <a:lstStyle/>
          <a:p>
            <a:r>
              <a:rPr sz="1150" b="0">
                <a:solidFill>
                  <a:srgbClr val="2E2E2E"/>
                </a:solidFill>
                <a:latin typeface="Calibri"/>
              </a:rPr>
              <a:t>▪ 'Gluten-free' is the largest dietary formulation at</a:t>
            </a:r>
          </a:p>
        </p:txBody>
      </p:sp>
      <p:pic>
        <p:nvPicPr>
          <p:cNvPr id="22" name="Picture 21" descr="lock.png"/>
          <p:cNvPicPr>
            <a:picLocks noChangeAspect="1"/>
          </p:cNvPicPr>
          <p:nvPr/>
        </p:nvPicPr>
        <p:blipFill>
          <a:blip r:embed="rId4"/>
          <a:stretch>
            <a:fillRect/>
          </a:stretch>
        </p:blipFill>
        <p:spPr>
          <a:xfrm>
            <a:off x="3271927" y="3475926"/>
            <a:ext cx="134549" cy="195707"/>
          </a:xfrm>
          <a:prstGeom prst="rect">
            <a:avLst/>
          </a:prstGeom>
        </p:spPr>
      </p:pic>
      <p:sp>
        <p:nvSpPr>
          <p:cNvPr id="23" name="TextBox 22"/>
          <p:cNvSpPr txBox="1"/>
          <p:nvPr/>
        </p:nvSpPr>
        <p:spPr>
          <a:xfrm>
            <a:off x="3447037"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52969" y="3475926"/>
            <a:ext cx="134549" cy="195707"/>
          </a:xfrm>
          <a:prstGeom prst="rect">
            <a:avLst/>
          </a:prstGeom>
        </p:spPr>
      </p:pic>
      <p:sp>
        <p:nvSpPr>
          <p:cNvPr id="25" name="TextBox 24"/>
          <p:cNvSpPr txBox="1"/>
          <p:nvPr/>
        </p:nvSpPr>
        <p:spPr>
          <a:xfrm>
            <a:off x="4528079"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1836216" cy="194310"/>
          </a:xfrm>
          <a:prstGeom prst="rect">
            <a:avLst/>
          </a:prstGeom>
          <a:noFill/>
        </p:spPr>
        <p:txBody>
          <a:bodyPr wrap="none" lIns="0" rIns="0" tIns="0" bIns="0">
            <a:spAutoFit/>
          </a:bodyPr>
          <a:lstStyle/>
          <a:p>
            <a:r>
              <a:rPr sz="1150" b="0">
                <a:solidFill>
                  <a:srgbClr val="2E2E2E"/>
                </a:solidFill>
                <a:latin typeface="Calibri"/>
              </a:rPr>
              <a:t>▪ 'Conventional' grows fastest</a:t>
            </a:r>
          </a:p>
        </p:txBody>
      </p:sp>
      <p:pic>
        <p:nvPicPr>
          <p:cNvPr id="27" name="Picture 26" descr="lock.png"/>
          <p:cNvPicPr>
            <a:picLocks noChangeAspect="1"/>
          </p:cNvPicPr>
          <p:nvPr/>
        </p:nvPicPr>
        <p:blipFill>
          <a:blip r:embed="rId4"/>
          <a:stretch>
            <a:fillRect/>
          </a:stretch>
        </p:blipFill>
        <p:spPr>
          <a:xfrm>
            <a:off x="2061595" y="3703764"/>
            <a:ext cx="134549" cy="195707"/>
          </a:xfrm>
          <a:prstGeom prst="rect">
            <a:avLst/>
          </a:prstGeom>
        </p:spPr>
      </p:pic>
      <p:sp>
        <p:nvSpPr>
          <p:cNvPr id="28" name="TextBox 27"/>
          <p:cNvSpPr txBox="1"/>
          <p:nvPr/>
        </p:nvSpPr>
        <p:spPr>
          <a:xfrm>
            <a:off x="2236704"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45270" cy="194310"/>
          </a:xfrm>
          <a:prstGeom prst="rect">
            <a:avLst/>
          </a:prstGeom>
          <a:noFill/>
        </p:spPr>
        <p:txBody>
          <a:bodyPr wrap="none" lIns="0" rIns="0" tIns="0" bIns="0">
            <a:spAutoFit/>
          </a:bodyPr>
          <a:lstStyle/>
          <a:p>
            <a:r>
              <a:rPr sz="1150" b="0">
                <a:solidFill>
                  <a:srgbClr val="2E2E2E"/>
                </a:solidFill>
                <a:latin typeface="Calibri"/>
              </a:rPr>
              <a:t>▪ Share shifts toward 'Gluten-free' (+</a:t>
            </a:r>
          </a:p>
        </p:txBody>
      </p:sp>
      <p:pic>
        <p:nvPicPr>
          <p:cNvPr id="30" name="Picture 29" descr="lock.png"/>
          <p:cNvPicPr>
            <a:picLocks noChangeAspect="1"/>
          </p:cNvPicPr>
          <p:nvPr/>
        </p:nvPicPr>
        <p:blipFill>
          <a:blip r:embed="rId4"/>
          <a:stretch>
            <a:fillRect/>
          </a:stretch>
        </p:blipFill>
        <p:spPr>
          <a:xfrm>
            <a:off x="2470649" y="3931602"/>
            <a:ext cx="134549" cy="195707"/>
          </a:xfrm>
          <a:prstGeom prst="rect">
            <a:avLst/>
          </a:prstGeom>
        </p:spPr>
      </p:pic>
      <p:sp>
        <p:nvSpPr>
          <p:cNvPr id="31" name="TextBox 30"/>
          <p:cNvSpPr txBox="1"/>
          <p:nvPr/>
        </p:nvSpPr>
        <p:spPr>
          <a:xfrm>
            <a:off x="2645758" y="3941825"/>
            <a:ext cx="2814922" cy="194310"/>
          </a:xfrm>
          <a:prstGeom prst="rect">
            <a:avLst/>
          </a:prstGeom>
          <a:noFill/>
        </p:spPr>
        <p:txBody>
          <a:bodyPr wrap="none" lIns="0" rIns="0" tIns="0" bIns="0">
            <a:spAutoFit/>
          </a:bodyPr>
          <a:lstStyle/>
          <a:p>
            <a:r>
              <a:rPr sz="1150" b="0">
                <a:solidFill>
                  <a:srgbClr val="2E2E2E"/>
                </a:solidFill>
                <a:latin typeface="Calibri"/>
              </a:rPr>
              <a:t>BPS) and away from 'Gluten-free and vegan' (-</a:t>
            </a:r>
          </a:p>
        </p:txBody>
      </p:sp>
      <p:pic>
        <p:nvPicPr>
          <p:cNvPr id="32" name="Picture 31" descr="lock.png"/>
          <p:cNvPicPr>
            <a:picLocks noChangeAspect="1"/>
          </p:cNvPicPr>
          <p:nvPr/>
        </p:nvPicPr>
        <p:blipFill>
          <a:blip r:embed="rId4"/>
          <a:stretch>
            <a:fillRect/>
          </a:stretch>
        </p:blipFill>
        <p:spPr>
          <a:xfrm>
            <a:off x="5409835" y="3931602"/>
            <a:ext cx="134549" cy="195707"/>
          </a:xfrm>
          <a:prstGeom prst="rect">
            <a:avLst/>
          </a:prstGeom>
        </p:spPr>
      </p:pic>
      <p:sp>
        <p:nvSpPr>
          <p:cNvPr id="33" name="TextBox 32"/>
          <p:cNvSpPr txBox="1"/>
          <p:nvPr/>
        </p:nvSpPr>
        <p:spPr>
          <a:xfrm>
            <a:off x="5584944"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Dietary Formulation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Dietary Formulation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8168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769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007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Vegan</a:t>
            </a:r>
          </a:p>
        </p:txBody>
      </p:sp>
      <p:sp>
        <p:nvSpPr>
          <p:cNvPr id="19" name="BPS Value 1"/>
          <p:cNvSpPr txBox="1"/>
          <p:nvPr/>
        </p:nvSpPr>
        <p:spPr>
          <a:xfrm>
            <a:off x="6896100" y="17626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31406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3093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2331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a:t>
            </a:r>
          </a:p>
        </p:txBody>
      </p:sp>
      <p:sp>
        <p:nvSpPr>
          <p:cNvPr id="23" name="BPS Value 2"/>
          <p:cNvSpPr txBox="1"/>
          <p:nvPr/>
        </p:nvSpPr>
        <p:spPr>
          <a:xfrm>
            <a:off x="6896100" y="229501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40399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992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3230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and vegan</a:t>
            </a:r>
          </a:p>
        </p:txBody>
      </p:sp>
      <p:sp>
        <p:nvSpPr>
          <p:cNvPr id="27" name="BPS Value 3"/>
          <p:cNvSpPr txBox="1"/>
          <p:nvPr/>
        </p:nvSpPr>
        <p:spPr>
          <a:xfrm>
            <a:off x="6896100" y="338494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15780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1530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0768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(base)</a:t>
            </a:r>
          </a:p>
        </p:txBody>
      </p:sp>
      <p:sp>
        <p:nvSpPr>
          <p:cNvPr id="31" name="BPS Value 4"/>
          <p:cNvSpPr txBox="1"/>
          <p:nvPr/>
        </p:nvSpPr>
        <p:spPr>
          <a:xfrm>
            <a:off x="6896100" y="513875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Dietary Formulation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282353" cy="194310"/>
          </a:xfrm>
          <a:prstGeom prst="rect">
            <a:avLst/>
          </a:prstGeom>
          <a:noFill/>
        </p:spPr>
        <p:txBody>
          <a:bodyPr wrap="none" lIns="0" rIns="0" tIns="0" bIns="0">
            <a:spAutoFit/>
          </a:bodyPr>
          <a:lstStyle/>
          <a:p>
            <a:r>
              <a:rPr sz="1150" b="0">
                <a:solidFill>
                  <a:srgbClr val="2E2E2E"/>
                </a:solidFill>
                <a:latin typeface="Calibri"/>
              </a:rPr>
              <a:t>▪ 'Gluten-free' gains the most share +</a:t>
            </a:r>
          </a:p>
        </p:txBody>
      </p:sp>
      <p:pic>
        <p:nvPicPr>
          <p:cNvPr id="39" name="Picture 38" descr="lock.png"/>
          <p:cNvPicPr>
            <a:picLocks noChangeAspect="1"/>
          </p:cNvPicPr>
          <p:nvPr/>
        </p:nvPicPr>
        <p:blipFill>
          <a:blip r:embed="rId5"/>
          <a:stretch>
            <a:fillRect/>
          </a:stretch>
        </p:blipFill>
        <p:spPr>
          <a:xfrm>
            <a:off x="10061057" y="1389951"/>
            <a:ext cx="134549" cy="195707"/>
          </a:xfrm>
          <a:prstGeom prst="rect">
            <a:avLst/>
          </a:prstGeom>
        </p:spPr>
      </p:pic>
      <p:sp>
        <p:nvSpPr>
          <p:cNvPr id="40" name="TextBox 39"/>
          <p:cNvSpPr txBox="1"/>
          <p:nvPr/>
        </p:nvSpPr>
        <p:spPr>
          <a:xfrm>
            <a:off x="10236166"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572456" cy="194310"/>
          </a:xfrm>
          <a:prstGeom prst="rect">
            <a:avLst/>
          </a:prstGeom>
          <a:noFill/>
        </p:spPr>
        <p:txBody>
          <a:bodyPr wrap="none" lIns="0" rIns="0" tIns="0" bIns="0">
            <a:spAutoFit/>
          </a:bodyPr>
          <a:lstStyle/>
          <a:p>
            <a:r>
              <a:rPr sz="1150" b="0">
                <a:solidFill>
                  <a:srgbClr val="2E2E2E"/>
                </a:solidFill>
                <a:latin typeface="Calibri"/>
              </a:rPr>
              <a:t>▪ 'Gluten-free and vegan' cedes the most -</a:t>
            </a:r>
          </a:p>
        </p:txBody>
      </p:sp>
      <p:pic>
        <p:nvPicPr>
          <p:cNvPr id="43" name="Picture 42" descr="lock.png"/>
          <p:cNvPicPr>
            <a:picLocks noChangeAspect="1"/>
          </p:cNvPicPr>
          <p:nvPr/>
        </p:nvPicPr>
        <p:blipFill>
          <a:blip r:embed="rId5"/>
          <a:stretch>
            <a:fillRect/>
          </a:stretch>
        </p:blipFill>
        <p:spPr>
          <a:xfrm>
            <a:off x="10351160" y="1793049"/>
            <a:ext cx="134549" cy="195707"/>
          </a:xfrm>
          <a:prstGeom prst="rect">
            <a:avLst/>
          </a:prstGeom>
        </p:spPr>
      </p:pic>
      <p:sp>
        <p:nvSpPr>
          <p:cNvPr id="44" name="TextBox 43"/>
          <p:cNvSpPr txBox="1"/>
          <p:nvPr/>
        </p:nvSpPr>
        <p:spPr>
          <a:xfrm>
            <a:off x="10526270"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5" name="TextBox 44"/>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3668972" cy="194310"/>
          </a:xfrm>
          <a:prstGeom prst="rect">
            <a:avLst/>
          </a:prstGeom>
          <a:noFill/>
        </p:spPr>
        <p:txBody>
          <a:bodyPr wrap="none" lIns="0" rIns="0" tIns="0" bIns="0">
            <a:spAutoFit/>
          </a:bodyPr>
          <a:lstStyle/>
          <a:p>
            <a:r>
              <a:rPr sz="1150" b="0">
                <a:solidFill>
                  <a:srgbClr val="2E2E2E"/>
                </a:solidFill>
                <a:latin typeface="Calibri"/>
              </a:rPr>
              <a:t>▪ 'Conventional' is the fastest-growing dietary formulation at</a:t>
            </a:r>
          </a:p>
        </p:txBody>
      </p:sp>
      <p:pic>
        <p:nvPicPr>
          <p:cNvPr id="47" name="Picture 46" descr="lock.png"/>
          <p:cNvPicPr>
            <a:picLocks noChangeAspect="1"/>
          </p:cNvPicPr>
          <p:nvPr/>
        </p:nvPicPr>
        <p:blipFill>
          <a:blip r:embed="rId5"/>
          <a:stretch>
            <a:fillRect/>
          </a:stretch>
        </p:blipFill>
        <p:spPr>
          <a:xfrm>
            <a:off x="11447676" y="2196147"/>
            <a:ext cx="134549" cy="195707"/>
          </a:xfrm>
          <a:prstGeom prst="rect">
            <a:avLst/>
          </a:prstGeom>
        </p:spPr>
      </p:pic>
      <p:sp>
        <p:nvSpPr>
          <p:cNvPr id="48" name="TextBox 47"/>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9" name="TextBox 48"/>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0" name="Picture 49" descr="lock.png"/>
          <p:cNvPicPr>
            <a:picLocks noChangeAspect="1"/>
          </p:cNvPicPr>
          <p:nvPr/>
        </p:nvPicPr>
        <p:blipFill>
          <a:blip r:embed="rId5"/>
          <a:stretch>
            <a:fillRect/>
          </a:stretch>
        </p:blipFill>
        <p:spPr>
          <a:xfrm>
            <a:off x="9327669" y="2599245"/>
            <a:ext cx="134549" cy="195707"/>
          </a:xfrm>
          <a:prstGeom prst="rect">
            <a:avLst/>
          </a:prstGeom>
        </p:spPr>
      </p:pic>
      <p:sp>
        <p:nvSpPr>
          <p:cNvPr id="51" name="TextBox 50"/>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2" name="Picture 51" descr="lock.png"/>
          <p:cNvPicPr>
            <a:picLocks noChangeAspect="1"/>
          </p:cNvPicPr>
          <p:nvPr/>
        </p:nvPicPr>
        <p:blipFill>
          <a:blip r:embed="rId5"/>
          <a:stretch>
            <a:fillRect/>
          </a:stretch>
        </p:blipFill>
        <p:spPr>
          <a:xfrm>
            <a:off x="9654215" y="2599245"/>
            <a:ext cx="134549" cy="195707"/>
          </a:xfrm>
          <a:prstGeom prst="rect">
            <a:avLst/>
          </a:prstGeom>
        </p:spPr>
      </p:pic>
      <p:sp>
        <p:nvSpPr>
          <p:cNvPr id="53" name="TextBox 52"/>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4" name="TextBox 53"/>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5" name="TextBox 54"/>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Dietary Formulation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Dietary Formulation,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1238250"/>
        </p:xfrm>
        <a:graphic>
          <a:graphicData uri="http://schemas.openxmlformats.org/drawingml/2006/table">
            <a:tbl>
              <a:tblPr>
                <a:tableStyleId>{5C22544A-7EE6-4342-B048-85BDC9FD1C3A}</a:tableStyleId>
              </a:tblPr>
              <a:tblGrid>
                <a:gridCol w="1739911"/>
                <a:gridCol w="676486"/>
                <a:gridCol w="676486"/>
                <a:gridCol w="676486"/>
                <a:gridCol w="676486"/>
                <a:gridCol w="676486"/>
                <a:gridCol w="676486"/>
                <a:gridCol w="676486"/>
                <a:gridCol w="676486"/>
                <a:gridCol w="676486"/>
                <a:gridCol w="676486"/>
                <a:gridCol w="676486"/>
                <a:gridCol w="676486"/>
                <a:gridCol w="676486"/>
                <a:gridCol w="676486"/>
                <a:gridCol w="67648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Dietary Formulation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33" name="Rectangle 32"/>
          <p:cNvSpPr/>
          <p:nvPr/>
        </p:nvSpPr>
        <p:spPr>
          <a:xfrm>
            <a:off x="1857375" y="3248025"/>
            <a:ext cx="643890" cy="831056"/>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sp>
        <p:nvSpPr>
          <p:cNvPr id="49" name="Rectangle 48"/>
          <p:cNvSpPr/>
          <p:nvPr/>
        </p:nvSpPr>
        <p:spPr>
          <a:xfrm>
            <a:off x="1857375" y="4079081"/>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81" name="Rectangle 80"/>
          <p:cNvSpPr/>
          <p:nvPr/>
        </p:nvSpPr>
        <p:spPr>
          <a:xfrm>
            <a:off x="1857375" y="5741194"/>
            <a:ext cx="643890" cy="831056"/>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779266"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Dietary Formulation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Dietary Formulation,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1238250"/>
        </p:xfrm>
        <a:graphic>
          <a:graphicData uri="http://schemas.openxmlformats.org/drawingml/2006/table">
            <a:tbl>
              <a:tblPr>
                <a:tableStyleId>{5C22544A-7EE6-4342-B048-85BDC9FD1C3A}</a:tableStyleId>
              </a:tblPr>
              <a:tblGrid>
                <a:gridCol w="1739911"/>
                <a:gridCol w="676486"/>
                <a:gridCol w="676486"/>
                <a:gridCol w="676486"/>
                <a:gridCol w="676486"/>
                <a:gridCol w="676486"/>
                <a:gridCol w="676486"/>
                <a:gridCol w="676486"/>
                <a:gridCol w="676486"/>
                <a:gridCol w="676486"/>
                <a:gridCol w="676486"/>
                <a:gridCol w="676486"/>
                <a:gridCol w="676486"/>
                <a:gridCol w="676486"/>
                <a:gridCol w="676486"/>
                <a:gridCol w="67648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Dietary Formulation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33" name="Rectangle 32"/>
          <p:cNvSpPr/>
          <p:nvPr/>
        </p:nvSpPr>
        <p:spPr>
          <a:xfrm>
            <a:off x="1857375" y="3248025"/>
            <a:ext cx="643890" cy="831056"/>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sp>
        <p:nvSpPr>
          <p:cNvPr id="49" name="Rectangle 48"/>
          <p:cNvSpPr/>
          <p:nvPr/>
        </p:nvSpPr>
        <p:spPr>
          <a:xfrm>
            <a:off x="1857375" y="4079081"/>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81" name="Rectangle 80"/>
          <p:cNvSpPr/>
          <p:nvPr/>
        </p:nvSpPr>
        <p:spPr>
          <a:xfrm>
            <a:off x="1857375" y="5741194"/>
            <a:ext cx="643890" cy="831056"/>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779266"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Nutritional Positioning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Nutritional Positioning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Nutritional Positioning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Nutritional Positioning,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Nutritional Positioning segment categorizes the market by nutritional positioning.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Protein-enriched</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indulgent</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Reduced-sugar</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nutrition-focused formulati…</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Nutritional Positioning split shows how demand is distributed across nutritional positioning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2_288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4_184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6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_08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3_280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6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864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3_308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9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_721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_20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2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'Protein-enriched' holds the largest share in 2026</a:t>
            </a:r>
          </a:p>
        </p:txBody>
      </p:sp>
      <p:pic>
        <p:nvPicPr>
          <p:cNvPr id="81" name="Picture 80" descr="lock.png"/>
          <p:cNvPicPr>
            <a:picLocks noChangeAspect="1"/>
          </p:cNvPicPr>
          <p:nvPr/>
        </p:nvPicPr>
        <p:blipFill>
          <a:blip r:embed="rId16"/>
          <a:stretch>
            <a:fillRect/>
          </a:stretch>
        </p:blipFill>
        <p:spPr>
          <a:xfrm>
            <a:off x="472307" y="4387298"/>
            <a:ext cx="128699" cy="187198"/>
          </a:xfrm>
          <a:prstGeom prst="rect">
            <a:avLst/>
          </a:prstGeom>
        </p:spPr>
      </p:pic>
      <p:sp>
        <p:nvSpPr>
          <p:cNvPr id="82" name="TextBox 81"/>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305397" cy="186689"/>
          </a:xfrm>
          <a:prstGeom prst="rect">
            <a:avLst/>
          </a:prstGeom>
          <a:noFill/>
        </p:spPr>
        <p:txBody>
          <a:bodyPr wrap="none" lIns="0" rIns="0" tIns="0" bIns="0">
            <a:spAutoFit/>
          </a:bodyPr>
          <a:lstStyle/>
          <a:p>
            <a:r>
              <a:rPr sz="1100" b="0">
                <a:solidFill>
                  <a:srgbClr val="2E2E2E"/>
                </a:solidFill>
                <a:latin typeface="Calibri"/>
              </a:rPr>
              <a:t>▪ 'Fibre-enriched' is the fastest-growing</a:t>
            </a:r>
          </a:p>
        </p:txBody>
      </p:sp>
      <p:sp>
        <p:nvSpPr>
          <p:cNvPr id="84" name="TextBox 8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5" name="Picture 84" descr="lock.png"/>
          <p:cNvPicPr>
            <a:picLocks noChangeAspect="1"/>
          </p:cNvPicPr>
          <p:nvPr/>
        </p:nvPicPr>
        <p:blipFill>
          <a:blip r:embed="rId16"/>
          <a:stretch>
            <a:fillRect/>
          </a:stretch>
        </p:blipFill>
        <p:spPr>
          <a:xfrm>
            <a:off x="1391064" y="4772870"/>
            <a:ext cx="128699" cy="187198"/>
          </a:xfrm>
          <a:prstGeom prst="rect">
            <a:avLst/>
          </a:prstGeom>
        </p:spPr>
      </p:pic>
      <p:sp>
        <p:nvSpPr>
          <p:cNvPr id="86" name="TextBox 8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424906" cy="186689"/>
          </a:xfrm>
          <a:prstGeom prst="rect">
            <a:avLst/>
          </a:prstGeom>
          <a:noFill/>
        </p:spPr>
        <p:txBody>
          <a:bodyPr wrap="none" lIns="0" rIns="0" tIns="0" bIns="0">
            <a:spAutoFit/>
          </a:bodyPr>
          <a:lstStyle/>
          <a:p>
            <a:r>
              <a:rPr sz="1100" b="0">
                <a:solidFill>
                  <a:srgbClr val="2E2E2E"/>
                </a:solidFill>
                <a:latin typeface="Calibri"/>
              </a:rPr>
              <a:t>▪ 7 sub-segments make up the nutritional</a:t>
            </a:r>
          </a:p>
        </p:txBody>
      </p:sp>
      <p:sp>
        <p:nvSpPr>
          <p:cNvPr id="94" name="TextBox 93"/>
          <p:cNvSpPr txBox="1"/>
          <p:nvPr/>
        </p:nvSpPr>
        <p:spPr>
          <a:xfrm>
            <a:off x="485775" y="5553793"/>
            <a:ext cx="1343868" cy="186689"/>
          </a:xfrm>
          <a:prstGeom prst="rect">
            <a:avLst/>
          </a:prstGeom>
          <a:noFill/>
        </p:spPr>
        <p:txBody>
          <a:bodyPr wrap="none" lIns="0" rIns="0" tIns="0" bIns="0">
            <a:spAutoFit/>
          </a:bodyPr>
          <a:lstStyle/>
          <a:p>
            <a:r>
              <a:rPr sz="1100" b="0">
                <a:solidFill>
                  <a:srgbClr val="2E2E2E"/>
                </a:solidFill>
                <a:latin typeface="Calibri"/>
              </a:rPr>
              <a:t>positioning landscape.</a:t>
            </a:r>
          </a:p>
        </p:txBody>
      </p:sp>
      <p:sp>
        <p:nvSpPr>
          <p:cNvPr id="95" name="TextBox 94"/>
          <p:cNvSpPr txBox="1"/>
          <p:nvPr/>
        </p:nvSpPr>
        <p:spPr>
          <a:xfrm>
            <a:off x="3838575" y="4229437"/>
            <a:ext cx="1188888" cy="186689"/>
          </a:xfrm>
          <a:prstGeom prst="rect">
            <a:avLst/>
          </a:prstGeom>
          <a:noFill/>
        </p:spPr>
        <p:txBody>
          <a:bodyPr wrap="none" lIns="0" rIns="0" tIns="0" bIns="0">
            <a:spAutoFit/>
          </a:bodyPr>
          <a:lstStyle/>
          <a:p>
            <a:r>
              <a:rPr sz="1100" b="0">
                <a:solidFill>
                  <a:srgbClr val="2E2E2E"/>
                </a:solidFill>
                <a:latin typeface="Calibri"/>
              </a:rPr>
              <a:t>● Protein-enriched:</a:t>
            </a:r>
          </a:p>
        </p:txBody>
      </p:sp>
      <p:pic>
        <p:nvPicPr>
          <p:cNvPr id="96" name="Picture 95" descr="lock.png"/>
          <p:cNvPicPr>
            <a:picLocks noChangeAspect="1"/>
          </p:cNvPicPr>
          <p:nvPr/>
        </p:nvPicPr>
        <p:blipFill>
          <a:blip r:embed="rId16"/>
          <a:stretch>
            <a:fillRect/>
          </a:stretch>
        </p:blipFill>
        <p:spPr>
          <a:xfrm>
            <a:off x="4975515" y="4219658"/>
            <a:ext cx="128699" cy="187198"/>
          </a:xfrm>
          <a:prstGeom prst="rect">
            <a:avLst/>
          </a:prstGeom>
        </p:spPr>
      </p:pic>
      <p:sp>
        <p:nvSpPr>
          <p:cNvPr id="97" name="TextBox 96"/>
          <p:cNvSpPr txBox="1"/>
          <p:nvPr/>
        </p:nvSpPr>
        <p:spPr>
          <a:xfrm>
            <a:off x="514301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6002461" y="4219658"/>
            <a:ext cx="128699" cy="187198"/>
          </a:xfrm>
          <a:prstGeom prst="rect">
            <a:avLst/>
          </a:prstGeom>
        </p:spPr>
      </p:pic>
      <p:sp>
        <p:nvSpPr>
          <p:cNvPr id="99" name="TextBox 98"/>
          <p:cNvSpPr txBox="1"/>
          <p:nvPr/>
        </p:nvSpPr>
        <p:spPr>
          <a:xfrm>
            <a:off x="616995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1400894" cy="186689"/>
          </a:xfrm>
          <a:prstGeom prst="rect">
            <a:avLst/>
          </a:prstGeom>
          <a:noFill/>
        </p:spPr>
        <p:txBody>
          <a:bodyPr wrap="none" lIns="0" rIns="0" tIns="0" bIns="0">
            <a:spAutoFit/>
          </a:bodyPr>
          <a:lstStyle/>
          <a:p>
            <a:r>
              <a:rPr sz="1100" b="0">
                <a:solidFill>
                  <a:srgbClr val="2E2E2E"/>
                </a:solidFill>
                <a:latin typeface="Calibri"/>
              </a:rPr>
              <a:t>● Standard / indulgent:</a:t>
            </a:r>
          </a:p>
        </p:txBody>
      </p:sp>
      <p:pic>
        <p:nvPicPr>
          <p:cNvPr id="101" name="Picture 100" descr="lock.png"/>
          <p:cNvPicPr>
            <a:picLocks noChangeAspect="1"/>
          </p:cNvPicPr>
          <p:nvPr/>
        </p:nvPicPr>
        <p:blipFill>
          <a:blip r:embed="rId16"/>
          <a:stretch>
            <a:fillRect/>
          </a:stretch>
        </p:blipFill>
        <p:spPr>
          <a:xfrm>
            <a:off x="5187520" y="4437590"/>
            <a:ext cx="128699" cy="187198"/>
          </a:xfrm>
          <a:prstGeom prst="rect">
            <a:avLst/>
          </a:prstGeom>
        </p:spPr>
      </p:pic>
      <p:sp>
        <p:nvSpPr>
          <p:cNvPr id="102" name="TextBox 101"/>
          <p:cNvSpPr txBox="1"/>
          <p:nvPr/>
        </p:nvSpPr>
        <p:spPr>
          <a:xfrm>
            <a:off x="535501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6214466" y="4437590"/>
            <a:ext cx="128699" cy="187198"/>
          </a:xfrm>
          <a:prstGeom prst="rect">
            <a:avLst/>
          </a:prstGeom>
        </p:spPr>
      </p:pic>
      <p:sp>
        <p:nvSpPr>
          <p:cNvPr id="104" name="TextBox 103"/>
          <p:cNvSpPr txBox="1"/>
          <p:nvPr/>
        </p:nvSpPr>
        <p:spPr>
          <a:xfrm>
            <a:off x="638196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1076200" cy="186689"/>
          </a:xfrm>
          <a:prstGeom prst="rect">
            <a:avLst/>
          </a:prstGeom>
          <a:noFill/>
        </p:spPr>
        <p:txBody>
          <a:bodyPr wrap="none" lIns="0" rIns="0" tIns="0" bIns="0">
            <a:spAutoFit/>
          </a:bodyPr>
          <a:lstStyle/>
          <a:p>
            <a:r>
              <a:rPr sz="1100" b="0">
                <a:solidFill>
                  <a:srgbClr val="2E2E2E"/>
                </a:solidFill>
                <a:latin typeface="Calibri"/>
              </a:rPr>
              <a:t>● Reduced-sugar:</a:t>
            </a:r>
          </a:p>
        </p:txBody>
      </p:sp>
      <p:pic>
        <p:nvPicPr>
          <p:cNvPr id="106" name="Picture 105" descr="lock.png"/>
          <p:cNvPicPr>
            <a:picLocks noChangeAspect="1"/>
          </p:cNvPicPr>
          <p:nvPr/>
        </p:nvPicPr>
        <p:blipFill>
          <a:blip r:embed="rId16"/>
          <a:stretch>
            <a:fillRect/>
          </a:stretch>
        </p:blipFill>
        <p:spPr>
          <a:xfrm>
            <a:off x="4862827" y="4655522"/>
            <a:ext cx="128699" cy="187198"/>
          </a:xfrm>
          <a:prstGeom prst="rect">
            <a:avLst/>
          </a:prstGeom>
        </p:spPr>
      </p:pic>
      <p:sp>
        <p:nvSpPr>
          <p:cNvPr id="107" name="TextBox 106"/>
          <p:cNvSpPr txBox="1"/>
          <p:nvPr/>
        </p:nvSpPr>
        <p:spPr>
          <a:xfrm>
            <a:off x="50303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889773" y="4655522"/>
            <a:ext cx="128699" cy="187198"/>
          </a:xfrm>
          <a:prstGeom prst="rect">
            <a:avLst/>
          </a:prstGeom>
        </p:spPr>
      </p:pic>
      <p:sp>
        <p:nvSpPr>
          <p:cNvPr id="109" name="TextBox 108"/>
          <p:cNvSpPr txBox="1"/>
          <p:nvPr/>
        </p:nvSpPr>
        <p:spPr>
          <a:xfrm>
            <a:off x="6057269"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0" name="TextBox 109"/>
          <p:cNvSpPr txBox="1"/>
          <p:nvPr/>
        </p:nvSpPr>
        <p:spPr>
          <a:xfrm>
            <a:off x="3838575" y="4883233"/>
            <a:ext cx="2344142" cy="186689"/>
          </a:xfrm>
          <a:prstGeom prst="rect">
            <a:avLst/>
          </a:prstGeom>
          <a:noFill/>
        </p:spPr>
        <p:txBody>
          <a:bodyPr wrap="none" lIns="0" rIns="0" tIns="0" bIns="0">
            <a:spAutoFit/>
          </a:bodyPr>
          <a:lstStyle/>
          <a:p>
            <a:r>
              <a:rPr sz="1100" b="0">
                <a:solidFill>
                  <a:srgbClr val="2E2E2E"/>
                </a:solidFill>
                <a:latin typeface="Calibri"/>
              </a:rPr>
              <a:t>● Other nutrition-focused formulations:</a:t>
            </a:r>
          </a:p>
        </p:txBody>
      </p:sp>
      <p:pic>
        <p:nvPicPr>
          <p:cNvPr id="111" name="Picture 110" descr="lock.png"/>
          <p:cNvPicPr>
            <a:picLocks noChangeAspect="1"/>
          </p:cNvPicPr>
          <p:nvPr/>
        </p:nvPicPr>
        <p:blipFill>
          <a:blip r:embed="rId16"/>
          <a:stretch>
            <a:fillRect/>
          </a:stretch>
        </p:blipFill>
        <p:spPr>
          <a:xfrm>
            <a:off x="6130768" y="4873454"/>
            <a:ext cx="128699" cy="187198"/>
          </a:xfrm>
          <a:prstGeom prst="rect">
            <a:avLst/>
          </a:prstGeom>
        </p:spPr>
      </p:pic>
      <p:sp>
        <p:nvSpPr>
          <p:cNvPr id="112" name="TextBox 111"/>
          <p:cNvSpPr txBox="1"/>
          <p:nvPr/>
        </p:nvSpPr>
        <p:spPr>
          <a:xfrm>
            <a:off x="629826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7157714" y="4873454"/>
            <a:ext cx="128699" cy="187198"/>
          </a:xfrm>
          <a:prstGeom prst="rect">
            <a:avLst/>
          </a:prstGeom>
        </p:spPr>
      </p:pic>
      <p:sp>
        <p:nvSpPr>
          <p:cNvPr id="114" name="TextBox 113"/>
          <p:cNvSpPr txBox="1"/>
          <p:nvPr/>
        </p:nvSpPr>
        <p:spPr>
          <a:xfrm>
            <a:off x="7325210" y="4883233"/>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15" name="TextBox 114"/>
          <p:cNvSpPr txBox="1"/>
          <p:nvPr/>
        </p:nvSpPr>
        <p:spPr>
          <a:xfrm>
            <a:off x="3838575" y="5050873"/>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16" name="TextBox 11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Nutritional Positioning segment is projected to</a:t>
            </a:r>
          </a:p>
        </p:txBody>
      </p:sp>
      <p:sp>
        <p:nvSpPr>
          <p:cNvPr id="117" name="TextBox 11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8" name="Picture 117" descr="lock.png"/>
          <p:cNvPicPr>
            <a:picLocks noChangeAspect="1"/>
          </p:cNvPicPr>
          <p:nvPr/>
        </p:nvPicPr>
        <p:blipFill>
          <a:blip r:embed="rId16"/>
          <a:stretch>
            <a:fillRect/>
          </a:stretch>
        </p:blipFill>
        <p:spPr>
          <a:xfrm>
            <a:off x="9651852" y="6007677"/>
            <a:ext cx="134549" cy="195707"/>
          </a:xfrm>
          <a:prstGeom prst="rect">
            <a:avLst/>
          </a:prstGeom>
        </p:spPr>
      </p:pic>
      <p:sp>
        <p:nvSpPr>
          <p:cNvPr id="119" name="TextBox 11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Nutritional Positioning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Nutritional Positioning,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Nutritional Positioning segment categorizes the market by nutritional positioning.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Reduced-fat</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No-added-sugar</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Fibre-enriched</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6" name="Picture 45" descr="1_621_605E5C.png"/>
          <p:cNvPicPr>
            <a:picLocks noChangeAspect="1"/>
          </p:cNvPicPr>
          <p:nvPr/>
        </p:nvPicPr>
        <p:blipFill>
          <a:blip r:embed="rId4"/>
          <a:stretch>
            <a:fillRect/>
          </a:stretch>
        </p:blipFill>
        <p:spPr>
          <a:xfrm>
            <a:off x="2897811" y="2286582"/>
            <a:ext cx="1195728" cy="361950"/>
          </a:xfrm>
          <a:prstGeom prst="rect">
            <a:avLst/>
          </a:prstGeom>
        </p:spPr>
      </p:pic>
      <p:pic>
        <p:nvPicPr>
          <p:cNvPr id="47" name="Picture 46" descr="2_574_605E5C.png"/>
          <p:cNvPicPr>
            <a:picLocks noChangeAspect="1"/>
          </p:cNvPicPr>
          <p:nvPr/>
        </p:nvPicPr>
        <p:blipFill>
          <a:blip r:embed="rId5"/>
          <a:stretch>
            <a:fillRect/>
          </a:stretch>
        </p:blipFill>
        <p:spPr>
          <a:xfrm>
            <a:off x="2897811" y="2779432"/>
            <a:ext cx="1195728" cy="361950"/>
          </a:xfrm>
          <a:prstGeom prst="rect">
            <a:avLst/>
          </a:prstGeom>
        </p:spPr>
      </p:pic>
      <p:pic>
        <p:nvPicPr>
          <p:cNvPr id="48" name="Picture 47" descr="4_7__605E5C.png"/>
          <p:cNvPicPr>
            <a:picLocks noChangeAspect="1"/>
          </p:cNvPicPr>
          <p:nvPr/>
        </p:nvPicPr>
        <p:blipFill>
          <a:blip r:embed="rId6"/>
          <a:stretch>
            <a:fillRect/>
          </a:stretch>
        </p:blipFill>
        <p:spPr>
          <a:xfrm>
            <a:off x="3004457" y="3272281"/>
            <a:ext cx="982436" cy="361950"/>
          </a:xfrm>
          <a:prstGeom prst="rect">
            <a:avLst/>
          </a:prstGeom>
        </p:spPr>
      </p:pic>
      <p:pic>
        <p:nvPicPr>
          <p:cNvPr id="49" name="Picture 48" descr="978_4_605E5C.png"/>
          <p:cNvPicPr>
            <a:picLocks noChangeAspect="1"/>
          </p:cNvPicPr>
          <p:nvPr/>
        </p:nvPicPr>
        <p:blipFill>
          <a:blip r:embed="rId7"/>
          <a:stretch>
            <a:fillRect/>
          </a:stretch>
        </p:blipFill>
        <p:spPr>
          <a:xfrm>
            <a:off x="6269661" y="2286582"/>
            <a:ext cx="1195728" cy="361950"/>
          </a:xfrm>
          <a:prstGeom prst="rect">
            <a:avLst/>
          </a:prstGeom>
        </p:spPr>
      </p:pic>
      <p:pic>
        <p:nvPicPr>
          <p:cNvPr id="50" name="Picture 49" descr="1_501_605E5C.png"/>
          <p:cNvPicPr>
            <a:picLocks noChangeAspect="1"/>
          </p:cNvPicPr>
          <p:nvPr/>
        </p:nvPicPr>
        <p:blipFill>
          <a:blip r:embed="rId8"/>
          <a:stretch>
            <a:fillRect/>
          </a:stretch>
        </p:blipFill>
        <p:spPr>
          <a:xfrm>
            <a:off x="6269661" y="2779432"/>
            <a:ext cx="1195728" cy="361950"/>
          </a:xfrm>
          <a:prstGeom prst="rect">
            <a:avLst/>
          </a:prstGeom>
        </p:spPr>
      </p:pic>
      <p:pic>
        <p:nvPicPr>
          <p:cNvPr id="51" name="Picture 50" descr="4_4__605E5C.png"/>
          <p:cNvPicPr>
            <a:picLocks noChangeAspect="1"/>
          </p:cNvPicPr>
          <p:nvPr/>
        </p:nvPicPr>
        <p:blipFill>
          <a:blip r:embed="rId9"/>
          <a:stretch>
            <a:fillRect/>
          </a:stretch>
        </p:blipFill>
        <p:spPr>
          <a:xfrm>
            <a:off x="6376307" y="3272281"/>
            <a:ext cx="982436" cy="361950"/>
          </a:xfrm>
          <a:prstGeom prst="rect">
            <a:avLst/>
          </a:prstGeom>
        </p:spPr>
      </p:pic>
      <p:pic>
        <p:nvPicPr>
          <p:cNvPr id="52" name="Picture 51" descr="341_6_605E5C.png"/>
          <p:cNvPicPr>
            <a:picLocks noChangeAspect="1"/>
          </p:cNvPicPr>
          <p:nvPr/>
        </p:nvPicPr>
        <p:blipFill>
          <a:blip r:embed="rId10"/>
          <a:stretch>
            <a:fillRect/>
          </a:stretch>
        </p:blipFill>
        <p:spPr>
          <a:xfrm>
            <a:off x="9641511" y="2286582"/>
            <a:ext cx="1195728" cy="361950"/>
          </a:xfrm>
          <a:prstGeom prst="rect">
            <a:avLst/>
          </a:prstGeom>
        </p:spPr>
      </p:pic>
      <p:pic>
        <p:nvPicPr>
          <p:cNvPr id="53" name="Picture 52" descr="697_0_605E5C.png"/>
          <p:cNvPicPr>
            <a:picLocks noChangeAspect="1"/>
          </p:cNvPicPr>
          <p:nvPr/>
        </p:nvPicPr>
        <p:blipFill>
          <a:blip r:embed="rId11"/>
          <a:stretch>
            <a:fillRect/>
          </a:stretch>
        </p:blipFill>
        <p:spPr>
          <a:xfrm>
            <a:off x="9641511" y="2779432"/>
            <a:ext cx="1195728" cy="361950"/>
          </a:xfrm>
          <a:prstGeom prst="rect">
            <a:avLst/>
          </a:prstGeom>
        </p:spPr>
      </p:pic>
      <p:pic>
        <p:nvPicPr>
          <p:cNvPr id="54" name="Picture 53" descr="7_4__605E5C.png"/>
          <p:cNvPicPr>
            <a:picLocks noChangeAspect="1"/>
          </p:cNvPicPr>
          <p:nvPr/>
        </p:nvPicPr>
        <p:blipFill>
          <a:blip r:embed="rId12"/>
          <a:stretch>
            <a:fillRect/>
          </a:stretch>
        </p:blipFill>
        <p:spPr>
          <a:xfrm>
            <a:off x="9748157" y="3272281"/>
            <a:ext cx="982436" cy="361950"/>
          </a:xfrm>
          <a:prstGeom prst="rect">
            <a:avLst/>
          </a:prstGeom>
        </p:spPr>
      </p:pic>
      <p:pic>
        <p:nvPicPr>
          <p:cNvPr id="55" name="Picture 54" descr="lock.png"/>
          <p:cNvPicPr>
            <a:picLocks noChangeAspect="1"/>
          </p:cNvPicPr>
          <p:nvPr/>
        </p:nvPicPr>
        <p:blipFill>
          <a:blip r:embed="rId13"/>
          <a:stretch>
            <a:fillRect/>
          </a:stretch>
        </p:blipFill>
        <p:spPr>
          <a:xfrm>
            <a:off x="3402330" y="2827057"/>
            <a:ext cx="183356" cy="266700"/>
          </a:xfrm>
          <a:prstGeom prst="rect">
            <a:avLst/>
          </a:prstGeom>
        </p:spPr>
      </p:pic>
      <p:pic>
        <p:nvPicPr>
          <p:cNvPr id="56" name="Picture 55" descr="lock.png"/>
          <p:cNvPicPr>
            <a:picLocks noChangeAspect="1"/>
          </p:cNvPicPr>
          <p:nvPr/>
        </p:nvPicPr>
        <p:blipFill>
          <a:blip r:embed="rId13"/>
          <a:stretch>
            <a:fillRect/>
          </a:stretch>
        </p:blipFill>
        <p:spPr>
          <a:xfrm>
            <a:off x="6774180" y="2827057"/>
            <a:ext cx="183356" cy="266700"/>
          </a:xfrm>
          <a:prstGeom prst="rect">
            <a:avLst/>
          </a:prstGeom>
        </p:spPr>
      </p:pic>
      <p:pic>
        <p:nvPicPr>
          <p:cNvPr id="57" name="Picture 56" descr="lock.png"/>
          <p:cNvPicPr>
            <a:picLocks noChangeAspect="1"/>
          </p:cNvPicPr>
          <p:nvPr/>
        </p:nvPicPr>
        <p:blipFill>
          <a:blip r:embed="rId13"/>
          <a:stretch>
            <a:fillRect/>
          </a:stretch>
        </p:blipFill>
        <p:spPr>
          <a:xfrm>
            <a:off x="10146030" y="2827057"/>
            <a:ext cx="183356" cy="266700"/>
          </a:xfrm>
          <a:prstGeom prst="rect">
            <a:avLst/>
          </a:prstGeom>
        </p:spPr>
      </p:pic>
      <p:sp>
        <p:nvSpPr>
          <p:cNvPr id="58" name="TextBox 57"/>
          <p:cNvSpPr txBox="1"/>
          <p:nvPr/>
        </p:nvSpPr>
        <p:spPr>
          <a:xfrm>
            <a:off x="485775" y="4229437"/>
            <a:ext cx="923131" cy="186689"/>
          </a:xfrm>
          <a:prstGeom prst="rect">
            <a:avLst/>
          </a:prstGeom>
          <a:noFill/>
        </p:spPr>
        <p:txBody>
          <a:bodyPr wrap="none" lIns="0" rIns="0" tIns="0" bIns="0">
            <a:spAutoFit/>
          </a:bodyPr>
          <a:lstStyle/>
          <a:p>
            <a:r>
              <a:rPr sz="1100" b="0">
                <a:solidFill>
                  <a:srgbClr val="2E2E2E"/>
                </a:solidFill>
                <a:latin typeface="Calibri"/>
              </a:rPr>
              <a:t>● Reduced-fat:</a:t>
            </a:r>
          </a:p>
        </p:txBody>
      </p:sp>
      <p:pic>
        <p:nvPicPr>
          <p:cNvPr id="59" name="Picture 58" descr="lock.png"/>
          <p:cNvPicPr>
            <a:picLocks noChangeAspect="1"/>
          </p:cNvPicPr>
          <p:nvPr/>
        </p:nvPicPr>
        <p:blipFill>
          <a:blip r:embed="rId13"/>
          <a:stretch>
            <a:fillRect/>
          </a:stretch>
        </p:blipFill>
        <p:spPr>
          <a:xfrm>
            <a:off x="1356957" y="4219658"/>
            <a:ext cx="128699" cy="187198"/>
          </a:xfrm>
          <a:prstGeom prst="rect">
            <a:avLst/>
          </a:prstGeom>
        </p:spPr>
      </p:pic>
      <p:sp>
        <p:nvSpPr>
          <p:cNvPr id="60" name="TextBox 59"/>
          <p:cNvSpPr txBox="1"/>
          <p:nvPr/>
        </p:nvSpPr>
        <p:spPr>
          <a:xfrm>
            <a:off x="152445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1" name="Picture 60" descr="lock.png"/>
          <p:cNvPicPr>
            <a:picLocks noChangeAspect="1"/>
          </p:cNvPicPr>
          <p:nvPr/>
        </p:nvPicPr>
        <p:blipFill>
          <a:blip r:embed="rId13"/>
          <a:stretch>
            <a:fillRect/>
          </a:stretch>
        </p:blipFill>
        <p:spPr>
          <a:xfrm>
            <a:off x="2383903" y="4219658"/>
            <a:ext cx="128699" cy="187198"/>
          </a:xfrm>
          <a:prstGeom prst="rect">
            <a:avLst/>
          </a:prstGeom>
        </p:spPr>
      </p:pic>
      <p:sp>
        <p:nvSpPr>
          <p:cNvPr id="62" name="TextBox 61"/>
          <p:cNvSpPr txBox="1"/>
          <p:nvPr/>
        </p:nvSpPr>
        <p:spPr>
          <a:xfrm>
            <a:off x="2551399"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3" name="TextBox 62"/>
          <p:cNvSpPr txBox="1"/>
          <p:nvPr/>
        </p:nvSpPr>
        <p:spPr>
          <a:xfrm>
            <a:off x="485775" y="4447369"/>
            <a:ext cx="1145232" cy="186689"/>
          </a:xfrm>
          <a:prstGeom prst="rect">
            <a:avLst/>
          </a:prstGeom>
          <a:noFill/>
        </p:spPr>
        <p:txBody>
          <a:bodyPr wrap="none" lIns="0" rIns="0" tIns="0" bIns="0">
            <a:spAutoFit/>
          </a:bodyPr>
          <a:lstStyle/>
          <a:p>
            <a:r>
              <a:rPr sz="1100" b="0">
                <a:solidFill>
                  <a:srgbClr val="2E2E2E"/>
                </a:solidFill>
                <a:latin typeface="Calibri"/>
              </a:rPr>
              <a:t>● No-added-sugar:</a:t>
            </a:r>
          </a:p>
        </p:txBody>
      </p:sp>
      <p:pic>
        <p:nvPicPr>
          <p:cNvPr id="64" name="Picture 63" descr="lock.png"/>
          <p:cNvPicPr>
            <a:picLocks noChangeAspect="1"/>
          </p:cNvPicPr>
          <p:nvPr/>
        </p:nvPicPr>
        <p:blipFill>
          <a:blip r:embed="rId13"/>
          <a:stretch>
            <a:fillRect/>
          </a:stretch>
        </p:blipFill>
        <p:spPr>
          <a:xfrm>
            <a:off x="1579059" y="4437590"/>
            <a:ext cx="128699" cy="187198"/>
          </a:xfrm>
          <a:prstGeom prst="rect">
            <a:avLst/>
          </a:prstGeom>
        </p:spPr>
      </p:pic>
      <p:sp>
        <p:nvSpPr>
          <p:cNvPr id="65" name="TextBox 64"/>
          <p:cNvSpPr txBox="1"/>
          <p:nvPr/>
        </p:nvSpPr>
        <p:spPr>
          <a:xfrm>
            <a:off x="174655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6" name="Picture 65" descr="lock.png"/>
          <p:cNvPicPr>
            <a:picLocks noChangeAspect="1"/>
          </p:cNvPicPr>
          <p:nvPr/>
        </p:nvPicPr>
        <p:blipFill>
          <a:blip r:embed="rId13"/>
          <a:stretch>
            <a:fillRect/>
          </a:stretch>
        </p:blipFill>
        <p:spPr>
          <a:xfrm>
            <a:off x="2606005" y="4437590"/>
            <a:ext cx="128699" cy="187198"/>
          </a:xfrm>
          <a:prstGeom prst="rect">
            <a:avLst/>
          </a:prstGeom>
        </p:spPr>
      </p:pic>
      <p:sp>
        <p:nvSpPr>
          <p:cNvPr id="67" name="TextBox 66"/>
          <p:cNvSpPr txBox="1"/>
          <p:nvPr/>
        </p:nvSpPr>
        <p:spPr>
          <a:xfrm>
            <a:off x="277350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8" name="TextBox 67"/>
          <p:cNvSpPr txBox="1"/>
          <p:nvPr/>
        </p:nvSpPr>
        <p:spPr>
          <a:xfrm>
            <a:off x="485775" y="4665301"/>
            <a:ext cx="1060102" cy="186689"/>
          </a:xfrm>
          <a:prstGeom prst="rect">
            <a:avLst/>
          </a:prstGeom>
          <a:noFill/>
        </p:spPr>
        <p:txBody>
          <a:bodyPr wrap="none" lIns="0" rIns="0" tIns="0" bIns="0">
            <a:spAutoFit/>
          </a:bodyPr>
          <a:lstStyle/>
          <a:p>
            <a:r>
              <a:rPr sz="1100" b="0">
                <a:solidFill>
                  <a:srgbClr val="2E2E2E"/>
                </a:solidFill>
                <a:latin typeface="Calibri"/>
              </a:rPr>
              <a:t>● Fibre-enriched:</a:t>
            </a:r>
          </a:p>
        </p:txBody>
      </p:sp>
      <p:pic>
        <p:nvPicPr>
          <p:cNvPr id="69" name="Picture 68" descr="lock.png"/>
          <p:cNvPicPr>
            <a:picLocks noChangeAspect="1"/>
          </p:cNvPicPr>
          <p:nvPr/>
        </p:nvPicPr>
        <p:blipFill>
          <a:blip r:embed="rId13"/>
          <a:stretch>
            <a:fillRect/>
          </a:stretch>
        </p:blipFill>
        <p:spPr>
          <a:xfrm>
            <a:off x="1493929" y="4655522"/>
            <a:ext cx="128699" cy="187198"/>
          </a:xfrm>
          <a:prstGeom prst="rect">
            <a:avLst/>
          </a:prstGeom>
        </p:spPr>
      </p:pic>
      <p:sp>
        <p:nvSpPr>
          <p:cNvPr id="70" name="TextBox 69"/>
          <p:cNvSpPr txBox="1"/>
          <p:nvPr/>
        </p:nvSpPr>
        <p:spPr>
          <a:xfrm>
            <a:off x="1661425"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1" name="Picture 70" descr="lock.png"/>
          <p:cNvPicPr>
            <a:picLocks noChangeAspect="1"/>
          </p:cNvPicPr>
          <p:nvPr/>
        </p:nvPicPr>
        <p:blipFill>
          <a:blip r:embed="rId13"/>
          <a:stretch>
            <a:fillRect/>
          </a:stretch>
        </p:blipFill>
        <p:spPr>
          <a:xfrm>
            <a:off x="2520875" y="4655522"/>
            <a:ext cx="128699" cy="187198"/>
          </a:xfrm>
          <a:prstGeom prst="rect">
            <a:avLst/>
          </a:prstGeom>
        </p:spPr>
      </p:pic>
      <p:sp>
        <p:nvSpPr>
          <p:cNvPr id="72" name="TextBox 71"/>
          <p:cNvSpPr txBox="1"/>
          <p:nvPr/>
        </p:nvSpPr>
        <p:spPr>
          <a:xfrm>
            <a:off x="2688371"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Nutritional Positioning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Nutritional Positioning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Nutritional Positioning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Nutritional Positioning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093667" cy="186689"/>
          </a:xfrm>
          <a:prstGeom prst="rect">
            <a:avLst/>
          </a:prstGeom>
          <a:noFill/>
        </p:spPr>
        <p:txBody>
          <a:bodyPr wrap="none" lIns="0" rIns="0" tIns="0" bIns="0">
            <a:spAutoFit/>
          </a:bodyPr>
          <a:lstStyle/>
          <a:p>
            <a:r>
              <a:rPr sz="1100" b="0">
                <a:solidFill>
                  <a:srgbClr val="2E2E2E"/>
                </a:solidFill>
                <a:latin typeface="Calibri"/>
              </a:rPr>
              <a:t>Between 2026 and 2036, 'Protein-enriched' gains the most share in the Global market (+</a:t>
            </a:r>
          </a:p>
        </p:txBody>
      </p:sp>
      <p:pic>
        <p:nvPicPr>
          <p:cNvPr id="21" name="Picture 20" descr="lock.png"/>
          <p:cNvPicPr>
            <a:picLocks noChangeAspect="1"/>
          </p:cNvPicPr>
          <p:nvPr/>
        </p:nvPicPr>
        <p:blipFill>
          <a:blip r:embed="rId6"/>
          <a:stretch>
            <a:fillRect/>
          </a:stretch>
        </p:blipFill>
        <p:spPr>
          <a:xfrm>
            <a:off x="5298893" y="5851905"/>
            <a:ext cx="128699" cy="187198"/>
          </a:xfrm>
          <a:prstGeom prst="rect">
            <a:avLst/>
          </a:prstGeom>
        </p:spPr>
      </p:pic>
      <p:sp>
        <p:nvSpPr>
          <p:cNvPr id="22" name="TextBox 21"/>
          <p:cNvSpPr txBox="1"/>
          <p:nvPr/>
        </p:nvSpPr>
        <p:spPr>
          <a:xfrm>
            <a:off x="5466389" y="5861685"/>
            <a:ext cx="3235821" cy="186689"/>
          </a:xfrm>
          <a:prstGeom prst="rect">
            <a:avLst/>
          </a:prstGeom>
          <a:noFill/>
        </p:spPr>
        <p:txBody>
          <a:bodyPr wrap="none" lIns="0" rIns="0" tIns="0" bIns="0">
            <a:spAutoFit/>
          </a:bodyPr>
          <a:lstStyle/>
          <a:p>
            <a:r>
              <a:rPr sz="1100" b="0">
                <a:solidFill>
                  <a:srgbClr val="2E2E2E"/>
                </a:solidFill>
                <a:latin typeface="Calibri"/>
              </a:rPr>
              <a:t>BPS) while 'Other nutrition-focused formulations' cedes</a:t>
            </a:r>
          </a:p>
        </p:txBody>
      </p:sp>
      <p:pic>
        <p:nvPicPr>
          <p:cNvPr id="23" name="Picture 22" descr="lock.png"/>
          <p:cNvPicPr>
            <a:picLocks noChangeAspect="1"/>
          </p:cNvPicPr>
          <p:nvPr/>
        </p:nvPicPr>
        <p:blipFill>
          <a:blip r:embed="rId6"/>
          <a:stretch>
            <a:fillRect/>
          </a:stretch>
        </p:blipFill>
        <p:spPr>
          <a:xfrm>
            <a:off x="8650262" y="5851905"/>
            <a:ext cx="128699" cy="187198"/>
          </a:xfrm>
          <a:prstGeom prst="rect">
            <a:avLst/>
          </a:prstGeom>
        </p:spPr>
      </p:pic>
      <p:sp>
        <p:nvSpPr>
          <p:cNvPr id="24" name="TextBox 23"/>
          <p:cNvSpPr txBox="1"/>
          <p:nvPr/>
        </p:nvSpPr>
        <p:spPr>
          <a:xfrm>
            <a:off x="8817758" y="5861685"/>
            <a:ext cx="2741124"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a:t>
            </a:r>
          </a:p>
        </p:txBody>
      </p:sp>
      <p:sp>
        <p:nvSpPr>
          <p:cNvPr id="25" name="TextBox 24"/>
          <p:cNvSpPr txBox="1"/>
          <p:nvPr/>
        </p:nvSpPr>
        <p:spPr>
          <a:xfrm>
            <a:off x="257175" y="602932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Nutritional Positioning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Nutritional Positioning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Standard / indulgent</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Protein-enriched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Fibre-enriched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Reduced-sugar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Nutritional Positioning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Nutritional Positioning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No-added-sugar</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Reduced-fat</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nutrition-focused formulations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Nutritional Positioning</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7"/>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3100230" y="5216754"/>
            <a:ext cx="252890" cy="367840"/>
          </a:xfrm>
          <a:prstGeom prst="rect">
            <a:avLst/>
          </a:prstGeom>
        </p:spPr>
      </p:pic>
      <p:sp>
        <p:nvSpPr>
          <p:cNvPr id="27" name="TextBox 26"/>
          <p:cNvSpPr txBox="1"/>
          <p:nvPr/>
        </p:nvSpPr>
        <p:spPr>
          <a:xfrm>
            <a:off x="6305550" y="4286250"/>
            <a:ext cx="3568278" cy="194310"/>
          </a:xfrm>
          <a:prstGeom prst="rect">
            <a:avLst/>
          </a:prstGeom>
          <a:noFill/>
        </p:spPr>
        <p:txBody>
          <a:bodyPr wrap="none" lIns="0" rIns="0" tIns="0" bIns="0">
            <a:spAutoFit/>
          </a:bodyPr>
          <a:lstStyle/>
          <a:p>
            <a:r>
              <a:rPr sz="1150" b="0">
                <a:solidFill>
                  <a:srgbClr val="2E2E2E"/>
                </a:solidFill>
                <a:latin typeface="Calibri"/>
              </a:rPr>
              <a:t>▪ Across its 7 sub-segments, by nutritional positioning adds</a:t>
            </a:r>
          </a:p>
        </p:txBody>
      </p:sp>
      <p:pic>
        <p:nvPicPr>
          <p:cNvPr id="28" name="Picture 27" descr="lock.png"/>
          <p:cNvPicPr>
            <a:picLocks noChangeAspect="1"/>
          </p:cNvPicPr>
          <p:nvPr/>
        </p:nvPicPr>
        <p:blipFill>
          <a:blip r:embed="rId7"/>
          <a:stretch>
            <a:fillRect/>
          </a:stretch>
        </p:blipFill>
        <p:spPr>
          <a:xfrm>
            <a:off x="9822982" y="4276026"/>
            <a:ext cx="134549" cy="195707"/>
          </a:xfrm>
          <a:prstGeom prst="rect">
            <a:avLst/>
          </a:prstGeom>
        </p:spPr>
      </p:pic>
      <p:sp>
        <p:nvSpPr>
          <p:cNvPr id="29" name="TextBox 28"/>
          <p:cNvSpPr txBox="1"/>
          <p:nvPr/>
        </p:nvSpPr>
        <p:spPr>
          <a:xfrm>
            <a:off x="9998091" y="4286250"/>
            <a:ext cx="1811970" cy="194310"/>
          </a:xfrm>
          <a:prstGeom prst="rect">
            <a:avLst/>
          </a:prstGeom>
          <a:noFill/>
        </p:spPr>
        <p:txBody>
          <a:bodyPr wrap="none" lIns="0" rIns="0" tIns="0" bIns="0">
            <a:spAutoFit/>
          </a:bodyPr>
          <a:lstStyle/>
          <a:p>
            <a:r>
              <a:rPr sz="1150" b="0">
                <a:solidFill>
                  <a:srgbClr val="2E2E2E"/>
                </a:solidFill>
                <a:latin typeface="Calibri"/>
              </a:rPr>
              <a:t>US$ Mn to the Global market</a:t>
            </a:r>
          </a:p>
        </p:txBody>
      </p:sp>
      <p:sp>
        <p:nvSpPr>
          <p:cNvPr id="30" name="TextBox 29"/>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1" name="TextBox 30"/>
          <p:cNvSpPr txBox="1"/>
          <p:nvPr/>
        </p:nvSpPr>
        <p:spPr>
          <a:xfrm>
            <a:off x="6305550" y="4689347"/>
            <a:ext cx="1541834" cy="194310"/>
          </a:xfrm>
          <a:prstGeom prst="rect">
            <a:avLst/>
          </a:prstGeom>
          <a:noFill/>
        </p:spPr>
        <p:txBody>
          <a:bodyPr wrap="none" lIns="0" rIns="0" tIns="0" bIns="0">
            <a:spAutoFit/>
          </a:bodyPr>
          <a:lstStyle/>
          <a:p>
            <a:r>
              <a:rPr sz="1150" b="0">
                <a:solidFill>
                  <a:srgbClr val="2E2E2E"/>
                </a:solidFill>
                <a:latin typeface="Calibri"/>
              </a:rPr>
              <a:t>▪ 'Protein-enriched' adds</a:t>
            </a:r>
          </a:p>
        </p:txBody>
      </p:sp>
      <p:pic>
        <p:nvPicPr>
          <p:cNvPr id="32" name="Picture 31" descr="lock.png"/>
          <p:cNvPicPr>
            <a:picLocks noChangeAspect="1"/>
          </p:cNvPicPr>
          <p:nvPr/>
        </p:nvPicPr>
        <p:blipFill>
          <a:blip r:embed="rId7"/>
          <a:stretch>
            <a:fillRect/>
          </a:stretch>
        </p:blipFill>
        <p:spPr>
          <a:xfrm>
            <a:off x="7796538" y="4679124"/>
            <a:ext cx="134549" cy="195707"/>
          </a:xfrm>
          <a:prstGeom prst="rect">
            <a:avLst/>
          </a:prstGeom>
        </p:spPr>
      </p:pic>
      <p:sp>
        <p:nvSpPr>
          <p:cNvPr id="33" name="TextBox 32"/>
          <p:cNvSpPr txBox="1"/>
          <p:nvPr/>
        </p:nvSpPr>
        <p:spPr>
          <a:xfrm>
            <a:off x="7971647"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4" name="Picture 33" descr="lock.png"/>
          <p:cNvPicPr>
            <a:picLocks noChangeAspect="1"/>
          </p:cNvPicPr>
          <p:nvPr/>
        </p:nvPicPr>
        <p:blipFill>
          <a:blip r:embed="rId7"/>
          <a:stretch>
            <a:fillRect/>
          </a:stretch>
        </p:blipFill>
        <p:spPr>
          <a:xfrm>
            <a:off x="8544118" y="4679124"/>
            <a:ext cx="134549" cy="195707"/>
          </a:xfrm>
          <a:prstGeom prst="rect">
            <a:avLst/>
          </a:prstGeom>
        </p:spPr>
      </p:pic>
      <p:sp>
        <p:nvSpPr>
          <p:cNvPr id="35" name="TextBox 34"/>
          <p:cNvSpPr txBox="1"/>
          <p:nvPr/>
        </p:nvSpPr>
        <p:spPr>
          <a:xfrm>
            <a:off x="8719227"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6" name="TextBox 35"/>
          <p:cNvSpPr txBox="1"/>
          <p:nvPr/>
        </p:nvSpPr>
        <p:spPr>
          <a:xfrm>
            <a:off x="6305550" y="4917185"/>
            <a:ext cx="1424024" cy="194310"/>
          </a:xfrm>
          <a:prstGeom prst="rect">
            <a:avLst/>
          </a:prstGeom>
          <a:noFill/>
        </p:spPr>
        <p:txBody>
          <a:bodyPr wrap="none" lIns="0" rIns="0" tIns="0" bIns="0">
            <a:spAutoFit/>
          </a:bodyPr>
          <a:lstStyle/>
          <a:p>
            <a:r>
              <a:rPr sz="1150" b="0">
                <a:solidFill>
                  <a:srgbClr val="2E2E2E"/>
                </a:solidFill>
                <a:latin typeface="Calibri"/>
              </a:rPr>
              <a:t>▪ 'Reduced-sugar' adds</a:t>
            </a:r>
          </a:p>
        </p:txBody>
      </p:sp>
      <p:pic>
        <p:nvPicPr>
          <p:cNvPr id="37" name="Picture 36" descr="lock.png"/>
          <p:cNvPicPr>
            <a:picLocks noChangeAspect="1"/>
          </p:cNvPicPr>
          <p:nvPr/>
        </p:nvPicPr>
        <p:blipFill>
          <a:blip r:embed="rId7"/>
          <a:stretch>
            <a:fillRect/>
          </a:stretch>
        </p:blipFill>
        <p:spPr>
          <a:xfrm>
            <a:off x="7678728" y="4906962"/>
            <a:ext cx="134549" cy="195707"/>
          </a:xfrm>
          <a:prstGeom prst="rect">
            <a:avLst/>
          </a:prstGeom>
        </p:spPr>
      </p:pic>
      <p:sp>
        <p:nvSpPr>
          <p:cNvPr id="38" name="TextBox 37"/>
          <p:cNvSpPr txBox="1"/>
          <p:nvPr/>
        </p:nvSpPr>
        <p:spPr>
          <a:xfrm>
            <a:off x="7853837"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9" name="Picture 38" descr="lock.png"/>
          <p:cNvPicPr>
            <a:picLocks noChangeAspect="1"/>
          </p:cNvPicPr>
          <p:nvPr/>
        </p:nvPicPr>
        <p:blipFill>
          <a:blip r:embed="rId7"/>
          <a:stretch>
            <a:fillRect/>
          </a:stretch>
        </p:blipFill>
        <p:spPr>
          <a:xfrm>
            <a:off x="8426308" y="4906962"/>
            <a:ext cx="134549" cy="195707"/>
          </a:xfrm>
          <a:prstGeom prst="rect">
            <a:avLst/>
          </a:prstGeom>
        </p:spPr>
      </p:pic>
      <p:sp>
        <p:nvSpPr>
          <p:cNvPr id="40" name="TextBox 39"/>
          <p:cNvSpPr txBox="1"/>
          <p:nvPr/>
        </p:nvSpPr>
        <p:spPr>
          <a:xfrm>
            <a:off x="8601418"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1" name="TextBox 40"/>
          <p:cNvSpPr txBox="1"/>
          <p:nvPr/>
        </p:nvSpPr>
        <p:spPr>
          <a:xfrm>
            <a:off x="6305550" y="5145023"/>
            <a:ext cx="1763476" cy="194310"/>
          </a:xfrm>
          <a:prstGeom prst="rect">
            <a:avLst/>
          </a:prstGeom>
          <a:noFill/>
        </p:spPr>
        <p:txBody>
          <a:bodyPr wrap="none" lIns="0" rIns="0" tIns="0" bIns="0">
            <a:spAutoFit/>
          </a:bodyPr>
          <a:lstStyle/>
          <a:p>
            <a:r>
              <a:rPr sz="1150" b="0">
                <a:solidFill>
                  <a:srgbClr val="2E2E2E"/>
                </a:solidFill>
                <a:latin typeface="Calibri"/>
              </a:rPr>
              <a:t>▪ 'Standard / indulgent' adds</a:t>
            </a:r>
          </a:p>
        </p:txBody>
      </p:sp>
      <p:pic>
        <p:nvPicPr>
          <p:cNvPr id="42" name="Picture 41" descr="lock.png"/>
          <p:cNvPicPr>
            <a:picLocks noChangeAspect="1"/>
          </p:cNvPicPr>
          <p:nvPr/>
        </p:nvPicPr>
        <p:blipFill>
          <a:blip r:embed="rId7"/>
          <a:stretch>
            <a:fillRect/>
          </a:stretch>
        </p:blipFill>
        <p:spPr>
          <a:xfrm>
            <a:off x="8018180" y="5134800"/>
            <a:ext cx="134549" cy="195707"/>
          </a:xfrm>
          <a:prstGeom prst="rect">
            <a:avLst/>
          </a:prstGeom>
        </p:spPr>
      </p:pic>
      <p:sp>
        <p:nvSpPr>
          <p:cNvPr id="43" name="TextBox 42"/>
          <p:cNvSpPr txBox="1"/>
          <p:nvPr/>
        </p:nvSpPr>
        <p:spPr>
          <a:xfrm>
            <a:off x="8193290"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4" name="Picture 43" descr="lock.png"/>
          <p:cNvPicPr>
            <a:picLocks noChangeAspect="1"/>
          </p:cNvPicPr>
          <p:nvPr/>
        </p:nvPicPr>
        <p:blipFill>
          <a:blip r:embed="rId7"/>
          <a:stretch>
            <a:fillRect/>
          </a:stretch>
        </p:blipFill>
        <p:spPr>
          <a:xfrm>
            <a:off x="8765760" y="5134800"/>
            <a:ext cx="134549" cy="195707"/>
          </a:xfrm>
          <a:prstGeom prst="rect">
            <a:avLst/>
          </a:prstGeom>
        </p:spPr>
      </p:pic>
      <p:sp>
        <p:nvSpPr>
          <p:cNvPr id="45" name="TextBox 44"/>
          <p:cNvSpPr txBox="1"/>
          <p:nvPr/>
        </p:nvSpPr>
        <p:spPr>
          <a:xfrm>
            <a:off x="8940870"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6" name="TextBox 45"/>
          <p:cNvSpPr txBox="1"/>
          <p:nvPr/>
        </p:nvSpPr>
        <p:spPr>
          <a:xfrm>
            <a:off x="6305550" y="5372861"/>
            <a:ext cx="1993391" cy="194310"/>
          </a:xfrm>
          <a:prstGeom prst="rect">
            <a:avLst/>
          </a:prstGeom>
          <a:noFill/>
        </p:spPr>
        <p:txBody>
          <a:bodyPr wrap="none" lIns="0" rIns="0" tIns="0" bIns="0">
            <a:spAutoFit/>
          </a:bodyPr>
          <a:lstStyle/>
          <a:p>
            <a:r>
              <a:rPr sz="1150" b="0">
                <a:solidFill>
                  <a:srgbClr val="2E2E2E"/>
                </a:solidFill>
                <a:latin typeface="Calibri"/>
              </a:rPr>
              <a:t>▪ 'Fibre-enriched' adds the least:</a:t>
            </a:r>
          </a:p>
        </p:txBody>
      </p:sp>
      <p:pic>
        <p:nvPicPr>
          <p:cNvPr id="47" name="Picture 46" descr="lock.png"/>
          <p:cNvPicPr>
            <a:picLocks noChangeAspect="1"/>
          </p:cNvPicPr>
          <p:nvPr/>
        </p:nvPicPr>
        <p:blipFill>
          <a:blip r:embed="rId7"/>
          <a:stretch>
            <a:fillRect/>
          </a:stretch>
        </p:blipFill>
        <p:spPr>
          <a:xfrm>
            <a:off x="8248095" y="5362638"/>
            <a:ext cx="134549" cy="195707"/>
          </a:xfrm>
          <a:prstGeom prst="rect">
            <a:avLst/>
          </a:prstGeom>
        </p:spPr>
      </p:pic>
      <p:sp>
        <p:nvSpPr>
          <p:cNvPr id="48" name="TextBox 47"/>
          <p:cNvSpPr txBox="1"/>
          <p:nvPr/>
        </p:nvSpPr>
        <p:spPr>
          <a:xfrm>
            <a:off x="8423204" y="5372861"/>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9" name="Picture 48" descr="lock.png"/>
          <p:cNvPicPr>
            <a:picLocks noChangeAspect="1"/>
          </p:cNvPicPr>
          <p:nvPr/>
        </p:nvPicPr>
        <p:blipFill>
          <a:blip r:embed="rId7"/>
          <a:stretch>
            <a:fillRect/>
          </a:stretch>
        </p:blipFill>
        <p:spPr>
          <a:xfrm>
            <a:off x="8995675" y="5362638"/>
            <a:ext cx="134549" cy="195707"/>
          </a:xfrm>
          <a:prstGeom prst="rect">
            <a:avLst/>
          </a:prstGeom>
        </p:spPr>
      </p:pic>
      <p:sp>
        <p:nvSpPr>
          <p:cNvPr id="50" name="TextBox 49"/>
          <p:cNvSpPr txBox="1"/>
          <p:nvPr/>
        </p:nvSpPr>
        <p:spPr>
          <a:xfrm>
            <a:off x="9170784" y="5372861"/>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1"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Nutritional Positioning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Nutritional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457575"/>
          </a:xfrm>
          <a:prstGeom prst="roundRect">
            <a:avLst>
              <a:gd name="adj" fmla="val 22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Nutritional Positioning (MT)</a:t>
            </a:r>
          </a:p>
        </p:txBody>
      </p:sp>
      <p:graphicFrame>
        <p:nvGraphicFramePr>
          <p:cNvPr id="13" name="Table 12"/>
          <p:cNvGraphicFramePr>
            <a:graphicFrameLocks noGrp="1"/>
          </p:cNvGraphicFramePr>
          <p:nvPr/>
        </p:nvGraphicFramePr>
        <p:xfrm>
          <a:off x="152400" y="1238250"/>
          <a:ext cx="11887208" cy="2990852"/>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Nutritional</a:t>
                      </a:r>
                      <a:endParaRPr sz="1100"/>
                    </a:p>
                    <a:p>
                      <a:pPr algn="l"/>
                      <a:r>
                        <a:rPr sz="1100" b="1">
                          <a:solidFill>
                            <a:srgbClr val="0B2E4A"/>
                          </a:solidFill>
                          <a:latin typeface="Calibri"/>
                        </a:rPr>
                        <a:t>Positioning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483">
                <a:tc>
                  <a:txBody>
                    <a:bodyPr wrap="none"/>
                    <a:lstStyle/>
                    <a:p>
                      <a:pPr algn="l"/>
                      <a:r>
                        <a:rPr sz="1100" b="1">
                          <a:solidFill>
                            <a:srgbClr val="2E2E2E"/>
                          </a:solidFill>
                          <a:latin typeface="Calibri"/>
                        </a:rPr>
                        <a:t>Standard /</a:t>
                      </a:r>
                      <a:endParaRPr sz="1100"/>
                    </a:p>
                    <a:p>
                      <a:pPr algn="l"/>
                      <a:r>
                        <a:rPr sz="1100" b="1">
                          <a:solidFill>
                            <a:srgbClr val="2E2E2E"/>
                          </a:solidFill>
                          <a:latin typeface="Calibri"/>
                        </a:rPr>
                        <a:t>indulgent</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98">
                <a:tc>
                  <a:txBody>
                    <a:bodyPr wrap="none"/>
                    <a:lstStyle/>
                    <a:p>
                      <a:pPr algn="l"/>
                      <a:r>
                        <a:rPr sz="1100" b="1">
                          <a:solidFill>
                            <a:srgbClr val="2E2E2E"/>
                          </a:solidFill>
                          <a:latin typeface="Calibri"/>
                        </a:rPr>
                        <a:t>Protein-enriched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98">
                <a:tc>
                  <a:txBody>
                    <a:bodyPr wrap="none"/>
                    <a:lstStyle/>
                    <a:p>
                      <a:pPr algn="l"/>
                      <a:r>
                        <a:rPr sz="1100" b="1">
                          <a:solidFill>
                            <a:srgbClr val="2E2E2E"/>
                          </a:solidFill>
                          <a:latin typeface="Calibri"/>
                        </a:rPr>
                        <a:t>Fibre-enriched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98">
                <a:tc>
                  <a:txBody>
                    <a:bodyPr wrap="none"/>
                    <a:lstStyle/>
                    <a:p>
                      <a:pPr algn="l"/>
                      <a:r>
                        <a:rPr sz="1100" b="1">
                          <a:solidFill>
                            <a:srgbClr val="2E2E2E"/>
                          </a:solidFill>
                          <a:latin typeface="Calibri"/>
                        </a:rPr>
                        <a:t>Reduced-sugar</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98">
                <a:tc>
                  <a:txBody>
                    <a:bodyPr wrap="none"/>
                    <a:lstStyle/>
                    <a:p>
                      <a:pPr algn="l"/>
                      <a:r>
                        <a:rPr sz="1100" b="1">
                          <a:solidFill>
                            <a:srgbClr val="2E2E2E"/>
                          </a:solidFill>
                          <a:latin typeface="Calibri"/>
                        </a:rPr>
                        <a:t>No-added-sugar</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98">
                <a:tc>
                  <a:txBody>
                    <a:bodyPr wrap="none"/>
                    <a:lstStyle/>
                    <a:p>
                      <a:pPr algn="l"/>
                      <a:r>
                        <a:rPr sz="1100" b="1">
                          <a:solidFill>
                            <a:srgbClr val="2E2E2E"/>
                          </a:solidFill>
                          <a:latin typeface="Calibri"/>
                        </a:rPr>
                        <a:t>Reduced-fat</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269">
                <a:tc>
                  <a:txBody>
                    <a:bodyPr wrap="none"/>
                    <a:lstStyle/>
                    <a:p>
                      <a:pPr algn="l"/>
                      <a:r>
                        <a:rPr sz="1100" b="1">
                          <a:solidFill>
                            <a:srgbClr val="2E2E2E"/>
                          </a:solidFill>
                          <a:latin typeface="Calibri"/>
                        </a:rPr>
                        <a:t>Other nutrition-</a:t>
                      </a:r>
                      <a:endParaRPr sz="1100"/>
                    </a:p>
                    <a:p>
                      <a:pPr algn="l"/>
                      <a:r>
                        <a:rPr sz="1100" b="1">
                          <a:solidFill>
                            <a:srgbClr val="2E2E2E"/>
                          </a:solidFill>
                          <a:latin typeface="Calibri"/>
                        </a:rPr>
                        <a:t>focused</a:t>
                      </a:r>
                      <a:endParaRPr sz="1100"/>
                    </a:p>
                    <a:p>
                      <a:pPr algn="l"/>
                      <a:r>
                        <a:rPr sz="1100" b="1">
                          <a:solidFill>
                            <a:srgbClr val="2E2E2E"/>
                          </a:solidFill>
                          <a:latin typeface="Calibri"/>
                        </a:rPr>
                        <a:t>formulations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9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2386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57200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577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Nutritional Positioning</a:t>
            </a:r>
          </a:p>
        </p:txBody>
      </p:sp>
      <p:sp>
        <p:nvSpPr>
          <p:cNvPr id="17" name="Rectangle 16"/>
          <p:cNvSpPr/>
          <p:nvPr/>
        </p:nvSpPr>
        <p:spPr>
          <a:xfrm>
            <a:off x="276225" y="4895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98157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686432"/>
            <a:ext cx="366712" cy="533400"/>
          </a:xfrm>
          <a:prstGeom prst="rect">
            <a:avLst/>
          </a:prstGeom>
        </p:spPr>
      </p:pic>
      <p:sp>
        <p:nvSpPr>
          <p:cNvPr id="21" name="TextBox 20"/>
          <p:cNvSpPr txBox="1"/>
          <p:nvPr/>
        </p:nvSpPr>
        <p:spPr>
          <a:xfrm>
            <a:off x="276225" y="4991100"/>
            <a:ext cx="3524634" cy="194310"/>
          </a:xfrm>
          <a:prstGeom prst="rect">
            <a:avLst/>
          </a:prstGeom>
          <a:noFill/>
        </p:spPr>
        <p:txBody>
          <a:bodyPr wrap="none" lIns="0" rIns="0" tIns="0" bIns="0">
            <a:spAutoFit/>
          </a:bodyPr>
          <a:lstStyle/>
          <a:p>
            <a:r>
              <a:rPr sz="1150" b="0">
                <a:solidFill>
                  <a:srgbClr val="2E2E2E"/>
                </a:solidFill>
                <a:latin typeface="Calibri"/>
              </a:rPr>
              <a:t>▪ 'Protein-enriched' is the largest nutritional positioning at</a:t>
            </a:r>
          </a:p>
        </p:txBody>
      </p:sp>
      <p:pic>
        <p:nvPicPr>
          <p:cNvPr id="22" name="Picture 21" descr="lock.png"/>
          <p:cNvPicPr>
            <a:picLocks noChangeAspect="1"/>
          </p:cNvPicPr>
          <p:nvPr/>
        </p:nvPicPr>
        <p:blipFill>
          <a:blip r:embed="rId4"/>
          <a:stretch>
            <a:fillRect/>
          </a:stretch>
        </p:blipFill>
        <p:spPr>
          <a:xfrm>
            <a:off x="3750013" y="4980876"/>
            <a:ext cx="134549" cy="195707"/>
          </a:xfrm>
          <a:prstGeom prst="rect">
            <a:avLst/>
          </a:prstGeom>
        </p:spPr>
      </p:pic>
      <p:sp>
        <p:nvSpPr>
          <p:cNvPr id="23" name="TextBox 22"/>
          <p:cNvSpPr txBox="1"/>
          <p:nvPr/>
        </p:nvSpPr>
        <p:spPr>
          <a:xfrm>
            <a:off x="3925122" y="49911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954855" y="4980876"/>
            <a:ext cx="134549" cy="195707"/>
          </a:xfrm>
          <a:prstGeom prst="rect">
            <a:avLst/>
          </a:prstGeom>
        </p:spPr>
      </p:pic>
      <p:sp>
        <p:nvSpPr>
          <p:cNvPr id="25" name="TextBox 24"/>
          <p:cNvSpPr txBox="1"/>
          <p:nvPr/>
        </p:nvSpPr>
        <p:spPr>
          <a:xfrm>
            <a:off x="5129964" y="49911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5218938"/>
            <a:ext cx="1917513" cy="194310"/>
          </a:xfrm>
          <a:prstGeom prst="rect">
            <a:avLst/>
          </a:prstGeom>
          <a:noFill/>
        </p:spPr>
        <p:txBody>
          <a:bodyPr wrap="none" lIns="0" rIns="0" tIns="0" bIns="0">
            <a:spAutoFit/>
          </a:bodyPr>
          <a:lstStyle/>
          <a:p>
            <a:r>
              <a:rPr sz="1150" b="0">
                <a:solidFill>
                  <a:srgbClr val="2E2E2E"/>
                </a:solidFill>
                <a:latin typeface="Calibri"/>
              </a:rPr>
              <a:t>▪ 'Fibre-enriched' grows fastest</a:t>
            </a:r>
          </a:p>
        </p:txBody>
      </p:sp>
      <p:pic>
        <p:nvPicPr>
          <p:cNvPr id="27" name="Picture 26" descr="lock.png"/>
          <p:cNvPicPr>
            <a:picLocks noChangeAspect="1"/>
          </p:cNvPicPr>
          <p:nvPr/>
        </p:nvPicPr>
        <p:blipFill>
          <a:blip r:embed="rId4"/>
          <a:stretch>
            <a:fillRect/>
          </a:stretch>
        </p:blipFill>
        <p:spPr>
          <a:xfrm>
            <a:off x="2142892" y="5208714"/>
            <a:ext cx="134549" cy="195707"/>
          </a:xfrm>
          <a:prstGeom prst="rect">
            <a:avLst/>
          </a:prstGeom>
        </p:spPr>
      </p:pic>
      <p:sp>
        <p:nvSpPr>
          <p:cNvPr id="28" name="TextBox 27"/>
          <p:cNvSpPr txBox="1"/>
          <p:nvPr/>
        </p:nvSpPr>
        <p:spPr>
          <a:xfrm>
            <a:off x="2318002" y="521893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446775"/>
            <a:ext cx="2561332" cy="194310"/>
          </a:xfrm>
          <a:prstGeom prst="rect">
            <a:avLst/>
          </a:prstGeom>
          <a:noFill/>
        </p:spPr>
        <p:txBody>
          <a:bodyPr wrap="none" lIns="0" rIns="0" tIns="0" bIns="0">
            <a:spAutoFit/>
          </a:bodyPr>
          <a:lstStyle/>
          <a:p>
            <a:r>
              <a:rPr sz="1150" b="0">
                <a:solidFill>
                  <a:srgbClr val="2E2E2E"/>
                </a:solidFill>
                <a:latin typeface="Calibri"/>
              </a:rPr>
              <a:t>▪ Share shifts toward 'Protein-enriched' (+</a:t>
            </a:r>
          </a:p>
        </p:txBody>
      </p:sp>
      <p:pic>
        <p:nvPicPr>
          <p:cNvPr id="30" name="Picture 29" descr="lock.png"/>
          <p:cNvPicPr>
            <a:picLocks noChangeAspect="1"/>
          </p:cNvPicPr>
          <p:nvPr/>
        </p:nvPicPr>
        <p:blipFill>
          <a:blip r:embed="rId4"/>
          <a:stretch>
            <a:fillRect/>
          </a:stretch>
        </p:blipFill>
        <p:spPr>
          <a:xfrm>
            <a:off x="2786710" y="5436552"/>
            <a:ext cx="134549" cy="195707"/>
          </a:xfrm>
          <a:prstGeom prst="rect">
            <a:avLst/>
          </a:prstGeom>
        </p:spPr>
      </p:pic>
      <p:sp>
        <p:nvSpPr>
          <p:cNvPr id="31" name="TextBox 30"/>
          <p:cNvSpPr txBox="1"/>
          <p:nvPr/>
        </p:nvSpPr>
        <p:spPr>
          <a:xfrm>
            <a:off x="2961820" y="5446775"/>
            <a:ext cx="3695216" cy="194310"/>
          </a:xfrm>
          <a:prstGeom prst="rect">
            <a:avLst/>
          </a:prstGeom>
          <a:noFill/>
        </p:spPr>
        <p:txBody>
          <a:bodyPr wrap="none" lIns="0" rIns="0" tIns="0" bIns="0">
            <a:spAutoFit/>
          </a:bodyPr>
          <a:lstStyle/>
          <a:p>
            <a:r>
              <a:rPr sz="1150" b="0">
                <a:solidFill>
                  <a:srgbClr val="2E2E2E"/>
                </a:solidFill>
                <a:latin typeface="Calibri"/>
              </a:rPr>
              <a:t>BPS) and away from 'Other nutrition-focused formulations' (-</a:t>
            </a:r>
          </a:p>
        </p:txBody>
      </p:sp>
      <p:pic>
        <p:nvPicPr>
          <p:cNvPr id="32" name="Picture 31" descr="lock.png"/>
          <p:cNvPicPr>
            <a:picLocks noChangeAspect="1"/>
          </p:cNvPicPr>
          <p:nvPr/>
        </p:nvPicPr>
        <p:blipFill>
          <a:blip r:embed="rId4"/>
          <a:stretch>
            <a:fillRect/>
          </a:stretch>
        </p:blipFill>
        <p:spPr>
          <a:xfrm>
            <a:off x="6606190" y="5436552"/>
            <a:ext cx="134549" cy="195707"/>
          </a:xfrm>
          <a:prstGeom prst="rect">
            <a:avLst/>
          </a:prstGeom>
        </p:spPr>
      </p:pic>
      <p:sp>
        <p:nvSpPr>
          <p:cNvPr id="33" name="TextBox 32"/>
          <p:cNvSpPr txBox="1"/>
          <p:nvPr/>
        </p:nvSpPr>
        <p:spPr>
          <a:xfrm>
            <a:off x="6781299" y="54467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6746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664390"/>
            <a:ext cx="134549" cy="195707"/>
          </a:xfrm>
          <a:prstGeom prst="rect">
            <a:avLst/>
          </a:prstGeom>
        </p:spPr>
      </p:pic>
      <p:sp>
        <p:nvSpPr>
          <p:cNvPr id="36" name="TextBox 35"/>
          <p:cNvSpPr txBox="1"/>
          <p:nvPr/>
        </p:nvSpPr>
        <p:spPr>
          <a:xfrm>
            <a:off x="1965143" y="56746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664390"/>
            <a:ext cx="134549" cy="195707"/>
          </a:xfrm>
          <a:prstGeom prst="rect">
            <a:avLst/>
          </a:prstGeom>
        </p:spPr>
      </p:pic>
      <p:sp>
        <p:nvSpPr>
          <p:cNvPr id="38" name="TextBox 37"/>
          <p:cNvSpPr txBox="1"/>
          <p:nvPr/>
        </p:nvSpPr>
        <p:spPr>
          <a:xfrm>
            <a:off x="2291688" y="5674613"/>
            <a:ext cx="1470521" cy="194310"/>
          </a:xfrm>
          <a:prstGeom prst="rect">
            <a:avLst/>
          </a:prstGeom>
          <a:noFill/>
        </p:spPr>
        <p:txBody>
          <a:bodyPr wrap="none" lIns="0" rIns="0" tIns="0" bIns="0">
            <a:spAutoFit/>
          </a:bodyPr>
          <a:lstStyle/>
          <a:p>
            <a:r>
              <a:rPr sz="1150" b="0">
                <a:solidFill>
                  <a:srgbClr val="2E2E2E"/>
                </a:solidFill>
                <a:latin typeface="Calibri"/>
              </a:rPr>
              <a:t>MT across 7 categories.</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Nutritional Positioning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Nutritional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Nutritional Positioning (US$ Mn)</a:t>
            </a:r>
          </a:p>
        </p:txBody>
      </p:sp>
      <p:graphicFrame>
        <p:nvGraphicFramePr>
          <p:cNvPr id="13" name="Table 12"/>
          <p:cNvGraphicFramePr>
            <a:graphicFrameLocks noGrp="1"/>
          </p:cNvGraphicFramePr>
          <p:nvPr/>
        </p:nvGraphicFramePr>
        <p:xfrm>
          <a:off x="152400" y="1238250"/>
          <a:ext cx="11887203" cy="2219326"/>
        </p:xfrm>
        <a:graphic>
          <a:graphicData uri="http://schemas.openxmlformats.org/drawingml/2006/table">
            <a:tbl>
              <a:tblPr>
                <a:tableStyleId>{5C22544A-7EE6-4342-B048-85BDC9FD1C3A}</a:tableStyleId>
              </a:tblPr>
              <a:tblGrid>
                <a:gridCol w="2374428"/>
                <a:gridCol w="559575"/>
                <a:gridCol w="559575"/>
                <a:gridCol w="559575"/>
                <a:gridCol w="559575"/>
                <a:gridCol w="559575"/>
                <a:gridCol w="559575"/>
                <a:gridCol w="559575"/>
                <a:gridCol w="559575"/>
                <a:gridCol w="559575"/>
                <a:gridCol w="559575"/>
                <a:gridCol w="559575"/>
                <a:gridCol w="559575"/>
                <a:gridCol w="559575"/>
                <a:gridCol w="559575"/>
                <a:gridCol w="559575"/>
                <a:gridCol w="559575"/>
                <a:gridCol w="559575"/>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Nutritional Positioning</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96525" y="2204276"/>
            <a:ext cx="366712" cy="533400"/>
          </a:xfrm>
          <a:prstGeom prst="rect">
            <a:avLst/>
          </a:prstGeom>
        </p:spPr>
      </p:pic>
      <p:sp>
        <p:nvSpPr>
          <p:cNvPr id="21" name="TextBox 20"/>
          <p:cNvSpPr txBox="1"/>
          <p:nvPr/>
        </p:nvSpPr>
        <p:spPr>
          <a:xfrm>
            <a:off x="276225" y="4219575"/>
            <a:ext cx="3524634" cy="194310"/>
          </a:xfrm>
          <a:prstGeom prst="rect">
            <a:avLst/>
          </a:prstGeom>
          <a:noFill/>
        </p:spPr>
        <p:txBody>
          <a:bodyPr wrap="none" lIns="0" rIns="0" tIns="0" bIns="0">
            <a:spAutoFit/>
          </a:bodyPr>
          <a:lstStyle/>
          <a:p>
            <a:r>
              <a:rPr sz="1150" b="0">
                <a:solidFill>
                  <a:srgbClr val="2E2E2E"/>
                </a:solidFill>
                <a:latin typeface="Calibri"/>
              </a:rPr>
              <a:t>▪ 'Protein-enriched' is the largest nutritional positioning at</a:t>
            </a:r>
          </a:p>
        </p:txBody>
      </p:sp>
      <p:pic>
        <p:nvPicPr>
          <p:cNvPr id="22" name="Picture 21" descr="lock.png"/>
          <p:cNvPicPr>
            <a:picLocks noChangeAspect="1"/>
          </p:cNvPicPr>
          <p:nvPr/>
        </p:nvPicPr>
        <p:blipFill>
          <a:blip r:embed="rId4"/>
          <a:stretch>
            <a:fillRect/>
          </a:stretch>
        </p:blipFill>
        <p:spPr>
          <a:xfrm>
            <a:off x="3750013" y="4209351"/>
            <a:ext cx="134549" cy="195707"/>
          </a:xfrm>
          <a:prstGeom prst="rect">
            <a:avLst/>
          </a:prstGeom>
        </p:spPr>
      </p:pic>
      <p:sp>
        <p:nvSpPr>
          <p:cNvPr id="23" name="TextBox 22"/>
          <p:cNvSpPr txBox="1"/>
          <p:nvPr/>
        </p:nvSpPr>
        <p:spPr>
          <a:xfrm>
            <a:off x="3925122" y="421957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831055" y="4209351"/>
            <a:ext cx="134549" cy="195707"/>
          </a:xfrm>
          <a:prstGeom prst="rect">
            <a:avLst/>
          </a:prstGeom>
        </p:spPr>
      </p:pic>
      <p:sp>
        <p:nvSpPr>
          <p:cNvPr id="25" name="TextBox 24"/>
          <p:cNvSpPr txBox="1"/>
          <p:nvPr/>
        </p:nvSpPr>
        <p:spPr>
          <a:xfrm>
            <a:off x="5006164" y="421957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447413"/>
            <a:ext cx="1917513" cy="194310"/>
          </a:xfrm>
          <a:prstGeom prst="rect">
            <a:avLst/>
          </a:prstGeom>
          <a:noFill/>
        </p:spPr>
        <p:txBody>
          <a:bodyPr wrap="none" lIns="0" rIns="0" tIns="0" bIns="0">
            <a:spAutoFit/>
          </a:bodyPr>
          <a:lstStyle/>
          <a:p>
            <a:r>
              <a:rPr sz="1150" b="0">
                <a:solidFill>
                  <a:srgbClr val="2E2E2E"/>
                </a:solidFill>
                <a:latin typeface="Calibri"/>
              </a:rPr>
              <a:t>▪ 'Fibre-enriched' grows fastest</a:t>
            </a:r>
          </a:p>
        </p:txBody>
      </p:sp>
      <p:pic>
        <p:nvPicPr>
          <p:cNvPr id="27" name="Picture 26" descr="lock.png"/>
          <p:cNvPicPr>
            <a:picLocks noChangeAspect="1"/>
          </p:cNvPicPr>
          <p:nvPr/>
        </p:nvPicPr>
        <p:blipFill>
          <a:blip r:embed="rId4"/>
          <a:stretch>
            <a:fillRect/>
          </a:stretch>
        </p:blipFill>
        <p:spPr>
          <a:xfrm>
            <a:off x="2142892" y="4437189"/>
            <a:ext cx="134549" cy="195707"/>
          </a:xfrm>
          <a:prstGeom prst="rect">
            <a:avLst/>
          </a:prstGeom>
        </p:spPr>
      </p:pic>
      <p:sp>
        <p:nvSpPr>
          <p:cNvPr id="28" name="TextBox 27"/>
          <p:cNvSpPr txBox="1"/>
          <p:nvPr/>
        </p:nvSpPr>
        <p:spPr>
          <a:xfrm>
            <a:off x="2318002" y="444741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675250"/>
            <a:ext cx="2561332" cy="194310"/>
          </a:xfrm>
          <a:prstGeom prst="rect">
            <a:avLst/>
          </a:prstGeom>
          <a:noFill/>
        </p:spPr>
        <p:txBody>
          <a:bodyPr wrap="none" lIns="0" rIns="0" tIns="0" bIns="0">
            <a:spAutoFit/>
          </a:bodyPr>
          <a:lstStyle/>
          <a:p>
            <a:r>
              <a:rPr sz="1150" b="0">
                <a:solidFill>
                  <a:srgbClr val="2E2E2E"/>
                </a:solidFill>
                <a:latin typeface="Calibri"/>
              </a:rPr>
              <a:t>▪ Share shifts toward 'Protein-enriched' (+</a:t>
            </a:r>
          </a:p>
        </p:txBody>
      </p:sp>
      <p:pic>
        <p:nvPicPr>
          <p:cNvPr id="30" name="Picture 29" descr="lock.png"/>
          <p:cNvPicPr>
            <a:picLocks noChangeAspect="1"/>
          </p:cNvPicPr>
          <p:nvPr/>
        </p:nvPicPr>
        <p:blipFill>
          <a:blip r:embed="rId4"/>
          <a:stretch>
            <a:fillRect/>
          </a:stretch>
        </p:blipFill>
        <p:spPr>
          <a:xfrm>
            <a:off x="2786710" y="4665027"/>
            <a:ext cx="134549" cy="195707"/>
          </a:xfrm>
          <a:prstGeom prst="rect">
            <a:avLst/>
          </a:prstGeom>
        </p:spPr>
      </p:pic>
      <p:sp>
        <p:nvSpPr>
          <p:cNvPr id="31" name="TextBox 30"/>
          <p:cNvSpPr txBox="1"/>
          <p:nvPr/>
        </p:nvSpPr>
        <p:spPr>
          <a:xfrm>
            <a:off x="2961820" y="4675250"/>
            <a:ext cx="3695216" cy="194310"/>
          </a:xfrm>
          <a:prstGeom prst="rect">
            <a:avLst/>
          </a:prstGeom>
          <a:noFill/>
        </p:spPr>
        <p:txBody>
          <a:bodyPr wrap="none" lIns="0" rIns="0" tIns="0" bIns="0">
            <a:spAutoFit/>
          </a:bodyPr>
          <a:lstStyle/>
          <a:p>
            <a:r>
              <a:rPr sz="1150" b="0">
                <a:solidFill>
                  <a:srgbClr val="2E2E2E"/>
                </a:solidFill>
                <a:latin typeface="Calibri"/>
              </a:rPr>
              <a:t>BPS) and away from 'Other nutrition-focused formulations' (-</a:t>
            </a:r>
          </a:p>
        </p:txBody>
      </p:sp>
      <p:pic>
        <p:nvPicPr>
          <p:cNvPr id="32" name="Picture 31" descr="lock.png"/>
          <p:cNvPicPr>
            <a:picLocks noChangeAspect="1"/>
          </p:cNvPicPr>
          <p:nvPr/>
        </p:nvPicPr>
        <p:blipFill>
          <a:blip r:embed="rId4"/>
          <a:stretch>
            <a:fillRect/>
          </a:stretch>
        </p:blipFill>
        <p:spPr>
          <a:xfrm>
            <a:off x="6606190" y="4665027"/>
            <a:ext cx="134549" cy="195707"/>
          </a:xfrm>
          <a:prstGeom prst="rect">
            <a:avLst/>
          </a:prstGeom>
        </p:spPr>
      </p:pic>
      <p:sp>
        <p:nvSpPr>
          <p:cNvPr id="33" name="TextBox 32"/>
          <p:cNvSpPr txBox="1"/>
          <p:nvPr/>
        </p:nvSpPr>
        <p:spPr>
          <a:xfrm>
            <a:off x="6781299" y="46752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90308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892865"/>
            <a:ext cx="134549" cy="195707"/>
          </a:xfrm>
          <a:prstGeom prst="rect">
            <a:avLst/>
          </a:prstGeom>
        </p:spPr>
      </p:pic>
      <p:sp>
        <p:nvSpPr>
          <p:cNvPr id="36" name="TextBox 35"/>
          <p:cNvSpPr txBox="1"/>
          <p:nvPr/>
        </p:nvSpPr>
        <p:spPr>
          <a:xfrm>
            <a:off x="1841342" y="49030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892865"/>
            <a:ext cx="134549" cy="195707"/>
          </a:xfrm>
          <a:prstGeom prst="rect">
            <a:avLst/>
          </a:prstGeom>
        </p:spPr>
      </p:pic>
      <p:sp>
        <p:nvSpPr>
          <p:cNvPr id="38" name="TextBox 37"/>
          <p:cNvSpPr txBox="1"/>
          <p:nvPr/>
        </p:nvSpPr>
        <p:spPr>
          <a:xfrm>
            <a:off x="2167888" y="4903088"/>
            <a:ext cx="1744079" cy="194310"/>
          </a:xfrm>
          <a:prstGeom prst="rect">
            <a:avLst/>
          </a:prstGeom>
          <a:noFill/>
        </p:spPr>
        <p:txBody>
          <a:bodyPr wrap="none" lIns="0" rIns="0" tIns="0" bIns="0">
            <a:spAutoFit/>
          </a:bodyPr>
          <a:lstStyle/>
          <a:p>
            <a:r>
              <a:rPr sz="1150" b="0">
                <a:solidFill>
                  <a:srgbClr val="2E2E2E"/>
                </a:solidFill>
                <a:latin typeface="Calibri"/>
              </a:rPr>
              <a:t>US$ Mn across 7 categories.</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Nutritional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Nutritional Positioning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Nutritional Positioning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6104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562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800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Fibre-enriched</a:t>
            </a:r>
          </a:p>
        </p:txBody>
      </p:sp>
      <p:sp>
        <p:nvSpPr>
          <p:cNvPr id="19" name="BPS Value 1"/>
          <p:cNvSpPr txBox="1"/>
          <p:nvPr/>
        </p:nvSpPr>
        <p:spPr>
          <a:xfrm>
            <a:off x="6896100" y="174199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04422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394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632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No-added-sugar</a:t>
            </a:r>
          </a:p>
        </p:txBody>
      </p:sp>
      <p:sp>
        <p:nvSpPr>
          <p:cNvPr id="23" name="BPS Value 2"/>
          <p:cNvSpPr txBox="1"/>
          <p:nvPr/>
        </p:nvSpPr>
        <p:spPr>
          <a:xfrm>
            <a:off x="6896100" y="20251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52113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163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4401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nutrition-focused formulations</a:t>
            </a:r>
          </a:p>
        </p:txBody>
      </p:sp>
      <p:sp>
        <p:nvSpPr>
          <p:cNvPr id="27" name="BPS Value 3"/>
          <p:cNvSpPr txBox="1"/>
          <p:nvPr/>
        </p:nvSpPr>
        <p:spPr>
          <a:xfrm>
            <a:off x="6896100" y="250208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313629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1315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0553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Reduced-fat</a:t>
            </a:r>
          </a:p>
        </p:txBody>
      </p:sp>
      <p:sp>
        <p:nvSpPr>
          <p:cNvPr id="31" name="BPS Value 4"/>
          <p:cNvSpPr txBox="1"/>
          <p:nvPr/>
        </p:nvSpPr>
        <p:spPr>
          <a:xfrm>
            <a:off x="6896100" y="31172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928997" y="389054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8857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8095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indulgent</a:t>
            </a:r>
          </a:p>
        </p:txBody>
      </p:sp>
      <p:sp>
        <p:nvSpPr>
          <p:cNvPr id="35" name="BPS Value 5"/>
          <p:cNvSpPr txBox="1"/>
          <p:nvPr/>
        </p:nvSpPr>
        <p:spPr>
          <a:xfrm>
            <a:off x="6896100" y="387149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7393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73455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65835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Reduced-sugar</a:t>
            </a:r>
          </a:p>
        </p:txBody>
      </p:sp>
      <p:sp>
        <p:nvSpPr>
          <p:cNvPr id="39" name="BPS Value 6"/>
          <p:cNvSpPr txBox="1"/>
          <p:nvPr/>
        </p:nvSpPr>
        <p:spPr>
          <a:xfrm>
            <a:off x="6896100" y="472026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FMI Legend Chip"/>
          <p:cNvSpPr/>
          <p:nvPr/>
        </p:nvSpPr>
        <p:spPr>
          <a:xfrm>
            <a:off x="4928997" y="57045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6997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6235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Protein-enriched</a:t>
            </a:r>
          </a:p>
        </p:txBody>
      </p:sp>
      <p:sp>
        <p:nvSpPr>
          <p:cNvPr id="43" name="BPS Value 7"/>
          <p:cNvSpPr txBox="1"/>
          <p:nvPr/>
        </p:nvSpPr>
        <p:spPr>
          <a:xfrm>
            <a:off x="6896100" y="568551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Nutritional Positioning</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5"/>
          <a:stretch>
            <a:fillRect/>
          </a:stretch>
        </p:blipFill>
        <p:spPr>
          <a:xfrm>
            <a:off x="2557843" y="3833622"/>
            <a:ext cx="275034" cy="400050"/>
          </a:xfrm>
          <a:prstGeom prst="rect">
            <a:avLst/>
          </a:prstGeom>
        </p:spPr>
      </p:pic>
      <p:sp>
        <p:nvSpPr>
          <p:cNvPr id="50" name="TextBox 49"/>
          <p:cNvSpPr txBox="1"/>
          <p:nvPr/>
        </p:nvSpPr>
        <p:spPr>
          <a:xfrm>
            <a:off x="7829550" y="1400175"/>
            <a:ext cx="2598415" cy="194310"/>
          </a:xfrm>
          <a:prstGeom prst="rect">
            <a:avLst/>
          </a:prstGeom>
          <a:noFill/>
        </p:spPr>
        <p:txBody>
          <a:bodyPr wrap="none" lIns="0" rIns="0" tIns="0" bIns="0">
            <a:spAutoFit/>
          </a:bodyPr>
          <a:lstStyle/>
          <a:p>
            <a:r>
              <a:rPr sz="1150" b="0">
                <a:solidFill>
                  <a:srgbClr val="2E2E2E"/>
                </a:solidFill>
                <a:latin typeface="Calibri"/>
              </a:rPr>
              <a:t>▪ 'Protein-enriched' gains the most share +</a:t>
            </a:r>
          </a:p>
        </p:txBody>
      </p:sp>
      <p:pic>
        <p:nvPicPr>
          <p:cNvPr id="51" name="Picture 50" descr="lock.png"/>
          <p:cNvPicPr>
            <a:picLocks noChangeAspect="1"/>
          </p:cNvPicPr>
          <p:nvPr/>
        </p:nvPicPr>
        <p:blipFill>
          <a:blip r:embed="rId5"/>
          <a:stretch>
            <a:fillRect/>
          </a:stretch>
        </p:blipFill>
        <p:spPr>
          <a:xfrm>
            <a:off x="10377118" y="1389951"/>
            <a:ext cx="134549" cy="195707"/>
          </a:xfrm>
          <a:prstGeom prst="rect">
            <a:avLst/>
          </a:prstGeom>
        </p:spPr>
      </p:pic>
      <p:sp>
        <p:nvSpPr>
          <p:cNvPr id="52" name="TextBox 51"/>
          <p:cNvSpPr txBox="1"/>
          <p:nvPr/>
        </p:nvSpPr>
        <p:spPr>
          <a:xfrm>
            <a:off x="10552228" y="1400175"/>
            <a:ext cx="1186408" cy="194310"/>
          </a:xfrm>
          <a:prstGeom prst="rect">
            <a:avLst/>
          </a:prstGeom>
          <a:noFill/>
        </p:spPr>
        <p:txBody>
          <a:bodyPr wrap="none" lIns="0" rIns="0" tIns="0" bIns="0">
            <a:spAutoFit/>
          </a:bodyPr>
          <a:lstStyle/>
          <a:p>
            <a:r>
              <a:rPr sz="1150" b="0">
                <a:solidFill>
                  <a:srgbClr val="2E2E2E"/>
                </a:solidFill>
                <a:latin typeface="Calibri"/>
              </a:rPr>
              <a:t>BPS between 2026</a:t>
            </a:r>
          </a:p>
        </p:txBody>
      </p:sp>
      <p:sp>
        <p:nvSpPr>
          <p:cNvPr id="53" name="TextBox 52"/>
          <p:cNvSpPr txBox="1"/>
          <p:nvPr/>
        </p:nvSpPr>
        <p:spPr>
          <a:xfrm>
            <a:off x="7829550" y="1575435"/>
            <a:ext cx="1983692" cy="194310"/>
          </a:xfrm>
          <a:prstGeom prst="rect">
            <a:avLst/>
          </a:prstGeom>
          <a:noFill/>
        </p:spPr>
        <p:txBody>
          <a:bodyPr wrap="none" lIns="0" rIns="0" tIns="0" bIns="0">
            <a:spAutoFit/>
          </a:bodyPr>
          <a:lstStyle/>
          <a:p>
            <a:r>
              <a:rPr sz="1150" b="0">
                <a:solidFill>
                  <a:srgbClr val="2E2E2E"/>
                </a:solidFill>
                <a:latin typeface="Calibri"/>
              </a:rPr>
              <a:t>and 2036 (</a:t>
            </a:r>
            <a:r>
              <a:rPr sz="1150" b="0">
                <a:solidFill>
                  <a:srgbClr val="2E7D32"/>
                </a:solidFill>
                <a:latin typeface="Calibri"/>
              </a:rPr>
              <a:t>green ▲</a:t>
            </a:r>
            <a:r>
              <a:rPr sz="1150" b="0">
                <a:solidFill>
                  <a:srgbClr val="2E2E2E"/>
                </a:solidFill>
                <a:latin typeface="Calibri"/>
              </a:rPr>
              <a:t> on the scale).</a:t>
            </a:r>
          </a:p>
        </p:txBody>
      </p:sp>
      <p:sp>
        <p:nvSpPr>
          <p:cNvPr id="54" name="TextBox 53"/>
          <p:cNvSpPr txBox="1"/>
          <p:nvPr/>
        </p:nvSpPr>
        <p:spPr>
          <a:xfrm>
            <a:off x="7829550" y="1803273"/>
            <a:ext cx="3452750" cy="194310"/>
          </a:xfrm>
          <a:prstGeom prst="rect">
            <a:avLst/>
          </a:prstGeom>
          <a:noFill/>
        </p:spPr>
        <p:txBody>
          <a:bodyPr wrap="none" lIns="0" rIns="0" tIns="0" bIns="0">
            <a:spAutoFit/>
          </a:bodyPr>
          <a:lstStyle/>
          <a:p>
            <a:r>
              <a:rPr sz="1150" b="0">
                <a:solidFill>
                  <a:srgbClr val="2E2E2E"/>
                </a:solidFill>
                <a:latin typeface="Calibri"/>
              </a:rPr>
              <a:t>▪ 'Other nutrition-focused formulations' cedes the most -</a:t>
            </a:r>
          </a:p>
        </p:txBody>
      </p:sp>
      <p:pic>
        <p:nvPicPr>
          <p:cNvPr id="55" name="Picture 54" descr="lock.png"/>
          <p:cNvPicPr>
            <a:picLocks noChangeAspect="1"/>
          </p:cNvPicPr>
          <p:nvPr/>
        </p:nvPicPr>
        <p:blipFill>
          <a:blip r:embed="rId5"/>
          <a:stretch>
            <a:fillRect/>
          </a:stretch>
        </p:blipFill>
        <p:spPr>
          <a:xfrm>
            <a:off x="11231454" y="1793049"/>
            <a:ext cx="134549" cy="195707"/>
          </a:xfrm>
          <a:prstGeom prst="rect">
            <a:avLst/>
          </a:prstGeom>
        </p:spPr>
      </p:pic>
      <p:sp>
        <p:nvSpPr>
          <p:cNvPr id="56" name="TextBox 55"/>
          <p:cNvSpPr txBox="1"/>
          <p:nvPr/>
        </p:nvSpPr>
        <p:spPr>
          <a:xfrm>
            <a:off x="11406563" y="180327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7" name="TextBox 56"/>
          <p:cNvSpPr txBox="1"/>
          <p:nvPr/>
        </p:nvSpPr>
        <p:spPr>
          <a:xfrm>
            <a:off x="7829550" y="1978533"/>
            <a:ext cx="1896119" cy="194310"/>
          </a:xfrm>
          <a:prstGeom prst="rect">
            <a:avLst/>
          </a:prstGeom>
          <a:noFill/>
        </p:spPr>
        <p:txBody>
          <a:bodyPr wrap="none" lIns="0" rIns="0" tIns="0" bIns="0">
            <a:spAutoFit/>
          </a:bodyPr>
          <a:lstStyle/>
          <a:p>
            <a:r>
              <a:rPr sz="1150" b="0">
                <a:solidFill>
                  <a:srgbClr val="2E2E2E"/>
                </a:solidFill>
                <a:latin typeface="Calibri"/>
              </a:rPr>
              <a:t>over the same window (</a:t>
            </a:r>
            <a:r>
              <a:rPr sz="1150" b="0">
                <a:solidFill>
                  <a:srgbClr val="E44D3A"/>
                </a:solidFill>
                <a:latin typeface="Calibri"/>
              </a:rPr>
              <a:t>red ▼</a:t>
            </a:r>
            <a:r>
              <a:rPr sz="1150" b="0">
                <a:solidFill>
                  <a:srgbClr val="2E2E2E"/>
                </a:solidFill>
                <a:latin typeface="Calibri"/>
              </a:rPr>
              <a:t>).</a:t>
            </a:r>
          </a:p>
        </p:txBody>
      </p:sp>
      <p:sp>
        <p:nvSpPr>
          <p:cNvPr id="58" name="TextBox 57"/>
          <p:cNvSpPr txBox="1"/>
          <p:nvPr/>
        </p:nvSpPr>
        <p:spPr>
          <a:xfrm>
            <a:off x="7829550" y="2206371"/>
            <a:ext cx="3912294" cy="194310"/>
          </a:xfrm>
          <a:prstGeom prst="rect">
            <a:avLst/>
          </a:prstGeom>
          <a:noFill/>
        </p:spPr>
        <p:txBody>
          <a:bodyPr wrap="none" lIns="0" rIns="0" tIns="0" bIns="0">
            <a:spAutoFit/>
          </a:bodyPr>
          <a:lstStyle/>
          <a:p>
            <a:r>
              <a:rPr sz="1150" b="0">
                <a:solidFill>
                  <a:srgbClr val="2E2E2E"/>
                </a:solidFill>
                <a:latin typeface="Calibri"/>
              </a:rPr>
              <a:t>▪ 'Fibre-enriched' is the fastest-growing nutritional positioning at</a:t>
            </a:r>
          </a:p>
        </p:txBody>
      </p:sp>
      <p:pic>
        <p:nvPicPr>
          <p:cNvPr id="59" name="Picture 58" descr="lock.png"/>
          <p:cNvPicPr>
            <a:picLocks noChangeAspect="1"/>
          </p:cNvPicPr>
          <p:nvPr/>
        </p:nvPicPr>
        <p:blipFill>
          <a:blip r:embed="rId5"/>
          <a:stretch>
            <a:fillRect/>
          </a:stretch>
        </p:blipFill>
        <p:spPr>
          <a:xfrm>
            <a:off x="7815470" y="2371407"/>
            <a:ext cx="134549" cy="195707"/>
          </a:xfrm>
          <a:prstGeom prst="rect">
            <a:avLst/>
          </a:prstGeom>
        </p:spPr>
      </p:pic>
      <p:sp>
        <p:nvSpPr>
          <p:cNvPr id="60" name="TextBox 59"/>
          <p:cNvSpPr txBox="1"/>
          <p:nvPr/>
        </p:nvSpPr>
        <p:spPr>
          <a:xfrm>
            <a:off x="799057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1" name="TextBox 6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62" name="Picture 61" descr="lock.png"/>
          <p:cNvPicPr>
            <a:picLocks noChangeAspect="1"/>
          </p:cNvPicPr>
          <p:nvPr/>
        </p:nvPicPr>
        <p:blipFill>
          <a:blip r:embed="rId5"/>
          <a:stretch>
            <a:fillRect/>
          </a:stretch>
        </p:blipFill>
        <p:spPr>
          <a:xfrm>
            <a:off x="9327669" y="2599245"/>
            <a:ext cx="134549" cy="195707"/>
          </a:xfrm>
          <a:prstGeom prst="rect">
            <a:avLst/>
          </a:prstGeom>
        </p:spPr>
      </p:pic>
      <p:sp>
        <p:nvSpPr>
          <p:cNvPr id="63" name="TextBox 6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4" name="Picture 63" descr="lock.png"/>
          <p:cNvPicPr>
            <a:picLocks noChangeAspect="1"/>
          </p:cNvPicPr>
          <p:nvPr/>
        </p:nvPicPr>
        <p:blipFill>
          <a:blip r:embed="rId5"/>
          <a:stretch>
            <a:fillRect/>
          </a:stretch>
        </p:blipFill>
        <p:spPr>
          <a:xfrm>
            <a:off x="9654215" y="2599245"/>
            <a:ext cx="134549" cy="195707"/>
          </a:xfrm>
          <a:prstGeom prst="rect">
            <a:avLst/>
          </a:prstGeom>
        </p:spPr>
      </p:pic>
      <p:sp>
        <p:nvSpPr>
          <p:cNvPr id="65" name="TextBox 6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66" name="TextBox 6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67" name="TextBox 6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6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Nutritional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Nutritional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Nutritional Positioning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sp>
        <p:nvSpPr>
          <p:cNvPr id="33" name="Rectangle 32"/>
          <p:cNvSpPr/>
          <p:nvPr/>
        </p:nvSpPr>
        <p:spPr>
          <a:xfrm>
            <a:off x="1857375" y="3981450"/>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sp>
        <p:nvSpPr>
          <p:cNvPr id="49" name="Rectangle 48"/>
          <p:cNvSpPr/>
          <p:nvPr/>
        </p:nvSpPr>
        <p:spPr>
          <a:xfrm>
            <a:off x="1857375" y="4351564"/>
            <a:ext cx="643890" cy="370114"/>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sp>
        <p:nvSpPr>
          <p:cNvPr id="65" name="Rectangle 64"/>
          <p:cNvSpPr/>
          <p:nvPr/>
        </p:nvSpPr>
        <p:spPr>
          <a:xfrm>
            <a:off x="1857375" y="4721679"/>
            <a:ext cx="643890" cy="37011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sp>
        <p:nvSpPr>
          <p:cNvPr id="81" name="Rectangle 80"/>
          <p:cNvSpPr/>
          <p:nvPr/>
        </p:nvSpPr>
        <p:spPr>
          <a:xfrm>
            <a:off x="1857375" y="5091793"/>
            <a:ext cx="643890" cy="37011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sp>
        <p:nvSpPr>
          <p:cNvPr id="97" name="Rectangle 96"/>
          <p:cNvSpPr/>
          <p:nvPr/>
        </p:nvSpPr>
        <p:spPr>
          <a:xfrm>
            <a:off x="185737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sp>
        <p:nvSpPr>
          <p:cNvPr id="113" name="Rectangle 112"/>
          <p:cNvSpPr/>
          <p:nvPr/>
        </p:nvSpPr>
        <p:spPr>
          <a:xfrm>
            <a:off x="1857375" y="5832021"/>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129" name="Rectangle 128"/>
          <p:cNvSpPr/>
          <p:nvPr/>
        </p:nvSpPr>
        <p:spPr>
          <a:xfrm>
            <a:off x="1857375" y="6202136"/>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198768" y="2080450"/>
            <a:ext cx="366712" cy="533400"/>
          </a:xfrm>
          <a:prstGeom prst="rect">
            <a:avLst/>
          </a:prstGeom>
        </p:spPr>
      </p:pic>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Nutritional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Nutritional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Nutritional Positioning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sp>
        <p:nvSpPr>
          <p:cNvPr id="33" name="Rectangle 32"/>
          <p:cNvSpPr/>
          <p:nvPr/>
        </p:nvSpPr>
        <p:spPr>
          <a:xfrm>
            <a:off x="1857375" y="3981450"/>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sp>
        <p:nvSpPr>
          <p:cNvPr id="49" name="Rectangle 48"/>
          <p:cNvSpPr/>
          <p:nvPr/>
        </p:nvSpPr>
        <p:spPr>
          <a:xfrm>
            <a:off x="1857375" y="4351564"/>
            <a:ext cx="643890" cy="37011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sp>
        <p:nvSpPr>
          <p:cNvPr id="65" name="Rectangle 64"/>
          <p:cNvSpPr/>
          <p:nvPr/>
        </p:nvSpPr>
        <p:spPr>
          <a:xfrm>
            <a:off x="1857375" y="4721679"/>
            <a:ext cx="643890" cy="37011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sp>
        <p:nvSpPr>
          <p:cNvPr id="81" name="Rectangle 80"/>
          <p:cNvSpPr/>
          <p:nvPr/>
        </p:nvSpPr>
        <p:spPr>
          <a:xfrm>
            <a:off x="1857375" y="5091793"/>
            <a:ext cx="643890" cy="37011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sp>
        <p:nvSpPr>
          <p:cNvPr id="97" name="Rectangle 96"/>
          <p:cNvSpPr/>
          <p:nvPr/>
        </p:nvSpPr>
        <p:spPr>
          <a:xfrm>
            <a:off x="185737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sp>
        <p:nvSpPr>
          <p:cNvPr id="113" name="Rectangle 112"/>
          <p:cNvSpPr/>
          <p:nvPr/>
        </p:nvSpPr>
        <p:spPr>
          <a:xfrm>
            <a:off x="1857375" y="5832021"/>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129" name="Rectangle 128"/>
          <p:cNvSpPr/>
          <p:nvPr/>
        </p:nvSpPr>
        <p:spPr>
          <a:xfrm>
            <a:off x="1857375" y="6202136"/>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198768"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Recipe and Ingredient Claims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Recipe and Ingredient Claims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Recipe and Ingredient Claims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Recipe and Ingredient Claims,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Recipe and Ingredient Claims segment categorizes the market by recipe and ingredient claims.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Additional claim mapping</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Organic-certified</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 non-organic</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Recipe and Ingredient Claims split shows how demand is distributed across recipe and ingredient claims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8_721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4_712_605E5C.png"/>
          <p:cNvPicPr>
            <a:picLocks noChangeAspect="1"/>
          </p:cNvPicPr>
          <p:nvPr/>
        </p:nvPicPr>
        <p:blipFill>
          <a:blip r:embed="rId5"/>
          <a:stretch>
            <a:fillRect/>
          </a:stretch>
        </p:blipFill>
        <p:spPr>
          <a:xfrm>
            <a:off x="2791165" y="2779432"/>
            <a:ext cx="1409020" cy="361950"/>
          </a:xfrm>
          <a:prstGeom prst="rect">
            <a:avLst/>
          </a:prstGeom>
        </p:spPr>
      </p:pic>
      <p:pic>
        <p:nvPicPr>
          <p:cNvPr id="59" name="Picture 58" descr="5_4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973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756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3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205_4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78_2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3_1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'Additional claim mapping' holds the largest share</a:t>
            </a:r>
          </a:p>
        </p:txBody>
      </p:sp>
      <p:sp>
        <p:nvSpPr>
          <p:cNvPr id="70" name="TextBox 69"/>
          <p:cNvSpPr txBox="1"/>
          <p:nvPr/>
        </p:nvSpPr>
        <p:spPr>
          <a:xfrm>
            <a:off x="485775" y="4397077"/>
            <a:ext cx="497209" cy="186689"/>
          </a:xfrm>
          <a:prstGeom prst="rect">
            <a:avLst/>
          </a:prstGeom>
          <a:noFill/>
        </p:spPr>
        <p:txBody>
          <a:bodyPr wrap="none" lIns="0" rIns="0" tIns="0" bIns="0">
            <a:spAutoFit/>
          </a:bodyPr>
          <a:lstStyle/>
          <a:p>
            <a:r>
              <a:rPr sz="1100" b="0">
                <a:solidFill>
                  <a:srgbClr val="2E2E2E"/>
                </a:solidFill>
                <a:latin typeface="Calibri"/>
              </a:rPr>
              <a:t>in 2026</a:t>
            </a:r>
          </a:p>
        </p:txBody>
      </p:sp>
      <p:pic>
        <p:nvPicPr>
          <p:cNvPr id="71" name="Picture 70" descr="lock.png"/>
          <p:cNvPicPr>
            <a:picLocks noChangeAspect="1"/>
          </p:cNvPicPr>
          <p:nvPr/>
        </p:nvPicPr>
        <p:blipFill>
          <a:blip r:embed="rId13"/>
          <a:stretch>
            <a:fillRect/>
          </a:stretch>
        </p:blipFill>
        <p:spPr>
          <a:xfrm>
            <a:off x="931036" y="4387298"/>
            <a:ext cx="128699" cy="187198"/>
          </a:xfrm>
          <a:prstGeom prst="rect">
            <a:avLst/>
          </a:prstGeom>
        </p:spPr>
      </p:pic>
      <p:sp>
        <p:nvSpPr>
          <p:cNvPr id="72" name="TextBox 71"/>
          <p:cNvSpPr txBox="1"/>
          <p:nvPr/>
        </p:nvSpPr>
        <p:spPr>
          <a:xfrm>
            <a:off x="1098532"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3" name="TextBox 72"/>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'Additional claim mapping' is the fastest-growing</a:t>
            </a:r>
          </a:p>
        </p:txBody>
      </p:sp>
      <p:sp>
        <p:nvSpPr>
          <p:cNvPr id="74" name="TextBox 7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75" name="Picture 74" descr="lock.png"/>
          <p:cNvPicPr>
            <a:picLocks noChangeAspect="1"/>
          </p:cNvPicPr>
          <p:nvPr/>
        </p:nvPicPr>
        <p:blipFill>
          <a:blip r:embed="rId13"/>
          <a:stretch>
            <a:fillRect/>
          </a:stretch>
        </p:blipFill>
        <p:spPr>
          <a:xfrm>
            <a:off x="1391064" y="4772870"/>
            <a:ext cx="128699" cy="187198"/>
          </a:xfrm>
          <a:prstGeom prst="rect">
            <a:avLst/>
          </a:prstGeom>
        </p:spPr>
      </p:pic>
      <p:sp>
        <p:nvSpPr>
          <p:cNvPr id="76" name="TextBox 7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7" name="TextBox 7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8" name="Picture 77" descr="lock.png"/>
          <p:cNvPicPr>
            <a:picLocks noChangeAspect="1"/>
          </p:cNvPicPr>
          <p:nvPr/>
        </p:nvPicPr>
        <p:blipFill>
          <a:blip r:embed="rId13"/>
          <a:stretch>
            <a:fillRect/>
          </a:stretch>
        </p:blipFill>
        <p:spPr>
          <a:xfrm>
            <a:off x="2240451" y="4990801"/>
            <a:ext cx="128699" cy="187198"/>
          </a:xfrm>
          <a:prstGeom prst="rect">
            <a:avLst/>
          </a:prstGeom>
        </p:spPr>
      </p:pic>
      <p:sp>
        <p:nvSpPr>
          <p:cNvPr id="79" name="TextBox 7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0" name="Picture 79" descr="lock.png"/>
          <p:cNvPicPr>
            <a:picLocks noChangeAspect="1"/>
          </p:cNvPicPr>
          <p:nvPr/>
        </p:nvPicPr>
        <p:blipFill>
          <a:blip r:embed="rId13"/>
          <a:stretch>
            <a:fillRect/>
          </a:stretch>
        </p:blipFill>
        <p:spPr>
          <a:xfrm>
            <a:off x="2552799" y="4990801"/>
            <a:ext cx="128699" cy="187198"/>
          </a:xfrm>
          <a:prstGeom prst="rect">
            <a:avLst/>
          </a:prstGeom>
        </p:spPr>
      </p:pic>
      <p:sp>
        <p:nvSpPr>
          <p:cNvPr id="81" name="TextBox 8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2" name="TextBox 8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3" name="TextBox 82"/>
          <p:cNvSpPr txBox="1"/>
          <p:nvPr/>
        </p:nvSpPr>
        <p:spPr>
          <a:xfrm>
            <a:off x="485775" y="5386153"/>
            <a:ext cx="2422996" cy="186689"/>
          </a:xfrm>
          <a:prstGeom prst="rect">
            <a:avLst/>
          </a:prstGeom>
          <a:noFill/>
        </p:spPr>
        <p:txBody>
          <a:bodyPr wrap="none" lIns="0" rIns="0" tIns="0" bIns="0">
            <a:spAutoFit/>
          </a:bodyPr>
          <a:lstStyle/>
          <a:p>
            <a:r>
              <a:rPr sz="1100" b="0">
                <a:solidFill>
                  <a:srgbClr val="2E2E2E"/>
                </a:solidFill>
                <a:latin typeface="Calibri"/>
              </a:rPr>
              <a:t>▪ 3 sub-segments make up the recipe and</a:t>
            </a:r>
          </a:p>
        </p:txBody>
      </p:sp>
      <p:sp>
        <p:nvSpPr>
          <p:cNvPr id="84" name="TextBox 83"/>
          <p:cNvSpPr txBox="1"/>
          <p:nvPr/>
        </p:nvSpPr>
        <p:spPr>
          <a:xfrm>
            <a:off x="485775" y="5553793"/>
            <a:ext cx="1686024" cy="186689"/>
          </a:xfrm>
          <a:prstGeom prst="rect">
            <a:avLst/>
          </a:prstGeom>
          <a:noFill/>
        </p:spPr>
        <p:txBody>
          <a:bodyPr wrap="none" lIns="0" rIns="0" tIns="0" bIns="0">
            <a:spAutoFit/>
          </a:bodyPr>
          <a:lstStyle/>
          <a:p>
            <a:r>
              <a:rPr sz="1100" b="0">
                <a:solidFill>
                  <a:srgbClr val="2E2E2E"/>
                </a:solidFill>
                <a:latin typeface="Calibri"/>
              </a:rPr>
              <a:t>ingredient claims landscape.</a:t>
            </a:r>
          </a:p>
        </p:txBody>
      </p:sp>
      <p:sp>
        <p:nvSpPr>
          <p:cNvPr id="85" name="TextBox 84"/>
          <p:cNvSpPr txBox="1"/>
          <p:nvPr/>
        </p:nvSpPr>
        <p:spPr>
          <a:xfrm>
            <a:off x="3838575" y="4229437"/>
            <a:ext cx="1676474" cy="186689"/>
          </a:xfrm>
          <a:prstGeom prst="rect">
            <a:avLst/>
          </a:prstGeom>
          <a:noFill/>
        </p:spPr>
        <p:txBody>
          <a:bodyPr wrap="none" lIns="0" rIns="0" tIns="0" bIns="0">
            <a:spAutoFit/>
          </a:bodyPr>
          <a:lstStyle/>
          <a:p>
            <a:r>
              <a:rPr sz="1100" b="0">
                <a:solidFill>
                  <a:srgbClr val="2E2E2E"/>
                </a:solidFill>
                <a:latin typeface="Calibri"/>
              </a:rPr>
              <a:t>● Additional claim mapping:</a:t>
            </a:r>
          </a:p>
        </p:txBody>
      </p:sp>
      <p:pic>
        <p:nvPicPr>
          <p:cNvPr id="86" name="Picture 85" descr="lock.png"/>
          <p:cNvPicPr>
            <a:picLocks noChangeAspect="1"/>
          </p:cNvPicPr>
          <p:nvPr/>
        </p:nvPicPr>
        <p:blipFill>
          <a:blip r:embed="rId13"/>
          <a:stretch>
            <a:fillRect/>
          </a:stretch>
        </p:blipFill>
        <p:spPr>
          <a:xfrm>
            <a:off x="5463101" y="4219658"/>
            <a:ext cx="128699" cy="187198"/>
          </a:xfrm>
          <a:prstGeom prst="rect">
            <a:avLst/>
          </a:prstGeom>
        </p:spPr>
      </p:pic>
      <p:sp>
        <p:nvSpPr>
          <p:cNvPr id="87" name="TextBox 86"/>
          <p:cNvSpPr txBox="1"/>
          <p:nvPr/>
        </p:nvSpPr>
        <p:spPr>
          <a:xfrm>
            <a:off x="563059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8" name="Picture 87" descr="lock.png"/>
          <p:cNvPicPr>
            <a:picLocks noChangeAspect="1"/>
          </p:cNvPicPr>
          <p:nvPr/>
        </p:nvPicPr>
        <p:blipFill>
          <a:blip r:embed="rId13"/>
          <a:stretch>
            <a:fillRect/>
          </a:stretch>
        </p:blipFill>
        <p:spPr>
          <a:xfrm>
            <a:off x="6490047" y="4219658"/>
            <a:ext cx="128699" cy="187198"/>
          </a:xfrm>
          <a:prstGeom prst="rect">
            <a:avLst/>
          </a:prstGeom>
        </p:spPr>
      </p:pic>
      <p:sp>
        <p:nvSpPr>
          <p:cNvPr id="89" name="TextBox 88"/>
          <p:cNvSpPr txBox="1"/>
          <p:nvPr/>
        </p:nvSpPr>
        <p:spPr>
          <a:xfrm>
            <a:off x="665754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0" name="TextBox 89"/>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1" name="TextBox 90"/>
          <p:cNvSpPr txBox="1"/>
          <p:nvPr/>
        </p:nvSpPr>
        <p:spPr>
          <a:xfrm>
            <a:off x="3838575" y="4615009"/>
            <a:ext cx="1185614" cy="186689"/>
          </a:xfrm>
          <a:prstGeom prst="rect">
            <a:avLst/>
          </a:prstGeom>
          <a:noFill/>
        </p:spPr>
        <p:txBody>
          <a:bodyPr wrap="none" lIns="0" rIns="0" tIns="0" bIns="0">
            <a:spAutoFit/>
          </a:bodyPr>
          <a:lstStyle/>
          <a:p>
            <a:r>
              <a:rPr sz="1100" b="0">
                <a:solidFill>
                  <a:srgbClr val="2E2E2E"/>
                </a:solidFill>
                <a:latin typeface="Calibri"/>
              </a:rPr>
              <a:t>● Organic-certified:</a:t>
            </a:r>
          </a:p>
        </p:txBody>
      </p:sp>
      <p:pic>
        <p:nvPicPr>
          <p:cNvPr id="92" name="Picture 91" descr="lock.png"/>
          <p:cNvPicPr>
            <a:picLocks noChangeAspect="1"/>
          </p:cNvPicPr>
          <p:nvPr/>
        </p:nvPicPr>
        <p:blipFill>
          <a:blip r:embed="rId13"/>
          <a:stretch>
            <a:fillRect/>
          </a:stretch>
        </p:blipFill>
        <p:spPr>
          <a:xfrm>
            <a:off x="4972241" y="4605230"/>
            <a:ext cx="128699" cy="187198"/>
          </a:xfrm>
          <a:prstGeom prst="rect">
            <a:avLst/>
          </a:prstGeom>
        </p:spPr>
      </p:pic>
      <p:sp>
        <p:nvSpPr>
          <p:cNvPr id="93" name="TextBox 92"/>
          <p:cNvSpPr txBox="1"/>
          <p:nvPr/>
        </p:nvSpPr>
        <p:spPr>
          <a:xfrm>
            <a:off x="513973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999187" y="4605230"/>
            <a:ext cx="128699" cy="187198"/>
          </a:xfrm>
          <a:prstGeom prst="rect">
            <a:avLst/>
          </a:prstGeom>
        </p:spPr>
      </p:pic>
      <p:sp>
        <p:nvSpPr>
          <p:cNvPr id="95" name="TextBox 94"/>
          <p:cNvSpPr txBox="1"/>
          <p:nvPr/>
        </p:nvSpPr>
        <p:spPr>
          <a:xfrm>
            <a:off x="6166682"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6" name="TextBox 95"/>
          <p:cNvSpPr txBox="1"/>
          <p:nvPr/>
        </p:nvSpPr>
        <p:spPr>
          <a:xfrm>
            <a:off x="3838575" y="4832941"/>
            <a:ext cx="1782886" cy="186689"/>
          </a:xfrm>
          <a:prstGeom prst="rect">
            <a:avLst/>
          </a:prstGeom>
          <a:noFill/>
        </p:spPr>
        <p:txBody>
          <a:bodyPr wrap="none" lIns="0" rIns="0" tIns="0" bIns="0">
            <a:spAutoFit/>
          </a:bodyPr>
          <a:lstStyle/>
          <a:p>
            <a:r>
              <a:rPr sz="1100" b="0">
                <a:solidFill>
                  <a:srgbClr val="2E2E2E"/>
                </a:solidFill>
                <a:latin typeface="Calibri"/>
              </a:rPr>
              <a:t>● Conventional / non-organic:</a:t>
            </a:r>
          </a:p>
        </p:txBody>
      </p:sp>
      <p:pic>
        <p:nvPicPr>
          <p:cNvPr id="97" name="Picture 96" descr="lock.png"/>
          <p:cNvPicPr>
            <a:picLocks noChangeAspect="1"/>
          </p:cNvPicPr>
          <p:nvPr/>
        </p:nvPicPr>
        <p:blipFill>
          <a:blip r:embed="rId13"/>
          <a:stretch>
            <a:fillRect/>
          </a:stretch>
        </p:blipFill>
        <p:spPr>
          <a:xfrm>
            <a:off x="5569513" y="4823162"/>
            <a:ext cx="128699" cy="187198"/>
          </a:xfrm>
          <a:prstGeom prst="rect">
            <a:avLst/>
          </a:prstGeom>
        </p:spPr>
      </p:pic>
      <p:sp>
        <p:nvSpPr>
          <p:cNvPr id="98" name="TextBox 97"/>
          <p:cNvSpPr txBox="1"/>
          <p:nvPr/>
        </p:nvSpPr>
        <p:spPr>
          <a:xfrm>
            <a:off x="5737008"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596459" y="4823162"/>
            <a:ext cx="128699" cy="187198"/>
          </a:xfrm>
          <a:prstGeom prst="rect">
            <a:avLst/>
          </a:prstGeom>
        </p:spPr>
      </p:pic>
      <p:sp>
        <p:nvSpPr>
          <p:cNvPr id="100" name="TextBox 99"/>
          <p:cNvSpPr txBox="1"/>
          <p:nvPr/>
        </p:nvSpPr>
        <p:spPr>
          <a:xfrm>
            <a:off x="676395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1" name="TextBox 100"/>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2" name="TextBox 101"/>
          <p:cNvSpPr txBox="1"/>
          <p:nvPr/>
        </p:nvSpPr>
        <p:spPr>
          <a:xfrm>
            <a:off x="8524875" y="5856661"/>
            <a:ext cx="3129352" cy="180289"/>
          </a:xfrm>
          <a:prstGeom prst="rect">
            <a:avLst/>
          </a:prstGeom>
          <a:noFill/>
        </p:spPr>
        <p:txBody>
          <a:bodyPr wrap="none" lIns="0" rIns="0" tIns="0" bIns="0">
            <a:spAutoFit/>
          </a:bodyPr>
          <a:lstStyle/>
          <a:p>
            <a:r>
              <a:rPr sz="1057" b="1">
                <a:solidFill>
                  <a:srgbClr val="0B2E4A"/>
                </a:solidFill>
                <a:latin typeface="Calibri"/>
              </a:rPr>
              <a:t>The Recipe and Ingredient Claims segment is projected</a:t>
            </a:r>
          </a:p>
        </p:txBody>
      </p:sp>
      <p:sp>
        <p:nvSpPr>
          <p:cNvPr id="103" name="TextBox 102"/>
          <p:cNvSpPr txBox="1"/>
          <p:nvPr/>
        </p:nvSpPr>
        <p:spPr>
          <a:xfrm>
            <a:off x="8524875" y="6017901"/>
            <a:ext cx="1239018" cy="180289"/>
          </a:xfrm>
          <a:prstGeom prst="rect">
            <a:avLst/>
          </a:prstGeom>
          <a:noFill/>
        </p:spPr>
        <p:txBody>
          <a:bodyPr wrap="none" lIns="0" rIns="0" tIns="0" bIns="0">
            <a:spAutoFit/>
          </a:bodyPr>
          <a:lstStyle/>
          <a:p>
            <a:r>
              <a:rPr sz="1057" b="1">
                <a:solidFill>
                  <a:srgbClr val="0B2E4A"/>
                </a:solidFill>
                <a:latin typeface="Calibri"/>
              </a:rPr>
              <a:t>to grow at a CAGR of</a:t>
            </a:r>
          </a:p>
        </p:txBody>
      </p:sp>
      <p:pic>
        <p:nvPicPr>
          <p:cNvPr id="104" name="Picture 103" descr="lock.png"/>
          <p:cNvPicPr>
            <a:picLocks noChangeAspect="1"/>
          </p:cNvPicPr>
          <p:nvPr/>
        </p:nvPicPr>
        <p:blipFill>
          <a:blip r:embed="rId13"/>
          <a:stretch>
            <a:fillRect/>
          </a:stretch>
        </p:blipFill>
        <p:spPr>
          <a:xfrm>
            <a:off x="9711019" y="6008495"/>
            <a:ext cx="123784" cy="180050"/>
          </a:xfrm>
          <a:prstGeom prst="rect">
            <a:avLst/>
          </a:prstGeom>
        </p:spPr>
      </p:pic>
      <p:sp>
        <p:nvSpPr>
          <p:cNvPr id="105" name="TextBox 104"/>
          <p:cNvSpPr txBox="1"/>
          <p:nvPr/>
        </p:nvSpPr>
        <p:spPr>
          <a:xfrm>
            <a:off x="9872119" y="6017901"/>
            <a:ext cx="1140105" cy="180289"/>
          </a:xfrm>
          <a:prstGeom prst="rect">
            <a:avLst/>
          </a:prstGeom>
          <a:noFill/>
        </p:spPr>
        <p:txBody>
          <a:bodyPr wrap="none" lIns="0" rIns="0" tIns="0" bIns="0">
            <a:spAutoFit/>
          </a:bodyPr>
          <a:lstStyle/>
          <a:p>
            <a:r>
              <a:rPr sz="1057" b="1">
                <a:solidFill>
                  <a:srgbClr val="0B2E4A"/>
                </a:solidFill>
                <a:latin typeface="Calibri"/>
              </a:rPr>
              <a:t>from 2026 to 2036.</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Recipe and Ingredient Claims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Recipe and Ingredient Claims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Recipe and Ingredient Claims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Recipe and Ingredient Claims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581253" cy="186689"/>
          </a:xfrm>
          <a:prstGeom prst="rect">
            <a:avLst/>
          </a:prstGeom>
          <a:noFill/>
        </p:spPr>
        <p:txBody>
          <a:bodyPr wrap="none" lIns="0" rIns="0" tIns="0" bIns="0">
            <a:spAutoFit/>
          </a:bodyPr>
          <a:lstStyle/>
          <a:p>
            <a:r>
              <a:rPr sz="1100" b="0">
                <a:solidFill>
                  <a:srgbClr val="2E2E2E"/>
                </a:solidFill>
                <a:latin typeface="Calibri"/>
              </a:rPr>
              <a:t>Between 2026 and 2036, 'Additional claim mapping' gains the most share in the Global market (+</a:t>
            </a:r>
          </a:p>
        </p:txBody>
      </p:sp>
      <p:pic>
        <p:nvPicPr>
          <p:cNvPr id="21" name="Picture 20" descr="lock.png"/>
          <p:cNvPicPr>
            <a:picLocks noChangeAspect="1"/>
          </p:cNvPicPr>
          <p:nvPr/>
        </p:nvPicPr>
        <p:blipFill>
          <a:blip r:embed="rId6"/>
          <a:stretch>
            <a:fillRect/>
          </a:stretch>
        </p:blipFill>
        <p:spPr>
          <a:xfrm>
            <a:off x="5786479" y="5851905"/>
            <a:ext cx="128699" cy="187198"/>
          </a:xfrm>
          <a:prstGeom prst="rect">
            <a:avLst/>
          </a:prstGeom>
        </p:spPr>
      </p:pic>
      <p:sp>
        <p:nvSpPr>
          <p:cNvPr id="22" name="TextBox 21"/>
          <p:cNvSpPr txBox="1"/>
          <p:nvPr/>
        </p:nvSpPr>
        <p:spPr>
          <a:xfrm>
            <a:off x="5953975" y="5861685"/>
            <a:ext cx="2077293" cy="186689"/>
          </a:xfrm>
          <a:prstGeom prst="rect">
            <a:avLst/>
          </a:prstGeom>
          <a:noFill/>
        </p:spPr>
        <p:txBody>
          <a:bodyPr wrap="none" lIns="0" rIns="0" tIns="0" bIns="0">
            <a:spAutoFit/>
          </a:bodyPr>
          <a:lstStyle/>
          <a:p>
            <a:r>
              <a:rPr sz="1100" b="0">
                <a:solidFill>
                  <a:srgbClr val="2E2E2E"/>
                </a:solidFill>
                <a:latin typeface="Calibri"/>
              </a:rPr>
              <a:t>BPS) while 'Organic-certified' cedes</a:t>
            </a:r>
          </a:p>
        </p:txBody>
      </p:sp>
      <p:pic>
        <p:nvPicPr>
          <p:cNvPr id="23" name="Picture 22" descr="lock.png"/>
          <p:cNvPicPr>
            <a:picLocks noChangeAspect="1"/>
          </p:cNvPicPr>
          <p:nvPr/>
        </p:nvPicPr>
        <p:blipFill>
          <a:blip r:embed="rId6"/>
          <a:stretch>
            <a:fillRect/>
          </a:stretch>
        </p:blipFill>
        <p:spPr>
          <a:xfrm>
            <a:off x="7979320" y="5851905"/>
            <a:ext cx="128699" cy="187198"/>
          </a:xfrm>
          <a:prstGeom prst="rect">
            <a:avLst/>
          </a:prstGeom>
        </p:spPr>
      </p:pic>
      <p:sp>
        <p:nvSpPr>
          <p:cNvPr id="24" name="TextBox 23"/>
          <p:cNvSpPr txBox="1"/>
          <p:nvPr/>
        </p:nvSpPr>
        <p:spPr>
          <a:xfrm>
            <a:off x="8146816"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Recipe and Ingredient Claims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Organic-certified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 / non-organic</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Additional claim mapping</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Recipe and Ingredient Claims</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923989" cy="194310"/>
          </a:xfrm>
          <a:prstGeom prst="rect">
            <a:avLst/>
          </a:prstGeom>
          <a:noFill/>
        </p:spPr>
        <p:txBody>
          <a:bodyPr wrap="none" lIns="0" rIns="0" tIns="0" bIns="0">
            <a:spAutoFit/>
          </a:bodyPr>
          <a:lstStyle/>
          <a:p>
            <a:r>
              <a:rPr sz="1150" b="0">
                <a:solidFill>
                  <a:srgbClr val="2E2E2E"/>
                </a:solidFill>
                <a:latin typeface="Calibri"/>
              </a:rPr>
              <a:t>▪ Across its 3 sub-segments, by recipe and ingredient claims adds</a:t>
            </a:r>
          </a:p>
        </p:txBody>
      </p:sp>
      <p:pic>
        <p:nvPicPr>
          <p:cNvPr id="29" name="Picture 28" descr="lock.png"/>
          <p:cNvPicPr>
            <a:picLocks noChangeAspect="1"/>
          </p:cNvPicPr>
          <p:nvPr/>
        </p:nvPicPr>
        <p:blipFill>
          <a:blip r:embed="rId7"/>
          <a:stretch>
            <a:fillRect/>
          </a:stretch>
        </p:blipFill>
        <p:spPr>
          <a:xfrm>
            <a:off x="10178693" y="4276026"/>
            <a:ext cx="134549" cy="195707"/>
          </a:xfrm>
          <a:prstGeom prst="rect">
            <a:avLst/>
          </a:prstGeom>
        </p:spPr>
      </p:pic>
      <p:sp>
        <p:nvSpPr>
          <p:cNvPr id="30" name="TextBox 29"/>
          <p:cNvSpPr txBox="1"/>
          <p:nvPr/>
        </p:nvSpPr>
        <p:spPr>
          <a:xfrm>
            <a:off x="10353803" y="4286250"/>
            <a:ext cx="1352996" cy="194310"/>
          </a:xfrm>
          <a:prstGeom prst="rect">
            <a:avLst/>
          </a:prstGeom>
          <a:noFill/>
        </p:spPr>
        <p:txBody>
          <a:bodyPr wrap="none" lIns="0" rIns="0" tIns="0" bIns="0">
            <a:spAutoFit/>
          </a:bodyPr>
          <a:lstStyle/>
          <a:p>
            <a:r>
              <a:rPr sz="1150" b="0">
                <a:solidFill>
                  <a:srgbClr val="2E2E2E"/>
                </a:solidFill>
                <a:latin typeface="Calibri"/>
              </a:rPr>
              <a:t>US$ Mn to the Global</a:t>
            </a:r>
          </a:p>
        </p:txBody>
      </p:sp>
      <p:sp>
        <p:nvSpPr>
          <p:cNvPr id="31" name="TextBox 30"/>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2" name="TextBox 31"/>
          <p:cNvSpPr txBox="1"/>
          <p:nvPr/>
        </p:nvSpPr>
        <p:spPr>
          <a:xfrm>
            <a:off x="6305550" y="4689347"/>
            <a:ext cx="2051583" cy="194310"/>
          </a:xfrm>
          <a:prstGeom prst="rect">
            <a:avLst/>
          </a:prstGeom>
          <a:noFill/>
        </p:spPr>
        <p:txBody>
          <a:bodyPr wrap="none" lIns="0" rIns="0" tIns="0" bIns="0">
            <a:spAutoFit/>
          </a:bodyPr>
          <a:lstStyle/>
          <a:p>
            <a:r>
              <a:rPr sz="1150" b="0">
                <a:solidFill>
                  <a:srgbClr val="2E2E2E"/>
                </a:solidFill>
                <a:latin typeface="Calibri"/>
              </a:rPr>
              <a:t>▪ 'Additional claim mapping' adds</a:t>
            </a:r>
          </a:p>
        </p:txBody>
      </p:sp>
      <p:pic>
        <p:nvPicPr>
          <p:cNvPr id="33" name="Picture 32" descr="lock.png"/>
          <p:cNvPicPr>
            <a:picLocks noChangeAspect="1"/>
          </p:cNvPicPr>
          <p:nvPr/>
        </p:nvPicPr>
        <p:blipFill>
          <a:blip r:embed="rId7"/>
          <a:stretch>
            <a:fillRect/>
          </a:stretch>
        </p:blipFill>
        <p:spPr>
          <a:xfrm>
            <a:off x="8306287" y="4679124"/>
            <a:ext cx="134549" cy="195707"/>
          </a:xfrm>
          <a:prstGeom prst="rect">
            <a:avLst/>
          </a:prstGeom>
        </p:spPr>
      </p:pic>
      <p:sp>
        <p:nvSpPr>
          <p:cNvPr id="34" name="TextBox 33"/>
          <p:cNvSpPr txBox="1"/>
          <p:nvPr/>
        </p:nvSpPr>
        <p:spPr>
          <a:xfrm>
            <a:off x="8481396"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9053867" y="4679124"/>
            <a:ext cx="134549" cy="195707"/>
          </a:xfrm>
          <a:prstGeom prst="rect">
            <a:avLst/>
          </a:prstGeom>
        </p:spPr>
      </p:pic>
      <p:sp>
        <p:nvSpPr>
          <p:cNvPr id="36" name="TextBox 35"/>
          <p:cNvSpPr txBox="1"/>
          <p:nvPr/>
        </p:nvSpPr>
        <p:spPr>
          <a:xfrm>
            <a:off x="9228976"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538411" cy="194310"/>
          </a:xfrm>
          <a:prstGeom prst="rect">
            <a:avLst/>
          </a:prstGeom>
          <a:noFill/>
        </p:spPr>
        <p:txBody>
          <a:bodyPr wrap="none" lIns="0" rIns="0" tIns="0" bIns="0">
            <a:spAutoFit/>
          </a:bodyPr>
          <a:lstStyle/>
          <a:p>
            <a:r>
              <a:rPr sz="1150" b="0">
                <a:solidFill>
                  <a:srgbClr val="2E2E2E"/>
                </a:solidFill>
                <a:latin typeface="Calibri"/>
              </a:rPr>
              <a:t>▪ 'Organic-certified' adds</a:t>
            </a:r>
          </a:p>
        </p:txBody>
      </p:sp>
      <p:pic>
        <p:nvPicPr>
          <p:cNvPr id="38" name="Picture 37" descr="lock.png"/>
          <p:cNvPicPr>
            <a:picLocks noChangeAspect="1"/>
          </p:cNvPicPr>
          <p:nvPr/>
        </p:nvPicPr>
        <p:blipFill>
          <a:blip r:embed="rId7"/>
          <a:stretch>
            <a:fillRect/>
          </a:stretch>
        </p:blipFill>
        <p:spPr>
          <a:xfrm>
            <a:off x="7793115" y="4906962"/>
            <a:ext cx="134549" cy="195707"/>
          </a:xfrm>
          <a:prstGeom prst="rect">
            <a:avLst/>
          </a:prstGeom>
        </p:spPr>
      </p:pic>
      <p:sp>
        <p:nvSpPr>
          <p:cNvPr id="39" name="TextBox 38"/>
          <p:cNvSpPr txBox="1"/>
          <p:nvPr/>
        </p:nvSpPr>
        <p:spPr>
          <a:xfrm>
            <a:off x="7968224"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540695" y="4906962"/>
            <a:ext cx="134549" cy="195707"/>
          </a:xfrm>
          <a:prstGeom prst="rect">
            <a:avLst/>
          </a:prstGeom>
        </p:spPr>
      </p:pic>
      <p:sp>
        <p:nvSpPr>
          <p:cNvPr id="41" name="TextBox 40"/>
          <p:cNvSpPr txBox="1"/>
          <p:nvPr/>
        </p:nvSpPr>
        <p:spPr>
          <a:xfrm>
            <a:off x="8715804"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2162832" cy="194310"/>
          </a:xfrm>
          <a:prstGeom prst="rect">
            <a:avLst/>
          </a:prstGeom>
          <a:noFill/>
        </p:spPr>
        <p:txBody>
          <a:bodyPr wrap="none" lIns="0" rIns="0" tIns="0" bIns="0">
            <a:spAutoFit/>
          </a:bodyPr>
          <a:lstStyle/>
          <a:p>
            <a:r>
              <a:rPr sz="1150" b="0">
                <a:solidFill>
                  <a:srgbClr val="2E2E2E"/>
                </a:solidFill>
                <a:latin typeface="Calibri"/>
              </a:rPr>
              <a:t>▪ 'Conventional / non-organic' adds</a:t>
            </a:r>
          </a:p>
        </p:txBody>
      </p:sp>
      <p:pic>
        <p:nvPicPr>
          <p:cNvPr id="43" name="Picture 42" descr="lock.png"/>
          <p:cNvPicPr>
            <a:picLocks noChangeAspect="1"/>
          </p:cNvPicPr>
          <p:nvPr/>
        </p:nvPicPr>
        <p:blipFill>
          <a:blip r:embed="rId7"/>
          <a:stretch>
            <a:fillRect/>
          </a:stretch>
        </p:blipFill>
        <p:spPr>
          <a:xfrm>
            <a:off x="8417536" y="5134800"/>
            <a:ext cx="134549" cy="195707"/>
          </a:xfrm>
          <a:prstGeom prst="rect">
            <a:avLst/>
          </a:prstGeom>
        </p:spPr>
      </p:pic>
      <p:sp>
        <p:nvSpPr>
          <p:cNvPr id="44" name="TextBox 43"/>
          <p:cNvSpPr txBox="1"/>
          <p:nvPr/>
        </p:nvSpPr>
        <p:spPr>
          <a:xfrm>
            <a:off x="8592645"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9165116" y="5134800"/>
            <a:ext cx="134549" cy="195707"/>
          </a:xfrm>
          <a:prstGeom prst="rect">
            <a:avLst/>
          </a:prstGeom>
        </p:spPr>
      </p:pic>
      <p:sp>
        <p:nvSpPr>
          <p:cNvPr id="46" name="TextBox 45"/>
          <p:cNvSpPr txBox="1"/>
          <p:nvPr/>
        </p:nvSpPr>
        <p:spPr>
          <a:xfrm>
            <a:off x="9340225"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Recipe and Ingredient Claims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Recipe and Ingredient Claims,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Recipe and Ingredient Claims (MT)</a:t>
            </a:r>
          </a:p>
        </p:txBody>
      </p:sp>
      <p:graphicFrame>
        <p:nvGraphicFramePr>
          <p:cNvPr id="13" name="Table 12"/>
          <p:cNvGraphicFramePr>
            <a:graphicFrameLocks noGrp="1"/>
          </p:cNvGraphicFramePr>
          <p:nvPr/>
        </p:nvGraphicFramePr>
        <p:xfrm>
          <a:off x="152400" y="1238250"/>
          <a:ext cx="11887208" cy="180974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Recipe and</a:t>
                      </a:r>
                      <a:endParaRPr sz="1100"/>
                    </a:p>
                    <a:p>
                      <a:pPr algn="l"/>
                      <a:r>
                        <a:rPr sz="1100" b="1">
                          <a:solidFill>
                            <a:srgbClr val="0B2E4A"/>
                          </a:solidFill>
                          <a:latin typeface="Calibri"/>
                        </a:rPr>
                        <a:t>Ingredient Claims</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317">
                <a:tc>
                  <a:txBody>
                    <a:bodyPr wrap="none"/>
                    <a:lstStyle/>
                    <a:p>
                      <a:pPr algn="l"/>
                      <a:r>
                        <a:rPr sz="1100" b="1">
                          <a:solidFill>
                            <a:srgbClr val="2E2E2E"/>
                          </a:solidFill>
                          <a:latin typeface="Calibri"/>
                        </a:rPr>
                        <a:t>Organic-certified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101">
                <a:tc>
                  <a:txBody>
                    <a:bodyPr wrap="none"/>
                    <a:lstStyle/>
                    <a:p>
                      <a:pPr algn="l"/>
                      <a:r>
                        <a:rPr sz="1100" b="1">
                          <a:solidFill>
                            <a:srgbClr val="2E2E2E"/>
                          </a:solidFill>
                          <a:latin typeface="Calibri"/>
                        </a:rPr>
                        <a:t>Conventional /</a:t>
                      </a:r>
                      <a:endParaRPr sz="1100"/>
                    </a:p>
                    <a:p>
                      <a:pPr algn="l"/>
                      <a:r>
                        <a:rPr sz="1100" b="1">
                          <a:solidFill>
                            <a:srgbClr val="2E2E2E"/>
                          </a:solidFill>
                          <a:latin typeface="Calibri"/>
                        </a:rPr>
                        <a:t>non-organic</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101">
                <a:tc>
                  <a:txBody>
                    <a:bodyPr wrap="none"/>
                    <a:lstStyle/>
                    <a:p>
                      <a:pPr algn="l"/>
                      <a:r>
                        <a:rPr sz="1100" b="1">
                          <a:solidFill>
                            <a:srgbClr val="2E2E2E"/>
                          </a:solidFill>
                          <a:latin typeface="Calibri"/>
                        </a:rPr>
                        <a:t>Additional claim</a:t>
                      </a:r>
                      <a:endParaRPr sz="1100"/>
                    </a:p>
                    <a:p>
                      <a:pPr algn="l"/>
                      <a:r>
                        <a:rPr sz="1100" b="1">
                          <a:solidFill>
                            <a:srgbClr val="2E2E2E"/>
                          </a:solidFill>
                          <a:latin typeface="Calibri"/>
                        </a:rPr>
                        <a:t>mapping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057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0900"/>
            <a:ext cx="11906250" cy="3238500"/>
          </a:xfrm>
          <a:prstGeom prst="roundRect">
            <a:avLst>
              <a:gd name="adj" fmla="val 23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4766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Recipe and Ingredient Claims</a:t>
            </a:r>
          </a:p>
        </p:txBody>
      </p:sp>
      <p:sp>
        <p:nvSpPr>
          <p:cNvPr id="17" name="Rectangle 16"/>
          <p:cNvSpPr/>
          <p:nvPr/>
        </p:nvSpPr>
        <p:spPr>
          <a:xfrm>
            <a:off x="276225" y="3714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00475"/>
            <a:ext cx="11639550" cy="2752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95880"/>
            <a:ext cx="366712" cy="533400"/>
          </a:xfrm>
          <a:prstGeom prst="rect">
            <a:avLst/>
          </a:prstGeom>
        </p:spPr>
      </p:pic>
      <p:sp>
        <p:nvSpPr>
          <p:cNvPr id="21" name="TextBox 20"/>
          <p:cNvSpPr txBox="1"/>
          <p:nvPr/>
        </p:nvSpPr>
        <p:spPr>
          <a:xfrm>
            <a:off x="276225" y="3810000"/>
            <a:ext cx="4390094" cy="194310"/>
          </a:xfrm>
          <a:prstGeom prst="rect">
            <a:avLst/>
          </a:prstGeom>
          <a:noFill/>
        </p:spPr>
        <p:txBody>
          <a:bodyPr wrap="none" lIns="0" rIns="0" tIns="0" bIns="0">
            <a:spAutoFit/>
          </a:bodyPr>
          <a:lstStyle/>
          <a:p>
            <a:r>
              <a:rPr sz="1150" b="0">
                <a:solidFill>
                  <a:srgbClr val="2E2E2E"/>
                </a:solidFill>
                <a:latin typeface="Calibri"/>
              </a:rPr>
              <a:t>▪ 'Additional claim mapping' is the largest recipe and ingredient claims at</a:t>
            </a:r>
          </a:p>
        </p:txBody>
      </p:sp>
      <p:pic>
        <p:nvPicPr>
          <p:cNvPr id="22" name="Picture 21" descr="lock.png"/>
          <p:cNvPicPr>
            <a:picLocks noChangeAspect="1"/>
          </p:cNvPicPr>
          <p:nvPr/>
        </p:nvPicPr>
        <p:blipFill>
          <a:blip r:embed="rId4"/>
          <a:stretch>
            <a:fillRect/>
          </a:stretch>
        </p:blipFill>
        <p:spPr>
          <a:xfrm>
            <a:off x="4615473" y="3799776"/>
            <a:ext cx="134549" cy="195707"/>
          </a:xfrm>
          <a:prstGeom prst="rect">
            <a:avLst/>
          </a:prstGeom>
        </p:spPr>
      </p:pic>
      <p:sp>
        <p:nvSpPr>
          <p:cNvPr id="23" name="TextBox 22"/>
          <p:cNvSpPr txBox="1"/>
          <p:nvPr/>
        </p:nvSpPr>
        <p:spPr>
          <a:xfrm>
            <a:off x="4790583" y="3810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5820315" y="3799776"/>
            <a:ext cx="134549" cy="195707"/>
          </a:xfrm>
          <a:prstGeom prst="rect">
            <a:avLst/>
          </a:prstGeom>
        </p:spPr>
      </p:pic>
      <p:sp>
        <p:nvSpPr>
          <p:cNvPr id="25" name="TextBox 24"/>
          <p:cNvSpPr txBox="1"/>
          <p:nvPr/>
        </p:nvSpPr>
        <p:spPr>
          <a:xfrm>
            <a:off x="5995425" y="3810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037837"/>
            <a:ext cx="2561902" cy="194310"/>
          </a:xfrm>
          <a:prstGeom prst="rect">
            <a:avLst/>
          </a:prstGeom>
          <a:noFill/>
        </p:spPr>
        <p:txBody>
          <a:bodyPr wrap="none" lIns="0" rIns="0" tIns="0" bIns="0">
            <a:spAutoFit/>
          </a:bodyPr>
          <a:lstStyle/>
          <a:p>
            <a:r>
              <a:rPr sz="1150" b="0">
                <a:solidFill>
                  <a:srgbClr val="2E2E2E"/>
                </a:solidFill>
                <a:latin typeface="Calibri"/>
              </a:rPr>
              <a:t>▪ 'Additional claim mapping' grows fastest</a:t>
            </a:r>
          </a:p>
        </p:txBody>
      </p:sp>
      <p:pic>
        <p:nvPicPr>
          <p:cNvPr id="27" name="Picture 26" descr="lock.png"/>
          <p:cNvPicPr>
            <a:picLocks noChangeAspect="1"/>
          </p:cNvPicPr>
          <p:nvPr/>
        </p:nvPicPr>
        <p:blipFill>
          <a:blip r:embed="rId4"/>
          <a:stretch>
            <a:fillRect/>
          </a:stretch>
        </p:blipFill>
        <p:spPr>
          <a:xfrm>
            <a:off x="2787281" y="4027614"/>
            <a:ext cx="134549" cy="195707"/>
          </a:xfrm>
          <a:prstGeom prst="rect">
            <a:avLst/>
          </a:prstGeom>
        </p:spPr>
      </p:pic>
      <p:sp>
        <p:nvSpPr>
          <p:cNvPr id="28" name="TextBox 27"/>
          <p:cNvSpPr txBox="1"/>
          <p:nvPr/>
        </p:nvSpPr>
        <p:spPr>
          <a:xfrm>
            <a:off x="2962390" y="4037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265675"/>
            <a:ext cx="3071080" cy="194310"/>
          </a:xfrm>
          <a:prstGeom prst="rect">
            <a:avLst/>
          </a:prstGeom>
          <a:noFill/>
        </p:spPr>
        <p:txBody>
          <a:bodyPr wrap="none" lIns="0" rIns="0" tIns="0" bIns="0">
            <a:spAutoFit/>
          </a:bodyPr>
          <a:lstStyle/>
          <a:p>
            <a:r>
              <a:rPr sz="1150" b="0">
                <a:solidFill>
                  <a:srgbClr val="2E2E2E"/>
                </a:solidFill>
                <a:latin typeface="Calibri"/>
              </a:rPr>
              <a:t>▪ Share shifts toward 'Additional claim mapping' (+</a:t>
            </a:r>
          </a:p>
        </p:txBody>
      </p:sp>
      <p:pic>
        <p:nvPicPr>
          <p:cNvPr id="30" name="Picture 29" descr="lock.png"/>
          <p:cNvPicPr>
            <a:picLocks noChangeAspect="1"/>
          </p:cNvPicPr>
          <p:nvPr/>
        </p:nvPicPr>
        <p:blipFill>
          <a:blip r:embed="rId4"/>
          <a:stretch>
            <a:fillRect/>
          </a:stretch>
        </p:blipFill>
        <p:spPr>
          <a:xfrm>
            <a:off x="3296459" y="4255452"/>
            <a:ext cx="134549" cy="195707"/>
          </a:xfrm>
          <a:prstGeom prst="rect">
            <a:avLst/>
          </a:prstGeom>
        </p:spPr>
      </p:pic>
      <p:sp>
        <p:nvSpPr>
          <p:cNvPr id="31" name="TextBox 30"/>
          <p:cNvSpPr txBox="1"/>
          <p:nvPr/>
        </p:nvSpPr>
        <p:spPr>
          <a:xfrm>
            <a:off x="3471568" y="4265675"/>
            <a:ext cx="2484028" cy="194310"/>
          </a:xfrm>
          <a:prstGeom prst="rect">
            <a:avLst/>
          </a:prstGeom>
          <a:noFill/>
        </p:spPr>
        <p:txBody>
          <a:bodyPr wrap="none" lIns="0" rIns="0" tIns="0" bIns="0">
            <a:spAutoFit/>
          </a:bodyPr>
          <a:lstStyle/>
          <a:p>
            <a:r>
              <a:rPr sz="1150" b="0">
                <a:solidFill>
                  <a:srgbClr val="2E2E2E"/>
                </a:solidFill>
                <a:latin typeface="Calibri"/>
              </a:rPr>
              <a:t>BPS) and away from 'Organic-certified' (-</a:t>
            </a:r>
          </a:p>
        </p:txBody>
      </p:sp>
      <p:pic>
        <p:nvPicPr>
          <p:cNvPr id="32" name="Picture 31" descr="lock.png"/>
          <p:cNvPicPr>
            <a:picLocks noChangeAspect="1"/>
          </p:cNvPicPr>
          <p:nvPr/>
        </p:nvPicPr>
        <p:blipFill>
          <a:blip r:embed="rId4"/>
          <a:stretch>
            <a:fillRect/>
          </a:stretch>
        </p:blipFill>
        <p:spPr>
          <a:xfrm>
            <a:off x="5904751" y="4255452"/>
            <a:ext cx="134549" cy="195707"/>
          </a:xfrm>
          <a:prstGeom prst="rect">
            <a:avLst/>
          </a:prstGeom>
        </p:spPr>
      </p:pic>
      <p:sp>
        <p:nvSpPr>
          <p:cNvPr id="33" name="TextBox 32"/>
          <p:cNvSpPr txBox="1"/>
          <p:nvPr/>
        </p:nvSpPr>
        <p:spPr>
          <a:xfrm>
            <a:off x="6079860" y="4265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493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483290"/>
            <a:ext cx="134549" cy="195707"/>
          </a:xfrm>
          <a:prstGeom prst="rect">
            <a:avLst/>
          </a:prstGeom>
        </p:spPr>
      </p:pic>
      <p:sp>
        <p:nvSpPr>
          <p:cNvPr id="36" name="TextBox 35"/>
          <p:cNvSpPr txBox="1"/>
          <p:nvPr/>
        </p:nvSpPr>
        <p:spPr>
          <a:xfrm>
            <a:off x="1965143" y="4493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483290"/>
            <a:ext cx="134549" cy="195707"/>
          </a:xfrm>
          <a:prstGeom prst="rect">
            <a:avLst/>
          </a:prstGeom>
        </p:spPr>
      </p:pic>
      <p:sp>
        <p:nvSpPr>
          <p:cNvPr id="38" name="TextBox 37"/>
          <p:cNvSpPr txBox="1"/>
          <p:nvPr/>
        </p:nvSpPr>
        <p:spPr>
          <a:xfrm>
            <a:off x="2291688" y="4493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Recipe and Ingredient Claims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Recipe and Ingredient Claims,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Recipe and Ingredient Claims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51700"/>
                <a:gridCol w="584441"/>
                <a:gridCol w="584441"/>
                <a:gridCol w="584441"/>
                <a:gridCol w="584441"/>
                <a:gridCol w="584441"/>
                <a:gridCol w="584441"/>
                <a:gridCol w="584441"/>
                <a:gridCol w="584441"/>
                <a:gridCol w="584441"/>
                <a:gridCol w="584441"/>
                <a:gridCol w="584441"/>
                <a:gridCol w="584441"/>
                <a:gridCol w="584441"/>
                <a:gridCol w="584441"/>
                <a:gridCol w="584441"/>
                <a:gridCol w="584441"/>
                <a:gridCol w="584441"/>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Recipe and Ingredient Claims</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5158" y="1713738"/>
            <a:ext cx="366712" cy="533400"/>
          </a:xfrm>
          <a:prstGeom prst="rect">
            <a:avLst/>
          </a:prstGeom>
        </p:spPr>
      </p:pic>
      <p:sp>
        <p:nvSpPr>
          <p:cNvPr id="21" name="TextBox 20"/>
          <p:cNvSpPr txBox="1"/>
          <p:nvPr/>
        </p:nvSpPr>
        <p:spPr>
          <a:xfrm>
            <a:off x="276225" y="3238500"/>
            <a:ext cx="4390094" cy="194310"/>
          </a:xfrm>
          <a:prstGeom prst="rect">
            <a:avLst/>
          </a:prstGeom>
          <a:noFill/>
        </p:spPr>
        <p:txBody>
          <a:bodyPr wrap="none" lIns="0" rIns="0" tIns="0" bIns="0">
            <a:spAutoFit/>
          </a:bodyPr>
          <a:lstStyle/>
          <a:p>
            <a:r>
              <a:rPr sz="1150" b="0">
                <a:solidFill>
                  <a:srgbClr val="2E2E2E"/>
                </a:solidFill>
                <a:latin typeface="Calibri"/>
              </a:rPr>
              <a:t>▪ 'Additional claim mapping' is the largest recipe and ingredient claims at</a:t>
            </a:r>
          </a:p>
        </p:txBody>
      </p:sp>
      <p:pic>
        <p:nvPicPr>
          <p:cNvPr id="22" name="Picture 21" descr="lock.png"/>
          <p:cNvPicPr>
            <a:picLocks noChangeAspect="1"/>
          </p:cNvPicPr>
          <p:nvPr/>
        </p:nvPicPr>
        <p:blipFill>
          <a:blip r:embed="rId4"/>
          <a:stretch>
            <a:fillRect/>
          </a:stretch>
        </p:blipFill>
        <p:spPr>
          <a:xfrm>
            <a:off x="4615473" y="3228276"/>
            <a:ext cx="134549" cy="195707"/>
          </a:xfrm>
          <a:prstGeom prst="rect">
            <a:avLst/>
          </a:prstGeom>
        </p:spPr>
      </p:pic>
      <p:sp>
        <p:nvSpPr>
          <p:cNvPr id="23" name="TextBox 22"/>
          <p:cNvSpPr txBox="1"/>
          <p:nvPr/>
        </p:nvSpPr>
        <p:spPr>
          <a:xfrm>
            <a:off x="4790583"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5696515" y="3228276"/>
            <a:ext cx="134549" cy="195707"/>
          </a:xfrm>
          <a:prstGeom prst="rect">
            <a:avLst/>
          </a:prstGeom>
        </p:spPr>
      </p:pic>
      <p:sp>
        <p:nvSpPr>
          <p:cNvPr id="25" name="TextBox 24"/>
          <p:cNvSpPr txBox="1"/>
          <p:nvPr/>
        </p:nvSpPr>
        <p:spPr>
          <a:xfrm>
            <a:off x="5871625"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561902" cy="194310"/>
          </a:xfrm>
          <a:prstGeom prst="rect">
            <a:avLst/>
          </a:prstGeom>
          <a:noFill/>
        </p:spPr>
        <p:txBody>
          <a:bodyPr wrap="none" lIns="0" rIns="0" tIns="0" bIns="0">
            <a:spAutoFit/>
          </a:bodyPr>
          <a:lstStyle/>
          <a:p>
            <a:r>
              <a:rPr sz="1150" b="0">
                <a:solidFill>
                  <a:srgbClr val="2E2E2E"/>
                </a:solidFill>
                <a:latin typeface="Calibri"/>
              </a:rPr>
              <a:t>▪ 'Additional claim mapping' grows fastest</a:t>
            </a:r>
          </a:p>
        </p:txBody>
      </p:sp>
      <p:pic>
        <p:nvPicPr>
          <p:cNvPr id="27" name="Picture 26" descr="lock.png"/>
          <p:cNvPicPr>
            <a:picLocks noChangeAspect="1"/>
          </p:cNvPicPr>
          <p:nvPr/>
        </p:nvPicPr>
        <p:blipFill>
          <a:blip r:embed="rId4"/>
          <a:stretch>
            <a:fillRect/>
          </a:stretch>
        </p:blipFill>
        <p:spPr>
          <a:xfrm>
            <a:off x="2787281" y="3456114"/>
            <a:ext cx="134549" cy="195707"/>
          </a:xfrm>
          <a:prstGeom prst="rect">
            <a:avLst/>
          </a:prstGeom>
        </p:spPr>
      </p:pic>
      <p:sp>
        <p:nvSpPr>
          <p:cNvPr id="28" name="TextBox 27"/>
          <p:cNvSpPr txBox="1"/>
          <p:nvPr/>
        </p:nvSpPr>
        <p:spPr>
          <a:xfrm>
            <a:off x="2962390"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071080" cy="194310"/>
          </a:xfrm>
          <a:prstGeom prst="rect">
            <a:avLst/>
          </a:prstGeom>
          <a:noFill/>
        </p:spPr>
        <p:txBody>
          <a:bodyPr wrap="none" lIns="0" rIns="0" tIns="0" bIns="0">
            <a:spAutoFit/>
          </a:bodyPr>
          <a:lstStyle/>
          <a:p>
            <a:r>
              <a:rPr sz="1150" b="0">
                <a:solidFill>
                  <a:srgbClr val="2E2E2E"/>
                </a:solidFill>
                <a:latin typeface="Calibri"/>
              </a:rPr>
              <a:t>▪ Share shifts toward 'Additional claim mapping' (+</a:t>
            </a:r>
          </a:p>
        </p:txBody>
      </p:sp>
      <p:pic>
        <p:nvPicPr>
          <p:cNvPr id="30" name="Picture 29" descr="lock.png"/>
          <p:cNvPicPr>
            <a:picLocks noChangeAspect="1"/>
          </p:cNvPicPr>
          <p:nvPr/>
        </p:nvPicPr>
        <p:blipFill>
          <a:blip r:embed="rId4"/>
          <a:stretch>
            <a:fillRect/>
          </a:stretch>
        </p:blipFill>
        <p:spPr>
          <a:xfrm>
            <a:off x="3296459" y="3683952"/>
            <a:ext cx="134549" cy="195707"/>
          </a:xfrm>
          <a:prstGeom prst="rect">
            <a:avLst/>
          </a:prstGeom>
        </p:spPr>
      </p:pic>
      <p:sp>
        <p:nvSpPr>
          <p:cNvPr id="31" name="TextBox 30"/>
          <p:cNvSpPr txBox="1"/>
          <p:nvPr/>
        </p:nvSpPr>
        <p:spPr>
          <a:xfrm>
            <a:off x="3471568" y="3694175"/>
            <a:ext cx="2484028" cy="194310"/>
          </a:xfrm>
          <a:prstGeom prst="rect">
            <a:avLst/>
          </a:prstGeom>
          <a:noFill/>
        </p:spPr>
        <p:txBody>
          <a:bodyPr wrap="none" lIns="0" rIns="0" tIns="0" bIns="0">
            <a:spAutoFit/>
          </a:bodyPr>
          <a:lstStyle/>
          <a:p>
            <a:r>
              <a:rPr sz="1150" b="0">
                <a:solidFill>
                  <a:srgbClr val="2E2E2E"/>
                </a:solidFill>
                <a:latin typeface="Calibri"/>
              </a:rPr>
              <a:t>BPS) and away from 'Organic-certified' (-</a:t>
            </a:r>
          </a:p>
        </p:txBody>
      </p:sp>
      <p:pic>
        <p:nvPicPr>
          <p:cNvPr id="32" name="Picture 31" descr="lock.png"/>
          <p:cNvPicPr>
            <a:picLocks noChangeAspect="1"/>
          </p:cNvPicPr>
          <p:nvPr/>
        </p:nvPicPr>
        <p:blipFill>
          <a:blip r:embed="rId4"/>
          <a:stretch>
            <a:fillRect/>
          </a:stretch>
        </p:blipFill>
        <p:spPr>
          <a:xfrm>
            <a:off x="5904751" y="3683952"/>
            <a:ext cx="134549" cy="195707"/>
          </a:xfrm>
          <a:prstGeom prst="rect">
            <a:avLst/>
          </a:prstGeom>
        </p:spPr>
      </p:pic>
      <p:sp>
        <p:nvSpPr>
          <p:cNvPr id="33" name="TextBox 32"/>
          <p:cNvSpPr txBox="1"/>
          <p:nvPr/>
        </p:nvSpPr>
        <p:spPr>
          <a:xfrm>
            <a:off x="6079860"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Recipe and Ingredient Claims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Recipe and Ingredient Claims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0710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0234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261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 non-organic</a:t>
            </a:r>
          </a:p>
        </p:txBody>
      </p:sp>
      <p:sp>
        <p:nvSpPr>
          <p:cNvPr id="19" name="BPS Value 1"/>
          <p:cNvSpPr txBox="1"/>
          <p:nvPr/>
        </p:nvSpPr>
        <p:spPr>
          <a:xfrm>
            <a:off x="6896100" y="168805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09795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931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169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Organic-certified</a:t>
            </a:r>
          </a:p>
        </p:txBody>
      </p:sp>
      <p:sp>
        <p:nvSpPr>
          <p:cNvPr id="23" name="BPS Value 2"/>
          <p:cNvSpPr txBox="1"/>
          <p:nvPr/>
        </p:nvSpPr>
        <p:spPr>
          <a:xfrm>
            <a:off x="6896100" y="207890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34830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3435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2673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Additional claim mapping</a:t>
            </a:r>
          </a:p>
        </p:txBody>
      </p:sp>
      <p:sp>
        <p:nvSpPr>
          <p:cNvPr id="27" name="BPS Value 3"/>
          <p:cNvSpPr txBox="1"/>
          <p:nvPr/>
        </p:nvSpPr>
        <p:spPr>
          <a:xfrm>
            <a:off x="6896100" y="432925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Recipe and Ingredient Claims</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108163" cy="194310"/>
          </a:xfrm>
          <a:prstGeom prst="rect">
            <a:avLst/>
          </a:prstGeom>
          <a:noFill/>
        </p:spPr>
        <p:txBody>
          <a:bodyPr wrap="none" lIns="0" rIns="0" tIns="0" bIns="0">
            <a:spAutoFit/>
          </a:bodyPr>
          <a:lstStyle/>
          <a:p>
            <a:r>
              <a:rPr sz="1150" b="0">
                <a:solidFill>
                  <a:srgbClr val="2E2E2E"/>
                </a:solidFill>
                <a:latin typeface="Calibri"/>
              </a:rPr>
              <a:t>▪ 'Additional claim mapping' gains the most share +</a:t>
            </a:r>
          </a:p>
        </p:txBody>
      </p:sp>
      <p:pic>
        <p:nvPicPr>
          <p:cNvPr id="35" name="Picture 34" descr="lock.png"/>
          <p:cNvPicPr>
            <a:picLocks noChangeAspect="1"/>
          </p:cNvPicPr>
          <p:nvPr/>
        </p:nvPicPr>
        <p:blipFill>
          <a:blip r:embed="rId5"/>
          <a:stretch>
            <a:fillRect/>
          </a:stretch>
        </p:blipFill>
        <p:spPr>
          <a:xfrm>
            <a:off x="10886867" y="1389951"/>
            <a:ext cx="134549" cy="195707"/>
          </a:xfrm>
          <a:prstGeom prst="rect">
            <a:avLst/>
          </a:prstGeom>
        </p:spPr>
      </p:pic>
      <p:sp>
        <p:nvSpPr>
          <p:cNvPr id="36" name="TextBox 35"/>
          <p:cNvSpPr txBox="1"/>
          <p:nvPr/>
        </p:nvSpPr>
        <p:spPr>
          <a:xfrm>
            <a:off x="11061976"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7" name="TextBox 36"/>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241562" cy="194310"/>
          </a:xfrm>
          <a:prstGeom prst="rect">
            <a:avLst/>
          </a:prstGeom>
          <a:noFill/>
        </p:spPr>
        <p:txBody>
          <a:bodyPr wrap="none" lIns="0" rIns="0" tIns="0" bIns="0">
            <a:spAutoFit/>
          </a:bodyPr>
          <a:lstStyle/>
          <a:p>
            <a:r>
              <a:rPr sz="1150" b="0">
                <a:solidFill>
                  <a:srgbClr val="2E2E2E"/>
                </a:solidFill>
                <a:latin typeface="Calibri"/>
              </a:rPr>
              <a:t>▪ 'Organic-certified' cedes the most -</a:t>
            </a:r>
          </a:p>
        </p:txBody>
      </p:sp>
      <p:pic>
        <p:nvPicPr>
          <p:cNvPr id="39" name="Picture 38" descr="lock.png"/>
          <p:cNvPicPr>
            <a:picLocks noChangeAspect="1"/>
          </p:cNvPicPr>
          <p:nvPr/>
        </p:nvPicPr>
        <p:blipFill>
          <a:blip r:embed="rId5"/>
          <a:stretch>
            <a:fillRect/>
          </a:stretch>
        </p:blipFill>
        <p:spPr>
          <a:xfrm>
            <a:off x="10020266" y="1793049"/>
            <a:ext cx="134549" cy="195707"/>
          </a:xfrm>
          <a:prstGeom prst="rect">
            <a:avLst/>
          </a:prstGeom>
        </p:spPr>
      </p:pic>
      <p:sp>
        <p:nvSpPr>
          <p:cNvPr id="40" name="TextBox 39"/>
          <p:cNvSpPr txBox="1"/>
          <p:nvPr/>
        </p:nvSpPr>
        <p:spPr>
          <a:xfrm>
            <a:off x="10195375"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41" name="TextBox 40"/>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3709479" cy="194310"/>
          </a:xfrm>
          <a:prstGeom prst="rect">
            <a:avLst/>
          </a:prstGeom>
          <a:noFill/>
        </p:spPr>
        <p:txBody>
          <a:bodyPr wrap="none" lIns="0" rIns="0" tIns="0" bIns="0">
            <a:spAutoFit/>
          </a:bodyPr>
          <a:lstStyle/>
          <a:p>
            <a:r>
              <a:rPr sz="1150" b="0">
                <a:solidFill>
                  <a:srgbClr val="2E2E2E"/>
                </a:solidFill>
                <a:latin typeface="Calibri"/>
              </a:rPr>
              <a:t>▪ 'Additional claim mapping' is the fastest-growing recipe and</a:t>
            </a:r>
          </a:p>
        </p:txBody>
      </p:sp>
      <p:sp>
        <p:nvSpPr>
          <p:cNvPr id="43" name="TextBox 42"/>
          <p:cNvSpPr txBox="1"/>
          <p:nvPr/>
        </p:nvSpPr>
        <p:spPr>
          <a:xfrm>
            <a:off x="7829550" y="2381631"/>
            <a:ext cx="1246026" cy="194310"/>
          </a:xfrm>
          <a:prstGeom prst="rect">
            <a:avLst/>
          </a:prstGeom>
          <a:noFill/>
        </p:spPr>
        <p:txBody>
          <a:bodyPr wrap="none" lIns="0" rIns="0" tIns="0" bIns="0">
            <a:spAutoFit/>
          </a:bodyPr>
          <a:lstStyle/>
          <a:p>
            <a:r>
              <a:rPr sz="1150" b="0">
                <a:solidFill>
                  <a:srgbClr val="2E2E2E"/>
                </a:solidFill>
                <a:latin typeface="Calibri"/>
              </a:rPr>
              <a:t>ingredient claims at</a:t>
            </a:r>
          </a:p>
        </p:txBody>
      </p:sp>
      <p:pic>
        <p:nvPicPr>
          <p:cNvPr id="44" name="Picture 43" descr="lock.png"/>
          <p:cNvPicPr>
            <a:picLocks noChangeAspect="1"/>
          </p:cNvPicPr>
          <p:nvPr/>
        </p:nvPicPr>
        <p:blipFill>
          <a:blip r:embed="rId5"/>
          <a:stretch>
            <a:fillRect/>
          </a:stretch>
        </p:blipFill>
        <p:spPr>
          <a:xfrm>
            <a:off x="9024730" y="2371407"/>
            <a:ext cx="134549" cy="195707"/>
          </a:xfrm>
          <a:prstGeom prst="rect">
            <a:avLst/>
          </a:prstGeom>
        </p:spPr>
      </p:pic>
      <p:sp>
        <p:nvSpPr>
          <p:cNvPr id="45" name="TextBox 44"/>
          <p:cNvSpPr txBox="1"/>
          <p:nvPr/>
        </p:nvSpPr>
        <p:spPr>
          <a:xfrm>
            <a:off x="919983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6" name="TextBox 45"/>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7" name="Picture 46" descr="lock.png"/>
          <p:cNvPicPr>
            <a:picLocks noChangeAspect="1"/>
          </p:cNvPicPr>
          <p:nvPr/>
        </p:nvPicPr>
        <p:blipFill>
          <a:blip r:embed="rId5"/>
          <a:stretch>
            <a:fillRect/>
          </a:stretch>
        </p:blipFill>
        <p:spPr>
          <a:xfrm>
            <a:off x="9327669" y="2599245"/>
            <a:ext cx="134549" cy="195707"/>
          </a:xfrm>
          <a:prstGeom prst="rect">
            <a:avLst/>
          </a:prstGeom>
        </p:spPr>
      </p:pic>
      <p:sp>
        <p:nvSpPr>
          <p:cNvPr id="48" name="TextBox 47"/>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9" name="Picture 48" descr="lock.png"/>
          <p:cNvPicPr>
            <a:picLocks noChangeAspect="1"/>
          </p:cNvPicPr>
          <p:nvPr/>
        </p:nvPicPr>
        <p:blipFill>
          <a:blip r:embed="rId5"/>
          <a:stretch>
            <a:fillRect/>
          </a:stretch>
        </p:blipFill>
        <p:spPr>
          <a:xfrm>
            <a:off x="9654215" y="2599245"/>
            <a:ext cx="134549" cy="195707"/>
          </a:xfrm>
          <a:prstGeom prst="rect">
            <a:avLst/>
          </a:prstGeom>
        </p:spPr>
      </p:pic>
      <p:sp>
        <p:nvSpPr>
          <p:cNvPr id="50" name="TextBox 49"/>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1" name="TextBox 50"/>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2" name="TextBox 51"/>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3"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Recipe and Ingredient Claims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Recipe and Ingredient Claims,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Recipe and Ingredient Claims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Organic-certified</a:t>
            </a:r>
          </a:p>
        </p:txBody>
      </p:sp>
      <p:sp>
        <p:nvSpPr>
          <p:cNvPr id="33" name="Rectangle 32"/>
          <p:cNvSpPr/>
          <p:nvPr/>
        </p:nvSpPr>
        <p:spPr>
          <a:xfrm>
            <a:off x="1857375" y="300037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Conventional / non-organic</a:t>
            </a:r>
          </a:p>
        </p:txBody>
      </p:sp>
      <p:sp>
        <p:nvSpPr>
          <p:cNvPr id="49" name="Rectangle 48"/>
          <p:cNvSpPr/>
          <p:nvPr/>
        </p:nvSpPr>
        <p:spPr>
          <a:xfrm>
            <a:off x="185737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Additional claim mapping</a:t>
            </a:r>
          </a:p>
        </p:txBody>
      </p:sp>
      <p:sp>
        <p:nvSpPr>
          <p:cNvPr id="65" name="Rectangle 64"/>
          <p:cNvSpPr/>
          <p:nvPr/>
        </p:nvSpPr>
        <p:spPr>
          <a:xfrm>
            <a:off x="1857375" y="5381625"/>
            <a:ext cx="643890" cy="119062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7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Recipe and Ingredient Claims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Recipe and Ingredient Claims,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Recipe and Ingredient Claims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Organic-certified</a:t>
            </a:r>
          </a:p>
        </p:txBody>
      </p:sp>
      <p:sp>
        <p:nvSpPr>
          <p:cNvPr id="33" name="Rectangle 32"/>
          <p:cNvSpPr/>
          <p:nvPr/>
        </p:nvSpPr>
        <p:spPr>
          <a:xfrm>
            <a:off x="1857375" y="300037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Conventional / non-organic</a:t>
            </a:r>
          </a:p>
        </p:txBody>
      </p:sp>
      <p:sp>
        <p:nvSpPr>
          <p:cNvPr id="49" name="Rectangle 48"/>
          <p:cNvSpPr/>
          <p:nvPr/>
        </p:nvSpPr>
        <p:spPr>
          <a:xfrm>
            <a:off x="185737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Additional claim mapping</a:t>
            </a:r>
          </a:p>
        </p:txBody>
      </p:sp>
      <p:sp>
        <p:nvSpPr>
          <p:cNvPr id="65" name="Rectangle 64"/>
          <p:cNvSpPr/>
          <p:nvPr/>
        </p:nvSpPr>
        <p:spPr>
          <a:xfrm>
            <a:off x="1857375" y="5381625"/>
            <a:ext cx="643890" cy="119062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7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Structure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Structure segment categorizes the market by product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Filled muffins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Unfilled muffins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Structure split shows how demand is distributed across product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_807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1_233_605E5C.png"/>
          <p:cNvPicPr>
            <a:picLocks noChangeAspect="1"/>
          </p:cNvPicPr>
          <p:nvPr/>
        </p:nvPicPr>
        <p:blipFill>
          <a:blip r:embed="rId5"/>
          <a:stretch>
            <a:fillRect/>
          </a:stretch>
        </p:blipFill>
        <p:spPr>
          <a:xfrm>
            <a:off x="3634127" y="2779432"/>
            <a:ext cx="1409020" cy="361950"/>
          </a:xfrm>
          <a:prstGeom prst="rect">
            <a:avLst/>
          </a:prstGeom>
        </p:spPr>
      </p:pic>
      <p:pic>
        <p:nvPicPr>
          <p:cNvPr id="52" name="Picture 51" descr="5_1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_093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6_512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58876" cy="186689"/>
          </a:xfrm>
          <a:prstGeom prst="rect">
            <a:avLst/>
          </a:prstGeom>
          <a:noFill/>
        </p:spPr>
        <p:txBody>
          <a:bodyPr wrap="none" lIns="0" rIns="0" tIns="0" bIns="0">
            <a:spAutoFit/>
          </a:bodyPr>
          <a:lstStyle/>
          <a:p>
            <a:r>
              <a:rPr sz="1100" b="0">
                <a:solidFill>
                  <a:srgbClr val="2E2E2E"/>
                </a:solidFill>
                <a:latin typeface="Calibri"/>
              </a:rPr>
              <a:t>▪ 'Filled muffins' holds the largest share in 2026</a:t>
            </a:r>
          </a:p>
        </p:txBody>
      </p:sp>
      <p:pic>
        <p:nvPicPr>
          <p:cNvPr id="59" name="Picture 58" descr="lock.png"/>
          <p:cNvPicPr>
            <a:picLocks noChangeAspect="1"/>
          </p:cNvPicPr>
          <p:nvPr/>
        </p:nvPicPr>
        <p:blipFill>
          <a:blip r:embed="rId10"/>
          <a:stretch>
            <a:fillRect/>
          </a:stretch>
        </p:blipFill>
        <p:spPr>
          <a:xfrm>
            <a:off x="472307" y="4387298"/>
            <a:ext cx="128699" cy="187198"/>
          </a:xfrm>
          <a:prstGeom prst="rect">
            <a:avLst/>
          </a:prstGeom>
        </p:spPr>
      </p:pic>
      <p:sp>
        <p:nvSpPr>
          <p:cNvPr id="60" name="TextBox 59"/>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1" name="TextBox 60"/>
          <p:cNvSpPr txBox="1"/>
          <p:nvPr/>
        </p:nvSpPr>
        <p:spPr>
          <a:xfrm>
            <a:off x="485775" y="4615009"/>
            <a:ext cx="2240458" cy="186689"/>
          </a:xfrm>
          <a:prstGeom prst="rect">
            <a:avLst/>
          </a:prstGeom>
          <a:noFill/>
        </p:spPr>
        <p:txBody>
          <a:bodyPr wrap="none" lIns="0" rIns="0" tIns="0" bIns="0">
            <a:spAutoFit/>
          </a:bodyPr>
          <a:lstStyle/>
          <a:p>
            <a:r>
              <a:rPr sz="1100" b="0">
                <a:solidFill>
                  <a:srgbClr val="2E2E2E"/>
                </a:solidFill>
                <a:latin typeface="Calibri"/>
              </a:rPr>
              <a:t>▪ 'Filled muffins' is the fastest-growing</a:t>
            </a:r>
          </a:p>
        </p:txBody>
      </p:sp>
      <p:sp>
        <p:nvSpPr>
          <p:cNvPr id="62" name="TextBox 61"/>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3" name="Picture 62" descr="lock.png"/>
          <p:cNvPicPr>
            <a:picLocks noChangeAspect="1"/>
          </p:cNvPicPr>
          <p:nvPr/>
        </p:nvPicPr>
        <p:blipFill>
          <a:blip r:embed="rId10"/>
          <a:stretch>
            <a:fillRect/>
          </a:stretch>
        </p:blipFill>
        <p:spPr>
          <a:xfrm>
            <a:off x="1391064" y="4772870"/>
            <a:ext cx="128699" cy="187198"/>
          </a:xfrm>
          <a:prstGeom prst="rect">
            <a:avLst/>
          </a:prstGeom>
        </p:spPr>
      </p:pic>
      <p:sp>
        <p:nvSpPr>
          <p:cNvPr id="64" name="TextBox 63"/>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6" name="Picture 65" descr="lock.png"/>
          <p:cNvPicPr>
            <a:picLocks noChangeAspect="1"/>
          </p:cNvPicPr>
          <p:nvPr/>
        </p:nvPicPr>
        <p:blipFill>
          <a:blip r:embed="rId10"/>
          <a:stretch>
            <a:fillRect/>
          </a:stretch>
        </p:blipFill>
        <p:spPr>
          <a:xfrm>
            <a:off x="2240451" y="4990801"/>
            <a:ext cx="128699" cy="187198"/>
          </a:xfrm>
          <a:prstGeom prst="rect">
            <a:avLst/>
          </a:prstGeom>
        </p:spPr>
      </p:pic>
      <p:sp>
        <p:nvSpPr>
          <p:cNvPr id="67" name="TextBox 66"/>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552799" y="4990801"/>
            <a:ext cx="128699" cy="187198"/>
          </a:xfrm>
          <a:prstGeom prst="rect">
            <a:avLst/>
          </a:prstGeom>
        </p:spPr>
      </p:pic>
      <p:sp>
        <p:nvSpPr>
          <p:cNvPr id="69" name="TextBox 68"/>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827089" cy="186689"/>
          </a:xfrm>
          <a:prstGeom prst="rect">
            <a:avLst/>
          </a:prstGeom>
          <a:noFill/>
        </p:spPr>
        <p:txBody>
          <a:bodyPr wrap="none" lIns="0" rIns="0" tIns="0" bIns="0">
            <a:spAutoFit/>
          </a:bodyPr>
          <a:lstStyle/>
          <a:p>
            <a:r>
              <a:rPr sz="1100" b="0">
                <a:solidFill>
                  <a:srgbClr val="2E2E2E"/>
                </a:solidFill>
                <a:latin typeface="Calibri"/>
              </a:rPr>
              <a:t>▪ 2 sub-segments make up the product structure</a:t>
            </a:r>
          </a:p>
        </p:txBody>
      </p:sp>
      <p:sp>
        <p:nvSpPr>
          <p:cNvPr id="72" name="TextBox 71"/>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3" name="TextBox 72"/>
          <p:cNvSpPr txBox="1"/>
          <p:nvPr/>
        </p:nvSpPr>
        <p:spPr>
          <a:xfrm>
            <a:off x="3838575" y="4229437"/>
            <a:ext cx="995164" cy="186689"/>
          </a:xfrm>
          <a:prstGeom prst="rect">
            <a:avLst/>
          </a:prstGeom>
          <a:noFill/>
        </p:spPr>
        <p:txBody>
          <a:bodyPr wrap="none" lIns="0" rIns="0" tIns="0" bIns="0">
            <a:spAutoFit/>
          </a:bodyPr>
          <a:lstStyle/>
          <a:p>
            <a:r>
              <a:rPr sz="1100" b="0">
                <a:solidFill>
                  <a:srgbClr val="2E2E2E"/>
                </a:solidFill>
                <a:latin typeface="Calibri"/>
              </a:rPr>
              <a:t>● Filled muffins:</a:t>
            </a:r>
          </a:p>
        </p:txBody>
      </p:sp>
      <p:pic>
        <p:nvPicPr>
          <p:cNvPr id="74" name="Picture 73" descr="lock.png"/>
          <p:cNvPicPr>
            <a:picLocks noChangeAspect="1"/>
          </p:cNvPicPr>
          <p:nvPr/>
        </p:nvPicPr>
        <p:blipFill>
          <a:blip r:embed="rId10"/>
          <a:stretch>
            <a:fillRect/>
          </a:stretch>
        </p:blipFill>
        <p:spPr>
          <a:xfrm>
            <a:off x="4781790" y="4219658"/>
            <a:ext cx="128699" cy="187198"/>
          </a:xfrm>
          <a:prstGeom prst="rect">
            <a:avLst/>
          </a:prstGeom>
        </p:spPr>
      </p:pic>
      <p:sp>
        <p:nvSpPr>
          <p:cNvPr id="75" name="TextBox 74"/>
          <p:cNvSpPr txBox="1"/>
          <p:nvPr/>
        </p:nvSpPr>
        <p:spPr>
          <a:xfrm>
            <a:off x="49492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808736" y="4219658"/>
            <a:ext cx="128699" cy="187198"/>
          </a:xfrm>
          <a:prstGeom prst="rect">
            <a:avLst/>
          </a:prstGeom>
        </p:spPr>
      </p:pic>
      <p:sp>
        <p:nvSpPr>
          <p:cNvPr id="77" name="TextBox 76"/>
          <p:cNvSpPr txBox="1"/>
          <p:nvPr/>
        </p:nvSpPr>
        <p:spPr>
          <a:xfrm>
            <a:off x="597623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1136774" cy="186689"/>
          </a:xfrm>
          <a:prstGeom prst="rect">
            <a:avLst/>
          </a:prstGeom>
          <a:noFill/>
        </p:spPr>
        <p:txBody>
          <a:bodyPr wrap="none" lIns="0" rIns="0" tIns="0" bIns="0">
            <a:spAutoFit/>
          </a:bodyPr>
          <a:lstStyle/>
          <a:p>
            <a:r>
              <a:rPr sz="1100" b="0">
                <a:solidFill>
                  <a:srgbClr val="2E2E2E"/>
                </a:solidFill>
                <a:latin typeface="Calibri"/>
              </a:rPr>
              <a:t>● Unfilled muffins:</a:t>
            </a:r>
          </a:p>
        </p:txBody>
      </p:sp>
      <p:pic>
        <p:nvPicPr>
          <p:cNvPr id="79" name="Picture 78" descr="lock.png"/>
          <p:cNvPicPr>
            <a:picLocks noChangeAspect="1"/>
          </p:cNvPicPr>
          <p:nvPr/>
        </p:nvPicPr>
        <p:blipFill>
          <a:blip r:embed="rId10"/>
          <a:stretch>
            <a:fillRect/>
          </a:stretch>
        </p:blipFill>
        <p:spPr>
          <a:xfrm>
            <a:off x="4923400" y="4437590"/>
            <a:ext cx="128699" cy="187198"/>
          </a:xfrm>
          <a:prstGeom prst="rect">
            <a:avLst/>
          </a:prstGeom>
        </p:spPr>
      </p:pic>
      <p:sp>
        <p:nvSpPr>
          <p:cNvPr id="80" name="TextBox 79"/>
          <p:cNvSpPr txBox="1"/>
          <p:nvPr/>
        </p:nvSpPr>
        <p:spPr>
          <a:xfrm>
            <a:off x="509089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950346" y="4437590"/>
            <a:ext cx="128699" cy="187198"/>
          </a:xfrm>
          <a:prstGeom prst="rect">
            <a:avLst/>
          </a:prstGeom>
        </p:spPr>
      </p:pic>
      <p:sp>
        <p:nvSpPr>
          <p:cNvPr id="82" name="TextBox 81"/>
          <p:cNvSpPr txBox="1"/>
          <p:nvPr/>
        </p:nvSpPr>
        <p:spPr>
          <a:xfrm>
            <a:off x="611784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Structure segment is projected to grow</a:t>
            </a:r>
          </a:p>
        </p:txBody>
      </p:sp>
      <p:sp>
        <p:nvSpPr>
          <p:cNvPr id="84" name="TextBox 83"/>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85" name="Picture 84" descr="lock.png"/>
          <p:cNvPicPr>
            <a:picLocks noChangeAspect="1"/>
          </p:cNvPicPr>
          <p:nvPr/>
        </p:nvPicPr>
        <p:blipFill>
          <a:blip r:embed="rId10"/>
          <a:stretch>
            <a:fillRect/>
          </a:stretch>
        </p:blipFill>
        <p:spPr>
          <a:xfrm>
            <a:off x="9310118" y="6007677"/>
            <a:ext cx="134549" cy="195707"/>
          </a:xfrm>
          <a:prstGeom prst="rect">
            <a:avLst/>
          </a:prstGeom>
        </p:spPr>
      </p:pic>
      <p:sp>
        <p:nvSpPr>
          <p:cNvPr id="86" name="TextBox 85"/>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Structure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Structure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Structure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4899942" cy="186689"/>
          </a:xfrm>
          <a:prstGeom prst="rect">
            <a:avLst/>
          </a:prstGeom>
          <a:noFill/>
        </p:spPr>
        <p:txBody>
          <a:bodyPr wrap="none" lIns="0" rIns="0" tIns="0" bIns="0">
            <a:spAutoFit/>
          </a:bodyPr>
          <a:lstStyle/>
          <a:p>
            <a:r>
              <a:rPr sz="1100" b="0">
                <a:solidFill>
                  <a:srgbClr val="2E2E2E"/>
                </a:solidFill>
                <a:latin typeface="Calibri"/>
              </a:rPr>
              <a:t>Between 2026 and 2036, 'Filled muffins' gains the most share in the Global market (+</a:t>
            </a:r>
          </a:p>
        </p:txBody>
      </p:sp>
      <p:pic>
        <p:nvPicPr>
          <p:cNvPr id="21" name="Picture 20" descr="lock.png"/>
          <p:cNvPicPr>
            <a:picLocks noChangeAspect="1"/>
          </p:cNvPicPr>
          <p:nvPr/>
        </p:nvPicPr>
        <p:blipFill>
          <a:blip r:embed="rId6"/>
          <a:stretch>
            <a:fillRect/>
          </a:stretch>
        </p:blipFill>
        <p:spPr>
          <a:xfrm>
            <a:off x="5105169" y="5851905"/>
            <a:ext cx="128699" cy="187198"/>
          </a:xfrm>
          <a:prstGeom prst="rect">
            <a:avLst/>
          </a:prstGeom>
        </p:spPr>
      </p:pic>
      <p:sp>
        <p:nvSpPr>
          <p:cNvPr id="22" name="TextBox 21"/>
          <p:cNvSpPr txBox="1"/>
          <p:nvPr/>
        </p:nvSpPr>
        <p:spPr>
          <a:xfrm>
            <a:off x="5272665" y="5861685"/>
            <a:ext cx="2028452" cy="186689"/>
          </a:xfrm>
          <a:prstGeom prst="rect">
            <a:avLst/>
          </a:prstGeom>
          <a:noFill/>
        </p:spPr>
        <p:txBody>
          <a:bodyPr wrap="none" lIns="0" rIns="0" tIns="0" bIns="0">
            <a:spAutoFit/>
          </a:bodyPr>
          <a:lstStyle/>
          <a:p>
            <a:r>
              <a:rPr sz="1100" b="0">
                <a:solidFill>
                  <a:srgbClr val="2E2E2E"/>
                </a:solidFill>
                <a:latin typeface="Calibri"/>
              </a:rPr>
              <a:t>BPS) while 'Unfilled muffins' cedes</a:t>
            </a:r>
          </a:p>
        </p:txBody>
      </p:sp>
      <p:pic>
        <p:nvPicPr>
          <p:cNvPr id="23" name="Picture 22" descr="lock.png"/>
          <p:cNvPicPr>
            <a:picLocks noChangeAspect="1"/>
          </p:cNvPicPr>
          <p:nvPr/>
        </p:nvPicPr>
        <p:blipFill>
          <a:blip r:embed="rId6"/>
          <a:stretch>
            <a:fillRect/>
          </a:stretch>
        </p:blipFill>
        <p:spPr>
          <a:xfrm>
            <a:off x="7249169" y="5851905"/>
            <a:ext cx="128699" cy="187198"/>
          </a:xfrm>
          <a:prstGeom prst="rect">
            <a:avLst/>
          </a:prstGeom>
        </p:spPr>
      </p:pic>
      <p:sp>
        <p:nvSpPr>
          <p:cNvPr id="24" name="TextBox 23"/>
          <p:cNvSpPr txBox="1"/>
          <p:nvPr/>
        </p:nvSpPr>
        <p:spPr>
          <a:xfrm>
            <a:off x="7416665"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Unfilled muffins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Filled muffins</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Product Structure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Product Structure (MT)</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088520"/>
                <a:gridCol w="645795"/>
                <a:gridCol w="645795"/>
                <a:gridCol w="645795"/>
                <a:gridCol w="645795"/>
                <a:gridCol w="645795"/>
                <a:gridCol w="645795"/>
                <a:gridCol w="645795"/>
                <a:gridCol w="645795"/>
                <a:gridCol w="645795"/>
                <a:gridCol w="645795"/>
                <a:gridCol w="645795"/>
                <a:gridCol w="645795"/>
                <a:gridCol w="645795"/>
                <a:gridCol w="645795"/>
                <a:gridCol w="645795"/>
                <a:gridCol w="645795"/>
                <a:gridCol w="465960"/>
              </a:tblGrid>
              <a:tr h="438912">
                <a:tc>
                  <a:txBody>
                    <a:bodyPr wrap="none"/>
                    <a:lstStyle/>
                    <a:p>
                      <a:pPr algn="l"/>
                      <a:r>
                        <a:rPr sz="1100" b="1">
                          <a:solidFill>
                            <a:srgbClr val="0B2E4A"/>
                          </a:solidFill>
                          <a:latin typeface="Calibri"/>
                        </a:rPr>
                        <a:t>Product</a:t>
                      </a:r>
                      <a:endParaRPr sz="1100"/>
                    </a:p>
                    <a:p>
                      <a:pPr algn="l"/>
                      <a:r>
                        <a:rPr sz="1100" b="1">
                          <a:solidFill>
                            <a:srgbClr val="0B2E4A"/>
                          </a:solidFill>
                          <a:latin typeface="Calibri"/>
                        </a:rPr>
                        <a:t>Structure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7396">
                <a:tc>
                  <a:txBody>
                    <a:bodyPr wrap="none"/>
                    <a:lstStyle/>
                    <a:p>
                      <a:pPr algn="l"/>
                      <a:r>
                        <a:rPr sz="1100" b="1">
                          <a:solidFill>
                            <a:srgbClr val="2E2E2E"/>
                          </a:solidFill>
                          <a:latin typeface="Calibri"/>
                        </a:rPr>
                        <a:t>Unfilled muffins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396">
                <a:tc>
                  <a:txBody>
                    <a:bodyPr wrap="none"/>
                    <a:lstStyle/>
                    <a:p>
                      <a:pPr algn="l"/>
                      <a:r>
                        <a:rPr sz="1100" b="1">
                          <a:solidFill>
                            <a:srgbClr val="2E2E2E"/>
                          </a:solidFill>
                          <a:latin typeface="Calibri"/>
                        </a:rPr>
                        <a:t>Filled muffins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Product Structure</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53569" y="1781556"/>
            <a:ext cx="366712" cy="533400"/>
          </a:xfrm>
          <a:prstGeom prst="rect">
            <a:avLst/>
          </a:prstGeom>
        </p:spPr>
      </p:pic>
      <p:sp>
        <p:nvSpPr>
          <p:cNvPr id="21" name="TextBox 20"/>
          <p:cNvSpPr txBox="1"/>
          <p:nvPr/>
        </p:nvSpPr>
        <p:spPr>
          <a:xfrm>
            <a:off x="276225" y="3181350"/>
            <a:ext cx="3049401" cy="194310"/>
          </a:xfrm>
          <a:prstGeom prst="rect">
            <a:avLst/>
          </a:prstGeom>
          <a:noFill/>
        </p:spPr>
        <p:txBody>
          <a:bodyPr wrap="none" lIns="0" rIns="0" tIns="0" bIns="0">
            <a:spAutoFit/>
          </a:bodyPr>
          <a:lstStyle/>
          <a:p>
            <a:r>
              <a:rPr sz="1150" b="0">
                <a:solidFill>
                  <a:srgbClr val="2E2E2E"/>
                </a:solidFill>
                <a:latin typeface="Calibri"/>
              </a:rPr>
              <a:t>▪ 'Filled muffins' is the largest product structure at</a:t>
            </a:r>
          </a:p>
        </p:txBody>
      </p:sp>
      <p:pic>
        <p:nvPicPr>
          <p:cNvPr id="22" name="Picture 21" descr="lock.png"/>
          <p:cNvPicPr>
            <a:picLocks noChangeAspect="1"/>
          </p:cNvPicPr>
          <p:nvPr/>
        </p:nvPicPr>
        <p:blipFill>
          <a:blip r:embed="rId4"/>
          <a:stretch>
            <a:fillRect/>
          </a:stretch>
        </p:blipFill>
        <p:spPr>
          <a:xfrm>
            <a:off x="3274780" y="3171126"/>
            <a:ext cx="134549" cy="195707"/>
          </a:xfrm>
          <a:prstGeom prst="rect">
            <a:avLst/>
          </a:prstGeom>
        </p:spPr>
      </p:pic>
      <p:sp>
        <p:nvSpPr>
          <p:cNvPr id="23" name="TextBox 22"/>
          <p:cNvSpPr txBox="1"/>
          <p:nvPr/>
        </p:nvSpPr>
        <p:spPr>
          <a:xfrm>
            <a:off x="3449889" y="31813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79622" y="3171126"/>
            <a:ext cx="134549" cy="195707"/>
          </a:xfrm>
          <a:prstGeom prst="rect">
            <a:avLst/>
          </a:prstGeom>
        </p:spPr>
      </p:pic>
      <p:sp>
        <p:nvSpPr>
          <p:cNvPr id="25" name="TextBox 24"/>
          <p:cNvSpPr txBox="1"/>
          <p:nvPr/>
        </p:nvSpPr>
        <p:spPr>
          <a:xfrm>
            <a:off x="4654731" y="31813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09187"/>
            <a:ext cx="1849623" cy="194310"/>
          </a:xfrm>
          <a:prstGeom prst="rect">
            <a:avLst/>
          </a:prstGeom>
          <a:noFill/>
        </p:spPr>
        <p:txBody>
          <a:bodyPr wrap="none" lIns="0" rIns="0" tIns="0" bIns="0">
            <a:spAutoFit/>
          </a:bodyPr>
          <a:lstStyle/>
          <a:p>
            <a:r>
              <a:rPr sz="1150" b="0">
                <a:solidFill>
                  <a:srgbClr val="2E2E2E"/>
                </a:solidFill>
                <a:latin typeface="Calibri"/>
              </a:rPr>
              <a:t>▪ 'Filled muffins' grows fastest</a:t>
            </a:r>
          </a:p>
        </p:txBody>
      </p:sp>
      <p:pic>
        <p:nvPicPr>
          <p:cNvPr id="27" name="Picture 26" descr="lock.png"/>
          <p:cNvPicPr>
            <a:picLocks noChangeAspect="1"/>
          </p:cNvPicPr>
          <p:nvPr/>
        </p:nvPicPr>
        <p:blipFill>
          <a:blip r:embed="rId4"/>
          <a:stretch>
            <a:fillRect/>
          </a:stretch>
        </p:blipFill>
        <p:spPr>
          <a:xfrm>
            <a:off x="2075002" y="3398964"/>
            <a:ext cx="134549" cy="195707"/>
          </a:xfrm>
          <a:prstGeom prst="rect">
            <a:avLst/>
          </a:prstGeom>
        </p:spPr>
      </p:pic>
      <p:sp>
        <p:nvSpPr>
          <p:cNvPr id="28" name="TextBox 27"/>
          <p:cNvSpPr txBox="1"/>
          <p:nvPr/>
        </p:nvSpPr>
        <p:spPr>
          <a:xfrm>
            <a:off x="2250111" y="34091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37025"/>
            <a:ext cx="2358801" cy="194310"/>
          </a:xfrm>
          <a:prstGeom prst="rect">
            <a:avLst/>
          </a:prstGeom>
          <a:noFill/>
        </p:spPr>
        <p:txBody>
          <a:bodyPr wrap="none" lIns="0" rIns="0" tIns="0" bIns="0">
            <a:spAutoFit/>
          </a:bodyPr>
          <a:lstStyle/>
          <a:p>
            <a:r>
              <a:rPr sz="1150" b="0">
                <a:solidFill>
                  <a:srgbClr val="2E2E2E"/>
                </a:solidFill>
                <a:latin typeface="Calibri"/>
              </a:rPr>
              <a:t>▪ Share shifts toward 'Filled muffins' (+</a:t>
            </a:r>
          </a:p>
        </p:txBody>
      </p:sp>
      <p:pic>
        <p:nvPicPr>
          <p:cNvPr id="30" name="Picture 29" descr="lock.png"/>
          <p:cNvPicPr>
            <a:picLocks noChangeAspect="1"/>
          </p:cNvPicPr>
          <p:nvPr/>
        </p:nvPicPr>
        <p:blipFill>
          <a:blip r:embed="rId4"/>
          <a:stretch>
            <a:fillRect/>
          </a:stretch>
        </p:blipFill>
        <p:spPr>
          <a:xfrm>
            <a:off x="2584180" y="3626802"/>
            <a:ext cx="134549" cy="195707"/>
          </a:xfrm>
          <a:prstGeom prst="rect">
            <a:avLst/>
          </a:prstGeom>
        </p:spPr>
      </p:pic>
      <p:sp>
        <p:nvSpPr>
          <p:cNvPr id="31" name="TextBox 30"/>
          <p:cNvSpPr txBox="1"/>
          <p:nvPr/>
        </p:nvSpPr>
        <p:spPr>
          <a:xfrm>
            <a:off x="2759289" y="3637025"/>
            <a:ext cx="2432967" cy="194310"/>
          </a:xfrm>
          <a:prstGeom prst="rect">
            <a:avLst/>
          </a:prstGeom>
          <a:noFill/>
        </p:spPr>
        <p:txBody>
          <a:bodyPr wrap="none" lIns="0" rIns="0" tIns="0" bIns="0">
            <a:spAutoFit/>
          </a:bodyPr>
          <a:lstStyle/>
          <a:p>
            <a:r>
              <a:rPr sz="1150" b="0">
                <a:solidFill>
                  <a:srgbClr val="2E2E2E"/>
                </a:solidFill>
                <a:latin typeface="Calibri"/>
              </a:rPr>
              <a:t>BPS) and away from 'Unfilled muffins' (-</a:t>
            </a:r>
          </a:p>
        </p:txBody>
      </p:sp>
      <p:pic>
        <p:nvPicPr>
          <p:cNvPr id="32" name="Picture 31" descr="lock.png"/>
          <p:cNvPicPr>
            <a:picLocks noChangeAspect="1"/>
          </p:cNvPicPr>
          <p:nvPr/>
        </p:nvPicPr>
        <p:blipFill>
          <a:blip r:embed="rId4"/>
          <a:stretch>
            <a:fillRect/>
          </a:stretch>
        </p:blipFill>
        <p:spPr>
          <a:xfrm>
            <a:off x="5141411" y="3626802"/>
            <a:ext cx="134549" cy="195707"/>
          </a:xfrm>
          <a:prstGeom prst="rect">
            <a:avLst/>
          </a:prstGeom>
        </p:spPr>
      </p:pic>
      <p:sp>
        <p:nvSpPr>
          <p:cNvPr id="33" name="TextBox 32"/>
          <p:cNvSpPr txBox="1"/>
          <p:nvPr/>
        </p:nvSpPr>
        <p:spPr>
          <a:xfrm>
            <a:off x="5316520" y="36370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8648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854640"/>
            <a:ext cx="134549" cy="195707"/>
          </a:xfrm>
          <a:prstGeom prst="rect">
            <a:avLst/>
          </a:prstGeom>
        </p:spPr>
      </p:pic>
      <p:sp>
        <p:nvSpPr>
          <p:cNvPr id="36" name="TextBox 35"/>
          <p:cNvSpPr txBox="1"/>
          <p:nvPr/>
        </p:nvSpPr>
        <p:spPr>
          <a:xfrm>
            <a:off x="1965143" y="38648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854640"/>
            <a:ext cx="134549" cy="195707"/>
          </a:xfrm>
          <a:prstGeom prst="rect">
            <a:avLst/>
          </a:prstGeom>
        </p:spPr>
      </p:pic>
      <p:sp>
        <p:nvSpPr>
          <p:cNvPr id="38" name="TextBox 37"/>
          <p:cNvSpPr txBox="1"/>
          <p:nvPr/>
        </p:nvSpPr>
        <p:spPr>
          <a:xfrm>
            <a:off x="2291688" y="38648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Structure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Structure (US$ Mn)</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1316147"/>
                <a:gridCol w="621827"/>
                <a:gridCol w="621827"/>
                <a:gridCol w="621827"/>
                <a:gridCol w="621827"/>
                <a:gridCol w="621827"/>
                <a:gridCol w="621827"/>
                <a:gridCol w="621827"/>
                <a:gridCol w="621827"/>
                <a:gridCol w="621827"/>
                <a:gridCol w="621827"/>
                <a:gridCol w="621827"/>
                <a:gridCol w="621827"/>
                <a:gridCol w="621827"/>
                <a:gridCol w="621827"/>
                <a:gridCol w="621827"/>
                <a:gridCol w="621827"/>
                <a:gridCol w="621827"/>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Structure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67386" y="1589913"/>
            <a:ext cx="366712" cy="533400"/>
          </a:xfrm>
          <a:prstGeom prst="rect">
            <a:avLst/>
          </a:prstGeom>
        </p:spPr>
      </p:pic>
      <p:sp>
        <p:nvSpPr>
          <p:cNvPr id="21" name="TextBox 20"/>
          <p:cNvSpPr txBox="1"/>
          <p:nvPr/>
        </p:nvSpPr>
        <p:spPr>
          <a:xfrm>
            <a:off x="276225" y="2990850"/>
            <a:ext cx="3049401" cy="194310"/>
          </a:xfrm>
          <a:prstGeom prst="rect">
            <a:avLst/>
          </a:prstGeom>
          <a:noFill/>
        </p:spPr>
        <p:txBody>
          <a:bodyPr wrap="none" lIns="0" rIns="0" tIns="0" bIns="0">
            <a:spAutoFit/>
          </a:bodyPr>
          <a:lstStyle/>
          <a:p>
            <a:r>
              <a:rPr sz="1150" b="0">
                <a:solidFill>
                  <a:srgbClr val="2E2E2E"/>
                </a:solidFill>
                <a:latin typeface="Calibri"/>
              </a:rPr>
              <a:t>▪ 'Filled muffins' is the largest product structure at</a:t>
            </a:r>
          </a:p>
        </p:txBody>
      </p:sp>
      <p:pic>
        <p:nvPicPr>
          <p:cNvPr id="22" name="Picture 21" descr="lock.png"/>
          <p:cNvPicPr>
            <a:picLocks noChangeAspect="1"/>
          </p:cNvPicPr>
          <p:nvPr/>
        </p:nvPicPr>
        <p:blipFill>
          <a:blip r:embed="rId4"/>
          <a:stretch>
            <a:fillRect/>
          </a:stretch>
        </p:blipFill>
        <p:spPr>
          <a:xfrm>
            <a:off x="3274780" y="2980626"/>
            <a:ext cx="134549" cy="195707"/>
          </a:xfrm>
          <a:prstGeom prst="rect">
            <a:avLst/>
          </a:prstGeom>
        </p:spPr>
      </p:pic>
      <p:sp>
        <p:nvSpPr>
          <p:cNvPr id="23" name="TextBox 22"/>
          <p:cNvSpPr txBox="1"/>
          <p:nvPr/>
        </p:nvSpPr>
        <p:spPr>
          <a:xfrm>
            <a:off x="3449889"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55822" y="2980626"/>
            <a:ext cx="134549" cy="195707"/>
          </a:xfrm>
          <a:prstGeom prst="rect">
            <a:avLst/>
          </a:prstGeom>
        </p:spPr>
      </p:pic>
      <p:sp>
        <p:nvSpPr>
          <p:cNvPr id="25" name="TextBox 24"/>
          <p:cNvSpPr txBox="1"/>
          <p:nvPr/>
        </p:nvSpPr>
        <p:spPr>
          <a:xfrm>
            <a:off x="4530931"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849623" cy="194310"/>
          </a:xfrm>
          <a:prstGeom prst="rect">
            <a:avLst/>
          </a:prstGeom>
          <a:noFill/>
        </p:spPr>
        <p:txBody>
          <a:bodyPr wrap="none" lIns="0" rIns="0" tIns="0" bIns="0">
            <a:spAutoFit/>
          </a:bodyPr>
          <a:lstStyle/>
          <a:p>
            <a:r>
              <a:rPr sz="1150" b="0">
                <a:solidFill>
                  <a:srgbClr val="2E2E2E"/>
                </a:solidFill>
                <a:latin typeface="Calibri"/>
              </a:rPr>
              <a:t>▪ 'Filled muffins' grows fastest</a:t>
            </a:r>
          </a:p>
        </p:txBody>
      </p:sp>
      <p:pic>
        <p:nvPicPr>
          <p:cNvPr id="27" name="Picture 26" descr="lock.png"/>
          <p:cNvPicPr>
            <a:picLocks noChangeAspect="1"/>
          </p:cNvPicPr>
          <p:nvPr/>
        </p:nvPicPr>
        <p:blipFill>
          <a:blip r:embed="rId4"/>
          <a:stretch>
            <a:fillRect/>
          </a:stretch>
        </p:blipFill>
        <p:spPr>
          <a:xfrm>
            <a:off x="2075002" y="3208464"/>
            <a:ext cx="134549" cy="195707"/>
          </a:xfrm>
          <a:prstGeom prst="rect">
            <a:avLst/>
          </a:prstGeom>
        </p:spPr>
      </p:pic>
      <p:sp>
        <p:nvSpPr>
          <p:cNvPr id="28" name="TextBox 27"/>
          <p:cNvSpPr txBox="1"/>
          <p:nvPr/>
        </p:nvSpPr>
        <p:spPr>
          <a:xfrm>
            <a:off x="225011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358801" cy="194310"/>
          </a:xfrm>
          <a:prstGeom prst="rect">
            <a:avLst/>
          </a:prstGeom>
          <a:noFill/>
        </p:spPr>
        <p:txBody>
          <a:bodyPr wrap="none" lIns="0" rIns="0" tIns="0" bIns="0">
            <a:spAutoFit/>
          </a:bodyPr>
          <a:lstStyle/>
          <a:p>
            <a:r>
              <a:rPr sz="1150" b="0">
                <a:solidFill>
                  <a:srgbClr val="2E2E2E"/>
                </a:solidFill>
                <a:latin typeface="Calibri"/>
              </a:rPr>
              <a:t>▪ Share shifts toward 'Filled muffins' (+</a:t>
            </a:r>
          </a:p>
        </p:txBody>
      </p:sp>
      <p:pic>
        <p:nvPicPr>
          <p:cNvPr id="30" name="Picture 29" descr="lock.png"/>
          <p:cNvPicPr>
            <a:picLocks noChangeAspect="1"/>
          </p:cNvPicPr>
          <p:nvPr/>
        </p:nvPicPr>
        <p:blipFill>
          <a:blip r:embed="rId4"/>
          <a:stretch>
            <a:fillRect/>
          </a:stretch>
        </p:blipFill>
        <p:spPr>
          <a:xfrm>
            <a:off x="2584180" y="3436302"/>
            <a:ext cx="134549" cy="195707"/>
          </a:xfrm>
          <a:prstGeom prst="rect">
            <a:avLst/>
          </a:prstGeom>
        </p:spPr>
      </p:pic>
      <p:sp>
        <p:nvSpPr>
          <p:cNvPr id="31" name="TextBox 30"/>
          <p:cNvSpPr txBox="1"/>
          <p:nvPr/>
        </p:nvSpPr>
        <p:spPr>
          <a:xfrm>
            <a:off x="2759289" y="3446525"/>
            <a:ext cx="2432967" cy="194310"/>
          </a:xfrm>
          <a:prstGeom prst="rect">
            <a:avLst/>
          </a:prstGeom>
          <a:noFill/>
        </p:spPr>
        <p:txBody>
          <a:bodyPr wrap="none" lIns="0" rIns="0" tIns="0" bIns="0">
            <a:spAutoFit/>
          </a:bodyPr>
          <a:lstStyle/>
          <a:p>
            <a:r>
              <a:rPr sz="1150" b="0">
                <a:solidFill>
                  <a:srgbClr val="2E2E2E"/>
                </a:solidFill>
                <a:latin typeface="Calibri"/>
              </a:rPr>
              <a:t>BPS) and away from 'Unfilled muffins' (-</a:t>
            </a:r>
          </a:p>
        </p:txBody>
      </p:sp>
      <p:pic>
        <p:nvPicPr>
          <p:cNvPr id="32" name="Picture 31" descr="lock.png"/>
          <p:cNvPicPr>
            <a:picLocks noChangeAspect="1"/>
          </p:cNvPicPr>
          <p:nvPr/>
        </p:nvPicPr>
        <p:blipFill>
          <a:blip r:embed="rId4"/>
          <a:stretch>
            <a:fillRect/>
          </a:stretch>
        </p:blipFill>
        <p:spPr>
          <a:xfrm>
            <a:off x="5141411" y="3436302"/>
            <a:ext cx="134549" cy="195707"/>
          </a:xfrm>
          <a:prstGeom prst="rect">
            <a:avLst/>
          </a:prstGeom>
        </p:spPr>
      </p:pic>
      <p:sp>
        <p:nvSpPr>
          <p:cNvPr id="33" name="TextBox 32"/>
          <p:cNvSpPr txBox="1"/>
          <p:nvPr/>
        </p:nvSpPr>
        <p:spPr>
          <a:xfrm>
            <a:off x="5316520"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5102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5055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4293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Unfilled muffins</a:t>
            </a:r>
          </a:p>
        </p:txBody>
      </p:sp>
      <p:sp>
        <p:nvSpPr>
          <p:cNvPr id="19" name="BPS Value 1"/>
          <p:cNvSpPr txBox="1"/>
          <p:nvPr/>
        </p:nvSpPr>
        <p:spPr>
          <a:xfrm>
            <a:off x="6896100" y="24912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7964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7917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7155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Filled muffins</a:t>
            </a:r>
          </a:p>
        </p:txBody>
      </p:sp>
      <p:sp>
        <p:nvSpPr>
          <p:cNvPr id="23" name="BPS Value 2"/>
          <p:cNvSpPr txBox="1"/>
          <p:nvPr/>
        </p:nvSpPr>
        <p:spPr>
          <a:xfrm>
            <a:off x="6896100" y="47774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Structure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2395884" cy="194310"/>
          </a:xfrm>
          <a:prstGeom prst="rect">
            <a:avLst/>
          </a:prstGeom>
          <a:noFill/>
        </p:spPr>
        <p:txBody>
          <a:bodyPr wrap="none" lIns="0" rIns="0" tIns="0" bIns="0">
            <a:spAutoFit/>
          </a:bodyPr>
          <a:lstStyle/>
          <a:p>
            <a:r>
              <a:rPr sz="1150" b="0">
                <a:solidFill>
                  <a:srgbClr val="2E2E2E"/>
                </a:solidFill>
                <a:latin typeface="Calibri"/>
              </a:rPr>
              <a:t>▪ 'Filled muffins' gains the most share +</a:t>
            </a:r>
          </a:p>
        </p:txBody>
      </p:sp>
      <p:pic>
        <p:nvPicPr>
          <p:cNvPr id="31" name="Picture 30" descr="lock.png"/>
          <p:cNvPicPr>
            <a:picLocks noChangeAspect="1"/>
          </p:cNvPicPr>
          <p:nvPr/>
        </p:nvPicPr>
        <p:blipFill>
          <a:blip r:embed="rId5"/>
          <a:stretch>
            <a:fillRect/>
          </a:stretch>
        </p:blipFill>
        <p:spPr>
          <a:xfrm>
            <a:off x="10174588" y="1389951"/>
            <a:ext cx="134549" cy="195707"/>
          </a:xfrm>
          <a:prstGeom prst="rect">
            <a:avLst/>
          </a:prstGeom>
        </p:spPr>
      </p:pic>
      <p:sp>
        <p:nvSpPr>
          <p:cNvPr id="32" name="TextBox 31"/>
          <p:cNvSpPr txBox="1"/>
          <p:nvPr/>
        </p:nvSpPr>
        <p:spPr>
          <a:xfrm>
            <a:off x="10349697"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3" name="TextBox 32"/>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190501" cy="194310"/>
          </a:xfrm>
          <a:prstGeom prst="rect">
            <a:avLst/>
          </a:prstGeom>
          <a:noFill/>
        </p:spPr>
        <p:txBody>
          <a:bodyPr wrap="none" lIns="0" rIns="0" tIns="0" bIns="0">
            <a:spAutoFit/>
          </a:bodyPr>
          <a:lstStyle/>
          <a:p>
            <a:r>
              <a:rPr sz="1150" b="0">
                <a:solidFill>
                  <a:srgbClr val="2E2E2E"/>
                </a:solidFill>
                <a:latin typeface="Calibri"/>
              </a:rPr>
              <a:t>▪ 'Unfilled muffins' cedes the most -</a:t>
            </a:r>
          </a:p>
        </p:txBody>
      </p:sp>
      <p:pic>
        <p:nvPicPr>
          <p:cNvPr id="35" name="Picture 34" descr="lock.png"/>
          <p:cNvPicPr>
            <a:picLocks noChangeAspect="1"/>
          </p:cNvPicPr>
          <p:nvPr/>
        </p:nvPicPr>
        <p:blipFill>
          <a:blip r:embed="rId5"/>
          <a:stretch>
            <a:fillRect/>
          </a:stretch>
        </p:blipFill>
        <p:spPr>
          <a:xfrm>
            <a:off x="9969205" y="1793049"/>
            <a:ext cx="134549" cy="195707"/>
          </a:xfrm>
          <a:prstGeom prst="rect">
            <a:avLst/>
          </a:prstGeom>
        </p:spPr>
      </p:pic>
      <p:sp>
        <p:nvSpPr>
          <p:cNvPr id="36" name="TextBox 35"/>
          <p:cNvSpPr txBox="1"/>
          <p:nvPr/>
        </p:nvSpPr>
        <p:spPr>
          <a:xfrm>
            <a:off x="10144315"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37" name="TextBox 36"/>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571701" cy="194310"/>
          </a:xfrm>
          <a:prstGeom prst="rect">
            <a:avLst/>
          </a:prstGeom>
          <a:noFill/>
        </p:spPr>
        <p:txBody>
          <a:bodyPr wrap="none" lIns="0" rIns="0" tIns="0" bIns="0">
            <a:spAutoFit/>
          </a:bodyPr>
          <a:lstStyle/>
          <a:p>
            <a:r>
              <a:rPr sz="1150" b="0">
                <a:solidFill>
                  <a:srgbClr val="2E2E2E"/>
                </a:solidFill>
                <a:latin typeface="Calibri"/>
              </a:rPr>
              <a:t>▪ 'Filled muffins' is the fastest-growing product structure at</a:t>
            </a:r>
          </a:p>
        </p:txBody>
      </p:sp>
      <p:pic>
        <p:nvPicPr>
          <p:cNvPr id="39" name="Picture 38" descr="lock.png"/>
          <p:cNvPicPr>
            <a:picLocks noChangeAspect="1"/>
          </p:cNvPicPr>
          <p:nvPr/>
        </p:nvPicPr>
        <p:blipFill>
          <a:blip r:embed="rId5"/>
          <a:stretch>
            <a:fillRect/>
          </a:stretch>
        </p:blipFill>
        <p:spPr>
          <a:xfrm>
            <a:off x="11350405" y="2196147"/>
            <a:ext cx="134549" cy="195707"/>
          </a:xfrm>
          <a:prstGeom prst="rect">
            <a:avLst/>
          </a:prstGeom>
        </p:spPr>
      </p:pic>
      <p:sp>
        <p:nvSpPr>
          <p:cNvPr id="40" name="TextBox 39"/>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Product Structure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Product Structure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Unfilled muffins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Filled muffins</a:t>
            </a:r>
          </a:p>
        </p:txBody>
      </p:sp>
      <p:sp>
        <p:nvSpPr>
          <p:cNvPr id="49" name="Rectangle 48"/>
          <p:cNvSpPr/>
          <p:nvPr/>
        </p:nvSpPr>
        <p:spPr>
          <a:xfrm>
            <a:off x="1857375" y="4662488"/>
            <a:ext cx="643890" cy="190976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49641" y="1482090"/>
            <a:ext cx="330041" cy="480060"/>
          </a:xfrm>
          <a:prstGeom prst="rect">
            <a:avLst/>
          </a:prstGeom>
        </p:spPr>
      </p:pic>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Structure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Structure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Unfilled muffins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Filled muffins</a:t>
            </a:r>
          </a:p>
        </p:txBody>
      </p:sp>
      <p:sp>
        <p:nvSpPr>
          <p:cNvPr id="49" name="Rectangle 48"/>
          <p:cNvSpPr/>
          <p:nvPr/>
        </p:nvSpPr>
        <p:spPr>
          <a:xfrm>
            <a:off x="1857375" y="4662488"/>
            <a:ext cx="643890" cy="190976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49641" y="1482090"/>
            <a:ext cx="330041" cy="480060"/>
          </a:xfrm>
          <a:prstGeom prst="rect">
            <a:avLst/>
          </a:prstGeom>
        </p:spPr>
      </p:pic>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Surface 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Surface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Surface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Surface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Surface Finish segment categorizes the market by surface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Nut and seed-topped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Glazed / drizzled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Sugar-topped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Untopped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toppings</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Crumb / streusel-topped</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Surface Finish split shows how demand is distributed across surface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3_728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6_855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6_3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3_224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5_347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2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1_198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1_526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2_4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1_026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1_249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2_0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1_022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1_886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6_3__605E5C.png"/>
          <p:cNvPicPr>
            <a:picLocks noChangeAspect="1"/>
          </p:cNvPicPr>
          <p:nvPr/>
        </p:nvPicPr>
        <p:blipFill>
          <a:blip r:embed="rId6"/>
          <a:stretch>
            <a:fillRect/>
          </a:stretch>
        </p:blipFill>
        <p:spPr>
          <a:xfrm>
            <a:off x="8905194" y="3272281"/>
            <a:ext cx="982436" cy="361950"/>
          </a:xfrm>
          <a:prstGeom prst="rect">
            <a:avLst/>
          </a:prstGeom>
        </p:spPr>
      </p:pic>
      <p:pic>
        <p:nvPicPr>
          <p:cNvPr id="93" name="Picture 92" descr="702_8_605E5C.png"/>
          <p:cNvPicPr>
            <a:picLocks noChangeAspect="1"/>
          </p:cNvPicPr>
          <p:nvPr/>
        </p:nvPicPr>
        <p:blipFill>
          <a:blip r:embed="rId18"/>
          <a:stretch>
            <a:fillRect/>
          </a:stretch>
        </p:blipFill>
        <p:spPr>
          <a:xfrm>
            <a:off x="10484473" y="2286582"/>
            <a:ext cx="1195728" cy="361950"/>
          </a:xfrm>
          <a:prstGeom prst="rect">
            <a:avLst/>
          </a:prstGeom>
        </p:spPr>
      </p:pic>
      <p:pic>
        <p:nvPicPr>
          <p:cNvPr id="94" name="Picture 93" descr="882_6_605E5C.png"/>
          <p:cNvPicPr>
            <a:picLocks noChangeAspect="1"/>
          </p:cNvPicPr>
          <p:nvPr/>
        </p:nvPicPr>
        <p:blipFill>
          <a:blip r:embed="rId19"/>
          <a:stretch>
            <a:fillRect/>
          </a:stretch>
        </p:blipFill>
        <p:spPr>
          <a:xfrm>
            <a:off x="10484473" y="2779432"/>
            <a:ext cx="1195728" cy="361950"/>
          </a:xfrm>
          <a:prstGeom prst="rect">
            <a:avLst/>
          </a:prstGeom>
        </p:spPr>
      </p:pic>
      <p:pic>
        <p:nvPicPr>
          <p:cNvPr id="95" name="Picture 94" descr="2_3__605E5C.png"/>
          <p:cNvPicPr>
            <a:picLocks noChangeAspect="1"/>
          </p:cNvPicPr>
          <p:nvPr/>
        </p:nvPicPr>
        <p:blipFill>
          <a:blip r:embed="rId20"/>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1"/>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1"/>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1"/>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1"/>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1"/>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1"/>
          <a:stretch>
            <a:fillRect/>
          </a:stretch>
        </p:blipFill>
        <p:spPr>
          <a:xfrm>
            <a:off x="10988992" y="2827057"/>
            <a:ext cx="183356" cy="266700"/>
          </a:xfrm>
          <a:prstGeom prst="rect">
            <a:avLst/>
          </a:prstGeom>
        </p:spPr>
      </p:pic>
      <p:sp>
        <p:nvSpPr>
          <p:cNvPr id="102" name="TextBox 101"/>
          <p:cNvSpPr txBox="1"/>
          <p:nvPr/>
        </p:nvSpPr>
        <p:spPr>
          <a:xfrm>
            <a:off x="485775" y="4229437"/>
            <a:ext cx="2885752" cy="186689"/>
          </a:xfrm>
          <a:prstGeom prst="rect">
            <a:avLst/>
          </a:prstGeom>
          <a:noFill/>
        </p:spPr>
        <p:txBody>
          <a:bodyPr wrap="none" lIns="0" rIns="0" tIns="0" bIns="0">
            <a:spAutoFit/>
          </a:bodyPr>
          <a:lstStyle/>
          <a:p>
            <a:r>
              <a:rPr sz="1100" b="0">
                <a:solidFill>
                  <a:srgbClr val="2E2E2E"/>
                </a:solidFill>
                <a:latin typeface="Calibri"/>
              </a:rPr>
              <a:t>▪ 'Nut and seed-topped' holds the largest share in</a:t>
            </a:r>
          </a:p>
        </p:txBody>
      </p:sp>
      <p:sp>
        <p:nvSpPr>
          <p:cNvPr id="103" name="TextBox 102"/>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104" name="Picture 103" descr="lock.png"/>
          <p:cNvPicPr>
            <a:picLocks noChangeAspect="1"/>
          </p:cNvPicPr>
          <p:nvPr/>
        </p:nvPicPr>
        <p:blipFill>
          <a:blip r:embed="rId21"/>
          <a:stretch>
            <a:fillRect/>
          </a:stretch>
        </p:blipFill>
        <p:spPr>
          <a:xfrm>
            <a:off x="793792" y="4387298"/>
            <a:ext cx="128699" cy="187198"/>
          </a:xfrm>
          <a:prstGeom prst="rect">
            <a:avLst/>
          </a:prstGeom>
        </p:spPr>
      </p:pic>
      <p:sp>
        <p:nvSpPr>
          <p:cNvPr id="105" name="TextBox 104"/>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106" name="TextBox 105"/>
          <p:cNvSpPr txBox="1"/>
          <p:nvPr/>
        </p:nvSpPr>
        <p:spPr>
          <a:xfrm>
            <a:off x="485775" y="4615009"/>
            <a:ext cx="2331045" cy="186689"/>
          </a:xfrm>
          <a:prstGeom prst="rect">
            <a:avLst/>
          </a:prstGeom>
          <a:noFill/>
        </p:spPr>
        <p:txBody>
          <a:bodyPr wrap="none" lIns="0" rIns="0" tIns="0" bIns="0">
            <a:spAutoFit/>
          </a:bodyPr>
          <a:lstStyle/>
          <a:p>
            <a:r>
              <a:rPr sz="1100" b="0">
                <a:solidFill>
                  <a:srgbClr val="2E2E2E"/>
                </a:solidFill>
                <a:latin typeface="Calibri"/>
              </a:rPr>
              <a:t>▪ 'Other toppings' is the fastest-growing</a:t>
            </a:r>
          </a:p>
        </p:txBody>
      </p:sp>
      <p:sp>
        <p:nvSpPr>
          <p:cNvPr id="107" name="TextBox 106"/>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108" name="Picture 107" descr="lock.png"/>
          <p:cNvPicPr>
            <a:picLocks noChangeAspect="1"/>
          </p:cNvPicPr>
          <p:nvPr/>
        </p:nvPicPr>
        <p:blipFill>
          <a:blip r:embed="rId21"/>
          <a:stretch>
            <a:fillRect/>
          </a:stretch>
        </p:blipFill>
        <p:spPr>
          <a:xfrm>
            <a:off x="1391064" y="4772870"/>
            <a:ext cx="128699" cy="187198"/>
          </a:xfrm>
          <a:prstGeom prst="rect">
            <a:avLst/>
          </a:prstGeom>
        </p:spPr>
      </p:pic>
      <p:sp>
        <p:nvSpPr>
          <p:cNvPr id="109" name="TextBox 108"/>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110" name="TextBox 109"/>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111" name="Picture 110" descr="lock.png"/>
          <p:cNvPicPr>
            <a:picLocks noChangeAspect="1"/>
          </p:cNvPicPr>
          <p:nvPr/>
        </p:nvPicPr>
        <p:blipFill>
          <a:blip r:embed="rId21"/>
          <a:stretch>
            <a:fillRect/>
          </a:stretch>
        </p:blipFill>
        <p:spPr>
          <a:xfrm>
            <a:off x="2240451" y="4990801"/>
            <a:ext cx="128699" cy="187198"/>
          </a:xfrm>
          <a:prstGeom prst="rect">
            <a:avLst/>
          </a:prstGeom>
        </p:spPr>
      </p:pic>
      <p:sp>
        <p:nvSpPr>
          <p:cNvPr id="112" name="TextBox 111"/>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113" name="Picture 112" descr="lock.png"/>
          <p:cNvPicPr>
            <a:picLocks noChangeAspect="1"/>
          </p:cNvPicPr>
          <p:nvPr/>
        </p:nvPicPr>
        <p:blipFill>
          <a:blip r:embed="rId21"/>
          <a:stretch>
            <a:fillRect/>
          </a:stretch>
        </p:blipFill>
        <p:spPr>
          <a:xfrm>
            <a:off x="2552799" y="4990801"/>
            <a:ext cx="128699" cy="187198"/>
          </a:xfrm>
          <a:prstGeom prst="rect">
            <a:avLst/>
          </a:prstGeom>
        </p:spPr>
      </p:pic>
      <p:sp>
        <p:nvSpPr>
          <p:cNvPr id="114" name="TextBox 113"/>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5" name="TextBox 114"/>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116" name="TextBox 115"/>
          <p:cNvSpPr txBox="1"/>
          <p:nvPr/>
        </p:nvSpPr>
        <p:spPr>
          <a:xfrm>
            <a:off x="485775" y="5386153"/>
            <a:ext cx="2579885" cy="186689"/>
          </a:xfrm>
          <a:prstGeom prst="rect">
            <a:avLst/>
          </a:prstGeom>
          <a:noFill/>
        </p:spPr>
        <p:txBody>
          <a:bodyPr wrap="none" lIns="0" rIns="0" tIns="0" bIns="0">
            <a:spAutoFit/>
          </a:bodyPr>
          <a:lstStyle/>
          <a:p>
            <a:r>
              <a:rPr sz="1100" b="0">
                <a:solidFill>
                  <a:srgbClr val="2E2E2E"/>
                </a:solidFill>
                <a:latin typeface="Calibri"/>
              </a:rPr>
              <a:t>▪ 6 sub-segments make up the surface finish</a:t>
            </a:r>
          </a:p>
        </p:txBody>
      </p:sp>
      <p:sp>
        <p:nvSpPr>
          <p:cNvPr id="117" name="TextBox 116"/>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118" name="TextBox 117"/>
          <p:cNvSpPr txBox="1"/>
          <p:nvPr/>
        </p:nvSpPr>
        <p:spPr>
          <a:xfrm>
            <a:off x="3838575" y="4229437"/>
            <a:ext cx="1437456" cy="186689"/>
          </a:xfrm>
          <a:prstGeom prst="rect">
            <a:avLst/>
          </a:prstGeom>
          <a:noFill/>
        </p:spPr>
        <p:txBody>
          <a:bodyPr wrap="none" lIns="0" rIns="0" tIns="0" bIns="0">
            <a:spAutoFit/>
          </a:bodyPr>
          <a:lstStyle/>
          <a:p>
            <a:r>
              <a:rPr sz="1100" b="0">
                <a:solidFill>
                  <a:srgbClr val="2E2E2E"/>
                </a:solidFill>
                <a:latin typeface="Calibri"/>
              </a:rPr>
              <a:t>● Nut and seed-topped:</a:t>
            </a:r>
          </a:p>
        </p:txBody>
      </p:sp>
      <p:pic>
        <p:nvPicPr>
          <p:cNvPr id="119" name="Picture 118" descr="lock.png"/>
          <p:cNvPicPr>
            <a:picLocks noChangeAspect="1"/>
          </p:cNvPicPr>
          <p:nvPr/>
        </p:nvPicPr>
        <p:blipFill>
          <a:blip r:embed="rId21"/>
          <a:stretch>
            <a:fillRect/>
          </a:stretch>
        </p:blipFill>
        <p:spPr>
          <a:xfrm>
            <a:off x="5224083" y="4219658"/>
            <a:ext cx="128699" cy="187198"/>
          </a:xfrm>
          <a:prstGeom prst="rect">
            <a:avLst/>
          </a:prstGeom>
        </p:spPr>
      </p:pic>
      <p:sp>
        <p:nvSpPr>
          <p:cNvPr id="120" name="TextBox 119"/>
          <p:cNvSpPr txBox="1"/>
          <p:nvPr/>
        </p:nvSpPr>
        <p:spPr>
          <a:xfrm>
            <a:off x="539157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1" name="Picture 120" descr="lock.png"/>
          <p:cNvPicPr>
            <a:picLocks noChangeAspect="1"/>
          </p:cNvPicPr>
          <p:nvPr/>
        </p:nvPicPr>
        <p:blipFill>
          <a:blip r:embed="rId21"/>
          <a:stretch>
            <a:fillRect/>
          </a:stretch>
        </p:blipFill>
        <p:spPr>
          <a:xfrm>
            <a:off x="6251029" y="4219658"/>
            <a:ext cx="128699" cy="187198"/>
          </a:xfrm>
          <a:prstGeom prst="rect">
            <a:avLst/>
          </a:prstGeom>
        </p:spPr>
      </p:pic>
      <p:sp>
        <p:nvSpPr>
          <p:cNvPr id="122" name="TextBox 121"/>
          <p:cNvSpPr txBox="1"/>
          <p:nvPr/>
        </p:nvSpPr>
        <p:spPr>
          <a:xfrm>
            <a:off x="6418524"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23" name="TextBox 122"/>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24" name="TextBox 123"/>
          <p:cNvSpPr txBox="1"/>
          <p:nvPr/>
        </p:nvSpPr>
        <p:spPr>
          <a:xfrm>
            <a:off x="3838575" y="4615009"/>
            <a:ext cx="1171971" cy="186689"/>
          </a:xfrm>
          <a:prstGeom prst="rect">
            <a:avLst/>
          </a:prstGeom>
          <a:noFill/>
        </p:spPr>
        <p:txBody>
          <a:bodyPr wrap="none" lIns="0" rIns="0" tIns="0" bIns="0">
            <a:spAutoFit/>
          </a:bodyPr>
          <a:lstStyle/>
          <a:p>
            <a:r>
              <a:rPr sz="1100" b="0">
                <a:solidFill>
                  <a:srgbClr val="2E2E2E"/>
                </a:solidFill>
                <a:latin typeface="Calibri"/>
              </a:rPr>
              <a:t>● Glazed / drizzled:</a:t>
            </a:r>
          </a:p>
        </p:txBody>
      </p:sp>
      <p:pic>
        <p:nvPicPr>
          <p:cNvPr id="125" name="Picture 124" descr="lock.png"/>
          <p:cNvPicPr>
            <a:picLocks noChangeAspect="1"/>
          </p:cNvPicPr>
          <p:nvPr/>
        </p:nvPicPr>
        <p:blipFill>
          <a:blip r:embed="rId21"/>
          <a:stretch>
            <a:fillRect/>
          </a:stretch>
        </p:blipFill>
        <p:spPr>
          <a:xfrm>
            <a:off x="4958598" y="4605230"/>
            <a:ext cx="128699" cy="187198"/>
          </a:xfrm>
          <a:prstGeom prst="rect">
            <a:avLst/>
          </a:prstGeom>
        </p:spPr>
      </p:pic>
      <p:sp>
        <p:nvSpPr>
          <p:cNvPr id="126" name="TextBox 125"/>
          <p:cNvSpPr txBox="1"/>
          <p:nvPr/>
        </p:nvSpPr>
        <p:spPr>
          <a:xfrm>
            <a:off x="5126094"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7" name="Picture 126" descr="lock.png"/>
          <p:cNvPicPr>
            <a:picLocks noChangeAspect="1"/>
          </p:cNvPicPr>
          <p:nvPr/>
        </p:nvPicPr>
        <p:blipFill>
          <a:blip r:embed="rId21"/>
          <a:stretch>
            <a:fillRect/>
          </a:stretch>
        </p:blipFill>
        <p:spPr>
          <a:xfrm>
            <a:off x="5985544" y="4605230"/>
            <a:ext cx="128699" cy="187198"/>
          </a:xfrm>
          <a:prstGeom prst="rect">
            <a:avLst/>
          </a:prstGeom>
        </p:spPr>
      </p:pic>
      <p:sp>
        <p:nvSpPr>
          <p:cNvPr id="128" name="TextBox 127"/>
          <p:cNvSpPr txBox="1"/>
          <p:nvPr/>
        </p:nvSpPr>
        <p:spPr>
          <a:xfrm>
            <a:off x="6153040"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9" name="TextBox 128"/>
          <p:cNvSpPr txBox="1"/>
          <p:nvPr/>
        </p:nvSpPr>
        <p:spPr>
          <a:xfrm>
            <a:off x="3838575" y="4832941"/>
            <a:ext cx="1001712" cy="186689"/>
          </a:xfrm>
          <a:prstGeom prst="rect">
            <a:avLst/>
          </a:prstGeom>
          <a:noFill/>
        </p:spPr>
        <p:txBody>
          <a:bodyPr wrap="none" lIns="0" rIns="0" tIns="0" bIns="0">
            <a:spAutoFit/>
          </a:bodyPr>
          <a:lstStyle/>
          <a:p>
            <a:r>
              <a:rPr sz="1100" b="0">
                <a:solidFill>
                  <a:srgbClr val="2E2E2E"/>
                </a:solidFill>
                <a:latin typeface="Calibri"/>
              </a:rPr>
              <a:t>● Sugar-topped:</a:t>
            </a:r>
          </a:p>
        </p:txBody>
      </p:sp>
      <p:pic>
        <p:nvPicPr>
          <p:cNvPr id="130" name="Picture 129" descr="lock.png"/>
          <p:cNvPicPr>
            <a:picLocks noChangeAspect="1"/>
          </p:cNvPicPr>
          <p:nvPr/>
        </p:nvPicPr>
        <p:blipFill>
          <a:blip r:embed="rId21"/>
          <a:stretch>
            <a:fillRect/>
          </a:stretch>
        </p:blipFill>
        <p:spPr>
          <a:xfrm>
            <a:off x="4788339" y="4823162"/>
            <a:ext cx="128699" cy="187198"/>
          </a:xfrm>
          <a:prstGeom prst="rect">
            <a:avLst/>
          </a:prstGeom>
        </p:spPr>
      </p:pic>
      <p:sp>
        <p:nvSpPr>
          <p:cNvPr id="131" name="TextBox 130"/>
          <p:cNvSpPr txBox="1"/>
          <p:nvPr/>
        </p:nvSpPr>
        <p:spPr>
          <a:xfrm>
            <a:off x="4955834"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2" name="Picture 131" descr="lock.png"/>
          <p:cNvPicPr>
            <a:picLocks noChangeAspect="1"/>
          </p:cNvPicPr>
          <p:nvPr/>
        </p:nvPicPr>
        <p:blipFill>
          <a:blip r:embed="rId21"/>
          <a:stretch>
            <a:fillRect/>
          </a:stretch>
        </p:blipFill>
        <p:spPr>
          <a:xfrm>
            <a:off x="5815285" y="4823162"/>
            <a:ext cx="128699" cy="187198"/>
          </a:xfrm>
          <a:prstGeom prst="rect">
            <a:avLst/>
          </a:prstGeom>
        </p:spPr>
      </p:pic>
      <p:sp>
        <p:nvSpPr>
          <p:cNvPr id="133" name="TextBox 132"/>
          <p:cNvSpPr txBox="1"/>
          <p:nvPr/>
        </p:nvSpPr>
        <p:spPr>
          <a:xfrm>
            <a:off x="5982780"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4" name="TextBox 133"/>
          <p:cNvSpPr txBox="1"/>
          <p:nvPr/>
        </p:nvSpPr>
        <p:spPr>
          <a:xfrm>
            <a:off x="3838575" y="5050872"/>
            <a:ext cx="803076" cy="186689"/>
          </a:xfrm>
          <a:prstGeom prst="rect">
            <a:avLst/>
          </a:prstGeom>
          <a:noFill/>
        </p:spPr>
        <p:txBody>
          <a:bodyPr wrap="none" lIns="0" rIns="0" tIns="0" bIns="0">
            <a:spAutoFit/>
          </a:bodyPr>
          <a:lstStyle/>
          <a:p>
            <a:r>
              <a:rPr sz="1100" b="0">
                <a:solidFill>
                  <a:srgbClr val="2E2E2E"/>
                </a:solidFill>
                <a:latin typeface="Calibri"/>
              </a:rPr>
              <a:t>● Untopped:</a:t>
            </a:r>
          </a:p>
        </p:txBody>
      </p:sp>
      <p:pic>
        <p:nvPicPr>
          <p:cNvPr id="135" name="Picture 134" descr="lock.png"/>
          <p:cNvPicPr>
            <a:picLocks noChangeAspect="1"/>
          </p:cNvPicPr>
          <p:nvPr/>
        </p:nvPicPr>
        <p:blipFill>
          <a:blip r:embed="rId21"/>
          <a:stretch>
            <a:fillRect/>
          </a:stretch>
        </p:blipFill>
        <p:spPr>
          <a:xfrm>
            <a:off x="4589703" y="5041093"/>
            <a:ext cx="128699" cy="187198"/>
          </a:xfrm>
          <a:prstGeom prst="rect">
            <a:avLst/>
          </a:prstGeom>
        </p:spPr>
      </p:pic>
      <p:sp>
        <p:nvSpPr>
          <p:cNvPr id="136" name="TextBox 135"/>
          <p:cNvSpPr txBox="1"/>
          <p:nvPr/>
        </p:nvSpPr>
        <p:spPr>
          <a:xfrm>
            <a:off x="4757198"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7" name="Picture 136" descr="lock.png"/>
          <p:cNvPicPr>
            <a:picLocks noChangeAspect="1"/>
          </p:cNvPicPr>
          <p:nvPr/>
        </p:nvPicPr>
        <p:blipFill>
          <a:blip r:embed="rId21"/>
          <a:stretch>
            <a:fillRect/>
          </a:stretch>
        </p:blipFill>
        <p:spPr>
          <a:xfrm>
            <a:off x="5616649" y="5041093"/>
            <a:ext cx="128699" cy="187198"/>
          </a:xfrm>
          <a:prstGeom prst="rect">
            <a:avLst/>
          </a:prstGeom>
        </p:spPr>
      </p:pic>
      <p:sp>
        <p:nvSpPr>
          <p:cNvPr id="138" name="TextBox 137"/>
          <p:cNvSpPr txBox="1"/>
          <p:nvPr/>
        </p:nvSpPr>
        <p:spPr>
          <a:xfrm>
            <a:off x="5784145" y="5050872"/>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9" name="TextBox 138"/>
          <p:cNvSpPr txBox="1"/>
          <p:nvPr/>
        </p:nvSpPr>
        <p:spPr>
          <a:xfrm>
            <a:off x="3838575" y="5268804"/>
            <a:ext cx="1085750" cy="186689"/>
          </a:xfrm>
          <a:prstGeom prst="rect">
            <a:avLst/>
          </a:prstGeom>
          <a:noFill/>
        </p:spPr>
        <p:txBody>
          <a:bodyPr wrap="none" lIns="0" rIns="0" tIns="0" bIns="0">
            <a:spAutoFit/>
          </a:bodyPr>
          <a:lstStyle/>
          <a:p>
            <a:r>
              <a:rPr sz="1100" b="0">
                <a:solidFill>
                  <a:srgbClr val="2E2E2E"/>
                </a:solidFill>
                <a:latin typeface="Calibri"/>
              </a:rPr>
              <a:t>● Other toppings:</a:t>
            </a:r>
          </a:p>
        </p:txBody>
      </p:sp>
      <p:pic>
        <p:nvPicPr>
          <p:cNvPr id="140" name="Picture 139" descr="lock.png"/>
          <p:cNvPicPr>
            <a:picLocks noChangeAspect="1"/>
          </p:cNvPicPr>
          <p:nvPr/>
        </p:nvPicPr>
        <p:blipFill>
          <a:blip r:embed="rId21"/>
          <a:stretch>
            <a:fillRect/>
          </a:stretch>
        </p:blipFill>
        <p:spPr>
          <a:xfrm>
            <a:off x="4872377" y="5259025"/>
            <a:ext cx="128699" cy="187198"/>
          </a:xfrm>
          <a:prstGeom prst="rect">
            <a:avLst/>
          </a:prstGeom>
        </p:spPr>
      </p:pic>
      <p:sp>
        <p:nvSpPr>
          <p:cNvPr id="141" name="TextBox 140"/>
          <p:cNvSpPr txBox="1"/>
          <p:nvPr/>
        </p:nvSpPr>
        <p:spPr>
          <a:xfrm>
            <a:off x="5039873" y="5268804"/>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2" name="Picture 141" descr="lock.png"/>
          <p:cNvPicPr>
            <a:picLocks noChangeAspect="1"/>
          </p:cNvPicPr>
          <p:nvPr/>
        </p:nvPicPr>
        <p:blipFill>
          <a:blip r:embed="rId21"/>
          <a:stretch>
            <a:fillRect/>
          </a:stretch>
        </p:blipFill>
        <p:spPr>
          <a:xfrm>
            <a:off x="5899323" y="5259025"/>
            <a:ext cx="128699" cy="187198"/>
          </a:xfrm>
          <a:prstGeom prst="rect">
            <a:avLst/>
          </a:prstGeom>
        </p:spPr>
      </p:pic>
      <p:sp>
        <p:nvSpPr>
          <p:cNvPr id="143" name="TextBox 142"/>
          <p:cNvSpPr txBox="1"/>
          <p:nvPr/>
        </p:nvSpPr>
        <p:spPr>
          <a:xfrm>
            <a:off x="6066819" y="5268804"/>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44" name="TextBox 143"/>
          <p:cNvSpPr txBox="1"/>
          <p:nvPr/>
        </p:nvSpPr>
        <p:spPr>
          <a:xfrm>
            <a:off x="3838575" y="5486736"/>
            <a:ext cx="1631453" cy="186689"/>
          </a:xfrm>
          <a:prstGeom prst="rect">
            <a:avLst/>
          </a:prstGeom>
          <a:noFill/>
        </p:spPr>
        <p:txBody>
          <a:bodyPr wrap="none" lIns="0" rIns="0" tIns="0" bIns="0">
            <a:spAutoFit/>
          </a:bodyPr>
          <a:lstStyle/>
          <a:p>
            <a:r>
              <a:rPr sz="1100" b="0">
                <a:solidFill>
                  <a:srgbClr val="2E2E2E"/>
                </a:solidFill>
                <a:latin typeface="Calibri"/>
              </a:rPr>
              <a:t>● Crumb / streusel-topped:</a:t>
            </a:r>
          </a:p>
        </p:txBody>
      </p:sp>
      <p:pic>
        <p:nvPicPr>
          <p:cNvPr id="145" name="Picture 144" descr="lock.png"/>
          <p:cNvPicPr>
            <a:picLocks noChangeAspect="1"/>
          </p:cNvPicPr>
          <p:nvPr/>
        </p:nvPicPr>
        <p:blipFill>
          <a:blip r:embed="rId21"/>
          <a:stretch>
            <a:fillRect/>
          </a:stretch>
        </p:blipFill>
        <p:spPr>
          <a:xfrm>
            <a:off x="5418080" y="5476957"/>
            <a:ext cx="128699" cy="187198"/>
          </a:xfrm>
          <a:prstGeom prst="rect">
            <a:avLst/>
          </a:prstGeom>
        </p:spPr>
      </p:pic>
      <p:sp>
        <p:nvSpPr>
          <p:cNvPr id="146" name="TextBox 145"/>
          <p:cNvSpPr txBox="1"/>
          <p:nvPr/>
        </p:nvSpPr>
        <p:spPr>
          <a:xfrm>
            <a:off x="5585576" y="5486736"/>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7" name="Picture 146" descr="lock.png"/>
          <p:cNvPicPr>
            <a:picLocks noChangeAspect="1"/>
          </p:cNvPicPr>
          <p:nvPr/>
        </p:nvPicPr>
        <p:blipFill>
          <a:blip r:embed="rId21"/>
          <a:stretch>
            <a:fillRect/>
          </a:stretch>
        </p:blipFill>
        <p:spPr>
          <a:xfrm>
            <a:off x="6445026" y="5476957"/>
            <a:ext cx="128699" cy="187198"/>
          </a:xfrm>
          <a:prstGeom prst="rect">
            <a:avLst/>
          </a:prstGeom>
        </p:spPr>
      </p:pic>
      <p:sp>
        <p:nvSpPr>
          <p:cNvPr id="148" name="TextBox 147"/>
          <p:cNvSpPr txBox="1"/>
          <p:nvPr/>
        </p:nvSpPr>
        <p:spPr>
          <a:xfrm>
            <a:off x="6612522" y="5486736"/>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49" name="TextBox 148"/>
          <p:cNvSpPr txBox="1"/>
          <p:nvPr/>
        </p:nvSpPr>
        <p:spPr>
          <a:xfrm>
            <a:off x="3838575" y="5654377"/>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50" name="TextBox 149"/>
          <p:cNvSpPr txBox="1"/>
          <p:nvPr/>
        </p:nvSpPr>
        <p:spPr>
          <a:xfrm>
            <a:off x="8524875" y="5842641"/>
            <a:ext cx="3133266" cy="194310"/>
          </a:xfrm>
          <a:prstGeom prst="rect">
            <a:avLst/>
          </a:prstGeom>
          <a:noFill/>
        </p:spPr>
        <p:txBody>
          <a:bodyPr wrap="none" lIns="0" rIns="0" tIns="0" bIns="0">
            <a:spAutoFit/>
          </a:bodyPr>
          <a:lstStyle/>
          <a:p>
            <a:r>
              <a:rPr sz="1150" b="1">
                <a:solidFill>
                  <a:srgbClr val="0B2E4A"/>
                </a:solidFill>
                <a:latin typeface="Calibri"/>
              </a:rPr>
              <a:t>The Surface Finish segment is projected to grow at</a:t>
            </a:r>
          </a:p>
        </p:txBody>
      </p:sp>
      <p:sp>
        <p:nvSpPr>
          <p:cNvPr id="151" name="TextBox 150"/>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52" name="Picture 151" descr="lock.png"/>
          <p:cNvPicPr>
            <a:picLocks noChangeAspect="1"/>
          </p:cNvPicPr>
          <p:nvPr/>
        </p:nvPicPr>
        <p:blipFill>
          <a:blip r:embed="rId21"/>
          <a:stretch>
            <a:fillRect/>
          </a:stretch>
        </p:blipFill>
        <p:spPr>
          <a:xfrm>
            <a:off x="9154084" y="6007677"/>
            <a:ext cx="134549" cy="195707"/>
          </a:xfrm>
          <a:prstGeom prst="rect">
            <a:avLst/>
          </a:prstGeom>
        </p:spPr>
      </p:pic>
      <p:sp>
        <p:nvSpPr>
          <p:cNvPr id="153" name="TextBox 152"/>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Surface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Surface Finish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Surface Finish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Surface Finish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42235" cy="186689"/>
          </a:xfrm>
          <a:prstGeom prst="rect">
            <a:avLst/>
          </a:prstGeom>
          <a:noFill/>
        </p:spPr>
        <p:txBody>
          <a:bodyPr wrap="none" lIns="0" rIns="0" tIns="0" bIns="0">
            <a:spAutoFit/>
          </a:bodyPr>
          <a:lstStyle/>
          <a:p>
            <a:r>
              <a:rPr sz="1100" b="0">
                <a:solidFill>
                  <a:srgbClr val="2E2E2E"/>
                </a:solidFill>
                <a:latin typeface="Calibri"/>
              </a:rPr>
              <a:t>Between 2026 and 2036, 'Nut and seed-topped' gains the most share in the Global market (+</a:t>
            </a:r>
          </a:p>
        </p:txBody>
      </p:sp>
      <p:pic>
        <p:nvPicPr>
          <p:cNvPr id="21" name="Picture 20" descr="lock.png"/>
          <p:cNvPicPr>
            <a:picLocks noChangeAspect="1"/>
          </p:cNvPicPr>
          <p:nvPr/>
        </p:nvPicPr>
        <p:blipFill>
          <a:blip r:embed="rId6"/>
          <a:stretch>
            <a:fillRect/>
          </a:stretch>
        </p:blipFill>
        <p:spPr>
          <a:xfrm>
            <a:off x="5547461" y="5851905"/>
            <a:ext cx="128699" cy="187198"/>
          </a:xfrm>
          <a:prstGeom prst="rect">
            <a:avLst/>
          </a:prstGeom>
        </p:spPr>
      </p:pic>
      <p:sp>
        <p:nvSpPr>
          <p:cNvPr id="22" name="TextBox 21"/>
          <p:cNvSpPr txBox="1"/>
          <p:nvPr/>
        </p:nvSpPr>
        <p:spPr>
          <a:xfrm>
            <a:off x="5714957" y="5861685"/>
            <a:ext cx="1893391" cy="186689"/>
          </a:xfrm>
          <a:prstGeom prst="rect">
            <a:avLst/>
          </a:prstGeom>
          <a:noFill/>
        </p:spPr>
        <p:txBody>
          <a:bodyPr wrap="none" lIns="0" rIns="0" tIns="0" bIns="0">
            <a:spAutoFit/>
          </a:bodyPr>
          <a:lstStyle/>
          <a:p>
            <a:r>
              <a:rPr sz="1100" b="0">
                <a:solidFill>
                  <a:srgbClr val="2E2E2E"/>
                </a:solidFill>
                <a:latin typeface="Calibri"/>
              </a:rPr>
              <a:t>BPS) while 'Sugar-topped' cedes</a:t>
            </a:r>
          </a:p>
        </p:txBody>
      </p:sp>
      <p:pic>
        <p:nvPicPr>
          <p:cNvPr id="23" name="Picture 22" descr="lock.png"/>
          <p:cNvPicPr>
            <a:picLocks noChangeAspect="1"/>
          </p:cNvPicPr>
          <p:nvPr/>
        </p:nvPicPr>
        <p:blipFill>
          <a:blip r:embed="rId6"/>
          <a:stretch>
            <a:fillRect/>
          </a:stretch>
        </p:blipFill>
        <p:spPr>
          <a:xfrm>
            <a:off x="7556400" y="5851905"/>
            <a:ext cx="128699" cy="187198"/>
          </a:xfrm>
          <a:prstGeom prst="rect">
            <a:avLst/>
          </a:prstGeom>
        </p:spPr>
      </p:pic>
      <p:sp>
        <p:nvSpPr>
          <p:cNvPr id="24" name="TextBox 23"/>
          <p:cNvSpPr txBox="1"/>
          <p:nvPr/>
        </p:nvSpPr>
        <p:spPr>
          <a:xfrm>
            <a:off x="7723896"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Surface Finish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Surface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Untopped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Crumb / streusel-topped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Sugar-topped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Nut and seed-topped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Surface Finish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Surface Finish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Glazed / drizzled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toppings</a:t>
            </a:r>
          </a:p>
        </p:txBody>
      </p:sp>
      <p:graphicFrame>
        <p:nvGraphicFramePr>
          <p:cNvPr id="15" name="Chart 14"/>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Surface Finish</a:t>
            </a:r>
          </a:p>
        </p:txBody>
      </p:sp>
      <p:sp>
        <p:nvSpPr>
          <p:cNvPr id="18" name="Rectangle 17"/>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6"/>
          <a:stretch>
            <a:fillRect/>
          </a:stretch>
        </p:blipFill>
        <p:spPr>
          <a:xfrm>
            <a:off x="3094826" y="2237234"/>
            <a:ext cx="263506" cy="383281"/>
          </a:xfrm>
          <a:prstGeom prst="rect">
            <a:avLst/>
          </a:prstGeom>
        </p:spPr>
      </p:pic>
      <p:pic>
        <p:nvPicPr>
          <p:cNvPr id="22" name="Picture 21" descr="lock.png"/>
          <p:cNvPicPr>
            <a:picLocks noChangeAspect="1"/>
          </p:cNvPicPr>
          <p:nvPr/>
        </p:nvPicPr>
        <p:blipFill>
          <a:blip r:embed="rId6"/>
          <a:stretch>
            <a:fillRect/>
          </a:stretch>
        </p:blipFill>
        <p:spPr>
          <a:xfrm>
            <a:off x="3094826" y="5123309"/>
            <a:ext cx="263506" cy="383281"/>
          </a:xfrm>
          <a:prstGeom prst="rect">
            <a:avLst/>
          </a:prstGeom>
        </p:spPr>
      </p:pic>
      <p:sp>
        <p:nvSpPr>
          <p:cNvPr id="23" name="TextBox 22"/>
          <p:cNvSpPr txBox="1"/>
          <p:nvPr/>
        </p:nvSpPr>
        <p:spPr>
          <a:xfrm>
            <a:off x="6305550" y="1400175"/>
            <a:ext cx="3037135" cy="194310"/>
          </a:xfrm>
          <a:prstGeom prst="rect">
            <a:avLst/>
          </a:prstGeom>
          <a:noFill/>
        </p:spPr>
        <p:txBody>
          <a:bodyPr wrap="none" lIns="0" rIns="0" tIns="0" bIns="0">
            <a:spAutoFit/>
          </a:bodyPr>
          <a:lstStyle/>
          <a:p>
            <a:r>
              <a:rPr sz="1150" b="0">
                <a:solidFill>
                  <a:srgbClr val="2E2E2E"/>
                </a:solidFill>
                <a:latin typeface="Calibri"/>
              </a:rPr>
              <a:t>▪ Across its 6 sub-segments, by surface finish adds</a:t>
            </a:r>
          </a:p>
        </p:txBody>
      </p:sp>
      <p:pic>
        <p:nvPicPr>
          <p:cNvPr id="24" name="Picture 23" descr="lock.png"/>
          <p:cNvPicPr>
            <a:picLocks noChangeAspect="1"/>
          </p:cNvPicPr>
          <p:nvPr/>
        </p:nvPicPr>
        <p:blipFill>
          <a:blip r:embed="rId6"/>
          <a:stretch>
            <a:fillRect/>
          </a:stretch>
        </p:blipFill>
        <p:spPr>
          <a:xfrm>
            <a:off x="9291839" y="1389951"/>
            <a:ext cx="134549" cy="195707"/>
          </a:xfrm>
          <a:prstGeom prst="rect">
            <a:avLst/>
          </a:prstGeom>
        </p:spPr>
      </p:pic>
      <p:sp>
        <p:nvSpPr>
          <p:cNvPr id="25" name="TextBox 24"/>
          <p:cNvSpPr txBox="1"/>
          <p:nvPr/>
        </p:nvSpPr>
        <p:spPr>
          <a:xfrm>
            <a:off x="9466948" y="1400175"/>
            <a:ext cx="2370211" cy="194310"/>
          </a:xfrm>
          <a:prstGeom prst="rect">
            <a:avLst/>
          </a:prstGeom>
          <a:noFill/>
        </p:spPr>
        <p:txBody>
          <a:bodyPr wrap="none" lIns="0" rIns="0" tIns="0" bIns="0">
            <a:spAutoFit/>
          </a:bodyPr>
          <a:lstStyle/>
          <a:p>
            <a:r>
              <a:rPr sz="1150" b="0">
                <a:solidFill>
                  <a:srgbClr val="2E2E2E"/>
                </a:solidFill>
                <a:latin typeface="Calibri"/>
              </a:rPr>
              <a:t>US$ Mn to the Global market between</a:t>
            </a:r>
          </a:p>
        </p:txBody>
      </p:sp>
      <p:sp>
        <p:nvSpPr>
          <p:cNvPr id="26" name="TextBox 25"/>
          <p:cNvSpPr txBox="1"/>
          <p:nvPr/>
        </p:nvSpPr>
        <p:spPr>
          <a:xfrm>
            <a:off x="6305550" y="1575435"/>
            <a:ext cx="995858" cy="194310"/>
          </a:xfrm>
          <a:prstGeom prst="rect">
            <a:avLst/>
          </a:prstGeom>
          <a:noFill/>
        </p:spPr>
        <p:txBody>
          <a:bodyPr wrap="none" lIns="0" rIns="0" tIns="0" bIns="0">
            <a:spAutoFit/>
          </a:bodyPr>
          <a:lstStyle/>
          <a:p>
            <a:r>
              <a:rPr sz="1150" b="0">
                <a:solidFill>
                  <a:srgbClr val="2E2E2E"/>
                </a:solidFill>
                <a:latin typeface="Calibri"/>
              </a:rPr>
              <a:t>2026 and 2036.</a:t>
            </a:r>
          </a:p>
        </p:txBody>
      </p:sp>
      <p:sp>
        <p:nvSpPr>
          <p:cNvPr id="27" name="TextBox 26"/>
          <p:cNvSpPr txBox="1"/>
          <p:nvPr/>
        </p:nvSpPr>
        <p:spPr>
          <a:xfrm>
            <a:off x="6305550" y="1803273"/>
            <a:ext cx="1801700" cy="194310"/>
          </a:xfrm>
          <a:prstGeom prst="rect">
            <a:avLst/>
          </a:prstGeom>
          <a:noFill/>
        </p:spPr>
        <p:txBody>
          <a:bodyPr wrap="none" lIns="0" rIns="0" tIns="0" bIns="0">
            <a:spAutoFit/>
          </a:bodyPr>
          <a:lstStyle/>
          <a:p>
            <a:r>
              <a:rPr sz="1150" b="0">
                <a:solidFill>
                  <a:srgbClr val="2E2E2E"/>
                </a:solidFill>
                <a:latin typeface="Calibri"/>
              </a:rPr>
              <a:t>▪ 'Nut and seed-topped' adds</a:t>
            </a:r>
          </a:p>
        </p:txBody>
      </p:sp>
      <p:pic>
        <p:nvPicPr>
          <p:cNvPr id="28" name="Picture 27" descr="lock.png"/>
          <p:cNvPicPr>
            <a:picLocks noChangeAspect="1"/>
          </p:cNvPicPr>
          <p:nvPr/>
        </p:nvPicPr>
        <p:blipFill>
          <a:blip r:embed="rId6"/>
          <a:stretch>
            <a:fillRect/>
          </a:stretch>
        </p:blipFill>
        <p:spPr>
          <a:xfrm>
            <a:off x="8056404" y="1793049"/>
            <a:ext cx="134549" cy="195707"/>
          </a:xfrm>
          <a:prstGeom prst="rect">
            <a:avLst/>
          </a:prstGeom>
        </p:spPr>
      </p:pic>
      <p:sp>
        <p:nvSpPr>
          <p:cNvPr id="29" name="TextBox 28"/>
          <p:cNvSpPr txBox="1"/>
          <p:nvPr/>
        </p:nvSpPr>
        <p:spPr>
          <a:xfrm>
            <a:off x="8231514" y="180327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0" name="Picture 29" descr="lock.png"/>
          <p:cNvPicPr>
            <a:picLocks noChangeAspect="1"/>
          </p:cNvPicPr>
          <p:nvPr/>
        </p:nvPicPr>
        <p:blipFill>
          <a:blip r:embed="rId6"/>
          <a:stretch>
            <a:fillRect/>
          </a:stretch>
        </p:blipFill>
        <p:spPr>
          <a:xfrm>
            <a:off x="8803985" y="1793049"/>
            <a:ext cx="134549" cy="195707"/>
          </a:xfrm>
          <a:prstGeom prst="rect">
            <a:avLst/>
          </a:prstGeom>
        </p:spPr>
      </p:pic>
      <p:sp>
        <p:nvSpPr>
          <p:cNvPr id="31" name="TextBox 30"/>
          <p:cNvSpPr txBox="1"/>
          <p:nvPr/>
        </p:nvSpPr>
        <p:spPr>
          <a:xfrm>
            <a:off x="8979094" y="180327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2" name="TextBox 31"/>
          <p:cNvSpPr txBox="1"/>
          <p:nvPr/>
        </p:nvSpPr>
        <p:spPr>
          <a:xfrm>
            <a:off x="6305550" y="2031111"/>
            <a:ext cx="1524148" cy="194310"/>
          </a:xfrm>
          <a:prstGeom prst="rect">
            <a:avLst/>
          </a:prstGeom>
          <a:noFill/>
        </p:spPr>
        <p:txBody>
          <a:bodyPr wrap="none" lIns="0" rIns="0" tIns="0" bIns="0">
            <a:spAutoFit/>
          </a:bodyPr>
          <a:lstStyle/>
          <a:p>
            <a:r>
              <a:rPr sz="1150" b="0">
                <a:solidFill>
                  <a:srgbClr val="2E2E2E"/>
                </a:solidFill>
                <a:latin typeface="Calibri"/>
              </a:rPr>
              <a:t>▪ 'Glazed / drizzled' adds</a:t>
            </a:r>
          </a:p>
        </p:txBody>
      </p:sp>
      <p:pic>
        <p:nvPicPr>
          <p:cNvPr id="33" name="Picture 32" descr="lock.png"/>
          <p:cNvPicPr>
            <a:picLocks noChangeAspect="1"/>
          </p:cNvPicPr>
          <p:nvPr/>
        </p:nvPicPr>
        <p:blipFill>
          <a:blip r:embed="rId6"/>
          <a:stretch>
            <a:fillRect/>
          </a:stretch>
        </p:blipFill>
        <p:spPr>
          <a:xfrm>
            <a:off x="7778852" y="2020887"/>
            <a:ext cx="134549" cy="195707"/>
          </a:xfrm>
          <a:prstGeom prst="rect">
            <a:avLst/>
          </a:prstGeom>
        </p:spPr>
      </p:pic>
      <p:sp>
        <p:nvSpPr>
          <p:cNvPr id="34" name="TextBox 33"/>
          <p:cNvSpPr txBox="1"/>
          <p:nvPr/>
        </p:nvSpPr>
        <p:spPr>
          <a:xfrm>
            <a:off x="7953962" y="2031111"/>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6"/>
          <a:stretch>
            <a:fillRect/>
          </a:stretch>
        </p:blipFill>
        <p:spPr>
          <a:xfrm>
            <a:off x="8526432" y="2020887"/>
            <a:ext cx="134549" cy="195707"/>
          </a:xfrm>
          <a:prstGeom prst="rect">
            <a:avLst/>
          </a:prstGeom>
        </p:spPr>
      </p:pic>
      <p:sp>
        <p:nvSpPr>
          <p:cNvPr id="36" name="TextBox 35"/>
          <p:cNvSpPr txBox="1"/>
          <p:nvPr/>
        </p:nvSpPr>
        <p:spPr>
          <a:xfrm>
            <a:off x="8701542" y="2031111"/>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2258949"/>
            <a:ext cx="1434008" cy="194310"/>
          </a:xfrm>
          <a:prstGeom prst="rect">
            <a:avLst/>
          </a:prstGeom>
          <a:noFill/>
        </p:spPr>
        <p:txBody>
          <a:bodyPr wrap="none" lIns="0" rIns="0" tIns="0" bIns="0">
            <a:spAutoFit/>
          </a:bodyPr>
          <a:lstStyle/>
          <a:p>
            <a:r>
              <a:rPr sz="1150" b="0">
                <a:solidFill>
                  <a:srgbClr val="2E2E2E"/>
                </a:solidFill>
                <a:latin typeface="Calibri"/>
              </a:rPr>
              <a:t>▪ 'Other toppings' adds</a:t>
            </a:r>
          </a:p>
        </p:txBody>
      </p:sp>
      <p:pic>
        <p:nvPicPr>
          <p:cNvPr id="38" name="Picture 37" descr="lock.png"/>
          <p:cNvPicPr>
            <a:picLocks noChangeAspect="1"/>
          </p:cNvPicPr>
          <p:nvPr/>
        </p:nvPicPr>
        <p:blipFill>
          <a:blip r:embed="rId6"/>
          <a:stretch>
            <a:fillRect/>
          </a:stretch>
        </p:blipFill>
        <p:spPr>
          <a:xfrm>
            <a:off x="7688712" y="2248725"/>
            <a:ext cx="134549" cy="195707"/>
          </a:xfrm>
          <a:prstGeom prst="rect">
            <a:avLst/>
          </a:prstGeom>
        </p:spPr>
      </p:pic>
      <p:sp>
        <p:nvSpPr>
          <p:cNvPr id="39" name="TextBox 38"/>
          <p:cNvSpPr txBox="1"/>
          <p:nvPr/>
        </p:nvSpPr>
        <p:spPr>
          <a:xfrm>
            <a:off x="7863821" y="2258949"/>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6"/>
          <a:stretch>
            <a:fillRect/>
          </a:stretch>
        </p:blipFill>
        <p:spPr>
          <a:xfrm>
            <a:off x="8436292" y="2248725"/>
            <a:ext cx="134549" cy="195707"/>
          </a:xfrm>
          <a:prstGeom prst="rect">
            <a:avLst/>
          </a:prstGeom>
        </p:spPr>
      </p:pic>
      <p:sp>
        <p:nvSpPr>
          <p:cNvPr id="41" name="TextBox 40"/>
          <p:cNvSpPr txBox="1"/>
          <p:nvPr/>
        </p:nvSpPr>
        <p:spPr>
          <a:xfrm>
            <a:off x="8611402" y="2258949"/>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2486787"/>
            <a:ext cx="2590713" cy="194310"/>
          </a:xfrm>
          <a:prstGeom prst="rect">
            <a:avLst/>
          </a:prstGeom>
          <a:noFill/>
        </p:spPr>
        <p:txBody>
          <a:bodyPr wrap="none" lIns="0" rIns="0" tIns="0" bIns="0">
            <a:spAutoFit/>
          </a:bodyPr>
          <a:lstStyle/>
          <a:p>
            <a:r>
              <a:rPr sz="1150" b="0">
                <a:solidFill>
                  <a:srgbClr val="2E2E2E"/>
                </a:solidFill>
                <a:latin typeface="Calibri"/>
              </a:rPr>
              <a:t>▪ 'Crumb / streusel-topped' adds the least:</a:t>
            </a:r>
          </a:p>
        </p:txBody>
      </p:sp>
      <p:pic>
        <p:nvPicPr>
          <p:cNvPr id="43" name="Picture 42" descr="lock.png"/>
          <p:cNvPicPr>
            <a:picLocks noChangeAspect="1"/>
          </p:cNvPicPr>
          <p:nvPr/>
        </p:nvPicPr>
        <p:blipFill>
          <a:blip r:embed="rId6"/>
          <a:stretch>
            <a:fillRect/>
          </a:stretch>
        </p:blipFill>
        <p:spPr>
          <a:xfrm>
            <a:off x="8845417" y="2476563"/>
            <a:ext cx="134549" cy="195707"/>
          </a:xfrm>
          <a:prstGeom prst="rect">
            <a:avLst/>
          </a:prstGeom>
        </p:spPr>
      </p:pic>
      <p:sp>
        <p:nvSpPr>
          <p:cNvPr id="44" name="TextBox 43"/>
          <p:cNvSpPr txBox="1"/>
          <p:nvPr/>
        </p:nvSpPr>
        <p:spPr>
          <a:xfrm>
            <a:off x="9020526" y="248678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6"/>
          <a:stretch>
            <a:fillRect/>
          </a:stretch>
        </p:blipFill>
        <p:spPr>
          <a:xfrm>
            <a:off x="9592997" y="2476563"/>
            <a:ext cx="134549" cy="195707"/>
          </a:xfrm>
          <a:prstGeom prst="rect">
            <a:avLst/>
          </a:prstGeom>
        </p:spPr>
      </p:pic>
      <p:sp>
        <p:nvSpPr>
          <p:cNvPr id="46" name="TextBox 45"/>
          <p:cNvSpPr txBox="1"/>
          <p:nvPr/>
        </p:nvSpPr>
        <p:spPr>
          <a:xfrm>
            <a:off x="9768106" y="2486787"/>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5"/>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Surface Finish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Surface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Surface Finish (MT)</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Surface Finish</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Untopped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Crumb / streusel-</a:t>
                      </a:r>
                      <a:endParaRPr sz="1100"/>
                    </a:p>
                    <a:p>
                      <a:pPr algn="l"/>
                      <a:r>
                        <a:rPr sz="1100" b="1">
                          <a:solidFill>
                            <a:srgbClr val="2E2E2E"/>
                          </a:solidFill>
                          <a:latin typeface="Calibri"/>
                        </a:rPr>
                        <a:t>topped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Sugar-topped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Nut and seed-</a:t>
                      </a:r>
                      <a:endParaRPr sz="1100"/>
                    </a:p>
                    <a:p>
                      <a:pPr algn="l"/>
                      <a:r>
                        <a:rPr sz="1100" b="1">
                          <a:solidFill>
                            <a:srgbClr val="2E2E2E"/>
                          </a:solidFill>
                          <a:latin typeface="Calibri"/>
                        </a:rPr>
                        <a:t>topped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Glazed / drizzled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Other toppings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Surface Finish</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2975805" cy="194310"/>
          </a:xfrm>
          <a:prstGeom prst="rect">
            <a:avLst/>
          </a:prstGeom>
          <a:noFill/>
        </p:spPr>
        <p:txBody>
          <a:bodyPr wrap="none" lIns="0" rIns="0" tIns="0" bIns="0">
            <a:spAutoFit/>
          </a:bodyPr>
          <a:lstStyle/>
          <a:p>
            <a:r>
              <a:rPr sz="1150" b="0">
                <a:solidFill>
                  <a:srgbClr val="2E2E2E"/>
                </a:solidFill>
                <a:latin typeface="Calibri"/>
              </a:rPr>
              <a:t>▪ 'Glazed / drizzled' is the largest surface finish at</a:t>
            </a:r>
          </a:p>
        </p:txBody>
      </p:sp>
      <p:pic>
        <p:nvPicPr>
          <p:cNvPr id="22" name="Picture 21" descr="lock.png"/>
          <p:cNvPicPr>
            <a:picLocks noChangeAspect="1"/>
          </p:cNvPicPr>
          <p:nvPr/>
        </p:nvPicPr>
        <p:blipFill>
          <a:blip r:embed="rId4"/>
          <a:stretch>
            <a:fillRect/>
          </a:stretch>
        </p:blipFill>
        <p:spPr>
          <a:xfrm>
            <a:off x="3201184" y="4542726"/>
            <a:ext cx="134549" cy="195707"/>
          </a:xfrm>
          <a:prstGeom prst="rect">
            <a:avLst/>
          </a:prstGeom>
        </p:spPr>
      </p:pic>
      <p:sp>
        <p:nvSpPr>
          <p:cNvPr id="23" name="TextBox 22"/>
          <p:cNvSpPr txBox="1"/>
          <p:nvPr/>
        </p:nvSpPr>
        <p:spPr>
          <a:xfrm>
            <a:off x="3376294" y="45529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06027" y="4542726"/>
            <a:ext cx="134549" cy="195707"/>
          </a:xfrm>
          <a:prstGeom prst="rect">
            <a:avLst/>
          </a:prstGeom>
        </p:spPr>
      </p:pic>
      <p:sp>
        <p:nvSpPr>
          <p:cNvPr id="25" name="TextBox 24"/>
          <p:cNvSpPr txBox="1"/>
          <p:nvPr/>
        </p:nvSpPr>
        <p:spPr>
          <a:xfrm>
            <a:off x="4581136" y="45529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780788"/>
            <a:ext cx="1944327" cy="194310"/>
          </a:xfrm>
          <a:prstGeom prst="rect">
            <a:avLst/>
          </a:prstGeom>
          <a:noFill/>
        </p:spPr>
        <p:txBody>
          <a:bodyPr wrap="none" lIns="0" rIns="0" tIns="0" bIns="0">
            <a:spAutoFit/>
          </a:bodyPr>
          <a:lstStyle/>
          <a:p>
            <a:r>
              <a:rPr sz="1150" b="0">
                <a:solidFill>
                  <a:srgbClr val="2E2E2E"/>
                </a:solidFill>
                <a:latin typeface="Calibri"/>
              </a:rPr>
              <a:t>▪ 'Other toppings' grows fastest</a:t>
            </a:r>
          </a:p>
        </p:txBody>
      </p:sp>
      <p:pic>
        <p:nvPicPr>
          <p:cNvPr id="27" name="Picture 26" descr="lock.png"/>
          <p:cNvPicPr>
            <a:picLocks noChangeAspect="1"/>
          </p:cNvPicPr>
          <p:nvPr/>
        </p:nvPicPr>
        <p:blipFill>
          <a:blip r:embed="rId4"/>
          <a:stretch>
            <a:fillRect/>
          </a:stretch>
        </p:blipFill>
        <p:spPr>
          <a:xfrm>
            <a:off x="2169706" y="4770564"/>
            <a:ext cx="134549" cy="195707"/>
          </a:xfrm>
          <a:prstGeom prst="rect">
            <a:avLst/>
          </a:prstGeom>
        </p:spPr>
      </p:pic>
      <p:sp>
        <p:nvSpPr>
          <p:cNvPr id="28" name="TextBox 27"/>
          <p:cNvSpPr txBox="1"/>
          <p:nvPr/>
        </p:nvSpPr>
        <p:spPr>
          <a:xfrm>
            <a:off x="2344816" y="478078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008625"/>
            <a:ext cx="2821198" cy="194310"/>
          </a:xfrm>
          <a:prstGeom prst="rect">
            <a:avLst/>
          </a:prstGeom>
          <a:noFill/>
        </p:spPr>
        <p:txBody>
          <a:bodyPr wrap="none" lIns="0" rIns="0" tIns="0" bIns="0">
            <a:spAutoFit/>
          </a:bodyPr>
          <a:lstStyle/>
          <a:p>
            <a:r>
              <a:rPr sz="1150" b="0">
                <a:solidFill>
                  <a:srgbClr val="2E2E2E"/>
                </a:solidFill>
                <a:latin typeface="Calibri"/>
              </a:rPr>
              <a:t>▪ Share shifts toward 'Nut and seed-topped' (+</a:t>
            </a:r>
          </a:p>
        </p:txBody>
      </p:sp>
      <p:pic>
        <p:nvPicPr>
          <p:cNvPr id="30" name="Picture 29" descr="lock.png"/>
          <p:cNvPicPr>
            <a:picLocks noChangeAspect="1"/>
          </p:cNvPicPr>
          <p:nvPr/>
        </p:nvPicPr>
        <p:blipFill>
          <a:blip r:embed="rId4"/>
          <a:stretch>
            <a:fillRect/>
          </a:stretch>
        </p:blipFill>
        <p:spPr>
          <a:xfrm>
            <a:off x="3046577" y="4998402"/>
            <a:ext cx="134549" cy="195707"/>
          </a:xfrm>
          <a:prstGeom prst="rect">
            <a:avLst/>
          </a:prstGeom>
        </p:spPr>
      </p:pic>
      <p:sp>
        <p:nvSpPr>
          <p:cNvPr id="31" name="TextBox 30"/>
          <p:cNvSpPr txBox="1"/>
          <p:nvPr/>
        </p:nvSpPr>
        <p:spPr>
          <a:xfrm>
            <a:off x="3221686" y="5008625"/>
            <a:ext cx="2291767" cy="194310"/>
          </a:xfrm>
          <a:prstGeom prst="rect">
            <a:avLst/>
          </a:prstGeom>
          <a:noFill/>
        </p:spPr>
        <p:txBody>
          <a:bodyPr wrap="none" lIns="0" rIns="0" tIns="0" bIns="0">
            <a:spAutoFit/>
          </a:bodyPr>
          <a:lstStyle/>
          <a:p>
            <a:r>
              <a:rPr sz="1150" b="0">
                <a:solidFill>
                  <a:srgbClr val="2E2E2E"/>
                </a:solidFill>
                <a:latin typeface="Calibri"/>
              </a:rPr>
              <a:t>BPS) and away from 'Sugar-topped' (-</a:t>
            </a:r>
          </a:p>
        </p:txBody>
      </p:sp>
      <p:pic>
        <p:nvPicPr>
          <p:cNvPr id="32" name="Picture 31" descr="lock.png"/>
          <p:cNvPicPr>
            <a:picLocks noChangeAspect="1"/>
          </p:cNvPicPr>
          <p:nvPr/>
        </p:nvPicPr>
        <p:blipFill>
          <a:blip r:embed="rId4"/>
          <a:stretch>
            <a:fillRect/>
          </a:stretch>
        </p:blipFill>
        <p:spPr>
          <a:xfrm>
            <a:off x="5462607" y="4998402"/>
            <a:ext cx="134549" cy="195707"/>
          </a:xfrm>
          <a:prstGeom prst="rect">
            <a:avLst/>
          </a:prstGeom>
        </p:spPr>
      </p:pic>
      <p:sp>
        <p:nvSpPr>
          <p:cNvPr id="33" name="TextBox 32"/>
          <p:cNvSpPr txBox="1"/>
          <p:nvPr/>
        </p:nvSpPr>
        <p:spPr>
          <a:xfrm>
            <a:off x="5637716" y="50086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2364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226240"/>
            <a:ext cx="134549" cy="195707"/>
          </a:xfrm>
          <a:prstGeom prst="rect">
            <a:avLst/>
          </a:prstGeom>
        </p:spPr>
      </p:pic>
      <p:sp>
        <p:nvSpPr>
          <p:cNvPr id="36" name="TextBox 35"/>
          <p:cNvSpPr txBox="1"/>
          <p:nvPr/>
        </p:nvSpPr>
        <p:spPr>
          <a:xfrm>
            <a:off x="1965143" y="52364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226240"/>
            <a:ext cx="134549" cy="195707"/>
          </a:xfrm>
          <a:prstGeom prst="rect">
            <a:avLst/>
          </a:prstGeom>
        </p:spPr>
      </p:pic>
      <p:sp>
        <p:nvSpPr>
          <p:cNvPr id="38" name="TextBox 37"/>
          <p:cNvSpPr txBox="1"/>
          <p:nvPr/>
        </p:nvSpPr>
        <p:spPr>
          <a:xfrm>
            <a:off x="2291688" y="5236463"/>
            <a:ext cx="1470521" cy="194310"/>
          </a:xfrm>
          <a:prstGeom prst="rect">
            <a:avLst/>
          </a:prstGeom>
          <a:noFill/>
        </p:spPr>
        <p:txBody>
          <a:bodyPr wrap="none" lIns="0" rIns="0" tIns="0" bIns="0">
            <a:spAutoFit/>
          </a:bodyPr>
          <a:lstStyle/>
          <a:p>
            <a:r>
              <a:rPr sz="1150" b="0">
                <a:solidFill>
                  <a:srgbClr val="2E2E2E"/>
                </a:solidFill>
                <a:latin typeface="Calibri"/>
              </a:rPr>
              <a:t>MT across 6 categories.</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Surface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Surface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Surface Finish (US$ Mn)</a:t>
            </a:r>
          </a:p>
        </p:txBody>
      </p:sp>
      <p:graphicFrame>
        <p:nvGraphicFramePr>
          <p:cNvPr id="13" name="Table 12"/>
          <p:cNvGraphicFramePr>
            <a:graphicFrameLocks noGrp="1"/>
          </p:cNvGraphicFramePr>
          <p:nvPr/>
        </p:nvGraphicFramePr>
        <p:xfrm>
          <a:off x="152400" y="1238250"/>
          <a:ext cx="11887204" cy="1971675"/>
        </p:xfrm>
        <a:graphic>
          <a:graphicData uri="http://schemas.openxmlformats.org/drawingml/2006/table">
            <a:tbl>
              <a:tblPr>
                <a:tableStyleId>{5C22544A-7EE6-4342-B048-85BDC9FD1C3A}</a:tableStyleId>
              </a:tblPr>
              <a:tblGrid>
                <a:gridCol w="1719130"/>
                <a:gridCol w="598122"/>
                <a:gridCol w="598122"/>
                <a:gridCol w="598122"/>
                <a:gridCol w="598122"/>
                <a:gridCol w="598122"/>
                <a:gridCol w="598122"/>
                <a:gridCol w="598122"/>
                <a:gridCol w="598122"/>
                <a:gridCol w="598122"/>
                <a:gridCol w="598122"/>
                <a:gridCol w="598122"/>
                <a:gridCol w="598122"/>
                <a:gridCol w="598122"/>
                <a:gridCol w="598122"/>
                <a:gridCol w="598122"/>
                <a:gridCol w="598122"/>
                <a:gridCol w="598122"/>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Surface Finish</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68877" y="2080450"/>
            <a:ext cx="366712" cy="533400"/>
          </a:xfrm>
          <a:prstGeom prst="rect">
            <a:avLst/>
          </a:prstGeom>
        </p:spPr>
      </p:pic>
      <p:sp>
        <p:nvSpPr>
          <p:cNvPr id="21" name="TextBox 20"/>
          <p:cNvSpPr txBox="1"/>
          <p:nvPr/>
        </p:nvSpPr>
        <p:spPr>
          <a:xfrm>
            <a:off x="276225" y="3971925"/>
            <a:ext cx="3253358" cy="194310"/>
          </a:xfrm>
          <a:prstGeom prst="rect">
            <a:avLst/>
          </a:prstGeom>
          <a:noFill/>
        </p:spPr>
        <p:txBody>
          <a:bodyPr wrap="none" lIns="0" rIns="0" tIns="0" bIns="0">
            <a:spAutoFit/>
          </a:bodyPr>
          <a:lstStyle/>
          <a:p>
            <a:r>
              <a:rPr sz="1150" b="0">
                <a:solidFill>
                  <a:srgbClr val="2E2E2E"/>
                </a:solidFill>
                <a:latin typeface="Calibri"/>
              </a:rPr>
              <a:t>▪ 'Nut and seed-topped' is the largest surface finish at</a:t>
            </a:r>
          </a:p>
        </p:txBody>
      </p:sp>
      <p:pic>
        <p:nvPicPr>
          <p:cNvPr id="22" name="Picture 21" descr="lock.png"/>
          <p:cNvPicPr>
            <a:picLocks noChangeAspect="1"/>
          </p:cNvPicPr>
          <p:nvPr/>
        </p:nvPicPr>
        <p:blipFill>
          <a:blip r:embed="rId4"/>
          <a:stretch>
            <a:fillRect/>
          </a:stretch>
        </p:blipFill>
        <p:spPr>
          <a:xfrm>
            <a:off x="3478736" y="3961701"/>
            <a:ext cx="134549" cy="195707"/>
          </a:xfrm>
          <a:prstGeom prst="rect">
            <a:avLst/>
          </a:prstGeom>
        </p:spPr>
      </p:pic>
      <p:sp>
        <p:nvSpPr>
          <p:cNvPr id="23" name="TextBox 22"/>
          <p:cNvSpPr txBox="1"/>
          <p:nvPr/>
        </p:nvSpPr>
        <p:spPr>
          <a:xfrm>
            <a:off x="3653846" y="39719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559778" y="3961701"/>
            <a:ext cx="134549" cy="195707"/>
          </a:xfrm>
          <a:prstGeom prst="rect">
            <a:avLst/>
          </a:prstGeom>
        </p:spPr>
      </p:pic>
      <p:sp>
        <p:nvSpPr>
          <p:cNvPr id="25" name="TextBox 24"/>
          <p:cNvSpPr txBox="1"/>
          <p:nvPr/>
        </p:nvSpPr>
        <p:spPr>
          <a:xfrm>
            <a:off x="4734888" y="39719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199763"/>
            <a:ext cx="1944327" cy="194310"/>
          </a:xfrm>
          <a:prstGeom prst="rect">
            <a:avLst/>
          </a:prstGeom>
          <a:noFill/>
        </p:spPr>
        <p:txBody>
          <a:bodyPr wrap="none" lIns="0" rIns="0" tIns="0" bIns="0">
            <a:spAutoFit/>
          </a:bodyPr>
          <a:lstStyle/>
          <a:p>
            <a:r>
              <a:rPr sz="1150" b="0">
                <a:solidFill>
                  <a:srgbClr val="2E2E2E"/>
                </a:solidFill>
                <a:latin typeface="Calibri"/>
              </a:rPr>
              <a:t>▪ 'Other toppings' grows fastest</a:t>
            </a:r>
          </a:p>
        </p:txBody>
      </p:sp>
      <p:pic>
        <p:nvPicPr>
          <p:cNvPr id="27" name="Picture 26" descr="lock.png"/>
          <p:cNvPicPr>
            <a:picLocks noChangeAspect="1"/>
          </p:cNvPicPr>
          <p:nvPr/>
        </p:nvPicPr>
        <p:blipFill>
          <a:blip r:embed="rId4"/>
          <a:stretch>
            <a:fillRect/>
          </a:stretch>
        </p:blipFill>
        <p:spPr>
          <a:xfrm>
            <a:off x="2169706" y="4189539"/>
            <a:ext cx="134549" cy="195707"/>
          </a:xfrm>
          <a:prstGeom prst="rect">
            <a:avLst/>
          </a:prstGeom>
        </p:spPr>
      </p:pic>
      <p:sp>
        <p:nvSpPr>
          <p:cNvPr id="28" name="TextBox 27"/>
          <p:cNvSpPr txBox="1"/>
          <p:nvPr/>
        </p:nvSpPr>
        <p:spPr>
          <a:xfrm>
            <a:off x="2344816" y="41997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27600"/>
            <a:ext cx="2821198" cy="194310"/>
          </a:xfrm>
          <a:prstGeom prst="rect">
            <a:avLst/>
          </a:prstGeom>
          <a:noFill/>
        </p:spPr>
        <p:txBody>
          <a:bodyPr wrap="none" lIns="0" rIns="0" tIns="0" bIns="0">
            <a:spAutoFit/>
          </a:bodyPr>
          <a:lstStyle/>
          <a:p>
            <a:r>
              <a:rPr sz="1150" b="0">
                <a:solidFill>
                  <a:srgbClr val="2E2E2E"/>
                </a:solidFill>
                <a:latin typeface="Calibri"/>
              </a:rPr>
              <a:t>▪ Share shifts toward 'Nut and seed-topped' (+</a:t>
            </a:r>
          </a:p>
        </p:txBody>
      </p:sp>
      <p:pic>
        <p:nvPicPr>
          <p:cNvPr id="30" name="Picture 29" descr="lock.png"/>
          <p:cNvPicPr>
            <a:picLocks noChangeAspect="1"/>
          </p:cNvPicPr>
          <p:nvPr/>
        </p:nvPicPr>
        <p:blipFill>
          <a:blip r:embed="rId4"/>
          <a:stretch>
            <a:fillRect/>
          </a:stretch>
        </p:blipFill>
        <p:spPr>
          <a:xfrm>
            <a:off x="3046577" y="4417377"/>
            <a:ext cx="134549" cy="195707"/>
          </a:xfrm>
          <a:prstGeom prst="rect">
            <a:avLst/>
          </a:prstGeom>
        </p:spPr>
      </p:pic>
      <p:sp>
        <p:nvSpPr>
          <p:cNvPr id="31" name="TextBox 30"/>
          <p:cNvSpPr txBox="1"/>
          <p:nvPr/>
        </p:nvSpPr>
        <p:spPr>
          <a:xfrm>
            <a:off x="3221686" y="4427600"/>
            <a:ext cx="2291767" cy="194310"/>
          </a:xfrm>
          <a:prstGeom prst="rect">
            <a:avLst/>
          </a:prstGeom>
          <a:noFill/>
        </p:spPr>
        <p:txBody>
          <a:bodyPr wrap="none" lIns="0" rIns="0" tIns="0" bIns="0">
            <a:spAutoFit/>
          </a:bodyPr>
          <a:lstStyle/>
          <a:p>
            <a:r>
              <a:rPr sz="1150" b="0">
                <a:solidFill>
                  <a:srgbClr val="2E2E2E"/>
                </a:solidFill>
                <a:latin typeface="Calibri"/>
              </a:rPr>
              <a:t>BPS) and away from 'Sugar-topped' (-</a:t>
            </a:r>
          </a:p>
        </p:txBody>
      </p:sp>
      <p:pic>
        <p:nvPicPr>
          <p:cNvPr id="32" name="Picture 31" descr="lock.png"/>
          <p:cNvPicPr>
            <a:picLocks noChangeAspect="1"/>
          </p:cNvPicPr>
          <p:nvPr/>
        </p:nvPicPr>
        <p:blipFill>
          <a:blip r:embed="rId4"/>
          <a:stretch>
            <a:fillRect/>
          </a:stretch>
        </p:blipFill>
        <p:spPr>
          <a:xfrm>
            <a:off x="5462607" y="4417377"/>
            <a:ext cx="134549" cy="195707"/>
          </a:xfrm>
          <a:prstGeom prst="rect">
            <a:avLst/>
          </a:prstGeom>
        </p:spPr>
      </p:pic>
      <p:sp>
        <p:nvSpPr>
          <p:cNvPr id="33" name="TextBox 32"/>
          <p:cNvSpPr txBox="1"/>
          <p:nvPr/>
        </p:nvSpPr>
        <p:spPr>
          <a:xfrm>
            <a:off x="5637716" y="44276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554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645215"/>
            <a:ext cx="134549" cy="195707"/>
          </a:xfrm>
          <a:prstGeom prst="rect">
            <a:avLst/>
          </a:prstGeom>
        </p:spPr>
      </p:pic>
      <p:sp>
        <p:nvSpPr>
          <p:cNvPr id="36" name="TextBox 35"/>
          <p:cNvSpPr txBox="1"/>
          <p:nvPr/>
        </p:nvSpPr>
        <p:spPr>
          <a:xfrm>
            <a:off x="1841342" y="46554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645215"/>
            <a:ext cx="134549" cy="195707"/>
          </a:xfrm>
          <a:prstGeom prst="rect">
            <a:avLst/>
          </a:prstGeom>
        </p:spPr>
      </p:pic>
      <p:sp>
        <p:nvSpPr>
          <p:cNvPr id="38" name="TextBox 37"/>
          <p:cNvSpPr txBox="1"/>
          <p:nvPr/>
        </p:nvSpPr>
        <p:spPr>
          <a:xfrm>
            <a:off x="2167888" y="4655438"/>
            <a:ext cx="1744079" cy="194310"/>
          </a:xfrm>
          <a:prstGeom prst="rect">
            <a:avLst/>
          </a:prstGeom>
          <a:noFill/>
        </p:spPr>
        <p:txBody>
          <a:bodyPr wrap="none" lIns="0" rIns="0" tIns="0" bIns="0">
            <a:spAutoFit/>
          </a:bodyPr>
          <a:lstStyle/>
          <a:p>
            <a:r>
              <a:rPr sz="1150" b="0">
                <a:solidFill>
                  <a:srgbClr val="2E2E2E"/>
                </a:solidFill>
                <a:latin typeface="Calibri"/>
              </a:rPr>
              <a:t>US$ Mn across 6 categories.</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Surface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Surface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Surface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8496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8020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040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Crumb / streusel-topped</a:t>
            </a:r>
          </a:p>
        </p:txBody>
      </p:sp>
      <p:sp>
        <p:nvSpPr>
          <p:cNvPr id="19" name="BPS Value 1"/>
          <p:cNvSpPr txBox="1"/>
          <p:nvPr/>
        </p:nvSpPr>
        <p:spPr>
          <a:xfrm>
            <a:off x="6896100" y="176591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05955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5479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785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Untopped</a:t>
            </a:r>
          </a:p>
        </p:txBody>
      </p:sp>
      <p:sp>
        <p:nvSpPr>
          <p:cNvPr id="23" name="BPS Value 2"/>
          <p:cNvSpPr txBox="1"/>
          <p:nvPr/>
        </p:nvSpPr>
        <p:spPr>
          <a:xfrm>
            <a:off x="6896100" y="204050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41697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4122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360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Sugar-topped</a:t>
            </a:r>
          </a:p>
        </p:txBody>
      </p:sp>
      <p:sp>
        <p:nvSpPr>
          <p:cNvPr id="27" name="BPS Value 3"/>
          <p:cNvSpPr txBox="1"/>
          <p:nvPr/>
        </p:nvSpPr>
        <p:spPr>
          <a:xfrm>
            <a:off x="6896100" y="23979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285648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517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755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toppings</a:t>
            </a:r>
          </a:p>
        </p:txBody>
      </p:sp>
      <p:sp>
        <p:nvSpPr>
          <p:cNvPr id="31" name="BPS Value 4"/>
          <p:cNvSpPr txBox="1"/>
          <p:nvPr/>
        </p:nvSpPr>
        <p:spPr>
          <a:xfrm>
            <a:off x="6896100" y="283743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378836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7835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7073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Glazed / drizzled</a:t>
            </a:r>
          </a:p>
        </p:txBody>
      </p:sp>
      <p:sp>
        <p:nvSpPr>
          <p:cNvPr id="35" name="BPS Value 5"/>
          <p:cNvSpPr txBox="1"/>
          <p:nvPr/>
        </p:nvSpPr>
        <p:spPr>
          <a:xfrm>
            <a:off x="6896100" y="376931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928997" y="536045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35568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2794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Nut and seed-topped</a:t>
            </a:r>
          </a:p>
        </p:txBody>
      </p:sp>
      <p:sp>
        <p:nvSpPr>
          <p:cNvPr id="39" name="BPS Value 6"/>
          <p:cNvSpPr txBox="1"/>
          <p:nvPr/>
        </p:nvSpPr>
        <p:spPr>
          <a:xfrm>
            <a:off x="6896100" y="53414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Surface Finish</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5" name="Picture 44" descr="lock.png"/>
          <p:cNvPicPr>
            <a:picLocks noChangeAspect="1"/>
          </p:cNvPicPr>
          <p:nvPr/>
        </p:nvPicPr>
        <p:blipFill>
          <a:blip r:embed="rId5"/>
          <a:stretch>
            <a:fillRect/>
          </a:stretch>
        </p:blipFill>
        <p:spPr>
          <a:xfrm>
            <a:off x="2557843" y="3833622"/>
            <a:ext cx="275034" cy="400050"/>
          </a:xfrm>
          <a:prstGeom prst="rect">
            <a:avLst/>
          </a:prstGeom>
        </p:spPr>
      </p:pic>
      <p:sp>
        <p:nvSpPr>
          <p:cNvPr id="46" name="TextBox 45"/>
          <p:cNvSpPr txBox="1"/>
          <p:nvPr/>
        </p:nvSpPr>
        <p:spPr>
          <a:xfrm>
            <a:off x="7829550" y="1400175"/>
            <a:ext cx="2858281" cy="194310"/>
          </a:xfrm>
          <a:prstGeom prst="rect">
            <a:avLst/>
          </a:prstGeom>
          <a:noFill/>
        </p:spPr>
        <p:txBody>
          <a:bodyPr wrap="none" lIns="0" rIns="0" tIns="0" bIns="0">
            <a:spAutoFit/>
          </a:bodyPr>
          <a:lstStyle/>
          <a:p>
            <a:r>
              <a:rPr sz="1150" b="0">
                <a:solidFill>
                  <a:srgbClr val="2E2E2E"/>
                </a:solidFill>
                <a:latin typeface="Calibri"/>
              </a:rPr>
              <a:t>▪ 'Nut and seed-topped' gains the most share +</a:t>
            </a:r>
          </a:p>
        </p:txBody>
      </p:sp>
      <p:pic>
        <p:nvPicPr>
          <p:cNvPr id="47" name="Picture 46" descr="lock.png"/>
          <p:cNvPicPr>
            <a:picLocks noChangeAspect="1"/>
          </p:cNvPicPr>
          <p:nvPr/>
        </p:nvPicPr>
        <p:blipFill>
          <a:blip r:embed="rId5"/>
          <a:stretch>
            <a:fillRect/>
          </a:stretch>
        </p:blipFill>
        <p:spPr>
          <a:xfrm>
            <a:off x="10636985" y="1389951"/>
            <a:ext cx="134549" cy="195707"/>
          </a:xfrm>
          <a:prstGeom prst="rect">
            <a:avLst/>
          </a:prstGeom>
        </p:spPr>
      </p:pic>
      <p:sp>
        <p:nvSpPr>
          <p:cNvPr id="48" name="TextBox 47"/>
          <p:cNvSpPr txBox="1"/>
          <p:nvPr/>
        </p:nvSpPr>
        <p:spPr>
          <a:xfrm>
            <a:off x="10812094"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49" name="TextBox 48"/>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50" name="TextBox 49"/>
          <p:cNvSpPr txBox="1"/>
          <p:nvPr/>
        </p:nvSpPr>
        <p:spPr>
          <a:xfrm>
            <a:off x="7829550" y="1803273"/>
            <a:ext cx="2049301" cy="194310"/>
          </a:xfrm>
          <a:prstGeom prst="rect">
            <a:avLst/>
          </a:prstGeom>
          <a:noFill/>
        </p:spPr>
        <p:txBody>
          <a:bodyPr wrap="none" lIns="0" rIns="0" tIns="0" bIns="0">
            <a:spAutoFit/>
          </a:bodyPr>
          <a:lstStyle/>
          <a:p>
            <a:r>
              <a:rPr sz="1150" b="0">
                <a:solidFill>
                  <a:srgbClr val="2E2E2E"/>
                </a:solidFill>
                <a:latin typeface="Calibri"/>
              </a:rPr>
              <a:t>▪ 'Sugar-topped' cedes the most -</a:t>
            </a:r>
          </a:p>
        </p:txBody>
      </p:sp>
      <p:pic>
        <p:nvPicPr>
          <p:cNvPr id="51" name="Picture 50" descr="lock.png"/>
          <p:cNvPicPr>
            <a:picLocks noChangeAspect="1"/>
          </p:cNvPicPr>
          <p:nvPr/>
        </p:nvPicPr>
        <p:blipFill>
          <a:blip r:embed="rId5"/>
          <a:stretch>
            <a:fillRect/>
          </a:stretch>
        </p:blipFill>
        <p:spPr>
          <a:xfrm>
            <a:off x="9828005" y="1793049"/>
            <a:ext cx="134549" cy="195707"/>
          </a:xfrm>
          <a:prstGeom prst="rect">
            <a:avLst/>
          </a:prstGeom>
        </p:spPr>
      </p:pic>
      <p:sp>
        <p:nvSpPr>
          <p:cNvPr id="52" name="TextBox 51"/>
          <p:cNvSpPr txBox="1"/>
          <p:nvPr/>
        </p:nvSpPr>
        <p:spPr>
          <a:xfrm>
            <a:off x="10003114"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53" name="TextBox 52"/>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54" name="TextBox 53"/>
          <p:cNvSpPr txBox="1"/>
          <p:nvPr/>
        </p:nvSpPr>
        <p:spPr>
          <a:xfrm>
            <a:off x="7829550" y="2206371"/>
            <a:ext cx="3407965" cy="194310"/>
          </a:xfrm>
          <a:prstGeom prst="rect">
            <a:avLst/>
          </a:prstGeom>
          <a:noFill/>
        </p:spPr>
        <p:txBody>
          <a:bodyPr wrap="none" lIns="0" rIns="0" tIns="0" bIns="0">
            <a:spAutoFit/>
          </a:bodyPr>
          <a:lstStyle/>
          <a:p>
            <a:r>
              <a:rPr sz="1150" b="0">
                <a:solidFill>
                  <a:srgbClr val="2E2E2E"/>
                </a:solidFill>
                <a:latin typeface="Calibri"/>
              </a:rPr>
              <a:t>▪ 'Other toppings' is the fastest-growing surface finish at</a:t>
            </a:r>
          </a:p>
        </p:txBody>
      </p:sp>
      <p:pic>
        <p:nvPicPr>
          <p:cNvPr id="55" name="Picture 54" descr="lock.png"/>
          <p:cNvPicPr>
            <a:picLocks noChangeAspect="1"/>
          </p:cNvPicPr>
          <p:nvPr/>
        </p:nvPicPr>
        <p:blipFill>
          <a:blip r:embed="rId5"/>
          <a:stretch>
            <a:fillRect/>
          </a:stretch>
        </p:blipFill>
        <p:spPr>
          <a:xfrm>
            <a:off x="11186669" y="2196147"/>
            <a:ext cx="134549" cy="195707"/>
          </a:xfrm>
          <a:prstGeom prst="rect">
            <a:avLst/>
          </a:prstGeom>
        </p:spPr>
      </p:pic>
      <p:sp>
        <p:nvSpPr>
          <p:cNvPr id="56" name="TextBox 55"/>
          <p:cNvSpPr txBox="1"/>
          <p:nvPr/>
        </p:nvSpPr>
        <p:spPr>
          <a:xfrm>
            <a:off x="11361778"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58" name="TextBox 57"/>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9" name="Picture 58" descr="lock.png"/>
          <p:cNvPicPr>
            <a:picLocks noChangeAspect="1"/>
          </p:cNvPicPr>
          <p:nvPr/>
        </p:nvPicPr>
        <p:blipFill>
          <a:blip r:embed="rId5"/>
          <a:stretch>
            <a:fillRect/>
          </a:stretch>
        </p:blipFill>
        <p:spPr>
          <a:xfrm>
            <a:off x="9327669" y="2599245"/>
            <a:ext cx="134549" cy="195707"/>
          </a:xfrm>
          <a:prstGeom prst="rect">
            <a:avLst/>
          </a:prstGeom>
        </p:spPr>
      </p:pic>
      <p:sp>
        <p:nvSpPr>
          <p:cNvPr id="60" name="TextBox 59"/>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1" name="Picture 60" descr="lock.png"/>
          <p:cNvPicPr>
            <a:picLocks noChangeAspect="1"/>
          </p:cNvPicPr>
          <p:nvPr/>
        </p:nvPicPr>
        <p:blipFill>
          <a:blip r:embed="rId5"/>
          <a:stretch>
            <a:fillRect/>
          </a:stretch>
        </p:blipFill>
        <p:spPr>
          <a:xfrm>
            <a:off x="9654215" y="2599245"/>
            <a:ext cx="134549" cy="195707"/>
          </a:xfrm>
          <a:prstGeom prst="rect">
            <a:avLst/>
          </a:prstGeom>
        </p:spPr>
      </p:pic>
      <p:sp>
        <p:nvSpPr>
          <p:cNvPr id="62" name="TextBox 61"/>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63" name="TextBox 62"/>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64" name="TextBox 63"/>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6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Surface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Surface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8"/>
        </p:xfrm>
        <a:graphic>
          <a:graphicData uri="http://schemas.openxmlformats.org/drawingml/2006/table">
            <a:tbl>
              <a:tblPr>
                <a:tableStyleId>{5C22544A-7EE6-4342-B048-85BDC9FD1C3A}</a:tableStyleId>
              </a:tblPr>
              <a:tblGrid>
                <a:gridCol w="1878323"/>
                <a:gridCol w="667258"/>
                <a:gridCol w="667258"/>
                <a:gridCol w="667258"/>
                <a:gridCol w="667258"/>
                <a:gridCol w="667258"/>
                <a:gridCol w="667258"/>
                <a:gridCol w="667258"/>
                <a:gridCol w="667258"/>
                <a:gridCol w="667258"/>
                <a:gridCol w="667258"/>
                <a:gridCol w="667258"/>
                <a:gridCol w="667258"/>
                <a:gridCol w="667258"/>
                <a:gridCol w="667258"/>
                <a:gridCol w="66725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Surface Finish (%)  ·  light = lower, dark = higher growth</a:t>
            </a:r>
          </a:p>
        </p:txBody>
      </p:sp>
      <p:sp>
        <p:nvSpPr>
          <p:cNvPr id="17" name="TextBox 16"/>
          <p:cNvSpPr txBox="1"/>
          <p:nvPr/>
        </p:nvSpPr>
        <p:spPr>
          <a:xfrm>
            <a:off x="18573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sp>
        <p:nvSpPr>
          <p:cNvPr id="33" name="Rectangle 32"/>
          <p:cNvSpPr/>
          <p:nvPr/>
        </p:nvSpPr>
        <p:spPr>
          <a:xfrm>
            <a:off x="1857375" y="3733800"/>
            <a:ext cx="643890" cy="47307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733800"/>
            <a:ext cx="643890" cy="47307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733800"/>
            <a:ext cx="643890" cy="473075"/>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733800"/>
            <a:ext cx="643890" cy="47307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733800"/>
            <a:ext cx="643890"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733800"/>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73380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733800"/>
            <a:ext cx="643890" cy="47307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733800"/>
            <a:ext cx="643890"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733800"/>
            <a:ext cx="643890" cy="47307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73380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73380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73380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733800"/>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733800"/>
            <a:ext cx="643890" cy="47307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sp>
        <p:nvSpPr>
          <p:cNvPr id="49" name="Rectangle 48"/>
          <p:cNvSpPr/>
          <p:nvPr/>
        </p:nvSpPr>
        <p:spPr>
          <a:xfrm>
            <a:off x="1857375" y="4206875"/>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06875"/>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06875"/>
            <a:ext cx="643890"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06875"/>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06875"/>
            <a:ext cx="643890" cy="47307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06875"/>
            <a:ext cx="643890" cy="47307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06875"/>
            <a:ext cx="643890" cy="473075"/>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06875"/>
            <a:ext cx="643890" cy="47307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06875"/>
            <a:ext cx="643890" cy="47307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06875"/>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06875"/>
            <a:ext cx="643890" cy="47307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06875"/>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06875"/>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06875"/>
            <a:ext cx="643890" cy="47307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06875"/>
            <a:ext cx="643890"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sp>
        <p:nvSpPr>
          <p:cNvPr id="65" name="Rectangle 64"/>
          <p:cNvSpPr/>
          <p:nvPr/>
        </p:nvSpPr>
        <p:spPr>
          <a:xfrm>
            <a:off x="1857375" y="4679950"/>
            <a:ext cx="643890" cy="47307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79950"/>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7995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7995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7995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79950"/>
            <a:ext cx="643890" cy="47307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79950"/>
            <a:ext cx="643890"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79950"/>
            <a:ext cx="643890" cy="47307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79950"/>
            <a:ext cx="643890"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79950"/>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79950"/>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79950"/>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79950"/>
            <a:ext cx="643890" cy="47307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79950"/>
            <a:ext cx="643890" cy="47307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79950"/>
            <a:ext cx="643890" cy="47307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sp>
        <p:nvSpPr>
          <p:cNvPr id="81" name="Rectangle 80"/>
          <p:cNvSpPr/>
          <p:nvPr/>
        </p:nvSpPr>
        <p:spPr>
          <a:xfrm>
            <a:off x="1857375" y="5153025"/>
            <a:ext cx="643890" cy="473075"/>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53025"/>
            <a:ext cx="643890" cy="473075"/>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5302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53025"/>
            <a:ext cx="643890" cy="473075"/>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53025"/>
            <a:ext cx="643890" cy="473075"/>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53025"/>
            <a:ext cx="643890" cy="47307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53025"/>
            <a:ext cx="643890" cy="47307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53025"/>
            <a:ext cx="643890" cy="47307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53025"/>
            <a:ext cx="643890" cy="47307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5302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53025"/>
            <a:ext cx="643890" cy="47307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5302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53025"/>
            <a:ext cx="643890" cy="47307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53025"/>
            <a:ext cx="643890"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53025"/>
            <a:ext cx="643890" cy="47307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sp>
        <p:nvSpPr>
          <p:cNvPr id="97" name="Rectangle 96"/>
          <p:cNvSpPr/>
          <p:nvPr/>
        </p:nvSpPr>
        <p:spPr>
          <a:xfrm>
            <a:off x="1857375" y="5626100"/>
            <a:ext cx="643890" cy="473075"/>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626100"/>
            <a:ext cx="643890" cy="47307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626100"/>
            <a:ext cx="643890" cy="47307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626100"/>
            <a:ext cx="643890" cy="47307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626100"/>
            <a:ext cx="643890" cy="47307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626100"/>
            <a:ext cx="643890" cy="473075"/>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626100"/>
            <a:ext cx="643890" cy="47307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626100"/>
            <a:ext cx="643890" cy="473075"/>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626100"/>
            <a:ext cx="643890"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626100"/>
            <a:ext cx="643890" cy="473075"/>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626100"/>
            <a:ext cx="643890"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626100"/>
            <a:ext cx="643890" cy="473075"/>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626100"/>
            <a:ext cx="643890" cy="473075"/>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113" name="Rectangle 112"/>
          <p:cNvSpPr/>
          <p:nvPr/>
        </p:nvSpPr>
        <p:spPr>
          <a:xfrm>
            <a:off x="1857375" y="6099175"/>
            <a:ext cx="643890" cy="473075"/>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6099175"/>
            <a:ext cx="643890" cy="47307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6099175"/>
            <a:ext cx="643890" cy="473075"/>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609917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609917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6099175"/>
            <a:ext cx="643890"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6099175"/>
            <a:ext cx="643890" cy="47307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6099175"/>
            <a:ext cx="643890" cy="47307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6099175"/>
            <a:ext cx="643890" cy="47307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6099175"/>
            <a:ext cx="643890" cy="47307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6099175"/>
            <a:ext cx="643890" cy="47307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6099175"/>
            <a:ext cx="643890" cy="47307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609917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6099175"/>
            <a:ext cx="643890" cy="47307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609917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6848467" y="1956627"/>
            <a:ext cx="366712" cy="533400"/>
          </a:xfrm>
          <a:prstGeom prst="rect">
            <a:avLst/>
          </a:prstGeom>
        </p:spPr>
      </p:pic>
      <p:pic>
        <p:nvPicPr>
          <p:cNvPr id="174" name="Picture 173" descr="lock.png"/>
          <p:cNvPicPr>
            <a:picLocks noChangeAspect="1"/>
          </p:cNvPicPr>
          <p:nvPr/>
        </p:nvPicPr>
        <p:blipFill>
          <a:blip r:embed="rId4"/>
          <a:stretch>
            <a:fillRect/>
          </a:stretch>
        </p:blipFill>
        <p:spPr>
          <a:xfrm>
            <a:off x="11760938" y="3678301"/>
            <a:ext cx="128699" cy="187198"/>
          </a:xfrm>
          <a:prstGeom prst="rect">
            <a:avLst/>
          </a:prstGeom>
        </p:spPr>
      </p:pic>
      <p:pic>
        <p:nvPicPr>
          <p:cNvPr id="175" name="Picture 174" descr="lock.png"/>
          <p:cNvPicPr>
            <a:picLocks noChangeAspect="1"/>
          </p:cNvPicPr>
          <p:nvPr/>
        </p:nvPicPr>
        <p:blipFill>
          <a:blip r:embed="rId4"/>
          <a:stretch>
            <a:fillRect/>
          </a:stretch>
        </p:blipFill>
        <p:spPr>
          <a:xfrm>
            <a:off x="11760938" y="5059426"/>
            <a:ext cx="128699" cy="187198"/>
          </a:xfrm>
          <a:prstGeom prst="rect">
            <a:avLst/>
          </a:prstGeom>
        </p:spPr>
      </p:pic>
      <p:pic>
        <p:nvPicPr>
          <p:cNvPr id="176" name="Picture 17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Surface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Surface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8"/>
        </p:xfrm>
        <a:graphic>
          <a:graphicData uri="http://schemas.openxmlformats.org/drawingml/2006/table">
            <a:tbl>
              <a:tblPr>
                <a:tableStyleId>{5C22544A-7EE6-4342-B048-85BDC9FD1C3A}</a:tableStyleId>
              </a:tblPr>
              <a:tblGrid>
                <a:gridCol w="1878323"/>
                <a:gridCol w="667258"/>
                <a:gridCol w="667258"/>
                <a:gridCol w="667258"/>
                <a:gridCol w="667258"/>
                <a:gridCol w="667258"/>
                <a:gridCol w="667258"/>
                <a:gridCol w="667258"/>
                <a:gridCol w="667258"/>
                <a:gridCol w="667258"/>
                <a:gridCol w="667258"/>
                <a:gridCol w="667258"/>
                <a:gridCol w="667258"/>
                <a:gridCol w="667258"/>
                <a:gridCol w="667258"/>
                <a:gridCol w="66725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Surface Finish (%)  ·  light = lower, dark = higher growth</a:t>
            </a:r>
          </a:p>
        </p:txBody>
      </p:sp>
      <p:sp>
        <p:nvSpPr>
          <p:cNvPr id="17" name="TextBox 16"/>
          <p:cNvSpPr txBox="1"/>
          <p:nvPr/>
        </p:nvSpPr>
        <p:spPr>
          <a:xfrm>
            <a:off x="18573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sp>
        <p:nvSpPr>
          <p:cNvPr id="33" name="Rectangle 32"/>
          <p:cNvSpPr/>
          <p:nvPr/>
        </p:nvSpPr>
        <p:spPr>
          <a:xfrm>
            <a:off x="1857375" y="3733800"/>
            <a:ext cx="643890" cy="47307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733800"/>
            <a:ext cx="643890" cy="47307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733800"/>
            <a:ext cx="643890" cy="47307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733800"/>
            <a:ext cx="643890" cy="47307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733800"/>
            <a:ext cx="643890"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733800"/>
            <a:ext cx="643890" cy="47307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73380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733800"/>
            <a:ext cx="643890" cy="47307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733800"/>
            <a:ext cx="643890"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733800"/>
            <a:ext cx="643890" cy="47307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73380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73380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73380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733800"/>
            <a:ext cx="643890" cy="47307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733800"/>
            <a:ext cx="643890" cy="47307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sp>
        <p:nvSpPr>
          <p:cNvPr id="49" name="Rectangle 48"/>
          <p:cNvSpPr/>
          <p:nvPr/>
        </p:nvSpPr>
        <p:spPr>
          <a:xfrm>
            <a:off x="1857375" y="4206875"/>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06875"/>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06875"/>
            <a:ext cx="643890"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06875"/>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06875"/>
            <a:ext cx="643890" cy="47307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06875"/>
            <a:ext cx="643890" cy="47307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06875"/>
            <a:ext cx="643890" cy="473075"/>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06875"/>
            <a:ext cx="643890" cy="47307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06875"/>
            <a:ext cx="643890" cy="47307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06875"/>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06875"/>
            <a:ext cx="643890" cy="47307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06875"/>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06875"/>
            <a:ext cx="643890" cy="473075"/>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06875"/>
            <a:ext cx="643890" cy="47307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06875"/>
            <a:ext cx="643890"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sp>
        <p:nvSpPr>
          <p:cNvPr id="65" name="Rectangle 64"/>
          <p:cNvSpPr/>
          <p:nvPr/>
        </p:nvSpPr>
        <p:spPr>
          <a:xfrm>
            <a:off x="1857375" y="4679950"/>
            <a:ext cx="643890" cy="47307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79950"/>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7995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7995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7995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79950"/>
            <a:ext cx="643890"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79950"/>
            <a:ext cx="643890"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79950"/>
            <a:ext cx="643890" cy="47307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79950"/>
            <a:ext cx="643890"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79950"/>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79950"/>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79950"/>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79950"/>
            <a:ext cx="643890" cy="47307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79950"/>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79950"/>
            <a:ext cx="643890" cy="47307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sp>
        <p:nvSpPr>
          <p:cNvPr id="81" name="Rectangle 80"/>
          <p:cNvSpPr/>
          <p:nvPr/>
        </p:nvSpPr>
        <p:spPr>
          <a:xfrm>
            <a:off x="1857375" y="5153025"/>
            <a:ext cx="643890" cy="473075"/>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5302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5302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53025"/>
            <a:ext cx="643890" cy="473075"/>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53025"/>
            <a:ext cx="643890" cy="473075"/>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53025"/>
            <a:ext cx="643890" cy="47307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53025"/>
            <a:ext cx="643890" cy="47307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53025"/>
            <a:ext cx="643890" cy="47307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53025"/>
            <a:ext cx="643890" cy="47307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53025"/>
            <a:ext cx="643890" cy="47307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5302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53025"/>
            <a:ext cx="643890" cy="47307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53025"/>
            <a:ext cx="643890"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53025"/>
            <a:ext cx="643890" cy="47307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53025"/>
            <a:ext cx="643890" cy="473075"/>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sp>
        <p:nvSpPr>
          <p:cNvPr id="97" name="Rectangle 96"/>
          <p:cNvSpPr/>
          <p:nvPr/>
        </p:nvSpPr>
        <p:spPr>
          <a:xfrm>
            <a:off x="1857375" y="5626100"/>
            <a:ext cx="643890" cy="47307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626100"/>
            <a:ext cx="643890" cy="47307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626100"/>
            <a:ext cx="643890" cy="47307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626100"/>
            <a:ext cx="643890" cy="47307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626100"/>
            <a:ext cx="643890" cy="47307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626100"/>
            <a:ext cx="643890" cy="47307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626100"/>
            <a:ext cx="643890"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626100"/>
            <a:ext cx="643890"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626100"/>
            <a:ext cx="643890"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626100"/>
            <a:ext cx="643890"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626100"/>
            <a:ext cx="643890" cy="47307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626100"/>
            <a:ext cx="643890" cy="473075"/>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113" name="Rectangle 112"/>
          <p:cNvSpPr/>
          <p:nvPr/>
        </p:nvSpPr>
        <p:spPr>
          <a:xfrm>
            <a:off x="1857375" y="6099175"/>
            <a:ext cx="643890" cy="473075"/>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6099175"/>
            <a:ext cx="643890" cy="47307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6099175"/>
            <a:ext cx="643890" cy="473075"/>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609917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609917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6099175"/>
            <a:ext cx="643890"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6099175"/>
            <a:ext cx="643890" cy="47307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6099175"/>
            <a:ext cx="643890" cy="47307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6099175"/>
            <a:ext cx="643890" cy="47307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6099175"/>
            <a:ext cx="643890" cy="47307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6099175"/>
            <a:ext cx="643890" cy="47307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6099175"/>
            <a:ext cx="643890" cy="47307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609917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6099175"/>
            <a:ext cx="643890" cy="47307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609917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6848467" y="1956627"/>
            <a:ext cx="366712" cy="533400"/>
          </a:xfrm>
          <a:prstGeom prst="rect">
            <a:avLst/>
          </a:prstGeom>
        </p:spPr>
      </p:pic>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Individual Muffin Size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Individual Muffin Size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Individual Muffin Size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Individual Muffin Size,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Individual Muffin Size segment categorizes the market by individual muffin size.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- 60 g to below 100 g</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Small - 30 g to below 60 g</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Large / jumbo - 100 g and above</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Mini / bite-sized - below 30 g</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Individual Muffin Size split shows how demand is distributed across individual muffin size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_641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7_553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_105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4_146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9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_504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4_79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7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649_9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_253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'Standard - 60 g to below 100 g' holds the largest</a:t>
            </a:r>
          </a:p>
        </p:txBody>
      </p:sp>
      <p:sp>
        <p:nvSpPr>
          <p:cNvPr id="81" name="TextBox 80"/>
          <p:cNvSpPr txBox="1"/>
          <p:nvPr/>
        </p:nvSpPr>
        <p:spPr>
          <a:xfrm>
            <a:off x="485775" y="4397077"/>
            <a:ext cx="842094" cy="186689"/>
          </a:xfrm>
          <a:prstGeom prst="rect">
            <a:avLst/>
          </a:prstGeom>
          <a:noFill/>
        </p:spPr>
        <p:txBody>
          <a:bodyPr wrap="none" lIns="0" rIns="0" tIns="0" bIns="0">
            <a:spAutoFit/>
          </a:bodyPr>
          <a:lstStyle/>
          <a:p>
            <a:r>
              <a:rPr sz="1100" b="0">
                <a:solidFill>
                  <a:srgbClr val="2E2E2E"/>
                </a:solidFill>
                <a:latin typeface="Calibri"/>
              </a:rPr>
              <a:t>share in 2026</a:t>
            </a:r>
          </a:p>
        </p:txBody>
      </p:sp>
      <p:pic>
        <p:nvPicPr>
          <p:cNvPr id="82" name="Picture 81" descr="lock.png"/>
          <p:cNvPicPr>
            <a:picLocks noChangeAspect="1"/>
          </p:cNvPicPr>
          <p:nvPr/>
        </p:nvPicPr>
        <p:blipFill>
          <a:blip r:embed="rId16"/>
          <a:stretch>
            <a:fillRect/>
          </a:stretch>
        </p:blipFill>
        <p:spPr>
          <a:xfrm>
            <a:off x="1275920" y="4387298"/>
            <a:ext cx="128699" cy="187198"/>
          </a:xfrm>
          <a:prstGeom prst="rect">
            <a:avLst/>
          </a:prstGeom>
        </p:spPr>
      </p:pic>
      <p:sp>
        <p:nvSpPr>
          <p:cNvPr id="83" name="TextBox 82"/>
          <p:cNvSpPr txBox="1"/>
          <p:nvPr/>
        </p:nvSpPr>
        <p:spPr>
          <a:xfrm>
            <a:off x="1443416"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4" name="TextBox 83"/>
          <p:cNvSpPr txBox="1"/>
          <p:nvPr/>
        </p:nvSpPr>
        <p:spPr>
          <a:xfrm>
            <a:off x="485775" y="4615009"/>
            <a:ext cx="2209080" cy="186689"/>
          </a:xfrm>
          <a:prstGeom prst="rect">
            <a:avLst/>
          </a:prstGeom>
          <a:noFill/>
        </p:spPr>
        <p:txBody>
          <a:bodyPr wrap="none" lIns="0" rIns="0" tIns="0" bIns="0">
            <a:spAutoFit/>
          </a:bodyPr>
          <a:lstStyle/>
          <a:p>
            <a:r>
              <a:rPr sz="1100" b="0">
                <a:solidFill>
                  <a:srgbClr val="2E2E2E"/>
                </a:solidFill>
                <a:latin typeface="Calibri"/>
              </a:rPr>
              <a:t>▪ 'Mini / bite-sized - below 30 g' is the</a:t>
            </a:r>
          </a:p>
        </p:txBody>
      </p:sp>
      <p:sp>
        <p:nvSpPr>
          <p:cNvPr id="85" name="TextBox 84"/>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86" name="Picture 85" descr="lock.png"/>
          <p:cNvPicPr>
            <a:picLocks noChangeAspect="1"/>
          </p:cNvPicPr>
          <p:nvPr/>
        </p:nvPicPr>
        <p:blipFill>
          <a:blip r:embed="rId16"/>
          <a:stretch>
            <a:fillRect/>
          </a:stretch>
        </p:blipFill>
        <p:spPr>
          <a:xfrm>
            <a:off x="2307026" y="4772870"/>
            <a:ext cx="128699" cy="187198"/>
          </a:xfrm>
          <a:prstGeom prst="rect">
            <a:avLst/>
          </a:prstGeom>
        </p:spPr>
      </p:pic>
      <p:sp>
        <p:nvSpPr>
          <p:cNvPr id="87" name="TextBox 86"/>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88" name="TextBox 87"/>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9" name="TextBox 88"/>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90" name="Picture 89" descr="lock.png"/>
          <p:cNvPicPr>
            <a:picLocks noChangeAspect="1"/>
          </p:cNvPicPr>
          <p:nvPr/>
        </p:nvPicPr>
        <p:blipFill>
          <a:blip r:embed="rId16"/>
          <a:stretch>
            <a:fillRect/>
          </a:stretch>
        </p:blipFill>
        <p:spPr>
          <a:xfrm>
            <a:off x="2240451" y="5158441"/>
            <a:ext cx="128699" cy="187198"/>
          </a:xfrm>
          <a:prstGeom prst="rect">
            <a:avLst/>
          </a:prstGeom>
        </p:spPr>
      </p:pic>
      <p:sp>
        <p:nvSpPr>
          <p:cNvPr id="91" name="TextBox 90"/>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2" name="Picture 91" descr="lock.png"/>
          <p:cNvPicPr>
            <a:picLocks noChangeAspect="1"/>
          </p:cNvPicPr>
          <p:nvPr/>
        </p:nvPicPr>
        <p:blipFill>
          <a:blip r:embed="rId16"/>
          <a:stretch>
            <a:fillRect/>
          </a:stretch>
        </p:blipFill>
        <p:spPr>
          <a:xfrm>
            <a:off x="2552799" y="5158441"/>
            <a:ext cx="128699" cy="187198"/>
          </a:xfrm>
          <a:prstGeom prst="rect">
            <a:avLst/>
          </a:prstGeom>
        </p:spPr>
      </p:pic>
      <p:sp>
        <p:nvSpPr>
          <p:cNvPr id="93" name="TextBox 92"/>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4" name="TextBox 93"/>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5" name="TextBox 94"/>
          <p:cNvSpPr txBox="1"/>
          <p:nvPr/>
        </p:nvSpPr>
        <p:spPr>
          <a:xfrm>
            <a:off x="485775" y="5553793"/>
            <a:ext cx="2784524" cy="186689"/>
          </a:xfrm>
          <a:prstGeom prst="rect">
            <a:avLst/>
          </a:prstGeom>
          <a:noFill/>
        </p:spPr>
        <p:txBody>
          <a:bodyPr wrap="none" lIns="0" rIns="0" tIns="0" bIns="0">
            <a:spAutoFit/>
          </a:bodyPr>
          <a:lstStyle/>
          <a:p>
            <a:r>
              <a:rPr sz="1100" b="0">
                <a:solidFill>
                  <a:srgbClr val="2E2E2E"/>
                </a:solidFill>
                <a:latin typeface="Calibri"/>
              </a:rPr>
              <a:t>▪ 4 sub-segments make up the individual muffin</a:t>
            </a:r>
          </a:p>
        </p:txBody>
      </p:sp>
      <p:sp>
        <p:nvSpPr>
          <p:cNvPr id="96" name="TextBox 95"/>
          <p:cNvSpPr txBox="1"/>
          <p:nvPr/>
        </p:nvSpPr>
        <p:spPr>
          <a:xfrm>
            <a:off x="485775" y="5721433"/>
            <a:ext cx="923949" cy="186689"/>
          </a:xfrm>
          <a:prstGeom prst="rect">
            <a:avLst/>
          </a:prstGeom>
          <a:noFill/>
        </p:spPr>
        <p:txBody>
          <a:bodyPr wrap="none" lIns="0" rIns="0" tIns="0" bIns="0">
            <a:spAutoFit/>
          </a:bodyPr>
          <a:lstStyle/>
          <a:p>
            <a:r>
              <a:rPr sz="1100" b="0">
                <a:solidFill>
                  <a:srgbClr val="2E2E2E"/>
                </a:solidFill>
                <a:latin typeface="Calibri"/>
              </a:rPr>
              <a:t>size landscape.</a:t>
            </a:r>
          </a:p>
        </p:txBody>
      </p:sp>
      <p:sp>
        <p:nvSpPr>
          <p:cNvPr id="97" name="TextBox 96"/>
          <p:cNvSpPr txBox="1"/>
          <p:nvPr/>
        </p:nvSpPr>
        <p:spPr>
          <a:xfrm>
            <a:off x="3838575" y="4229437"/>
            <a:ext cx="1963241" cy="186689"/>
          </a:xfrm>
          <a:prstGeom prst="rect">
            <a:avLst/>
          </a:prstGeom>
          <a:noFill/>
        </p:spPr>
        <p:txBody>
          <a:bodyPr wrap="none" lIns="0" rIns="0" tIns="0" bIns="0">
            <a:spAutoFit/>
          </a:bodyPr>
          <a:lstStyle/>
          <a:p>
            <a:r>
              <a:rPr sz="1100" b="0">
                <a:solidFill>
                  <a:srgbClr val="2E2E2E"/>
                </a:solidFill>
                <a:latin typeface="Calibri"/>
              </a:rPr>
              <a:t>● Standard - 60 g to below 100 g:</a:t>
            </a:r>
          </a:p>
        </p:txBody>
      </p:sp>
      <p:pic>
        <p:nvPicPr>
          <p:cNvPr id="98" name="Picture 97" descr="lock.png"/>
          <p:cNvPicPr>
            <a:picLocks noChangeAspect="1"/>
          </p:cNvPicPr>
          <p:nvPr/>
        </p:nvPicPr>
        <p:blipFill>
          <a:blip r:embed="rId16"/>
          <a:stretch>
            <a:fillRect/>
          </a:stretch>
        </p:blipFill>
        <p:spPr>
          <a:xfrm>
            <a:off x="5749868" y="4219658"/>
            <a:ext cx="128699" cy="187198"/>
          </a:xfrm>
          <a:prstGeom prst="rect">
            <a:avLst/>
          </a:prstGeom>
        </p:spPr>
      </p:pic>
      <p:sp>
        <p:nvSpPr>
          <p:cNvPr id="99" name="TextBox 98"/>
          <p:cNvSpPr txBox="1"/>
          <p:nvPr/>
        </p:nvSpPr>
        <p:spPr>
          <a:xfrm>
            <a:off x="591736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6776814" y="4219658"/>
            <a:ext cx="128699" cy="187198"/>
          </a:xfrm>
          <a:prstGeom prst="rect">
            <a:avLst/>
          </a:prstGeom>
        </p:spPr>
      </p:pic>
      <p:sp>
        <p:nvSpPr>
          <p:cNvPr id="101" name="TextBox 100"/>
          <p:cNvSpPr txBox="1"/>
          <p:nvPr/>
        </p:nvSpPr>
        <p:spPr>
          <a:xfrm>
            <a:off x="6944309"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102" name="TextBox 101"/>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103" name="TextBox 102"/>
          <p:cNvSpPr txBox="1"/>
          <p:nvPr/>
        </p:nvSpPr>
        <p:spPr>
          <a:xfrm>
            <a:off x="3838575" y="4615009"/>
            <a:ext cx="1685478" cy="186689"/>
          </a:xfrm>
          <a:prstGeom prst="rect">
            <a:avLst/>
          </a:prstGeom>
          <a:noFill/>
        </p:spPr>
        <p:txBody>
          <a:bodyPr wrap="none" lIns="0" rIns="0" tIns="0" bIns="0">
            <a:spAutoFit/>
          </a:bodyPr>
          <a:lstStyle/>
          <a:p>
            <a:r>
              <a:rPr sz="1100" b="0">
                <a:solidFill>
                  <a:srgbClr val="2E2E2E"/>
                </a:solidFill>
                <a:latin typeface="Calibri"/>
              </a:rPr>
              <a:t>● Small - 30 g to below 60 g:</a:t>
            </a:r>
          </a:p>
        </p:txBody>
      </p:sp>
      <p:pic>
        <p:nvPicPr>
          <p:cNvPr id="104" name="Picture 103" descr="lock.png"/>
          <p:cNvPicPr>
            <a:picLocks noChangeAspect="1"/>
          </p:cNvPicPr>
          <p:nvPr/>
        </p:nvPicPr>
        <p:blipFill>
          <a:blip r:embed="rId16"/>
          <a:stretch>
            <a:fillRect/>
          </a:stretch>
        </p:blipFill>
        <p:spPr>
          <a:xfrm>
            <a:off x="5472105" y="4605230"/>
            <a:ext cx="128699" cy="187198"/>
          </a:xfrm>
          <a:prstGeom prst="rect">
            <a:avLst/>
          </a:prstGeom>
        </p:spPr>
      </p:pic>
      <p:sp>
        <p:nvSpPr>
          <p:cNvPr id="105" name="TextBox 104"/>
          <p:cNvSpPr txBox="1"/>
          <p:nvPr/>
        </p:nvSpPr>
        <p:spPr>
          <a:xfrm>
            <a:off x="563960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6499051" y="4605230"/>
            <a:ext cx="128699" cy="187198"/>
          </a:xfrm>
          <a:prstGeom prst="rect">
            <a:avLst/>
          </a:prstGeom>
        </p:spPr>
      </p:pic>
      <p:sp>
        <p:nvSpPr>
          <p:cNvPr id="107" name="TextBox 106"/>
          <p:cNvSpPr txBox="1"/>
          <p:nvPr/>
        </p:nvSpPr>
        <p:spPr>
          <a:xfrm>
            <a:off x="6666546" y="4615009"/>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8" name="TextBox 107"/>
          <p:cNvSpPr txBox="1"/>
          <p:nvPr/>
        </p:nvSpPr>
        <p:spPr>
          <a:xfrm>
            <a:off x="3838575" y="4782649"/>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9" name="TextBox 108"/>
          <p:cNvSpPr txBox="1"/>
          <p:nvPr/>
        </p:nvSpPr>
        <p:spPr>
          <a:xfrm>
            <a:off x="3838575" y="5000581"/>
            <a:ext cx="2062013" cy="186689"/>
          </a:xfrm>
          <a:prstGeom prst="rect">
            <a:avLst/>
          </a:prstGeom>
          <a:noFill/>
        </p:spPr>
        <p:txBody>
          <a:bodyPr wrap="none" lIns="0" rIns="0" tIns="0" bIns="0">
            <a:spAutoFit/>
          </a:bodyPr>
          <a:lstStyle/>
          <a:p>
            <a:r>
              <a:rPr sz="1100" b="0">
                <a:solidFill>
                  <a:srgbClr val="2E2E2E"/>
                </a:solidFill>
                <a:latin typeface="Calibri"/>
              </a:rPr>
              <a:t>● Large / jumbo - 100 g and above:</a:t>
            </a:r>
          </a:p>
        </p:txBody>
      </p:sp>
      <p:pic>
        <p:nvPicPr>
          <p:cNvPr id="110" name="Picture 109" descr="lock.png"/>
          <p:cNvPicPr>
            <a:picLocks noChangeAspect="1"/>
          </p:cNvPicPr>
          <p:nvPr/>
        </p:nvPicPr>
        <p:blipFill>
          <a:blip r:embed="rId16"/>
          <a:stretch>
            <a:fillRect/>
          </a:stretch>
        </p:blipFill>
        <p:spPr>
          <a:xfrm>
            <a:off x="5848640" y="4990801"/>
            <a:ext cx="128699" cy="187198"/>
          </a:xfrm>
          <a:prstGeom prst="rect">
            <a:avLst/>
          </a:prstGeom>
        </p:spPr>
      </p:pic>
      <p:sp>
        <p:nvSpPr>
          <p:cNvPr id="111" name="TextBox 110"/>
          <p:cNvSpPr txBox="1"/>
          <p:nvPr/>
        </p:nvSpPr>
        <p:spPr>
          <a:xfrm>
            <a:off x="6016136"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6875586" y="4990801"/>
            <a:ext cx="128699" cy="187198"/>
          </a:xfrm>
          <a:prstGeom prst="rect">
            <a:avLst/>
          </a:prstGeom>
        </p:spPr>
      </p:pic>
      <p:sp>
        <p:nvSpPr>
          <p:cNvPr id="113" name="TextBox 112"/>
          <p:cNvSpPr txBox="1"/>
          <p:nvPr/>
        </p:nvSpPr>
        <p:spPr>
          <a:xfrm>
            <a:off x="7043082" y="5000581"/>
            <a:ext cx="787234" cy="186689"/>
          </a:xfrm>
          <a:prstGeom prst="rect">
            <a:avLst/>
          </a:prstGeom>
          <a:noFill/>
        </p:spPr>
        <p:txBody>
          <a:bodyPr wrap="none" lIns="0" rIns="0" tIns="0" bIns="0">
            <a:spAutoFit/>
          </a:bodyPr>
          <a:lstStyle/>
          <a:p>
            <a:r>
              <a:rPr sz="1100" b="0">
                <a:solidFill>
                  <a:srgbClr val="2E2E2E"/>
                </a:solidFill>
                <a:latin typeface="Calibri"/>
              </a:rPr>
              <a:t>CAGR serves</a:t>
            </a:r>
          </a:p>
        </p:txBody>
      </p:sp>
      <p:sp>
        <p:nvSpPr>
          <p:cNvPr id="114" name="TextBox 113"/>
          <p:cNvSpPr txBox="1"/>
          <p:nvPr/>
        </p:nvSpPr>
        <p:spPr>
          <a:xfrm>
            <a:off x="3838575" y="5168221"/>
            <a:ext cx="517673" cy="186689"/>
          </a:xfrm>
          <a:prstGeom prst="rect">
            <a:avLst/>
          </a:prstGeom>
          <a:noFill/>
        </p:spPr>
        <p:txBody>
          <a:bodyPr wrap="none" lIns="0" rIns="0" tIns="0" bIns="0">
            <a:spAutoFit/>
          </a:bodyPr>
          <a:lstStyle/>
          <a:p>
            <a:r>
              <a:rPr sz="1100" b="0">
                <a:solidFill>
                  <a:srgbClr val="2E2E2E"/>
                </a:solidFill>
                <a:latin typeface="Calibri"/>
              </a:rPr>
              <a:t>a niche.</a:t>
            </a:r>
          </a:p>
        </p:txBody>
      </p:sp>
      <p:sp>
        <p:nvSpPr>
          <p:cNvPr id="115" name="TextBox 114"/>
          <p:cNvSpPr txBox="1"/>
          <p:nvPr/>
        </p:nvSpPr>
        <p:spPr>
          <a:xfrm>
            <a:off x="3838575" y="5386153"/>
            <a:ext cx="1879748" cy="186689"/>
          </a:xfrm>
          <a:prstGeom prst="rect">
            <a:avLst/>
          </a:prstGeom>
          <a:noFill/>
        </p:spPr>
        <p:txBody>
          <a:bodyPr wrap="none" lIns="0" rIns="0" tIns="0" bIns="0">
            <a:spAutoFit/>
          </a:bodyPr>
          <a:lstStyle/>
          <a:p>
            <a:r>
              <a:rPr sz="1100" b="0">
                <a:solidFill>
                  <a:srgbClr val="2E2E2E"/>
                </a:solidFill>
                <a:latin typeface="Calibri"/>
              </a:rPr>
              <a:t>● Mini / bite-sized - below 30 g:</a:t>
            </a:r>
          </a:p>
        </p:txBody>
      </p:sp>
      <p:pic>
        <p:nvPicPr>
          <p:cNvPr id="116" name="Picture 115" descr="lock.png"/>
          <p:cNvPicPr>
            <a:picLocks noChangeAspect="1"/>
          </p:cNvPicPr>
          <p:nvPr/>
        </p:nvPicPr>
        <p:blipFill>
          <a:blip r:embed="rId16"/>
          <a:stretch>
            <a:fillRect/>
          </a:stretch>
        </p:blipFill>
        <p:spPr>
          <a:xfrm>
            <a:off x="5666375" y="5376373"/>
            <a:ext cx="128699" cy="187198"/>
          </a:xfrm>
          <a:prstGeom prst="rect">
            <a:avLst/>
          </a:prstGeom>
        </p:spPr>
      </p:pic>
      <p:sp>
        <p:nvSpPr>
          <p:cNvPr id="117" name="TextBox 116"/>
          <p:cNvSpPr txBox="1"/>
          <p:nvPr/>
        </p:nvSpPr>
        <p:spPr>
          <a:xfrm>
            <a:off x="5833871"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6"/>
          <a:stretch>
            <a:fillRect/>
          </a:stretch>
        </p:blipFill>
        <p:spPr>
          <a:xfrm>
            <a:off x="6693321" y="5376373"/>
            <a:ext cx="128699" cy="187198"/>
          </a:xfrm>
          <a:prstGeom prst="rect">
            <a:avLst/>
          </a:prstGeom>
        </p:spPr>
      </p:pic>
      <p:sp>
        <p:nvSpPr>
          <p:cNvPr id="119" name="TextBox 118"/>
          <p:cNvSpPr txBox="1"/>
          <p:nvPr/>
        </p:nvSpPr>
        <p:spPr>
          <a:xfrm>
            <a:off x="6860817" y="538615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20" name="TextBox 119"/>
          <p:cNvSpPr txBox="1"/>
          <p:nvPr/>
        </p:nvSpPr>
        <p:spPr>
          <a:xfrm>
            <a:off x="3838575" y="555379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21" name="TextBox 120"/>
          <p:cNvSpPr txBox="1"/>
          <p:nvPr/>
        </p:nvSpPr>
        <p:spPr>
          <a:xfrm>
            <a:off x="8524875" y="5842641"/>
            <a:ext cx="3113868" cy="194310"/>
          </a:xfrm>
          <a:prstGeom prst="rect">
            <a:avLst/>
          </a:prstGeom>
          <a:noFill/>
        </p:spPr>
        <p:txBody>
          <a:bodyPr wrap="none" lIns="0" rIns="0" tIns="0" bIns="0">
            <a:spAutoFit/>
          </a:bodyPr>
          <a:lstStyle/>
          <a:p>
            <a:r>
              <a:rPr sz="1150" b="1">
                <a:solidFill>
                  <a:srgbClr val="0B2E4A"/>
                </a:solidFill>
                <a:latin typeface="Calibri"/>
              </a:rPr>
              <a:t>The Individual Muffin Size segment is projected to</a:t>
            </a:r>
          </a:p>
        </p:txBody>
      </p:sp>
      <p:sp>
        <p:nvSpPr>
          <p:cNvPr id="122" name="TextBox 121"/>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23" name="Picture 122" descr="lock.png"/>
          <p:cNvPicPr>
            <a:picLocks noChangeAspect="1"/>
          </p:cNvPicPr>
          <p:nvPr/>
        </p:nvPicPr>
        <p:blipFill>
          <a:blip r:embed="rId16"/>
          <a:stretch>
            <a:fillRect/>
          </a:stretch>
        </p:blipFill>
        <p:spPr>
          <a:xfrm>
            <a:off x="9651852" y="6007677"/>
            <a:ext cx="134549" cy="195707"/>
          </a:xfrm>
          <a:prstGeom prst="rect">
            <a:avLst/>
          </a:prstGeom>
        </p:spPr>
      </p:pic>
      <p:sp>
        <p:nvSpPr>
          <p:cNvPr id="124" name="TextBox 123"/>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Individual Muffin Size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Individual Muffin Size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Individual Muffin Size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Individual Muffin Size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966792" cy="186689"/>
          </a:xfrm>
          <a:prstGeom prst="rect">
            <a:avLst/>
          </a:prstGeom>
          <a:noFill/>
        </p:spPr>
        <p:txBody>
          <a:bodyPr wrap="none" lIns="0" rIns="0" tIns="0" bIns="0">
            <a:spAutoFit/>
          </a:bodyPr>
          <a:lstStyle/>
          <a:p>
            <a:r>
              <a:rPr sz="1100" b="0">
                <a:solidFill>
                  <a:srgbClr val="2E2E2E"/>
                </a:solidFill>
                <a:latin typeface="Calibri"/>
              </a:rPr>
              <a:t>Between 2026 and 2036, 'Large / jumbo - 100 g and above' gains the most share in the Global market (+</a:t>
            </a:r>
          </a:p>
        </p:txBody>
      </p:sp>
      <p:pic>
        <p:nvPicPr>
          <p:cNvPr id="21" name="Picture 20" descr="lock.png"/>
          <p:cNvPicPr>
            <a:picLocks noChangeAspect="1"/>
          </p:cNvPicPr>
          <p:nvPr/>
        </p:nvPicPr>
        <p:blipFill>
          <a:blip r:embed="rId6"/>
          <a:stretch>
            <a:fillRect/>
          </a:stretch>
        </p:blipFill>
        <p:spPr>
          <a:xfrm>
            <a:off x="6172018" y="5851905"/>
            <a:ext cx="128699" cy="187198"/>
          </a:xfrm>
          <a:prstGeom prst="rect">
            <a:avLst/>
          </a:prstGeom>
        </p:spPr>
      </p:pic>
      <p:sp>
        <p:nvSpPr>
          <p:cNvPr id="22" name="TextBox 21"/>
          <p:cNvSpPr txBox="1"/>
          <p:nvPr/>
        </p:nvSpPr>
        <p:spPr>
          <a:xfrm>
            <a:off x="6339514" y="5861685"/>
            <a:ext cx="2577157" cy="186689"/>
          </a:xfrm>
          <a:prstGeom prst="rect">
            <a:avLst/>
          </a:prstGeom>
          <a:noFill/>
        </p:spPr>
        <p:txBody>
          <a:bodyPr wrap="none" lIns="0" rIns="0" tIns="0" bIns="0">
            <a:spAutoFit/>
          </a:bodyPr>
          <a:lstStyle/>
          <a:p>
            <a:r>
              <a:rPr sz="1100" b="0">
                <a:solidFill>
                  <a:srgbClr val="2E2E2E"/>
                </a:solidFill>
                <a:latin typeface="Calibri"/>
              </a:rPr>
              <a:t>BPS) while 'Small - 30 g to below 60 g' cedes</a:t>
            </a:r>
          </a:p>
        </p:txBody>
      </p:sp>
      <p:pic>
        <p:nvPicPr>
          <p:cNvPr id="23" name="Picture 22" descr="lock.png"/>
          <p:cNvPicPr>
            <a:picLocks noChangeAspect="1"/>
          </p:cNvPicPr>
          <p:nvPr/>
        </p:nvPicPr>
        <p:blipFill>
          <a:blip r:embed="rId6"/>
          <a:stretch>
            <a:fillRect/>
          </a:stretch>
        </p:blipFill>
        <p:spPr>
          <a:xfrm>
            <a:off x="8864723" y="5851905"/>
            <a:ext cx="128699" cy="187198"/>
          </a:xfrm>
          <a:prstGeom prst="rect">
            <a:avLst/>
          </a:prstGeom>
        </p:spPr>
      </p:pic>
      <p:sp>
        <p:nvSpPr>
          <p:cNvPr id="24" name="TextBox 23"/>
          <p:cNvSpPr txBox="1"/>
          <p:nvPr/>
        </p:nvSpPr>
        <p:spPr>
          <a:xfrm>
            <a:off x="9032219" y="5861685"/>
            <a:ext cx="2741124"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a:t>
            </a:r>
          </a:p>
        </p:txBody>
      </p:sp>
      <p:sp>
        <p:nvSpPr>
          <p:cNvPr id="25" name="TextBox 24"/>
          <p:cNvSpPr txBox="1"/>
          <p:nvPr/>
        </p:nvSpPr>
        <p:spPr>
          <a:xfrm>
            <a:off x="257175" y="602932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Individual Muffin Size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Mini / bite-sized - below 30 g</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Small - 30 g to below 60 g</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Standard - 60 g to below 100 g</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Large / jumbo - 100 g and above</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Individual Muffin Size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Individual Muffin Size,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14650"/>
          </a:xfrm>
          <a:prstGeom prst="roundRect">
            <a:avLst>
              <a:gd name="adj" fmla="val 26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Individual Muffin Size (MT)</a:t>
            </a:r>
          </a:p>
        </p:txBody>
      </p:sp>
      <p:graphicFrame>
        <p:nvGraphicFramePr>
          <p:cNvPr id="13" name="Table 12"/>
          <p:cNvGraphicFramePr>
            <a:graphicFrameLocks noGrp="1"/>
          </p:cNvGraphicFramePr>
          <p:nvPr/>
        </p:nvGraphicFramePr>
        <p:xfrm>
          <a:off x="152400" y="1238250"/>
          <a:ext cx="11887208" cy="2447926"/>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Individual Muffin</a:t>
                      </a:r>
                      <a:endParaRPr sz="1100"/>
                    </a:p>
                    <a:p>
                      <a:pPr algn="l"/>
                      <a:r>
                        <a:rPr sz="1100" b="1">
                          <a:solidFill>
                            <a:srgbClr val="0B2E4A"/>
                          </a:solidFill>
                          <a:latin typeface="Calibri"/>
                        </a:rPr>
                        <a:t>Size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40360">
                <a:tc>
                  <a:txBody>
                    <a:bodyPr wrap="none"/>
                    <a:lstStyle/>
                    <a:p>
                      <a:pPr algn="l"/>
                      <a:r>
                        <a:rPr sz="1100" b="1">
                          <a:solidFill>
                            <a:srgbClr val="2E2E2E"/>
                          </a:solidFill>
                          <a:latin typeface="Calibri"/>
                        </a:rPr>
                        <a:t>Mini / bite-sized -</a:t>
                      </a:r>
                      <a:endParaRPr sz="1100"/>
                    </a:p>
                    <a:p>
                      <a:pPr algn="l"/>
                      <a:r>
                        <a:rPr sz="1100" b="1">
                          <a:solidFill>
                            <a:srgbClr val="2E2E2E"/>
                          </a:solidFill>
                          <a:latin typeface="Calibri"/>
                        </a:rPr>
                        <a:t>below 30 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0360">
                <a:tc>
                  <a:txBody>
                    <a:bodyPr wrap="none"/>
                    <a:lstStyle/>
                    <a:p>
                      <a:pPr algn="l"/>
                      <a:r>
                        <a:rPr sz="1100" b="1">
                          <a:solidFill>
                            <a:srgbClr val="2E2E2E"/>
                          </a:solidFill>
                          <a:latin typeface="Calibri"/>
                        </a:rPr>
                        <a:t>Small - 30 g to</a:t>
                      </a:r>
                      <a:endParaRPr sz="1100"/>
                    </a:p>
                    <a:p>
                      <a:pPr algn="l"/>
                      <a:r>
                        <a:rPr sz="1100" b="1">
                          <a:solidFill>
                            <a:srgbClr val="2E2E2E"/>
                          </a:solidFill>
                          <a:latin typeface="Calibri"/>
                        </a:rPr>
                        <a:t>below 60 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40360">
                <a:tc>
                  <a:txBody>
                    <a:bodyPr wrap="none"/>
                    <a:lstStyle/>
                    <a:p>
                      <a:pPr algn="l"/>
                      <a:r>
                        <a:rPr sz="1100" b="1">
                          <a:solidFill>
                            <a:srgbClr val="2E2E2E"/>
                          </a:solidFill>
                          <a:latin typeface="Calibri"/>
                        </a:rPr>
                        <a:t>Standard - 60 g to</a:t>
                      </a:r>
                      <a:endParaRPr sz="1100"/>
                    </a:p>
                    <a:p>
                      <a:pPr algn="l"/>
                      <a:r>
                        <a:rPr sz="1100" b="1">
                          <a:solidFill>
                            <a:srgbClr val="2E2E2E"/>
                          </a:solidFill>
                          <a:latin typeface="Calibri"/>
                        </a:rPr>
                        <a:t>below 100 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0360">
                <a:tc>
                  <a:txBody>
                    <a:bodyPr wrap="none"/>
                    <a:lstStyle/>
                    <a:p>
                      <a:pPr algn="l"/>
                      <a:r>
                        <a:rPr sz="1100" b="1">
                          <a:solidFill>
                            <a:srgbClr val="2E2E2E"/>
                          </a:solidFill>
                          <a:latin typeface="Calibri"/>
                        </a:rPr>
                        <a:t>Large / jumbo - 100</a:t>
                      </a:r>
                      <a:endParaRPr sz="1100"/>
                    </a:p>
                    <a:p>
                      <a:pPr algn="l"/>
                      <a:r>
                        <a:rPr sz="1100" b="1">
                          <a:solidFill>
                            <a:srgbClr val="2E2E2E"/>
                          </a:solidFill>
                          <a:latin typeface="Calibri"/>
                        </a:rPr>
                        <a:t>g and above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57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695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29075"/>
            <a:ext cx="11906250" cy="2600325"/>
          </a:xfrm>
          <a:prstGeom prst="roundRect">
            <a:avLst>
              <a:gd name="adj" fmla="val 29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148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Individual Muffin Size</a:t>
            </a:r>
          </a:p>
        </p:txBody>
      </p:sp>
      <p:sp>
        <p:nvSpPr>
          <p:cNvPr id="17" name="Rectangle 16"/>
          <p:cNvSpPr/>
          <p:nvPr/>
        </p:nvSpPr>
        <p:spPr>
          <a:xfrm>
            <a:off x="276225" y="4352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38650"/>
            <a:ext cx="11639550" cy="2114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14969"/>
            <a:ext cx="366712" cy="533400"/>
          </a:xfrm>
          <a:prstGeom prst="rect">
            <a:avLst/>
          </a:prstGeom>
        </p:spPr>
      </p:pic>
      <p:sp>
        <p:nvSpPr>
          <p:cNvPr id="21" name="TextBox 20"/>
          <p:cNvSpPr txBox="1"/>
          <p:nvPr/>
        </p:nvSpPr>
        <p:spPr>
          <a:xfrm>
            <a:off x="276225" y="4448175"/>
            <a:ext cx="4271143" cy="194310"/>
          </a:xfrm>
          <a:prstGeom prst="rect">
            <a:avLst/>
          </a:prstGeom>
          <a:noFill/>
        </p:spPr>
        <p:txBody>
          <a:bodyPr wrap="none" lIns="0" rIns="0" tIns="0" bIns="0">
            <a:spAutoFit/>
          </a:bodyPr>
          <a:lstStyle/>
          <a:p>
            <a:r>
              <a:rPr sz="1150" b="0">
                <a:solidFill>
                  <a:srgbClr val="2E2E2E"/>
                </a:solidFill>
                <a:latin typeface="Calibri"/>
              </a:rPr>
              <a:t>▪ 'Standard - 60 g to below 100 g' is the largest individual muffin size at</a:t>
            </a:r>
          </a:p>
        </p:txBody>
      </p:sp>
      <p:pic>
        <p:nvPicPr>
          <p:cNvPr id="22" name="Picture 21" descr="lock.png"/>
          <p:cNvPicPr>
            <a:picLocks noChangeAspect="1"/>
          </p:cNvPicPr>
          <p:nvPr/>
        </p:nvPicPr>
        <p:blipFill>
          <a:blip r:embed="rId4"/>
          <a:stretch>
            <a:fillRect/>
          </a:stretch>
        </p:blipFill>
        <p:spPr>
          <a:xfrm>
            <a:off x="4496522" y="4437951"/>
            <a:ext cx="134549" cy="195707"/>
          </a:xfrm>
          <a:prstGeom prst="rect">
            <a:avLst/>
          </a:prstGeom>
        </p:spPr>
      </p:pic>
      <p:sp>
        <p:nvSpPr>
          <p:cNvPr id="23" name="TextBox 22"/>
          <p:cNvSpPr txBox="1"/>
          <p:nvPr/>
        </p:nvSpPr>
        <p:spPr>
          <a:xfrm>
            <a:off x="4671632" y="444817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5701365" y="4437951"/>
            <a:ext cx="134549" cy="195707"/>
          </a:xfrm>
          <a:prstGeom prst="rect">
            <a:avLst/>
          </a:prstGeom>
        </p:spPr>
      </p:pic>
      <p:sp>
        <p:nvSpPr>
          <p:cNvPr id="25" name="TextBox 24"/>
          <p:cNvSpPr txBox="1"/>
          <p:nvPr/>
        </p:nvSpPr>
        <p:spPr>
          <a:xfrm>
            <a:off x="5876474" y="444817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676013"/>
            <a:ext cx="2774416" cy="194310"/>
          </a:xfrm>
          <a:prstGeom prst="rect">
            <a:avLst/>
          </a:prstGeom>
          <a:noFill/>
        </p:spPr>
        <p:txBody>
          <a:bodyPr wrap="none" lIns="0" rIns="0" tIns="0" bIns="0">
            <a:spAutoFit/>
          </a:bodyPr>
          <a:lstStyle/>
          <a:p>
            <a:r>
              <a:rPr sz="1150" b="0">
                <a:solidFill>
                  <a:srgbClr val="2E2E2E"/>
                </a:solidFill>
                <a:latin typeface="Calibri"/>
              </a:rPr>
              <a:t>▪ 'Mini / bite-sized - below 30 g' grows fastest</a:t>
            </a:r>
          </a:p>
        </p:txBody>
      </p:sp>
      <p:pic>
        <p:nvPicPr>
          <p:cNvPr id="27" name="Picture 26" descr="lock.png"/>
          <p:cNvPicPr>
            <a:picLocks noChangeAspect="1"/>
          </p:cNvPicPr>
          <p:nvPr/>
        </p:nvPicPr>
        <p:blipFill>
          <a:blip r:embed="rId4"/>
          <a:stretch>
            <a:fillRect/>
          </a:stretch>
        </p:blipFill>
        <p:spPr>
          <a:xfrm>
            <a:off x="2999795" y="4665789"/>
            <a:ext cx="134549" cy="195707"/>
          </a:xfrm>
          <a:prstGeom prst="rect">
            <a:avLst/>
          </a:prstGeom>
        </p:spPr>
      </p:pic>
      <p:sp>
        <p:nvSpPr>
          <p:cNvPr id="28" name="TextBox 27"/>
          <p:cNvSpPr txBox="1"/>
          <p:nvPr/>
        </p:nvSpPr>
        <p:spPr>
          <a:xfrm>
            <a:off x="3174904" y="467601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903850"/>
            <a:ext cx="3474144" cy="194310"/>
          </a:xfrm>
          <a:prstGeom prst="rect">
            <a:avLst/>
          </a:prstGeom>
          <a:noFill/>
        </p:spPr>
        <p:txBody>
          <a:bodyPr wrap="none" lIns="0" rIns="0" tIns="0" bIns="0">
            <a:spAutoFit/>
          </a:bodyPr>
          <a:lstStyle/>
          <a:p>
            <a:r>
              <a:rPr sz="1150" b="0">
                <a:solidFill>
                  <a:srgbClr val="2E2E2E"/>
                </a:solidFill>
                <a:latin typeface="Calibri"/>
              </a:rPr>
              <a:t>▪ Share shifts toward 'Large / jumbo - 100 g and above' (+</a:t>
            </a:r>
          </a:p>
        </p:txBody>
      </p:sp>
      <p:pic>
        <p:nvPicPr>
          <p:cNvPr id="30" name="Picture 29" descr="lock.png"/>
          <p:cNvPicPr>
            <a:picLocks noChangeAspect="1"/>
          </p:cNvPicPr>
          <p:nvPr/>
        </p:nvPicPr>
        <p:blipFill>
          <a:blip r:embed="rId4"/>
          <a:stretch>
            <a:fillRect/>
          </a:stretch>
        </p:blipFill>
        <p:spPr>
          <a:xfrm>
            <a:off x="3699523" y="4893627"/>
            <a:ext cx="134549" cy="195707"/>
          </a:xfrm>
          <a:prstGeom prst="rect">
            <a:avLst/>
          </a:prstGeom>
        </p:spPr>
      </p:pic>
      <p:sp>
        <p:nvSpPr>
          <p:cNvPr id="31" name="TextBox 30"/>
          <p:cNvSpPr txBox="1"/>
          <p:nvPr/>
        </p:nvSpPr>
        <p:spPr>
          <a:xfrm>
            <a:off x="3874632" y="4903850"/>
            <a:ext cx="3006613" cy="194310"/>
          </a:xfrm>
          <a:prstGeom prst="rect">
            <a:avLst/>
          </a:prstGeom>
          <a:noFill/>
        </p:spPr>
        <p:txBody>
          <a:bodyPr wrap="none" lIns="0" rIns="0" tIns="0" bIns="0">
            <a:spAutoFit/>
          </a:bodyPr>
          <a:lstStyle/>
          <a:p>
            <a:r>
              <a:rPr sz="1150" b="0">
                <a:solidFill>
                  <a:srgbClr val="2E2E2E"/>
                </a:solidFill>
                <a:latin typeface="Calibri"/>
              </a:rPr>
              <a:t>BPS) and away from 'Small - 30 g to below 60 g' (-</a:t>
            </a:r>
          </a:p>
        </p:txBody>
      </p:sp>
      <p:pic>
        <p:nvPicPr>
          <p:cNvPr id="32" name="Picture 31" descr="lock.png"/>
          <p:cNvPicPr>
            <a:picLocks noChangeAspect="1"/>
          </p:cNvPicPr>
          <p:nvPr/>
        </p:nvPicPr>
        <p:blipFill>
          <a:blip r:embed="rId4"/>
          <a:stretch>
            <a:fillRect/>
          </a:stretch>
        </p:blipFill>
        <p:spPr>
          <a:xfrm>
            <a:off x="6830400" y="4893627"/>
            <a:ext cx="134549" cy="195707"/>
          </a:xfrm>
          <a:prstGeom prst="rect">
            <a:avLst/>
          </a:prstGeom>
        </p:spPr>
      </p:pic>
      <p:sp>
        <p:nvSpPr>
          <p:cNvPr id="33" name="TextBox 32"/>
          <p:cNvSpPr txBox="1"/>
          <p:nvPr/>
        </p:nvSpPr>
        <p:spPr>
          <a:xfrm>
            <a:off x="7005509" y="49038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13168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121465"/>
            <a:ext cx="134549" cy="195707"/>
          </a:xfrm>
          <a:prstGeom prst="rect">
            <a:avLst/>
          </a:prstGeom>
        </p:spPr>
      </p:pic>
      <p:sp>
        <p:nvSpPr>
          <p:cNvPr id="36" name="TextBox 35"/>
          <p:cNvSpPr txBox="1"/>
          <p:nvPr/>
        </p:nvSpPr>
        <p:spPr>
          <a:xfrm>
            <a:off x="1965143" y="51316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121465"/>
            <a:ext cx="134549" cy="195707"/>
          </a:xfrm>
          <a:prstGeom prst="rect">
            <a:avLst/>
          </a:prstGeom>
        </p:spPr>
      </p:pic>
      <p:sp>
        <p:nvSpPr>
          <p:cNvPr id="38" name="TextBox 37"/>
          <p:cNvSpPr txBox="1"/>
          <p:nvPr/>
        </p:nvSpPr>
        <p:spPr>
          <a:xfrm>
            <a:off x="2291688" y="5131688"/>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Individual Muffin Size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Individual Muffin Size,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Individual Muffin Size (US$ Mn)</a:t>
            </a:r>
          </a:p>
        </p:txBody>
      </p:sp>
      <p:graphicFrame>
        <p:nvGraphicFramePr>
          <p:cNvPr id="13" name="Table 12"/>
          <p:cNvGraphicFramePr>
            <a:graphicFrameLocks noGrp="1"/>
          </p:cNvGraphicFramePr>
          <p:nvPr/>
        </p:nvGraphicFramePr>
        <p:xfrm>
          <a:off x="152400" y="1238250"/>
          <a:ext cx="11887200" cy="1485896"/>
        </p:xfrm>
        <a:graphic>
          <a:graphicData uri="http://schemas.openxmlformats.org/drawingml/2006/table">
            <a:tbl>
              <a:tblPr>
                <a:tableStyleId>{5C22544A-7EE6-4342-B048-85BDC9FD1C3A}</a:tableStyleId>
              </a:tblPr>
              <a:tblGrid>
                <a:gridCol w="2115600"/>
                <a:gridCol w="574800"/>
                <a:gridCol w="574800"/>
                <a:gridCol w="574800"/>
                <a:gridCol w="574800"/>
                <a:gridCol w="574800"/>
                <a:gridCol w="574800"/>
                <a:gridCol w="574800"/>
                <a:gridCol w="574800"/>
                <a:gridCol w="574800"/>
                <a:gridCol w="574800"/>
                <a:gridCol w="574800"/>
                <a:gridCol w="574800"/>
                <a:gridCol w="574800"/>
                <a:gridCol w="574800"/>
                <a:gridCol w="574800"/>
                <a:gridCol w="574800"/>
                <a:gridCol w="574800"/>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Individual Muffin Size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67110" y="1837563"/>
            <a:ext cx="366712" cy="533400"/>
          </a:xfrm>
          <a:prstGeom prst="rect">
            <a:avLst/>
          </a:prstGeom>
        </p:spPr>
      </p:pic>
      <p:sp>
        <p:nvSpPr>
          <p:cNvPr id="21" name="TextBox 20"/>
          <p:cNvSpPr txBox="1"/>
          <p:nvPr/>
        </p:nvSpPr>
        <p:spPr>
          <a:xfrm>
            <a:off x="276225" y="3486150"/>
            <a:ext cx="4271143" cy="194310"/>
          </a:xfrm>
          <a:prstGeom prst="rect">
            <a:avLst/>
          </a:prstGeom>
          <a:noFill/>
        </p:spPr>
        <p:txBody>
          <a:bodyPr wrap="none" lIns="0" rIns="0" tIns="0" bIns="0">
            <a:spAutoFit/>
          </a:bodyPr>
          <a:lstStyle/>
          <a:p>
            <a:r>
              <a:rPr sz="1150" b="0">
                <a:solidFill>
                  <a:srgbClr val="2E2E2E"/>
                </a:solidFill>
                <a:latin typeface="Calibri"/>
              </a:rPr>
              <a:t>▪ 'Standard - 60 g to below 100 g' is the largest individual muffin size at</a:t>
            </a:r>
          </a:p>
        </p:txBody>
      </p:sp>
      <p:pic>
        <p:nvPicPr>
          <p:cNvPr id="22" name="Picture 21" descr="lock.png"/>
          <p:cNvPicPr>
            <a:picLocks noChangeAspect="1"/>
          </p:cNvPicPr>
          <p:nvPr/>
        </p:nvPicPr>
        <p:blipFill>
          <a:blip r:embed="rId4"/>
          <a:stretch>
            <a:fillRect/>
          </a:stretch>
        </p:blipFill>
        <p:spPr>
          <a:xfrm>
            <a:off x="4496522" y="3475926"/>
            <a:ext cx="134549" cy="195707"/>
          </a:xfrm>
          <a:prstGeom prst="rect">
            <a:avLst/>
          </a:prstGeom>
        </p:spPr>
      </p:pic>
      <p:sp>
        <p:nvSpPr>
          <p:cNvPr id="23" name="TextBox 22"/>
          <p:cNvSpPr txBox="1"/>
          <p:nvPr/>
        </p:nvSpPr>
        <p:spPr>
          <a:xfrm>
            <a:off x="4671632"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5577564" y="3475926"/>
            <a:ext cx="134549" cy="195707"/>
          </a:xfrm>
          <a:prstGeom prst="rect">
            <a:avLst/>
          </a:prstGeom>
        </p:spPr>
      </p:pic>
      <p:sp>
        <p:nvSpPr>
          <p:cNvPr id="25" name="TextBox 24"/>
          <p:cNvSpPr txBox="1"/>
          <p:nvPr/>
        </p:nvSpPr>
        <p:spPr>
          <a:xfrm>
            <a:off x="5752674"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774416" cy="194310"/>
          </a:xfrm>
          <a:prstGeom prst="rect">
            <a:avLst/>
          </a:prstGeom>
          <a:noFill/>
        </p:spPr>
        <p:txBody>
          <a:bodyPr wrap="none" lIns="0" rIns="0" tIns="0" bIns="0">
            <a:spAutoFit/>
          </a:bodyPr>
          <a:lstStyle/>
          <a:p>
            <a:r>
              <a:rPr sz="1150" b="0">
                <a:solidFill>
                  <a:srgbClr val="2E2E2E"/>
                </a:solidFill>
                <a:latin typeface="Calibri"/>
              </a:rPr>
              <a:t>▪ 'Mini / bite-sized - below 30 g' grows fastest</a:t>
            </a:r>
          </a:p>
        </p:txBody>
      </p:sp>
      <p:pic>
        <p:nvPicPr>
          <p:cNvPr id="27" name="Picture 26" descr="lock.png"/>
          <p:cNvPicPr>
            <a:picLocks noChangeAspect="1"/>
          </p:cNvPicPr>
          <p:nvPr/>
        </p:nvPicPr>
        <p:blipFill>
          <a:blip r:embed="rId4"/>
          <a:stretch>
            <a:fillRect/>
          </a:stretch>
        </p:blipFill>
        <p:spPr>
          <a:xfrm>
            <a:off x="2999795" y="3703764"/>
            <a:ext cx="134549" cy="195707"/>
          </a:xfrm>
          <a:prstGeom prst="rect">
            <a:avLst/>
          </a:prstGeom>
        </p:spPr>
      </p:pic>
      <p:sp>
        <p:nvSpPr>
          <p:cNvPr id="28" name="TextBox 27"/>
          <p:cNvSpPr txBox="1"/>
          <p:nvPr/>
        </p:nvSpPr>
        <p:spPr>
          <a:xfrm>
            <a:off x="3174904"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3474144" cy="194310"/>
          </a:xfrm>
          <a:prstGeom prst="rect">
            <a:avLst/>
          </a:prstGeom>
          <a:noFill/>
        </p:spPr>
        <p:txBody>
          <a:bodyPr wrap="none" lIns="0" rIns="0" tIns="0" bIns="0">
            <a:spAutoFit/>
          </a:bodyPr>
          <a:lstStyle/>
          <a:p>
            <a:r>
              <a:rPr sz="1150" b="0">
                <a:solidFill>
                  <a:srgbClr val="2E2E2E"/>
                </a:solidFill>
                <a:latin typeface="Calibri"/>
              </a:rPr>
              <a:t>▪ Share shifts toward 'Large / jumbo - 100 g and above' (+</a:t>
            </a:r>
          </a:p>
        </p:txBody>
      </p:sp>
      <p:pic>
        <p:nvPicPr>
          <p:cNvPr id="30" name="Picture 29" descr="lock.png"/>
          <p:cNvPicPr>
            <a:picLocks noChangeAspect="1"/>
          </p:cNvPicPr>
          <p:nvPr/>
        </p:nvPicPr>
        <p:blipFill>
          <a:blip r:embed="rId4"/>
          <a:stretch>
            <a:fillRect/>
          </a:stretch>
        </p:blipFill>
        <p:spPr>
          <a:xfrm>
            <a:off x="3699523" y="3931602"/>
            <a:ext cx="134549" cy="195707"/>
          </a:xfrm>
          <a:prstGeom prst="rect">
            <a:avLst/>
          </a:prstGeom>
        </p:spPr>
      </p:pic>
      <p:sp>
        <p:nvSpPr>
          <p:cNvPr id="31" name="TextBox 30"/>
          <p:cNvSpPr txBox="1"/>
          <p:nvPr/>
        </p:nvSpPr>
        <p:spPr>
          <a:xfrm>
            <a:off x="3874632" y="3941825"/>
            <a:ext cx="3006613" cy="194310"/>
          </a:xfrm>
          <a:prstGeom prst="rect">
            <a:avLst/>
          </a:prstGeom>
          <a:noFill/>
        </p:spPr>
        <p:txBody>
          <a:bodyPr wrap="none" lIns="0" rIns="0" tIns="0" bIns="0">
            <a:spAutoFit/>
          </a:bodyPr>
          <a:lstStyle/>
          <a:p>
            <a:r>
              <a:rPr sz="1150" b="0">
                <a:solidFill>
                  <a:srgbClr val="2E2E2E"/>
                </a:solidFill>
                <a:latin typeface="Calibri"/>
              </a:rPr>
              <a:t>BPS) and away from 'Small - 30 g to below 60 g' (-</a:t>
            </a:r>
          </a:p>
        </p:txBody>
      </p:sp>
      <p:pic>
        <p:nvPicPr>
          <p:cNvPr id="32" name="Picture 31" descr="lock.png"/>
          <p:cNvPicPr>
            <a:picLocks noChangeAspect="1"/>
          </p:cNvPicPr>
          <p:nvPr/>
        </p:nvPicPr>
        <p:blipFill>
          <a:blip r:embed="rId4"/>
          <a:stretch>
            <a:fillRect/>
          </a:stretch>
        </p:blipFill>
        <p:spPr>
          <a:xfrm>
            <a:off x="6830400" y="3931602"/>
            <a:ext cx="134549" cy="195707"/>
          </a:xfrm>
          <a:prstGeom prst="rect">
            <a:avLst/>
          </a:prstGeom>
        </p:spPr>
      </p:pic>
      <p:sp>
        <p:nvSpPr>
          <p:cNvPr id="33" name="TextBox 32"/>
          <p:cNvSpPr txBox="1"/>
          <p:nvPr/>
        </p:nvSpPr>
        <p:spPr>
          <a:xfrm>
            <a:off x="7005509"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Individual Muffin Size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Individual Muffin Size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262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2786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516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Mini / bite-sized - below 30 g</a:t>
            </a:r>
          </a:p>
        </p:txBody>
      </p:sp>
      <p:sp>
        <p:nvSpPr>
          <p:cNvPr id="19" name="BPS Value 1"/>
          <p:cNvSpPr txBox="1"/>
          <p:nvPr/>
        </p:nvSpPr>
        <p:spPr>
          <a:xfrm>
            <a:off x="6896100" y="181357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52815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233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471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Small - 30 g to below 60 g</a:t>
            </a:r>
          </a:p>
        </p:txBody>
      </p:sp>
      <p:sp>
        <p:nvSpPr>
          <p:cNvPr id="23" name="BPS Value 2"/>
          <p:cNvSpPr txBox="1"/>
          <p:nvPr/>
        </p:nvSpPr>
        <p:spPr>
          <a:xfrm>
            <a:off x="6896100" y="250910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6799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67520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5990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Large / jumbo - 100 g and above</a:t>
            </a:r>
          </a:p>
        </p:txBody>
      </p:sp>
      <p:sp>
        <p:nvSpPr>
          <p:cNvPr id="27" name="BPS Value 3"/>
          <p:cNvSpPr txBox="1"/>
          <p:nvPr/>
        </p:nvSpPr>
        <p:spPr>
          <a:xfrm>
            <a:off x="6896100" y="366092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27063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2658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896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- 60 g to below 100 g</a:t>
            </a:r>
          </a:p>
        </p:txBody>
      </p:sp>
      <p:sp>
        <p:nvSpPr>
          <p:cNvPr id="31" name="BPS Value 4"/>
          <p:cNvSpPr txBox="1"/>
          <p:nvPr/>
        </p:nvSpPr>
        <p:spPr>
          <a:xfrm>
            <a:off x="6896100" y="525158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Individual Muffin Size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511227" cy="194310"/>
          </a:xfrm>
          <a:prstGeom prst="rect">
            <a:avLst/>
          </a:prstGeom>
          <a:noFill/>
        </p:spPr>
        <p:txBody>
          <a:bodyPr wrap="none" lIns="0" rIns="0" tIns="0" bIns="0">
            <a:spAutoFit/>
          </a:bodyPr>
          <a:lstStyle/>
          <a:p>
            <a:r>
              <a:rPr sz="1150" b="0">
                <a:solidFill>
                  <a:srgbClr val="2E2E2E"/>
                </a:solidFill>
                <a:latin typeface="Calibri"/>
              </a:rPr>
              <a:t>▪ 'Large / jumbo - 100 g and above' gains the most share +</a:t>
            </a:r>
          </a:p>
        </p:txBody>
      </p:sp>
      <p:pic>
        <p:nvPicPr>
          <p:cNvPr id="39" name="Picture 38" descr="lock.png"/>
          <p:cNvPicPr>
            <a:picLocks noChangeAspect="1"/>
          </p:cNvPicPr>
          <p:nvPr/>
        </p:nvPicPr>
        <p:blipFill>
          <a:blip r:embed="rId5"/>
          <a:stretch>
            <a:fillRect/>
          </a:stretch>
        </p:blipFill>
        <p:spPr>
          <a:xfrm>
            <a:off x="11289931" y="1389951"/>
            <a:ext cx="134549" cy="195707"/>
          </a:xfrm>
          <a:prstGeom prst="rect">
            <a:avLst/>
          </a:prstGeom>
        </p:spPr>
      </p:pic>
      <p:sp>
        <p:nvSpPr>
          <p:cNvPr id="40" name="TextBox 39"/>
          <p:cNvSpPr txBox="1"/>
          <p:nvPr/>
        </p:nvSpPr>
        <p:spPr>
          <a:xfrm>
            <a:off x="11465040"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41" name="TextBox 40"/>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764147" cy="194310"/>
          </a:xfrm>
          <a:prstGeom prst="rect">
            <a:avLst/>
          </a:prstGeom>
          <a:noFill/>
        </p:spPr>
        <p:txBody>
          <a:bodyPr wrap="none" lIns="0" rIns="0" tIns="0" bIns="0">
            <a:spAutoFit/>
          </a:bodyPr>
          <a:lstStyle/>
          <a:p>
            <a:r>
              <a:rPr sz="1150" b="0">
                <a:solidFill>
                  <a:srgbClr val="2E2E2E"/>
                </a:solidFill>
                <a:latin typeface="Calibri"/>
              </a:rPr>
              <a:t>▪ 'Small - 30 g to below 60 g' cedes the most -</a:t>
            </a:r>
          </a:p>
        </p:txBody>
      </p:sp>
      <p:pic>
        <p:nvPicPr>
          <p:cNvPr id="43" name="Picture 42" descr="lock.png"/>
          <p:cNvPicPr>
            <a:picLocks noChangeAspect="1"/>
          </p:cNvPicPr>
          <p:nvPr/>
        </p:nvPicPr>
        <p:blipFill>
          <a:blip r:embed="rId5"/>
          <a:stretch>
            <a:fillRect/>
          </a:stretch>
        </p:blipFill>
        <p:spPr>
          <a:xfrm>
            <a:off x="10542851" y="1793049"/>
            <a:ext cx="134549" cy="195707"/>
          </a:xfrm>
          <a:prstGeom prst="rect">
            <a:avLst/>
          </a:prstGeom>
        </p:spPr>
      </p:pic>
      <p:sp>
        <p:nvSpPr>
          <p:cNvPr id="44" name="TextBox 43"/>
          <p:cNvSpPr txBox="1"/>
          <p:nvPr/>
        </p:nvSpPr>
        <p:spPr>
          <a:xfrm>
            <a:off x="10717960" y="180327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45" name="TextBox 44"/>
          <p:cNvSpPr txBox="1"/>
          <p:nvPr/>
        </p:nvSpPr>
        <p:spPr>
          <a:xfrm>
            <a:off x="7829550" y="1978533"/>
            <a:ext cx="1364691" cy="194310"/>
          </a:xfrm>
          <a:prstGeom prst="rect">
            <a:avLst/>
          </a:prstGeom>
          <a:noFill/>
        </p:spPr>
        <p:txBody>
          <a:bodyPr wrap="none" lIns="0" rIns="0" tIns="0" bIns="0">
            <a:spAutoFit/>
          </a:bodyPr>
          <a:lstStyle/>
          <a:p>
            <a:r>
              <a:rPr sz="1150" b="0">
                <a:solidFill>
                  <a:srgbClr val="2E2E2E"/>
                </a:solidFill>
                <a:latin typeface="Calibri"/>
              </a:rPr>
              <a:t>same 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3874070" cy="194310"/>
          </a:xfrm>
          <a:prstGeom prst="rect">
            <a:avLst/>
          </a:prstGeom>
          <a:noFill/>
        </p:spPr>
        <p:txBody>
          <a:bodyPr wrap="none" lIns="0" rIns="0" tIns="0" bIns="0">
            <a:spAutoFit/>
          </a:bodyPr>
          <a:lstStyle/>
          <a:p>
            <a:r>
              <a:rPr sz="1150" b="0">
                <a:solidFill>
                  <a:srgbClr val="2E2E2E"/>
                </a:solidFill>
                <a:latin typeface="Calibri"/>
              </a:rPr>
              <a:t>▪ 'Mini / bite-sized - below 30 g' is the fastest-growing individual</a:t>
            </a:r>
          </a:p>
        </p:txBody>
      </p:sp>
      <p:sp>
        <p:nvSpPr>
          <p:cNvPr id="47" name="TextBox 46"/>
          <p:cNvSpPr txBox="1"/>
          <p:nvPr/>
        </p:nvSpPr>
        <p:spPr>
          <a:xfrm>
            <a:off x="7829550" y="2381631"/>
            <a:ext cx="875196" cy="194310"/>
          </a:xfrm>
          <a:prstGeom prst="rect">
            <a:avLst/>
          </a:prstGeom>
          <a:noFill/>
        </p:spPr>
        <p:txBody>
          <a:bodyPr wrap="none" lIns="0" rIns="0" tIns="0" bIns="0">
            <a:spAutoFit/>
          </a:bodyPr>
          <a:lstStyle/>
          <a:p>
            <a:r>
              <a:rPr sz="1150" b="0">
                <a:solidFill>
                  <a:srgbClr val="2E2E2E"/>
                </a:solidFill>
                <a:latin typeface="Calibri"/>
              </a:rPr>
              <a:t>muffin size at</a:t>
            </a:r>
          </a:p>
        </p:txBody>
      </p:sp>
      <p:pic>
        <p:nvPicPr>
          <p:cNvPr id="48" name="Picture 47" descr="lock.png"/>
          <p:cNvPicPr>
            <a:picLocks noChangeAspect="1"/>
          </p:cNvPicPr>
          <p:nvPr/>
        </p:nvPicPr>
        <p:blipFill>
          <a:blip r:embed="rId5"/>
          <a:stretch>
            <a:fillRect/>
          </a:stretch>
        </p:blipFill>
        <p:spPr>
          <a:xfrm>
            <a:off x="8653900" y="2371407"/>
            <a:ext cx="134549" cy="195707"/>
          </a:xfrm>
          <a:prstGeom prst="rect">
            <a:avLst/>
          </a:prstGeom>
        </p:spPr>
      </p:pic>
      <p:sp>
        <p:nvSpPr>
          <p:cNvPr id="49" name="TextBox 48"/>
          <p:cNvSpPr txBox="1"/>
          <p:nvPr/>
        </p:nvSpPr>
        <p:spPr>
          <a:xfrm>
            <a:off x="882900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Individual Muffin Size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Individual Muffin Size,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Individual Muffin Size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sp>
        <p:nvSpPr>
          <p:cNvPr id="33" name="Rectangle 32"/>
          <p:cNvSpPr/>
          <p:nvPr/>
        </p:nvSpPr>
        <p:spPr>
          <a:xfrm>
            <a:off x="185737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sp>
        <p:nvSpPr>
          <p:cNvPr id="49" name="Rectangle 48"/>
          <p:cNvSpPr/>
          <p:nvPr/>
        </p:nvSpPr>
        <p:spPr>
          <a:xfrm>
            <a:off x="185737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sp>
        <p:nvSpPr>
          <p:cNvPr id="65" name="Rectangle 64"/>
          <p:cNvSpPr/>
          <p:nvPr/>
        </p:nvSpPr>
        <p:spPr>
          <a:xfrm>
            <a:off x="1857375" y="4910138"/>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81" name="Rectangle 80"/>
          <p:cNvSpPr/>
          <p:nvPr/>
        </p:nvSpPr>
        <p:spPr>
          <a:xfrm>
            <a:off x="185737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060904" y="1713738"/>
            <a:ext cx="366712" cy="533400"/>
          </a:xfrm>
          <a:prstGeom prst="rect">
            <a:avLst/>
          </a:prstGeom>
        </p:spPr>
      </p:pic>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Individual Muffin Size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Individual Muffin Size,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Individual Muffin Size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sp>
        <p:nvSpPr>
          <p:cNvPr id="33" name="Rectangle 32"/>
          <p:cNvSpPr/>
          <p:nvPr/>
        </p:nvSpPr>
        <p:spPr>
          <a:xfrm>
            <a:off x="185737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sp>
        <p:nvSpPr>
          <p:cNvPr id="49" name="Rectangle 48"/>
          <p:cNvSpPr/>
          <p:nvPr/>
        </p:nvSpPr>
        <p:spPr>
          <a:xfrm>
            <a:off x="185737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sp>
        <p:nvSpPr>
          <p:cNvPr id="65" name="Rectangle 64"/>
          <p:cNvSpPr/>
          <p:nvPr/>
        </p:nvSpPr>
        <p:spPr>
          <a:xfrm>
            <a:off x="1857375" y="4910138"/>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81" name="Rectangle 80"/>
          <p:cNvSpPr/>
          <p:nvPr/>
        </p:nvSpPr>
        <p:spPr>
          <a:xfrm>
            <a:off x="1857375" y="5741194"/>
            <a:ext cx="643890" cy="831056"/>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060904"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Storage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Storage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Storage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Storage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Storage Format segment categorizes the market by storage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Frozen</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Chilled</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Ambient</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Storage Format split shows how demand is distributed across storage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6_162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8_984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3_8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_401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_24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6_3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_336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_51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6_5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77975" cy="186689"/>
          </a:xfrm>
          <a:prstGeom prst="rect">
            <a:avLst/>
          </a:prstGeom>
          <a:noFill/>
        </p:spPr>
        <p:txBody>
          <a:bodyPr wrap="none" lIns="0" rIns="0" tIns="0" bIns="0">
            <a:spAutoFit/>
          </a:bodyPr>
          <a:lstStyle/>
          <a:p>
            <a:r>
              <a:rPr sz="1100" b="0">
                <a:solidFill>
                  <a:srgbClr val="2E2E2E"/>
                </a:solidFill>
                <a:latin typeface="Calibri"/>
              </a:rPr>
              <a:t>▪ 'Frozen' holds the largest share in 2026</a:t>
            </a:r>
          </a:p>
        </p:txBody>
      </p:sp>
      <p:pic>
        <p:nvPicPr>
          <p:cNvPr id="70" name="Picture 69" descr="lock.png"/>
          <p:cNvPicPr>
            <a:picLocks noChangeAspect="1"/>
          </p:cNvPicPr>
          <p:nvPr/>
        </p:nvPicPr>
        <p:blipFill>
          <a:blip r:embed="rId13"/>
          <a:stretch>
            <a:fillRect/>
          </a:stretch>
        </p:blipFill>
        <p:spPr>
          <a:xfrm>
            <a:off x="2811802" y="4219658"/>
            <a:ext cx="128699" cy="187198"/>
          </a:xfrm>
          <a:prstGeom prst="rect">
            <a:avLst/>
          </a:prstGeom>
        </p:spPr>
      </p:pic>
      <p:sp>
        <p:nvSpPr>
          <p:cNvPr id="71" name="TextBox 70"/>
          <p:cNvSpPr txBox="1"/>
          <p:nvPr/>
        </p:nvSpPr>
        <p:spPr>
          <a:xfrm>
            <a:off x="2979298"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72" name="TextBox 71"/>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73" name="TextBox 72"/>
          <p:cNvSpPr txBox="1"/>
          <p:nvPr/>
        </p:nvSpPr>
        <p:spPr>
          <a:xfrm>
            <a:off x="485775" y="4615009"/>
            <a:ext cx="2875384" cy="186689"/>
          </a:xfrm>
          <a:prstGeom prst="rect">
            <a:avLst/>
          </a:prstGeom>
          <a:noFill/>
        </p:spPr>
        <p:txBody>
          <a:bodyPr wrap="none" lIns="0" rIns="0" tIns="0" bIns="0">
            <a:spAutoFit/>
          </a:bodyPr>
          <a:lstStyle/>
          <a:p>
            <a:r>
              <a:rPr sz="1100" b="0">
                <a:solidFill>
                  <a:srgbClr val="2E2E2E"/>
                </a:solidFill>
                <a:latin typeface="Calibri"/>
              </a:rPr>
              <a:t>▪ 'Ambient' is the fastest-growing sub-segment at</a:t>
            </a:r>
          </a:p>
        </p:txBody>
      </p:sp>
      <p:pic>
        <p:nvPicPr>
          <p:cNvPr id="74" name="Picture 73" descr="lock.png"/>
          <p:cNvPicPr>
            <a:picLocks noChangeAspect="1"/>
          </p:cNvPicPr>
          <p:nvPr/>
        </p:nvPicPr>
        <p:blipFill>
          <a:blip r:embed="rId13"/>
          <a:stretch>
            <a:fillRect/>
          </a:stretch>
        </p:blipFill>
        <p:spPr>
          <a:xfrm>
            <a:off x="472307" y="4772870"/>
            <a:ext cx="128699" cy="187198"/>
          </a:xfrm>
          <a:prstGeom prst="rect">
            <a:avLst/>
          </a:prstGeom>
        </p:spPr>
      </p:pic>
      <p:sp>
        <p:nvSpPr>
          <p:cNvPr id="75" name="TextBox 74"/>
          <p:cNvSpPr txBox="1"/>
          <p:nvPr/>
        </p:nvSpPr>
        <p:spPr>
          <a:xfrm>
            <a:off x="639803"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6" name="TextBox 7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7" name="Picture 76" descr="lock.png"/>
          <p:cNvPicPr>
            <a:picLocks noChangeAspect="1"/>
          </p:cNvPicPr>
          <p:nvPr/>
        </p:nvPicPr>
        <p:blipFill>
          <a:blip r:embed="rId13"/>
          <a:stretch>
            <a:fillRect/>
          </a:stretch>
        </p:blipFill>
        <p:spPr>
          <a:xfrm>
            <a:off x="2240451" y="4990801"/>
            <a:ext cx="128699" cy="187198"/>
          </a:xfrm>
          <a:prstGeom prst="rect">
            <a:avLst/>
          </a:prstGeom>
        </p:spPr>
      </p:pic>
      <p:sp>
        <p:nvSpPr>
          <p:cNvPr id="78" name="TextBox 7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9" name="Picture 78" descr="lock.png"/>
          <p:cNvPicPr>
            <a:picLocks noChangeAspect="1"/>
          </p:cNvPicPr>
          <p:nvPr/>
        </p:nvPicPr>
        <p:blipFill>
          <a:blip r:embed="rId13"/>
          <a:stretch>
            <a:fillRect/>
          </a:stretch>
        </p:blipFill>
        <p:spPr>
          <a:xfrm>
            <a:off x="2552799" y="4990801"/>
            <a:ext cx="128699" cy="187198"/>
          </a:xfrm>
          <a:prstGeom prst="rect">
            <a:avLst/>
          </a:prstGeom>
        </p:spPr>
      </p:pic>
      <p:sp>
        <p:nvSpPr>
          <p:cNvPr id="80" name="TextBox 7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2" name="TextBox 81"/>
          <p:cNvSpPr txBox="1"/>
          <p:nvPr/>
        </p:nvSpPr>
        <p:spPr>
          <a:xfrm>
            <a:off x="485775" y="5386153"/>
            <a:ext cx="2673201" cy="186689"/>
          </a:xfrm>
          <a:prstGeom prst="rect">
            <a:avLst/>
          </a:prstGeom>
          <a:noFill/>
        </p:spPr>
        <p:txBody>
          <a:bodyPr wrap="none" lIns="0" rIns="0" tIns="0" bIns="0">
            <a:spAutoFit/>
          </a:bodyPr>
          <a:lstStyle/>
          <a:p>
            <a:r>
              <a:rPr sz="1100" b="0">
                <a:solidFill>
                  <a:srgbClr val="2E2E2E"/>
                </a:solidFill>
                <a:latin typeface="Calibri"/>
              </a:rPr>
              <a:t>▪ 3 sub-segments make up the storage format</a:t>
            </a:r>
          </a:p>
        </p:txBody>
      </p:sp>
      <p:sp>
        <p:nvSpPr>
          <p:cNvPr id="83" name="TextBox 82"/>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4" name="TextBox 83"/>
          <p:cNvSpPr txBox="1"/>
          <p:nvPr/>
        </p:nvSpPr>
        <p:spPr>
          <a:xfrm>
            <a:off x="3838575" y="4229437"/>
            <a:ext cx="614263" cy="186689"/>
          </a:xfrm>
          <a:prstGeom prst="rect">
            <a:avLst/>
          </a:prstGeom>
          <a:noFill/>
        </p:spPr>
        <p:txBody>
          <a:bodyPr wrap="none" lIns="0" rIns="0" tIns="0" bIns="0">
            <a:spAutoFit/>
          </a:bodyPr>
          <a:lstStyle/>
          <a:p>
            <a:r>
              <a:rPr sz="1100" b="0">
                <a:solidFill>
                  <a:srgbClr val="2E2E2E"/>
                </a:solidFill>
                <a:latin typeface="Calibri"/>
              </a:rPr>
              <a:t>● Frozen:</a:t>
            </a:r>
          </a:p>
        </p:txBody>
      </p:sp>
      <p:pic>
        <p:nvPicPr>
          <p:cNvPr id="85" name="Picture 84" descr="lock.png"/>
          <p:cNvPicPr>
            <a:picLocks noChangeAspect="1"/>
          </p:cNvPicPr>
          <p:nvPr/>
        </p:nvPicPr>
        <p:blipFill>
          <a:blip r:embed="rId13"/>
          <a:stretch>
            <a:fillRect/>
          </a:stretch>
        </p:blipFill>
        <p:spPr>
          <a:xfrm>
            <a:off x="4400889" y="4219658"/>
            <a:ext cx="128699" cy="187198"/>
          </a:xfrm>
          <a:prstGeom prst="rect">
            <a:avLst/>
          </a:prstGeom>
        </p:spPr>
      </p:pic>
      <p:sp>
        <p:nvSpPr>
          <p:cNvPr id="86" name="TextBox 85"/>
          <p:cNvSpPr txBox="1"/>
          <p:nvPr/>
        </p:nvSpPr>
        <p:spPr>
          <a:xfrm>
            <a:off x="456838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3"/>
          <a:stretch>
            <a:fillRect/>
          </a:stretch>
        </p:blipFill>
        <p:spPr>
          <a:xfrm>
            <a:off x="5427835" y="4219658"/>
            <a:ext cx="128699" cy="187198"/>
          </a:xfrm>
          <a:prstGeom prst="rect">
            <a:avLst/>
          </a:prstGeom>
        </p:spPr>
      </p:pic>
      <p:sp>
        <p:nvSpPr>
          <p:cNvPr id="88" name="TextBox 87"/>
          <p:cNvSpPr txBox="1"/>
          <p:nvPr/>
        </p:nvSpPr>
        <p:spPr>
          <a:xfrm>
            <a:off x="5595331"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9" name="TextBox 88"/>
          <p:cNvSpPr txBox="1"/>
          <p:nvPr/>
        </p:nvSpPr>
        <p:spPr>
          <a:xfrm>
            <a:off x="3838575" y="4447369"/>
            <a:ext cx="616991" cy="186689"/>
          </a:xfrm>
          <a:prstGeom prst="rect">
            <a:avLst/>
          </a:prstGeom>
          <a:noFill/>
        </p:spPr>
        <p:txBody>
          <a:bodyPr wrap="none" lIns="0" rIns="0" tIns="0" bIns="0">
            <a:spAutoFit/>
          </a:bodyPr>
          <a:lstStyle/>
          <a:p>
            <a:r>
              <a:rPr sz="1100" b="0">
                <a:solidFill>
                  <a:srgbClr val="2E2E2E"/>
                </a:solidFill>
                <a:latin typeface="Calibri"/>
              </a:rPr>
              <a:t>● Chilled:</a:t>
            </a:r>
          </a:p>
        </p:txBody>
      </p:sp>
      <p:pic>
        <p:nvPicPr>
          <p:cNvPr id="90" name="Picture 89" descr="lock.png"/>
          <p:cNvPicPr>
            <a:picLocks noChangeAspect="1"/>
          </p:cNvPicPr>
          <p:nvPr/>
        </p:nvPicPr>
        <p:blipFill>
          <a:blip r:embed="rId13"/>
          <a:stretch>
            <a:fillRect/>
          </a:stretch>
        </p:blipFill>
        <p:spPr>
          <a:xfrm>
            <a:off x="4403618" y="4437590"/>
            <a:ext cx="128699" cy="187198"/>
          </a:xfrm>
          <a:prstGeom prst="rect">
            <a:avLst/>
          </a:prstGeom>
        </p:spPr>
      </p:pic>
      <p:sp>
        <p:nvSpPr>
          <p:cNvPr id="91" name="TextBox 90"/>
          <p:cNvSpPr txBox="1"/>
          <p:nvPr/>
        </p:nvSpPr>
        <p:spPr>
          <a:xfrm>
            <a:off x="457111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2" name="Picture 91" descr="lock.png"/>
          <p:cNvPicPr>
            <a:picLocks noChangeAspect="1"/>
          </p:cNvPicPr>
          <p:nvPr/>
        </p:nvPicPr>
        <p:blipFill>
          <a:blip r:embed="rId13"/>
          <a:stretch>
            <a:fillRect/>
          </a:stretch>
        </p:blipFill>
        <p:spPr>
          <a:xfrm>
            <a:off x="5430564" y="4437590"/>
            <a:ext cx="128699" cy="187198"/>
          </a:xfrm>
          <a:prstGeom prst="rect">
            <a:avLst/>
          </a:prstGeom>
        </p:spPr>
      </p:pic>
      <p:sp>
        <p:nvSpPr>
          <p:cNvPr id="93" name="TextBox 92"/>
          <p:cNvSpPr txBox="1"/>
          <p:nvPr/>
        </p:nvSpPr>
        <p:spPr>
          <a:xfrm>
            <a:off x="559806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4" name="TextBox 93"/>
          <p:cNvSpPr txBox="1"/>
          <p:nvPr/>
        </p:nvSpPr>
        <p:spPr>
          <a:xfrm>
            <a:off x="3838575" y="4665301"/>
            <a:ext cx="717401" cy="186689"/>
          </a:xfrm>
          <a:prstGeom prst="rect">
            <a:avLst/>
          </a:prstGeom>
          <a:noFill/>
        </p:spPr>
        <p:txBody>
          <a:bodyPr wrap="none" lIns="0" rIns="0" tIns="0" bIns="0">
            <a:spAutoFit/>
          </a:bodyPr>
          <a:lstStyle/>
          <a:p>
            <a:r>
              <a:rPr sz="1100" b="0">
                <a:solidFill>
                  <a:srgbClr val="2E2E2E"/>
                </a:solidFill>
                <a:latin typeface="Calibri"/>
              </a:rPr>
              <a:t>● Ambient:</a:t>
            </a:r>
          </a:p>
        </p:txBody>
      </p:sp>
      <p:pic>
        <p:nvPicPr>
          <p:cNvPr id="95" name="Picture 94" descr="lock.png"/>
          <p:cNvPicPr>
            <a:picLocks noChangeAspect="1"/>
          </p:cNvPicPr>
          <p:nvPr/>
        </p:nvPicPr>
        <p:blipFill>
          <a:blip r:embed="rId13"/>
          <a:stretch>
            <a:fillRect/>
          </a:stretch>
        </p:blipFill>
        <p:spPr>
          <a:xfrm>
            <a:off x="4504027" y="4655522"/>
            <a:ext cx="128699" cy="187198"/>
          </a:xfrm>
          <a:prstGeom prst="rect">
            <a:avLst/>
          </a:prstGeom>
        </p:spPr>
      </p:pic>
      <p:sp>
        <p:nvSpPr>
          <p:cNvPr id="96" name="TextBox 95"/>
          <p:cNvSpPr txBox="1"/>
          <p:nvPr/>
        </p:nvSpPr>
        <p:spPr>
          <a:xfrm>
            <a:off x="46715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5530973" y="4655522"/>
            <a:ext cx="128699" cy="187198"/>
          </a:xfrm>
          <a:prstGeom prst="rect">
            <a:avLst/>
          </a:prstGeom>
        </p:spPr>
      </p:pic>
      <p:sp>
        <p:nvSpPr>
          <p:cNvPr id="98" name="TextBox 97"/>
          <p:cNvSpPr txBox="1"/>
          <p:nvPr/>
        </p:nvSpPr>
        <p:spPr>
          <a:xfrm>
            <a:off x="5698469"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9" name="TextBox 98"/>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Storage Format segment is projected to grow at</a:t>
            </a:r>
          </a:p>
        </p:txBody>
      </p:sp>
      <p:sp>
        <p:nvSpPr>
          <p:cNvPr id="100" name="TextBox 99"/>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01" name="Picture 100" descr="lock.png"/>
          <p:cNvPicPr>
            <a:picLocks noChangeAspect="1"/>
          </p:cNvPicPr>
          <p:nvPr/>
        </p:nvPicPr>
        <p:blipFill>
          <a:blip r:embed="rId13"/>
          <a:stretch>
            <a:fillRect/>
          </a:stretch>
        </p:blipFill>
        <p:spPr>
          <a:xfrm>
            <a:off x="9154084" y="6007677"/>
            <a:ext cx="134549" cy="195707"/>
          </a:xfrm>
          <a:prstGeom prst="rect">
            <a:avLst/>
          </a:prstGeom>
        </p:spPr>
      </p:pic>
      <p:sp>
        <p:nvSpPr>
          <p:cNvPr id="102" name="TextBox 101"/>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Storage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Storage Format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Storage Format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Storage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521770" cy="186689"/>
          </a:xfrm>
          <a:prstGeom prst="rect">
            <a:avLst/>
          </a:prstGeom>
          <a:noFill/>
        </p:spPr>
        <p:txBody>
          <a:bodyPr wrap="none" lIns="0" rIns="0" tIns="0" bIns="0">
            <a:spAutoFit/>
          </a:bodyPr>
          <a:lstStyle/>
          <a:p>
            <a:r>
              <a:rPr sz="1100" b="0">
                <a:solidFill>
                  <a:srgbClr val="2E2E2E"/>
                </a:solidFill>
                <a:latin typeface="Calibri"/>
              </a:rPr>
              <a:t>Between 2026 and 2036, 'Chilled' gains the most share in the Global market (+</a:t>
            </a:r>
          </a:p>
        </p:txBody>
      </p:sp>
      <p:pic>
        <p:nvPicPr>
          <p:cNvPr id="21" name="Picture 20" descr="lock.png"/>
          <p:cNvPicPr>
            <a:picLocks noChangeAspect="1"/>
          </p:cNvPicPr>
          <p:nvPr/>
        </p:nvPicPr>
        <p:blipFill>
          <a:blip r:embed="rId6"/>
          <a:stretch>
            <a:fillRect/>
          </a:stretch>
        </p:blipFill>
        <p:spPr>
          <a:xfrm>
            <a:off x="4726997" y="5935726"/>
            <a:ext cx="128699" cy="187198"/>
          </a:xfrm>
          <a:prstGeom prst="rect">
            <a:avLst/>
          </a:prstGeom>
        </p:spPr>
      </p:pic>
      <p:sp>
        <p:nvSpPr>
          <p:cNvPr id="22" name="TextBox 21"/>
          <p:cNvSpPr txBox="1"/>
          <p:nvPr/>
        </p:nvSpPr>
        <p:spPr>
          <a:xfrm>
            <a:off x="4894492" y="5945505"/>
            <a:ext cx="1505942" cy="186689"/>
          </a:xfrm>
          <a:prstGeom prst="rect">
            <a:avLst/>
          </a:prstGeom>
          <a:noFill/>
        </p:spPr>
        <p:txBody>
          <a:bodyPr wrap="none" lIns="0" rIns="0" tIns="0" bIns="0">
            <a:spAutoFit/>
          </a:bodyPr>
          <a:lstStyle/>
          <a:p>
            <a:r>
              <a:rPr sz="1100" b="0">
                <a:solidFill>
                  <a:srgbClr val="2E2E2E"/>
                </a:solidFill>
                <a:latin typeface="Calibri"/>
              </a:rPr>
              <a:t>BPS) while 'Frozen' cedes</a:t>
            </a:r>
          </a:p>
        </p:txBody>
      </p:sp>
      <p:pic>
        <p:nvPicPr>
          <p:cNvPr id="23" name="Picture 22" descr="lock.png"/>
          <p:cNvPicPr>
            <a:picLocks noChangeAspect="1"/>
          </p:cNvPicPr>
          <p:nvPr/>
        </p:nvPicPr>
        <p:blipFill>
          <a:blip r:embed="rId6"/>
          <a:stretch>
            <a:fillRect/>
          </a:stretch>
        </p:blipFill>
        <p:spPr>
          <a:xfrm>
            <a:off x="6348486" y="5935726"/>
            <a:ext cx="128699" cy="187198"/>
          </a:xfrm>
          <a:prstGeom prst="rect">
            <a:avLst/>
          </a:prstGeom>
        </p:spPr>
      </p:pic>
      <p:sp>
        <p:nvSpPr>
          <p:cNvPr id="24" name="TextBox 23"/>
          <p:cNvSpPr txBox="1"/>
          <p:nvPr/>
        </p:nvSpPr>
        <p:spPr>
          <a:xfrm>
            <a:off x="6515982"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Storage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Ambient</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Chilled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Frozen</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Storage Format</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3134692" cy="194310"/>
          </a:xfrm>
          <a:prstGeom prst="rect">
            <a:avLst/>
          </a:prstGeom>
          <a:noFill/>
        </p:spPr>
        <p:txBody>
          <a:bodyPr wrap="none" lIns="0" rIns="0" tIns="0" bIns="0">
            <a:spAutoFit/>
          </a:bodyPr>
          <a:lstStyle/>
          <a:p>
            <a:r>
              <a:rPr sz="1150" b="0">
                <a:solidFill>
                  <a:srgbClr val="2E2E2E"/>
                </a:solidFill>
                <a:latin typeface="Calibri"/>
              </a:rPr>
              <a:t>▪ Across its 3 sub-segments, by storage format adds</a:t>
            </a:r>
          </a:p>
        </p:txBody>
      </p:sp>
      <p:pic>
        <p:nvPicPr>
          <p:cNvPr id="29" name="Picture 28" descr="lock.png"/>
          <p:cNvPicPr>
            <a:picLocks noChangeAspect="1"/>
          </p:cNvPicPr>
          <p:nvPr/>
        </p:nvPicPr>
        <p:blipFill>
          <a:blip r:embed="rId7"/>
          <a:stretch>
            <a:fillRect/>
          </a:stretch>
        </p:blipFill>
        <p:spPr>
          <a:xfrm>
            <a:off x="9389396" y="4276026"/>
            <a:ext cx="134549" cy="195707"/>
          </a:xfrm>
          <a:prstGeom prst="rect">
            <a:avLst/>
          </a:prstGeom>
        </p:spPr>
      </p:pic>
      <p:sp>
        <p:nvSpPr>
          <p:cNvPr id="30" name="TextBox 29"/>
          <p:cNvSpPr txBox="1"/>
          <p:nvPr/>
        </p:nvSpPr>
        <p:spPr>
          <a:xfrm>
            <a:off x="9564505" y="4286250"/>
            <a:ext cx="1811970" cy="194310"/>
          </a:xfrm>
          <a:prstGeom prst="rect">
            <a:avLst/>
          </a:prstGeom>
          <a:noFill/>
        </p:spPr>
        <p:txBody>
          <a:bodyPr wrap="none" lIns="0" rIns="0" tIns="0" bIns="0">
            <a:spAutoFit/>
          </a:bodyPr>
          <a:lstStyle/>
          <a:p>
            <a:r>
              <a:rPr sz="1150" b="0">
                <a:solidFill>
                  <a:srgbClr val="2E2E2E"/>
                </a:solidFill>
                <a:latin typeface="Calibri"/>
              </a:rPr>
              <a:t>US$ Mn to the Global market</a:t>
            </a:r>
          </a:p>
        </p:txBody>
      </p:sp>
      <p:sp>
        <p:nvSpPr>
          <p:cNvPr id="31" name="TextBox 30"/>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2" name="TextBox 31"/>
          <p:cNvSpPr txBox="1"/>
          <p:nvPr/>
        </p:nvSpPr>
        <p:spPr>
          <a:xfrm>
            <a:off x="6305550" y="4689347"/>
            <a:ext cx="943942" cy="194310"/>
          </a:xfrm>
          <a:prstGeom prst="rect">
            <a:avLst/>
          </a:prstGeom>
          <a:noFill/>
        </p:spPr>
        <p:txBody>
          <a:bodyPr wrap="none" lIns="0" rIns="0" tIns="0" bIns="0">
            <a:spAutoFit/>
          </a:bodyPr>
          <a:lstStyle/>
          <a:p>
            <a:r>
              <a:rPr sz="1150" b="0">
                <a:solidFill>
                  <a:srgbClr val="2E2E2E"/>
                </a:solidFill>
                <a:latin typeface="Calibri"/>
              </a:rPr>
              <a:t>▪ 'Chilled' adds</a:t>
            </a:r>
          </a:p>
        </p:txBody>
      </p:sp>
      <p:pic>
        <p:nvPicPr>
          <p:cNvPr id="33" name="Picture 32" descr="lock.png"/>
          <p:cNvPicPr>
            <a:picLocks noChangeAspect="1"/>
          </p:cNvPicPr>
          <p:nvPr/>
        </p:nvPicPr>
        <p:blipFill>
          <a:blip r:embed="rId7"/>
          <a:stretch>
            <a:fillRect/>
          </a:stretch>
        </p:blipFill>
        <p:spPr>
          <a:xfrm>
            <a:off x="7198646" y="4679124"/>
            <a:ext cx="134549" cy="195707"/>
          </a:xfrm>
          <a:prstGeom prst="rect">
            <a:avLst/>
          </a:prstGeom>
        </p:spPr>
      </p:pic>
      <p:sp>
        <p:nvSpPr>
          <p:cNvPr id="34" name="TextBox 33"/>
          <p:cNvSpPr txBox="1"/>
          <p:nvPr/>
        </p:nvSpPr>
        <p:spPr>
          <a:xfrm>
            <a:off x="7373755"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7946226" y="4679124"/>
            <a:ext cx="134549" cy="195707"/>
          </a:xfrm>
          <a:prstGeom prst="rect">
            <a:avLst/>
          </a:prstGeom>
        </p:spPr>
      </p:pic>
      <p:sp>
        <p:nvSpPr>
          <p:cNvPr id="36" name="TextBox 35"/>
          <p:cNvSpPr txBox="1"/>
          <p:nvPr/>
        </p:nvSpPr>
        <p:spPr>
          <a:xfrm>
            <a:off x="8121335"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941089" cy="194310"/>
          </a:xfrm>
          <a:prstGeom prst="rect">
            <a:avLst/>
          </a:prstGeom>
          <a:noFill/>
        </p:spPr>
        <p:txBody>
          <a:bodyPr wrap="none" lIns="0" rIns="0" tIns="0" bIns="0">
            <a:spAutoFit/>
          </a:bodyPr>
          <a:lstStyle/>
          <a:p>
            <a:r>
              <a:rPr sz="1150" b="0">
                <a:solidFill>
                  <a:srgbClr val="2E2E2E"/>
                </a:solidFill>
                <a:latin typeface="Calibri"/>
              </a:rPr>
              <a:t>▪ 'Frozen' adds</a:t>
            </a:r>
          </a:p>
        </p:txBody>
      </p:sp>
      <p:pic>
        <p:nvPicPr>
          <p:cNvPr id="38" name="Picture 37" descr="lock.png"/>
          <p:cNvPicPr>
            <a:picLocks noChangeAspect="1"/>
          </p:cNvPicPr>
          <p:nvPr/>
        </p:nvPicPr>
        <p:blipFill>
          <a:blip r:embed="rId7"/>
          <a:stretch>
            <a:fillRect/>
          </a:stretch>
        </p:blipFill>
        <p:spPr>
          <a:xfrm>
            <a:off x="7195793" y="4906962"/>
            <a:ext cx="134549" cy="195707"/>
          </a:xfrm>
          <a:prstGeom prst="rect">
            <a:avLst/>
          </a:prstGeom>
        </p:spPr>
      </p:pic>
      <p:sp>
        <p:nvSpPr>
          <p:cNvPr id="39" name="TextBox 38"/>
          <p:cNvSpPr txBox="1"/>
          <p:nvPr/>
        </p:nvSpPr>
        <p:spPr>
          <a:xfrm>
            <a:off x="737090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7943373" y="4906962"/>
            <a:ext cx="134549" cy="195707"/>
          </a:xfrm>
          <a:prstGeom prst="rect">
            <a:avLst/>
          </a:prstGeom>
        </p:spPr>
      </p:pic>
      <p:sp>
        <p:nvSpPr>
          <p:cNvPr id="41" name="TextBox 40"/>
          <p:cNvSpPr txBox="1"/>
          <p:nvPr/>
        </p:nvSpPr>
        <p:spPr>
          <a:xfrm>
            <a:off x="811848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048915" cy="194310"/>
          </a:xfrm>
          <a:prstGeom prst="rect">
            <a:avLst/>
          </a:prstGeom>
          <a:noFill/>
        </p:spPr>
        <p:txBody>
          <a:bodyPr wrap="none" lIns="0" rIns="0" tIns="0" bIns="0">
            <a:spAutoFit/>
          </a:bodyPr>
          <a:lstStyle/>
          <a:p>
            <a:r>
              <a:rPr sz="1150" b="0">
                <a:solidFill>
                  <a:srgbClr val="2E2E2E"/>
                </a:solidFill>
                <a:latin typeface="Calibri"/>
              </a:rPr>
              <a:t>▪ 'Ambient' adds</a:t>
            </a:r>
          </a:p>
        </p:txBody>
      </p:sp>
      <p:pic>
        <p:nvPicPr>
          <p:cNvPr id="43" name="Picture 42" descr="lock.png"/>
          <p:cNvPicPr>
            <a:picLocks noChangeAspect="1"/>
          </p:cNvPicPr>
          <p:nvPr/>
        </p:nvPicPr>
        <p:blipFill>
          <a:blip r:embed="rId7"/>
          <a:stretch>
            <a:fillRect/>
          </a:stretch>
        </p:blipFill>
        <p:spPr>
          <a:xfrm>
            <a:off x="7303619" y="5134800"/>
            <a:ext cx="134549" cy="195707"/>
          </a:xfrm>
          <a:prstGeom prst="rect">
            <a:avLst/>
          </a:prstGeom>
        </p:spPr>
      </p:pic>
      <p:sp>
        <p:nvSpPr>
          <p:cNvPr id="44" name="TextBox 43"/>
          <p:cNvSpPr txBox="1"/>
          <p:nvPr/>
        </p:nvSpPr>
        <p:spPr>
          <a:xfrm>
            <a:off x="7478729"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051199" y="5134800"/>
            <a:ext cx="134549" cy="195707"/>
          </a:xfrm>
          <a:prstGeom prst="rect">
            <a:avLst/>
          </a:prstGeom>
        </p:spPr>
      </p:pic>
      <p:sp>
        <p:nvSpPr>
          <p:cNvPr id="46" name="TextBox 45"/>
          <p:cNvSpPr txBox="1"/>
          <p:nvPr/>
        </p:nvSpPr>
        <p:spPr>
          <a:xfrm>
            <a:off x="8226309"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Storage Format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Storage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Storage Format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658741"/>
                <a:gridCol w="674370"/>
                <a:gridCol w="674370"/>
                <a:gridCol w="674370"/>
                <a:gridCol w="674370"/>
                <a:gridCol w="674370"/>
                <a:gridCol w="674370"/>
                <a:gridCol w="674370"/>
                <a:gridCol w="674370"/>
                <a:gridCol w="674370"/>
                <a:gridCol w="674370"/>
                <a:gridCol w="674370"/>
                <a:gridCol w="674370"/>
                <a:gridCol w="674370"/>
                <a:gridCol w="674370"/>
                <a:gridCol w="674370"/>
                <a:gridCol w="674370"/>
                <a:gridCol w="438539"/>
              </a:tblGrid>
              <a:tr h="438912">
                <a:tc>
                  <a:txBody>
                    <a:bodyPr wrap="none"/>
                    <a:lstStyle/>
                    <a:p>
                      <a:pPr algn="l"/>
                      <a:r>
                        <a:rPr sz="1100" b="1">
                          <a:solidFill>
                            <a:srgbClr val="0B2E4A"/>
                          </a:solidFill>
                          <a:latin typeface="Calibri"/>
                        </a:rPr>
                        <a:t>Storage</a:t>
                      </a:r>
                      <a:endParaRPr sz="1100"/>
                    </a:p>
                    <a:p>
                      <a:pPr algn="l"/>
                      <a:r>
                        <a:rPr sz="1100" b="1">
                          <a:solidFill>
                            <a:srgbClr val="0B2E4A"/>
                          </a:solidFill>
                          <a:latin typeface="Calibri"/>
                        </a:rPr>
                        <a:t>Format</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7460">
                <a:tc>
                  <a:txBody>
                    <a:bodyPr wrap="none"/>
                    <a:lstStyle/>
                    <a:p>
                      <a:pPr algn="l"/>
                      <a:r>
                        <a:rPr sz="1100" b="1">
                          <a:solidFill>
                            <a:srgbClr val="2E2E2E"/>
                          </a:solidFill>
                          <a:latin typeface="Calibri"/>
                        </a:rPr>
                        <a:t>Ambient</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460">
                <a:tc>
                  <a:txBody>
                    <a:bodyPr wrap="none"/>
                    <a:lstStyle/>
                    <a:p>
                      <a:pPr algn="l"/>
                      <a:r>
                        <a:rPr sz="1100" b="1">
                          <a:solidFill>
                            <a:srgbClr val="2E2E2E"/>
                          </a:solidFill>
                          <a:latin typeface="Calibri"/>
                        </a:rPr>
                        <a:t>Chilled</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460">
                <a:tc>
                  <a:txBody>
                    <a:bodyPr wrap="none"/>
                    <a:lstStyle/>
                    <a:p>
                      <a:pPr algn="l"/>
                      <a:r>
                        <a:rPr sz="1100" b="1">
                          <a:solidFill>
                            <a:srgbClr val="2E2E2E"/>
                          </a:solidFill>
                          <a:latin typeface="Calibri"/>
                        </a:rPr>
                        <a:t>Frozen</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Storage Format</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38680" y="1905381"/>
            <a:ext cx="366712" cy="533400"/>
          </a:xfrm>
          <a:prstGeom prst="rect">
            <a:avLst/>
          </a:prstGeom>
        </p:spPr>
      </p:pic>
      <p:sp>
        <p:nvSpPr>
          <p:cNvPr id="21" name="TextBox 20"/>
          <p:cNvSpPr txBox="1"/>
          <p:nvPr/>
        </p:nvSpPr>
        <p:spPr>
          <a:xfrm>
            <a:off x="276225" y="3429000"/>
            <a:ext cx="2490303" cy="194310"/>
          </a:xfrm>
          <a:prstGeom prst="rect">
            <a:avLst/>
          </a:prstGeom>
          <a:noFill/>
        </p:spPr>
        <p:txBody>
          <a:bodyPr wrap="none" lIns="0" rIns="0" tIns="0" bIns="0">
            <a:spAutoFit/>
          </a:bodyPr>
          <a:lstStyle/>
          <a:p>
            <a:r>
              <a:rPr sz="1150" b="0">
                <a:solidFill>
                  <a:srgbClr val="2E2E2E"/>
                </a:solidFill>
                <a:latin typeface="Calibri"/>
              </a:rPr>
              <a:t>▪ 'Frozen' is the largest storage format at</a:t>
            </a:r>
          </a:p>
        </p:txBody>
      </p:sp>
      <p:pic>
        <p:nvPicPr>
          <p:cNvPr id="22" name="Picture 21" descr="lock.png"/>
          <p:cNvPicPr>
            <a:picLocks noChangeAspect="1"/>
          </p:cNvPicPr>
          <p:nvPr/>
        </p:nvPicPr>
        <p:blipFill>
          <a:blip r:embed="rId4"/>
          <a:stretch>
            <a:fillRect/>
          </a:stretch>
        </p:blipFill>
        <p:spPr>
          <a:xfrm>
            <a:off x="2715682" y="3418776"/>
            <a:ext cx="134549" cy="195707"/>
          </a:xfrm>
          <a:prstGeom prst="rect">
            <a:avLst/>
          </a:prstGeom>
        </p:spPr>
      </p:pic>
      <p:sp>
        <p:nvSpPr>
          <p:cNvPr id="23" name="TextBox 22"/>
          <p:cNvSpPr txBox="1"/>
          <p:nvPr/>
        </p:nvSpPr>
        <p:spPr>
          <a:xfrm>
            <a:off x="2890792" y="3429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920524" y="3418776"/>
            <a:ext cx="134549" cy="195707"/>
          </a:xfrm>
          <a:prstGeom prst="rect">
            <a:avLst/>
          </a:prstGeom>
        </p:spPr>
      </p:pic>
      <p:sp>
        <p:nvSpPr>
          <p:cNvPr id="25" name="TextBox 24"/>
          <p:cNvSpPr txBox="1"/>
          <p:nvPr/>
        </p:nvSpPr>
        <p:spPr>
          <a:xfrm>
            <a:off x="4095634" y="3429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656837"/>
            <a:ext cx="1559235" cy="194310"/>
          </a:xfrm>
          <a:prstGeom prst="rect">
            <a:avLst/>
          </a:prstGeom>
          <a:noFill/>
        </p:spPr>
        <p:txBody>
          <a:bodyPr wrap="none" lIns="0" rIns="0" tIns="0" bIns="0">
            <a:spAutoFit/>
          </a:bodyPr>
          <a:lstStyle/>
          <a:p>
            <a:r>
              <a:rPr sz="1150" b="0">
                <a:solidFill>
                  <a:srgbClr val="2E2E2E"/>
                </a:solidFill>
                <a:latin typeface="Calibri"/>
              </a:rPr>
              <a:t>▪ 'Ambient' grows fastest</a:t>
            </a:r>
          </a:p>
        </p:txBody>
      </p:sp>
      <p:pic>
        <p:nvPicPr>
          <p:cNvPr id="27" name="Picture 26" descr="lock.png"/>
          <p:cNvPicPr>
            <a:picLocks noChangeAspect="1"/>
          </p:cNvPicPr>
          <p:nvPr/>
        </p:nvPicPr>
        <p:blipFill>
          <a:blip r:embed="rId4"/>
          <a:stretch>
            <a:fillRect/>
          </a:stretch>
        </p:blipFill>
        <p:spPr>
          <a:xfrm>
            <a:off x="1784613" y="3646614"/>
            <a:ext cx="134549" cy="195707"/>
          </a:xfrm>
          <a:prstGeom prst="rect">
            <a:avLst/>
          </a:prstGeom>
        </p:spPr>
      </p:pic>
      <p:sp>
        <p:nvSpPr>
          <p:cNvPr id="28" name="TextBox 27"/>
          <p:cNvSpPr txBox="1"/>
          <p:nvPr/>
        </p:nvSpPr>
        <p:spPr>
          <a:xfrm>
            <a:off x="1959723" y="3656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884675"/>
            <a:ext cx="1963439" cy="194310"/>
          </a:xfrm>
          <a:prstGeom prst="rect">
            <a:avLst/>
          </a:prstGeom>
          <a:noFill/>
        </p:spPr>
        <p:txBody>
          <a:bodyPr wrap="none" lIns="0" rIns="0" tIns="0" bIns="0">
            <a:spAutoFit/>
          </a:bodyPr>
          <a:lstStyle/>
          <a:p>
            <a:r>
              <a:rPr sz="1150" b="0">
                <a:solidFill>
                  <a:srgbClr val="2E2E2E"/>
                </a:solidFill>
                <a:latin typeface="Calibri"/>
              </a:rPr>
              <a:t>▪ Share shifts toward 'Chilled' (+</a:t>
            </a:r>
          </a:p>
        </p:txBody>
      </p:sp>
      <p:pic>
        <p:nvPicPr>
          <p:cNvPr id="30" name="Picture 29" descr="lock.png"/>
          <p:cNvPicPr>
            <a:picLocks noChangeAspect="1"/>
          </p:cNvPicPr>
          <p:nvPr/>
        </p:nvPicPr>
        <p:blipFill>
          <a:blip r:embed="rId4"/>
          <a:stretch>
            <a:fillRect/>
          </a:stretch>
        </p:blipFill>
        <p:spPr>
          <a:xfrm>
            <a:off x="2188818" y="3874452"/>
            <a:ext cx="134549" cy="195707"/>
          </a:xfrm>
          <a:prstGeom prst="rect">
            <a:avLst/>
          </a:prstGeom>
        </p:spPr>
      </p:pic>
      <p:sp>
        <p:nvSpPr>
          <p:cNvPr id="31" name="TextBox 30"/>
          <p:cNvSpPr txBox="1"/>
          <p:nvPr/>
        </p:nvSpPr>
        <p:spPr>
          <a:xfrm>
            <a:off x="2363928" y="3884675"/>
            <a:ext cx="1886706" cy="194310"/>
          </a:xfrm>
          <a:prstGeom prst="rect">
            <a:avLst/>
          </a:prstGeom>
          <a:noFill/>
        </p:spPr>
        <p:txBody>
          <a:bodyPr wrap="none" lIns="0" rIns="0" tIns="0" bIns="0">
            <a:spAutoFit/>
          </a:bodyPr>
          <a:lstStyle/>
          <a:p>
            <a:r>
              <a:rPr sz="1150" b="0">
                <a:solidFill>
                  <a:srgbClr val="2E2E2E"/>
                </a:solidFill>
                <a:latin typeface="Calibri"/>
              </a:rPr>
              <a:t>BPS) and away from 'Frozen' (-</a:t>
            </a:r>
          </a:p>
        </p:txBody>
      </p:sp>
      <p:pic>
        <p:nvPicPr>
          <p:cNvPr id="32" name="Picture 31" descr="lock.png"/>
          <p:cNvPicPr>
            <a:picLocks noChangeAspect="1"/>
          </p:cNvPicPr>
          <p:nvPr/>
        </p:nvPicPr>
        <p:blipFill>
          <a:blip r:embed="rId4"/>
          <a:stretch>
            <a:fillRect/>
          </a:stretch>
        </p:blipFill>
        <p:spPr>
          <a:xfrm>
            <a:off x="4199788" y="3874452"/>
            <a:ext cx="134549" cy="195707"/>
          </a:xfrm>
          <a:prstGeom prst="rect">
            <a:avLst/>
          </a:prstGeom>
        </p:spPr>
      </p:pic>
      <p:sp>
        <p:nvSpPr>
          <p:cNvPr id="33" name="TextBox 32"/>
          <p:cNvSpPr txBox="1"/>
          <p:nvPr/>
        </p:nvSpPr>
        <p:spPr>
          <a:xfrm>
            <a:off x="4374897" y="3884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12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02290"/>
            <a:ext cx="134549" cy="195707"/>
          </a:xfrm>
          <a:prstGeom prst="rect">
            <a:avLst/>
          </a:prstGeom>
        </p:spPr>
      </p:pic>
      <p:sp>
        <p:nvSpPr>
          <p:cNvPr id="36" name="TextBox 35"/>
          <p:cNvSpPr txBox="1"/>
          <p:nvPr/>
        </p:nvSpPr>
        <p:spPr>
          <a:xfrm>
            <a:off x="1965143" y="4112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02290"/>
            <a:ext cx="134549" cy="195707"/>
          </a:xfrm>
          <a:prstGeom prst="rect">
            <a:avLst/>
          </a:prstGeom>
        </p:spPr>
      </p:pic>
      <p:sp>
        <p:nvSpPr>
          <p:cNvPr id="38" name="TextBox 37"/>
          <p:cNvSpPr txBox="1"/>
          <p:nvPr/>
        </p:nvSpPr>
        <p:spPr>
          <a:xfrm>
            <a:off x="2291688" y="4112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Storage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Storage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Storage Format (US$ Mn)</a:t>
            </a:r>
          </a:p>
        </p:txBody>
      </p:sp>
      <p:graphicFrame>
        <p:nvGraphicFramePr>
          <p:cNvPr id="13" name="Table 12"/>
          <p:cNvGraphicFramePr>
            <a:graphicFrameLocks noGrp="1"/>
          </p:cNvGraphicFramePr>
          <p:nvPr/>
        </p:nvGraphicFramePr>
        <p:xfrm>
          <a:off x="152400" y="1238250"/>
          <a:ext cx="11887204" cy="1238250"/>
        </p:xfrm>
        <a:graphic>
          <a:graphicData uri="http://schemas.openxmlformats.org/drawingml/2006/table">
            <a:tbl>
              <a:tblPr>
                <a:tableStyleId>{5C22544A-7EE6-4342-B048-85BDC9FD1C3A}</a:tableStyleId>
              </a:tblPr>
              <a:tblGrid>
                <a:gridCol w="1174586"/>
                <a:gridCol w="630154"/>
                <a:gridCol w="630154"/>
                <a:gridCol w="630154"/>
                <a:gridCol w="630154"/>
                <a:gridCol w="630154"/>
                <a:gridCol w="630154"/>
                <a:gridCol w="630154"/>
                <a:gridCol w="630154"/>
                <a:gridCol w="630154"/>
                <a:gridCol w="630154"/>
                <a:gridCol w="630154"/>
                <a:gridCol w="630154"/>
                <a:gridCol w="630154"/>
                <a:gridCol w="630154"/>
                <a:gridCol w="630154"/>
                <a:gridCol w="630154"/>
                <a:gridCol w="630154"/>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Storage Format</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96605" y="1713738"/>
            <a:ext cx="366712" cy="533399"/>
          </a:xfrm>
          <a:prstGeom prst="rect">
            <a:avLst/>
          </a:prstGeom>
        </p:spPr>
      </p:pic>
      <p:sp>
        <p:nvSpPr>
          <p:cNvPr id="21" name="TextBox 20"/>
          <p:cNvSpPr txBox="1"/>
          <p:nvPr/>
        </p:nvSpPr>
        <p:spPr>
          <a:xfrm>
            <a:off x="276225" y="3238500"/>
            <a:ext cx="2490303" cy="194310"/>
          </a:xfrm>
          <a:prstGeom prst="rect">
            <a:avLst/>
          </a:prstGeom>
          <a:noFill/>
        </p:spPr>
        <p:txBody>
          <a:bodyPr wrap="none" lIns="0" rIns="0" tIns="0" bIns="0">
            <a:spAutoFit/>
          </a:bodyPr>
          <a:lstStyle/>
          <a:p>
            <a:r>
              <a:rPr sz="1150" b="0">
                <a:solidFill>
                  <a:srgbClr val="2E2E2E"/>
                </a:solidFill>
                <a:latin typeface="Calibri"/>
              </a:rPr>
              <a:t>▪ 'Frozen' is the largest storage format at</a:t>
            </a:r>
          </a:p>
        </p:txBody>
      </p:sp>
      <p:pic>
        <p:nvPicPr>
          <p:cNvPr id="22" name="Picture 21" descr="lock.png"/>
          <p:cNvPicPr>
            <a:picLocks noChangeAspect="1"/>
          </p:cNvPicPr>
          <p:nvPr/>
        </p:nvPicPr>
        <p:blipFill>
          <a:blip r:embed="rId4"/>
          <a:stretch>
            <a:fillRect/>
          </a:stretch>
        </p:blipFill>
        <p:spPr>
          <a:xfrm>
            <a:off x="2715682" y="3228276"/>
            <a:ext cx="134549" cy="195707"/>
          </a:xfrm>
          <a:prstGeom prst="rect">
            <a:avLst/>
          </a:prstGeom>
        </p:spPr>
      </p:pic>
      <p:sp>
        <p:nvSpPr>
          <p:cNvPr id="23" name="TextBox 22"/>
          <p:cNvSpPr txBox="1"/>
          <p:nvPr/>
        </p:nvSpPr>
        <p:spPr>
          <a:xfrm>
            <a:off x="2890792"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796724" y="3228276"/>
            <a:ext cx="134549" cy="195707"/>
          </a:xfrm>
          <a:prstGeom prst="rect">
            <a:avLst/>
          </a:prstGeom>
        </p:spPr>
      </p:pic>
      <p:sp>
        <p:nvSpPr>
          <p:cNvPr id="25" name="TextBox 24"/>
          <p:cNvSpPr txBox="1"/>
          <p:nvPr/>
        </p:nvSpPr>
        <p:spPr>
          <a:xfrm>
            <a:off x="3971834"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1559235" cy="194310"/>
          </a:xfrm>
          <a:prstGeom prst="rect">
            <a:avLst/>
          </a:prstGeom>
          <a:noFill/>
        </p:spPr>
        <p:txBody>
          <a:bodyPr wrap="none" lIns="0" rIns="0" tIns="0" bIns="0">
            <a:spAutoFit/>
          </a:bodyPr>
          <a:lstStyle/>
          <a:p>
            <a:r>
              <a:rPr sz="1150" b="0">
                <a:solidFill>
                  <a:srgbClr val="2E2E2E"/>
                </a:solidFill>
                <a:latin typeface="Calibri"/>
              </a:rPr>
              <a:t>▪ 'Ambient' grows fastest</a:t>
            </a:r>
          </a:p>
        </p:txBody>
      </p:sp>
      <p:pic>
        <p:nvPicPr>
          <p:cNvPr id="27" name="Picture 26" descr="lock.png"/>
          <p:cNvPicPr>
            <a:picLocks noChangeAspect="1"/>
          </p:cNvPicPr>
          <p:nvPr/>
        </p:nvPicPr>
        <p:blipFill>
          <a:blip r:embed="rId4"/>
          <a:stretch>
            <a:fillRect/>
          </a:stretch>
        </p:blipFill>
        <p:spPr>
          <a:xfrm>
            <a:off x="1784613" y="3456114"/>
            <a:ext cx="134549" cy="195707"/>
          </a:xfrm>
          <a:prstGeom prst="rect">
            <a:avLst/>
          </a:prstGeom>
        </p:spPr>
      </p:pic>
      <p:sp>
        <p:nvSpPr>
          <p:cNvPr id="28" name="TextBox 27"/>
          <p:cNvSpPr txBox="1"/>
          <p:nvPr/>
        </p:nvSpPr>
        <p:spPr>
          <a:xfrm>
            <a:off x="1959723"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1963439" cy="194310"/>
          </a:xfrm>
          <a:prstGeom prst="rect">
            <a:avLst/>
          </a:prstGeom>
          <a:noFill/>
        </p:spPr>
        <p:txBody>
          <a:bodyPr wrap="none" lIns="0" rIns="0" tIns="0" bIns="0">
            <a:spAutoFit/>
          </a:bodyPr>
          <a:lstStyle/>
          <a:p>
            <a:r>
              <a:rPr sz="1150" b="0">
                <a:solidFill>
                  <a:srgbClr val="2E2E2E"/>
                </a:solidFill>
                <a:latin typeface="Calibri"/>
              </a:rPr>
              <a:t>▪ Share shifts toward 'Chilled' (+</a:t>
            </a:r>
          </a:p>
        </p:txBody>
      </p:sp>
      <p:pic>
        <p:nvPicPr>
          <p:cNvPr id="30" name="Picture 29" descr="lock.png"/>
          <p:cNvPicPr>
            <a:picLocks noChangeAspect="1"/>
          </p:cNvPicPr>
          <p:nvPr/>
        </p:nvPicPr>
        <p:blipFill>
          <a:blip r:embed="rId4"/>
          <a:stretch>
            <a:fillRect/>
          </a:stretch>
        </p:blipFill>
        <p:spPr>
          <a:xfrm>
            <a:off x="2188818" y="3683952"/>
            <a:ext cx="134549" cy="195707"/>
          </a:xfrm>
          <a:prstGeom prst="rect">
            <a:avLst/>
          </a:prstGeom>
        </p:spPr>
      </p:pic>
      <p:sp>
        <p:nvSpPr>
          <p:cNvPr id="31" name="TextBox 30"/>
          <p:cNvSpPr txBox="1"/>
          <p:nvPr/>
        </p:nvSpPr>
        <p:spPr>
          <a:xfrm>
            <a:off x="2363928" y="3694175"/>
            <a:ext cx="1886706" cy="194310"/>
          </a:xfrm>
          <a:prstGeom prst="rect">
            <a:avLst/>
          </a:prstGeom>
          <a:noFill/>
        </p:spPr>
        <p:txBody>
          <a:bodyPr wrap="none" lIns="0" rIns="0" tIns="0" bIns="0">
            <a:spAutoFit/>
          </a:bodyPr>
          <a:lstStyle/>
          <a:p>
            <a:r>
              <a:rPr sz="1150" b="0">
                <a:solidFill>
                  <a:srgbClr val="2E2E2E"/>
                </a:solidFill>
                <a:latin typeface="Calibri"/>
              </a:rPr>
              <a:t>BPS) and away from 'Frozen' (-</a:t>
            </a:r>
          </a:p>
        </p:txBody>
      </p:sp>
      <p:pic>
        <p:nvPicPr>
          <p:cNvPr id="32" name="Picture 31" descr="lock.png"/>
          <p:cNvPicPr>
            <a:picLocks noChangeAspect="1"/>
          </p:cNvPicPr>
          <p:nvPr/>
        </p:nvPicPr>
        <p:blipFill>
          <a:blip r:embed="rId4"/>
          <a:stretch>
            <a:fillRect/>
          </a:stretch>
        </p:blipFill>
        <p:spPr>
          <a:xfrm>
            <a:off x="4199788" y="3683952"/>
            <a:ext cx="134549" cy="195707"/>
          </a:xfrm>
          <a:prstGeom prst="rect">
            <a:avLst/>
          </a:prstGeom>
        </p:spPr>
      </p:pic>
      <p:sp>
        <p:nvSpPr>
          <p:cNvPr id="33" name="TextBox 32"/>
          <p:cNvSpPr txBox="1"/>
          <p:nvPr/>
        </p:nvSpPr>
        <p:spPr>
          <a:xfrm>
            <a:off x="4374897"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Storage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Storage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9546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9070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145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Ambient</a:t>
            </a:r>
          </a:p>
        </p:txBody>
      </p:sp>
      <p:sp>
        <p:nvSpPr>
          <p:cNvPr id="19" name="BPS Value 1"/>
          <p:cNvSpPr txBox="1"/>
          <p:nvPr/>
        </p:nvSpPr>
        <p:spPr>
          <a:xfrm>
            <a:off x="6896100" y="197641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31242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1195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0433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Chilled</a:t>
            </a:r>
          </a:p>
        </p:txBody>
      </p:sp>
      <p:sp>
        <p:nvSpPr>
          <p:cNvPr id="23" name="BPS Value 2"/>
          <p:cNvSpPr txBox="1"/>
          <p:nvPr/>
        </p:nvSpPr>
        <p:spPr>
          <a:xfrm>
            <a:off x="6896100" y="310521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08624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0814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0052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Frozen</a:t>
            </a:r>
          </a:p>
        </p:txBody>
      </p:sp>
      <p:sp>
        <p:nvSpPr>
          <p:cNvPr id="27" name="BPS Value 3"/>
          <p:cNvSpPr txBox="1"/>
          <p:nvPr/>
        </p:nvSpPr>
        <p:spPr>
          <a:xfrm>
            <a:off x="6896100" y="506719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Storage Format</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000522" cy="194310"/>
          </a:xfrm>
          <a:prstGeom prst="rect">
            <a:avLst/>
          </a:prstGeom>
          <a:noFill/>
        </p:spPr>
        <p:txBody>
          <a:bodyPr wrap="none" lIns="0" rIns="0" tIns="0" bIns="0">
            <a:spAutoFit/>
          </a:bodyPr>
          <a:lstStyle/>
          <a:p>
            <a:r>
              <a:rPr sz="1150" b="0">
                <a:solidFill>
                  <a:srgbClr val="2E2E2E"/>
                </a:solidFill>
                <a:latin typeface="Calibri"/>
              </a:rPr>
              <a:t>▪ 'Chilled' gains the most share +</a:t>
            </a:r>
          </a:p>
        </p:txBody>
      </p:sp>
      <p:pic>
        <p:nvPicPr>
          <p:cNvPr id="35" name="Picture 34" descr="lock.png"/>
          <p:cNvPicPr>
            <a:picLocks noChangeAspect="1"/>
          </p:cNvPicPr>
          <p:nvPr/>
        </p:nvPicPr>
        <p:blipFill>
          <a:blip r:embed="rId5"/>
          <a:stretch>
            <a:fillRect/>
          </a:stretch>
        </p:blipFill>
        <p:spPr>
          <a:xfrm>
            <a:off x="9779226" y="1389951"/>
            <a:ext cx="134549" cy="195707"/>
          </a:xfrm>
          <a:prstGeom prst="rect">
            <a:avLst/>
          </a:prstGeom>
        </p:spPr>
      </p:pic>
      <p:sp>
        <p:nvSpPr>
          <p:cNvPr id="36" name="TextBox 35"/>
          <p:cNvSpPr txBox="1"/>
          <p:nvPr/>
        </p:nvSpPr>
        <p:spPr>
          <a:xfrm>
            <a:off x="9954336" y="1400175"/>
            <a:ext cx="1772604"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7" name="TextBox 36"/>
          <p:cNvSpPr txBox="1"/>
          <p:nvPr/>
        </p:nvSpPr>
        <p:spPr>
          <a:xfrm>
            <a:off x="7829550" y="1575435"/>
            <a:ext cx="1397496"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1644240" cy="194310"/>
          </a:xfrm>
          <a:prstGeom prst="rect">
            <a:avLst/>
          </a:prstGeom>
          <a:noFill/>
        </p:spPr>
        <p:txBody>
          <a:bodyPr wrap="none" lIns="0" rIns="0" tIns="0" bIns="0">
            <a:spAutoFit/>
          </a:bodyPr>
          <a:lstStyle/>
          <a:p>
            <a:r>
              <a:rPr sz="1150" b="0">
                <a:solidFill>
                  <a:srgbClr val="2E2E2E"/>
                </a:solidFill>
                <a:latin typeface="Calibri"/>
              </a:rPr>
              <a:t>▪ 'Frozen' cedes the most -</a:t>
            </a:r>
          </a:p>
        </p:txBody>
      </p:sp>
      <p:pic>
        <p:nvPicPr>
          <p:cNvPr id="39" name="Picture 38" descr="lock.png"/>
          <p:cNvPicPr>
            <a:picLocks noChangeAspect="1"/>
          </p:cNvPicPr>
          <p:nvPr/>
        </p:nvPicPr>
        <p:blipFill>
          <a:blip r:embed="rId5"/>
          <a:stretch>
            <a:fillRect/>
          </a:stretch>
        </p:blipFill>
        <p:spPr>
          <a:xfrm>
            <a:off x="9422944" y="1793049"/>
            <a:ext cx="134549" cy="195707"/>
          </a:xfrm>
          <a:prstGeom prst="rect">
            <a:avLst/>
          </a:prstGeom>
        </p:spPr>
      </p:pic>
      <p:sp>
        <p:nvSpPr>
          <p:cNvPr id="40" name="TextBox 39"/>
          <p:cNvSpPr txBox="1"/>
          <p:nvPr/>
        </p:nvSpPr>
        <p:spPr>
          <a:xfrm>
            <a:off x="9598053" y="180327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41" name="TextBox 40"/>
          <p:cNvSpPr txBox="1"/>
          <p:nvPr/>
        </p:nvSpPr>
        <p:spPr>
          <a:xfrm>
            <a:off x="7829550" y="2031111"/>
            <a:ext cx="3120429" cy="194310"/>
          </a:xfrm>
          <a:prstGeom prst="rect">
            <a:avLst/>
          </a:prstGeom>
          <a:noFill/>
        </p:spPr>
        <p:txBody>
          <a:bodyPr wrap="none" lIns="0" rIns="0" tIns="0" bIns="0">
            <a:spAutoFit/>
          </a:bodyPr>
          <a:lstStyle/>
          <a:p>
            <a:r>
              <a:rPr sz="1150" b="0">
                <a:solidFill>
                  <a:srgbClr val="2E2E2E"/>
                </a:solidFill>
                <a:latin typeface="Calibri"/>
              </a:rPr>
              <a:t>▪ 'Ambient' is the fastest-growing storage format at</a:t>
            </a:r>
          </a:p>
        </p:txBody>
      </p:sp>
      <p:pic>
        <p:nvPicPr>
          <p:cNvPr id="42" name="Picture 41" descr="lock.png"/>
          <p:cNvPicPr>
            <a:picLocks noChangeAspect="1"/>
          </p:cNvPicPr>
          <p:nvPr/>
        </p:nvPicPr>
        <p:blipFill>
          <a:blip r:embed="rId5"/>
          <a:stretch>
            <a:fillRect/>
          </a:stretch>
        </p:blipFill>
        <p:spPr>
          <a:xfrm>
            <a:off x="10899133" y="2020887"/>
            <a:ext cx="134549" cy="195707"/>
          </a:xfrm>
          <a:prstGeom prst="rect">
            <a:avLst/>
          </a:prstGeom>
        </p:spPr>
      </p:pic>
      <p:sp>
        <p:nvSpPr>
          <p:cNvPr id="43" name="TextBox 42"/>
          <p:cNvSpPr txBox="1"/>
          <p:nvPr/>
        </p:nvSpPr>
        <p:spPr>
          <a:xfrm>
            <a:off x="11074242" y="203111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4" name="TextBox 43"/>
          <p:cNvSpPr txBox="1"/>
          <p:nvPr/>
        </p:nvSpPr>
        <p:spPr>
          <a:xfrm>
            <a:off x="7829550" y="220637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5" name="TextBox 44"/>
          <p:cNvSpPr txBox="1"/>
          <p:nvPr/>
        </p:nvSpPr>
        <p:spPr>
          <a:xfrm>
            <a:off x="7829550" y="243420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423985"/>
            <a:ext cx="134549" cy="195707"/>
          </a:xfrm>
          <a:prstGeom prst="rect">
            <a:avLst/>
          </a:prstGeom>
        </p:spPr>
      </p:pic>
      <p:sp>
        <p:nvSpPr>
          <p:cNvPr id="47" name="TextBox 46"/>
          <p:cNvSpPr txBox="1"/>
          <p:nvPr/>
        </p:nvSpPr>
        <p:spPr>
          <a:xfrm>
            <a:off x="9502779" y="243420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423985"/>
            <a:ext cx="134549" cy="195707"/>
          </a:xfrm>
          <a:prstGeom prst="rect">
            <a:avLst/>
          </a:prstGeom>
        </p:spPr>
      </p:pic>
      <p:sp>
        <p:nvSpPr>
          <p:cNvPr id="49" name="TextBox 48"/>
          <p:cNvSpPr txBox="1"/>
          <p:nvPr/>
        </p:nvSpPr>
        <p:spPr>
          <a:xfrm>
            <a:off x="9829324" y="243420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66204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2837307"/>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Storage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Storage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Storage Format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sp>
        <p:nvSpPr>
          <p:cNvPr id="33" name="Rectangle 32"/>
          <p:cNvSpPr/>
          <p:nvPr/>
        </p:nvSpPr>
        <p:spPr>
          <a:xfrm>
            <a:off x="185737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sp>
        <p:nvSpPr>
          <p:cNvPr id="49" name="Rectangle 48"/>
          <p:cNvSpPr/>
          <p:nvPr/>
        </p:nvSpPr>
        <p:spPr>
          <a:xfrm>
            <a:off x="1857375" y="4191000"/>
            <a:ext cx="643890" cy="119062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65" name="Rectangle 64"/>
          <p:cNvSpPr/>
          <p:nvPr/>
        </p:nvSpPr>
        <p:spPr>
          <a:xfrm>
            <a:off x="185737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554187" y="1589913"/>
            <a:ext cx="366712" cy="533400"/>
          </a:xfrm>
          <a:prstGeom prst="rect">
            <a:avLst/>
          </a:prstGeom>
        </p:spPr>
      </p:pic>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Storage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Storage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Storage Format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sp>
        <p:nvSpPr>
          <p:cNvPr id="33" name="Rectangle 32"/>
          <p:cNvSpPr/>
          <p:nvPr/>
        </p:nvSpPr>
        <p:spPr>
          <a:xfrm>
            <a:off x="185737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sp>
        <p:nvSpPr>
          <p:cNvPr id="49" name="Rectangle 48"/>
          <p:cNvSpPr/>
          <p:nvPr/>
        </p:nvSpPr>
        <p:spPr>
          <a:xfrm>
            <a:off x="1857375" y="4191000"/>
            <a:ext cx="643890" cy="119062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65" name="Rectangle 64"/>
          <p:cNvSpPr/>
          <p:nvPr/>
        </p:nvSpPr>
        <p:spPr>
          <a:xfrm>
            <a:off x="185737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554187" y="1589913"/>
            <a:ext cx="366712" cy="533400"/>
          </a:xfrm>
          <a:prstGeom prst="rect">
            <a:avLst/>
          </a:prstGeom>
        </p:spPr>
      </p:pic>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Shelf Life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Shelf Life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Shelf Life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Shelf Life,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Shelf Life segment categorizes the market by shelf life.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Up to 7 days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8-30 days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31-90 days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More than 90 days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Shelf Life split shows how demand is distributed across shelf life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6_364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0_659_605E5C.png"/>
          <p:cNvPicPr>
            <a:picLocks noChangeAspect="1"/>
          </p:cNvPicPr>
          <p:nvPr/>
        </p:nvPicPr>
        <p:blipFill>
          <a:blip r:embed="rId5"/>
          <a:stretch>
            <a:fillRect/>
          </a:stretch>
        </p:blipFill>
        <p:spPr>
          <a:xfrm>
            <a:off x="2369684" y="2779432"/>
            <a:ext cx="1409020" cy="361950"/>
          </a:xfrm>
          <a:prstGeom prst="rect">
            <a:avLst/>
          </a:prstGeom>
        </p:spPr>
      </p:pic>
      <p:pic>
        <p:nvPicPr>
          <p:cNvPr id="66" name="Picture 65" descr="5_3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_69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2_193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6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451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_683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3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_389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_210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701032" cy="186689"/>
          </a:xfrm>
          <a:prstGeom prst="rect">
            <a:avLst/>
          </a:prstGeom>
          <a:noFill/>
        </p:spPr>
        <p:txBody>
          <a:bodyPr wrap="none" lIns="0" rIns="0" tIns="0" bIns="0">
            <a:spAutoFit/>
          </a:bodyPr>
          <a:lstStyle/>
          <a:p>
            <a:r>
              <a:rPr sz="1100" b="0">
                <a:solidFill>
                  <a:srgbClr val="2E2E2E"/>
                </a:solidFill>
                <a:latin typeface="Calibri"/>
              </a:rPr>
              <a:t>▪ 'Up to 7 days' holds the largest share in 2026</a:t>
            </a:r>
          </a:p>
        </p:txBody>
      </p:sp>
      <p:pic>
        <p:nvPicPr>
          <p:cNvPr id="81" name="Picture 80" descr="lock.png"/>
          <p:cNvPicPr>
            <a:picLocks noChangeAspect="1"/>
          </p:cNvPicPr>
          <p:nvPr/>
        </p:nvPicPr>
        <p:blipFill>
          <a:blip r:embed="rId16"/>
          <a:stretch>
            <a:fillRect/>
          </a:stretch>
        </p:blipFill>
        <p:spPr>
          <a:xfrm>
            <a:off x="3134858"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858467" cy="186689"/>
          </a:xfrm>
          <a:prstGeom prst="rect">
            <a:avLst/>
          </a:prstGeom>
          <a:noFill/>
        </p:spPr>
        <p:txBody>
          <a:bodyPr wrap="none" lIns="0" rIns="0" tIns="0" bIns="0">
            <a:spAutoFit/>
          </a:bodyPr>
          <a:lstStyle/>
          <a:p>
            <a:r>
              <a:rPr sz="1100" b="0">
                <a:solidFill>
                  <a:srgbClr val="2E2E2E"/>
                </a:solidFill>
                <a:latin typeface="Calibri"/>
              </a:rPr>
              <a:t>▪ '31-90 days' is the fastest-growing sub-segment</a:t>
            </a:r>
          </a:p>
        </p:txBody>
      </p:sp>
      <p:sp>
        <p:nvSpPr>
          <p:cNvPr id="84" name="TextBox 83"/>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85" name="Picture 84" descr="lock.png"/>
          <p:cNvPicPr>
            <a:picLocks noChangeAspect="1"/>
          </p:cNvPicPr>
          <p:nvPr/>
        </p:nvPicPr>
        <p:blipFill>
          <a:blip r:embed="rId16"/>
          <a:stretch>
            <a:fillRect/>
          </a:stretch>
        </p:blipFill>
        <p:spPr>
          <a:xfrm>
            <a:off x="623805" y="4772870"/>
            <a:ext cx="128699" cy="187198"/>
          </a:xfrm>
          <a:prstGeom prst="rect">
            <a:avLst/>
          </a:prstGeom>
        </p:spPr>
      </p:pic>
      <p:sp>
        <p:nvSpPr>
          <p:cNvPr id="86" name="TextBox 85"/>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914650" cy="186689"/>
          </a:xfrm>
          <a:prstGeom prst="rect">
            <a:avLst/>
          </a:prstGeom>
          <a:noFill/>
        </p:spPr>
        <p:txBody>
          <a:bodyPr wrap="none" lIns="0" rIns="0" tIns="0" bIns="0">
            <a:spAutoFit/>
          </a:bodyPr>
          <a:lstStyle/>
          <a:p>
            <a:r>
              <a:rPr sz="1100" b="0">
                <a:solidFill>
                  <a:srgbClr val="2E2E2E"/>
                </a:solidFill>
                <a:latin typeface="Calibri"/>
              </a:rPr>
              <a:t>▪ 4 sub-segments make up the shelf life landscape.</a:t>
            </a:r>
          </a:p>
        </p:txBody>
      </p:sp>
      <p:sp>
        <p:nvSpPr>
          <p:cNvPr id="94" name="TextBox 93"/>
          <p:cNvSpPr txBox="1"/>
          <p:nvPr/>
        </p:nvSpPr>
        <p:spPr>
          <a:xfrm>
            <a:off x="3838575" y="4229437"/>
            <a:ext cx="937319" cy="186689"/>
          </a:xfrm>
          <a:prstGeom prst="rect">
            <a:avLst/>
          </a:prstGeom>
          <a:noFill/>
        </p:spPr>
        <p:txBody>
          <a:bodyPr wrap="none" lIns="0" rIns="0" tIns="0" bIns="0">
            <a:spAutoFit/>
          </a:bodyPr>
          <a:lstStyle/>
          <a:p>
            <a:r>
              <a:rPr sz="1100" b="0">
                <a:solidFill>
                  <a:srgbClr val="2E2E2E"/>
                </a:solidFill>
                <a:latin typeface="Calibri"/>
              </a:rPr>
              <a:t>● Up to 7 days:</a:t>
            </a:r>
          </a:p>
        </p:txBody>
      </p:sp>
      <p:pic>
        <p:nvPicPr>
          <p:cNvPr id="95" name="Picture 94" descr="lock.png"/>
          <p:cNvPicPr>
            <a:picLocks noChangeAspect="1"/>
          </p:cNvPicPr>
          <p:nvPr/>
        </p:nvPicPr>
        <p:blipFill>
          <a:blip r:embed="rId16"/>
          <a:stretch>
            <a:fillRect/>
          </a:stretch>
        </p:blipFill>
        <p:spPr>
          <a:xfrm>
            <a:off x="4723946" y="4219658"/>
            <a:ext cx="128699" cy="187198"/>
          </a:xfrm>
          <a:prstGeom prst="rect">
            <a:avLst/>
          </a:prstGeom>
        </p:spPr>
      </p:pic>
      <p:sp>
        <p:nvSpPr>
          <p:cNvPr id="96" name="TextBox 95"/>
          <p:cNvSpPr txBox="1"/>
          <p:nvPr/>
        </p:nvSpPr>
        <p:spPr>
          <a:xfrm>
            <a:off x="48914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6"/>
          <a:stretch>
            <a:fillRect/>
          </a:stretch>
        </p:blipFill>
        <p:spPr>
          <a:xfrm>
            <a:off x="5750892" y="4219658"/>
            <a:ext cx="128699" cy="187198"/>
          </a:xfrm>
          <a:prstGeom prst="rect">
            <a:avLst/>
          </a:prstGeom>
        </p:spPr>
      </p:pic>
      <p:sp>
        <p:nvSpPr>
          <p:cNvPr id="98" name="TextBox 97"/>
          <p:cNvSpPr txBox="1"/>
          <p:nvPr/>
        </p:nvSpPr>
        <p:spPr>
          <a:xfrm>
            <a:off x="59183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9" name="TextBox 98"/>
          <p:cNvSpPr txBox="1"/>
          <p:nvPr/>
        </p:nvSpPr>
        <p:spPr>
          <a:xfrm>
            <a:off x="3838575" y="4447369"/>
            <a:ext cx="774972" cy="186689"/>
          </a:xfrm>
          <a:prstGeom prst="rect">
            <a:avLst/>
          </a:prstGeom>
          <a:noFill/>
        </p:spPr>
        <p:txBody>
          <a:bodyPr wrap="none" lIns="0" rIns="0" tIns="0" bIns="0">
            <a:spAutoFit/>
          </a:bodyPr>
          <a:lstStyle/>
          <a:p>
            <a:r>
              <a:rPr sz="1100" b="0">
                <a:solidFill>
                  <a:srgbClr val="2E2E2E"/>
                </a:solidFill>
                <a:latin typeface="Calibri"/>
              </a:rPr>
              <a:t>● 8-30 days:</a:t>
            </a:r>
          </a:p>
        </p:txBody>
      </p:sp>
      <p:pic>
        <p:nvPicPr>
          <p:cNvPr id="100" name="Picture 99" descr="lock.png"/>
          <p:cNvPicPr>
            <a:picLocks noChangeAspect="1"/>
          </p:cNvPicPr>
          <p:nvPr/>
        </p:nvPicPr>
        <p:blipFill>
          <a:blip r:embed="rId16"/>
          <a:stretch>
            <a:fillRect/>
          </a:stretch>
        </p:blipFill>
        <p:spPr>
          <a:xfrm>
            <a:off x="4561599" y="4437590"/>
            <a:ext cx="128699" cy="187198"/>
          </a:xfrm>
          <a:prstGeom prst="rect">
            <a:avLst/>
          </a:prstGeom>
        </p:spPr>
      </p:pic>
      <p:sp>
        <p:nvSpPr>
          <p:cNvPr id="101" name="TextBox 100"/>
          <p:cNvSpPr txBox="1"/>
          <p:nvPr/>
        </p:nvSpPr>
        <p:spPr>
          <a:xfrm>
            <a:off x="472909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6"/>
          <a:stretch>
            <a:fillRect/>
          </a:stretch>
        </p:blipFill>
        <p:spPr>
          <a:xfrm>
            <a:off x="5588545" y="4437590"/>
            <a:ext cx="128699" cy="187198"/>
          </a:xfrm>
          <a:prstGeom prst="rect">
            <a:avLst/>
          </a:prstGeom>
        </p:spPr>
      </p:pic>
      <p:sp>
        <p:nvSpPr>
          <p:cNvPr id="103" name="TextBox 102"/>
          <p:cNvSpPr txBox="1"/>
          <p:nvPr/>
        </p:nvSpPr>
        <p:spPr>
          <a:xfrm>
            <a:off x="5756041"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4" name="TextBox 103"/>
          <p:cNvSpPr txBox="1"/>
          <p:nvPr/>
        </p:nvSpPr>
        <p:spPr>
          <a:xfrm>
            <a:off x="3838575" y="4665301"/>
            <a:ext cx="845914" cy="186689"/>
          </a:xfrm>
          <a:prstGeom prst="rect">
            <a:avLst/>
          </a:prstGeom>
          <a:noFill/>
        </p:spPr>
        <p:txBody>
          <a:bodyPr wrap="none" lIns="0" rIns="0" tIns="0" bIns="0">
            <a:spAutoFit/>
          </a:bodyPr>
          <a:lstStyle/>
          <a:p>
            <a:r>
              <a:rPr sz="1100" b="0">
                <a:solidFill>
                  <a:srgbClr val="2E2E2E"/>
                </a:solidFill>
                <a:latin typeface="Calibri"/>
              </a:rPr>
              <a:t>● 31-90 days:</a:t>
            </a:r>
          </a:p>
        </p:txBody>
      </p:sp>
      <p:pic>
        <p:nvPicPr>
          <p:cNvPr id="105" name="Picture 104" descr="lock.png"/>
          <p:cNvPicPr>
            <a:picLocks noChangeAspect="1"/>
          </p:cNvPicPr>
          <p:nvPr/>
        </p:nvPicPr>
        <p:blipFill>
          <a:blip r:embed="rId16"/>
          <a:stretch>
            <a:fillRect/>
          </a:stretch>
        </p:blipFill>
        <p:spPr>
          <a:xfrm>
            <a:off x="4632540" y="4655522"/>
            <a:ext cx="128699" cy="187198"/>
          </a:xfrm>
          <a:prstGeom prst="rect">
            <a:avLst/>
          </a:prstGeom>
        </p:spPr>
      </p:pic>
      <p:sp>
        <p:nvSpPr>
          <p:cNvPr id="106" name="TextBox 105"/>
          <p:cNvSpPr txBox="1"/>
          <p:nvPr/>
        </p:nvSpPr>
        <p:spPr>
          <a:xfrm>
            <a:off x="480003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7" name="Picture 106" descr="lock.png"/>
          <p:cNvPicPr>
            <a:picLocks noChangeAspect="1"/>
          </p:cNvPicPr>
          <p:nvPr/>
        </p:nvPicPr>
        <p:blipFill>
          <a:blip r:embed="rId16"/>
          <a:stretch>
            <a:fillRect/>
          </a:stretch>
        </p:blipFill>
        <p:spPr>
          <a:xfrm>
            <a:off x="5659486" y="4655522"/>
            <a:ext cx="128699" cy="187198"/>
          </a:xfrm>
          <a:prstGeom prst="rect">
            <a:avLst/>
          </a:prstGeom>
        </p:spPr>
      </p:pic>
      <p:sp>
        <p:nvSpPr>
          <p:cNvPr id="108" name="TextBox 107"/>
          <p:cNvSpPr txBox="1"/>
          <p:nvPr/>
        </p:nvSpPr>
        <p:spPr>
          <a:xfrm>
            <a:off x="5826982"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09" name="TextBox 108"/>
          <p:cNvSpPr txBox="1"/>
          <p:nvPr/>
        </p:nvSpPr>
        <p:spPr>
          <a:xfrm>
            <a:off x="3838575" y="4883233"/>
            <a:ext cx="1296665" cy="186689"/>
          </a:xfrm>
          <a:prstGeom prst="rect">
            <a:avLst/>
          </a:prstGeom>
          <a:noFill/>
        </p:spPr>
        <p:txBody>
          <a:bodyPr wrap="none" lIns="0" rIns="0" tIns="0" bIns="0">
            <a:spAutoFit/>
          </a:bodyPr>
          <a:lstStyle/>
          <a:p>
            <a:r>
              <a:rPr sz="1100" b="0">
                <a:solidFill>
                  <a:srgbClr val="2E2E2E"/>
                </a:solidFill>
                <a:latin typeface="Calibri"/>
              </a:rPr>
              <a:t>● More than 90 days:</a:t>
            </a:r>
          </a:p>
        </p:txBody>
      </p:sp>
      <p:pic>
        <p:nvPicPr>
          <p:cNvPr id="110" name="Picture 109" descr="lock.png"/>
          <p:cNvPicPr>
            <a:picLocks noChangeAspect="1"/>
          </p:cNvPicPr>
          <p:nvPr/>
        </p:nvPicPr>
        <p:blipFill>
          <a:blip r:embed="rId16"/>
          <a:stretch>
            <a:fillRect/>
          </a:stretch>
        </p:blipFill>
        <p:spPr>
          <a:xfrm>
            <a:off x="5083291" y="4873454"/>
            <a:ext cx="128699" cy="187198"/>
          </a:xfrm>
          <a:prstGeom prst="rect">
            <a:avLst/>
          </a:prstGeom>
        </p:spPr>
      </p:pic>
      <p:sp>
        <p:nvSpPr>
          <p:cNvPr id="111" name="TextBox 110"/>
          <p:cNvSpPr txBox="1"/>
          <p:nvPr/>
        </p:nvSpPr>
        <p:spPr>
          <a:xfrm>
            <a:off x="5250787"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6110237" y="4873454"/>
            <a:ext cx="128699" cy="187198"/>
          </a:xfrm>
          <a:prstGeom prst="rect">
            <a:avLst/>
          </a:prstGeom>
        </p:spPr>
      </p:pic>
      <p:sp>
        <p:nvSpPr>
          <p:cNvPr id="113" name="TextBox 112"/>
          <p:cNvSpPr txBox="1"/>
          <p:nvPr/>
        </p:nvSpPr>
        <p:spPr>
          <a:xfrm>
            <a:off x="6277733"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4" name="TextBox 113"/>
          <p:cNvSpPr txBox="1"/>
          <p:nvPr/>
        </p:nvSpPr>
        <p:spPr>
          <a:xfrm>
            <a:off x="8524875" y="5842641"/>
            <a:ext cx="2952985" cy="194310"/>
          </a:xfrm>
          <a:prstGeom prst="rect">
            <a:avLst/>
          </a:prstGeom>
          <a:noFill/>
        </p:spPr>
        <p:txBody>
          <a:bodyPr wrap="none" lIns="0" rIns="0" tIns="0" bIns="0">
            <a:spAutoFit/>
          </a:bodyPr>
          <a:lstStyle/>
          <a:p>
            <a:r>
              <a:rPr sz="1150" b="1">
                <a:solidFill>
                  <a:srgbClr val="0B2E4A"/>
                </a:solidFill>
                <a:latin typeface="Calibri"/>
              </a:rPr>
              <a:t>The Shelf Life segment is projected to grow at a</a:t>
            </a:r>
          </a:p>
        </p:txBody>
      </p:sp>
      <p:sp>
        <p:nvSpPr>
          <p:cNvPr id="115" name="TextBox 114"/>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16" name="Picture 115" descr="lock.png"/>
          <p:cNvPicPr>
            <a:picLocks noChangeAspect="1"/>
          </p:cNvPicPr>
          <p:nvPr/>
        </p:nvPicPr>
        <p:blipFill>
          <a:blip r:embed="rId16"/>
          <a:stretch>
            <a:fillRect/>
          </a:stretch>
        </p:blipFill>
        <p:spPr>
          <a:xfrm>
            <a:off x="9048826" y="6007677"/>
            <a:ext cx="134549" cy="195707"/>
          </a:xfrm>
          <a:prstGeom prst="rect">
            <a:avLst/>
          </a:prstGeom>
        </p:spPr>
      </p:pic>
      <p:sp>
        <p:nvSpPr>
          <p:cNvPr id="117" name="TextBox 116"/>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Shelf Life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Shelf Life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Shelf Life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Shelf Life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750692" cy="186689"/>
          </a:xfrm>
          <a:prstGeom prst="rect">
            <a:avLst/>
          </a:prstGeom>
          <a:noFill/>
        </p:spPr>
        <p:txBody>
          <a:bodyPr wrap="none" lIns="0" rIns="0" tIns="0" bIns="0">
            <a:spAutoFit/>
          </a:bodyPr>
          <a:lstStyle/>
          <a:p>
            <a:r>
              <a:rPr sz="1100" b="0">
                <a:solidFill>
                  <a:srgbClr val="2E2E2E"/>
                </a:solidFill>
                <a:latin typeface="Calibri"/>
              </a:rPr>
              <a:t>Between 2026 and 2036, '31-90 days' gains the most share in the Global market (+</a:t>
            </a:r>
          </a:p>
        </p:txBody>
      </p:sp>
      <p:pic>
        <p:nvPicPr>
          <p:cNvPr id="21" name="Picture 20" descr="lock.png"/>
          <p:cNvPicPr>
            <a:picLocks noChangeAspect="1"/>
          </p:cNvPicPr>
          <p:nvPr/>
        </p:nvPicPr>
        <p:blipFill>
          <a:blip r:embed="rId6"/>
          <a:stretch>
            <a:fillRect/>
          </a:stretch>
        </p:blipFill>
        <p:spPr>
          <a:xfrm>
            <a:off x="4955919" y="5935726"/>
            <a:ext cx="128699" cy="187198"/>
          </a:xfrm>
          <a:prstGeom prst="rect">
            <a:avLst/>
          </a:prstGeom>
        </p:spPr>
      </p:pic>
      <p:sp>
        <p:nvSpPr>
          <p:cNvPr id="22" name="TextBox 21"/>
          <p:cNvSpPr txBox="1"/>
          <p:nvPr/>
        </p:nvSpPr>
        <p:spPr>
          <a:xfrm>
            <a:off x="5123415" y="5945505"/>
            <a:ext cx="1666651" cy="186689"/>
          </a:xfrm>
          <a:prstGeom prst="rect">
            <a:avLst/>
          </a:prstGeom>
          <a:noFill/>
        </p:spPr>
        <p:txBody>
          <a:bodyPr wrap="none" lIns="0" rIns="0" tIns="0" bIns="0">
            <a:spAutoFit/>
          </a:bodyPr>
          <a:lstStyle/>
          <a:p>
            <a:r>
              <a:rPr sz="1100" b="0">
                <a:solidFill>
                  <a:srgbClr val="2E2E2E"/>
                </a:solidFill>
                <a:latin typeface="Calibri"/>
              </a:rPr>
              <a:t>BPS) while '8-30 days' cedes</a:t>
            </a:r>
          </a:p>
        </p:txBody>
      </p:sp>
      <p:pic>
        <p:nvPicPr>
          <p:cNvPr id="23" name="Picture 22" descr="lock.png"/>
          <p:cNvPicPr>
            <a:picLocks noChangeAspect="1"/>
          </p:cNvPicPr>
          <p:nvPr/>
        </p:nvPicPr>
        <p:blipFill>
          <a:blip r:embed="rId6"/>
          <a:stretch>
            <a:fillRect/>
          </a:stretch>
        </p:blipFill>
        <p:spPr>
          <a:xfrm>
            <a:off x="6738118" y="5935726"/>
            <a:ext cx="128699" cy="187198"/>
          </a:xfrm>
          <a:prstGeom prst="rect">
            <a:avLst/>
          </a:prstGeom>
        </p:spPr>
      </p:pic>
      <p:sp>
        <p:nvSpPr>
          <p:cNvPr id="24" name="TextBox 23"/>
          <p:cNvSpPr txBox="1"/>
          <p:nvPr/>
        </p:nvSpPr>
        <p:spPr>
          <a:xfrm>
            <a:off x="6905614"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Shelf Life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Up to 7 days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8-30 days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31-90 days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More than 90 days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Shelf Life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Shelf Life,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Shelf Life (MT)</a:t>
            </a:r>
          </a:p>
        </p:txBody>
      </p:sp>
      <p:graphicFrame>
        <p:nvGraphicFramePr>
          <p:cNvPr id="13" name="Table 12"/>
          <p:cNvGraphicFramePr>
            <a:graphicFrameLocks noGrp="1"/>
          </p:cNvGraphicFramePr>
          <p:nvPr/>
        </p:nvGraphicFramePr>
        <p:xfrm>
          <a:off x="152400" y="1238250"/>
          <a:ext cx="11887208" cy="1676402"/>
        </p:xfrm>
        <a:graphic>
          <a:graphicData uri="http://schemas.openxmlformats.org/drawingml/2006/table">
            <a:tbl>
              <a:tblPr>
                <a:tableStyleId>{5C22544A-7EE6-4342-B048-85BDC9FD1C3A}</a:tableStyleId>
              </a:tblPr>
              <a:tblGrid>
                <a:gridCol w="1180624"/>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450056"/>
              </a:tblGrid>
              <a:tr h="438912">
                <a:tc>
                  <a:txBody>
                    <a:bodyPr wrap="none"/>
                    <a:lstStyle/>
                    <a:p>
                      <a:pPr algn="l"/>
                      <a:r>
                        <a:rPr sz="1100" b="1">
                          <a:solidFill>
                            <a:srgbClr val="0B2E4A"/>
                          </a:solidFill>
                          <a:latin typeface="Calibri"/>
                        </a:rPr>
                        <a:t>Shelf Life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498">
                <a:tc>
                  <a:txBody>
                    <a:bodyPr wrap="none"/>
                    <a:lstStyle/>
                    <a:p>
                      <a:pPr algn="l"/>
                      <a:r>
                        <a:rPr sz="1100" b="1">
                          <a:solidFill>
                            <a:srgbClr val="2E2E2E"/>
                          </a:solidFill>
                          <a:latin typeface="Calibri"/>
                        </a:rPr>
                        <a:t>Up to 7 days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498">
                <a:tc>
                  <a:txBody>
                    <a:bodyPr wrap="none"/>
                    <a:lstStyle/>
                    <a:p>
                      <a:pPr algn="l"/>
                      <a:r>
                        <a:rPr sz="1100" b="1">
                          <a:solidFill>
                            <a:srgbClr val="2E2E2E"/>
                          </a:solidFill>
                          <a:latin typeface="Calibri"/>
                        </a:rPr>
                        <a:t>8-30 days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498">
                <a:tc>
                  <a:txBody>
                    <a:bodyPr wrap="none"/>
                    <a:lstStyle/>
                    <a:p>
                      <a:pPr algn="l"/>
                      <a:r>
                        <a:rPr sz="1100" b="1">
                          <a:solidFill>
                            <a:srgbClr val="2E2E2E"/>
                          </a:solidFill>
                          <a:latin typeface="Calibri"/>
                        </a:rPr>
                        <a:t>31-90 days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498">
                <a:tc>
                  <a:txBody>
                    <a:bodyPr wrap="none"/>
                    <a:lstStyle/>
                    <a:p>
                      <a:pPr algn="l"/>
                      <a:r>
                        <a:rPr sz="1100" b="1">
                          <a:solidFill>
                            <a:srgbClr val="2E2E2E"/>
                          </a:solidFill>
                          <a:latin typeface="Calibri"/>
                        </a:rPr>
                        <a:t>More than 90 days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Shelf Life</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99626" y="2029206"/>
            <a:ext cx="366712" cy="533400"/>
          </a:xfrm>
          <a:prstGeom prst="rect">
            <a:avLst/>
          </a:prstGeom>
        </p:spPr>
      </p:pic>
      <p:sp>
        <p:nvSpPr>
          <p:cNvPr id="21" name="TextBox 20"/>
          <p:cNvSpPr txBox="1"/>
          <p:nvPr/>
        </p:nvSpPr>
        <p:spPr>
          <a:xfrm>
            <a:off x="276225" y="3676650"/>
            <a:ext cx="2443522" cy="194310"/>
          </a:xfrm>
          <a:prstGeom prst="rect">
            <a:avLst/>
          </a:prstGeom>
          <a:noFill/>
        </p:spPr>
        <p:txBody>
          <a:bodyPr wrap="none" lIns="0" rIns="0" tIns="0" bIns="0">
            <a:spAutoFit/>
          </a:bodyPr>
          <a:lstStyle/>
          <a:p>
            <a:r>
              <a:rPr sz="1150" b="0">
                <a:solidFill>
                  <a:srgbClr val="2E2E2E"/>
                </a:solidFill>
                <a:latin typeface="Calibri"/>
              </a:rPr>
              <a:t>▪ 'Up to 7 days' is the largest shelf life at</a:t>
            </a:r>
          </a:p>
        </p:txBody>
      </p:sp>
      <p:pic>
        <p:nvPicPr>
          <p:cNvPr id="22" name="Picture 21" descr="lock.png"/>
          <p:cNvPicPr>
            <a:picLocks noChangeAspect="1"/>
          </p:cNvPicPr>
          <p:nvPr/>
        </p:nvPicPr>
        <p:blipFill>
          <a:blip r:embed="rId4"/>
          <a:stretch>
            <a:fillRect/>
          </a:stretch>
        </p:blipFill>
        <p:spPr>
          <a:xfrm>
            <a:off x="2668901" y="3666426"/>
            <a:ext cx="134549" cy="195707"/>
          </a:xfrm>
          <a:prstGeom prst="rect">
            <a:avLst/>
          </a:prstGeom>
        </p:spPr>
      </p:pic>
      <p:sp>
        <p:nvSpPr>
          <p:cNvPr id="23" name="TextBox 22"/>
          <p:cNvSpPr txBox="1"/>
          <p:nvPr/>
        </p:nvSpPr>
        <p:spPr>
          <a:xfrm>
            <a:off x="2844010" y="36766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873743" y="3666426"/>
            <a:ext cx="134549" cy="195707"/>
          </a:xfrm>
          <a:prstGeom prst="rect">
            <a:avLst/>
          </a:prstGeom>
        </p:spPr>
      </p:pic>
      <p:sp>
        <p:nvSpPr>
          <p:cNvPr id="25" name="TextBox 24"/>
          <p:cNvSpPr txBox="1"/>
          <p:nvPr/>
        </p:nvSpPr>
        <p:spPr>
          <a:xfrm>
            <a:off x="4048852" y="36766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904487"/>
            <a:ext cx="1693589" cy="194310"/>
          </a:xfrm>
          <a:prstGeom prst="rect">
            <a:avLst/>
          </a:prstGeom>
          <a:noFill/>
        </p:spPr>
        <p:txBody>
          <a:bodyPr wrap="none" lIns="0" rIns="0" tIns="0" bIns="0">
            <a:spAutoFit/>
          </a:bodyPr>
          <a:lstStyle/>
          <a:p>
            <a:r>
              <a:rPr sz="1150" b="0">
                <a:solidFill>
                  <a:srgbClr val="2E2E2E"/>
                </a:solidFill>
                <a:latin typeface="Calibri"/>
              </a:rPr>
              <a:t>▪ '31-90 days' grows fastest</a:t>
            </a:r>
          </a:p>
        </p:txBody>
      </p:sp>
      <p:pic>
        <p:nvPicPr>
          <p:cNvPr id="27" name="Picture 26" descr="lock.png"/>
          <p:cNvPicPr>
            <a:picLocks noChangeAspect="1"/>
          </p:cNvPicPr>
          <p:nvPr/>
        </p:nvPicPr>
        <p:blipFill>
          <a:blip r:embed="rId4"/>
          <a:stretch>
            <a:fillRect/>
          </a:stretch>
        </p:blipFill>
        <p:spPr>
          <a:xfrm>
            <a:off x="1918968" y="3894264"/>
            <a:ext cx="134549" cy="195707"/>
          </a:xfrm>
          <a:prstGeom prst="rect">
            <a:avLst/>
          </a:prstGeom>
        </p:spPr>
      </p:pic>
      <p:sp>
        <p:nvSpPr>
          <p:cNvPr id="28" name="TextBox 27"/>
          <p:cNvSpPr txBox="1"/>
          <p:nvPr/>
        </p:nvSpPr>
        <p:spPr>
          <a:xfrm>
            <a:off x="2094077" y="39044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132325"/>
            <a:ext cx="2298327" cy="194310"/>
          </a:xfrm>
          <a:prstGeom prst="rect">
            <a:avLst/>
          </a:prstGeom>
          <a:noFill/>
        </p:spPr>
        <p:txBody>
          <a:bodyPr wrap="none" lIns="0" rIns="0" tIns="0" bIns="0">
            <a:spAutoFit/>
          </a:bodyPr>
          <a:lstStyle/>
          <a:p>
            <a:r>
              <a:rPr sz="1150" b="0">
                <a:solidFill>
                  <a:srgbClr val="2E2E2E"/>
                </a:solidFill>
                <a:latin typeface="Calibri"/>
              </a:rPr>
              <a:t>▪ Share shifts toward 'Up to 7 days' (+</a:t>
            </a:r>
          </a:p>
        </p:txBody>
      </p:sp>
      <p:pic>
        <p:nvPicPr>
          <p:cNvPr id="30" name="Picture 29" descr="lock.png"/>
          <p:cNvPicPr>
            <a:picLocks noChangeAspect="1"/>
          </p:cNvPicPr>
          <p:nvPr/>
        </p:nvPicPr>
        <p:blipFill>
          <a:blip r:embed="rId4"/>
          <a:stretch>
            <a:fillRect/>
          </a:stretch>
        </p:blipFill>
        <p:spPr>
          <a:xfrm>
            <a:off x="2523706" y="4122102"/>
            <a:ext cx="134549" cy="195707"/>
          </a:xfrm>
          <a:prstGeom prst="rect">
            <a:avLst/>
          </a:prstGeom>
        </p:spPr>
      </p:pic>
      <p:sp>
        <p:nvSpPr>
          <p:cNvPr id="31" name="TextBox 30"/>
          <p:cNvSpPr txBox="1"/>
          <p:nvPr/>
        </p:nvSpPr>
        <p:spPr>
          <a:xfrm>
            <a:off x="2698816" y="4132325"/>
            <a:ext cx="2054721" cy="194310"/>
          </a:xfrm>
          <a:prstGeom prst="rect">
            <a:avLst/>
          </a:prstGeom>
          <a:noFill/>
        </p:spPr>
        <p:txBody>
          <a:bodyPr wrap="none" lIns="0" rIns="0" tIns="0" bIns="0">
            <a:spAutoFit/>
          </a:bodyPr>
          <a:lstStyle/>
          <a:p>
            <a:r>
              <a:rPr sz="1150" b="0">
                <a:solidFill>
                  <a:srgbClr val="2E2E2E"/>
                </a:solidFill>
                <a:latin typeface="Calibri"/>
              </a:rPr>
              <a:t>BPS) and away from '8-30 days' (-</a:t>
            </a:r>
          </a:p>
        </p:txBody>
      </p:sp>
      <p:pic>
        <p:nvPicPr>
          <p:cNvPr id="32" name="Picture 31" descr="lock.png"/>
          <p:cNvPicPr>
            <a:picLocks noChangeAspect="1"/>
          </p:cNvPicPr>
          <p:nvPr/>
        </p:nvPicPr>
        <p:blipFill>
          <a:blip r:embed="rId4"/>
          <a:stretch>
            <a:fillRect/>
          </a:stretch>
        </p:blipFill>
        <p:spPr>
          <a:xfrm>
            <a:off x="4702691" y="4122102"/>
            <a:ext cx="134549" cy="195707"/>
          </a:xfrm>
          <a:prstGeom prst="rect">
            <a:avLst/>
          </a:prstGeom>
        </p:spPr>
      </p:pic>
      <p:sp>
        <p:nvSpPr>
          <p:cNvPr id="33" name="TextBox 32"/>
          <p:cNvSpPr txBox="1"/>
          <p:nvPr/>
        </p:nvSpPr>
        <p:spPr>
          <a:xfrm>
            <a:off x="4877800" y="41323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601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349940"/>
            <a:ext cx="134549" cy="195707"/>
          </a:xfrm>
          <a:prstGeom prst="rect">
            <a:avLst/>
          </a:prstGeom>
        </p:spPr>
      </p:pic>
      <p:sp>
        <p:nvSpPr>
          <p:cNvPr id="36" name="TextBox 35"/>
          <p:cNvSpPr txBox="1"/>
          <p:nvPr/>
        </p:nvSpPr>
        <p:spPr>
          <a:xfrm>
            <a:off x="1965143" y="43601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349940"/>
            <a:ext cx="134549" cy="195707"/>
          </a:xfrm>
          <a:prstGeom prst="rect">
            <a:avLst/>
          </a:prstGeom>
        </p:spPr>
      </p:pic>
      <p:sp>
        <p:nvSpPr>
          <p:cNvPr id="38" name="TextBox 37"/>
          <p:cNvSpPr txBox="1"/>
          <p:nvPr/>
        </p:nvSpPr>
        <p:spPr>
          <a:xfrm>
            <a:off x="2291688" y="43601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Shelf Life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Shelf Life,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Shelf Life (US$ Mn)</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1377045"/>
                <a:gridCol w="618244"/>
                <a:gridCol w="618244"/>
                <a:gridCol w="618244"/>
                <a:gridCol w="618244"/>
                <a:gridCol w="618244"/>
                <a:gridCol w="618244"/>
                <a:gridCol w="618244"/>
                <a:gridCol w="618244"/>
                <a:gridCol w="618244"/>
                <a:gridCol w="618244"/>
                <a:gridCol w="618244"/>
                <a:gridCol w="618244"/>
                <a:gridCol w="618244"/>
                <a:gridCol w="618244"/>
                <a:gridCol w="618244"/>
                <a:gridCol w="618244"/>
                <a:gridCol w="618244"/>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Shelf Life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7829" y="1837563"/>
            <a:ext cx="366712" cy="533400"/>
          </a:xfrm>
          <a:prstGeom prst="rect">
            <a:avLst/>
          </a:prstGeom>
        </p:spPr>
      </p:pic>
      <p:sp>
        <p:nvSpPr>
          <p:cNvPr id="21" name="TextBox 20"/>
          <p:cNvSpPr txBox="1"/>
          <p:nvPr/>
        </p:nvSpPr>
        <p:spPr>
          <a:xfrm>
            <a:off x="276225" y="3486150"/>
            <a:ext cx="2443522" cy="194310"/>
          </a:xfrm>
          <a:prstGeom prst="rect">
            <a:avLst/>
          </a:prstGeom>
          <a:noFill/>
        </p:spPr>
        <p:txBody>
          <a:bodyPr wrap="none" lIns="0" rIns="0" tIns="0" bIns="0">
            <a:spAutoFit/>
          </a:bodyPr>
          <a:lstStyle/>
          <a:p>
            <a:r>
              <a:rPr sz="1150" b="0">
                <a:solidFill>
                  <a:srgbClr val="2E2E2E"/>
                </a:solidFill>
                <a:latin typeface="Calibri"/>
              </a:rPr>
              <a:t>▪ 'Up to 7 days' is the largest shelf life at</a:t>
            </a:r>
          </a:p>
        </p:txBody>
      </p:sp>
      <p:pic>
        <p:nvPicPr>
          <p:cNvPr id="22" name="Picture 21" descr="lock.png"/>
          <p:cNvPicPr>
            <a:picLocks noChangeAspect="1"/>
          </p:cNvPicPr>
          <p:nvPr/>
        </p:nvPicPr>
        <p:blipFill>
          <a:blip r:embed="rId4"/>
          <a:stretch>
            <a:fillRect/>
          </a:stretch>
        </p:blipFill>
        <p:spPr>
          <a:xfrm>
            <a:off x="2668901" y="3475926"/>
            <a:ext cx="134549" cy="195707"/>
          </a:xfrm>
          <a:prstGeom prst="rect">
            <a:avLst/>
          </a:prstGeom>
        </p:spPr>
      </p:pic>
      <p:sp>
        <p:nvSpPr>
          <p:cNvPr id="23" name="TextBox 22"/>
          <p:cNvSpPr txBox="1"/>
          <p:nvPr/>
        </p:nvSpPr>
        <p:spPr>
          <a:xfrm>
            <a:off x="2844010"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749943" y="3475926"/>
            <a:ext cx="134549" cy="195707"/>
          </a:xfrm>
          <a:prstGeom prst="rect">
            <a:avLst/>
          </a:prstGeom>
        </p:spPr>
      </p:pic>
      <p:sp>
        <p:nvSpPr>
          <p:cNvPr id="25" name="TextBox 24"/>
          <p:cNvSpPr txBox="1"/>
          <p:nvPr/>
        </p:nvSpPr>
        <p:spPr>
          <a:xfrm>
            <a:off x="3925052"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1693589" cy="194310"/>
          </a:xfrm>
          <a:prstGeom prst="rect">
            <a:avLst/>
          </a:prstGeom>
          <a:noFill/>
        </p:spPr>
        <p:txBody>
          <a:bodyPr wrap="none" lIns="0" rIns="0" tIns="0" bIns="0">
            <a:spAutoFit/>
          </a:bodyPr>
          <a:lstStyle/>
          <a:p>
            <a:r>
              <a:rPr sz="1150" b="0">
                <a:solidFill>
                  <a:srgbClr val="2E2E2E"/>
                </a:solidFill>
                <a:latin typeface="Calibri"/>
              </a:rPr>
              <a:t>▪ '31-90 days' grows fastest</a:t>
            </a:r>
          </a:p>
        </p:txBody>
      </p:sp>
      <p:pic>
        <p:nvPicPr>
          <p:cNvPr id="27" name="Picture 26" descr="lock.png"/>
          <p:cNvPicPr>
            <a:picLocks noChangeAspect="1"/>
          </p:cNvPicPr>
          <p:nvPr/>
        </p:nvPicPr>
        <p:blipFill>
          <a:blip r:embed="rId4"/>
          <a:stretch>
            <a:fillRect/>
          </a:stretch>
        </p:blipFill>
        <p:spPr>
          <a:xfrm>
            <a:off x="1918968" y="3703764"/>
            <a:ext cx="134549" cy="195707"/>
          </a:xfrm>
          <a:prstGeom prst="rect">
            <a:avLst/>
          </a:prstGeom>
        </p:spPr>
      </p:pic>
      <p:sp>
        <p:nvSpPr>
          <p:cNvPr id="28" name="TextBox 27"/>
          <p:cNvSpPr txBox="1"/>
          <p:nvPr/>
        </p:nvSpPr>
        <p:spPr>
          <a:xfrm>
            <a:off x="2094077"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02767" cy="194310"/>
          </a:xfrm>
          <a:prstGeom prst="rect">
            <a:avLst/>
          </a:prstGeom>
          <a:noFill/>
        </p:spPr>
        <p:txBody>
          <a:bodyPr wrap="none" lIns="0" rIns="0" tIns="0" bIns="0">
            <a:spAutoFit/>
          </a:bodyPr>
          <a:lstStyle/>
          <a:p>
            <a:r>
              <a:rPr sz="1150" b="0">
                <a:solidFill>
                  <a:srgbClr val="2E2E2E"/>
                </a:solidFill>
                <a:latin typeface="Calibri"/>
              </a:rPr>
              <a:t>▪ Share shifts toward '31-90 days' (+</a:t>
            </a:r>
          </a:p>
        </p:txBody>
      </p:sp>
      <p:pic>
        <p:nvPicPr>
          <p:cNvPr id="30" name="Picture 29" descr="lock.png"/>
          <p:cNvPicPr>
            <a:picLocks noChangeAspect="1"/>
          </p:cNvPicPr>
          <p:nvPr/>
        </p:nvPicPr>
        <p:blipFill>
          <a:blip r:embed="rId4"/>
          <a:stretch>
            <a:fillRect/>
          </a:stretch>
        </p:blipFill>
        <p:spPr>
          <a:xfrm>
            <a:off x="2428146" y="3931602"/>
            <a:ext cx="134549" cy="195707"/>
          </a:xfrm>
          <a:prstGeom prst="rect">
            <a:avLst/>
          </a:prstGeom>
        </p:spPr>
      </p:pic>
      <p:sp>
        <p:nvSpPr>
          <p:cNvPr id="31" name="TextBox 30"/>
          <p:cNvSpPr txBox="1"/>
          <p:nvPr/>
        </p:nvSpPr>
        <p:spPr>
          <a:xfrm>
            <a:off x="2603256" y="3941825"/>
            <a:ext cx="2054721" cy="194310"/>
          </a:xfrm>
          <a:prstGeom prst="rect">
            <a:avLst/>
          </a:prstGeom>
          <a:noFill/>
        </p:spPr>
        <p:txBody>
          <a:bodyPr wrap="none" lIns="0" rIns="0" tIns="0" bIns="0">
            <a:spAutoFit/>
          </a:bodyPr>
          <a:lstStyle/>
          <a:p>
            <a:r>
              <a:rPr sz="1150" b="0">
                <a:solidFill>
                  <a:srgbClr val="2E2E2E"/>
                </a:solidFill>
                <a:latin typeface="Calibri"/>
              </a:rPr>
              <a:t>BPS) and away from '8-30 days' (-</a:t>
            </a:r>
          </a:p>
        </p:txBody>
      </p:sp>
      <p:pic>
        <p:nvPicPr>
          <p:cNvPr id="32" name="Picture 31" descr="lock.png"/>
          <p:cNvPicPr>
            <a:picLocks noChangeAspect="1"/>
          </p:cNvPicPr>
          <p:nvPr/>
        </p:nvPicPr>
        <p:blipFill>
          <a:blip r:embed="rId4"/>
          <a:stretch>
            <a:fillRect/>
          </a:stretch>
        </p:blipFill>
        <p:spPr>
          <a:xfrm>
            <a:off x="4607131" y="3931602"/>
            <a:ext cx="134549" cy="195707"/>
          </a:xfrm>
          <a:prstGeom prst="rect">
            <a:avLst/>
          </a:prstGeom>
        </p:spPr>
      </p:pic>
      <p:sp>
        <p:nvSpPr>
          <p:cNvPr id="33" name="TextBox 32"/>
          <p:cNvSpPr txBox="1"/>
          <p:nvPr/>
        </p:nvSpPr>
        <p:spPr>
          <a:xfrm>
            <a:off x="4782240"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Shelf Life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Shelf Life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79939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946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184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8-30 days</a:t>
            </a:r>
          </a:p>
        </p:txBody>
      </p:sp>
      <p:sp>
        <p:nvSpPr>
          <p:cNvPr id="19" name="BPS Value 1"/>
          <p:cNvSpPr txBox="1"/>
          <p:nvPr/>
        </p:nvSpPr>
        <p:spPr>
          <a:xfrm>
            <a:off x="6896100" y="178034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38708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38231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061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More than 90 days</a:t>
            </a:r>
          </a:p>
        </p:txBody>
      </p:sp>
      <p:sp>
        <p:nvSpPr>
          <p:cNvPr id="23" name="BPS Value 2"/>
          <p:cNvSpPr txBox="1"/>
          <p:nvPr/>
        </p:nvSpPr>
        <p:spPr>
          <a:xfrm>
            <a:off x="6896100" y="236803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04018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0354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592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31-90 days</a:t>
            </a:r>
          </a:p>
        </p:txBody>
      </p:sp>
      <p:sp>
        <p:nvSpPr>
          <p:cNvPr id="27" name="BPS Value 3"/>
          <p:cNvSpPr txBox="1"/>
          <p:nvPr/>
        </p:nvSpPr>
        <p:spPr>
          <a:xfrm>
            <a:off x="6896100" y="302113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48209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81622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400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Up to 7 days</a:t>
            </a:r>
          </a:p>
        </p:txBody>
      </p:sp>
      <p:sp>
        <p:nvSpPr>
          <p:cNvPr id="31" name="BPS Value 4"/>
          <p:cNvSpPr txBox="1"/>
          <p:nvPr/>
        </p:nvSpPr>
        <p:spPr>
          <a:xfrm>
            <a:off x="6896100" y="480193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Shelf Life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751325"/>
            <a:ext cx="275034" cy="400050"/>
          </a:xfrm>
          <a:prstGeom prst="rect">
            <a:avLst/>
          </a:prstGeom>
        </p:spPr>
      </p:pic>
      <p:sp>
        <p:nvSpPr>
          <p:cNvPr id="38" name="TextBox 37"/>
          <p:cNvSpPr txBox="1"/>
          <p:nvPr/>
        </p:nvSpPr>
        <p:spPr>
          <a:xfrm>
            <a:off x="7829550" y="1400175"/>
            <a:ext cx="2239850" cy="194310"/>
          </a:xfrm>
          <a:prstGeom prst="rect">
            <a:avLst/>
          </a:prstGeom>
          <a:noFill/>
        </p:spPr>
        <p:txBody>
          <a:bodyPr wrap="none" lIns="0" rIns="0" tIns="0" bIns="0">
            <a:spAutoFit/>
          </a:bodyPr>
          <a:lstStyle/>
          <a:p>
            <a:r>
              <a:rPr sz="1150" b="0">
                <a:solidFill>
                  <a:srgbClr val="2E2E2E"/>
                </a:solidFill>
                <a:latin typeface="Calibri"/>
              </a:rPr>
              <a:t>▪ '31-90 days' gains the most share +</a:t>
            </a:r>
          </a:p>
        </p:txBody>
      </p:sp>
      <p:pic>
        <p:nvPicPr>
          <p:cNvPr id="39" name="Picture 38" descr="lock.png"/>
          <p:cNvPicPr>
            <a:picLocks noChangeAspect="1"/>
          </p:cNvPicPr>
          <p:nvPr/>
        </p:nvPicPr>
        <p:blipFill>
          <a:blip r:embed="rId5"/>
          <a:stretch>
            <a:fillRect/>
          </a:stretch>
        </p:blipFill>
        <p:spPr>
          <a:xfrm>
            <a:off x="10018554" y="1389951"/>
            <a:ext cx="134549" cy="195707"/>
          </a:xfrm>
          <a:prstGeom prst="rect">
            <a:avLst/>
          </a:prstGeom>
        </p:spPr>
      </p:pic>
      <p:sp>
        <p:nvSpPr>
          <p:cNvPr id="40" name="TextBox 39"/>
          <p:cNvSpPr txBox="1"/>
          <p:nvPr/>
        </p:nvSpPr>
        <p:spPr>
          <a:xfrm>
            <a:off x="10193664"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1812255" cy="194310"/>
          </a:xfrm>
          <a:prstGeom prst="rect">
            <a:avLst/>
          </a:prstGeom>
          <a:noFill/>
        </p:spPr>
        <p:txBody>
          <a:bodyPr wrap="none" lIns="0" rIns="0" tIns="0" bIns="0">
            <a:spAutoFit/>
          </a:bodyPr>
          <a:lstStyle/>
          <a:p>
            <a:r>
              <a:rPr sz="1150" b="0">
                <a:solidFill>
                  <a:srgbClr val="2E2E2E"/>
                </a:solidFill>
                <a:latin typeface="Calibri"/>
              </a:rPr>
              <a:t>▪ '8-30 days' cedes the most -</a:t>
            </a:r>
          </a:p>
        </p:txBody>
      </p:sp>
      <p:pic>
        <p:nvPicPr>
          <p:cNvPr id="43" name="Picture 42" descr="lock.png"/>
          <p:cNvPicPr>
            <a:picLocks noChangeAspect="1"/>
          </p:cNvPicPr>
          <p:nvPr/>
        </p:nvPicPr>
        <p:blipFill>
          <a:blip r:embed="rId5"/>
          <a:stretch>
            <a:fillRect/>
          </a:stretch>
        </p:blipFill>
        <p:spPr>
          <a:xfrm>
            <a:off x="9590959" y="1793049"/>
            <a:ext cx="134549" cy="195707"/>
          </a:xfrm>
          <a:prstGeom prst="rect">
            <a:avLst/>
          </a:prstGeom>
        </p:spPr>
      </p:pic>
      <p:sp>
        <p:nvSpPr>
          <p:cNvPr id="44" name="TextBox 43"/>
          <p:cNvSpPr txBox="1"/>
          <p:nvPr/>
        </p:nvSpPr>
        <p:spPr>
          <a:xfrm>
            <a:off x="9766068"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45" name="TextBox 44"/>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829550" y="2206371"/>
            <a:ext cx="2870262" cy="194310"/>
          </a:xfrm>
          <a:prstGeom prst="rect">
            <a:avLst/>
          </a:prstGeom>
          <a:noFill/>
        </p:spPr>
        <p:txBody>
          <a:bodyPr wrap="none" lIns="0" rIns="0" tIns="0" bIns="0">
            <a:spAutoFit/>
          </a:bodyPr>
          <a:lstStyle/>
          <a:p>
            <a:r>
              <a:rPr sz="1150" b="0">
                <a:solidFill>
                  <a:srgbClr val="2E2E2E"/>
                </a:solidFill>
                <a:latin typeface="Calibri"/>
              </a:rPr>
              <a:t>▪ '31-90 days' is the fastest-growing shelf life at</a:t>
            </a:r>
          </a:p>
        </p:txBody>
      </p:sp>
      <p:pic>
        <p:nvPicPr>
          <p:cNvPr id="47" name="Picture 46" descr="lock.png"/>
          <p:cNvPicPr>
            <a:picLocks noChangeAspect="1"/>
          </p:cNvPicPr>
          <p:nvPr/>
        </p:nvPicPr>
        <p:blipFill>
          <a:blip r:embed="rId5"/>
          <a:stretch>
            <a:fillRect/>
          </a:stretch>
        </p:blipFill>
        <p:spPr>
          <a:xfrm>
            <a:off x="10648965" y="2196147"/>
            <a:ext cx="134549" cy="195707"/>
          </a:xfrm>
          <a:prstGeom prst="rect">
            <a:avLst/>
          </a:prstGeom>
        </p:spPr>
      </p:pic>
      <p:sp>
        <p:nvSpPr>
          <p:cNvPr id="48" name="TextBox 47"/>
          <p:cNvSpPr txBox="1"/>
          <p:nvPr/>
        </p:nvSpPr>
        <p:spPr>
          <a:xfrm>
            <a:off x="10824075"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9" name="TextBox 48"/>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Shelf Life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Shelf Life,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Shelf Life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sp>
        <p:nvSpPr>
          <p:cNvPr id="33" name="Rectangle 32"/>
          <p:cNvSpPr/>
          <p:nvPr/>
        </p:nvSpPr>
        <p:spPr>
          <a:xfrm>
            <a:off x="1857375" y="3248025"/>
            <a:ext cx="643890" cy="831056"/>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sp>
        <p:nvSpPr>
          <p:cNvPr id="49" name="Rectangle 48"/>
          <p:cNvSpPr/>
          <p:nvPr/>
        </p:nvSpPr>
        <p:spPr>
          <a:xfrm>
            <a:off x="185737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sp>
        <p:nvSpPr>
          <p:cNvPr id="65" name="Rectangle 64"/>
          <p:cNvSpPr/>
          <p:nvPr/>
        </p:nvSpPr>
        <p:spPr>
          <a:xfrm>
            <a:off x="1857375" y="4910138"/>
            <a:ext cx="643890" cy="831056"/>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81" name="Rectangle 80"/>
          <p:cNvSpPr/>
          <p:nvPr/>
        </p:nvSpPr>
        <p:spPr>
          <a:xfrm>
            <a:off x="1857375" y="5741194"/>
            <a:ext cx="643890" cy="831056"/>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63944"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Shelf Life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Shelf Life,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Shelf Life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sp>
        <p:nvSpPr>
          <p:cNvPr id="33" name="Rectangle 32"/>
          <p:cNvSpPr/>
          <p:nvPr/>
        </p:nvSpPr>
        <p:spPr>
          <a:xfrm>
            <a:off x="1857375" y="3248025"/>
            <a:ext cx="643890" cy="831056"/>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sp>
        <p:nvSpPr>
          <p:cNvPr id="49" name="Rectangle 48"/>
          <p:cNvSpPr/>
          <p:nvPr/>
        </p:nvSpPr>
        <p:spPr>
          <a:xfrm>
            <a:off x="185737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sp>
        <p:nvSpPr>
          <p:cNvPr id="65" name="Rectangle 64"/>
          <p:cNvSpPr/>
          <p:nvPr/>
        </p:nvSpPr>
        <p:spPr>
          <a:xfrm>
            <a:off x="1857375" y="4910138"/>
            <a:ext cx="643890" cy="831056"/>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81" name="Rectangle 80"/>
          <p:cNvSpPr/>
          <p:nvPr/>
        </p:nvSpPr>
        <p:spPr>
          <a:xfrm>
            <a:off x="1857375" y="5741194"/>
            <a:ext cx="643890" cy="831056"/>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63944" y="1713738"/>
            <a:ext cx="366712" cy="533400"/>
          </a:xfrm>
          <a:prstGeom prst="rect">
            <a:avLst/>
          </a:prstGeom>
        </p:spPr>
      </p:pic>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Packaging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Packaging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Packaging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Packaging Format segment categorizes the market by packaging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Rigid plastic packs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Paperboard packs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packs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packaging formats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Packaging Format split shows how demand is distributed across packaging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5_200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8_691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3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_95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5_681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7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292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_360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2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452_0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_013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8_4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703487" cy="186689"/>
          </a:xfrm>
          <a:prstGeom prst="rect">
            <a:avLst/>
          </a:prstGeom>
          <a:noFill/>
        </p:spPr>
        <p:txBody>
          <a:bodyPr wrap="none" lIns="0" rIns="0" tIns="0" bIns="0">
            <a:spAutoFit/>
          </a:bodyPr>
          <a:lstStyle/>
          <a:p>
            <a:r>
              <a:rPr sz="1100" b="0">
                <a:solidFill>
                  <a:srgbClr val="2E2E2E"/>
                </a:solidFill>
                <a:latin typeface="Calibri"/>
              </a:rPr>
              <a:t>▪ 'Rigid plastic packs' holds the largest share in</a:t>
            </a:r>
          </a:p>
        </p:txBody>
      </p:sp>
      <p:sp>
        <p:nvSpPr>
          <p:cNvPr id="81" name="TextBox 80"/>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82" name="Picture 81" descr="lock.png"/>
          <p:cNvPicPr>
            <a:picLocks noChangeAspect="1"/>
          </p:cNvPicPr>
          <p:nvPr/>
        </p:nvPicPr>
        <p:blipFill>
          <a:blip r:embed="rId16"/>
          <a:stretch>
            <a:fillRect/>
          </a:stretch>
        </p:blipFill>
        <p:spPr>
          <a:xfrm>
            <a:off x="793792" y="4387298"/>
            <a:ext cx="128699" cy="187198"/>
          </a:xfrm>
          <a:prstGeom prst="rect">
            <a:avLst/>
          </a:prstGeom>
        </p:spPr>
      </p:pic>
      <p:sp>
        <p:nvSpPr>
          <p:cNvPr id="83" name="TextBox 82"/>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4" name="TextBox 83"/>
          <p:cNvSpPr txBox="1"/>
          <p:nvPr/>
        </p:nvSpPr>
        <p:spPr>
          <a:xfrm>
            <a:off x="485775" y="4615009"/>
            <a:ext cx="2881386" cy="186689"/>
          </a:xfrm>
          <a:prstGeom prst="rect">
            <a:avLst/>
          </a:prstGeom>
          <a:noFill/>
        </p:spPr>
        <p:txBody>
          <a:bodyPr wrap="none" lIns="0" rIns="0" tIns="0" bIns="0">
            <a:spAutoFit/>
          </a:bodyPr>
          <a:lstStyle/>
          <a:p>
            <a:r>
              <a:rPr sz="1100" b="0">
                <a:solidFill>
                  <a:srgbClr val="2E2E2E"/>
                </a:solidFill>
                <a:latin typeface="Calibri"/>
              </a:rPr>
              <a:t>▪ 'Other packaging formats' is the fastest-growing</a:t>
            </a:r>
          </a:p>
        </p:txBody>
      </p:sp>
      <p:sp>
        <p:nvSpPr>
          <p:cNvPr id="85" name="TextBox 84"/>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6" name="Picture 85" descr="lock.png"/>
          <p:cNvPicPr>
            <a:picLocks noChangeAspect="1"/>
          </p:cNvPicPr>
          <p:nvPr/>
        </p:nvPicPr>
        <p:blipFill>
          <a:blip r:embed="rId16"/>
          <a:stretch>
            <a:fillRect/>
          </a:stretch>
        </p:blipFill>
        <p:spPr>
          <a:xfrm>
            <a:off x="1391064" y="4772870"/>
            <a:ext cx="128699" cy="187198"/>
          </a:xfrm>
          <a:prstGeom prst="rect">
            <a:avLst/>
          </a:prstGeom>
        </p:spPr>
      </p:pic>
      <p:sp>
        <p:nvSpPr>
          <p:cNvPr id="87" name="TextBox 86"/>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8" name="TextBox 87"/>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9" name="Picture 88" descr="lock.png"/>
          <p:cNvPicPr>
            <a:picLocks noChangeAspect="1"/>
          </p:cNvPicPr>
          <p:nvPr/>
        </p:nvPicPr>
        <p:blipFill>
          <a:blip r:embed="rId16"/>
          <a:stretch>
            <a:fillRect/>
          </a:stretch>
        </p:blipFill>
        <p:spPr>
          <a:xfrm>
            <a:off x="2240451" y="4990801"/>
            <a:ext cx="128699" cy="187198"/>
          </a:xfrm>
          <a:prstGeom prst="rect">
            <a:avLst/>
          </a:prstGeom>
        </p:spPr>
      </p:pic>
      <p:sp>
        <p:nvSpPr>
          <p:cNvPr id="90" name="TextBox 89"/>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1" name="Picture 90" descr="lock.png"/>
          <p:cNvPicPr>
            <a:picLocks noChangeAspect="1"/>
          </p:cNvPicPr>
          <p:nvPr/>
        </p:nvPicPr>
        <p:blipFill>
          <a:blip r:embed="rId16"/>
          <a:stretch>
            <a:fillRect/>
          </a:stretch>
        </p:blipFill>
        <p:spPr>
          <a:xfrm>
            <a:off x="2552799" y="4990801"/>
            <a:ext cx="128699" cy="187198"/>
          </a:xfrm>
          <a:prstGeom prst="rect">
            <a:avLst/>
          </a:prstGeom>
        </p:spPr>
      </p:pic>
      <p:sp>
        <p:nvSpPr>
          <p:cNvPr id="92" name="TextBox 91"/>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3" name="TextBox 92"/>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4" name="TextBox 93"/>
          <p:cNvSpPr txBox="1"/>
          <p:nvPr/>
        </p:nvSpPr>
        <p:spPr>
          <a:xfrm>
            <a:off x="485775" y="5386153"/>
            <a:ext cx="2813992" cy="186689"/>
          </a:xfrm>
          <a:prstGeom prst="rect">
            <a:avLst/>
          </a:prstGeom>
          <a:noFill/>
        </p:spPr>
        <p:txBody>
          <a:bodyPr wrap="none" lIns="0" rIns="0" tIns="0" bIns="0">
            <a:spAutoFit/>
          </a:bodyPr>
          <a:lstStyle/>
          <a:p>
            <a:r>
              <a:rPr sz="1100" b="0">
                <a:solidFill>
                  <a:srgbClr val="2E2E2E"/>
                </a:solidFill>
                <a:latin typeface="Calibri"/>
              </a:rPr>
              <a:t>▪ 4 sub-segments make up the packaging format</a:t>
            </a:r>
          </a:p>
        </p:txBody>
      </p:sp>
      <p:sp>
        <p:nvSpPr>
          <p:cNvPr id="95" name="TextBox 94"/>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6" name="TextBox 95"/>
          <p:cNvSpPr txBox="1"/>
          <p:nvPr/>
        </p:nvSpPr>
        <p:spPr>
          <a:xfrm>
            <a:off x="3838575" y="4229437"/>
            <a:ext cx="1255191" cy="186689"/>
          </a:xfrm>
          <a:prstGeom prst="rect">
            <a:avLst/>
          </a:prstGeom>
          <a:noFill/>
        </p:spPr>
        <p:txBody>
          <a:bodyPr wrap="none" lIns="0" rIns="0" tIns="0" bIns="0">
            <a:spAutoFit/>
          </a:bodyPr>
          <a:lstStyle/>
          <a:p>
            <a:r>
              <a:rPr sz="1100" b="0">
                <a:solidFill>
                  <a:srgbClr val="2E2E2E"/>
                </a:solidFill>
                <a:latin typeface="Calibri"/>
              </a:rPr>
              <a:t>● Rigid plastic packs:</a:t>
            </a:r>
          </a:p>
        </p:txBody>
      </p:sp>
      <p:pic>
        <p:nvPicPr>
          <p:cNvPr id="97" name="Picture 96" descr="lock.png"/>
          <p:cNvPicPr>
            <a:picLocks noChangeAspect="1"/>
          </p:cNvPicPr>
          <p:nvPr/>
        </p:nvPicPr>
        <p:blipFill>
          <a:blip r:embed="rId16"/>
          <a:stretch>
            <a:fillRect/>
          </a:stretch>
        </p:blipFill>
        <p:spPr>
          <a:xfrm>
            <a:off x="5041818" y="4219658"/>
            <a:ext cx="128699" cy="187198"/>
          </a:xfrm>
          <a:prstGeom prst="rect">
            <a:avLst/>
          </a:prstGeom>
        </p:spPr>
      </p:pic>
      <p:sp>
        <p:nvSpPr>
          <p:cNvPr id="98" name="TextBox 97"/>
          <p:cNvSpPr txBox="1"/>
          <p:nvPr/>
        </p:nvSpPr>
        <p:spPr>
          <a:xfrm>
            <a:off x="520931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6"/>
          <a:stretch>
            <a:fillRect/>
          </a:stretch>
        </p:blipFill>
        <p:spPr>
          <a:xfrm>
            <a:off x="6068764" y="4219658"/>
            <a:ext cx="128699" cy="187198"/>
          </a:xfrm>
          <a:prstGeom prst="rect">
            <a:avLst/>
          </a:prstGeom>
        </p:spPr>
      </p:pic>
      <p:sp>
        <p:nvSpPr>
          <p:cNvPr id="100" name="TextBox 99"/>
          <p:cNvSpPr txBox="1"/>
          <p:nvPr/>
        </p:nvSpPr>
        <p:spPr>
          <a:xfrm>
            <a:off x="623626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1" name="TextBox 100"/>
          <p:cNvSpPr txBox="1"/>
          <p:nvPr/>
        </p:nvSpPr>
        <p:spPr>
          <a:xfrm>
            <a:off x="3838575" y="4447369"/>
            <a:ext cx="1245914" cy="186689"/>
          </a:xfrm>
          <a:prstGeom prst="rect">
            <a:avLst/>
          </a:prstGeom>
          <a:noFill/>
        </p:spPr>
        <p:txBody>
          <a:bodyPr wrap="none" lIns="0" rIns="0" tIns="0" bIns="0">
            <a:spAutoFit/>
          </a:bodyPr>
          <a:lstStyle/>
          <a:p>
            <a:r>
              <a:rPr sz="1100" b="0">
                <a:solidFill>
                  <a:srgbClr val="2E2E2E"/>
                </a:solidFill>
                <a:latin typeface="Calibri"/>
              </a:rPr>
              <a:t>● Paperboard packs:</a:t>
            </a:r>
          </a:p>
        </p:txBody>
      </p:sp>
      <p:pic>
        <p:nvPicPr>
          <p:cNvPr id="102" name="Picture 101" descr="lock.png"/>
          <p:cNvPicPr>
            <a:picLocks noChangeAspect="1"/>
          </p:cNvPicPr>
          <p:nvPr/>
        </p:nvPicPr>
        <p:blipFill>
          <a:blip r:embed="rId16"/>
          <a:stretch>
            <a:fillRect/>
          </a:stretch>
        </p:blipFill>
        <p:spPr>
          <a:xfrm>
            <a:off x="5032541" y="4437590"/>
            <a:ext cx="128699" cy="187198"/>
          </a:xfrm>
          <a:prstGeom prst="rect">
            <a:avLst/>
          </a:prstGeom>
        </p:spPr>
      </p:pic>
      <p:sp>
        <p:nvSpPr>
          <p:cNvPr id="103" name="TextBox 102"/>
          <p:cNvSpPr txBox="1"/>
          <p:nvPr/>
        </p:nvSpPr>
        <p:spPr>
          <a:xfrm>
            <a:off x="520003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4" name="Picture 103" descr="lock.png"/>
          <p:cNvPicPr>
            <a:picLocks noChangeAspect="1"/>
          </p:cNvPicPr>
          <p:nvPr/>
        </p:nvPicPr>
        <p:blipFill>
          <a:blip r:embed="rId16"/>
          <a:stretch>
            <a:fillRect/>
          </a:stretch>
        </p:blipFill>
        <p:spPr>
          <a:xfrm>
            <a:off x="6059487" y="4437590"/>
            <a:ext cx="128699" cy="187198"/>
          </a:xfrm>
          <a:prstGeom prst="rect">
            <a:avLst/>
          </a:prstGeom>
        </p:spPr>
      </p:pic>
      <p:sp>
        <p:nvSpPr>
          <p:cNvPr id="105" name="TextBox 104"/>
          <p:cNvSpPr txBox="1"/>
          <p:nvPr/>
        </p:nvSpPr>
        <p:spPr>
          <a:xfrm>
            <a:off x="6226983"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6" name="TextBox 105"/>
          <p:cNvSpPr txBox="1"/>
          <p:nvPr/>
        </p:nvSpPr>
        <p:spPr>
          <a:xfrm>
            <a:off x="3838575" y="4665301"/>
            <a:ext cx="1012626" cy="186689"/>
          </a:xfrm>
          <a:prstGeom prst="rect">
            <a:avLst/>
          </a:prstGeom>
          <a:noFill/>
        </p:spPr>
        <p:txBody>
          <a:bodyPr wrap="none" lIns="0" rIns="0" tIns="0" bIns="0">
            <a:spAutoFit/>
          </a:bodyPr>
          <a:lstStyle/>
          <a:p>
            <a:r>
              <a:rPr sz="1100" b="0">
                <a:solidFill>
                  <a:srgbClr val="2E2E2E"/>
                </a:solidFill>
                <a:latin typeface="Calibri"/>
              </a:rPr>
              <a:t>● Flexible packs:</a:t>
            </a:r>
          </a:p>
        </p:txBody>
      </p:sp>
      <p:pic>
        <p:nvPicPr>
          <p:cNvPr id="107" name="Picture 106" descr="lock.png"/>
          <p:cNvPicPr>
            <a:picLocks noChangeAspect="1"/>
          </p:cNvPicPr>
          <p:nvPr/>
        </p:nvPicPr>
        <p:blipFill>
          <a:blip r:embed="rId16"/>
          <a:stretch>
            <a:fillRect/>
          </a:stretch>
        </p:blipFill>
        <p:spPr>
          <a:xfrm>
            <a:off x="4799253" y="4655522"/>
            <a:ext cx="128699" cy="187198"/>
          </a:xfrm>
          <a:prstGeom prst="rect">
            <a:avLst/>
          </a:prstGeom>
        </p:spPr>
      </p:pic>
      <p:sp>
        <p:nvSpPr>
          <p:cNvPr id="108" name="TextBox 107"/>
          <p:cNvSpPr txBox="1"/>
          <p:nvPr/>
        </p:nvSpPr>
        <p:spPr>
          <a:xfrm>
            <a:off x="496674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9" name="Picture 108" descr="lock.png"/>
          <p:cNvPicPr>
            <a:picLocks noChangeAspect="1"/>
          </p:cNvPicPr>
          <p:nvPr/>
        </p:nvPicPr>
        <p:blipFill>
          <a:blip r:embed="rId16"/>
          <a:stretch>
            <a:fillRect/>
          </a:stretch>
        </p:blipFill>
        <p:spPr>
          <a:xfrm>
            <a:off x="5826199" y="4655522"/>
            <a:ext cx="128699" cy="187198"/>
          </a:xfrm>
          <a:prstGeom prst="rect">
            <a:avLst/>
          </a:prstGeom>
        </p:spPr>
      </p:pic>
      <p:sp>
        <p:nvSpPr>
          <p:cNvPr id="110" name="TextBox 109"/>
          <p:cNvSpPr txBox="1"/>
          <p:nvPr/>
        </p:nvSpPr>
        <p:spPr>
          <a:xfrm>
            <a:off x="5993695"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1" name="TextBox 110"/>
          <p:cNvSpPr txBox="1"/>
          <p:nvPr/>
        </p:nvSpPr>
        <p:spPr>
          <a:xfrm>
            <a:off x="3838575" y="4883233"/>
            <a:ext cx="1636092" cy="186689"/>
          </a:xfrm>
          <a:prstGeom prst="rect">
            <a:avLst/>
          </a:prstGeom>
          <a:noFill/>
        </p:spPr>
        <p:txBody>
          <a:bodyPr wrap="none" lIns="0" rIns="0" tIns="0" bIns="0">
            <a:spAutoFit/>
          </a:bodyPr>
          <a:lstStyle/>
          <a:p>
            <a:r>
              <a:rPr sz="1100" b="0">
                <a:solidFill>
                  <a:srgbClr val="2E2E2E"/>
                </a:solidFill>
                <a:latin typeface="Calibri"/>
              </a:rPr>
              <a:t>● Other packaging formats:</a:t>
            </a:r>
          </a:p>
        </p:txBody>
      </p:sp>
      <p:pic>
        <p:nvPicPr>
          <p:cNvPr id="112" name="Picture 111" descr="lock.png"/>
          <p:cNvPicPr>
            <a:picLocks noChangeAspect="1"/>
          </p:cNvPicPr>
          <p:nvPr/>
        </p:nvPicPr>
        <p:blipFill>
          <a:blip r:embed="rId16"/>
          <a:stretch>
            <a:fillRect/>
          </a:stretch>
        </p:blipFill>
        <p:spPr>
          <a:xfrm>
            <a:off x="5422718" y="4873454"/>
            <a:ext cx="128699" cy="187198"/>
          </a:xfrm>
          <a:prstGeom prst="rect">
            <a:avLst/>
          </a:prstGeom>
        </p:spPr>
      </p:pic>
      <p:sp>
        <p:nvSpPr>
          <p:cNvPr id="113" name="TextBox 112"/>
          <p:cNvSpPr txBox="1"/>
          <p:nvPr/>
        </p:nvSpPr>
        <p:spPr>
          <a:xfrm>
            <a:off x="559021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4" name="Picture 113" descr="lock.png"/>
          <p:cNvPicPr>
            <a:picLocks noChangeAspect="1"/>
          </p:cNvPicPr>
          <p:nvPr/>
        </p:nvPicPr>
        <p:blipFill>
          <a:blip r:embed="rId16"/>
          <a:stretch>
            <a:fillRect/>
          </a:stretch>
        </p:blipFill>
        <p:spPr>
          <a:xfrm>
            <a:off x="6449665" y="4873454"/>
            <a:ext cx="128699" cy="187198"/>
          </a:xfrm>
          <a:prstGeom prst="rect">
            <a:avLst/>
          </a:prstGeom>
        </p:spPr>
      </p:pic>
      <p:sp>
        <p:nvSpPr>
          <p:cNvPr id="115" name="TextBox 114"/>
          <p:cNvSpPr txBox="1"/>
          <p:nvPr/>
        </p:nvSpPr>
        <p:spPr>
          <a:xfrm>
            <a:off x="6617160"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6" name="TextBox 11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Packaging Format segment is projected to grow</a:t>
            </a:r>
          </a:p>
        </p:txBody>
      </p:sp>
      <p:sp>
        <p:nvSpPr>
          <p:cNvPr id="117" name="TextBox 116"/>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18" name="Picture 117" descr="lock.png"/>
          <p:cNvPicPr>
            <a:picLocks noChangeAspect="1"/>
          </p:cNvPicPr>
          <p:nvPr/>
        </p:nvPicPr>
        <p:blipFill>
          <a:blip r:embed="rId16"/>
          <a:stretch>
            <a:fillRect/>
          </a:stretch>
        </p:blipFill>
        <p:spPr>
          <a:xfrm>
            <a:off x="9310118" y="6007677"/>
            <a:ext cx="134549" cy="195707"/>
          </a:xfrm>
          <a:prstGeom prst="rect">
            <a:avLst/>
          </a:prstGeom>
        </p:spPr>
      </p:pic>
      <p:sp>
        <p:nvSpPr>
          <p:cNvPr id="119" name="TextBox 118"/>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Packaging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Packaging Format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Packaging Format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Packaging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540871" cy="186689"/>
          </a:xfrm>
          <a:prstGeom prst="rect">
            <a:avLst/>
          </a:prstGeom>
          <a:noFill/>
        </p:spPr>
        <p:txBody>
          <a:bodyPr wrap="none" lIns="0" rIns="0" tIns="0" bIns="0">
            <a:spAutoFit/>
          </a:bodyPr>
          <a:lstStyle/>
          <a:p>
            <a:r>
              <a:rPr sz="1100" b="0">
                <a:solidFill>
                  <a:srgbClr val="2E2E2E"/>
                </a:solidFill>
                <a:latin typeface="Calibri"/>
              </a:rPr>
              <a:t>Between 2026 and 2036, 'Other packaging formats' gains the most share in the Global market (+</a:t>
            </a:r>
          </a:p>
        </p:txBody>
      </p:sp>
      <p:pic>
        <p:nvPicPr>
          <p:cNvPr id="21" name="Picture 20" descr="lock.png"/>
          <p:cNvPicPr>
            <a:picLocks noChangeAspect="1"/>
          </p:cNvPicPr>
          <p:nvPr/>
        </p:nvPicPr>
        <p:blipFill>
          <a:blip r:embed="rId6"/>
          <a:stretch>
            <a:fillRect/>
          </a:stretch>
        </p:blipFill>
        <p:spPr>
          <a:xfrm>
            <a:off x="5746097" y="5851905"/>
            <a:ext cx="128699" cy="187198"/>
          </a:xfrm>
          <a:prstGeom prst="rect">
            <a:avLst/>
          </a:prstGeom>
        </p:spPr>
      </p:pic>
      <p:sp>
        <p:nvSpPr>
          <p:cNvPr id="22" name="TextBox 21"/>
          <p:cNvSpPr txBox="1"/>
          <p:nvPr/>
        </p:nvSpPr>
        <p:spPr>
          <a:xfrm>
            <a:off x="5913593" y="5861685"/>
            <a:ext cx="2137593" cy="186689"/>
          </a:xfrm>
          <a:prstGeom prst="rect">
            <a:avLst/>
          </a:prstGeom>
          <a:noFill/>
        </p:spPr>
        <p:txBody>
          <a:bodyPr wrap="none" lIns="0" rIns="0" tIns="0" bIns="0">
            <a:spAutoFit/>
          </a:bodyPr>
          <a:lstStyle/>
          <a:p>
            <a:r>
              <a:rPr sz="1100" b="0">
                <a:solidFill>
                  <a:srgbClr val="2E2E2E"/>
                </a:solidFill>
                <a:latin typeface="Calibri"/>
              </a:rPr>
              <a:t>BPS) while 'Paperboard packs' cedes</a:t>
            </a:r>
          </a:p>
        </p:txBody>
      </p:sp>
      <p:pic>
        <p:nvPicPr>
          <p:cNvPr id="23" name="Picture 22" descr="lock.png"/>
          <p:cNvPicPr>
            <a:picLocks noChangeAspect="1"/>
          </p:cNvPicPr>
          <p:nvPr/>
        </p:nvPicPr>
        <p:blipFill>
          <a:blip r:embed="rId6"/>
          <a:stretch>
            <a:fillRect/>
          </a:stretch>
        </p:blipFill>
        <p:spPr>
          <a:xfrm>
            <a:off x="7999238" y="5851905"/>
            <a:ext cx="128699" cy="187198"/>
          </a:xfrm>
          <a:prstGeom prst="rect">
            <a:avLst/>
          </a:prstGeom>
        </p:spPr>
      </p:pic>
      <p:sp>
        <p:nvSpPr>
          <p:cNvPr id="24" name="TextBox 23"/>
          <p:cNvSpPr txBox="1"/>
          <p:nvPr/>
        </p:nvSpPr>
        <p:spPr>
          <a:xfrm>
            <a:off x="8166734"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packs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Rigid plastic packs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Paperboard packs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packaging formats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Packaging Format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Packaging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Packaging Format (MT)</a:t>
            </a:r>
          </a:p>
        </p:txBody>
      </p:sp>
      <p:graphicFrame>
        <p:nvGraphicFramePr>
          <p:cNvPr id="13" name="Table 12"/>
          <p:cNvGraphicFramePr>
            <a:graphicFrameLocks noGrp="1"/>
          </p:cNvGraphicFramePr>
          <p:nvPr/>
        </p:nvGraphicFramePr>
        <p:xfrm>
          <a:off x="152400" y="1238250"/>
          <a:ext cx="11887208" cy="18668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Packaging Format</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Flexible packs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Rigid plastic packs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Paperboard packs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Other packaging</a:t>
                      </a:r>
                      <a:endParaRPr sz="1100"/>
                    </a:p>
                    <a:p>
                      <a:pPr algn="l"/>
                      <a:r>
                        <a:rPr sz="1100" b="1">
                          <a:solidFill>
                            <a:srgbClr val="2E2E2E"/>
                          </a:solidFill>
                          <a:latin typeface="Calibri"/>
                        </a:rPr>
                        <a:t>formats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Packaging Format</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24454"/>
            <a:ext cx="366712" cy="533399"/>
          </a:xfrm>
          <a:prstGeom prst="rect">
            <a:avLst/>
          </a:prstGeom>
        </p:spPr>
      </p:pic>
      <p:sp>
        <p:nvSpPr>
          <p:cNvPr id="21" name="TextBox 20"/>
          <p:cNvSpPr txBox="1"/>
          <p:nvPr/>
        </p:nvSpPr>
        <p:spPr>
          <a:xfrm>
            <a:off x="276225" y="3867150"/>
            <a:ext cx="3307556" cy="194310"/>
          </a:xfrm>
          <a:prstGeom prst="rect">
            <a:avLst/>
          </a:prstGeom>
          <a:noFill/>
        </p:spPr>
        <p:txBody>
          <a:bodyPr wrap="none" lIns="0" rIns="0" tIns="0" bIns="0">
            <a:spAutoFit/>
          </a:bodyPr>
          <a:lstStyle/>
          <a:p>
            <a:r>
              <a:rPr sz="1150" b="0">
                <a:solidFill>
                  <a:srgbClr val="2E2E2E"/>
                </a:solidFill>
                <a:latin typeface="Calibri"/>
              </a:rPr>
              <a:t>▪ 'Rigid plastic packs' is the largest packaging format at</a:t>
            </a:r>
          </a:p>
        </p:txBody>
      </p:sp>
      <p:pic>
        <p:nvPicPr>
          <p:cNvPr id="22" name="Picture 21" descr="lock.png"/>
          <p:cNvPicPr>
            <a:picLocks noChangeAspect="1"/>
          </p:cNvPicPr>
          <p:nvPr/>
        </p:nvPicPr>
        <p:blipFill>
          <a:blip r:embed="rId4"/>
          <a:stretch>
            <a:fillRect/>
          </a:stretch>
        </p:blipFill>
        <p:spPr>
          <a:xfrm>
            <a:off x="3532935" y="3856926"/>
            <a:ext cx="134549" cy="195707"/>
          </a:xfrm>
          <a:prstGeom prst="rect">
            <a:avLst/>
          </a:prstGeom>
        </p:spPr>
      </p:pic>
      <p:sp>
        <p:nvSpPr>
          <p:cNvPr id="23" name="TextBox 22"/>
          <p:cNvSpPr txBox="1"/>
          <p:nvPr/>
        </p:nvSpPr>
        <p:spPr>
          <a:xfrm>
            <a:off x="3708044" y="3867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737777" y="3856926"/>
            <a:ext cx="134549" cy="195707"/>
          </a:xfrm>
          <a:prstGeom prst="rect">
            <a:avLst/>
          </a:prstGeom>
        </p:spPr>
      </p:pic>
      <p:sp>
        <p:nvSpPr>
          <p:cNvPr id="25" name="TextBox 24"/>
          <p:cNvSpPr txBox="1"/>
          <p:nvPr/>
        </p:nvSpPr>
        <p:spPr>
          <a:xfrm>
            <a:off x="4912886" y="3867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094987"/>
            <a:ext cx="2519684" cy="194310"/>
          </a:xfrm>
          <a:prstGeom prst="rect">
            <a:avLst/>
          </a:prstGeom>
          <a:noFill/>
        </p:spPr>
        <p:txBody>
          <a:bodyPr wrap="none" lIns="0" rIns="0" tIns="0" bIns="0">
            <a:spAutoFit/>
          </a:bodyPr>
          <a:lstStyle/>
          <a:p>
            <a:r>
              <a:rPr sz="1150" b="0">
                <a:solidFill>
                  <a:srgbClr val="2E2E2E"/>
                </a:solidFill>
                <a:latin typeface="Calibri"/>
              </a:rPr>
              <a:t>▪ 'Other packaging formats' grows fastest</a:t>
            </a:r>
          </a:p>
        </p:txBody>
      </p:sp>
      <p:pic>
        <p:nvPicPr>
          <p:cNvPr id="27" name="Picture 26" descr="lock.png"/>
          <p:cNvPicPr>
            <a:picLocks noChangeAspect="1"/>
          </p:cNvPicPr>
          <p:nvPr/>
        </p:nvPicPr>
        <p:blipFill>
          <a:blip r:embed="rId4"/>
          <a:stretch>
            <a:fillRect/>
          </a:stretch>
        </p:blipFill>
        <p:spPr>
          <a:xfrm>
            <a:off x="2745063" y="4084764"/>
            <a:ext cx="134549" cy="195707"/>
          </a:xfrm>
          <a:prstGeom prst="rect">
            <a:avLst/>
          </a:prstGeom>
        </p:spPr>
      </p:pic>
      <p:sp>
        <p:nvSpPr>
          <p:cNvPr id="28" name="TextBox 27"/>
          <p:cNvSpPr txBox="1"/>
          <p:nvPr/>
        </p:nvSpPr>
        <p:spPr>
          <a:xfrm>
            <a:off x="2920173" y="4094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322825"/>
            <a:ext cx="3028863" cy="194310"/>
          </a:xfrm>
          <a:prstGeom prst="rect">
            <a:avLst/>
          </a:prstGeom>
          <a:noFill/>
        </p:spPr>
        <p:txBody>
          <a:bodyPr wrap="none" lIns="0" rIns="0" tIns="0" bIns="0">
            <a:spAutoFit/>
          </a:bodyPr>
          <a:lstStyle/>
          <a:p>
            <a:r>
              <a:rPr sz="1150" b="0">
                <a:solidFill>
                  <a:srgbClr val="2E2E2E"/>
                </a:solidFill>
                <a:latin typeface="Calibri"/>
              </a:rPr>
              <a:t>▪ Share shifts toward 'Other packaging formats' (+</a:t>
            </a:r>
          </a:p>
        </p:txBody>
      </p:sp>
      <p:pic>
        <p:nvPicPr>
          <p:cNvPr id="30" name="Picture 29" descr="lock.png"/>
          <p:cNvPicPr>
            <a:picLocks noChangeAspect="1"/>
          </p:cNvPicPr>
          <p:nvPr/>
        </p:nvPicPr>
        <p:blipFill>
          <a:blip r:embed="rId4"/>
          <a:stretch>
            <a:fillRect/>
          </a:stretch>
        </p:blipFill>
        <p:spPr>
          <a:xfrm>
            <a:off x="3254242" y="4312602"/>
            <a:ext cx="134549" cy="195707"/>
          </a:xfrm>
          <a:prstGeom prst="rect">
            <a:avLst/>
          </a:prstGeom>
        </p:spPr>
      </p:pic>
      <p:sp>
        <p:nvSpPr>
          <p:cNvPr id="31" name="TextBox 30"/>
          <p:cNvSpPr txBox="1"/>
          <p:nvPr/>
        </p:nvSpPr>
        <p:spPr>
          <a:xfrm>
            <a:off x="3429351" y="4322825"/>
            <a:ext cx="2547069" cy="194310"/>
          </a:xfrm>
          <a:prstGeom prst="rect">
            <a:avLst/>
          </a:prstGeom>
          <a:noFill/>
        </p:spPr>
        <p:txBody>
          <a:bodyPr wrap="none" lIns="0" rIns="0" tIns="0" bIns="0">
            <a:spAutoFit/>
          </a:bodyPr>
          <a:lstStyle/>
          <a:p>
            <a:r>
              <a:rPr sz="1150" b="0">
                <a:solidFill>
                  <a:srgbClr val="2E2E2E"/>
                </a:solidFill>
                <a:latin typeface="Calibri"/>
              </a:rPr>
              <a:t>BPS) and away from 'Paperboard packs' (-</a:t>
            </a:r>
          </a:p>
        </p:txBody>
      </p:sp>
      <p:pic>
        <p:nvPicPr>
          <p:cNvPr id="32" name="Picture 31" descr="lock.png"/>
          <p:cNvPicPr>
            <a:picLocks noChangeAspect="1"/>
          </p:cNvPicPr>
          <p:nvPr/>
        </p:nvPicPr>
        <p:blipFill>
          <a:blip r:embed="rId4"/>
          <a:stretch>
            <a:fillRect/>
          </a:stretch>
        </p:blipFill>
        <p:spPr>
          <a:xfrm>
            <a:off x="5925574" y="4312602"/>
            <a:ext cx="134549" cy="195707"/>
          </a:xfrm>
          <a:prstGeom prst="rect">
            <a:avLst/>
          </a:prstGeom>
        </p:spPr>
      </p:pic>
      <p:sp>
        <p:nvSpPr>
          <p:cNvPr id="33" name="TextBox 32"/>
          <p:cNvSpPr txBox="1"/>
          <p:nvPr/>
        </p:nvSpPr>
        <p:spPr>
          <a:xfrm>
            <a:off x="6100683" y="4322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550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540440"/>
            <a:ext cx="134549" cy="195707"/>
          </a:xfrm>
          <a:prstGeom prst="rect">
            <a:avLst/>
          </a:prstGeom>
        </p:spPr>
      </p:pic>
      <p:sp>
        <p:nvSpPr>
          <p:cNvPr id="36" name="TextBox 35"/>
          <p:cNvSpPr txBox="1"/>
          <p:nvPr/>
        </p:nvSpPr>
        <p:spPr>
          <a:xfrm>
            <a:off x="1965143" y="4550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540440"/>
            <a:ext cx="134549" cy="195707"/>
          </a:xfrm>
          <a:prstGeom prst="rect">
            <a:avLst/>
          </a:prstGeom>
        </p:spPr>
      </p:pic>
      <p:sp>
        <p:nvSpPr>
          <p:cNvPr id="38" name="TextBox 37"/>
          <p:cNvSpPr txBox="1"/>
          <p:nvPr/>
        </p:nvSpPr>
        <p:spPr>
          <a:xfrm>
            <a:off x="2291688" y="4550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Packaging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Packaging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Packaging Format (US$ Mn)</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1721397"/>
                <a:gridCol w="597988"/>
                <a:gridCol w="597988"/>
                <a:gridCol w="597988"/>
                <a:gridCol w="597988"/>
                <a:gridCol w="597988"/>
                <a:gridCol w="597988"/>
                <a:gridCol w="597988"/>
                <a:gridCol w="597988"/>
                <a:gridCol w="597988"/>
                <a:gridCol w="597988"/>
                <a:gridCol w="597988"/>
                <a:gridCol w="597988"/>
                <a:gridCol w="597988"/>
                <a:gridCol w="597988"/>
                <a:gridCol w="597988"/>
                <a:gridCol w="597988"/>
                <a:gridCol w="597988"/>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Packaging Format</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70004" y="1837563"/>
            <a:ext cx="366712" cy="533400"/>
          </a:xfrm>
          <a:prstGeom prst="rect">
            <a:avLst/>
          </a:prstGeom>
        </p:spPr>
      </p:pic>
      <p:sp>
        <p:nvSpPr>
          <p:cNvPr id="21" name="TextBox 20"/>
          <p:cNvSpPr txBox="1"/>
          <p:nvPr/>
        </p:nvSpPr>
        <p:spPr>
          <a:xfrm>
            <a:off x="276225" y="3486150"/>
            <a:ext cx="3307556" cy="194310"/>
          </a:xfrm>
          <a:prstGeom prst="rect">
            <a:avLst/>
          </a:prstGeom>
          <a:noFill/>
        </p:spPr>
        <p:txBody>
          <a:bodyPr wrap="none" lIns="0" rIns="0" tIns="0" bIns="0">
            <a:spAutoFit/>
          </a:bodyPr>
          <a:lstStyle/>
          <a:p>
            <a:r>
              <a:rPr sz="1150" b="0">
                <a:solidFill>
                  <a:srgbClr val="2E2E2E"/>
                </a:solidFill>
                <a:latin typeface="Calibri"/>
              </a:rPr>
              <a:t>▪ 'Rigid plastic packs' is the largest packaging format at</a:t>
            </a:r>
          </a:p>
        </p:txBody>
      </p:sp>
      <p:pic>
        <p:nvPicPr>
          <p:cNvPr id="22" name="Picture 21" descr="lock.png"/>
          <p:cNvPicPr>
            <a:picLocks noChangeAspect="1"/>
          </p:cNvPicPr>
          <p:nvPr/>
        </p:nvPicPr>
        <p:blipFill>
          <a:blip r:embed="rId4"/>
          <a:stretch>
            <a:fillRect/>
          </a:stretch>
        </p:blipFill>
        <p:spPr>
          <a:xfrm>
            <a:off x="3532935" y="3475926"/>
            <a:ext cx="134549" cy="195707"/>
          </a:xfrm>
          <a:prstGeom prst="rect">
            <a:avLst/>
          </a:prstGeom>
        </p:spPr>
      </p:pic>
      <p:sp>
        <p:nvSpPr>
          <p:cNvPr id="23" name="TextBox 22"/>
          <p:cNvSpPr txBox="1"/>
          <p:nvPr/>
        </p:nvSpPr>
        <p:spPr>
          <a:xfrm>
            <a:off x="3708044"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613977" y="3475926"/>
            <a:ext cx="134549" cy="195707"/>
          </a:xfrm>
          <a:prstGeom prst="rect">
            <a:avLst/>
          </a:prstGeom>
        </p:spPr>
      </p:pic>
      <p:sp>
        <p:nvSpPr>
          <p:cNvPr id="25" name="TextBox 24"/>
          <p:cNvSpPr txBox="1"/>
          <p:nvPr/>
        </p:nvSpPr>
        <p:spPr>
          <a:xfrm>
            <a:off x="4789086"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519684" cy="194310"/>
          </a:xfrm>
          <a:prstGeom prst="rect">
            <a:avLst/>
          </a:prstGeom>
          <a:noFill/>
        </p:spPr>
        <p:txBody>
          <a:bodyPr wrap="none" lIns="0" rIns="0" tIns="0" bIns="0">
            <a:spAutoFit/>
          </a:bodyPr>
          <a:lstStyle/>
          <a:p>
            <a:r>
              <a:rPr sz="1150" b="0">
                <a:solidFill>
                  <a:srgbClr val="2E2E2E"/>
                </a:solidFill>
                <a:latin typeface="Calibri"/>
              </a:rPr>
              <a:t>▪ 'Other packaging formats' grows fastest</a:t>
            </a:r>
          </a:p>
        </p:txBody>
      </p:sp>
      <p:pic>
        <p:nvPicPr>
          <p:cNvPr id="27" name="Picture 26" descr="lock.png"/>
          <p:cNvPicPr>
            <a:picLocks noChangeAspect="1"/>
          </p:cNvPicPr>
          <p:nvPr/>
        </p:nvPicPr>
        <p:blipFill>
          <a:blip r:embed="rId4"/>
          <a:stretch>
            <a:fillRect/>
          </a:stretch>
        </p:blipFill>
        <p:spPr>
          <a:xfrm>
            <a:off x="2745063" y="3703764"/>
            <a:ext cx="134549" cy="195707"/>
          </a:xfrm>
          <a:prstGeom prst="rect">
            <a:avLst/>
          </a:prstGeom>
        </p:spPr>
      </p:pic>
      <p:sp>
        <p:nvSpPr>
          <p:cNvPr id="28" name="TextBox 27"/>
          <p:cNvSpPr txBox="1"/>
          <p:nvPr/>
        </p:nvSpPr>
        <p:spPr>
          <a:xfrm>
            <a:off x="2920173"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3028863" cy="194310"/>
          </a:xfrm>
          <a:prstGeom prst="rect">
            <a:avLst/>
          </a:prstGeom>
          <a:noFill/>
        </p:spPr>
        <p:txBody>
          <a:bodyPr wrap="none" lIns="0" rIns="0" tIns="0" bIns="0">
            <a:spAutoFit/>
          </a:bodyPr>
          <a:lstStyle/>
          <a:p>
            <a:r>
              <a:rPr sz="1150" b="0">
                <a:solidFill>
                  <a:srgbClr val="2E2E2E"/>
                </a:solidFill>
                <a:latin typeface="Calibri"/>
              </a:rPr>
              <a:t>▪ Share shifts toward 'Other packaging formats' (+</a:t>
            </a:r>
          </a:p>
        </p:txBody>
      </p:sp>
      <p:pic>
        <p:nvPicPr>
          <p:cNvPr id="30" name="Picture 29" descr="lock.png"/>
          <p:cNvPicPr>
            <a:picLocks noChangeAspect="1"/>
          </p:cNvPicPr>
          <p:nvPr/>
        </p:nvPicPr>
        <p:blipFill>
          <a:blip r:embed="rId4"/>
          <a:stretch>
            <a:fillRect/>
          </a:stretch>
        </p:blipFill>
        <p:spPr>
          <a:xfrm>
            <a:off x="3254242" y="3931602"/>
            <a:ext cx="134549" cy="195707"/>
          </a:xfrm>
          <a:prstGeom prst="rect">
            <a:avLst/>
          </a:prstGeom>
        </p:spPr>
      </p:pic>
      <p:sp>
        <p:nvSpPr>
          <p:cNvPr id="31" name="TextBox 30"/>
          <p:cNvSpPr txBox="1"/>
          <p:nvPr/>
        </p:nvSpPr>
        <p:spPr>
          <a:xfrm>
            <a:off x="3429351" y="3941825"/>
            <a:ext cx="2547069" cy="194310"/>
          </a:xfrm>
          <a:prstGeom prst="rect">
            <a:avLst/>
          </a:prstGeom>
          <a:noFill/>
        </p:spPr>
        <p:txBody>
          <a:bodyPr wrap="none" lIns="0" rIns="0" tIns="0" bIns="0">
            <a:spAutoFit/>
          </a:bodyPr>
          <a:lstStyle/>
          <a:p>
            <a:r>
              <a:rPr sz="1150" b="0">
                <a:solidFill>
                  <a:srgbClr val="2E2E2E"/>
                </a:solidFill>
                <a:latin typeface="Calibri"/>
              </a:rPr>
              <a:t>BPS) and away from 'Paperboard packs' (-</a:t>
            </a:r>
          </a:p>
        </p:txBody>
      </p:sp>
      <p:pic>
        <p:nvPicPr>
          <p:cNvPr id="32" name="Picture 31" descr="lock.png"/>
          <p:cNvPicPr>
            <a:picLocks noChangeAspect="1"/>
          </p:cNvPicPr>
          <p:nvPr/>
        </p:nvPicPr>
        <p:blipFill>
          <a:blip r:embed="rId4"/>
          <a:stretch>
            <a:fillRect/>
          </a:stretch>
        </p:blipFill>
        <p:spPr>
          <a:xfrm>
            <a:off x="5925574" y="3931602"/>
            <a:ext cx="134549" cy="195707"/>
          </a:xfrm>
          <a:prstGeom prst="rect">
            <a:avLst/>
          </a:prstGeom>
        </p:spPr>
      </p:pic>
      <p:sp>
        <p:nvSpPr>
          <p:cNvPr id="33" name="TextBox 32"/>
          <p:cNvSpPr txBox="1"/>
          <p:nvPr/>
        </p:nvSpPr>
        <p:spPr>
          <a:xfrm>
            <a:off x="6100683"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Packaging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Packaging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181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970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08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packaging formats</a:t>
            </a:r>
          </a:p>
        </p:txBody>
      </p:sp>
      <p:sp>
        <p:nvSpPr>
          <p:cNvPr id="19" name="BPS Value 1"/>
          <p:cNvSpPr txBox="1"/>
          <p:nvPr/>
        </p:nvSpPr>
        <p:spPr>
          <a:xfrm>
            <a:off x="6896100" y="178276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23641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316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554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packs</a:t>
            </a:r>
          </a:p>
        </p:txBody>
      </p:sp>
      <p:sp>
        <p:nvSpPr>
          <p:cNvPr id="23" name="BPS Value 2"/>
          <p:cNvSpPr txBox="1"/>
          <p:nvPr/>
        </p:nvSpPr>
        <p:spPr>
          <a:xfrm>
            <a:off x="6896100" y="221736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27231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26755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19135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Paperboard packs</a:t>
            </a:r>
          </a:p>
        </p:txBody>
      </p:sp>
      <p:sp>
        <p:nvSpPr>
          <p:cNvPr id="27" name="BPS Value 3"/>
          <p:cNvSpPr txBox="1"/>
          <p:nvPr/>
        </p:nvSpPr>
        <p:spPr>
          <a:xfrm>
            <a:off x="6896100" y="325326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12390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1191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0429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Rigid plastic packs</a:t>
            </a:r>
          </a:p>
        </p:txBody>
      </p:sp>
      <p:sp>
        <p:nvSpPr>
          <p:cNvPr id="31" name="BPS Value 4"/>
          <p:cNvSpPr txBox="1"/>
          <p:nvPr/>
        </p:nvSpPr>
        <p:spPr>
          <a:xfrm>
            <a:off x="6896100" y="510485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Packaging Format</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065946" cy="194310"/>
          </a:xfrm>
          <a:prstGeom prst="rect">
            <a:avLst/>
          </a:prstGeom>
          <a:noFill/>
        </p:spPr>
        <p:txBody>
          <a:bodyPr wrap="none" lIns="0" rIns="0" tIns="0" bIns="0">
            <a:spAutoFit/>
          </a:bodyPr>
          <a:lstStyle/>
          <a:p>
            <a:r>
              <a:rPr sz="1150" b="0">
                <a:solidFill>
                  <a:srgbClr val="2E2E2E"/>
                </a:solidFill>
                <a:latin typeface="Calibri"/>
              </a:rPr>
              <a:t>▪ 'Other packaging formats' gains the most share +</a:t>
            </a:r>
          </a:p>
        </p:txBody>
      </p:sp>
      <p:pic>
        <p:nvPicPr>
          <p:cNvPr id="39" name="Picture 38" descr="lock.png"/>
          <p:cNvPicPr>
            <a:picLocks noChangeAspect="1"/>
          </p:cNvPicPr>
          <p:nvPr/>
        </p:nvPicPr>
        <p:blipFill>
          <a:blip r:embed="rId5"/>
          <a:stretch>
            <a:fillRect/>
          </a:stretch>
        </p:blipFill>
        <p:spPr>
          <a:xfrm>
            <a:off x="10844650" y="1389951"/>
            <a:ext cx="134549" cy="195707"/>
          </a:xfrm>
          <a:prstGeom prst="rect">
            <a:avLst/>
          </a:prstGeom>
        </p:spPr>
      </p:pic>
      <p:sp>
        <p:nvSpPr>
          <p:cNvPr id="40" name="TextBox 39"/>
          <p:cNvSpPr txBox="1"/>
          <p:nvPr/>
        </p:nvSpPr>
        <p:spPr>
          <a:xfrm>
            <a:off x="11019759"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41" name="TextBox 40"/>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304603" cy="194310"/>
          </a:xfrm>
          <a:prstGeom prst="rect">
            <a:avLst/>
          </a:prstGeom>
          <a:noFill/>
        </p:spPr>
        <p:txBody>
          <a:bodyPr wrap="none" lIns="0" rIns="0" tIns="0" bIns="0">
            <a:spAutoFit/>
          </a:bodyPr>
          <a:lstStyle/>
          <a:p>
            <a:r>
              <a:rPr sz="1150" b="0">
                <a:solidFill>
                  <a:srgbClr val="2E2E2E"/>
                </a:solidFill>
                <a:latin typeface="Calibri"/>
              </a:rPr>
              <a:t>▪ 'Paperboard packs' cedes the most -</a:t>
            </a:r>
          </a:p>
        </p:txBody>
      </p:sp>
      <p:pic>
        <p:nvPicPr>
          <p:cNvPr id="43" name="Picture 42" descr="lock.png"/>
          <p:cNvPicPr>
            <a:picLocks noChangeAspect="1"/>
          </p:cNvPicPr>
          <p:nvPr/>
        </p:nvPicPr>
        <p:blipFill>
          <a:blip r:embed="rId5"/>
          <a:stretch>
            <a:fillRect/>
          </a:stretch>
        </p:blipFill>
        <p:spPr>
          <a:xfrm>
            <a:off x="10083307" y="1793049"/>
            <a:ext cx="134549" cy="195707"/>
          </a:xfrm>
          <a:prstGeom prst="rect">
            <a:avLst/>
          </a:prstGeom>
        </p:spPr>
      </p:pic>
      <p:sp>
        <p:nvSpPr>
          <p:cNvPr id="44" name="TextBox 43"/>
          <p:cNvSpPr txBox="1"/>
          <p:nvPr/>
        </p:nvSpPr>
        <p:spPr>
          <a:xfrm>
            <a:off x="10258416"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5" name="TextBox 44"/>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4057650" cy="194310"/>
          </a:xfrm>
          <a:prstGeom prst="rect">
            <a:avLst/>
          </a:prstGeom>
          <a:noFill/>
        </p:spPr>
        <p:txBody>
          <a:bodyPr wrap="none" lIns="0" rIns="0" tIns="0" bIns="0">
            <a:spAutoFit/>
          </a:bodyPr>
          <a:lstStyle/>
          <a:p>
            <a:r>
              <a:rPr sz="1150" b="0">
                <a:solidFill>
                  <a:srgbClr val="2E2E2E"/>
                </a:solidFill>
                <a:latin typeface="Calibri"/>
              </a:rPr>
              <a:t>▪ 'Other packaging formats' is the fastest-growing packaging format</a:t>
            </a:r>
          </a:p>
        </p:txBody>
      </p:sp>
      <p:sp>
        <p:nvSpPr>
          <p:cNvPr id="47" name="TextBox 46"/>
          <p:cNvSpPr txBox="1"/>
          <p:nvPr/>
        </p:nvSpPr>
        <p:spPr>
          <a:xfrm>
            <a:off x="7829550" y="2381631"/>
            <a:ext cx="195150" cy="194310"/>
          </a:xfrm>
          <a:prstGeom prst="rect">
            <a:avLst/>
          </a:prstGeom>
          <a:noFill/>
        </p:spPr>
        <p:txBody>
          <a:bodyPr wrap="none" lIns="0" rIns="0" tIns="0" bIns="0">
            <a:spAutoFit/>
          </a:bodyPr>
          <a:lstStyle/>
          <a:p>
            <a:r>
              <a:rPr sz="1150" b="0">
                <a:solidFill>
                  <a:srgbClr val="2E2E2E"/>
                </a:solidFill>
                <a:latin typeface="Calibri"/>
              </a:rPr>
              <a:t>at</a:t>
            </a:r>
          </a:p>
        </p:txBody>
      </p:sp>
      <p:pic>
        <p:nvPicPr>
          <p:cNvPr id="48" name="Picture 47" descr="lock.png"/>
          <p:cNvPicPr>
            <a:picLocks noChangeAspect="1"/>
          </p:cNvPicPr>
          <p:nvPr/>
        </p:nvPicPr>
        <p:blipFill>
          <a:blip r:embed="rId5"/>
          <a:stretch>
            <a:fillRect/>
          </a:stretch>
        </p:blipFill>
        <p:spPr>
          <a:xfrm>
            <a:off x="7973854" y="2371407"/>
            <a:ext cx="134549" cy="195707"/>
          </a:xfrm>
          <a:prstGeom prst="rect">
            <a:avLst/>
          </a:prstGeom>
        </p:spPr>
      </p:pic>
      <p:sp>
        <p:nvSpPr>
          <p:cNvPr id="49" name="TextBox 48"/>
          <p:cNvSpPr txBox="1"/>
          <p:nvPr/>
        </p:nvSpPr>
        <p:spPr>
          <a:xfrm>
            <a:off x="8148964"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Packaging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Packaging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Packaging Format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packs</a:t>
            </a:r>
          </a:p>
        </p:txBody>
      </p:sp>
      <p:sp>
        <p:nvSpPr>
          <p:cNvPr id="33" name="Rectangle 32"/>
          <p:cNvSpPr/>
          <p:nvPr/>
        </p:nvSpPr>
        <p:spPr>
          <a:xfrm>
            <a:off x="1857375" y="3248025"/>
            <a:ext cx="643890" cy="831056"/>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Rigid plastic packs</a:t>
            </a:r>
          </a:p>
        </p:txBody>
      </p:sp>
      <p:sp>
        <p:nvSpPr>
          <p:cNvPr id="49" name="Rectangle 48"/>
          <p:cNvSpPr/>
          <p:nvPr/>
        </p:nvSpPr>
        <p:spPr>
          <a:xfrm>
            <a:off x="1857375" y="4079081"/>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Paperboard packs</a:t>
            </a:r>
          </a:p>
        </p:txBody>
      </p:sp>
      <p:sp>
        <p:nvSpPr>
          <p:cNvPr id="65" name="Rectangle 64"/>
          <p:cNvSpPr/>
          <p:nvPr/>
        </p:nvSpPr>
        <p:spPr>
          <a:xfrm>
            <a:off x="185737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formats</a:t>
            </a:r>
          </a:p>
        </p:txBody>
      </p:sp>
      <p:sp>
        <p:nvSpPr>
          <p:cNvPr id="81" name="Rectangle 80"/>
          <p:cNvSpPr/>
          <p:nvPr/>
        </p:nvSpPr>
        <p:spPr>
          <a:xfrm>
            <a:off x="1857375" y="5741194"/>
            <a:ext cx="643890" cy="831056"/>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49689" y="1713738"/>
            <a:ext cx="366712" cy="533400"/>
          </a:xfrm>
          <a:prstGeom prst="rect">
            <a:avLst/>
          </a:prstGeom>
        </p:spPr>
      </p:pic>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Packaging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Packaging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Packaging Format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packs</a:t>
            </a:r>
          </a:p>
        </p:txBody>
      </p:sp>
      <p:sp>
        <p:nvSpPr>
          <p:cNvPr id="33" name="Rectangle 32"/>
          <p:cNvSpPr/>
          <p:nvPr/>
        </p:nvSpPr>
        <p:spPr>
          <a:xfrm>
            <a:off x="1857375" y="3248025"/>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Rigid plastic packs</a:t>
            </a:r>
          </a:p>
        </p:txBody>
      </p:sp>
      <p:sp>
        <p:nvSpPr>
          <p:cNvPr id="49" name="Rectangle 48"/>
          <p:cNvSpPr/>
          <p:nvPr/>
        </p:nvSpPr>
        <p:spPr>
          <a:xfrm>
            <a:off x="1857375" y="4079081"/>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Paperboard packs</a:t>
            </a:r>
          </a:p>
        </p:txBody>
      </p:sp>
      <p:sp>
        <p:nvSpPr>
          <p:cNvPr id="65" name="Rectangle 64"/>
          <p:cNvSpPr/>
          <p:nvPr/>
        </p:nvSpPr>
        <p:spPr>
          <a:xfrm>
            <a:off x="185737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formats</a:t>
            </a:r>
          </a:p>
        </p:txBody>
      </p:sp>
      <p:sp>
        <p:nvSpPr>
          <p:cNvPr id="81" name="Rectangle 80"/>
          <p:cNvSpPr/>
          <p:nvPr/>
        </p:nvSpPr>
        <p:spPr>
          <a:xfrm>
            <a:off x="1857375" y="5741194"/>
            <a:ext cx="643890" cy="831056"/>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49689" y="1713738"/>
            <a:ext cx="366712" cy="533400"/>
          </a:xfrm>
          <a:prstGeom prst="rect">
            <a:avLst/>
          </a:prstGeom>
        </p:spPr>
      </p:pic>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 Configuration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 Configuration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 Configuration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Pack Configuration,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 Configuration segment categorizes the market by pack configuration.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Multipacks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Single-muffin packs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Bulk foodservice packs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 Configuration split shows how demand is distributed across pack configuration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6_05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0_776_605E5C.png"/>
          <p:cNvPicPr>
            <a:picLocks noChangeAspect="1"/>
          </p:cNvPicPr>
          <p:nvPr/>
        </p:nvPicPr>
        <p:blipFill>
          <a:blip r:embed="rId5"/>
          <a:stretch>
            <a:fillRect/>
          </a:stretch>
        </p:blipFill>
        <p:spPr>
          <a:xfrm>
            <a:off x="2791165" y="2779432"/>
            <a:ext cx="1409020" cy="361950"/>
          </a:xfrm>
          <a:prstGeom prst="rect">
            <a:avLst/>
          </a:prstGeom>
        </p:spPr>
      </p:pic>
      <p:pic>
        <p:nvPicPr>
          <p:cNvPr id="59" name="Picture 58" descr="5_9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_194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4_813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4_2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_650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_15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2_7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615083" cy="186689"/>
          </a:xfrm>
          <a:prstGeom prst="rect">
            <a:avLst/>
          </a:prstGeom>
          <a:noFill/>
        </p:spPr>
        <p:txBody>
          <a:bodyPr wrap="none" lIns="0" rIns="0" tIns="0" bIns="0">
            <a:spAutoFit/>
          </a:bodyPr>
          <a:lstStyle/>
          <a:p>
            <a:r>
              <a:rPr sz="1100" b="0">
                <a:solidFill>
                  <a:srgbClr val="2E2E2E"/>
                </a:solidFill>
                <a:latin typeface="Calibri"/>
              </a:rPr>
              <a:t>▪ 'Multipacks' holds the largest share in 2026</a:t>
            </a:r>
          </a:p>
        </p:txBody>
      </p:sp>
      <p:pic>
        <p:nvPicPr>
          <p:cNvPr id="70" name="Picture 69" descr="lock.png"/>
          <p:cNvPicPr>
            <a:picLocks noChangeAspect="1"/>
          </p:cNvPicPr>
          <p:nvPr/>
        </p:nvPicPr>
        <p:blipFill>
          <a:blip r:embed="rId13"/>
          <a:stretch>
            <a:fillRect/>
          </a:stretch>
        </p:blipFill>
        <p:spPr>
          <a:xfrm>
            <a:off x="3048910" y="4219658"/>
            <a:ext cx="128699" cy="187198"/>
          </a:xfrm>
          <a:prstGeom prst="rect">
            <a:avLst/>
          </a:prstGeom>
        </p:spPr>
      </p:pic>
      <p:sp>
        <p:nvSpPr>
          <p:cNvPr id="71" name="TextBox 70"/>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2" name="TextBox 71"/>
          <p:cNvSpPr txBox="1"/>
          <p:nvPr/>
        </p:nvSpPr>
        <p:spPr>
          <a:xfrm>
            <a:off x="485775" y="4615009"/>
            <a:ext cx="2863924" cy="186689"/>
          </a:xfrm>
          <a:prstGeom prst="rect">
            <a:avLst/>
          </a:prstGeom>
          <a:noFill/>
        </p:spPr>
        <p:txBody>
          <a:bodyPr wrap="none" lIns="0" rIns="0" tIns="0" bIns="0">
            <a:spAutoFit/>
          </a:bodyPr>
          <a:lstStyle/>
          <a:p>
            <a:r>
              <a:rPr sz="1100" b="0">
                <a:solidFill>
                  <a:srgbClr val="2E2E2E"/>
                </a:solidFill>
                <a:latin typeface="Calibri"/>
              </a:rPr>
              <a:t>▪ 'Multipacks' is the fastest-growing sub-segment</a:t>
            </a:r>
          </a:p>
        </p:txBody>
      </p:sp>
      <p:sp>
        <p:nvSpPr>
          <p:cNvPr id="73" name="TextBox 72"/>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74" name="Picture 73" descr="lock.png"/>
          <p:cNvPicPr>
            <a:picLocks noChangeAspect="1"/>
          </p:cNvPicPr>
          <p:nvPr/>
        </p:nvPicPr>
        <p:blipFill>
          <a:blip r:embed="rId13"/>
          <a:stretch>
            <a:fillRect/>
          </a:stretch>
        </p:blipFill>
        <p:spPr>
          <a:xfrm>
            <a:off x="623805" y="4772870"/>
            <a:ext cx="128699" cy="187198"/>
          </a:xfrm>
          <a:prstGeom prst="rect">
            <a:avLst/>
          </a:prstGeom>
        </p:spPr>
      </p:pic>
      <p:sp>
        <p:nvSpPr>
          <p:cNvPr id="75" name="TextBox 74"/>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6" name="TextBox 7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7" name="Picture 76" descr="lock.png"/>
          <p:cNvPicPr>
            <a:picLocks noChangeAspect="1"/>
          </p:cNvPicPr>
          <p:nvPr/>
        </p:nvPicPr>
        <p:blipFill>
          <a:blip r:embed="rId13"/>
          <a:stretch>
            <a:fillRect/>
          </a:stretch>
        </p:blipFill>
        <p:spPr>
          <a:xfrm>
            <a:off x="2240451" y="4990801"/>
            <a:ext cx="128699" cy="187198"/>
          </a:xfrm>
          <a:prstGeom prst="rect">
            <a:avLst/>
          </a:prstGeom>
        </p:spPr>
      </p:pic>
      <p:sp>
        <p:nvSpPr>
          <p:cNvPr id="78" name="TextBox 7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9" name="Picture 78" descr="lock.png"/>
          <p:cNvPicPr>
            <a:picLocks noChangeAspect="1"/>
          </p:cNvPicPr>
          <p:nvPr/>
        </p:nvPicPr>
        <p:blipFill>
          <a:blip r:embed="rId13"/>
          <a:stretch>
            <a:fillRect/>
          </a:stretch>
        </p:blipFill>
        <p:spPr>
          <a:xfrm>
            <a:off x="2552799" y="4990801"/>
            <a:ext cx="128699" cy="187198"/>
          </a:xfrm>
          <a:prstGeom prst="rect">
            <a:avLst/>
          </a:prstGeom>
        </p:spPr>
      </p:pic>
      <p:sp>
        <p:nvSpPr>
          <p:cNvPr id="80" name="TextBox 7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2" name="TextBox 81"/>
          <p:cNvSpPr txBox="1"/>
          <p:nvPr/>
        </p:nvSpPr>
        <p:spPr>
          <a:xfrm>
            <a:off x="485775" y="5386153"/>
            <a:ext cx="2881659" cy="186689"/>
          </a:xfrm>
          <a:prstGeom prst="rect">
            <a:avLst/>
          </a:prstGeom>
          <a:noFill/>
        </p:spPr>
        <p:txBody>
          <a:bodyPr wrap="none" lIns="0" rIns="0" tIns="0" bIns="0">
            <a:spAutoFit/>
          </a:bodyPr>
          <a:lstStyle/>
          <a:p>
            <a:r>
              <a:rPr sz="1100" b="0">
                <a:solidFill>
                  <a:srgbClr val="2E2E2E"/>
                </a:solidFill>
                <a:latin typeface="Calibri"/>
              </a:rPr>
              <a:t>▪ 3 sub-segments make up the pack configuration</a:t>
            </a:r>
          </a:p>
        </p:txBody>
      </p:sp>
      <p:sp>
        <p:nvSpPr>
          <p:cNvPr id="83" name="TextBox 82"/>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4" name="TextBox 83"/>
          <p:cNvSpPr txBox="1"/>
          <p:nvPr/>
        </p:nvSpPr>
        <p:spPr>
          <a:xfrm>
            <a:off x="3838575" y="4229437"/>
            <a:ext cx="851371" cy="186689"/>
          </a:xfrm>
          <a:prstGeom prst="rect">
            <a:avLst/>
          </a:prstGeom>
          <a:noFill/>
        </p:spPr>
        <p:txBody>
          <a:bodyPr wrap="none" lIns="0" rIns="0" tIns="0" bIns="0">
            <a:spAutoFit/>
          </a:bodyPr>
          <a:lstStyle/>
          <a:p>
            <a:r>
              <a:rPr sz="1100" b="0">
                <a:solidFill>
                  <a:srgbClr val="2E2E2E"/>
                </a:solidFill>
                <a:latin typeface="Calibri"/>
              </a:rPr>
              <a:t>● Multipacks:</a:t>
            </a:r>
          </a:p>
        </p:txBody>
      </p:sp>
      <p:pic>
        <p:nvPicPr>
          <p:cNvPr id="85" name="Picture 84" descr="lock.png"/>
          <p:cNvPicPr>
            <a:picLocks noChangeAspect="1"/>
          </p:cNvPicPr>
          <p:nvPr/>
        </p:nvPicPr>
        <p:blipFill>
          <a:blip r:embed="rId13"/>
          <a:stretch>
            <a:fillRect/>
          </a:stretch>
        </p:blipFill>
        <p:spPr>
          <a:xfrm>
            <a:off x="4637997" y="4219658"/>
            <a:ext cx="128699" cy="187198"/>
          </a:xfrm>
          <a:prstGeom prst="rect">
            <a:avLst/>
          </a:prstGeom>
        </p:spPr>
      </p:pic>
      <p:sp>
        <p:nvSpPr>
          <p:cNvPr id="86" name="TextBox 85"/>
          <p:cNvSpPr txBox="1"/>
          <p:nvPr/>
        </p:nvSpPr>
        <p:spPr>
          <a:xfrm>
            <a:off x="480549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3"/>
          <a:stretch>
            <a:fillRect/>
          </a:stretch>
        </p:blipFill>
        <p:spPr>
          <a:xfrm>
            <a:off x="5664943" y="4219658"/>
            <a:ext cx="128699" cy="187198"/>
          </a:xfrm>
          <a:prstGeom prst="rect">
            <a:avLst/>
          </a:prstGeom>
        </p:spPr>
      </p:pic>
      <p:sp>
        <p:nvSpPr>
          <p:cNvPr id="88" name="TextBox 87"/>
          <p:cNvSpPr txBox="1"/>
          <p:nvPr/>
        </p:nvSpPr>
        <p:spPr>
          <a:xfrm>
            <a:off x="5832439"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9" name="TextBox 88"/>
          <p:cNvSpPr txBox="1"/>
          <p:nvPr/>
        </p:nvSpPr>
        <p:spPr>
          <a:xfrm>
            <a:off x="3838575" y="4447369"/>
            <a:ext cx="1334591" cy="186689"/>
          </a:xfrm>
          <a:prstGeom prst="rect">
            <a:avLst/>
          </a:prstGeom>
          <a:noFill/>
        </p:spPr>
        <p:txBody>
          <a:bodyPr wrap="none" lIns="0" rIns="0" tIns="0" bIns="0">
            <a:spAutoFit/>
          </a:bodyPr>
          <a:lstStyle/>
          <a:p>
            <a:r>
              <a:rPr sz="1100" b="0">
                <a:solidFill>
                  <a:srgbClr val="2E2E2E"/>
                </a:solidFill>
                <a:latin typeface="Calibri"/>
              </a:rPr>
              <a:t>● Single-muffin packs:</a:t>
            </a:r>
          </a:p>
        </p:txBody>
      </p:sp>
      <p:pic>
        <p:nvPicPr>
          <p:cNvPr id="90" name="Picture 89" descr="lock.png"/>
          <p:cNvPicPr>
            <a:picLocks noChangeAspect="1"/>
          </p:cNvPicPr>
          <p:nvPr/>
        </p:nvPicPr>
        <p:blipFill>
          <a:blip r:embed="rId13"/>
          <a:stretch>
            <a:fillRect/>
          </a:stretch>
        </p:blipFill>
        <p:spPr>
          <a:xfrm>
            <a:off x="5121218" y="4437590"/>
            <a:ext cx="128699" cy="187198"/>
          </a:xfrm>
          <a:prstGeom prst="rect">
            <a:avLst/>
          </a:prstGeom>
        </p:spPr>
      </p:pic>
      <p:sp>
        <p:nvSpPr>
          <p:cNvPr id="91" name="TextBox 90"/>
          <p:cNvSpPr txBox="1"/>
          <p:nvPr/>
        </p:nvSpPr>
        <p:spPr>
          <a:xfrm>
            <a:off x="528871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2" name="Picture 91" descr="lock.png"/>
          <p:cNvPicPr>
            <a:picLocks noChangeAspect="1"/>
          </p:cNvPicPr>
          <p:nvPr/>
        </p:nvPicPr>
        <p:blipFill>
          <a:blip r:embed="rId13"/>
          <a:stretch>
            <a:fillRect/>
          </a:stretch>
        </p:blipFill>
        <p:spPr>
          <a:xfrm>
            <a:off x="6148164" y="4437590"/>
            <a:ext cx="128699" cy="187198"/>
          </a:xfrm>
          <a:prstGeom prst="rect">
            <a:avLst/>
          </a:prstGeom>
        </p:spPr>
      </p:pic>
      <p:sp>
        <p:nvSpPr>
          <p:cNvPr id="93" name="TextBox 92"/>
          <p:cNvSpPr txBox="1"/>
          <p:nvPr/>
        </p:nvSpPr>
        <p:spPr>
          <a:xfrm>
            <a:off x="6315659"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4" name="TextBox 93"/>
          <p:cNvSpPr txBox="1"/>
          <p:nvPr/>
        </p:nvSpPr>
        <p:spPr>
          <a:xfrm>
            <a:off x="3838575" y="4665301"/>
            <a:ext cx="1516037" cy="186689"/>
          </a:xfrm>
          <a:prstGeom prst="rect">
            <a:avLst/>
          </a:prstGeom>
          <a:noFill/>
        </p:spPr>
        <p:txBody>
          <a:bodyPr wrap="none" lIns="0" rIns="0" tIns="0" bIns="0">
            <a:spAutoFit/>
          </a:bodyPr>
          <a:lstStyle/>
          <a:p>
            <a:r>
              <a:rPr sz="1100" b="0">
                <a:solidFill>
                  <a:srgbClr val="2E2E2E"/>
                </a:solidFill>
                <a:latin typeface="Calibri"/>
              </a:rPr>
              <a:t>● Bulk foodservice packs:</a:t>
            </a:r>
          </a:p>
        </p:txBody>
      </p:sp>
      <p:pic>
        <p:nvPicPr>
          <p:cNvPr id="95" name="Picture 94" descr="lock.png"/>
          <p:cNvPicPr>
            <a:picLocks noChangeAspect="1"/>
          </p:cNvPicPr>
          <p:nvPr/>
        </p:nvPicPr>
        <p:blipFill>
          <a:blip r:embed="rId13"/>
          <a:stretch>
            <a:fillRect/>
          </a:stretch>
        </p:blipFill>
        <p:spPr>
          <a:xfrm>
            <a:off x="5302664" y="4655522"/>
            <a:ext cx="128699" cy="187198"/>
          </a:xfrm>
          <a:prstGeom prst="rect">
            <a:avLst/>
          </a:prstGeom>
        </p:spPr>
      </p:pic>
      <p:sp>
        <p:nvSpPr>
          <p:cNvPr id="96" name="TextBox 95"/>
          <p:cNvSpPr txBox="1"/>
          <p:nvPr/>
        </p:nvSpPr>
        <p:spPr>
          <a:xfrm>
            <a:off x="5470160"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6329610" y="4655522"/>
            <a:ext cx="128699" cy="187198"/>
          </a:xfrm>
          <a:prstGeom prst="rect">
            <a:avLst/>
          </a:prstGeom>
        </p:spPr>
      </p:pic>
      <p:sp>
        <p:nvSpPr>
          <p:cNvPr id="98" name="TextBox 97"/>
          <p:cNvSpPr txBox="1"/>
          <p:nvPr/>
        </p:nvSpPr>
        <p:spPr>
          <a:xfrm>
            <a:off x="6497106"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9" name="TextBox 98"/>
          <p:cNvSpPr txBox="1"/>
          <p:nvPr/>
        </p:nvSpPr>
        <p:spPr>
          <a:xfrm>
            <a:off x="8524875" y="5842641"/>
            <a:ext cx="2942145" cy="194310"/>
          </a:xfrm>
          <a:prstGeom prst="rect">
            <a:avLst/>
          </a:prstGeom>
          <a:noFill/>
        </p:spPr>
        <p:txBody>
          <a:bodyPr wrap="none" lIns="0" rIns="0" tIns="0" bIns="0">
            <a:spAutoFit/>
          </a:bodyPr>
          <a:lstStyle/>
          <a:p>
            <a:r>
              <a:rPr sz="1150" b="1">
                <a:solidFill>
                  <a:srgbClr val="0B2E4A"/>
                </a:solidFill>
                <a:latin typeface="Calibri"/>
              </a:rPr>
              <a:t>The Pack Configuration segment is projected to</a:t>
            </a:r>
          </a:p>
        </p:txBody>
      </p:sp>
      <p:sp>
        <p:nvSpPr>
          <p:cNvPr id="100" name="TextBox 99"/>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1" name="Picture 100" descr="lock.png"/>
          <p:cNvPicPr>
            <a:picLocks noChangeAspect="1"/>
          </p:cNvPicPr>
          <p:nvPr/>
        </p:nvPicPr>
        <p:blipFill>
          <a:blip r:embed="rId13"/>
          <a:stretch>
            <a:fillRect/>
          </a:stretch>
        </p:blipFill>
        <p:spPr>
          <a:xfrm>
            <a:off x="9651852" y="6007677"/>
            <a:ext cx="134549" cy="195707"/>
          </a:xfrm>
          <a:prstGeom prst="rect">
            <a:avLst/>
          </a:prstGeom>
        </p:spPr>
      </p:pic>
      <p:sp>
        <p:nvSpPr>
          <p:cNvPr id="102" name="TextBox 101"/>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Pack Configuration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 Configuration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 Configuration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 Configuration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4756150" cy="186689"/>
          </a:xfrm>
          <a:prstGeom prst="rect">
            <a:avLst/>
          </a:prstGeom>
          <a:noFill/>
        </p:spPr>
        <p:txBody>
          <a:bodyPr wrap="none" lIns="0" rIns="0" tIns="0" bIns="0">
            <a:spAutoFit/>
          </a:bodyPr>
          <a:lstStyle/>
          <a:p>
            <a:r>
              <a:rPr sz="1100" b="0">
                <a:solidFill>
                  <a:srgbClr val="2E2E2E"/>
                </a:solidFill>
                <a:latin typeface="Calibri"/>
              </a:rPr>
              <a:t>Between 2026 and 2036, 'Multipacks' gains the most share in the Global market (+</a:t>
            </a:r>
          </a:p>
        </p:txBody>
      </p:sp>
      <p:pic>
        <p:nvPicPr>
          <p:cNvPr id="21" name="Picture 20" descr="lock.png"/>
          <p:cNvPicPr>
            <a:picLocks noChangeAspect="1"/>
          </p:cNvPicPr>
          <p:nvPr/>
        </p:nvPicPr>
        <p:blipFill>
          <a:blip r:embed="rId6"/>
          <a:stretch>
            <a:fillRect/>
          </a:stretch>
        </p:blipFill>
        <p:spPr>
          <a:xfrm>
            <a:off x="4961376" y="5851905"/>
            <a:ext cx="128699" cy="187198"/>
          </a:xfrm>
          <a:prstGeom prst="rect">
            <a:avLst/>
          </a:prstGeom>
        </p:spPr>
      </p:pic>
      <p:sp>
        <p:nvSpPr>
          <p:cNvPr id="22" name="TextBox 21"/>
          <p:cNvSpPr txBox="1"/>
          <p:nvPr/>
        </p:nvSpPr>
        <p:spPr>
          <a:xfrm>
            <a:off x="5128872" y="5861685"/>
            <a:ext cx="2407716" cy="186689"/>
          </a:xfrm>
          <a:prstGeom prst="rect">
            <a:avLst/>
          </a:prstGeom>
          <a:noFill/>
        </p:spPr>
        <p:txBody>
          <a:bodyPr wrap="none" lIns="0" rIns="0" tIns="0" bIns="0">
            <a:spAutoFit/>
          </a:bodyPr>
          <a:lstStyle/>
          <a:p>
            <a:r>
              <a:rPr sz="1100" b="0">
                <a:solidFill>
                  <a:srgbClr val="2E2E2E"/>
                </a:solidFill>
                <a:latin typeface="Calibri"/>
              </a:rPr>
              <a:t>BPS) while 'Bulk foodservice packs' cedes</a:t>
            </a:r>
          </a:p>
        </p:txBody>
      </p:sp>
      <p:pic>
        <p:nvPicPr>
          <p:cNvPr id="23" name="Picture 22" descr="lock.png"/>
          <p:cNvPicPr>
            <a:picLocks noChangeAspect="1"/>
          </p:cNvPicPr>
          <p:nvPr/>
        </p:nvPicPr>
        <p:blipFill>
          <a:blip r:embed="rId6"/>
          <a:stretch>
            <a:fillRect/>
          </a:stretch>
        </p:blipFill>
        <p:spPr>
          <a:xfrm>
            <a:off x="7484640" y="5851905"/>
            <a:ext cx="128699" cy="187198"/>
          </a:xfrm>
          <a:prstGeom prst="rect">
            <a:avLst/>
          </a:prstGeom>
        </p:spPr>
      </p:pic>
      <p:sp>
        <p:nvSpPr>
          <p:cNvPr id="24" name="TextBox 23"/>
          <p:cNvSpPr txBox="1"/>
          <p:nvPr/>
        </p:nvSpPr>
        <p:spPr>
          <a:xfrm>
            <a:off x="7652136"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 Configuration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Single-muffin packs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Multipacks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Bulk foodservice packs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Pack Configuration</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352626" cy="194310"/>
          </a:xfrm>
          <a:prstGeom prst="rect">
            <a:avLst/>
          </a:prstGeom>
          <a:noFill/>
        </p:spPr>
        <p:txBody>
          <a:bodyPr wrap="none" lIns="0" rIns="0" tIns="0" bIns="0">
            <a:spAutoFit/>
          </a:bodyPr>
          <a:lstStyle/>
          <a:p>
            <a:r>
              <a:rPr sz="1150" b="0">
                <a:solidFill>
                  <a:srgbClr val="2E2E2E"/>
                </a:solidFill>
                <a:latin typeface="Calibri"/>
              </a:rPr>
              <a:t>▪ Across its 3 sub-segments, by pack configuration adds</a:t>
            </a:r>
          </a:p>
        </p:txBody>
      </p:sp>
      <p:pic>
        <p:nvPicPr>
          <p:cNvPr id="29" name="Picture 28" descr="lock.png"/>
          <p:cNvPicPr>
            <a:picLocks noChangeAspect="1"/>
          </p:cNvPicPr>
          <p:nvPr/>
        </p:nvPicPr>
        <p:blipFill>
          <a:blip r:embed="rId7"/>
          <a:stretch>
            <a:fillRect/>
          </a:stretch>
        </p:blipFill>
        <p:spPr>
          <a:xfrm>
            <a:off x="9607330" y="4276026"/>
            <a:ext cx="134549" cy="195707"/>
          </a:xfrm>
          <a:prstGeom prst="rect">
            <a:avLst/>
          </a:prstGeom>
        </p:spPr>
      </p:pic>
      <p:sp>
        <p:nvSpPr>
          <p:cNvPr id="30" name="TextBox 29"/>
          <p:cNvSpPr txBox="1"/>
          <p:nvPr/>
        </p:nvSpPr>
        <p:spPr>
          <a:xfrm>
            <a:off x="9782439" y="4286250"/>
            <a:ext cx="1811970" cy="194310"/>
          </a:xfrm>
          <a:prstGeom prst="rect">
            <a:avLst/>
          </a:prstGeom>
          <a:noFill/>
        </p:spPr>
        <p:txBody>
          <a:bodyPr wrap="none" lIns="0" rIns="0" tIns="0" bIns="0">
            <a:spAutoFit/>
          </a:bodyPr>
          <a:lstStyle/>
          <a:p>
            <a:r>
              <a:rPr sz="1150" b="0">
                <a:solidFill>
                  <a:srgbClr val="2E2E2E"/>
                </a:solidFill>
                <a:latin typeface="Calibri"/>
              </a:rPr>
              <a:t>US$ Mn to the Global market</a:t>
            </a:r>
          </a:p>
        </p:txBody>
      </p:sp>
      <p:sp>
        <p:nvSpPr>
          <p:cNvPr id="31" name="TextBox 30"/>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2" name="TextBox 31"/>
          <p:cNvSpPr txBox="1"/>
          <p:nvPr/>
        </p:nvSpPr>
        <p:spPr>
          <a:xfrm>
            <a:off x="6305550" y="4689347"/>
            <a:ext cx="1188975" cy="194310"/>
          </a:xfrm>
          <a:prstGeom prst="rect">
            <a:avLst/>
          </a:prstGeom>
          <a:noFill/>
        </p:spPr>
        <p:txBody>
          <a:bodyPr wrap="none" lIns="0" rIns="0" tIns="0" bIns="0">
            <a:spAutoFit/>
          </a:bodyPr>
          <a:lstStyle/>
          <a:p>
            <a:r>
              <a:rPr sz="1150" b="0">
                <a:solidFill>
                  <a:srgbClr val="2E2E2E"/>
                </a:solidFill>
                <a:latin typeface="Calibri"/>
              </a:rPr>
              <a:t>▪ 'Multipacks' adds</a:t>
            </a:r>
          </a:p>
        </p:txBody>
      </p:sp>
      <p:pic>
        <p:nvPicPr>
          <p:cNvPr id="33" name="Picture 32" descr="lock.png"/>
          <p:cNvPicPr>
            <a:picLocks noChangeAspect="1"/>
          </p:cNvPicPr>
          <p:nvPr/>
        </p:nvPicPr>
        <p:blipFill>
          <a:blip r:embed="rId7"/>
          <a:stretch>
            <a:fillRect/>
          </a:stretch>
        </p:blipFill>
        <p:spPr>
          <a:xfrm>
            <a:off x="7443679" y="4679124"/>
            <a:ext cx="134549" cy="195707"/>
          </a:xfrm>
          <a:prstGeom prst="rect">
            <a:avLst/>
          </a:prstGeom>
        </p:spPr>
      </p:pic>
      <p:sp>
        <p:nvSpPr>
          <p:cNvPr id="34" name="TextBox 33"/>
          <p:cNvSpPr txBox="1"/>
          <p:nvPr/>
        </p:nvSpPr>
        <p:spPr>
          <a:xfrm>
            <a:off x="7618788"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8191259" y="4679124"/>
            <a:ext cx="134549" cy="195707"/>
          </a:xfrm>
          <a:prstGeom prst="rect">
            <a:avLst/>
          </a:prstGeom>
        </p:spPr>
      </p:pic>
      <p:sp>
        <p:nvSpPr>
          <p:cNvPr id="36" name="TextBox 35"/>
          <p:cNvSpPr txBox="1"/>
          <p:nvPr/>
        </p:nvSpPr>
        <p:spPr>
          <a:xfrm>
            <a:off x="8366368"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694160" cy="194310"/>
          </a:xfrm>
          <a:prstGeom prst="rect">
            <a:avLst/>
          </a:prstGeom>
          <a:noFill/>
        </p:spPr>
        <p:txBody>
          <a:bodyPr wrap="none" lIns="0" rIns="0" tIns="0" bIns="0">
            <a:spAutoFit/>
          </a:bodyPr>
          <a:lstStyle/>
          <a:p>
            <a:r>
              <a:rPr sz="1150" b="0">
                <a:solidFill>
                  <a:srgbClr val="2E2E2E"/>
                </a:solidFill>
                <a:latin typeface="Calibri"/>
              </a:rPr>
              <a:t>▪ 'Single-muffin packs' adds</a:t>
            </a:r>
          </a:p>
        </p:txBody>
      </p:sp>
      <p:pic>
        <p:nvPicPr>
          <p:cNvPr id="38" name="Picture 37" descr="lock.png"/>
          <p:cNvPicPr>
            <a:picLocks noChangeAspect="1"/>
          </p:cNvPicPr>
          <p:nvPr/>
        </p:nvPicPr>
        <p:blipFill>
          <a:blip r:embed="rId7"/>
          <a:stretch>
            <a:fillRect/>
          </a:stretch>
        </p:blipFill>
        <p:spPr>
          <a:xfrm>
            <a:off x="7948864" y="4906962"/>
            <a:ext cx="134549" cy="195707"/>
          </a:xfrm>
          <a:prstGeom prst="rect">
            <a:avLst/>
          </a:prstGeom>
        </p:spPr>
      </p:pic>
      <p:sp>
        <p:nvSpPr>
          <p:cNvPr id="39" name="TextBox 38"/>
          <p:cNvSpPr txBox="1"/>
          <p:nvPr/>
        </p:nvSpPr>
        <p:spPr>
          <a:xfrm>
            <a:off x="812397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696444" y="4906962"/>
            <a:ext cx="134549" cy="195707"/>
          </a:xfrm>
          <a:prstGeom prst="rect">
            <a:avLst/>
          </a:prstGeom>
        </p:spPr>
      </p:pic>
      <p:sp>
        <p:nvSpPr>
          <p:cNvPr id="41" name="TextBox 40"/>
          <p:cNvSpPr txBox="1"/>
          <p:nvPr/>
        </p:nvSpPr>
        <p:spPr>
          <a:xfrm>
            <a:off x="887155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883854" cy="194310"/>
          </a:xfrm>
          <a:prstGeom prst="rect">
            <a:avLst/>
          </a:prstGeom>
          <a:noFill/>
        </p:spPr>
        <p:txBody>
          <a:bodyPr wrap="none" lIns="0" rIns="0" tIns="0" bIns="0">
            <a:spAutoFit/>
          </a:bodyPr>
          <a:lstStyle/>
          <a:p>
            <a:r>
              <a:rPr sz="1150" b="0">
                <a:solidFill>
                  <a:srgbClr val="2E2E2E"/>
                </a:solidFill>
                <a:latin typeface="Calibri"/>
              </a:rPr>
              <a:t>▪ 'Bulk foodservice packs' adds</a:t>
            </a:r>
          </a:p>
        </p:txBody>
      </p:sp>
      <p:pic>
        <p:nvPicPr>
          <p:cNvPr id="43" name="Picture 42" descr="lock.png"/>
          <p:cNvPicPr>
            <a:picLocks noChangeAspect="1"/>
          </p:cNvPicPr>
          <p:nvPr/>
        </p:nvPicPr>
        <p:blipFill>
          <a:blip r:embed="rId7"/>
          <a:stretch>
            <a:fillRect/>
          </a:stretch>
        </p:blipFill>
        <p:spPr>
          <a:xfrm>
            <a:off x="8138557" y="5134800"/>
            <a:ext cx="134549" cy="195707"/>
          </a:xfrm>
          <a:prstGeom prst="rect">
            <a:avLst/>
          </a:prstGeom>
        </p:spPr>
      </p:pic>
      <p:sp>
        <p:nvSpPr>
          <p:cNvPr id="44" name="TextBox 43"/>
          <p:cNvSpPr txBox="1"/>
          <p:nvPr/>
        </p:nvSpPr>
        <p:spPr>
          <a:xfrm>
            <a:off x="8313667"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886138" y="5134800"/>
            <a:ext cx="134549" cy="195707"/>
          </a:xfrm>
          <a:prstGeom prst="rect">
            <a:avLst/>
          </a:prstGeom>
        </p:spPr>
      </p:pic>
      <p:sp>
        <p:nvSpPr>
          <p:cNvPr id="46" name="TextBox 45"/>
          <p:cNvSpPr txBox="1"/>
          <p:nvPr/>
        </p:nvSpPr>
        <p:spPr>
          <a:xfrm>
            <a:off x="9061247"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Pack Configuration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Pack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Pack Configuration (MT)</a:t>
            </a:r>
          </a:p>
        </p:txBody>
      </p:sp>
      <p:graphicFrame>
        <p:nvGraphicFramePr>
          <p:cNvPr id="13" name="Table 12"/>
          <p:cNvGraphicFramePr>
            <a:graphicFrameLocks noGrp="1"/>
          </p:cNvGraphicFramePr>
          <p:nvPr/>
        </p:nvGraphicFramePr>
        <p:xfrm>
          <a:off x="152400" y="1238250"/>
          <a:ext cx="11887208" cy="1619249"/>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Pack Configuration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Single-muffin packs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Multipacks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Bulk foodservice</a:t>
                      </a:r>
                      <a:endParaRPr sz="1100"/>
                    </a:p>
                    <a:p>
                      <a:pPr algn="l"/>
                      <a:r>
                        <a:rPr sz="1100" b="1">
                          <a:solidFill>
                            <a:srgbClr val="2E2E2E"/>
                          </a:solidFill>
                          <a:latin typeface="Calibri"/>
                        </a:rPr>
                        <a:t>packs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1190625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86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Pack Configuration</a:t>
            </a:r>
          </a:p>
        </p:txBody>
      </p:sp>
      <p:sp>
        <p:nvSpPr>
          <p:cNvPr id="17" name="Rectangle 16"/>
          <p:cNvSpPr/>
          <p:nvPr/>
        </p:nvSpPr>
        <p:spPr>
          <a:xfrm>
            <a:off x="276225" y="3524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09975"/>
            <a:ext cx="1163955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00630"/>
            <a:ext cx="366712" cy="533399"/>
          </a:xfrm>
          <a:prstGeom prst="rect">
            <a:avLst/>
          </a:prstGeom>
        </p:spPr>
      </p:pic>
      <p:sp>
        <p:nvSpPr>
          <p:cNvPr id="21" name="TextBox 20"/>
          <p:cNvSpPr txBox="1"/>
          <p:nvPr/>
        </p:nvSpPr>
        <p:spPr>
          <a:xfrm>
            <a:off x="276225" y="3619500"/>
            <a:ext cx="2956123" cy="194310"/>
          </a:xfrm>
          <a:prstGeom prst="rect">
            <a:avLst/>
          </a:prstGeom>
          <a:noFill/>
        </p:spPr>
        <p:txBody>
          <a:bodyPr wrap="none" lIns="0" rIns="0" tIns="0" bIns="0">
            <a:spAutoFit/>
          </a:bodyPr>
          <a:lstStyle/>
          <a:p>
            <a:r>
              <a:rPr sz="1150" b="0">
                <a:solidFill>
                  <a:srgbClr val="2E2E2E"/>
                </a:solidFill>
                <a:latin typeface="Calibri"/>
              </a:rPr>
              <a:t>▪ 'Multipacks' is the largest pack configuration at</a:t>
            </a:r>
          </a:p>
        </p:txBody>
      </p:sp>
      <p:pic>
        <p:nvPicPr>
          <p:cNvPr id="22" name="Picture 21" descr="lock.png"/>
          <p:cNvPicPr>
            <a:picLocks noChangeAspect="1"/>
          </p:cNvPicPr>
          <p:nvPr/>
        </p:nvPicPr>
        <p:blipFill>
          <a:blip r:embed="rId4"/>
          <a:stretch>
            <a:fillRect/>
          </a:stretch>
        </p:blipFill>
        <p:spPr>
          <a:xfrm>
            <a:off x="3181502" y="3609276"/>
            <a:ext cx="134549" cy="195707"/>
          </a:xfrm>
          <a:prstGeom prst="rect">
            <a:avLst/>
          </a:prstGeom>
        </p:spPr>
      </p:pic>
      <p:sp>
        <p:nvSpPr>
          <p:cNvPr id="23" name="TextBox 22"/>
          <p:cNvSpPr txBox="1"/>
          <p:nvPr/>
        </p:nvSpPr>
        <p:spPr>
          <a:xfrm>
            <a:off x="3356611" y="36195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386344" y="3609276"/>
            <a:ext cx="134549" cy="195707"/>
          </a:xfrm>
          <a:prstGeom prst="rect">
            <a:avLst/>
          </a:prstGeom>
        </p:spPr>
      </p:pic>
      <p:sp>
        <p:nvSpPr>
          <p:cNvPr id="25" name="TextBox 24"/>
          <p:cNvSpPr txBox="1"/>
          <p:nvPr/>
        </p:nvSpPr>
        <p:spPr>
          <a:xfrm>
            <a:off x="4561453" y="36195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847337"/>
            <a:ext cx="1699294" cy="194310"/>
          </a:xfrm>
          <a:prstGeom prst="rect">
            <a:avLst/>
          </a:prstGeom>
          <a:noFill/>
        </p:spPr>
        <p:txBody>
          <a:bodyPr wrap="none" lIns="0" rIns="0" tIns="0" bIns="0">
            <a:spAutoFit/>
          </a:bodyPr>
          <a:lstStyle/>
          <a:p>
            <a:r>
              <a:rPr sz="1150" b="0">
                <a:solidFill>
                  <a:srgbClr val="2E2E2E"/>
                </a:solidFill>
                <a:latin typeface="Calibri"/>
              </a:rPr>
              <a:t>▪ 'Multipacks' grows fastest</a:t>
            </a:r>
          </a:p>
        </p:txBody>
      </p:sp>
      <p:pic>
        <p:nvPicPr>
          <p:cNvPr id="27" name="Picture 26" descr="lock.png"/>
          <p:cNvPicPr>
            <a:picLocks noChangeAspect="1"/>
          </p:cNvPicPr>
          <p:nvPr/>
        </p:nvPicPr>
        <p:blipFill>
          <a:blip r:embed="rId4"/>
          <a:stretch>
            <a:fillRect/>
          </a:stretch>
        </p:blipFill>
        <p:spPr>
          <a:xfrm>
            <a:off x="1924673" y="3837114"/>
            <a:ext cx="134549" cy="195707"/>
          </a:xfrm>
          <a:prstGeom prst="rect">
            <a:avLst/>
          </a:prstGeom>
        </p:spPr>
      </p:pic>
      <p:sp>
        <p:nvSpPr>
          <p:cNvPr id="28" name="TextBox 27"/>
          <p:cNvSpPr txBox="1"/>
          <p:nvPr/>
        </p:nvSpPr>
        <p:spPr>
          <a:xfrm>
            <a:off x="2099782" y="3847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075175"/>
            <a:ext cx="2208472" cy="194310"/>
          </a:xfrm>
          <a:prstGeom prst="rect">
            <a:avLst/>
          </a:prstGeom>
          <a:noFill/>
        </p:spPr>
        <p:txBody>
          <a:bodyPr wrap="none" lIns="0" rIns="0" tIns="0" bIns="0">
            <a:spAutoFit/>
          </a:bodyPr>
          <a:lstStyle/>
          <a:p>
            <a:r>
              <a:rPr sz="1150" b="0">
                <a:solidFill>
                  <a:srgbClr val="2E2E2E"/>
                </a:solidFill>
                <a:latin typeface="Calibri"/>
              </a:rPr>
              <a:t>▪ Share shifts toward 'Multipacks' (+</a:t>
            </a:r>
          </a:p>
        </p:txBody>
      </p:sp>
      <p:pic>
        <p:nvPicPr>
          <p:cNvPr id="30" name="Picture 29" descr="lock.png"/>
          <p:cNvPicPr>
            <a:picLocks noChangeAspect="1"/>
          </p:cNvPicPr>
          <p:nvPr/>
        </p:nvPicPr>
        <p:blipFill>
          <a:blip r:embed="rId4"/>
          <a:stretch>
            <a:fillRect/>
          </a:stretch>
        </p:blipFill>
        <p:spPr>
          <a:xfrm>
            <a:off x="2433851" y="4064952"/>
            <a:ext cx="134549" cy="195707"/>
          </a:xfrm>
          <a:prstGeom prst="rect">
            <a:avLst/>
          </a:prstGeom>
        </p:spPr>
      </p:pic>
      <p:sp>
        <p:nvSpPr>
          <p:cNvPr id="31" name="TextBox 30"/>
          <p:cNvSpPr txBox="1"/>
          <p:nvPr/>
        </p:nvSpPr>
        <p:spPr>
          <a:xfrm>
            <a:off x="2608961" y="4075175"/>
            <a:ext cx="2639776" cy="194310"/>
          </a:xfrm>
          <a:prstGeom prst="rect">
            <a:avLst/>
          </a:prstGeom>
          <a:noFill/>
        </p:spPr>
        <p:txBody>
          <a:bodyPr wrap="none" lIns="0" rIns="0" tIns="0" bIns="0">
            <a:spAutoFit/>
          </a:bodyPr>
          <a:lstStyle/>
          <a:p>
            <a:r>
              <a:rPr sz="1150" b="0">
                <a:solidFill>
                  <a:srgbClr val="2E2E2E"/>
                </a:solidFill>
                <a:latin typeface="Calibri"/>
              </a:rPr>
              <a:t>BPS) and away from 'Single-muffin packs' (-</a:t>
            </a:r>
          </a:p>
        </p:txBody>
      </p:sp>
      <p:pic>
        <p:nvPicPr>
          <p:cNvPr id="32" name="Picture 31" descr="lock.png"/>
          <p:cNvPicPr>
            <a:picLocks noChangeAspect="1"/>
          </p:cNvPicPr>
          <p:nvPr/>
        </p:nvPicPr>
        <p:blipFill>
          <a:blip r:embed="rId4"/>
          <a:stretch>
            <a:fillRect/>
          </a:stretch>
        </p:blipFill>
        <p:spPr>
          <a:xfrm>
            <a:off x="5197891" y="4064952"/>
            <a:ext cx="134549" cy="195707"/>
          </a:xfrm>
          <a:prstGeom prst="rect">
            <a:avLst/>
          </a:prstGeom>
        </p:spPr>
      </p:pic>
      <p:sp>
        <p:nvSpPr>
          <p:cNvPr id="33" name="TextBox 32"/>
          <p:cNvSpPr txBox="1"/>
          <p:nvPr/>
        </p:nvSpPr>
        <p:spPr>
          <a:xfrm>
            <a:off x="5373001" y="4075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030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292790"/>
            <a:ext cx="134549" cy="195707"/>
          </a:xfrm>
          <a:prstGeom prst="rect">
            <a:avLst/>
          </a:prstGeom>
        </p:spPr>
      </p:pic>
      <p:sp>
        <p:nvSpPr>
          <p:cNvPr id="36" name="TextBox 35"/>
          <p:cNvSpPr txBox="1"/>
          <p:nvPr/>
        </p:nvSpPr>
        <p:spPr>
          <a:xfrm>
            <a:off x="1965143" y="4303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292790"/>
            <a:ext cx="134549" cy="195707"/>
          </a:xfrm>
          <a:prstGeom prst="rect">
            <a:avLst/>
          </a:prstGeom>
        </p:spPr>
      </p:pic>
      <p:sp>
        <p:nvSpPr>
          <p:cNvPr id="38" name="TextBox 37"/>
          <p:cNvSpPr txBox="1"/>
          <p:nvPr/>
        </p:nvSpPr>
        <p:spPr>
          <a:xfrm>
            <a:off x="2291688" y="43030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Pack Configuration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Pack Configuration (US$ Mn)</a:t>
            </a:r>
          </a:p>
        </p:txBody>
      </p:sp>
      <p:graphicFrame>
        <p:nvGraphicFramePr>
          <p:cNvPr id="13" name="Table 12"/>
          <p:cNvGraphicFramePr>
            <a:graphicFrameLocks noGrp="1"/>
          </p:cNvGraphicFramePr>
          <p:nvPr/>
        </p:nvGraphicFramePr>
        <p:xfrm>
          <a:off x="152400" y="1238250"/>
          <a:ext cx="11887195" cy="1238250"/>
        </p:xfrm>
        <a:graphic>
          <a:graphicData uri="http://schemas.openxmlformats.org/drawingml/2006/table">
            <a:tbl>
              <a:tblPr>
                <a:tableStyleId>{5C22544A-7EE6-4342-B048-85BDC9FD1C3A}</a:tableStyleId>
              </a:tblPr>
              <a:tblGrid>
                <a:gridCol w="1609148"/>
                <a:gridCol w="604591"/>
                <a:gridCol w="604591"/>
                <a:gridCol w="604591"/>
                <a:gridCol w="604591"/>
                <a:gridCol w="604591"/>
                <a:gridCol w="604591"/>
                <a:gridCol w="604591"/>
                <a:gridCol w="604591"/>
                <a:gridCol w="604591"/>
                <a:gridCol w="604591"/>
                <a:gridCol w="604591"/>
                <a:gridCol w="604591"/>
                <a:gridCol w="604591"/>
                <a:gridCol w="604591"/>
                <a:gridCol w="604591"/>
                <a:gridCol w="604591"/>
                <a:gridCol w="604591"/>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Pack Configuration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13881" y="1713738"/>
            <a:ext cx="366712" cy="533400"/>
          </a:xfrm>
          <a:prstGeom prst="rect">
            <a:avLst/>
          </a:prstGeom>
        </p:spPr>
      </p:pic>
      <p:sp>
        <p:nvSpPr>
          <p:cNvPr id="21" name="TextBox 20"/>
          <p:cNvSpPr txBox="1"/>
          <p:nvPr/>
        </p:nvSpPr>
        <p:spPr>
          <a:xfrm>
            <a:off x="276225" y="3238500"/>
            <a:ext cx="2956123" cy="194310"/>
          </a:xfrm>
          <a:prstGeom prst="rect">
            <a:avLst/>
          </a:prstGeom>
          <a:noFill/>
        </p:spPr>
        <p:txBody>
          <a:bodyPr wrap="none" lIns="0" rIns="0" tIns="0" bIns="0">
            <a:spAutoFit/>
          </a:bodyPr>
          <a:lstStyle/>
          <a:p>
            <a:r>
              <a:rPr sz="1150" b="0">
                <a:solidFill>
                  <a:srgbClr val="2E2E2E"/>
                </a:solidFill>
                <a:latin typeface="Calibri"/>
              </a:rPr>
              <a:t>▪ 'Multipacks' is the largest pack configuration at</a:t>
            </a:r>
          </a:p>
        </p:txBody>
      </p:sp>
      <p:pic>
        <p:nvPicPr>
          <p:cNvPr id="22" name="Picture 21" descr="lock.png"/>
          <p:cNvPicPr>
            <a:picLocks noChangeAspect="1"/>
          </p:cNvPicPr>
          <p:nvPr/>
        </p:nvPicPr>
        <p:blipFill>
          <a:blip r:embed="rId4"/>
          <a:stretch>
            <a:fillRect/>
          </a:stretch>
        </p:blipFill>
        <p:spPr>
          <a:xfrm>
            <a:off x="3181502" y="3228276"/>
            <a:ext cx="134549" cy="195707"/>
          </a:xfrm>
          <a:prstGeom prst="rect">
            <a:avLst/>
          </a:prstGeom>
        </p:spPr>
      </p:pic>
      <p:sp>
        <p:nvSpPr>
          <p:cNvPr id="23" name="TextBox 22"/>
          <p:cNvSpPr txBox="1"/>
          <p:nvPr/>
        </p:nvSpPr>
        <p:spPr>
          <a:xfrm>
            <a:off x="3356611"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262544" y="3228276"/>
            <a:ext cx="134549" cy="195707"/>
          </a:xfrm>
          <a:prstGeom prst="rect">
            <a:avLst/>
          </a:prstGeom>
        </p:spPr>
      </p:pic>
      <p:sp>
        <p:nvSpPr>
          <p:cNvPr id="25" name="TextBox 24"/>
          <p:cNvSpPr txBox="1"/>
          <p:nvPr/>
        </p:nvSpPr>
        <p:spPr>
          <a:xfrm>
            <a:off x="4437653"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1699294" cy="194310"/>
          </a:xfrm>
          <a:prstGeom prst="rect">
            <a:avLst/>
          </a:prstGeom>
          <a:noFill/>
        </p:spPr>
        <p:txBody>
          <a:bodyPr wrap="none" lIns="0" rIns="0" tIns="0" bIns="0">
            <a:spAutoFit/>
          </a:bodyPr>
          <a:lstStyle/>
          <a:p>
            <a:r>
              <a:rPr sz="1150" b="0">
                <a:solidFill>
                  <a:srgbClr val="2E2E2E"/>
                </a:solidFill>
                <a:latin typeface="Calibri"/>
              </a:rPr>
              <a:t>▪ 'Multipacks' grows fastest</a:t>
            </a:r>
          </a:p>
        </p:txBody>
      </p:sp>
      <p:pic>
        <p:nvPicPr>
          <p:cNvPr id="27" name="Picture 26" descr="lock.png"/>
          <p:cNvPicPr>
            <a:picLocks noChangeAspect="1"/>
          </p:cNvPicPr>
          <p:nvPr/>
        </p:nvPicPr>
        <p:blipFill>
          <a:blip r:embed="rId4"/>
          <a:stretch>
            <a:fillRect/>
          </a:stretch>
        </p:blipFill>
        <p:spPr>
          <a:xfrm>
            <a:off x="1924673" y="3456114"/>
            <a:ext cx="134549" cy="195707"/>
          </a:xfrm>
          <a:prstGeom prst="rect">
            <a:avLst/>
          </a:prstGeom>
        </p:spPr>
      </p:pic>
      <p:sp>
        <p:nvSpPr>
          <p:cNvPr id="28" name="TextBox 27"/>
          <p:cNvSpPr txBox="1"/>
          <p:nvPr/>
        </p:nvSpPr>
        <p:spPr>
          <a:xfrm>
            <a:off x="2099782"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208472" cy="194310"/>
          </a:xfrm>
          <a:prstGeom prst="rect">
            <a:avLst/>
          </a:prstGeom>
          <a:noFill/>
        </p:spPr>
        <p:txBody>
          <a:bodyPr wrap="none" lIns="0" rIns="0" tIns="0" bIns="0">
            <a:spAutoFit/>
          </a:bodyPr>
          <a:lstStyle/>
          <a:p>
            <a:r>
              <a:rPr sz="1150" b="0">
                <a:solidFill>
                  <a:srgbClr val="2E2E2E"/>
                </a:solidFill>
                <a:latin typeface="Calibri"/>
              </a:rPr>
              <a:t>▪ Share shifts toward 'Multipacks' (+</a:t>
            </a:r>
          </a:p>
        </p:txBody>
      </p:sp>
      <p:pic>
        <p:nvPicPr>
          <p:cNvPr id="30" name="Picture 29" descr="lock.png"/>
          <p:cNvPicPr>
            <a:picLocks noChangeAspect="1"/>
          </p:cNvPicPr>
          <p:nvPr/>
        </p:nvPicPr>
        <p:blipFill>
          <a:blip r:embed="rId4"/>
          <a:stretch>
            <a:fillRect/>
          </a:stretch>
        </p:blipFill>
        <p:spPr>
          <a:xfrm>
            <a:off x="2433851" y="3683952"/>
            <a:ext cx="134549" cy="195707"/>
          </a:xfrm>
          <a:prstGeom prst="rect">
            <a:avLst/>
          </a:prstGeom>
        </p:spPr>
      </p:pic>
      <p:sp>
        <p:nvSpPr>
          <p:cNvPr id="31" name="TextBox 30"/>
          <p:cNvSpPr txBox="1"/>
          <p:nvPr/>
        </p:nvSpPr>
        <p:spPr>
          <a:xfrm>
            <a:off x="2608961" y="3694175"/>
            <a:ext cx="2829470" cy="194310"/>
          </a:xfrm>
          <a:prstGeom prst="rect">
            <a:avLst/>
          </a:prstGeom>
          <a:noFill/>
        </p:spPr>
        <p:txBody>
          <a:bodyPr wrap="none" lIns="0" rIns="0" tIns="0" bIns="0">
            <a:spAutoFit/>
          </a:bodyPr>
          <a:lstStyle/>
          <a:p>
            <a:r>
              <a:rPr sz="1150" b="0">
                <a:solidFill>
                  <a:srgbClr val="2E2E2E"/>
                </a:solidFill>
                <a:latin typeface="Calibri"/>
              </a:rPr>
              <a:t>BPS) and away from 'Bulk foodservice packs' (-</a:t>
            </a:r>
          </a:p>
        </p:txBody>
      </p:sp>
      <p:pic>
        <p:nvPicPr>
          <p:cNvPr id="32" name="Picture 31" descr="lock.png"/>
          <p:cNvPicPr>
            <a:picLocks noChangeAspect="1"/>
          </p:cNvPicPr>
          <p:nvPr/>
        </p:nvPicPr>
        <p:blipFill>
          <a:blip r:embed="rId4"/>
          <a:stretch>
            <a:fillRect/>
          </a:stretch>
        </p:blipFill>
        <p:spPr>
          <a:xfrm>
            <a:off x="5387585" y="3683952"/>
            <a:ext cx="134549" cy="195707"/>
          </a:xfrm>
          <a:prstGeom prst="rect">
            <a:avLst/>
          </a:prstGeom>
        </p:spPr>
      </p:pic>
      <p:sp>
        <p:nvSpPr>
          <p:cNvPr id="33" name="TextBox 32"/>
          <p:cNvSpPr txBox="1"/>
          <p:nvPr/>
        </p:nvSpPr>
        <p:spPr>
          <a:xfrm>
            <a:off x="556269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 Configuration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Pack Configuration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4910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443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681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Bulk foodservice packs</a:t>
            </a:r>
          </a:p>
        </p:txBody>
      </p:sp>
      <p:sp>
        <p:nvSpPr>
          <p:cNvPr id="19" name="BPS Value 1"/>
          <p:cNvSpPr txBox="1"/>
          <p:nvPr/>
        </p:nvSpPr>
        <p:spPr>
          <a:xfrm>
            <a:off x="6896100" y="193005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4696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422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660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Single-muffin packs</a:t>
            </a:r>
          </a:p>
        </p:txBody>
      </p:sp>
      <p:sp>
        <p:nvSpPr>
          <p:cNvPr id="23" name="BPS Value 2"/>
          <p:cNvSpPr txBox="1"/>
          <p:nvPr/>
        </p:nvSpPr>
        <p:spPr>
          <a:xfrm>
            <a:off x="6896100" y="282791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85531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8505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7743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Multipacks</a:t>
            </a:r>
          </a:p>
        </p:txBody>
      </p:sp>
      <p:sp>
        <p:nvSpPr>
          <p:cNvPr id="27" name="BPS Value 3"/>
          <p:cNvSpPr txBox="1"/>
          <p:nvPr/>
        </p:nvSpPr>
        <p:spPr>
          <a:xfrm>
            <a:off x="6896100" y="483626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Pack Configuration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245555" cy="194310"/>
          </a:xfrm>
          <a:prstGeom prst="rect">
            <a:avLst/>
          </a:prstGeom>
          <a:noFill/>
        </p:spPr>
        <p:txBody>
          <a:bodyPr wrap="none" lIns="0" rIns="0" tIns="0" bIns="0">
            <a:spAutoFit/>
          </a:bodyPr>
          <a:lstStyle/>
          <a:p>
            <a:r>
              <a:rPr sz="1150" b="0">
                <a:solidFill>
                  <a:srgbClr val="2E2E2E"/>
                </a:solidFill>
                <a:latin typeface="Calibri"/>
              </a:rPr>
              <a:t>▪ 'Multipacks' gains the most share +</a:t>
            </a:r>
          </a:p>
        </p:txBody>
      </p:sp>
      <p:pic>
        <p:nvPicPr>
          <p:cNvPr id="35" name="Picture 34" descr="lock.png"/>
          <p:cNvPicPr>
            <a:picLocks noChangeAspect="1"/>
          </p:cNvPicPr>
          <p:nvPr/>
        </p:nvPicPr>
        <p:blipFill>
          <a:blip r:embed="rId5"/>
          <a:stretch>
            <a:fillRect/>
          </a:stretch>
        </p:blipFill>
        <p:spPr>
          <a:xfrm>
            <a:off x="10024259" y="1389951"/>
            <a:ext cx="134549" cy="195707"/>
          </a:xfrm>
          <a:prstGeom prst="rect">
            <a:avLst/>
          </a:prstGeom>
        </p:spPr>
      </p:pic>
      <p:sp>
        <p:nvSpPr>
          <p:cNvPr id="36" name="TextBox 35"/>
          <p:cNvSpPr txBox="1"/>
          <p:nvPr/>
        </p:nvSpPr>
        <p:spPr>
          <a:xfrm>
            <a:off x="10199369"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7" name="TextBox 36"/>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587004" cy="194310"/>
          </a:xfrm>
          <a:prstGeom prst="rect">
            <a:avLst/>
          </a:prstGeom>
          <a:noFill/>
        </p:spPr>
        <p:txBody>
          <a:bodyPr wrap="none" lIns="0" rIns="0" tIns="0" bIns="0">
            <a:spAutoFit/>
          </a:bodyPr>
          <a:lstStyle/>
          <a:p>
            <a:r>
              <a:rPr sz="1150" b="0">
                <a:solidFill>
                  <a:srgbClr val="2E2E2E"/>
                </a:solidFill>
                <a:latin typeface="Calibri"/>
              </a:rPr>
              <a:t>▪ 'Bulk foodservice packs' cedes the most -</a:t>
            </a:r>
          </a:p>
        </p:txBody>
      </p:sp>
      <p:pic>
        <p:nvPicPr>
          <p:cNvPr id="39" name="Picture 38" descr="lock.png"/>
          <p:cNvPicPr>
            <a:picLocks noChangeAspect="1"/>
          </p:cNvPicPr>
          <p:nvPr/>
        </p:nvPicPr>
        <p:blipFill>
          <a:blip r:embed="rId5"/>
          <a:stretch>
            <a:fillRect/>
          </a:stretch>
        </p:blipFill>
        <p:spPr>
          <a:xfrm>
            <a:off x="10365708" y="1793049"/>
            <a:ext cx="134549" cy="195707"/>
          </a:xfrm>
          <a:prstGeom prst="rect">
            <a:avLst/>
          </a:prstGeom>
        </p:spPr>
      </p:pic>
      <p:sp>
        <p:nvSpPr>
          <p:cNvPr id="40" name="TextBox 39"/>
          <p:cNvSpPr txBox="1"/>
          <p:nvPr/>
        </p:nvSpPr>
        <p:spPr>
          <a:xfrm>
            <a:off x="10540818"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1" name="TextBox 40"/>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3478423" cy="194310"/>
          </a:xfrm>
          <a:prstGeom prst="rect">
            <a:avLst/>
          </a:prstGeom>
          <a:noFill/>
        </p:spPr>
        <p:txBody>
          <a:bodyPr wrap="none" lIns="0" rIns="0" tIns="0" bIns="0">
            <a:spAutoFit/>
          </a:bodyPr>
          <a:lstStyle/>
          <a:p>
            <a:r>
              <a:rPr sz="1150" b="0">
                <a:solidFill>
                  <a:srgbClr val="2E2E2E"/>
                </a:solidFill>
                <a:latin typeface="Calibri"/>
              </a:rPr>
              <a:t>▪ 'Multipacks' is the fastest-growing pack configuration at</a:t>
            </a:r>
          </a:p>
        </p:txBody>
      </p:sp>
      <p:pic>
        <p:nvPicPr>
          <p:cNvPr id="43" name="Picture 42" descr="lock.png"/>
          <p:cNvPicPr>
            <a:picLocks noChangeAspect="1"/>
          </p:cNvPicPr>
          <p:nvPr/>
        </p:nvPicPr>
        <p:blipFill>
          <a:blip r:embed="rId5"/>
          <a:stretch>
            <a:fillRect/>
          </a:stretch>
        </p:blipFill>
        <p:spPr>
          <a:xfrm>
            <a:off x="11257127" y="2196147"/>
            <a:ext cx="134549" cy="195707"/>
          </a:xfrm>
          <a:prstGeom prst="rect">
            <a:avLst/>
          </a:prstGeom>
        </p:spPr>
      </p:pic>
      <p:sp>
        <p:nvSpPr>
          <p:cNvPr id="44" name="TextBox 43"/>
          <p:cNvSpPr txBox="1"/>
          <p:nvPr/>
        </p:nvSpPr>
        <p:spPr>
          <a:xfrm>
            <a:off x="11432236"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5" name="TextBox 44"/>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6" name="TextBox 45"/>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7" name="Picture 46" descr="lock.png"/>
          <p:cNvPicPr>
            <a:picLocks noChangeAspect="1"/>
          </p:cNvPicPr>
          <p:nvPr/>
        </p:nvPicPr>
        <p:blipFill>
          <a:blip r:embed="rId5"/>
          <a:stretch>
            <a:fillRect/>
          </a:stretch>
        </p:blipFill>
        <p:spPr>
          <a:xfrm>
            <a:off x="9327669" y="2599245"/>
            <a:ext cx="134549" cy="195707"/>
          </a:xfrm>
          <a:prstGeom prst="rect">
            <a:avLst/>
          </a:prstGeom>
        </p:spPr>
      </p:pic>
      <p:sp>
        <p:nvSpPr>
          <p:cNvPr id="48" name="TextBox 47"/>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9" name="Picture 48" descr="lock.png"/>
          <p:cNvPicPr>
            <a:picLocks noChangeAspect="1"/>
          </p:cNvPicPr>
          <p:nvPr/>
        </p:nvPicPr>
        <p:blipFill>
          <a:blip r:embed="rId5"/>
          <a:stretch>
            <a:fillRect/>
          </a:stretch>
        </p:blipFill>
        <p:spPr>
          <a:xfrm>
            <a:off x="9654215" y="2599245"/>
            <a:ext cx="134549" cy="195707"/>
          </a:xfrm>
          <a:prstGeom prst="rect">
            <a:avLst/>
          </a:prstGeom>
        </p:spPr>
      </p:pic>
      <p:sp>
        <p:nvSpPr>
          <p:cNvPr id="50" name="TextBox 49"/>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1" name="TextBox 50"/>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2" name="TextBox 51"/>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3"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Pack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Pack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Pack Configuration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Single-muffin packs</a:t>
            </a:r>
          </a:p>
        </p:txBody>
      </p:sp>
      <p:sp>
        <p:nvSpPr>
          <p:cNvPr id="33" name="Rectangle 32"/>
          <p:cNvSpPr/>
          <p:nvPr/>
        </p:nvSpPr>
        <p:spPr>
          <a:xfrm>
            <a:off x="185737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Multipacks</a:t>
            </a:r>
          </a:p>
        </p:txBody>
      </p:sp>
      <p:sp>
        <p:nvSpPr>
          <p:cNvPr id="49" name="Rectangle 48"/>
          <p:cNvSpPr/>
          <p:nvPr/>
        </p:nvSpPr>
        <p:spPr>
          <a:xfrm>
            <a:off x="1857375" y="4191000"/>
            <a:ext cx="643890" cy="119062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Bulk foodservice packs</a:t>
            </a:r>
          </a:p>
        </p:txBody>
      </p:sp>
      <p:sp>
        <p:nvSpPr>
          <p:cNvPr id="65" name="Rectangle 64"/>
          <p:cNvSpPr/>
          <p:nvPr/>
        </p:nvSpPr>
        <p:spPr>
          <a:xfrm>
            <a:off x="185737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789268" y="1589913"/>
            <a:ext cx="366712" cy="533400"/>
          </a:xfrm>
          <a:prstGeom prst="rect">
            <a:avLst/>
          </a:prstGeom>
        </p:spPr>
      </p:pic>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Pack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Pack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Pack Configuration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Single-muffin packs</a:t>
            </a:r>
          </a:p>
        </p:txBody>
      </p:sp>
      <p:sp>
        <p:nvSpPr>
          <p:cNvPr id="33" name="Rectangle 32"/>
          <p:cNvSpPr/>
          <p:nvPr/>
        </p:nvSpPr>
        <p:spPr>
          <a:xfrm>
            <a:off x="185737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Multipacks</a:t>
            </a:r>
          </a:p>
        </p:txBody>
      </p:sp>
      <p:sp>
        <p:nvSpPr>
          <p:cNvPr id="49" name="Rectangle 48"/>
          <p:cNvSpPr/>
          <p:nvPr/>
        </p:nvSpPr>
        <p:spPr>
          <a:xfrm>
            <a:off x="1857375" y="4191000"/>
            <a:ext cx="643890" cy="119062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Bulk foodservice packs</a:t>
            </a:r>
          </a:p>
        </p:txBody>
      </p:sp>
      <p:sp>
        <p:nvSpPr>
          <p:cNvPr id="65" name="Rectangle 64"/>
          <p:cNvSpPr/>
          <p:nvPr/>
        </p:nvSpPr>
        <p:spPr>
          <a:xfrm>
            <a:off x="185737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789268" y="1589913"/>
            <a:ext cx="366712" cy="533400"/>
          </a:xfrm>
          <a:prstGeom prst="rect">
            <a:avLst/>
          </a:prstGeom>
        </p:spPr>
      </p:pic>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Multipack Wrapping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Multipack Wrapping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Multipack Wrapping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Multipack Wrapping,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Multipack Wrapping segment categorizes the market by multipack wrapping.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Shared pack without individual wr…</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Individually wrapped muffins with…</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Multipack Wrapping split shows how demand is distributed across multipack wrapping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5_586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8_944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8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5_314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8_801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2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75929" cy="186689"/>
          </a:xfrm>
          <a:prstGeom prst="rect">
            <a:avLst/>
          </a:prstGeom>
          <a:noFill/>
        </p:spPr>
        <p:txBody>
          <a:bodyPr wrap="none" lIns="0" rIns="0" tIns="0" bIns="0">
            <a:spAutoFit/>
          </a:bodyPr>
          <a:lstStyle/>
          <a:p>
            <a:r>
              <a:rPr sz="1100" b="0">
                <a:solidFill>
                  <a:srgbClr val="2E2E2E"/>
                </a:solidFill>
                <a:latin typeface="Calibri"/>
              </a:rPr>
              <a:t>▪ 'Shared pack without individual wrapping' holds</a:t>
            </a:r>
          </a:p>
        </p:txBody>
      </p:sp>
      <p:sp>
        <p:nvSpPr>
          <p:cNvPr id="59" name="TextBox 58"/>
          <p:cNvSpPr txBox="1"/>
          <p:nvPr/>
        </p:nvSpPr>
        <p:spPr>
          <a:xfrm>
            <a:off x="485775" y="4397077"/>
            <a:ext cx="1480021" cy="186689"/>
          </a:xfrm>
          <a:prstGeom prst="rect">
            <a:avLst/>
          </a:prstGeom>
          <a:noFill/>
        </p:spPr>
        <p:txBody>
          <a:bodyPr wrap="none" lIns="0" rIns="0" tIns="0" bIns="0">
            <a:spAutoFit/>
          </a:bodyPr>
          <a:lstStyle/>
          <a:p>
            <a:r>
              <a:rPr sz="1100" b="0">
                <a:solidFill>
                  <a:srgbClr val="2E2E2E"/>
                </a:solidFill>
                <a:latin typeface="Calibri"/>
              </a:rPr>
              <a:t>the largest share in 2026</a:t>
            </a:r>
          </a:p>
        </p:txBody>
      </p:sp>
      <p:pic>
        <p:nvPicPr>
          <p:cNvPr id="60" name="Picture 59" descr="lock.png"/>
          <p:cNvPicPr>
            <a:picLocks noChangeAspect="1"/>
          </p:cNvPicPr>
          <p:nvPr/>
        </p:nvPicPr>
        <p:blipFill>
          <a:blip r:embed="rId10"/>
          <a:stretch>
            <a:fillRect/>
          </a:stretch>
        </p:blipFill>
        <p:spPr>
          <a:xfrm>
            <a:off x="1913847" y="4387298"/>
            <a:ext cx="128699" cy="187198"/>
          </a:xfrm>
          <a:prstGeom prst="rect">
            <a:avLst/>
          </a:prstGeom>
        </p:spPr>
      </p:pic>
      <p:sp>
        <p:nvSpPr>
          <p:cNvPr id="61" name="TextBox 60"/>
          <p:cNvSpPr txBox="1"/>
          <p:nvPr/>
        </p:nvSpPr>
        <p:spPr>
          <a:xfrm>
            <a:off x="208134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2" name="TextBox 61"/>
          <p:cNvSpPr txBox="1"/>
          <p:nvPr/>
        </p:nvSpPr>
        <p:spPr>
          <a:xfrm>
            <a:off x="485775" y="4615009"/>
            <a:ext cx="2743324" cy="186689"/>
          </a:xfrm>
          <a:prstGeom prst="rect">
            <a:avLst/>
          </a:prstGeom>
          <a:noFill/>
        </p:spPr>
        <p:txBody>
          <a:bodyPr wrap="none" lIns="0" rIns="0" tIns="0" bIns="0">
            <a:spAutoFit/>
          </a:bodyPr>
          <a:lstStyle/>
          <a:p>
            <a:r>
              <a:rPr sz="1100" b="0">
                <a:solidFill>
                  <a:srgbClr val="2E2E2E"/>
                </a:solidFill>
                <a:latin typeface="Calibri"/>
              </a:rPr>
              <a:t>▪ 'Individually wrapped muffins within an outer</a:t>
            </a:r>
          </a:p>
        </p:txBody>
      </p:sp>
      <p:sp>
        <p:nvSpPr>
          <p:cNvPr id="63" name="TextBox 62"/>
          <p:cNvSpPr txBox="1"/>
          <p:nvPr/>
        </p:nvSpPr>
        <p:spPr>
          <a:xfrm>
            <a:off x="485775" y="4782649"/>
            <a:ext cx="2538685" cy="186689"/>
          </a:xfrm>
          <a:prstGeom prst="rect">
            <a:avLst/>
          </a:prstGeom>
          <a:noFill/>
        </p:spPr>
        <p:txBody>
          <a:bodyPr wrap="none" lIns="0" rIns="0" tIns="0" bIns="0">
            <a:spAutoFit/>
          </a:bodyPr>
          <a:lstStyle/>
          <a:p>
            <a:r>
              <a:rPr sz="1100" b="0">
                <a:solidFill>
                  <a:srgbClr val="2E2E2E"/>
                </a:solidFill>
                <a:latin typeface="Calibri"/>
              </a:rPr>
              <a:t>pack' is the fastest-growing sub-segment at</a:t>
            </a:r>
          </a:p>
        </p:txBody>
      </p:sp>
      <p:pic>
        <p:nvPicPr>
          <p:cNvPr id="64" name="Picture 63" descr="lock.png"/>
          <p:cNvPicPr>
            <a:picLocks noChangeAspect="1"/>
          </p:cNvPicPr>
          <p:nvPr/>
        </p:nvPicPr>
        <p:blipFill>
          <a:blip r:embed="rId10"/>
          <a:stretch>
            <a:fillRect/>
          </a:stretch>
        </p:blipFill>
        <p:spPr>
          <a:xfrm>
            <a:off x="2972511" y="4772870"/>
            <a:ext cx="128699" cy="187198"/>
          </a:xfrm>
          <a:prstGeom prst="rect">
            <a:avLst/>
          </a:prstGeom>
        </p:spPr>
      </p:pic>
      <p:sp>
        <p:nvSpPr>
          <p:cNvPr id="65" name="TextBox 64"/>
          <p:cNvSpPr txBox="1"/>
          <p:nvPr/>
        </p:nvSpPr>
        <p:spPr>
          <a:xfrm>
            <a:off x="485775" y="495028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6" name="TextBox 65"/>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7" name="Picture 66" descr="lock.png"/>
          <p:cNvPicPr>
            <a:picLocks noChangeAspect="1"/>
          </p:cNvPicPr>
          <p:nvPr/>
        </p:nvPicPr>
        <p:blipFill>
          <a:blip r:embed="rId10"/>
          <a:stretch>
            <a:fillRect/>
          </a:stretch>
        </p:blipFill>
        <p:spPr>
          <a:xfrm>
            <a:off x="2240451" y="5158441"/>
            <a:ext cx="128699" cy="187198"/>
          </a:xfrm>
          <a:prstGeom prst="rect">
            <a:avLst/>
          </a:prstGeom>
        </p:spPr>
      </p:pic>
      <p:sp>
        <p:nvSpPr>
          <p:cNvPr id="68" name="TextBox 67"/>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9" name="Picture 68" descr="lock.png"/>
          <p:cNvPicPr>
            <a:picLocks noChangeAspect="1"/>
          </p:cNvPicPr>
          <p:nvPr/>
        </p:nvPicPr>
        <p:blipFill>
          <a:blip r:embed="rId10"/>
          <a:stretch>
            <a:fillRect/>
          </a:stretch>
        </p:blipFill>
        <p:spPr>
          <a:xfrm>
            <a:off x="2552799" y="5158441"/>
            <a:ext cx="128699" cy="187198"/>
          </a:xfrm>
          <a:prstGeom prst="rect">
            <a:avLst/>
          </a:prstGeom>
        </p:spPr>
      </p:pic>
      <p:sp>
        <p:nvSpPr>
          <p:cNvPr id="70" name="TextBox 69"/>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2" name="TextBox 71"/>
          <p:cNvSpPr txBox="1"/>
          <p:nvPr/>
        </p:nvSpPr>
        <p:spPr>
          <a:xfrm>
            <a:off x="485775" y="5553793"/>
            <a:ext cx="2914650" cy="186689"/>
          </a:xfrm>
          <a:prstGeom prst="rect">
            <a:avLst/>
          </a:prstGeom>
          <a:noFill/>
        </p:spPr>
        <p:txBody>
          <a:bodyPr wrap="none" lIns="0" rIns="0" tIns="0" bIns="0">
            <a:spAutoFit/>
          </a:bodyPr>
          <a:lstStyle/>
          <a:p>
            <a:r>
              <a:rPr sz="1100" b="0">
                <a:solidFill>
                  <a:srgbClr val="2E2E2E"/>
                </a:solidFill>
                <a:latin typeface="Calibri"/>
              </a:rPr>
              <a:t>▪ 2 sub-segments make up the multipack wrapping</a:t>
            </a:r>
          </a:p>
        </p:txBody>
      </p:sp>
      <p:sp>
        <p:nvSpPr>
          <p:cNvPr id="73" name="TextBox 72"/>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4" name="TextBox 73"/>
          <p:cNvSpPr txBox="1"/>
          <p:nvPr/>
        </p:nvSpPr>
        <p:spPr>
          <a:xfrm>
            <a:off x="3838575" y="4229437"/>
            <a:ext cx="2547689" cy="186689"/>
          </a:xfrm>
          <a:prstGeom prst="rect">
            <a:avLst/>
          </a:prstGeom>
          <a:noFill/>
        </p:spPr>
        <p:txBody>
          <a:bodyPr wrap="none" lIns="0" rIns="0" tIns="0" bIns="0">
            <a:spAutoFit/>
          </a:bodyPr>
          <a:lstStyle/>
          <a:p>
            <a:r>
              <a:rPr sz="1100" b="0">
                <a:solidFill>
                  <a:srgbClr val="2E2E2E"/>
                </a:solidFill>
                <a:latin typeface="Calibri"/>
              </a:rPr>
              <a:t>● Shared pack without individual wrapping:</a:t>
            </a:r>
          </a:p>
        </p:txBody>
      </p:sp>
      <p:pic>
        <p:nvPicPr>
          <p:cNvPr id="75" name="Picture 74" descr="lock.png"/>
          <p:cNvPicPr>
            <a:picLocks noChangeAspect="1"/>
          </p:cNvPicPr>
          <p:nvPr/>
        </p:nvPicPr>
        <p:blipFill>
          <a:blip r:embed="rId10"/>
          <a:stretch>
            <a:fillRect/>
          </a:stretch>
        </p:blipFill>
        <p:spPr>
          <a:xfrm>
            <a:off x="6334316" y="4219658"/>
            <a:ext cx="128699" cy="187198"/>
          </a:xfrm>
          <a:prstGeom prst="rect">
            <a:avLst/>
          </a:prstGeom>
        </p:spPr>
      </p:pic>
      <p:sp>
        <p:nvSpPr>
          <p:cNvPr id="76" name="TextBox 75"/>
          <p:cNvSpPr txBox="1"/>
          <p:nvPr/>
        </p:nvSpPr>
        <p:spPr>
          <a:xfrm>
            <a:off x="650181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0"/>
          <a:stretch>
            <a:fillRect/>
          </a:stretch>
        </p:blipFill>
        <p:spPr>
          <a:xfrm>
            <a:off x="7361262" y="4219658"/>
            <a:ext cx="128699" cy="187198"/>
          </a:xfrm>
          <a:prstGeom prst="rect">
            <a:avLst/>
          </a:prstGeom>
        </p:spPr>
      </p:pic>
      <p:sp>
        <p:nvSpPr>
          <p:cNvPr id="78" name="TextBox 77"/>
          <p:cNvSpPr txBox="1"/>
          <p:nvPr/>
        </p:nvSpPr>
        <p:spPr>
          <a:xfrm>
            <a:off x="3838575" y="439707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9" name="TextBox 78"/>
          <p:cNvSpPr txBox="1"/>
          <p:nvPr/>
        </p:nvSpPr>
        <p:spPr>
          <a:xfrm>
            <a:off x="3838575" y="4615009"/>
            <a:ext cx="3161605" cy="186689"/>
          </a:xfrm>
          <a:prstGeom prst="rect">
            <a:avLst/>
          </a:prstGeom>
          <a:noFill/>
        </p:spPr>
        <p:txBody>
          <a:bodyPr wrap="none" lIns="0" rIns="0" tIns="0" bIns="0">
            <a:spAutoFit/>
          </a:bodyPr>
          <a:lstStyle/>
          <a:p>
            <a:r>
              <a:rPr sz="1100" b="1">
                <a:solidFill>
                  <a:srgbClr val="0E72AE"/>
                </a:solidFill>
                <a:latin typeface="Calibri"/>
              </a:rPr>
              <a:t>● Individually wrapped muffins within an outer pack:</a:t>
            </a:r>
          </a:p>
        </p:txBody>
      </p:sp>
      <p:pic>
        <p:nvPicPr>
          <p:cNvPr id="80" name="Picture 79" descr="lock.png"/>
          <p:cNvPicPr>
            <a:picLocks noChangeAspect="1"/>
          </p:cNvPicPr>
          <p:nvPr/>
        </p:nvPicPr>
        <p:blipFill>
          <a:blip r:embed="rId10"/>
          <a:stretch>
            <a:fillRect/>
          </a:stretch>
        </p:blipFill>
        <p:spPr>
          <a:xfrm>
            <a:off x="6948232" y="4605230"/>
            <a:ext cx="128699" cy="187198"/>
          </a:xfrm>
          <a:prstGeom prst="rect">
            <a:avLst/>
          </a:prstGeom>
        </p:spPr>
      </p:pic>
      <p:sp>
        <p:nvSpPr>
          <p:cNvPr id="81" name="TextBox 80"/>
          <p:cNvSpPr txBox="1"/>
          <p:nvPr/>
        </p:nvSpPr>
        <p:spPr>
          <a:xfrm>
            <a:off x="7115727" y="4615009"/>
            <a:ext cx="510852" cy="186689"/>
          </a:xfrm>
          <a:prstGeom prst="rect">
            <a:avLst/>
          </a:prstGeom>
          <a:noFill/>
        </p:spPr>
        <p:txBody>
          <a:bodyPr wrap="none" lIns="0" rIns="0" tIns="0" bIns="0">
            <a:spAutoFit/>
          </a:bodyPr>
          <a:lstStyle/>
          <a:p>
            <a:r>
              <a:rPr sz="1100" b="1">
                <a:solidFill>
                  <a:srgbClr val="0E72AE"/>
                </a:solidFill>
                <a:latin typeface="Calibri"/>
              </a:rPr>
              <a:t>of 2026</a:t>
            </a:r>
          </a:p>
        </p:txBody>
      </p:sp>
      <p:sp>
        <p:nvSpPr>
          <p:cNvPr id="82" name="TextBox 81"/>
          <p:cNvSpPr txBox="1"/>
          <p:nvPr/>
        </p:nvSpPr>
        <p:spPr>
          <a:xfrm>
            <a:off x="3838575" y="4782649"/>
            <a:ext cx="460102" cy="186689"/>
          </a:xfrm>
          <a:prstGeom prst="rect">
            <a:avLst/>
          </a:prstGeom>
          <a:noFill/>
        </p:spPr>
        <p:txBody>
          <a:bodyPr wrap="none" lIns="0" rIns="0" tIns="0" bIns="0">
            <a:spAutoFit/>
          </a:bodyPr>
          <a:lstStyle/>
          <a:p>
            <a:r>
              <a:rPr sz="1100" b="1">
                <a:solidFill>
                  <a:srgbClr val="0E72AE"/>
                </a:solidFill>
                <a:latin typeface="Calibri"/>
              </a:rPr>
              <a:t>value ·</a:t>
            </a:r>
          </a:p>
        </p:txBody>
      </p:sp>
      <p:pic>
        <p:nvPicPr>
          <p:cNvPr id="83" name="Picture 82" descr="lock.png"/>
          <p:cNvPicPr>
            <a:picLocks noChangeAspect="1"/>
          </p:cNvPicPr>
          <p:nvPr/>
        </p:nvPicPr>
        <p:blipFill>
          <a:blip r:embed="rId10"/>
          <a:stretch>
            <a:fillRect/>
          </a:stretch>
        </p:blipFill>
        <p:spPr>
          <a:xfrm>
            <a:off x="4246728" y="4772870"/>
            <a:ext cx="128699" cy="187198"/>
          </a:xfrm>
          <a:prstGeom prst="rect">
            <a:avLst/>
          </a:prstGeom>
        </p:spPr>
      </p:pic>
      <p:sp>
        <p:nvSpPr>
          <p:cNvPr id="84" name="TextBox 83"/>
          <p:cNvSpPr txBox="1"/>
          <p:nvPr/>
        </p:nvSpPr>
        <p:spPr>
          <a:xfrm>
            <a:off x="4414224" y="4782649"/>
            <a:ext cx="1245889" cy="186689"/>
          </a:xfrm>
          <a:prstGeom prst="rect">
            <a:avLst/>
          </a:prstGeom>
          <a:noFill/>
        </p:spPr>
        <p:txBody>
          <a:bodyPr wrap="none" lIns="0" rIns="0" tIns="0" bIns="0">
            <a:spAutoFit/>
          </a:bodyPr>
          <a:lstStyle/>
          <a:p>
            <a:r>
              <a:rPr sz="1100" b="1">
                <a:solidFill>
                  <a:srgbClr val="0E72AE"/>
                </a:solidFill>
                <a:latin typeface="Calibri"/>
              </a:rPr>
              <a:t>CAGR grows fastest.</a:t>
            </a:r>
          </a:p>
        </p:txBody>
      </p:sp>
      <p:sp>
        <p:nvSpPr>
          <p:cNvPr id="85" name="TextBox 84"/>
          <p:cNvSpPr txBox="1"/>
          <p:nvPr/>
        </p:nvSpPr>
        <p:spPr>
          <a:xfrm>
            <a:off x="8524875" y="5842641"/>
            <a:ext cx="3036850" cy="194310"/>
          </a:xfrm>
          <a:prstGeom prst="rect">
            <a:avLst/>
          </a:prstGeom>
          <a:noFill/>
        </p:spPr>
        <p:txBody>
          <a:bodyPr wrap="none" lIns="0" rIns="0" tIns="0" bIns="0">
            <a:spAutoFit/>
          </a:bodyPr>
          <a:lstStyle/>
          <a:p>
            <a:r>
              <a:rPr sz="1150" b="1">
                <a:solidFill>
                  <a:srgbClr val="0B2E4A"/>
                </a:solidFill>
                <a:latin typeface="Calibri"/>
              </a:rPr>
              <a:t>The Multipack Wrapping segment is projected to</a:t>
            </a:r>
          </a:p>
        </p:txBody>
      </p:sp>
      <p:sp>
        <p:nvSpPr>
          <p:cNvPr id="86" name="TextBox 8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87" name="Picture 86" descr="lock.png"/>
          <p:cNvPicPr>
            <a:picLocks noChangeAspect="1"/>
          </p:cNvPicPr>
          <p:nvPr/>
        </p:nvPicPr>
        <p:blipFill>
          <a:blip r:embed="rId10"/>
          <a:stretch>
            <a:fillRect/>
          </a:stretch>
        </p:blipFill>
        <p:spPr>
          <a:xfrm>
            <a:off x="9651852" y="6007677"/>
            <a:ext cx="134549" cy="195707"/>
          </a:xfrm>
          <a:prstGeom prst="rect">
            <a:avLst/>
          </a:prstGeom>
        </p:spPr>
      </p:pic>
      <p:sp>
        <p:nvSpPr>
          <p:cNvPr id="88" name="TextBox 8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Multipack Wrapping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Multipack Wrapping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Multipack Wrapping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Multipack Wrapping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984255" cy="186689"/>
          </a:xfrm>
          <a:prstGeom prst="rect">
            <a:avLst/>
          </a:prstGeom>
          <a:noFill/>
        </p:spPr>
        <p:txBody>
          <a:bodyPr wrap="none" lIns="0" rIns="0" tIns="0" bIns="0">
            <a:spAutoFit/>
          </a:bodyPr>
          <a:lstStyle/>
          <a:p>
            <a:r>
              <a:rPr sz="1100" b="0">
                <a:solidFill>
                  <a:srgbClr val="2E2E2E"/>
                </a:solidFill>
                <a:latin typeface="Calibri"/>
              </a:rPr>
              <a:t>Between 2026 and 2036, 'Individually wrapped muffins within an outer pack' gains the most share in the Global market (+</a:t>
            </a:r>
          </a:p>
        </p:txBody>
      </p:sp>
      <p:pic>
        <p:nvPicPr>
          <p:cNvPr id="21" name="Picture 20" descr="lock.png"/>
          <p:cNvPicPr>
            <a:picLocks noChangeAspect="1"/>
          </p:cNvPicPr>
          <p:nvPr/>
        </p:nvPicPr>
        <p:blipFill>
          <a:blip r:embed="rId6"/>
          <a:stretch>
            <a:fillRect/>
          </a:stretch>
        </p:blipFill>
        <p:spPr>
          <a:xfrm>
            <a:off x="7189482" y="5851905"/>
            <a:ext cx="128699" cy="187198"/>
          </a:xfrm>
          <a:prstGeom prst="rect">
            <a:avLst/>
          </a:prstGeom>
        </p:spPr>
      </p:pic>
      <p:sp>
        <p:nvSpPr>
          <p:cNvPr id="22" name="TextBox 21"/>
          <p:cNvSpPr txBox="1"/>
          <p:nvPr/>
        </p:nvSpPr>
        <p:spPr>
          <a:xfrm>
            <a:off x="7356978" y="5861685"/>
            <a:ext cx="3439368" cy="186689"/>
          </a:xfrm>
          <a:prstGeom prst="rect">
            <a:avLst/>
          </a:prstGeom>
          <a:noFill/>
        </p:spPr>
        <p:txBody>
          <a:bodyPr wrap="none" lIns="0" rIns="0" tIns="0" bIns="0">
            <a:spAutoFit/>
          </a:bodyPr>
          <a:lstStyle/>
          <a:p>
            <a:r>
              <a:rPr sz="1100" b="0">
                <a:solidFill>
                  <a:srgbClr val="2E2E2E"/>
                </a:solidFill>
                <a:latin typeface="Calibri"/>
              </a:rPr>
              <a:t>BPS) while 'Shared pack without individual wrapping' cedes</a:t>
            </a:r>
          </a:p>
        </p:txBody>
      </p:sp>
      <p:pic>
        <p:nvPicPr>
          <p:cNvPr id="23" name="Picture 22" descr="lock.png"/>
          <p:cNvPicPr>
            <a:picLocks noChangeAspect="1"/>
          </p:cNvPicPr>
          <p:nvPr/>
        </p:nvPicPr>
        <p:blipFill>
          <a:blip r:embed="rId6"/>
          <a:stretch>
            <a:fillRect/>
          </a:stretch>
        </p:blipFill>
        <p:spPr>
          <a:xfrm>
            <a:off x="10744398" y="5851905"/>
            <a:ext cx="128699" cy="187198"/>
          </a:xfrm>
          <a:prstGeom prst="rect">
            <a:avLst/>
          </a:prstGeom>
        </p:spPr>
      </p:pic>
      <p:sp>
        <p:nvSpPr>
          <p:cNvPr id="24" name="TextBox 23"/>
          <p:cNvSpPr txBox="1"/>
          <p:nvPr/>
        </p:nvSpPr>
        <p:spPr>
          <a:xfrm>
            <a:off x="10911894" y="5861685"/>
            <a:ext cx="808260" cy="186689"/>
          </a:xfrm>
          <a:prstGeom prst="rect">
            <a:avLst/>
          </a:prstGeom>
          <a:noFill/>
        </p:spPr>
        <p:txBody>
          <a:bodyPr wrap="none" lIns="0" rIns="0" tIns="0" bIns="0">
            <a:spAutoFit/>
          </a:bodyPr>
          <a:lstStyle/>
          <a:p>
            <a:r>
              <a:rPr sz="1100" b="0">
                <a:solidFill>
                  <a:srgbClr val="2E2E2E"/>
                </a:solidFill>
                <a:latin typeface="Calibri"/>
              </a:rPr>
              <a:t>BPS. Bubbles</a:t>
            </a:r>
          </a:p>
        </p:txBody>
      </p:sp>
      <p:sp>
        <p:nvSpPr>
          <p:cNvPr id="25" name="TextBox 24"/>
          <p:cNvSpPr txBox="1"/>
          <p:nvPr/>
        </p:nvSpPr>
        <p:spPr>
          <a:xfrm>
            <a:off x="257175" y="602932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Multipack Wrapping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Individually wrapped muffins within an outer pack</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Shared pack without individual wrapping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Multipack Wrapping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Multipack Wrapping,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09850"/>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Multipack Wrapping (MT)</a:t>
            </a:r>
          </a:p>
        </p:txBody>
      </p:sp>
      <p:graphicFrame>
        <p:nvGraphicFramePr>
          <p:cNvPr id="13" name="Table 12"/>
          <p:cNvGraphicFramePr>
            <a:graphicFrameLocks noGrp="1"/>
          </p:cNvGraphicFramePr>
          <p:nvPr/>
        </p:nvGraphicFramePr>
        <p:xfrm>
          <a:off x="152400" y="1238250"/>
          <a:ext cx="11887208" cy="214312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Multipack</a:t>
                      </a:r>
                      <a:endParaRPr sz="1100"/>
                    </a:p>
                    <a:p>
                      <a:pPr algn="l"/>
                      <a:r>
                        <a:rPr sz="1100" b="1">
                          <a:solidFill>
                            <a:srgbClr val="0B2E4A"/>
                          </a:solidFill>
                          <a:latin typeface="Calibri"/>
                        </a:rPr>
                        <a:t>Wrapping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825119">
                <a:tc>
                  <a:txBody>
                    <a:bodyPr wrap="none"/>
                    <a:lstStyle/>
                    <a:p>
                      <a:pPr algn="l"/>
                      <a:r>
                        <a:rPr sz="1100" b="1">
                          <a:solidFill>
                            <a:srgbClr val="2E2E2E"/>
                          </a:solidFill>
                          <a:latin typeface="Calibri"/>
                        </a:rPr>
                        <a:t>Individually</a:t>
                      </a:r>
                      <a:endParaRPr sz="1100"/>
                    </a:p>
                    <a:p>
                      <a:pPr algn="l"/>
                      <a:r>
                        <a:rPr sz="1100" b="1">
                          <a:solidFill>
                            <a:srgbClr val="2E2E2E"/>
                          </a:solidFill>
                          <a:latin typeface="Calibri"/>
                        </a:rPr>
                        <a:t>wrapped muffins</a:t>
                      </a:r>
                      <a:endParaRPr sz="1100"/>
                    </a:p>
                    <a:p>
                      <a:pPr algn="l"/>
                      <a:r>
                        <a:rPr sz="1100" b="1">
                          <a:solidFill>
                            <a:srgbClr val="2E2E2E"/>
                          </a:solidFill>
                          <a:latin typeface="Calibri"/>
                        </a:rPr>
                        <a:t>within an outer</a:t>
                      </a:r>
                      <a:endParaRPr sz="1100"/>
                    </a:p>
                    <a:p>
                      <a:pPr algn="l"/>
                      <a:r>
                        <a:rPr sz="1100" b="1">
                          <a:solidFill>
                            <a:srgbClr val="2E2E2E"/>
                          </a:solidFill>
                          <a:latin typeface="Calibri"/>
                        </a:rPr>
                        <a:t>pack</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333">
                <a:tc>
                  <a:txBody>
                    <a:bodyPr wrap="none"/>
                    <a:lstStyle/>
                    <a:p>
                      <a:pPr algn="l"/>
                      <a:r>
                        <a:rPr sz="1100" b="1">
                          <a:solidFill>
                            <a:srgbClr val="2E2E2E"/>
                          </a:solidFill>
                          <a:latin typeface="Calibri"/>
                        </a:rPr>
                        <a:t>Shared pack</a:t>
                      </a:r>
                      <a:endParaRPr sz="1100"/>
                    </a:p>
                    <a:p>
                      <a:pPr algn="l"/>
                      <a:r>
                        <a:rPr sz="1100" b="1">
                          <a:solidFill>
                            <a:srgbClr val="2E2E2E"/>
                          </a:solidFill>
                          <a:latin typeface="Calibri"/>
                        </a:rPr>
                        <a:t>without individual</a:t>
                      </a:r>
                      <a:endParaRPr sz="1100"/>
                    </a:p>
                    <a:p>
                      <a:pPr algn="l"/>
                      <a:r>
                        <a:rPr sz="1100" b="1">
                          <a:solidFill>
                            <a:srgbClr val="2E2E2E"/>
                          </a:solidFill>
                          <a:latin typeface="Calibri"/>
                        </a:rPr>
                        <a:t>wrapping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390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724275"/>
            <a:ext cx="11906250" cy="2905125"/>
          </a:xfrm>
          <a:prstGeom prst="roundRect">
            <a:avLst>
              <a:gd name="adj" fmla="val 26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100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Multipack Wrapping</a:t>
            </a:r>
          </a:p>
        </p:txBody>
      </p:sp>
      <p:sp>
        <p:nvSpPr>
          <p:cNvPr id="17" name="Rectangle 16"/>
          <p:cNvSpPr/>
          <p:nvPr/>
        </p:nvSpPr>
        <p:spPr>
          <a:xfrm>
            <a:off x="276225" y="4048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33850"/>
            <a:ext cx="11639550" cy="2419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262568"/>
            <a:ext cx="366712" cy="533400"/>
          </a:xfrm>
          <a:prstGeom prst="rect">
            <a:avLst/>
          </a:prstGeom>
        </p:spPr>
      </p:pic>
      <p:sp>
        <p:nvSpPr>
          <p:cNvPr id="21" name="TextBox 20"/>
          <p:cNvSpPr txBox="1"/>
          <p:nvPr/>
        </p:nvSpPr>
        <p:spPr>
          <a:xfrm>
            <a:off x="276225" y="4143375"/>
            <a:ext cx="4800575" cy="194310"/>
          </a:xfrm>
          <a:prstGeom prst="rect">
            <a:avLst/>
          </a:prstGeom>
          <a:noFill/>
        </p:spPr>
        <p:txBody>
          <a:bodyPr wrap="none" lIns="0" rIns="0" tIns="0" bIns="0">
            <a:spAutoFit/>
          </a:bodyPr>
          <a:lstStyle/>
          <a:p>
            <a:r>
              <a:rPr sz="1150" b="0">
                <a:solidFill>
                  <a:srgbClr val="2E2E2E"/>
                </a:solidFill>
                <a:latin typeface="Calibri"/>
              </a:rPr>
              <a:t>▪ 'Shared pack without individual wrapping' is the largest multipack wrapping at</a:t>
            </a:r>
          </a:p>
        </p:txBody>
      </p:sp>
      <p:pic>
        <p:nvPicPr>
          <p:cNvPr id="22" name="Picture 21" descr="lock.png"/>
          <p:cNvPicPr>
            <a:picLocks noChangeAspect="1"/>
          </p:cNvPicPr>
          <p:nvPr/>
        </p:nvPicPr>
        <p:blipFill>
          <a:blip r:embed="rId4"/>
          <a:stretch>
            <a:fillRect/>
          </a:stretch>
        </p:blipFill>
        <p:spPr>
          <a:xfrm>
            <a:off x="5025954" y="4133151"/>
            <a:ext cx="134549" cy="195707"/>
          </a:xfrm>
          <a:prstGeom prst="rect">
            <a:avLst/>
          </a:prstGeom>
        </p:spPr>
      </p:pic>
      <p:sp>
        <p:nvSpPr>
          <p:cNvPr id="23" name="TextBox 22"/>
          <p:cNvSpPr txBox="1"/>
          <p:nvPr/>
        </p:nvSpPr>
        <p:spPr>
          <a:xfrm>
            <a:off x="5201063" y="414337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6230796" y="4133151"/>
            <a:ext cx="134549" cy="195707"/>
          </a:xfrm>
          <a:prstGeom prst="rect">
            <a:avLst/>
          </a:prstGeom>
        </p:spPr>
      </p:pic>
      <p:sp>
        <p:nvSpPr>
          <p:cNvPr id="25" name="TextBox 24"/>
          <p:cNvSpPr txBox="1"/>
          <p:nvPr/>
        </p:nvSpPr>
        <p:spPr>
          <a:xfrm>
            <a:off x="6405905" y="414337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371213"/>
            <a:ext cx="4028678"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grows fastest</a:t>
            </a:r>
          </a:p>
        </p:txBody>
      </p:sp>
      <p:pic>
        <p:nvPicPr>
          <p:cNvPr id="27" name="Picture 26" descr="lock.png"/>
          <p:cNvPicPr>
            <a:picLocks noChangeAspect="1"/>
          </p:cNvPicPr>
          <p:nvPr/>
        </p:nvPicPr>
        <p:blipFill>
          <a:blip r:embed="rId4"/>
          <a:stretch>
            <a:fillRect/>
          </a:stretch>
        </p:blipFill>
        <p:spPr>
          <a:xfrm>
            <a:off x="4254057" y="4360989"/>
            <a:ext cx="134549" cy="195707"/>
          </a:xfrm>
          <a:prstGeom prst="rect">
            <a:avLst/>
          </a:prstGeom>
        </p:spPr>
      </p:pic>
      <p:sp>
        <p:nvSpPr>
          <p:cNvPr id="28" name="TextBox 27"/>
          <p:cNvSpPr txBox="1"/>
          <p:nvPr/>
        </p:nvSpPr>
        <p:spPr>
          <a:xfrm>
            <a:off x="4429166" y="437121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599050"/>
            <a:ext cx="4537856" cy="194310"/>
          </a:xfrm>
          <a:prstGeom prst="rect">
            <a:avLst/>
          </a:prstGeom>
          <a:noFill/>
        </p:spPr>
        <p:txBody>
          <a:bodyPr wrap="none" lIns="0" rIns="0" tIns="0" bIns="0">
            <a:spAutoFit/>
          </a:bodyPr>
          <a:lstStyle/>
          <a:p>
            <a:r>
              <a:rPr sz="1150" b="0">
                <a:solidFill>
                  <a:srgbClr val="2E2E2E"/>
                </a:solidFill>
                <a:latin typeface="Calibri"/>
              </a:rPr>
              <a:t>▪ Share shifts toward 'Individually wrapped muffins within an outer pack' (+</a:t>
            </a:r>
          </a:p>
        </p:txBody>
      </p:sp>
      <p:pic>
        <p:nvPicPr>
          <p:cNvPr id="30" name="Picture 29" descr="lock.png"/>
          <p:cNvPicPr>
            <a:picLocks noChangeAspect="1"/>
          </p:cNvPicPr>
          <p:nvPr/>
        </p:nvPicPr>
        <p:blipFill>
          <a:blip r:embed="rId4"/>
          <a:stretch>
            <a:fillRect/>
          </a:stretch>
        </p:blipFill>
        <p:spPr>
          <a:xfrm>
            <a:off x="4763235" y="4588827"/>
            <a:ext cx="134549" cy="195707"/>
          </a:xfrm>
          <a:prstGeom prst="rect">
            <a:avLst/>
          </a:prstGeom>
        </p:spPr>
      </p:pic>
      <p:sp>
        <p:nvSpPr>
          <p:cNvPr id="31" name="TextBox 30"/>
          <p:cNvSpPr txBox="1"/>
          <p:nvPr/>
        </p:nvSpPr>
        <p:spPr>
          <a:xfrm>
            <a:off x="4938344" y="4599050"/>
            <a:ext cx="3908015" cy="194310"/>
          </a:xfrm>
          <a:prstGeom prst="rect">
            <a:avLst/>
          </a:prstGeom>
          <a:noFill/>
        </p:spPr>
        <p:txBody>
          <a:bodyPr wrap="none" lIns="0" rIns="0" tIns="0" bIns="0">
            <a:spAutoFit/>
          </a:bodyPr>
          <a:lstStyle/>
          <a:p>
            <a:r>
              <a:rPr sz="1150" b="0">
                <a:solidFill>
                  <a:srgbClr val="2E2E2E"/>
                </a:solidFill>
                <a:latin typeface="Calibri"/>
              </a:rPr>
              <a:t>BPS) and away from 'Shared pack without individual wrapping' (-</a:t>
            </a:r>
          </a:p>
        </p:txBody>
      </p:sp>
      <p:pic>
        <p:nvPicPr>
          <p:cNvPr id="32" name="Picture 31" descr="lock.png"/>
          <p:cNvPicPr>
            <a:picLocks noChangeAspect="1"/>
          </p:cNvPicPr>
          <p:nvPr/>
        </p:nvPicPr>
        <p:blipFill>
          <a:blip r:embed="rId4"/>
          <a:stretch>
            <a:fillRect/>
          </a:stretch>
        </p:blipFill>
        <p:spPr>
          <a:xfrm>
            <a:off x="8795514" y="4588827"/>
            <a:ext cx="134549" cy="195707"/>
          </a:xfrm>
          <a:prstGeom prst="rect">
            <a:avLst/>
          </a:prstGeom>
        </p:spPr>
      </p:pic>
      <p:sp>
        <p:nvSpPr>
          <p:cNvPr id="33" name="TextBox 32"/>
          <p:cNvSpPr txBox="1"/>
          <p:nvPr/>
        </p:nvSpPr>
        <p:spPr>
          <a:xfrm>
            <a:off x="8970623" y="45990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82688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816665"/>
            <a:ext cx="134549" cy="195707"/>
          </a:xfrm>
          <a:prstGeom prst="rect">
            <a:avLst/>
          </a:prstGeom>
        </p:spPr>
      </p:pic>
      <p:sp>
        <p:nvSpPr>
          <p:cNvPr id="36" name="TextBox 35"/>
          <p:cNvSpPr txBox="1"/>
          <p:nvPr/>
        </p:nvSpPr>
        <p:spPr>
          <a:xfrm>
            <a:off x="1965143" y="48268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816665"/>
            <a:ext cx="134549" cy="195707"/>
          </a:xfrm>
          <a:prstGeom prst="rect">
            <a:avLst/>
          </a:prstGeom>
        </p:spPr>
      </p:pic>
      <p:sp>
        <p:nvSpPr>
          <p:cNvPr id="38" name="TextBox 37"/>
          <p:cNvSpPr txBox="1"/>
          <p:nvPr/>
        </p:nvSpPr>
        <p:spPr>
          <a:xfrm>
            <a:off x="2291688" y="4826888"/>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Multipack Wrapping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Multipack Wrapping,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Multipack Wrapping (US$ Mn)</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3167958"/>
                <a:gridCol w="491930"/>
                <a:gridCol w="491930"/>
                <a:gridCol w="491930"/>
                <a:gridCol w="514209"/>
                <a:gridCol w="514209"/>
                <a:gridCol w="514209"/>
                <a:gridCol w="514209"/>
                <a:gridCol w="514209"/>
                <a:gridCol w="514209"/>
                <a:gridCol w="514209"/>
                <a:gridCol w="514209"/>
                <a:gridCol w="514209"/>
                <a:gridCol w="514209"/>
                <a:gridCol w="514209"/>
                <a:gridCol w="514209"/>
                <a:gridCol w="514209"/>
                <a:gridCol w="558730"/>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Multipack Wrapping</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495388" y="1592916"/>
            <a:ext cx="362582" cy="527392"/>
          </a:xfrm>
          <a:prstGeom prst="rect">
            <a:avLst/>
          </a:prstGeom>
        </p:spPr>
      </p:pic>
      <p:sp>
        <p:nvSpPr>
          <p:cNvPr id="21" name="TextBox 20"/>
          <p:cNvSpPr txBox="1"/>
          <p:nvPr/>
        </p:nvSpPr>
        <p:spPr>
          <a:xfrm>
            <a:off x="276225" y="2990850"/>
            <a:ext cx="4800575" cy="194310"/>
          </a:xfrm>
          <a:prstGeom prst="rect">
            <a:avLst/>
          </a:prstGeom>
          <a:noFill/>
        </p:spPr>
        <p:txBody>
          <a:bodyPr wrap="none" lIns="0" rIns="0" tIns="0" bIns="0">
            <a:spAutoFit/>
          </a:bodyPr>
          <a:lstStyle/>
          <a:p>
            <a:r>
              <a:rPr sz="1150" b="0">
                <a:solidFill>
                  <a:srgbClr val="2E2E2E"/>
                </a:solidFill>
                <a:latin typeface="Calibri"/>
              </a:rPr>
              <a:t>▪ 'Shared pack without individual wrapping' is the largest multipack wrapping at</a:t>
            </a:r>
          </a:p>
        </p:txBody>
      </p:sp>
      <p:pic>
        <p:nvPicPr>
          <p:cNvPr id="22" name="Picture 21" descr="lock.png"/>
          <p:cNvPicPr>
            <a:picLocks noChangeAspect="1"/>
          </p:cNvPicPr>
          <p:nvPr/>
        </p:nvPicPr>
        <p:blipFill>
          <a:blip r:embed="rId4"/>
          <a:stretch>
            <a:fillRect/>
          </a:stretch>
        </p:blipFill>
        <p:spPr>
          <a:xfrm>
            <a:off x="5025954" y="2980626"/>
            <a:ext cx="134549" cy="195707"/>
          </a:xfrm>
          <a:prstGeom prst="rect">
            <a:avLst/>
          </a:prstGeom>
        </p:spPr>
      </p:pic>
      <p:sp>
        <p:nvSpPr>
          <p:cNvPr id="23" name="TextBox 22"/>
          <p:cNvSpPr txBox="1"/>
          <p:nvPr/>
        </p:nvSpPr>
        <p:spPr>
          <a:xfrm>
            <a:off x="5201063"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6106996" y="2980626"/>
            <a:ext cx="134549" cy="195707"/>
          </a:xfrm>
          <a:prstGeom prst="rect">
            <a:avLst/>
          </a:prstGeom>
        </p:spPr>
      </p:pic>
      <p:sp>
        <p:nvSpPr>
          <p:cNvPr id="25" name="TextBox 24"/>
          <p:cNvSpPr txBox="1"/>
          <p:nvPr/>
        </p:nvSpPr>
        <p:spPr>
          <a:xfrm>
            <a:off x="6282105"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4028678"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grows fastest</a:t>
            </a:r>
          </a:p>
        </p:txBody>
      </p:sp>
      <p:pic>
        <p:nvPicPr>
          <p:cNvPr id="27" name="Picture 26" descr="lock.png"/>
          <p:cNvPicPr>
            <a:picLocks noChangeAspect="1"/>
          </p:cNvPicPr>
          <p:nvPr/>
        </p:nvPicPr>
        <p:blipFill>
          <a:blip r:embed="rId4"/>
          <a:stretch>
            <a:fillRect/>
          </a:stretch>
        </p:blipFill>
        <p:spPr>
          <a:xfrm>
            <a:off x="4254057" y="3208464"/>
            <a:ext cx="134549" cy="195707"/>
          </a:xfrm>
          <a:prstGeom prst="rect">
            <a:avLst/>
          </a:prstGeom>
        </p:spPr>
      </p:pic>
      <p:sp>
        <p:nvSpPr>
          <p:cNvPr id="28" name="TextBox 27"/>
          <p:cNvSpPr txBox="1"/>
          <p:nvPr/>
        </p:nvSpPr>
        <p:spPr>
          <a:xfrm>
            <a:off x="4429166"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4537856" cy="194310"/>
          </a:xfrm>
          <a:prstGeom prst="rect">
            <a:avLst/>
          </a:prstGeom>
          <a:noFill/>
        </p:spPr>
        <p:txBody>
          <a:bodyPr wrap="none" lIns="0" rIns="0" tIns="0" bIns="0">
            <a:spAutoFit/>
          </a:bodyPr>
          <a:lstStyle/>
          <a:p>
            <a:r>
              <a:rPr sz="1150" b="0">
                <a:solidFill>
                  <a:srgbClr val="2E2E2E"/>
                </a:solidFill>
                <a:latin typeface="Calibri"/>
              </a:rPr>
              <a:t>▪ Share shifts toward 'Individually wrapped muffins within an outer pack' (+</a:t>
            </a:r>
          </a:p>
        </p:txBody>
      </p:sp>
      <p:pic>
        <p:nvPicPr>
          <p:cNvPr id="30" name="Picture 29" descr="lock.png"/>
          <p:cNvPicPr>
            <a:picLocks noChangeAspect="1"/>
          </p:cNvPicPr>
          <p:nvPr/>
        </p:nvPicPr>
        <p:blipFill>
          <a:blip r:embed="rId4"/>
          <a:stretch>
            <a:fillRect/>
          </a:stretch>
        </p:blipFill>
        <p:spPr>
          <a:xfrm>
            <a:off x="4763235" y="3436302"/>
            <a:ext cx="134549" cy="195707"/>
          </a:xfrm>
          <a:prstGeom prst="rect">
            <a:avLst/>
          </a:prstGeom>
        </p:spPr>
      </p:pic>
      <p:sp>
        <p:nvSpPr>
          <p:cNvPr id="31" name="TextBox 30"/>
          <p:cNvSpPr txBox="1"/>
          <p:nvPr/>
        </p:nvSpPr>
        <p:spPr>
          <a:xfrm>
            <a:off x="4938344" y="3446525"/>
            <a:ext cx="3908015" cy="194310"/>
          </a:xfrm>
          <a:prstGeom prst="rect">
            <a:avLst/>
          </a:prstGeom>
          <a:noFill/>
        </p:spPr>
        <p:txBody>
          <a:bodyPr wrap="none" lIns="0" rIns="0" tIns="0" bIns="0">
            <a:spAutoFit/>
          </a:bodyPr>
          <a:lstStyle/>
          <a:p>
            <a:r>
              <a:rPr sz="1150" b="0">
                <a:solidFill>
                  <a:srgbClr val="2E2E2E"/>
                </a:solidFill>
                <a:latin typeface="Calibri"/>
              </a:rPr>
              <a:t>BPS) and away from 'Shared pack without individual wrapping' (-</a:t>
            </a:r>
          </a:p>
        </p:txBody>
      </p:sp>
      <p:pic>
        <p:nvPicPr>
          <p:cNvPr id="32" name="Picture 31" descr="lock.png"/>
          <p:cNvPicPr>
            <a:picLocks noChangeAspect="1"/>
          </p:cNvPicPr>
          <p:nvPr/>
        </p:nvPicPr>
        <p:blipFill>
          <a:blip r:embed="rId4"/>
          <a:stretch>
            <a:fillRect/>
          </a:stretch>
        </p:blipFill>
        <p:spPr>
          <a:xfrm>
            <a:off x="8795514" y="3436302"/>
            <a:ext cx="134549" cy="195707"/>
          </a:xfrm>
          <a:prstGeom prst="rect">
            <a:avLst/>
          </a:prstGeom>
        </p:spPr>
      </p:pic>
      <p:sp>
        <p:nvSpPr>
          <p:cNvPr id="33" name="TextBox 32"/>
          <p:cNvSpPr txBox="1"/>
          <p:nvPr/>
        </p:nvSpPr>
        <p:spPr>
          <a:xfrm>
            <a:off x="8970623"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Multipack Wrapping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Multipack Wrapping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80512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80036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7241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Individually wrapped muffins within an outer pack</a:t>
            </a:r>
          </a:p>
        </p:txBody>
      </p:sp>
      <p:sp>
        <p:nvSpPr>
          <p:cNvPr id="19" name="BPS Value 1"/>
          <p:cNvSpPr txBox="1"/>
          <p:nvPr/>
        </p:nvSpPr>
        <p:spPr>
          <a:xfrm>
            <a:off x="6896100" y="278607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509131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508655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501035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Shared pack without individual wrapping</a:t>
            </a:r>
          </a:p>
        </p:txBody>
      </p:sp>
      <p:sp>
        <p:nvSpPr>
          <p:cNvPr id="23" name="BPS Value 2"/>
          <p:cNvSpPr txBox="1"/>
          <p:nvPr/>
        </p:nvSpPr>
        <p:spPr>
          <a:xfrm>
            <a:off x="6896100" y="507226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Multipack Wrapping</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57650"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gains the most</a:t>
            </a:r>
          </a:p>
        </p:txBody>
      </p:sp>
      <p:sp>
        <p:nvSpPr>
          <p:cNvPr id="31" name="TextBox 30"/>
          <p:cNvSpPr txBox="1"/>
          <p:nvPr/>
        </p:nvSpPr>
        <p:spPr>
          <a:xfrm>
            <a:off x="7829550" y="1575435"/>
            <a:ext cx="509500" cy="194310"/>
          </a:xfrm>
          <a:prstGeom prst="rect">
            <a:avLst/>
          </a:prstGeom>
          <a:noFill/>
        </p:spPr>
        <p:txBody>
          <a:bodyPr wrap="none" lIns="0" rIns="0" tIns="0" bIns="0">
            <a:spAutoFit/>
          </a:bodyPr>
          <a:lstStyle/>
          <a:p>
            <a:r>
              <a:rPr sz="1150" b="0">
                <a:solidFill>
                  <a:srgbClr val="2E2E2E"/>
                </a:solidFill>
                <a:latin typeface="Calibri"/>
              </a:rPr>
              <a:t>share +</a:t>
            </a:r>
          </a:p>
        </p:txBody>
      </p:sp>
      <p:pic>
        <p:nvPicPr>
          <p:cNvPr id="32" name="Picture 31" descr="lock.png"/>
          <p:cNvPicPr>
            <a:picLocks noChangeAspect="1"/>
          </p:cNvPicPr>
          <p:nvPr/>
        </p:nvPicPr>
        <p:blipFill>
          <a:blip r:embed="rId5"/>
          <a:stretch>
            <a:fillRect/>
          </a:stretch>
        </p:blipFill>
        <p:spPr>
          <a:xfrm>
            <a:off x="8288204" y="1565211"/>
            <a:ext cx="134549" cy="195707"/>
          </a:xfrm>
          <a:prstGeom prst="rect">
            <a:avLst/>
          </a:prstGeom>
        </p:spPr>
      </p:pic>
      <p:sp>
        <p:nvSpPr>
          <p:cNvPr id="33" name="TextBox 32"/>
          <p:cNvSpPr txBox="1"/>
          <p:nvPr/>
        </p:nvSpPr>
        <p:spPr>
          <a:xfrm>
            <a:off x="8463313" y="1575435"/>
            <a:ext cx="3126990"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3665549" cy="194310"/>
          </a:xfrm>
          <a:prstGeom prst="rect">
            <a:avLst/>
          </a:prstGeom>
          <a:noFill/>
        </p:spPr>
        <p:txBody>
          <a:bodyPr wrap="none" lIns="0" rIns="0" tIns="0" bIns="0">
            <a:spAutoFit/>
          </a:bodyPr>
          <a:lstStyle/>
          <a:p>
            <a:r>
              <a:rPr sz="1150" b="0">
                <a:solidFill>
                  <a:srgbClr val="2E2E2E"/>
                </a:solidFill>
                <a:latin typeface="Calibri"/>
              </a:rPr>
              <a:t>▪ 'Shared pack without individual wrapping' cedes the most -</a:t>
            </a:r>
          </a:p>
        </p:txBody>
      </p:sp>
      <p:pic>
        <p:nvPicPr>
          <p:cNvPr id="35" name="Picture 34" descr="lock.png"/>
          <p:cNvPicPr>
            <a:picLocks noChangeAspect="1"/>
          </p:cNvPicPr>
          <p:nvPr/>
        </p:nvPicPr>
        <p:blipFill>
          <a:blip r:embed="rId5"/>
          <a:stretch>
            <a:fillRect/>
          </a:stretch>
        </p:blipFill>
        <p:spPr>
          <a:xfrm>
            <a:off x="11444253" y="1793049"/>
            <a:ext cx="134549" cy="195707"/>
          </a:xfrm>
          <a:prstGeom prst="rect">
            <a:avLst/>
          </a:prstGeom>
        </p:spPr>
      </p:pic>
      <p:sp>
        <p:nvSpPr>
          <p:cNvPr id="36" name="TextBox 35"/>
          <p:cNvSpPr txBox="1"/>
          <p:nvPr/>
        </p:nvSpPr>
        <p:spPr>
          <a:xfrm>
            <a:off x="7829550" y="197853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37" name="TextBox 36"/>
          <p:cNvSpPr txBox="1"/>
          <p:nvPr/>
        </p:nvSpPr>
        <p:spPr>
          <a:xfrm>
            <a:off x="7829550" y="2206371"/>
            <a:ext cx="3560291"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is the</a:t>
            </a:r>
          </a:p>
        </p:txBody>
      </p:sp>
      <p:sp>
        <p:nvSpPr>
          <p:cNvPr id="38" name="TextBox 37"/>
          <p:cNvSpPr txBox="1"/>
          <p:nvPr/>
        </p:nvSpPr>
        <p:spPr>
          <a:xfrm>
            <a:off x="7829550" y="2381631"/>
            <a:ext cx="2361654" cy="194310"/>
          </a:xfrm>
          <a:prstGeom prst="rect">
            <a:avLst/>
          </a:prstGeom>
          <a:noFill/>
        </p:spPr>
        <p:txBody>
          <a:bodyPr wrap="none" lIns="0" rIns="0" tIns="0" bIns="0">
            <a:spAutoFit/>
          </a:bodyPr>
          <a:lstStyle/>
          <a:p>
            <a:r>
              <a:rPr sz="1150" b="0">
                <a:solidFill>
                  <a:srgbClr val="2E2E2E"/>
                </a:solidFill>
                <a:latin typeface="Calibri"/>
              </a:rPr>
              <a:t>fastest-growing multipack wrapping at</a:t>
            </a:r>
          </a:p>
        </p:txBody>
      </p:sp>
      <p:pic>
        <p:nvPicPr>
          <p:cNvPr id="39" name="Picture 38" descr="lock.png"/>
          <p:cNvPicPr>
            <a:picLocks noChangeAspect="1"/>
          </p:cNvPicPr>
          <p:nvPr/>
        </p:nvPicPr>
        <p:blipFill>
          <a:blip r:embed="rId5"/>
          <a:stretch>
            <a:fillRect/>
          </a:stretch>
        </p:blipFill>
        <p:spPr>
          <a:xfrm>
            <a:off x="10140358" y="2371407"/>
            <a:ext cx="134549" cy="195707"/>
          </a:xfrm>
          <a:prstGeom prst="rect">
            <a:avLst/>
          </a:prstGeom>
        </p:spPr>
      </p:pic>
      <p:sp>
        <p:nvSpPr>
          <p:cNvPr id="40" name="TextBox 39"/>
          <p:cNvSpPr txBox="1"/>
          <p:nvPr/>
        </p:nvSpPr>
        <p:spPr>
          <a:xfrm>
            <a:off x="10315467"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Multipack Wrapping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Multipack Wrapping,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Multipack Wrapping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Individually wrapped muffins within an outer pack</a:t>
            </a:r>
          </a:p>
        </p:txBody>
      </p:sp>
      <p:sp>
        <p:nvSpPr>
          <p:cNvPr id="33" name="Rectangle 32"/>
          <p:cNvSpPr/>
          <p:nvPr/>
        </p:nvSpPr>
        <p:spPr>
          <a:xfrm>
            <a:off x="1857375" y="2752725"/>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7533838" y="1482090"/>
            <a:ext cx="330041" cy="480060"/>
          </a:xfrm>
          <a:prstGeom prst="rect">
            <a:avLst/>
          </a:prstGeom>
        </p:spPr>
      </p:pic>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Multipack Wrapping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Multipack Wrapping,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Multipack Wrapping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Individually wrapped muffins within an outer pack</a:t>
            </a:r>
          </a:p>
        </p:txBody>
      </p:sp>
      <p:sp>
        <p:nvSpPr>
          <p:cNvPr id="33" name="Rectangle 32"/>
          <p:cNvSpPr/>
          <p:nvPr/>
        </p:nvSpPr>
        <p:spPr>
          <a:xfrm>
            <a:off x="1857375" y="2752725"/>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7533838" y="1482090"/>
            <a:ext cx="330041" cy="480060"/>
          </a:xfrm>
          <a:prstGeom prst="rect">
            <a:avLst/>
          </a:prstGeom>
        </p:spPr>
      </p:pic>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Price Positioning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Price Positioning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Price Positioning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Price Positioning,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Price Positioning segment categorizes the market by price positioning.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Premium</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Mid-range</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Economy / value</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Super-premium / speciality</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Price Positioning split shows how demand is distributed across price positioning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_13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5_57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_660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5_501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7_5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_317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_849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2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_786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3_81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7_9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12764" cy="186689"/>
          </a:xfrm>
          <a:prstGeom prst="rect">
            <a:avLst/>
          </a:prstGeom>
          <a:noFill/>
        </p:spPr>
        <p:txBody>
          <a:bodyPr wrap="none" lIns="0" rIns="0" tIns="0" bIns="0">
            <a:spAutoFit/>
          </a:bodyPr>
          <a:lstStyle/>
          <a:p>
            <a:r>
              <a:rPr sz="1100" b="0">
                <a:solidFill>
                  <a:srgbClr val="2E2E2E"/>
                </a:solidFill>
                <a:latin typeface="Calibri"/>
              </a:rPr>
              <a:t>▪ 'Premium' holds the largest share in 2026</a:t>
            </a:r>
          </a:p>
        </p:txBody>
      </p:sp>
      <p:pic>
        <p:nvPicPr>
          <p:cNvPr id="81" name="Picture 80" descr="lock.png"/>
          <p:cNvPicPr>
            <a:picLocks noChangeAspect="1"/>
          </p:cNvPicPr>
          <p:nvPr/>
        </p:nvPicPr>
        <p:blipFill>
          <a:blip r:embed="rId16"/>
          <a:stretch>
            <a:fillRect/>
          </a:stretch>
        </p:blipFill>
        <p:spPr>
          <a:xfrm>
            <a:off x="2946591" y="4219658"/>
            <a:ext cx="128699" cy="187198"/>
          </a:xfrm>
          <a:prstGeom prst="rect">
            <a:avLst/>
          </a:prstGeom>
        </p:spPr>
      </p:pic>
      <p:sp>
        <p:nvSpPr>
          <p:cNvPr id="82" name="TextBox 81"/>
          <p:cNvSpPr txBox="1"/>
          <p:nvPr/>
        </p:nvSpPr>
        <p:spPr>
          <a:xfrm>
            <a:off x="3114086"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83" name="TextBox 82"/>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84" name="TextBox 83"/>
          <p:cNvSpPr txBox="1"/>
          <p:nvPr/>
        </p:nvSpPr>
        <p:spPr>
          <a:xfrm>
            <a:off x="485775" y="4615009"/>
            <a:ext cx="2099394" cy="186689"/>
          </a:xfrm>
          <a:prstGeom prst="rect">
            <a:avLst/>
          </a:prstGeom>
          <a:noFill/>
        </p:spPr>
        <p:txBody>
          <a:bodyPr wrap="none" lIns="0" rIns="0" tIns="0" bIns="0">
            <a:spAutoFit/>
          </a:bodyPr>
          <a:lstStyle/>
          <a:p>
            <a:r>
              <a:rPr sz="1100" b="0">
                <a:solidFill>
                  <a:srgbClr val="2E2E2E"/>
                </a:solidFill>
                <a:latin typeface="Calibri"/>
              </a:rPr>
              <a:t>▪ 'Super-premium / speciality' is the</a:t>
            </a:r>
          </a:p>
        </p:txBody>
      </p:sp>
      <p:sp>
        <p:nvSpPr>
          <p:cNvPr id="85" name="TextBox 84"/>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86" name="Picture 85" descr="lock.png"/>
          <p:cNvPicPr>
            <a:picLocks noChangeAspect="1"/>
          </p:cNvPicPr>
          <p:nvPr/>
        </p:nvPicPr>
        <p:blipFill>
          <a:blip r:embed="rId16"/>
          <a:stretch>
            <a:fillRect/>
          </a:stretch>
        </p:blipFill>
        <p:spPr>
          <a:xfrm>
            <a:off x="2307026" y="4772870"/>
            <a:ext cx="128699" cy="187198"/>
          </a:xfrm>
          <a:prstGeom prst="rect">
            <a:avLst/>
          </a:prstGeom>
        </p:spPr>
      </p:pic>
      <p:sp>
        <p:nvSpPr>
          <p:cNvPr id="87" name="TextBox 86"/>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88" name="TextBox 87"/>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9" name="TextBox 88"/>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90" name="Picture 89" descr="lock.png"/>
          <p:cNvPicPr>
            <a:picLocks noChangeAspect="1"/>
          </p:cNvPicPr>
          <p:nvPr/>
        </p:nvPicPr>
        <p:blipFill>
          <a:blip r:embed="rId16"/>
          <a:stretch>
            <a:fillRect/>
          </a:stretch>
        </p:blipFill>
        <p:spPr>
          <a:xfrm>
            <a:off x="2240451" y="5158441"/>
            <a:ext cx="128699" cy="187198"/>
          </a:xfrm>
          <a:prstGeom prst="rect">
            <a:avLst/>
          </a:prstGeom>
        </p:spPr>
      </p:pic>
      <p:sp>
        <p:nvSpPr>
          <p:cNvPr id="91" name="TextBox 90"/>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2" name="Picture 91" descr="lock.png"/>
          <p:cNvPicPr>
            <a:picLocks noChangeAspect="1"/>
          </p:cNvPicPr>
          <p:nvPr/>
        </p:nvPicPr>
        <p:blipFill>
          <a:blip r:embed="rId16"/>
          <a:stretch>
            <a:fillRect/>
          </a:stretch>
        </p:blipFill>
        <p:spPr>
          <a:xfrm>
            <a:off x="2552799" y="5158441"/>
            <a:ext cx="128699" cy="187198"/>
          </a:xfrm>
          <a:prstGeom prst="rect">
            <a:avLst/>
          </a:prstGeom>
        </p:spPr>
      </p:pic>
      <p:sp>
        <p:nvSpPr>
          <p:cNvPr id="93" name="TextBox 92"/>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4" name="TextBox 93"/>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5" name="TextBox 94"/>
          <p:cNvSpPr txBox="1"/>
          <p:nvPr/>
        </p:nvSpPr>
        <p:spPr>
          <a:xfrm>
            <a:off x="485775" y="5553793"/>
            <a:ext cx="2771154" cy="186689"/>
          </a:xfrm>
          <a:prstGeom prst="rect">
            <a:avLst/>
          </a:prstGeom>
          <a:noFill/>
        </p:spPr>
        <p:txBody>
          <a:bodyPr wrap="none" lIns="0" rIns="0" tIns="0" bIns="0">
            <a:spAutoFit/>
          </a:bodyPr>
          <a:lstStyle/>
          <a:p>
            <a:r>
              <a:rPr sz="1100" b="0">
                <a:solidFill>
                  <a:srgbClr val="2E2E2E"/>
                </a:solidFill>
                <a:latin typeface="Calibri"/>
              </a:rPr>
              <a:t>▪ 4 sub-segments make up the price positioning</a:t>
            </a:r>
          </a:p>
        </p:txBody>
      </p:sp>
      <p:sp>
        <p:nvSpPr>
          <p:cNvPr id="96" name="TextBox 95"/>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7" name="TextBox 96"/>
          <p:cNvSpPr txBox="1"/>
          <p:nvPr/>
        </p:nvSpPr>
        <p:spPr>
          <a:xfrm>
            <a:off x="3838575" y="4229437"/>
            <a:ext cx="749051" cy="186689"/>
          </a:xfrm>
          <a:prstGeom prst="rect">
            <a:avLst/>
          </a:prstGeom>
          <a:noFill/>
        </p:spPr>
        <p:txBody>
          <a:bodyPr wrap="none" lIns="0" rIns="0" tIns="0" bIns="0">
            <a:spAutoFit/>
          </a:bodyPr>
          <a:lstStyle/>
          <a:p>
            <a:r>
              <a:rPr sz="1100" b="0">
                <a:solidFill>
                  <a:srgbClr val="2E2E2E"/>
                </a:solidFill>
                <a:latin typeface="Calibri"/>
              </a:rPr>
              <a:t>● Premium:</a:t>
            </a:r>
          </a:p>
        </p:txBody>
      </p:sp>
      <p:pic>
        <p:nvPicPr>
          <p:cNvPr id="98" name="Picture 97" descr="lock.png"/>
          <p:cNvPicPr>
            <a:picLocks noChangeAspect="1"/>
          </p:cNvPicPr>
          <p:nvPr/>
        </p:nvPicPr>
        <p:blipFill>
          <a:blip r:embed="rId16"/>
          <a:stretch>
            <a:fillRect/>
          </a:stretch>
        </p:blipFill>
        <p:spPr>
          <a:xfrm>
            <a:off x="4535678" y="4219658"/>
            <a:ext cx="128699" cy="187198"/>
          </a:xfrm>
          <a:prstGeom prst="rect">
            <a:avLst/>
          </a:prstGeom>
        </p:spPr>
      </p:pic>
      <p:sp>
        <p:nvSpPr>
          <p:cNvPr id="99" name="TextBox 98"/>
          <p:cNvSpPr txBox="1"/>
          <p:nvPr/>
        </p:nvSpPr>
        <p:spPr>
          <a:xfrm>
            <a:off x="470317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562624" y="4219658"/>
            <a:ext cx="128699" cy="187198"/>
          </a:xfrm>
          <a:prstGeom prst="rect">
            <a:avLst/>
          </a:prstGeom>
        </p:spPr>
      </p:pic>
      <p:sp>
        <p:nvSpPr>
          <p:cNvPr id="101" name="TextBox 100"/>
          <p:cNvSpPr txBox="1"/>
          <p:nvPr/>
        </p:nvSpPr>
        <p:spPr>
          <a:xfrm>
            <a:off x="573012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821903" cy="186689"/>
          </a:xfrm>
          <a:prstGeom prst="rect">
            <a:avLst/>
          </a:prstGeom>
          <a:noFill/>
        </p:spPr>
        <p:txBody>
          <a:bodyPr wrap="none" lIns="0" rIns="0" tIns="0" bIns="0">
            <a:spAutoFit/>
          </a:bodyPr>
          <a:lstStyle/>
          <a:p>
            <a:r>
              <a:rPr sz="1100" b="0">
                <a:solidFill>
                  <a:srgbClr val="2E2E2E"/>
                </a:solidFill>
                <a:latin typeface="Calibri"/>
              </a:rPr>
              <a:t>● Mid-range:</a:t>
            </a:r>
          </a:p>
        </p:txBody>
      </p:sp>
      <p:pic>
        <p:nvPicPr>
          <p:cNvPr id="103" name="Picture 102" descr="lock.png"/>
          <p:cNvPicPr>
            <a:picLocks noChangeAspect="1"/>
          </p:cNvPicPr>
          <p:nvPr/>
        </p:nvPicPr>
        <p:blipFill>
          <a:blip r:embed="rId16"/>
          <a:stretch>
            <a:fillRect/>
          </a:stretch>
        </p:blipFill>
        <p:spPr>
          <a:xfrm>
            <a:off x="4608529" y="4437590"/>
            <a:ext cx="128699" cy="187198"/>
          </a:xfrm>
          <a:prstGeom prst="rect">
            <a:avLst/>
          </a:prstGeom>
        </p:spPr>
      </p:pic>
      <p:sp>
        <p:nvSpPr>
          <p:cNvPr id="104" name="TextBox 103"/>
          <p:cNvSpPr txBox="1"/>
          <p:nvPr/>
        </p:nvSpPr>
        <p:spPr>
          <a:xfrm>
            <a:off x="477602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635475" y="4437590"/>
            <a:ext cx="128699" cy="187198"/>
          </a:xfrm>
          <a:prstGeom prst="rect">
            <a:avLst/>
          </a:prstGeom>
        </p:spPr>
      </p:pic>
      <p:sp>
        <p:nvSpPr>
          <p:cNvPr id="106" name="TextBox 105"/>
          <p:cNvSpPr txBox="1"/>
          <p:nvPr/>
        </p:nvSpPr>
        <p:spPr>
          <a:xfrm>
            <a:off x="5802971"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174943" cy="186689"/>
          </a:xfrm>
          <a:prstGeom prst="rect">
            <a:avLst/>
          </a:prstGeom>
          <a:noFill/>
        </p:spPr>
        <p:txBody>
          <a:bodyPr wrap="none" lIns="0" rIns="0" tIns="0" bIns="0">
            <a:spAutoFit/>
          </a:bodyPr>
          <a:lstStyle/>
          <a:p>
            <a:r>
              <a:rPr sz="1100" b="0">
                <a:solidFill>
                  <a:srgbClr val="2E2E2E"/>
                </a:solidFill>
                <a:latin typeface="Calibri"/>
              </a:rPr>
              <a:t>● Economy / value:</a:t>
            </a:r>
          </a:p>
        </p:txBody>
      </p:sp>
      <p:pic>
        <p:nvPicPr>
          <p:cNvPr id="108" name="Picture 107" descr="lock.png"/>
          <p:cNvPicPr>
            <a:picLocks noChangeAspect="1"/>
          </p:cNvPicPr>
          <p:nvPr/>
        </p:nvPicPr>
        <p:blipFill>
          <a:blip r:embed="rId16"/>
          <a:stretch>
            <a:fillRect/>
          </a:stretch>
        </p:blipFill>
        <p:spPr>
          <a:xfrm>
            <a:off x="4961569" y="4655522"/>
            <a:ext cx="128699" cy="187198"/>
          </a:xfrm>
          <a:prstGeom prst="rect">
            <a:avLst/>
          </a:prstGeom>
        </p:spPr>
      </p:pic>
      <p:sp>
        <p:nvSpPr>
          <p:cNvPr id="109" name="TextBox 108"/>
          <p:cNvSpPr txBox="1"/>
          <p:nvPr/>
        </p:nvSpPr>
        <p:spPr>
          <a:xfrm>
            <a:off x="5129065"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5988516" y="4655522"/>
            <a:ext cx="128699" cy="187198"/>
          </a:xfrm>
          <a:prstGeom prst="rect">
            <a:avLst/>
          </a:prstGeom>
        </p:spPr>
      </p:pic>
      <p:sp>
        <p:nvSpPr>
          <p:cNvPr id="111" name="TextBox 110"/>
          <p:cNvSpPr txBox="1"/>
          <p:nvPr/>
        </p:nvSpPr>
        <p:spPr>
          <a:xfrm>
            <a:off x="6156011"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770062" cy="186689"/>
          </a:xfrm>
          <a:prstGeom prst="rect">
            <a:avLst/>
          </a:prstGeom>
          <a:noFill/>
        </p:spPr>
        <p:txBody>
          <a:bodyPr wrap="none" lIns="0" rIns="0" tIns="0" bIns="0">
            <a:spAutoFit/>
          </a:bodyPr>
          <a:lstStyle/>
          <a:p>
            <a:r>
              <a:rPr sz="1100" b="0">
                <a:solidFill>
                  <a:srgbClr val="2E2E2E"/>
                </a:solidFill>
                <a:latin typeface="Calibri"/>
              </a:rPr>
              <a:t>● Super-premium / speciality:</a:t>
            </a:r>
          </a:p>
        </p:txBody>
      </p:sp>
      <p:pic>
        <p:nvPicPr>
          <p:cNvPr id="113" name="Picture 112" descr="lock.png"/>
          <p:cNvPicPr>
            <a:picLocks noChangeAspect="1"/>
          </p:cNvPicPr>
          <p:nvPr/>
        </p:nvPicPr>
        <p:blipFill>
          <a:blip r:embed="rId16"/>
          <a:stretch>
            <a:fillRect/>
          </a:stretch>
        </p:blipFill>
        <p:spPr>
          <a:xfrm>
            <a:off x="5556689" y="4873454"/>
            <a:ext cx="128699" cy="187198"/>
          </a:xfrm>
          <a:prstGeom prst="rect">
            <a:avLst/>
          </a:prstGeom>
        </p:spPr>
      </p:pic>
      <p:sp>
        <p:nvSpPr>
          <p:cNvPr id="114" name="TextBox 113"/>
          <p:cNvSpPr txBox="1"/>
          <p:nvPr/>
        </p:nvSpPr>
        <p:spPr>
          <a:xfrm>
            <a:off x="572418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583635" y="4873454"/>
            <a:ext cx="128699" cy="187198"/>
          </a:xfrm>
          <a:prstGeom prst="rect">
            <a:avLst/>
          </a:prstGeom>
        </p:spPr>
      </p:pic>
      <p:sp>
        <p:nvSpPr>
          <p:cNvPr id="116" name="TextBox 115"/>
          <p:cNvSpPr txBox="1"/>
          <p:nvPr/>
        </p:nvSpPr>
        <p:spPr>
          <a:xfrm>
            <a:off x="6751130"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8" name="TextBox 117"/>
          <p:cNvSpPr txBox="1"/>
          <p:nvPr/>
        </p:nvSpPr>
        <p:spPr>
          <a:xfrm>
            <a:off x="8524875" y="5842641"/>
            <a:ext cx="3148955" cy="194310"/>
          </a:xfrm>
          <a:prstGeom prst="rect">
            <a:avLst/>
          </a:prstGeom>
          <a:noFill/>
        </p:spPr>
        <p:txBody>
          <a:bodyPr wrap="none" lIns="0" rIns="0" tIns="0" bIns="0">
            <a:spAutoFit/>
          </a:bodyPr>
          <a:lstStyle/>
          <a:p>
            <a:r>
              <a:rPr sz="1150" b="1">
                <a:solidFill>
                  <a:srgbClr val="0B2E4A"/>
                </a:solidFill>
                <a:latin typeface="Calibri"/>
              </a:rPr>
              <a:t>The Price Positioning segment is projected to grow</a:t>
            </a:r>
          </a:p>
        </p:txBody>
      </p:sp>
      <p:sp>
        <p:nvSpPr>
          <p:cNvPr id="119" name="TextBox 118"/>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20" name="Picture 119" descr="lock.png"/>
          <p:cNvPicPr>
            <a:picLocks noChangeAspect="1"/>
          </p:cNvPicPr>
          <p:nvPr/>
        </p:nvPicPr>
        <p:blipFill>
          <a:blip r:embed="rId16"/>
          <a:stretch>
            <a:fillRect/>
          </a:stretch>
        </p:blipFill>
        <p:spPr>
          <a:xfrm>
            <a:off x="9310118" y="6007677"/>
            <a:ext cx="134549" cy="195707"/>
          </a:xfrm>
          <a:prstGeom prst="rect">
            <a:avLst/>
          </a:prstGeom>
        </p:spPr>
      </p:pic>
      <p:sp>
        <p:nvSpPr>
          <p:cNvPr id="121" name="TextBox 120"/>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Price Positioning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Price Positioning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Price Positioning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726682" cy="186689"/>
          </a:xfrm>
          <a:prstGeom prst="rect">
            <a:avLst/>
          </a:prstGeom>
          <a:noFill/>
        </p:spPr>
        <p:txBody>
          <a:bodyPr wrap="none" lIns="0" rIns="0" tIns="0" bIns="0">
            <a:spAutoFit/>
          </a:bodyPr>
          <a:lstStyle/>
          <a:p>
            <a:r>
              <a:rPr sz="1100" b="0">
                <a:solidFill>
                  <a:srgbClr val="2E2E2E"/>
                </a:solidFill>
                <a:latin typeface="Calibri"/>
              </a:rPr>
              <a:t>Between 2026 and 2036, 'Mid-range' gains the most share in the Global market (+</a:t>
            </a:r>
          </a:p>
        </p:txBody>
      </p:sp>
      <p:pic>
        <p:nvPicPr>
          <p:cNvPr id="21" name="Picture 20" descr="lock.png"/>
          <p:cNvPicPr>
            <a:picLocks noChangeAspect="1"/>
          </p:cNvPicPr>
          <p:nvPr/>
        </p:nvPicPr>
        <p:blipFill>
          <a:blip r:embed="rId6"/>
          <a:stretch>
            <a:fillRect/>
          </a:stretch>
        </p:blipFill>
        <p:spPr>
          <a:xfrm>
            <a:off x="4931908" y="5935726"/>
            <a:ext cx="128699" cy="187198"/>
          </a:xfrm>
          <a:prstGeom prst="rect">
            <a:avLst/>
          </a:prstGeom>
        </p:spPr>
      </p:pic>
      <p:sp>
        <p:nvSpPr>
          <p:cNvPr id="22" name="TextBox 21"/>
          <p:cNvSpPr txBox="1"/>
          <p:nvPr/>
        </p:nvSpPr>
        <p:spPr>
          <a:xfrm>
            <a:off x="5099404" y="5945505"/>
            <a:ext cx="1640730" cy="186689"/>
          </a:xfrm>
          <a:prstGeom prst="rect">
            <a:avLst/>
          </a:prstGeom>
          <a:noFill/>
        </p:spPr>
        <p:txBody>
          <a:bodyPr wrap="none" lIns="0" rIns="0" tIns="0" bIns="0">
            <a:spAutoFit/>
          </a:bodyPr>
          <a:lstStyle/>
          <a:p>
            <a:r>
              <a:rPr sz="1100" b="0">
                <a:solidFill>
                  <a:srgbClr val="2E2E2E"/>
                </a:solidFill>
                <a:latin typeface="Calibri"/>
              </a:rPr>
              <a:t>BPS) while 'Premium' cedes</a:t>
            </a:r>
          </a:p>
        </p:txBody>
      </p:sp>
      <p:pic>
        <p:nvPicPr>
          <p:cNvPr id="23" name="Picture 22" descr="lock.png"/>
          <p:cNvPicPr>
            <a:picLocks noChangeAspect="1"/>
          </p:cNvPicPr>
          <p:nvPr/>
        </p:nvPicPr>
        <p:blipFill>
          <a:blip r:embed="rId6"/>
          <a:stretch>
            <a:fillRect/>
          </a:stretch>
        </p:blipFill>
        <p:spPr>
          <a:xfrm>
            <a:off x="6688186" y="5935726"/>
            <a:ext cx="128699" cy="187198"/>
          </a:xfrm>
          <a:prstGeom prst="rect">
            <a:avLst/>
          </a:prstGeom>
        </p:spPr>
      </p:pic>
      <p:sp>
        <p:nvSpPr>
          <p:cNvPr id="24" name="TextBox 23"/>
          <p:cNvSpPr txBox="1"/>
          <p:nvPr/>
        </p:nvSpPr>
        <p:spPr>
          <a:xfrm>
            <a:off x="6855682"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Price Positioning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Economy / value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Mid-range</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Premium</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Super-premium / speciality</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Price Positioning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Price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Price Positioning (MT)</a:t>
            </a:r>
          </a:p>
        </p:txBody>
      </p:sp>
      <p:graphicFrame>
        <p:nvGraphicFramePr>
          <p:cNvPr id="13" name="Table 12"/>
          <p:cNvGraphicFramePr>
            <a:graphicFrameLocks noGrp="1"/>
          </p:cNvGraphicFramePr>
          <p:nvPr/>
        </p:nvGraphicFramePr>
        <p:xfrm>
          <a:off x="152400" y="1238250"/>
          <a:ext cx="11887208" cy="18668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Price Positioning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Economy / value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Mid-range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Premium</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Super-premium /</a:t>
                      </a:r>
                      <a:endParaRPr sz="1100"/>
                    </a:p>
                    <a:p>
                      <a:pPr algn="l"/>
                      <a:r>
                        <a:rPr sz="1100" b="1">
                          <a:solidFill>
                            <a:srgbClr val="2E2E2E"/>
                          </a:solidFill>
                          <a:latin typeface="Calibri"/>
                        </a:rPr>
                        <a:t>speciality</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Price Positioning</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24454"/>
            <a:ext cx="366712" cy="533399"/>
          </a:xfrm>
          <a:prstGeom prst="rect">
            <a:avLst/>
          </a:prstGeom>
        </p:spPr>
      </p:pic>
      <p:sp>
        <p:nvSpPr>
          <p:cNvPr id="21" name="TextBox 20"/>
          <p:cNvSpPr txBox="1"/>
          <p:nvPr/>
        </p:nvSpPr>
        <p:spPr>
          <a:xfrm>
            <a:off x="276225" y="3867150"/>
            <a:ext cx="2809788" cy="194310"/>
          </a:xfrm>
          <a:prstGeom prst="rect">
            <a:avLst/>
          </a:prstGeom>
          <a:noFill/>
        </p:spPr>
        <p:txBody>
          <a:bodyPr wrap="none" lIns="0" rIns="0" tIns="0" bIns="0">
            <a:spAutoFit/>
          </a:bodyPr>
          <a:lstStyle/>
          <a:p>
            <a:r>
              <a:rPr sz="1150" b="0">
                <a:solidFill>
                  <a:srgbClr val="2E2E2E"/>
                </a:solidFill>
                <a:latin typeface="Calibri"/>
              </a:rPr>
              <a:t>▪ 'Mid-range' is the largest price positioning at</a:t>
            </a:r>
          </a:p>
        </p:txBody>
      </p:sp>
      <p:pic>
        <p:nvPicPr>
          <p:cNvPr id="22" name="Picture 21" descr="lock.png"/>
          <p:cNvPicPr>
            <a:picLocks noChangeAspect="1"/>
          </p:cNvPicPr>
          <p:nvPr/>
        </p:nvPicPr>
        <p:blipFill>
          <a:blip r:embed="rId4"/>
          <a:stretch>
            <a:fillRect/>
          </a:stretch>
        </p:blipFill>
        <p:spPr>
          <a:xfrm>
            <a:off x="3035167" y="3856926"/>
            <a:ext cx="134549" cy="195707"/>
          </a:xfrm>
          <a:prstGeom prst="rect">
            <a:avLst/>
          </a:prstGeom>
        </p:spPr>
      </p:pic>
      <p:sp>
        <p:nvSpPr>
          <p:cNvPr id="23" name="TextBox 22"/>
          <p:cNvSpPr txBox="1"/>
          <p:nvPr/>
        </p:nvSpPr>
        <p:spPr>
          <a:xfrm>
            <a:off x="3210276" y="3867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240009" y="3856926"/>
            <a:ext cx="134549" cy="195707"/>
          </a:xfrm>
          <a:prstGeom prst="rect">
            <a:avLst/>
          </a:prstGeom>
        </p:spPr>
      </p:pic>
      <p:sp>
        <p:nvSpPr>
          <p:cNvPr id="25" name="TextBox 24"/>
          <p:cNvSpPr txBox="1"/>
          <p:nvPr/>
        </p:nvSpPr>
        <p:spPr>
          <a:xfrm>
            <a:off x="4415118" y="3867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094987"/>
            <a:ext cx="2659744" cy="194310"/>
          </a:xfrm>
          <a:prstGeom prst="rect">
            <a:avLst/>
          </a:prstGeom>
          <a:noFill/>
        </p:spPr>
        <p:txBody>
          <a:bodyPr wrap="none" lIns="0" rIns="0" tIns="0" bIns="0">
            <a:spAutoFit/>
          </a:bodyPr>
          <a:lstStyle/>
          <a:p>
            <a:r>
              <a:rPr sz="1150" b="0">
                <a:solidFill>
                  <a:srgbClr val="2E2E2E"/>
                </a:solidFill>
                <a:latin typeface="Calibri"/>
              </a:rPr>
              <a:t>▪ 'Super-premium / speciality' grows fastest</a:t>
            </a:r>
          </a:p>
        </p:txBody>
      </p:sp>
      <p:pic>
        <p:nvPicPr>
          <p:cNvPr id="27" name="Picture 26" descr="lock.png"/>
          <p:cNvPicPr>
            <a:picLocks noChangeAspect="1"/>
          </p:cNvPicPr>
          <p:nvPr/>
        </p:nvPicPr>
        <p:blipFill>
          <a:blip r:embed="rId4"/>
          <a:stretch>
            <a:fillRect/>
          </a:stretch>
        </p:blipFill>
        <p:spPr>
          <a:xfrm>
            <a:off x="2885123" y="4084764"/>
            <a:ext cx="134549" cy="195707"/>
          </a:xfrm>
          <a:prstGeom prst="rect">
            <a:avLst/>
          </a:prstGeom>
        </p:spPr>
      </p:pic>
      <p:sp>
        <p:nvSpPr>
          <p:cNvPr id="28" name="TextBox 27"/>
          <p:cNvSpPr txBox="1"/>
          <p:nvPr/>
        </p:nvSpPr>
        <p:spPr>
          <a:xfrm>
            <a:off x="3060232" y="4094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322825"/>
            <a:ext cx="2177665" cy="194310"/>
          </a:xfrm>
          <a:prstGeom prst="rect">
            <a:avLst/>
          </a:prstGeom>
          <a:noFill/>
        </p:spPr>
        <p:txBody>
          <a:bodyPr wrap="none" lIns="0" rIns="0" tIns="0" bIns="0">
            <a:spAutoFit/>
          </a:bodyPr>
          <a:lstStyle/>
          <a:p>
            <a:r>
              <a:rPr sz="1150" b="0">
                <a:solidFill>
                  <a:srgbClr val="2E2E2E"/>
                </a:solidFill>
                <a:latin typeface="Calibri"/>
              </a:rPr>
              <a:t>▪ Share shifts toward 'Mid-range' (+</a:t>
            </a:r>
          </a:p>
        </p:txBody>
      </p:sp>
      <p:pic>
        <p:nvPicPr>
          <p:cNvPr id="30" name="Picture 29" descr="lock.png"/>
          <p:cNvPicPr>
            <a:picLocks noChangeAspect="1"/>
          </p:cNvPicPr>
          <p:nvPr/>
        </p:nvPicPr>
        <p:blipFill>
          <a:blip r:embed="rId4"/>
          <a:stretch>
            <a:fillRect/>
          </a:stretch>
        </p:blipFill>
        <p:spPr>
          <a:xfrm>
            <a:off x="2403044" y="4312602"/>
            <a:ext cx="134549" cy="195707"/>
          </a:xfrm>
          <a:prstGeom prst="rect">
            <a:avLst/>
          </a:prstGeom>
        </p:spPr>
      </p:pic>
      <p:sp>
        <p:nvSpPr>
          <p:cNvPr id="31" name="TextBox 30"/>
          <p:cNvSpPr txBox="1"/>
          <p:nvPr/>
        </p:nvSpPr>
        <p:spPr>
          <a:xfrm>
            <a:off x="2578153" y="4322825"/>
            <a:ext cx="2027621" cy="194310"/>
          </a:xfrm>
          <a:prstGeom prst="rect">
            <a:avLst/>
          </a:prstGeom>
          <a:noFill/>
        </p:spPr>
        <p:txBody>
          <a:bodyPr wrap="none" lIns="0" rIns="0" tIns="0" bIns="0">
            <a:spAutoFit/>
          </a:bodyPr>
          <a:lstStyle/>
          <a:p>
            <a:r>
              <a:rPr sz="1150" b="0">
                <a:solidFill>
                  <a:srgbClr val="2E2E2E"/>
                </a:solidFill>
                <a:latin typeface="Calibri"/>
              </a:rPr>
              <a:t>BPS) and away from 'Premium' (-</a:t>
            </a:r>
          </a:p>
        </p:txBody>
      </p:sp>
      <p:pic>
        <p:nvPicPr>
          <p:cNvPr id="32" name="Picture 31" descr="lock.png"/>
          <p:cNvPicPr>
            <a:picLocks noChangeAspect="1"/>
          </p:cNvPicPr>
          <p:nvPr/>
        </p:nvPicPr>
        <p:blipFill>
          <a:blip r:embed="rId4"/>
          <a:stretch>
            <a:fillRect/>
          </a:stretch>
        </p:blipFill>
        <p:spPr>
          <a:xfrm>
            <a:off x="4554929" y="4312602"/>
            <a:ext cx="134549" cy="195707"/>
          </a:xfrm>
          <a:prstGeom prst="rect">
            <a:avLst/>
          </a:prstGeom>
        </p:spPr>
      </p:pic>
      <p:sp>
        <p:nvSpPr>
          <p:cNvPr id="33" name="TextBox 32"/>
          <p:cNvSpPr txBox="1"/>
          <p:nvPr/>
        </p:nvSpPr>
        <p:spPr>
          <a:xfrm>
            <a:off x="4730038" y="4322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550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540440"/>
            <a:ext cx="134549" cy="195707"/>
          </a:xfrm>
          <a:prstGeom prst="rect">
            <a:avLst/>
          </a:prstGeom>
        </p:spPr>
      </p:pic>
      <p:sp>
        <p:nvSpPr>
          <p:cNvPr id="36" name="TextBox 35"/>
          <p:cNvSpPr txBox="1"/>
          <p:nvPr/>
        </p:nvSpPr>
        <p:spPr>
          <a:xfrm>
            <a:off x="1965143" y="4550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540440"/>
            <a:ext cx="134549" cy="195707"/>
          </a:xfrm>
          <a:prstGeom prst="rect">
            <a:avLst/>
          </a:prstGeom>
        </p:spPr>
      </p:pic>
      <p:sp>
        <p:nvSpPr>
          <p:cNvPr id="38" name="TextBox 37"/>
          <p:cNvSpPr txBox="1"/>
          <p:nvPr/>
        </p:nvSpPr>
        <p:spPr>
          <a:xfrm>
            <a:off x="2291688" y="4550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Price Positioning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Price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Price Positioning (US$ Mn)</a:t>
            </a:r>
          </a:p>
        </p:txBody>
      </p:sp>
      <p:graphicFrame>
        <p:nvGraphicFramePr>
          <p:cNvPr id="13" name="Table 12"/>
          <p:cNvGraphicFramePr>
            <a:graphicFrameLocks noGrp="1"/>
          </p:cNvGraphicFramePr>
          <p:nvPr/>
        </p:nvGraphicFramePr>
        <p:xfrm>
          <a:off x="152400" y="1238250"/>
          <a:ext cx="11887199" cy="1485896"/>
        </p:xfrm>
        <a:graphic>
          <a:graphicData uri="http://schemas.openxmlformats.org/drawingml/2006/table">
            <a:tbl>
              <a:tblPr>
                <a:tableStyleId>{5C22544A-7EE6-4342-B048-85BDC9FD1C3A}</a:tableStyleId>
              </a:tblPr>
              <a:tblGrid>
                <a:gridCol w="1855550"/>
                <a:gridCol w="590097"/>
                <a:gridCol w="590097"/>
                <a:gridCol w="590097"/>
                <a:gridCol w="590097"/>
                <a:gridCol w="590097"/>
                <a:gridCol w="590097"/>
                <a:gridCol w="590097"/>
                <a:gridCol w="590097"/>
                <a:gridCol w="590097"/>
                <a:gridCol w="590097"/>
                <a:gridCol w="590097"/>
                <a:gridCol w="590097"/>
                <a:gridCol w="590097"/>
                <a:gridCol w="590097"/>
                <a:gridCol w="590097"/>
                <a:gridCol w="590097"/>
                <a:gridCol w="590097"/>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Price Positioning</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37084" y="1837563"/>
            <a:ext cx="366712" cy="533400"/>
          </a:xfrm>
          <a:prstGeom prst="rect">
            <a:avLst/>
          </a:prstGeom>
        </p:spPr>
      </p:pic>
      <p:sp>
        <p:nvSpPr>
          <p:cNvPr id="21" name="TextBox 20"/>
          <p:cNvSpPr txBox="1"/>
          <p:nvPr/>
        </p:nvSpPr>
        <p:spPr>
          <a:xfrm>
            <a:off x="276225" y="3486150"/>
            <a:ext cx="2733625" cy="194310"/>
          </a:xfrm>
          <a:prstGeom prst="rect">
            <a:avLst/>
          </a:prstGeom>
          <a:noFill/>
        </p:spPr>
        <p:txBody>
          <a:bodyPr wrap="none" lIns="0" rIns="0" tIns="0" bIns="0">
            <a:spAutoFit/>
          </a:bodyPr>
          <a:lstStyle/>
          <a:p>
            <a:r>
              <a:rPr sz="1150" b="0">
                <a:solidFill>
                  <a:srgbClr val="2E2E2E"/>
                </a:solidFill>
                <a:latin typeface="Calibri"/>
              </a:rPr>
              <a:t>▪ 'Premium' is the largest price positioning at</a:t>
            </a:r>
          </a:p>
        </p:txBody>
      </p:sp>
      <p:pic>
        <p:nvPicPr>
          <p:cNvPr id="22" name="Picture 21" descr="lock.png"/>
          <p:cNvPicPr>
            <a:picLocks noChangeAspect="1"/>
          </p:cNvPicPr>
          <p:nvPr/>
        </p:nvPicPr>
        <p:blipFill>
          <a:blip r:embed="rId4"/>
          <a:stretch>
            <a:fillRect/>
          </a:stretch>
        </p:blipFill>
        <p:spPr>
          <a:xfrm>
            <a:off x="2959004" y="3475926"/>
            <a:ext cx="134549" cy="195707"/>
          </a:xfrm>
          <a:prstGeom prst="rect">
            <a:avLst/>
          </a:prstGeom>
        </p:spPr>
      </p:pic>
      <p:sp>
        <p:nvSpPr>
          <p:cNvPr id="23" name="TextBox 22"/>
          <p:cNvSpPr txBox="1"/>
          <p:nvPr/>
        </p:nvSpPr>
        <p:spPr>
          <a:xfrm>
            <a:off x="3134113"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040046" y="3475926"/>
            <a:ext cx="134549" cy="195707"/>
          </a:xfrm>
          <a:prstGeom prst="rect">
            <a:avLst/>
          </a:prstGeom>
        </p:spPr>
      </p:pic>
      <p:sp>
        <p:nvSpPr>
          <p:cNvPr id="25" name="TextBox 24"/>
          <p:cNvSpPr txBox="1"/>
          <p:nvPr/>
        </p:nvSpPr>
        <p:spPr>
          <a:xfrm>
            <a:off x="4215155"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659744" cy="194310"/>
          </a:xfrm>
          <a:prstGeom prst="rect">
            <a:avLst/>
          </a:prstGeom>
          <a:noFill/>
        </p:spPr>
        <p:txBody>
          <a:bodyPr wrap="none" lIns="0" rIns="0" tIns="0" bIns="0">
            <a:spAutoFit/>
          </a:bodyPr>
          <a:lstStyle/>
          <a:p>
            <a:r>
              <a:rPr sz="1150" b="0">
                <a:solidFill>
                  <a:srgbClr val="2E2E2E"/>
                </a:solidFill>
                <a:latin typeface="Calibri"/>
              </a:rPr>
              <a:t>▪ 'Super-premium / speciality' grows fastest</a:t>
            </a:r>
          </a:p>
        </p:txBody>
      </p:sp>
      <p:pic>
        <p:nvPicPr>
          <p:cNvPr id="27" name="Picture 26" descr="lock.png"/>
          <p:cNvPicPr>
            <a:picLocks noChangeAspect="1"/>
          </p:cNvPicPr>
          <p:nvPr/>
        </p:nvPicPr>
        <p:blipFill>
          <a:blip r:embed="rId4"/>
          <a:stretch>
            <a:fillRect/>
          </a:stretch>
        </p:blipFill>
        <p:spPr>
          <a:xfrm>
            <a:off x="2885123" y="3703764"/>
            <a:ext cx="134549" cy="195707"/>
          </a:xfrm>
          <a:prstGeom prst="rect">
            <a:avLst/>
          </a:prstGeom>
        </p:spPr>
      </p:pic>
      <p:sp>
        <p:nvSpPr>
          <p:cNvPr id="28" name="TextBox 27"/>
          <p:cNvSpPr txBox="1"/>
          <p:nvPr/>
        </p:nvSpPr>
        <p:spPr>
          <a:xfrm>
            <a:off x="3060232"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177665" cy="194310"/>
          </a:xfrm>
          <a:prstGeom prst="rect">
            <a:avLst/>
          </a:prstGeom>
          <a:noFill/>
        </p:spPr>
        <p:txBody>
          <a:bodyPr wrap="none" lIns="0" rIns="0" tIns="0" bIns="0">
            <a:spAutoFit/>
          </a:bodyPr>
          <a:lstStyle/>
          <a:p>
            <a:r>
              <a:rPr sz="1150" b="0">
                <a:solidFill>
                  <a:srgbClr val="2E2E2E"/>
                </a:solidFill>
                <a:latin typeface="Calibri"/>
              </a:rPr>
              <a:t>▪ Share shifts toward 'Mid-range' (+</a:t>
            </a:r>
          </a:p>
        </p:txBody>
      </p:sp>
      <p:pic>
        <p:nvPicPr>
          <p:cNvPr id="30" name="Picture 29" descr="lock.png"/>
          <p:cNvPicPr>
            <a:picLocks noChangeAspect="1"/>
          </p:cNvPicPr>
          <p:nvPr/>
        </p:nvPicPr>
        <p:blipFill>
          <a:blip r:embed="rId4"/>
          <a:stretch>
            <a:fillRect/>
          </a:stretch>
        </p:blipFill>
        <p:spPr>
          <a:xfrm>
            <a:off x="2403044" y="3931602"/>
            <a:ext cx="134549" cy="195707"/>
          </a:xfrm>
          <a:prstGeom prst="rect">
            <a:avLst/>
          </a:prstGeom>
        </p:spPr>
      </p:pic>
      <p:sp>
        <p:nvSpPr>
          <p:cNvPr id="31" name="TextBox 30"/>
          <p:cNvSpPr txBox="1"/>
          <p:nvPr/>
        </p:nvSpPr>
        <p:spPr>
          <a:xfrm>
            <a:off x="2578153" y="3941825"/>
            <a:ext cx="2027621" cy="194310"/>
          </a:xfrm>
          <a:prstGeom prst="rect">
            <a:avLst/>
          </a:prstGeom>
          <a:noFill/>
        </p:spPr>
        <p:txBody>
          <a:bodyPr wrap="none" lIns="0" rIns="0" tIns="0" bIns="0">
            <a:spAutoFit/>
          </a:bodyPr>
          <a:lstStyle/>
          <a:p>
            <a:r>
              <a:rPr sz="1150" b="0">
                <a:solidFill>
                  <a:srgbClr val="2E2E2E"/>
                </a:solidFill>
                <a:latin typeface="Calibri"/>
              </a:rPr>
              <a:t>BPS) and away from 'Premium' (-</a:t>
            </a:r>
          </a:p>
        </p:txBody>
      </p:sp>
      <p:pic>
        <p:nvPicPr>
          <p:cNvPr id="32" name="Picture 31" descr="lock.png"/>
          <p:cNvPicPr>
            <a:picLocks noChangeAspect="1"/>
          </p:cNvPicPr>
          <p:nvPr/>
        </p:nvPicPr>
        <p:blipFill>
          <a:blip r:embed="rId4"/>
          <a:stretch>
            <a:fillRect/>
          </a:stretch>
        </p:blipFill>
        <p:spPr>
          <a:xfrm>
            <a:off x="4554929" y="3931602"/>
            <a:ext cx="134549" cy="195707"/>
          </a:xfrm>
          <a:prstGeom prst="rect">
            <a:avLst/>
          </a:prstGeom>
        </p:spPr>
      </p:pic>
      <p:sp>
        <p:nvSpPr>
          <p:cNvPr id="33" name="TextBox 32"/>
          <p:cNvSpPr txBox="1"/>
          <p:nvPr/>
        </p:nvSpPr>
        <p:spPr>
          <a:xfrm>
            <a:off x="4730038"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Price Positioning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Price Positioning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829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35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73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Economy / value</a:t>
            </a:r>
          </a:p>
        </p:txBody>
      </p:sp>
      <p:sp>
        <p:nvSpPr>
          <p:cNvPr id="19" name="BPS Value 1"/>
          <p:cNvSpPr txBox="1"/>
          <p:nvPr/>
        </p:nvSpPr>
        <p:spPr>
          <a:xfrm>
            <a:off x="6896100" y="201924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9740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926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164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Super-premium / speciality</a:t>
            </a:r>
          </a:p>
        </p:txBody>
      </p:sp>
      <p:sp>
        <p:nvSpPr>
          <p:cNvPr id="23" name="BPS Value 2"/>
          <p:cNvSpPr txBox="1"/>
          <p:nvPr/>
        </p:nvSpPr>
        <p:spPr>
          <a:xfrm>
            <a:off x="6896100" y="287835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09822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09345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01725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Mid-range</a:t>
            </a:r>
          </a:p>
        </p:txBody>
      </p:sp>
      <p:sp>
        <p:nvSpPr>
          <p:cNvPr id="27" name="BPS Value 3"/>
          <p:cNvSpPr txBox="1"/>
          <p:nvPr/>
        </p:nvSpPr>
        <p:spPr>
          <a:xfrm>
            <a:off x="6896100" y="407917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52530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205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443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Premium</a:t>
            </a:r>
          </a:p>
        </p:txBody>
      </p:sp>
      <p:sp>
        <p:nvSpPr>
          <p:cNvPr id="31" name="BPS Value 4"/>
          <p:cNvSpPr txBox="1"/>
          <p:nvPr/>
        </p:nvSpPr>
        <p:spPr>
          <a:xfrm>
            <a:off x="6896100" y="550625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Price Positioning</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214748" cy="194310"/>
          </a:xfrm>
          <a:prstGeom prst="rect">
            <a:avLst/>
          </a:prstGeom>
          <a:noFill/>
        </p:spPr>
        <p:txBody>
          <a:bodyPr wrap="none" lIns="0" rIns="0" tIns="0" bIns="0">
            <a:spAutoFit/>
          </a:bodyPr>
          <a:lstStyle/>
          <a:p>
            <a:r>
              <a:rPr sz="1150" b="0">
                <a:solidFill>
                  <a:srgbClr val="2E2E2E"/>
                </a:solidFill>
                <a:latin typeface="Calibri"/>
              </a:rPr>
              <a:t>▪ 'Mid-range' gains the most share +</a:t>
            </a:r>
          </a:p>
        </p:txBody>
      </p:sp>
      <p:pic>
        <p:nvPicPr>
          <p:cNvPr id="39" name="Picture 38" descr="lock.png"/>
          <p:cNvPicPr>
            <a:picLocks noChangeAspect="1"/>
          </p:cNvPicPr>
          <p:nvPr/>
        </p:nvPicPr>
        <p:blipFill>
          <a:blip r:embed="rId5"/>
          <a:stretch>
            <a:fillRect/>
          </a:stretch>
        </p:blipFill>
        <p:spPr>
          <a:xfrm>
            <a:off x="9993452" y="1389951"/>
            <a:ext cx="134549" cy="195707"/>
          </a:xfrm>
          <a:prstGeom prst="rect">
            <a:avLst/>
          </a:prstGeom>
        </p:spPr>
      </p:pic>
      <p:sp>
        <p:nvSpPr>
          <p:cNvPr id="40" name="TextBox 39"/>
          <p:cNvSpPr txBox="1"/>
          <p:nvPr/>
        </p:nvSpPr>
        <p:spPr>
          <a:xfrm>
            <a:off x="10168561"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1785156" cy="194310"/>
          </a:xfrm>
          <a:prstGeom prst="rect">
            <a:avLst/>
          </a:prstGeom>
          <a:noFill/>
        </p:spPr>
        <p:txBody>
          <a:bodyPr wrap="none" lIns="0" rIns="0" tIns="0" bIns="0">
            <a:spAutoFit/>
          </a:bodyPr>
          <a:lstStyle/>
          <a:p>
            <a:r>
              <a:rPr sz="1150" b="0">
                <a:solidFill>
                  <a:srgbClr val="2E2E2E"/>
                </a:solidFill>
                <a:latin typeface="Calibri"/>
              </a:rPr>
              <a:t>▪ 'Premium' cedes the most -</a:t>
            </a:r>
          </a:p>
        </p:txBody>
      </p:sp>
      <p:pic>
        <p:nvPicPr>
          <p:cNvPr id="43" name="Picture 42" descr="lock.png"/>
          <p:cNvPicPr>
            <a:picLocks noChangeAspect="1"/>
          </p:cNvPicPr>
          <p:nvPr/>
        </p:nvPicPr>
        <p:blipFill>
          <a:blip r:embed="rId5"/>
          <a:stretch>
            <a:fillRect/>
          </a:stretch>
        </p:blipFill>
        <p:spPr>
          <a:xfrm>
            <a:off x="9563860" y="1793049"/>
            <a:ext cx="134549" cy="195707"/>
          </a:xfrm>
          <a:prstGeom prst="rect">
            <a:avLst/>
          </a:prstGeom>
        </p:spPr>
      </p:pic>
      <p:sp>
        <p:nvSpPr>
          <p:cNvPr id="44" name="TextBox 43"/>
          <p:cNvSpPr txBox="1"/>
          <p:nvPr/>
        </p:nvSpPr>
        <p:spPr>
          <a:xfrm>
            <a:off x="9738969"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45" name="TextBox 44"/>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829550" y="2206371"/>
            <a:ext cx="3478138" cy="194310"/>
          </a:xfrm>
          <a:prstGeom prst="rect">
            <a:avLst/>
          </a:prstGeom>
          <a:noFill/>
        </p:spPr>
        <p:txBody>
          <a:bodyPr wrap="none" lIns="0" rIns="0" tIns="0" bIns="0">
            <a:spAutoFit/>
          </a:bodyPr>
          <a:lstStyle/>
          <a:p>
            <a:r>
              <a:rPr sz="1150" b="0">
                <a:solidFill>
                  <a:srgbClr val="2E2E2E"/>
                </a:solidFill>
                <a:latin typeface="Calibri"/>
              </a:rPr>
              <a:t>▪ 'Super-premium / speciality' is the fastest-growing price</a:t>
            </a:r>
          </a:p>
        </p:txBody>
      </p:sp>
      <p:sp>
        <p:nvSpPr>
          <p:cNvPr id="47" name="TextBox 46"/>
          <p:cNvSpPr txBox="1"/>
          <p:nvPr/>
        </p:nvSpPr>
        <p:spPr>
          <a:xfrm>
            <a:off x="7829550" y="2381631"/>
            <a:ext cx="888317" cy="194310"/>
          </a:xfrm>
          <a:prstGeom prst="rect">
            <a:avLst/>
          </a:prstGeom>
          <a:noFill/>
        </p:spPr>
        <p:txBody>
          <a:bodyPr wrap="none" lIns="0" rIns="0" tIns="0" bIns="0">
            <a:spAutoFit/>
          </a:bodyPr>
          <a:lstStyle/>
          <a:p>
            <a:r>
              <a:rPr sz="1150" b="0">
                <a:solidFill>
                  <a:srgbClr val="2E2E2E"/>
                </a:solidFill>
                <a:latin typeface="Calibri"/>
              </a:rPr>
              <a:t>positioning at</a:t>
            </a:r>
          </a:p>
        </p:txBody>
      </p:sp>
      <p:pic>
        <p:nvPicPr>
          <p:cNvPr id="48" name="Picture 47" descr="lock.png"/>
          <p:cNvPicPr>
            <a:picLocks noChangeAspect="1"/>
          </p:cNvPicPr>
          <p:nvPr/>
        </p:nvPicPr>
        <p:blipFill>
          <a:blip r:embed="rId5"/>
          <a:stretch>
            <a:fillRect/>
          </a:stretch>
        </p:blipFill>
        <p:spPr>
          <a:xfrm>
            <a:off x="8667021" y="2371407"/>
            <a:ext cx="134549" cy="195707"/>
          </a:xfrm>
          <a:prstGeom prst="rect">
            <a:avLst/>
          </a:prstGeom>
        </p:spPr>
      </p:pic>
      <p:sp>
        <p:nvSpPr>
          <p:cNvPr id="49" name="TextBox 48"/>
          <p:cNvSpPr txBox="1"/>
          <p:nvPr/>
        </p:nvSpPr>
        <p:spPr>
          <a:xfrm>
            <a:off x="8842131"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Price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Price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2024859"/>
                <a:gridCol w="657489"/>
                <a:gridCol w="657489"/>
                <a:gridCol w="657489"/>
                <a:gridCol w="657489"/>
                <a:gridCol w="657489"/>
                <a:gridCol w="657489"/>
                <a:gridCol w="657489"/>
                <a:gridCol w="657489"/>
                <a:gridCol w="657489"/>
                <a:gridCol w="657489"/>
                <a:gridCol w="657489"/>
                <a:gridCol w="657489"/>
                <a:gridCol w="657489"/>
                <a:gridCol w="657489"/>
                <a:gridCol w="657489"/>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Price Positioning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sp>
        <p:nvSpPr>
          <p:cNvPr id="33" name="Rectangle 32"/>
          <p:cNvSpPr/>
          <p:nvPr/>
        </p:nvSpPr>
        <p:spPr>
          <a:xfrm>
            <a:off x="1857375" y="3248025"/>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sp>
        <p:nvSpPr>
          <p:cNvPr id="49" name="Rectangle 48"/>
          <p:cNvSpPr/>
          <p:nvPr/>
        </p:nvSpPr>
        <p:spPr>
          <a:xfrm>
            <a:off x="1857375" y="4079081"/>
            <a:ext cx="643890" cy="831056"/>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D5D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E67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sp>
        <p:nvSpPr>
          <p:cNvPr id="65" name="Rectangle 64"/>
          <p:cNvSpPr/>
          <p:nvPr/>
        </p:nvSpPr>
        <p:spPr>
          <a:xfrm>
            <a:off x="185737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81" name="Rectangle 80"/>
          <p:cNvSpPr/>
          <p:nvPr/>
        </p:nvSpPr>
        <p:spPr>
          <a:xfrm>
            <a:off x="1857375" y="5741194"/>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921736" y="1713738"/>
            <a:ext cx="366712" cy="533400"/>
          </a:xfrm>
          <a:prstGeom prst="rect">
            <a:avLst/>
          </a:prstGeom>
        </p:spPr>
      </p:pic>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Price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Price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2024859"/>
                <a:gridCol w="657489"/>
                <a:gridCol w="657489"/>
                <a:gridCol w="657489"/>
                <a:gridCol w="657489"/>
                <a:gridCol w="657489"/>
                <a:gridCol w="657489"/>
                <a:gridCol w="657489"/>
                <a:gridCol w="657489"/>
                <a:gridCol w="657489"/>
                <a:gridCol w="657489"/>
                <a:gridCol w="657489"/>
                <a:gridCol w="657489"/>
                <a:gridCol w="657489"/>
                <a:gridCol w="657489"/>
                <a:gridCol w="657489"/>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Price Positioning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sp>
        <p:nvSpPr>
          <p:cNvPr id="33" name="Rectangle 32"/>
          <p:cNvSpPr/>
          <p:nvPr/>
        </p:nvSpPr>
        <p:spPr>
          <a:xfrm>
            <a:off x="1857375" y="3248025"/>
            <a:ext cx="643890" cy="831056"/>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sp>
        <p:nvSpPr>
          <p:cNvPr id="49" name="Rectangle 48"/>
          <p:cNvSpPr/>
          <p:nvPr/>
        </p:nvSpPr>
        <p:spPr>
          <a:xfrm>
            <a:off x="1857375" y="4079081"/>
            <a:ext cx="643890" cy="831056"/>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sp>
        <p:nvSpPr>
          <p:cNvPr id="65" name="Rectangle 64"/>
          <p:cNvSpPr/>
          <p:nvPr/>
        </p:nvSpPr>
        <p:spPr>
          <a:xfrm>
            <a:off x="185737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81" name="Rectangle 80"/>
          <p:cNvSpPr/>
          <p:nvPr/>
        </p:nvSpPr>
        <p:spPr>
          <a:xfrm>
            <a:off x="1857375" y="5741194"/>
            <a:ext cx="643890" cy="831056"/>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921736" y="1713738"/>
            <a:ext cx="366712" cy="533400"/>
          </a:xfrm>
          <a:prstGeom prst="rect">
            <a:avLst/>
          </a:prstGeom>
        </p:spPr>
      </p:pic>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Brand Ownership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Brand Ownership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Brand Ownership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Brand Ownership,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Brand Ownership segment categorizes the market by brand ownership.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Manufacturer brands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Retailer private labels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 operator brands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Brand Ownership split shows how demand is distributed across brand ownership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4_68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7_41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7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4_564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7_67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5_3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_649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_655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9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89299" cy="186689"/>
          </a:xfrm>
          <a:prstGeom prst="rect">
            <a:avLst/>
          </a:prstGeom>
          <a:noFill/>
        </p:spPr>
        <p:txBody>
          <a:bodyPr wrap="none" lIns="0" rIns="0" tIns="0" bIns="0">
            <a:spAutoFit/>
          </a:bodyPr>
          <a:lstStyle/>
          <a:p>
            <a:r>
              <a:rPr sz="1100" b="0">
                <a:solidFill>
                  <a:srgbClr val="2E2E2E"/>
                </a:solidFill>
                <a:latin typeface="Calibri"/>
              </a:rPr>
              <a:t>▪ 'Manufacturer brands' holds the largest share in</a:t>
            </a:r>
          </a:p>
        </p:txBody>
      </p:sp>
      <p:sp>
        <p:nvSpPr>
          <p:cNvPr id="70" name="TextBox 69"/>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71" name="Picture 70" descr="lock.png"/>
          <p:cNvPicPr>
            <a:picLocks noChangeAspect="1"/>
          </p:cNvPicPr>
          <p:nvPr/>
        </p:nvPicPr>
        <p:blipFill>
          <a:blip r:embed="rId13"/>
          <a:stretch>
            <a:fillRect/>
          </a:stretch>
        </p:blipFill>
        <p:spPr>
          <a:xfrm>
            <a:off x="793792" y="4387298"/>
            <a:ext cx="128699" cy="187198"/>
          </a:xfrm>
          <a:prstGeom prst="rect">
            <a:avLst/>
          </a:prstGeom>
        </p:spPr>
      </p:pic>
      <p:sp>
        <p:nvSpPr>
          <p:cNvPr id="72" name="TextBox 71"/>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3" name="TextBox 72"/>
          <p:cNvSpPr txBox="1"/>
          <p:nvPr/>
        </p:nvSpPr>
        <p:spPr>
          <a:xfrm>
            <a:off x="485775" y="4615009"/>
            <a:ext cx="2709763" cy="186689"/>
          </a:xfrm>
          <a:prstGeom prst="rect">
            <a:avLst/>
          </a:prstGeom>
          <a:noFill/>
        </p:spPr>
        <p:txBody>
          <a:bodyPr wrap="none" lIns="0" rIns="0" tIns="0" bIns="0">
            <a:spAutoFit/>
          </a:bodyPr>
          <a:lstStyle/>
          <a:p>
            <a:r>
              <a:rPr sz="1100" b="0">
                <a:solidFill>
                  <a:srgbClr val="2E2E2E"/>
                </a:solidFill>
                <a:latin typeface="Calibri"/>
              </a:rPr>
              <a:t>▪ 'Retailer private labels' is the fastest-growing</a:t>
            </a:r>
          </a:p>
        </p:txBody>
      </p:sp>
      <p:sp>
        <p:nvSpPr>
          <p:cNvPr id="74" name="TextBox 7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75" name="Picture 74" descr="lock.png"/>
          <p:cNvPicPr>
            <a:picLocks noChangeAspect="1"/>
          </p:cNvPicPr>
          <p:nvPr/>
        </p:nvPicPr>
        <p:blipFill>
          <a:blip r:embed="rId13"/>
          <a:stretch>
            <a:fillRect/>
          </a:stretch>
        </p:blipFill>
        <p:spPr>
          <a:xfrm>
            <a:off x="1391064" y="4772870"/>
            <a:ext cx="128699" cy="187198"/>
          </a:xfrm>
          <a:prstGeom prst="rect">
            <a:avLst/>
          </a:prstGeom>
        </p:spPr>
      </p:pic>
      <p:sp>
        <p:nvSpPr>
          <p:cNvPr id="76" name="TextBox 7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7" name="TextBox 7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8" name="Picture 77" descr="lock.png"/>
          <p:cNvPicPr>
            <a:picLocks noChangeAspect="1"/>
          </p:cNvPicPr>
          <p:nvPr/>
        </p:nvPicPr>
        <p:blipFill>
          <a:blip r:embed="rId13"/>
          <a:stretch>
            <a:fillRect/>
          </a:stretch>
        </p:blipFill>
        <p:spPr>
          <a:xfrm>
            <a:off x="2240451" y="4990801"/>
            <a:ext cx="128699" cy="187198"/>
          </a:xfrm>
          <a:prstGeom prst="rect">
            <a:avLst/>
          </a:prstGeom>
        </p:spPr>
      </p:pic>
      <p:sp>
        <p:nvSpPr>
          <p:cNvPr id="79" name="TextBox 7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0" name="Picture 79" descr="lock.png"/>
          <p:cNvPicPr>
            <a:picLocks noChangeAspect="1"/>
          </p:cNvPicPr>
          <p:nvPr/>
        </p:nvPicPr>
        <p:blipFill>
          <a:blip r:embed="rId13"/>
          <a:stretch>
            <a:fillRect/>
          </a:stretch>
        </p:blipFill>
        <p:spPr>
          <a:xfrm>
            <a:off x="2552799" y="4990801"/>
            <a:ext cx="128699" cy="187198"/>
          </a:xfrm>
          <a:prstGeom prst="rect">
            <a:avLst/>
          </a:prstGeom>
        </p:spPr>
      </p:pic>
      <p:sp>
        <p:nvSpPr>
          <p:cNvPr id="81" name="TextBox 8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2" name="TextBox 8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3" name="TextBox 82"/>
          <p:cNvSpPr txBox="1"/>
          <p:nvPr/>
        </p:nvSpPr>
        <p:spPr>
          <a:xfrm>
            <a:off x="485775" y="5386153"/>
            <a:ext cx="2791345" cy="186689"/>
          </a:xfrm>
          <a:prstGeom prst="rect">
            <a:avLst/>
          </a:prstGeom>
          <a:noFill/>
        </p:spPr>
        <p:txBody>
          <a:bodyPr wrap="none" lIns="0" rIns="0" tIns="0" bIns="0">
            <a:spAutoFit/>
          </a:bodyPr>
          <a:lstStyle/>
          <a:p>
            <a:r>
              <a:rPr sz="1100" b="0">
                <a:solidFill>
                  <a:srgbClr val="2E2E2E"/>
                </a:solidFill>
                <a:latin typeface="Calibri"/>
              </a:rPr>
              <a:t>▪ 3 sub-segments make up the brand ownership</a:t>
            </a:r>
          </a:p>
        </p:txBody>
      </p:sp>
      <p:sp>
        <p:nvSpPr>
          <p:cNvPr id="84" name="TextBox 8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5" name="TextBox 84"/>
          <p:cNvSpPr txBox="1"/>
          <p:nvPr/>
        </p:nvSpPr>
        <p:spPr>
          <a:xfrm>
            <a:off x="3838575" y="4229437"/>
            <a:ext cx="1441003" cy="186689"/>
          </a:xfrm>
          <a:prstGeom prst="rect">
            <a:avLst/>
          </a:prstGeom>
          <a:noFill/>
        </p:spPr>
        <p:txBody>
          <a:bodyPr wrap="none" lIns="0" rIns="0" tIns="0" bIns="0">
            <a:spAutoFit/>
          </a:bodyPr>
          <a:lstStyle/>
          <a:p>
            <a:r>
              <a:rPr sz="1100" b="0">
                <a:solidFill>
                  <a:srgbClr val="2E2E2E"/>
                </a:solidFill>
                <a:latin typeface="Calibri"/>
              </a:rPr>
              <a:t>● Manufacturer brands:</a:t>
            </a:r>
          </a:p>
        </p:txBody>
      </p:sp>
      <p:pic>
        <p:nvPicPr>
          <p:cNvPr id="86" name="Picture 85" descr="lock.png"/>
          <p:cNvPicPr>
            <a:picLocks noChangeAspect="1"/>
          </p:cNvPicPr>
          <p:nvPr/>
        </p:nvPicPr>
        <p:blipFill>
          <a:blip r:embed="rId13"/>
          <a:stretch>
            <a:fillRect/>
          </a:stretch>
        </p:blipFill>
        <p:spPr>
          <a:xfrm>
            <a:off x="5227630" y="4219658"/>
            <a:ext cx="128699" cy="187198"/>
          </a:xfrm>
          <a:prstGeom prst="rect">
            <a:avLst/>
          </a:prstGeom>
        </p:spPr>
      </p:pic>
      <p:sp>
        <p:nvSpPr>
          <p:cNvPr id="87" name="TextBox 86"/>
          <p:cNvSpPr txBox="1"/>
          <p:nvPr/>
        </p:nvSpPr>
        <p:spPr>
          <a:xfrm>
            <a:off x="539512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8" name="Picture 87" descr="lock.png"/>
          <p:cNvPicPr>
            <a:picLocks noChangeAspect="1"/>
          </p:cNvPicPr>
          <p:nvPr/>
        </p:nvPicPr>
        <p:blipFill>
          <a:blip r:embed="rId13"/>
          <a:stretch>
            <a:fillRect/>
          </a:stretch>
        </p:blipFill>
        <p:spPr>
          <a:xfrm>
            <a:off x="6254576" y="4219658"/>
            <a:ext cx="128699" cy="187198"/>
          </a:xfrm>
          <a:prstGeom prst="rect">
            <a:avLst/>
          </a:prstGeom>
        </p:spPr>
      </p:pic>
      <p:sp>
        <p:nvSpPr>
          <p:cNvPr id="89" name="TextBox 88"/>
          <p:cNvSpPr txBox="1"/>
          <p:nvPr/>
        </p:nvSpPr>
        <p:spPr>
          <a:xfrm>
            <a:off x="6422071"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0" name="TextBox 89"/>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1" name="TextBox 90"/>
          <p:cNvSpPr txBox="1"/>
          <p:nvPr/>
        </p:nvSpPr>
        <p:spPr>
          <a:xfrm>
            <a:off x="3838575" y="4615009"/>
            <a:ext cx="1464468" cy="186689"/>
          </a:xfrm>
          <a:prstGeom prst="rect">
            <a:avLst/>
          </a:prstGeom>
          <a:noFill/>
        </p:spPr>
        <p:txBody>
          <a:bodyPr wrap="none" lIns="0" rIns="0" tIns="0" bIns="0">
            <a:spAutoFit/>
          </a:bodyPr>
          <a:lstStyle/>
          <a:p>
            <a:r>
              <a:rPr sz="1100" b="0">
                <a:solidFill>
                  <a:srgbClr val="2E2E2E"/>
                </a:solidFill>
                <a:latin typeface="Calibri"/>
              </a:rPr>
              <a:t>● Retailer private labels:</a:t>
            </a:r>
          </a:p>
        </p:txBody>
      </p:sp>
      <p:pic>
        <p:nvPicPr>
          <p:cNvPr id="92" name="Picture 91" descr="lock.png"/>
          <p:cNvPicPr>
            <a:picLocks noChangeAspect="1"/>
          </p:cNvPicPr>
          <p:nvPr/>
        </p:nvPicPr>
        <p:blipFill>
          <a:blip r:embed="rId13"/>
          <a:stretch>
            <a:fillRect/>
          </a:stretch>
        </p:blipFill>
        <p:spPr>
          <a:xfrm>
            <a:off x="5251095" y="4605230"/>
            <a:ext cx="128699" cy="187198"/>
          </a:xfrm>
          <a:prstGeom prst="rect">
            <a:avLst/>
          </a:prstGeom>
        </p:spPr>
      </p:pic>
      <p:sp>
        <p:nvSpPr>
          <p:cNvPr id="93" name="TextBox 92"/>
          <p:cNvSpPr txBox="1"/>
          <p:nvPr/>
        </p:nvSpPr>
        <p:spPr>
          <a:xfrm>
            <a:off x="5418591"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6278041" y="4605230"/>
            <a:ext cx="128699" cy="187198"/>
          </a:xfrm>
          <a:prstGeom prst="rect">
            <a:avLst/>
          </a:prstGeom>
        </p:spPr>
      </p:pic>
      <p:sp>
        <p:nvSpPr>
          <p:cNvPr id="95" name="TextBox 94"/>
          <p:cNvSpPr txBox="1"/>
          <p:nvPr/>
        </p:nvSpPr>
        <p:spPr>
          <a:xfrm>
            <a:off x="6445537" y="461500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6" name="TextBox 95"/>
          <p:cNvSpPr txBox="1"/>
          <p:nvPr/>
        </p:nvSpPr>
        <p:spPr>
          <a:xfrm>
            <a:off x="3838575" y="4832941"/>
            <a:ext cx="1952570" cy="186689"/>
          </a:xfrm>
          <a:prstGeom prst="rect">
            <a:avLst/>
          </a:prstGeom>
          <a:noFill/>
        </p:spPr>
        <p:txBody>
          <a:bodyPr wrap="none" lIns="0" rIns="0" tIns="0" bIns="0">
            <a:spAutoFit/>
          </a:bodyPr>
          <a:lstStyle/>
          <a:p>
            <a:r>
              <a:rPr sz="1100" b="0">
                <a:solidFill>
                  <a:srgbClr val="2E2E2E"/>
                </a:solidFill>
                <a:latin typeface="Calibri"/>
              </a:rPr>
              <a:t>● Foodservice / operator brands:</a:t>
            </a:r>
          </a:p>
        </p:txBody>
      </p:sp>
      <p:pic>
        <p:nvPicPr>
          <p:cNvPr id="97" name="Picture 96" descr="lock.png"/>
          <p:cNvPicPr>
            <a:picLocks noChangeAspect="1"/>
          </p:cNvPicPr>
          <p:nvPr/>
        </p:nvPicPr>
        <p:blipFill>
          <a:blip r:embed="rId13"/>
          <a:stretch>
            <a:fillRect/>
          </a:stretch>
        </p:blipFill>
        <p:spPr>
          <a:xfrm>
            <a:off x="5739196" y="4823162"/>
            <a:ext cx="128699" cy="187198"/>
          </a:xfrm>
          <a:prstGeom prst="rect">
            <a:avLst/>
          </a:prstGeom>
        </p:spPr>
      </p:pic>
      <p:sp>
        <p:nvSpPr>
          <p:cNvPr id="98" name="TextBox 97"/>
          <p:cNvSpPr txBox="1"/>
          <p:nvPr/>
        </p:nvSpPr>
        <p:spPr>
          <a:xfrm>
            <a:off x="5906692"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766142" y="4823162"/>
            <a:ext cx="128699" cy="187198"/>
          </a:xfrm>
          <a:prstGeom prst="rect">
            <a:avLst/>
          </a:prstGeom>
        </p:spPr>
      </p:pic>
      <p:sp>
        <p:nvSpPr>
          <p:cNvPr id="100" name="TextBox 99"/>
          <p:cNvSpPr txBox="1"/>
          <p:nvPr/>
        </p:nvSpPr>
        <p:spPr>
          <a:xfrm>
            <a:off x="6933638"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1" name="TextBox 100"/>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2" name="TextBox 10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Brand Ownership segment is projected to grow</a:t>
            </a:r>
          </a:p>
        </p:txBody>
      </p:sp>
      <p:sp>
        <p:nvSpPr>
          <p:cNvPr id="103" name="TextBox 102"/>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04" name="Picture 103" descr="lock.png"/>
          <p:cNvPicPr>
            <a:picLocks noChangeAspect="1"/>
          </p:cNvPicPr>
          <p:nvPr/>
        </p:nvPicPr>
        <p:blipFill>
          <a:blip r:embed="rId13"/>
          <a:stretch>
            <a:fillRect/>
          </a:stretch>
        </p:blipFill>
        <p:spPr>
          <a:xfrm>
            <a:off x="9310118" y="6007677"/>
            <a:ext cx="134549" cy="195707"/>
          </a:xfrm>
          <a:prstGeom prst="rect">
            <a:avLst/>
          </a:prstGeom>
        </p:spPr>
      </p:pic>
      <p:sp>
        <p:nvSpPr>
          <p:cNvPr id="105" name="TextBox 104"/>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Brand Ownership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Brand Ownership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Brand Ownership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Brand Ownership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69247" cy="186689"/>
          </a:xfrm>
          <a:prstGeom prst="rect">
            <a:avLst/>
          </a:prstGeom>
          <a:noFill/>
        </p:spPr>
        <p:txBody>
          <a:bodyPr wrap="none" lIns="0" rIns="0" tIns="0" bIns="0">
            <a:spAutoFit/>
          </a:bodyPr>
          <a:lstStyle/>
          <a:p>
            <a:r>
              <a:rPr sz="1100" b="0">
                <a:solidFill>
                  <a:srgbClr val="2E2E2E"/>
                </a:solidFill>
                <a:latin typeface="Calibri"/>
              </a:rPr>
              <a:t>Between 2026 and 2036, 'Retailer private labels' gains the most share in the Global market (+</a:t>
            </a:r>
          </a:p>
        </p:txBody>
      </p:sp>
      <p:pic>
        <p:nvPicPr>
          <p:cNvPr id="21" name="Picture 20" descr="lock.png"/>
          <p:cNvPicPr>
            <a:picLocks noChangeAspect="1"/>
          </p:cNvPicPr>
          <p:nvPr/>
        </p:nvPicPr>
        <p:blipFill>
          <a:blip r:embed="rId6"/>
          <a:stretch>
            <a:fillRect/>
          </a:stretch>
        </p:blipFill>
        <p:spPr>
          <a:xfrm>
            <a:off x="5574474" y="5851905"/>
            <a:ext cx="128699" cy="187198"/>
          </a:xfrm>
          <a:prstGeom prst="rect">
            <a:avLst/>
          </a:prstGeom>
        </p:spPr>
      </p:pic>
      <p:sp>
        <p:nvSpPr>
          <p:cNvPr id="22" name="TextBox 21"/>
          <p:cNvSpPr txBox="1"/>
          <p:nvPr/>
        </p:nvSpPr>
        <p:spPr>
          <a:xfrm>
            <a:off x="5741969" y="5861685"/>
            <a:ext cx="2332682" cy="186689"/>
          </a:xfrm>
          <a:prstGeom prst="rect">
            <a:avLst/>
          </a:prstGeom>
          <a:noFill/>
        </p:spPr>
        <p:txBody>
          <a:bodyPr wrap="none" lIns="0" rIns="0" tIns="0" bIns="0">
            <a:spAutoFit/>
          </a:bodyPr>
          <a:lstStyle/>
          <a:p>
            <a:r>
              <a:rPr sz="1100" b="0">
                <a:solidFill>
                  <a:srgbClr val="2E2E2E"/>
                </a:solidFill>
                <a:latin typeface="Calibri"/>
              </a:rPr>
              <a:t>BPS) while 'Manufacturer brands' cedes</a:t>
            </a:r>
          </a:p>
        </p:txBody>
      </p:sp>
      <p:pic>
        <p:nvPicPr>
          <p:cNvPr id="23" name="Picture 22" descr="lock.png"/>
          <p:cNvPicPr>
            <a:picLocks noChangeAspect="1"/>
          </p:cNvPicPr>
          <p:nvPr/>
        </p:nvPicPr>
        <p:blipFill>
          <a:blip r:embed="rId6"/>
          <a:stretch>
            <a:fillRect/>
          </a:stretch>
        </p:blipFill>
        <p:spPr>
          <a:xfrm>
            <a:off x="8022703" y="5851905"/>
            <a:ext cx="128699" cy="187198"/>
          </a:xfrm>
          <a:prstGeom prst="rect">
            <a:avLst/>
          </a:prstGeom>
        </p:spPr>
      </p:pic>
      <p:sp>
        <p:nvSpPr>
          <p:cNvPr id="24" name="TextBox 23"/>
          <p:cNvSpPr txBox="1"/>
          <p:nvPr/>
        </p:nvSpPr>
        <p:spPr>
          <a:xfrm>
            <a:off x="8190199"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Brand Ownership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Manufacturer brands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Retailer private labels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Foodservice / operator brands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Brand Ownership</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258207" cy="194310"/>
          </a:xfrm>
          <a:prstGeom prst="rect">
            <a:avLst/>
          </a:prstGeom>
          <a:noFill/>
        </p:spPr>
        <p:txBody>
          <a:bodyPr wrap="none" lIns="0" rIns="0" tIns="0" bIns="0">
            <a:spAutoFit/>
          </a:bodyPr>
          <a:lstStyle/>
          <a:p>
            <a:r>
              <a:rPr sz="1150" b="0">
                <a:solidFill>
                  <a:srgbClr val="2E2E2E"/>
                </a:solidFill>
                <a:latin typeface="Calibri"/>
              </a:rPr>
              <a:t>▪ Across its 3 sub-segments, by brand ownership adds</a:t>
            </a:r>
          </a:p>
        </p:txBody>
      </p:sp>
      <p:pic>
        <p:nvPicPr>
          <p:cNvPr id="29" name="Picture 28" descr="lock.png"/>
          <p:cNvPicPr>
            <a:picLocks noChangeAspect="1"/>
          </p:cNvPicPr>
          <p:nvPr/>
        </p:nvPicPr>
        <p:blipFill>
          <a:blip r:embed="rId7"/>
          <a:stretch>
            <a:fillRect/>
          </a:stretch>
        </p:blipFill>
        <p:spPr>
          <a:xfrm>
            <a:off x="9512911" y="4276026"/>
            <a:ext cx="134549" cy="195707"/>
          </a:xfrm>
          <a:prstGeom prst="rect">
            <a:avLst/>
          </a:prstGeom>
        </p:spPr>
      </p:pic>
      <p:sp>
        <p:nvSpPr>
          <p:cNvPr id="30" name="TextBox 29"/>
          <p:cNvSpPr txBox="1"/>
          <p:nvPr/>
        </p:nvSpPr>
        <p:spPr>
          <a:xfrm>
            <a:off x="9688020" y="4286250"/>
            <a:ext cx="1811970" cy="194310"/>
          </a:xfrm>
          <a:prstGeom prst="rect">
            <a:avLst/>
          </a:prstGeom>
          <a:noFill/>
        </p:spPr>
        <p:txBody>
          <a:bodyPr wrap="none" lIns="0" rIns="0" tIns="0" bIns="0">
            <a:spAutoFit/>
          </a:bodyPr>
          <a:lstStyle/>
          <a:p>
            <a:r>
              <a:rPr sz="1150" b="0">
                <a:solidFill>
                  <a:srgbClr val="2E2E2E"/>
                </a:solidFill>
                <a:latin typeface="Calibri"/>
              </a:rPr>
              <a:t>US$ Mn to the Global market</a:t>
            </a:r>
          </a:p>
        </p:txBody>
      </p:sp>
      <p:sp>
        <p:nvSpPr>
          <p:cNvPr id="31" name="TextBox 30"/>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2" name="TextBox 31"/>
          <p:cNvSpPr txBox="1"/>
          <p:nvPr/>
        </p:nvSpPr>
        <p:spPr>
          <a:xfrm>
            <a:off x="6305550" y="4689347"/>
            <a:ext cx="1829941" cy="194310"/>
          </a:xfrm>
          <a:prstGeom prst="rect">
            <a:avLst/>
          </a:prstGeom>
          <a:noFill/>
        </p:spPr>
        <p:txBody>
          <a:bodyPr wrap="none" lIns="0" rIns="0" tIns="0" bIns="0">
            <a:spAutoFit/>
          </a:bodyPr>
          <a:lstStyle/>
          <a:p>
            <a:r>
              <a:rPr sz="1150" b="0">
                <a:solidFill>
                  <a:srgbClr val="2E2E2E"/>
                </a:solidFill>
                <a:latin typeface="Calibri"/>
              </a:rPr>
              <a:t>▪ 'Retailer private labels' adds</a:t>
            </a:r>
          </a:p>
        </p:txBody>
      </p:sp>
      <p:pic>
        <p:nvPicPr>
          <p:cNvPr id="33" name="Picture 32" descr="lock.png"/>
          <p:cNvPicPr>
            <a:picLocks noChangeAspect="1"/>
          </p:cNvPicPr>
          <p:nvPr/>
        </p:nvPicPr>
        <p:blipFill>
          <a:blip r:embed="rId7"/>
          <a:stretch>
            <a:fillRect/>
          </a:stretch>
        </p:blipFill>
        <p:spPr>
          <a:xfrm>
            <a:off x="8084644" y="4679124"/>
            <a:ext cx="134549" cy="195707"/>
          </a:xfrm>
          <a:prstGeom prst="rect">
            <a:avLst/>
          </a:prstGeom>
        </p:spPr>
      </p:pic>
      <p:sp>
        <p:nvSpPr>
          <p:cNvPr id="34" name="TextBox 33"/>
          <p:cNvSpPr txBox="1"/>
          <p:nvPr/>
        </p:nvSpPr>
        <p:spPr>
          <a:xfrm>
            <a:off x="8259754"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8832225" y="4679124"/>
            <a:ext cx="134549" cy="195707"/>
          </a:xfrm>
          <a:prstGeom prst="rect">
            <a:avLst/>
          </a:prstGeom>
        </p:spPr>
      </p:pic>
      <p:sp>
        <p:nvSpPr>
          <p:cNvPr id="36" name="TextBox 35"/>
          <p:cNvSpPr txBox="1"/>
          <p:nvPr/>
        </p:nvSpPr>
        <p:spPr>
          <a:xfrm>
            <a:off x="9007334"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805409" cy="194310"/>
          </a:xfrm>
          <a:prstGeom prst="rect">
            <a:avLst/>
          </a:prstGeom>
          <a:noFill/>
        </p:spPr>
        <p:txBody>
          <a:bodyPr wrap="none" lIns="0" rIns="0" tIns="0" bIns="0">
            <a:spAutoFit/>
          </a:bodyPr>
          <a:lstStyle/>
          <a:p>
            <a:r>
              <a:rPr sz="1150" b="0">
                <a:solidFill>
                  <a:srgbClr val="2E2E2E"/>
                </a:solidFill>
                <a:latin typeface="Calibri"/>
              </a:rPr>
              <a:t>▪ 'Manufacturer brands' adds</a:t>
            </a:r>
          </a:p>
        </p:txBody>
      </p:sp>
      <p:pic>
        <p:nvPicPr>
          <p:cNvPr id="38" name="Picture 37" descr="lock.png"/>
          <p:cNvPicPr>
            <a:picLocks noChangeAspect="1"/>
          </p:cNvPicPr>
          <p:nvPr/>
        </p:nvPicPr>
        <p:blipFill>
          <a:blip r:embed="rId7"/>
          <a:stretch>
            <a:fillRect/>
          </a:stretch>
        </p:blipFill>
        <p:spPr>
          <a:xfrm>
            <a:off x="8060113" y="4906962"/>
            <a:ext cx="134549" cy="195707"/>
          </a:xfrm>
          <a:prstGeom prst="rect">
            <a:avLst/>
          </a:prstGeom>
        </p:spPr>
      </p:pic>
      <p:sp>
        <p:nvSpPr>
          <p:cNvPr id="39" name="TextBox 38"/>
          <p:cNvSpPr txBox="1"/>
          <p:nvPr/>
        </p:nvSpPr>
        <p:spPr>
          <a:xfrm>
            <a:off x="8235222"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807693" y="4906962"/>
            <a:ext cx="134549" cy="195707"/>
          </a:xfrm>
          <a:prstGeom prst="rect">
            <a:avLst/>
          </a:prstGeom>
        </p:spPr>
      </p:pic>
      <p:sp>
        <p:nvSpPr>
          <p:cNvPr id="41" name="TextBox 40"/>
          <p:cNvSpPr txBox="1"/>
          <p:nvPr/>
        </p:nvSpPr>
        <p:spPr>
          <a:xfrm>
            <a:off x="8982802"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2340229" cy="194310"/>
          </a:xfrm>
          <a:prstGeom prst="rect">
            <a:avLst/>
          </a:prstGeom>
          <a:noFill/>
        </p:spPr>
        <p:txBody>
          <a:bodyPr wrap="none" lIns="0" rIns="0" tIns="0" bIns="0">
            <a:spAutoFit/>
          </a:bodyPr>
          <a:lstStyle/>
          <a:p>
            <a:r>
              <a:rPr sz="1150" b="0">
                <a:solidFill>
                  <a:srgbClr val="2E2E2E"/>
                </a:solidFill>
                <a:latin typeface="Calibri"/>
              </a:rPr>
              <a:t>▪ 'Foodservice / operator brands' adds</a:t>
            </a:r>
          </a:p>
        </p:txBody>
      </p:sp>
      <p:pic>
        <p:nvPicPr>
          <p:cNvPr id="43" name="Picture 42" descr="lock.png"/>
          <p:cNvPicPr>
            <a:picLocks noChangeAspect="1"/>
          </p:cNvPicPr>
          <p:nvPr/>
        </p:nvPicPr>
        <p:blipFill>
          <a:blip r:embed="rId7"/>
          <a:stretch>
            <a:fillRect/>
          </a:stretch>
        </p:blipFill>
        <p:spPr>
          <a:xfrm>
            <a:off x="8594932" y="5134800"/>
            <a:ext cx="134549" cy="195707"/>
          </a:xfrm>
          <a:prstGeom prst="rect">
            <a:avLst/>
          </a:prstGeom>
        </p:spPr>
      </p:pic>
      <p:sp>
        <p:nvSpPr>
          <p:cNvPr id="44" name="TextBox 43"/>
          <p:cNvSpPr txBox="1"/>
          <p:nvPr/>
        </p:nvSpPr>
        <p:spPr>
          <a:xfrm>
            <a:off x="8770042"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9342513" y="5134800"/>
            <a:ext cx="134549" cy="195707"/>
          </a:xfrm>
          <a:prstGeom prst="rect">
            <a:avLst/>
          </a:prstGeom>
        </p:spPr>
      </p:pic>
      <p:sp>
        <p:nvSpPr>
          <p:cNvPr id="46" name="TextBox 45"/>
          <p:cNvSpPr txBox="1"/>
          <p:nvPr/>
        </p:nvSpPr>
        <p:spPr>
          <a:xfrm>
            <a:off x="9517622"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Brand Ownership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Brand Ownership,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76500"/>
          </a:xfrm>
          <a:prstGeom prst="roundRect">
            <a:avLst>
              <a:gd name="adj" fmla="val 30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Brand Ownership (MT)</a:t>
            </a:r>
          </a:p>
        </p:txBody>
      </p:sp>
      <p:graphicFrame>
        <p:nvGraphicFramePr>
          <p:cNvPr id="13" name="Table 12"/>
          <p:cNvGraphicFramePr>
            <a:graphicFrameLocks noGrp="1"/>
          </p:cNvGraphicFramePr>
          <p:nvPr/>
        </p:nvGraphicFramePr>
        <p:xfrm>
          <a:off x="152400" y="1238250"/>
          <a:ext cx="11887208" cy="2009773"/>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Brand Ownership</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40912">
                <a:tc>
                  <a:txBody>
                    <a:bodyPr wrap="none"/>
                    <a:lstStyle/>
                    <a:p>
                      <a:pPr algn="l"/>
                      <a:r>
                        <a:rPr sz="1100" b="1">
                          <a:solidFill>
                            <a:srgbClr val="2E2E2E"/>
                          </a:solidFill>
                          <a:latin typeface="Calibri"/>
                        </a:rPr>
                        <a:t>Manufacturer</a:t>
                      </a:r>
                      <a:endParaRPr sz="1100"/>
                    </a:p>
                    <a:p>
                      <a:pPr algn="l"/>
                      <a:r>
                        <a:rPr sz="1100" b="1">
                          <a:solidFill>
                            <a:srgbClr val="2E2E2E"/>
                          </a:solidFill>
                          <a:latin typeface="Calibri"/>
                        </a:rPr>
                        <a:t>brands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0912">
                <a:tc>
                  <a:txBody>
                    <a:bodyPr wrap="none"/>
                    <a:lstStyle/>
                    <a:p>
                      <a:pPr algn="l"/>
                      <a:r>
                        <a:rPr sz="1100" b="1">
                          <a:solidFill>
                            <a:srgbClr val="2E2E2E"/>
                          </a:solidFill>
                          <a:latin typeface="Calibri"/>
                        </a:rPr>
                        <a:t>Retailer private</a:t>
                      </a:r>
                      <a:endParaRPr sz="1100"/>
                    </a:p>
                    <a:p>
                      <a:pPr algn="l"/>
                      <a:r>
                        <a:rPr sz="1100" b="1">
                          <a:solidFill>
                            <a:srgbClr val="2E2E2E"/>
                          </a:solidFill>
                          <a:latin typeface="Calibri"/>
                        </a:rPr>
                        <a:t>labels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40912">
                <a:tc>
                  <a:txBody>
                    <a:bodyPr wrap="none"/>
                    <a:lstStyle/>
                    <a:p>
                      <a:pPr algn="l"/>
                      <a:r>
                        <a:rPr sz="1100" b="1">
                          <a:solidFill>
                            <a:srgbClr val="2E2E2E"/>
                          </a:solidFill>
                          <a:latin typeface="Calibri"/>
                        </a:rPr>
                        <a:t>Foodservice /</a:t>
                      </a:r>
                      <a:endParaRPr sz="1100"/>
                    </a:p>
                    <a:p>
                      <a:pPr algn="l"/>
                      <a:r>
                        <a:rPr sz="1100" b="1">
                          <a:solidFill>
                            <a:srgbClr val="2E2E2E"/>
                          </a:solidFill>
                          <a:latin typeface="Calibri"/>
                        </a:rPr>
                        <a:t>operator brands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812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257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90925"/>
            <a:ext cx="11906250" cy="3038475"/>
          </a:xfrm>
          <a:prstGeom prst="roundRect">
            <a:avLst>
              <a:gd name="adj" fmla="val 250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766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Brand Ownership</a:t>
            </a:r>
          </a:p>
        </p:txBody>
      </p:sp>
      <p:sp>
        <p:nvSpPr>
          <p:cNvPr id="17" name="Rectangle 16"/>
          <p:cNvSpPr/>
          <p:nvPr/>
        </p:nvSpPr>
        <p:spPr>
          <a:xfrm>
            <a:off x="276225" y="3914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000500"/>
            <a:ext cx="11639550" cy="25527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95893"/>
            <a:ext cx="366712" cy="533400"/>
          </a:xfrm>
          <a:prstGeom prst="rect">
            <a:avLst/>
          </a:prstGeom>
        </p:spPr>
      </p:pic>
      <p:sp>
        <p:nvSpPr>
          <p:cNvPr id="21" name="TextBox 20"/>
          <p:cNvSpPr txBox="1"/>
          <p:nvPr/>
        </p:nvSpPr>
        <p:spPr>
          <a:xfrm>
            <a:off x="276225" y="4010025"/>
            <a:ext cx="3478138" cy="194310"/>
          </a:xfrm>
          <a:prstGeom prst="rect">
            <a:avLst/>
          </a:prstGeom>
          <a:noFill/>
        </p:spPr>
        <p:txBody>
          <a:bodyPr wrap="none" lIns="0" rIns="0" tIns="0" bIns="0">
            <a:spAutoFit/>
          </a:bodyPr>
          <a:lstStyle/>
          <a:p>
            <a:r>
              <a:rPr sz="1150" b="0">
                <a:solidFill>
                  <a:srgbClr val="2E2E2E"/>
                </a:solidFill>
                <a:latin typeface="Calibri"/>
              </a:rPr>
              <a:t>▪ 'Manufacturer brands' is the largest brand ownership at</a:t>
            </a:r>
          </a:p>
        </p:txBody>
      </p:sp>
      <p:pic>
        <p:nvPicPr>
          <p:cNvPr id="22" name="Picture 21" descr="lock.png"/>
          <p:cNvPicPr>
            <a:picLocks noChangeAspect="1"/>
          </p:cNvPicPr>
          <p:nvPr/>
        </p:nvPicPr>
        <p:blipFill>
          <a:blip r:embed="rId4"/>
          <a:stretch>
            <a:fillRect/>
          </a:stretch>
        </p:blipFill>
        <p:spPr>
          <a:xfrm>
            <a:off x="3703517" y="3999801"/>
            <a:ext cx="134549" cy="195707"/>
          </a:xfrm>
          <a:prstGeom prst="rect">
            <a:avLst/>
          </a:prstGeom>
        </p:spPr>
      </p:pic>
      <p:sp>
        <p:nvSpPr>
          <p:cNvPr id="23" name="TextBox 22"/>
          <p:cNvSpPr txBox="1"/>
          <p:nvPr/>
        </p:nvSpPr>
        <p:spPr>
          <a:xfrm>
            <a:off x="3878626" y="401002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908359" y="3999801"/>
            <a:ext cx="134549" cy="195707"/>
          </a:xfrm>
          <a:prstGeom prst="rect">
            <a:avLst/>
          </a:prstGeom>
        </p:spPr>
      </p:pic>
      <p:sp>
        <p:nvSpPr>
          <p:cNvPr id="25" name="TextBox 24"/>
          <p:cNvSpPr txBox="1"/>
          <p:nvPr/>
        </p:nvSpPr>
        <p:spPr>
          <a:xfrm>
            <a:off x="5083468" y="401002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237863"/>
            <a:ext cx="2340260" cy="194310"/>
          </a:xfrm>
          <a:prstGeom prst="rect">
            <a:avLst/>
          </a:prstGeom>
          <a:noFill/>
        </p:spPr>
        <p:txBody>
          <a:bodyPr wrap="none" lIns="0" rIns="0" tIns="0" bIns="0">
            <a:spAutoFit/>
          </a:bodyPr>
          <a:lstStyle/>
          <a:p>
            <a:r>
              <a:rPr sz="1150" b="0">
                <a:solidFill>
                  <a:srgbClr val="2E2E2E"/>
                </a:solidFill>
                <a:latin typeface="Calibri"/>
              </a:rPr>
              <a:t>▪ 'Retailer private labels' grows fastest</a:t>
            </a:r>
          </a:p>
        </p:txBody>
      </p:sp>
      <p:pic>
        <p:nvPicPr>
          <p:cNvPr id="27" name="Picture 26" descr="lock.png"/>
          <p:cNvPicPr>
            <a:picLocks noChangeAspect="1"/>
          </p:cNvPicPr>
          <p:nvPr/>
        </p:nvPicPr>
        <p:blipFill>
          <a:blip r:embed="rId4"/>
          <a:stretch>
            <a:fillRect/>
          </a:stretch>
        </p:blipFill>
        <p:spPr>
          <a:xfrm>
            <a:off x="2565639" y="4227639"/>
            <a:ext cx="134549" cy="195707"/>
          </a:xfrm>
          <a:prstGeom prst="rect">
            <a:avLst/>
          </a:prstGeom>
        </p:spPr>
      </p:pic>
      <p:sp>
        <p:nvSpPr>
          <p:cNvPr id="28" name="TextBox 27"/>
          <p:cNvSpPr txBox="1"/>
          <p:nvPr/>
        </p:nvSpPr>
        <p:spPr>
          <a:xfrm>
            <a:off x="2740748" y="42378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65700"/>
            <a:ext cx="2849438" cy="194310"/>
          </a:xfrm>
          <a:prstGeom prst="rect">
            <a:avLst/>
          </a:prstGeom>
          <a:noFill/>
        </p:spPr>
        <p:txBody>
          <a:bodyPr wrap="none" lIns="0" rIns="0" tIns="0" bIns="0">
            <a:spAutoFit/>
          </a:bodyPr>
          <a:lstStyle/>
          <a:p>
            <a:r>
              <a:rPr sz="1150" b="0">
                <a:solidFill>
                  <a:srgbClr val="2E2E2E"/>
                </a:solidFill>
                <a:latin typeface="Calibri"/>
              </a:rPr>
              <a:t>▪ Share shifts toward 'Retailer private labels' (+</a:t>
            </a:r>
          </a:p>
        </p:txBody>
      </p:sp>
      <p:pic>
        <p:nvPicPr>
          <p:cNvPr id="30" name="Picture 29" descr="lock.png"/>
          <p:cNvPicPr>
            <a:picLocks noChangeAspect="1"/>
          </p:cNvPicPr>
          <p:nvPr/>
        </p:nvPicPr>
        <p:blipFill>
          <a:blip r:embed="rId4"/>
          <a:stretch>
            <a:fillRect/>
          </a:stretch>
        </p:blipFill>
        <p:spPr>
          <a:xfrm>
            <a:off x="3074817" y="4455477"/>
            <a:ext cx="134549" cy="195707"/>
          </a:xfrm>
          <a:prstGeom prst="rect">
            <a:avLst/>
          </a:prstGeom>
        </p:spPr>
      </p:pic>
      <p:sp>
        <p:nvSpPr>
          <p:cNvPr id="31" name="TextBox 30"/>
          <p:cNvSpPr txBox="1"/>
          <p:nvPr/>
        </p:nvSpPr>
        <p:spPr>
          <a:xfrm>
            <a:off x="3249926" y="4465700"/>
            <a:ext cx="2751025" cy="194310"/>
          </a:xfrm>
          <a:prstGeom prst="rect">
            <a:avLst/>
          </a:prstGeom>
          <a:noFill/>
        </p:spPr>
        <p:txBody>
          <a:bodyPr wrap="none" lIns="0" rIns="0" tIns="0" bIns="0">
            <a:spAutoFit/>
          </a:bodyPr>
          <a:lstStyle/>
          <a:p>
            <a:r>
              <a:rPr sz="1150" b="0">
                <a:solidFill>
                  <a:srgbClr val="2E2E2E"/>
                </a:solidFill>
                <a:latin typeface="Calibri"/>
              </a:rPr>
              <a:t>BPS) and away from 'Manufacturer brands' (-</a:t>
            </a:r>
          </a:p>
        </p:txBody>
      </p:sp>
      <p:pic>
        <p:nvPicPr>
          <p:cNvPr id="32" name="Picture 31" descr="lock.png"/>
          <p:cNvPicPr>
            <a:picLocks noChangeAspect="1"/>
          </p:cNvPicPr>
          <p:nvPr/>
        </p:nvPicPr>
        <p:blipFill>
          <a:blip r:embed="rId4"/>
          <a:stretch>
            <a:fillRect/>
          </a:stretch>
        </p:blipFill>
        <p:spPr>
          <a:xfrm>
            <a:off x="5950106" y="4455477"/>
            <a:ext cx="134549" cy="195707"/>
          </a:xfrm>
          <a:prstGeom prst="rect">
            <a:avLst/>
          </a:prstGeom>
        </p:spPr>
      </p:pic>
      <p:sp>
        <p:nvSpPr>
          <p:cNvPr id="33" name="TextBox 32"/>
          <p:cNvSpPr txBox="1"/>
          <p:nvPr/>
        </p:nvSpPr>
        <p:spPr>
          <a:xfrm>
            <a:off x="6125215" y="44657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9353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683315"/>
            <a:ext cx="134549" cy="195707"/>
          </a:xfrm>
          <a:prstGeom prst="rect">
            <a:avLst/>
          </a:prstGeom>
        </p:spPr>
      </p:pic>
      <p:sp>
        <p:nvSpPr>
          <p:cNvPr id="36" name="TextBox 35"/>
          <p:cNvSpPr txBox="1"/>
          <p:nvPr/>
        </p:nvSpPr>
        <p:spPr>
          <a:xfrm>
            <a:off x="1965143" y="46935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683315"/>
            <a:ext cx="134549" cy="195707"/>
          </a:xfrm>
          <a:prstGeom prst="rect">
            <a:avLst/>
          </a:prstGeom>
        </p:spPr>
      </p:pic>
      <p:sp>
        <p:nvSpPr>
          <p:cNvPr id="38" name="TextBox 37"/>
          <p:cNvSpPr txBox="1"/>
          <p:nvPr/>
        </p:nvSpPr>
        <p:spPr>
          <a:xfrm>
            <a:off x="2291688" y="4693538"/>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Brand Ownership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Brand Ownership,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Brand Ownership (US$ Mn)</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026843"/>
                <a:gridCol w="580021"/>
                <a:gridCol w="580021"/>
                <a:gridCol w="580021"/>
                <a:gridCol w="580021"/>
                <a:gridCol w="580021"/>
                <a:gridCol w="580021"/>
                <a:gridCol w="580021"/>
                <a:gridCol w="580021"/>
                <a:gridCol w="580021"/>
                <a:gridCol w="580021"/>
                <a:gridCol w="580021"/>
                <a:gridCol w="580021"/>
                <a:gridCol w="580021"/>
                <a:gridCol w="580021"/>
                <a:gridCol w="580021"/>
                <a:gridCol w="580021"/>
                <a:gridCol w="580021"/>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Brand Ownership</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22731" y="1713738"/>
            <a:ext cx="366712" cy="533400"/>
          </a:xfrm>
          <a:prstGeom prst="rect">
            <a:avLst/>
          </a:prstGeom>
        </p:spPr>
      </p:pic>
      <p:sp>
        <p:nvSpPr>
          <p:cNvPr id="21" name="TextBox 20"/>
          <p:cNvSpPr txBox="1"/>
          <p:nvPr/>
        </p:nvSpPr>
        <p:spPr>
          <a:xfrm>
            <a:off x="276225" y="3238500"/>
            <a:ext cx="3502669" cy="194310"/>
          </a:xfrm>
          <a:prstGeom prst="rect">
            <a:avLst/>
          </a:prstGeom>
          <a:noFill/>
        </p:spPr>
        <p:txBody>
          <a:bodyPr wrap="none" lIns="0" rIns="0" tIns="0" bIns="0">
            <a:spAutoFit/>
          </a:bodyPr>
          <a:lstStyle/>
          <a:p>
            <a:r>
              <a:rPr sz="1150" b="0">
                <a:solidFill>
                  <a:srgbClr val="2E2E2E"/>
                </a:solidFill>
                <a:latin typeface="Calibri"/>
              </a:rPr>
              <a:t>▪ 'Retailer private labels' is the largest brand ownership at</a:t>
            </a:r>
          </a:p>
        </p:txBody>
      </p:sp>
      <p:pic>
        <p:nvPicPr>
          <p:cNvPr id="22" name="Picture 21" descr="lock.png"/>
          <p:cNvPicPr>
            <a:picLocks noChangeAspect="1"/>
          </p:cNvPicPr>
          <p:nvPr/>
        </p:nvPicPr>
        <p:blipFill>
          <a:blip r:embed="rId4"/>
          <a:stretch>
            <a:fillRect/>
          </a:stretch>
        </p:blipFill>
        <p:spPr>
          <a:xfrm>
            <a:off x="3728048" y="3228276"/>
            <a:ext cx="134549" cy="195707"/>
          </a:xfrm>
          <a:prstGeom prst="rect">
            <a:avLst/>
          </a:prstGeom>
        </p:spPr>
      </p:pic>
      <p:sp>
        <p:nvSpPr>
          <p:cNvPr id="23" name="TextBox 22"/>
          <p:cNvSpPr txBox="1"/>
          <p:nvPr/>
        </p:nvSpPr>
        <p:spPr>
          <a:xfrm>
            <a:off x="3903158"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809090" y="3228276"/>
            <a:ext cx="134549" cy="195707"/>
          </a:xfrm>
          <a:prstGeom prst="rect">
            <a:avLst/>
          </a:prstGeom>
        </p:spPr>
      </p:pic>
      <p:sp>
        <p:nvSpPr>
          <p:cNvPr id="25" name="TextBox 24"/>
          <p:cNvSpPr txBox="1"/>
          <p:nvPr/>
        </p:nvSpPr>
        <p:spPr>
          <a:xfrm>
            <a:off x="4984200"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340260" cy="194310"/>
          </a:xfrm>
          <a:prstGeom prst="rect">
            <a:avLst/>
          </a:prstGeom>
          <a:noFill/>
        </p:spPr>
        <p:txBody>
          <a:bodyPr wrap="none" lIns="0" rIns="0" tIns="0" bIns="0">
            <a:spAutoFit/>
          </a:bodyPr>
          <a:lstStyle/>
          <a:p>
            <a:r>
              <a:rPr sz="1150" b="0">
                <a:solidFill>
                  <a:srgbClr val="2E2E2E"/>
                </a:solidFill>
                <a:latin typeface="Calibri"/>
              </a:rPr>
              <a:t>▪ 'Retailer private labels' grows fastest</a:t>
            </a:r>
          </a:p>
        </p:txBody>
      </p:sp>
      <p:pic>
        <p:nvPicPr>
          <p:cNvPr id="27" name="Picture 26" descr="lock.png"/>
          <p:cNvPicPr>
            <a:picLocks noChangeAspect="1"/>
          </p:cNvPicPr>
          <p:nvPr/>
        </p:nvPicPr>
        <p:blipFill>
          <a:blip r:embed="rId4"/>
          <a:stretch>
            <a:fillRect/>
          </a:stretch>
        </p:blipFill>
        <p:spPr>
          <a:xfrm>
            <a:off x="2565639" y="3456114"/>
            <a:ext cx="134549" cy="195707"/>
          </a:xfrm>
          <a:prstGeom prst="rect">
            <a:avLst/>
          </a:prstGeom>
        </p:spPr>
      </p:pic>
      <p:sp>
        <p:nvSpPr>
          <p:cNvPr id="28" name="TextBox 27"/>
          <p:cNvSpPr txBox="1"/>
          <p:nvPr/>
        </p:nvSpPr>
        <p:spPr>
          <a:xfrm>
            <a:off x="2740748"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849438" cy="194310"/>
          </a:xfrm>
          <a:prstGeom prst="rect">
            <a:avLst/>
          </a:prstGeom>
          <a:noFill/>
        </p:spPr>
        <p:txBody>
          <a:bodyPr wrap="none" lIns="0" rIns="0" tIns="0" bIns="0">
            <a:spAutoFit/>
          </a:bodyPr>
          <a:lstStyle/>
          <a:p>
            <a:r>
              <a:rPr sz="1150" b="0">
                <a:solidFill>
                  <a:srgbClr val="2E2E2E"/>
                </a:solidFill>
                <a:latin typeface="Calibri"/>
              </a:rPr>
              <a:t>▪ Share shifts toward 'Retailer private labels' (+</a:t>
            </a:r>
          </a:p>
        </p:txBody>
      </p:sp>
      <p:pic>
        <p:nvPicPr>
          <p:cNvPr id="30" name="Picture 29" descr="lock.png"/>
          <p:cNvPicPr>
            <a:picLocks noChangeAspect="1"/>
          </p:cNvPicPr>
          <p:nvPr/>
        </p:nvPicPr>
        <p:blipFill>
          <a:blip r:embed="rId4"/>
          <a:stretch>
            <a:fillRect/>
          </a:stretch>
        </p:blipFill>
        <p:spPr>
          <a:xfrm>
            <a:off x="3074817" y="3683952"/>
            <a:ext cx="134549" cy="195707"/>
          </a:xfrm>
          <a:prstGeom prst="rect">
            <a:avLst/>
          </a:prstGeom>
        </p:spPr>
      </p:pic>
      <p:sp>
        <p:nvSpPr>
          <p:cNvPr id="31" name="TextBox 30"/>
          <p:cNvSpPr txBox="1"/>
          <p:nvPr/>
        </p:nvSpPr>
        <p:spPr>
          <a:xfrm>
            <a:off x="3249926" y="3694175"/>
            <a:ext cx="2751025" cy="194310"/>
          </a:xfrm>
          <a:prstGeom prst="rect">
            <a:avLst/>
          </a:prstGeom>
          <a:noFill/>
        </p:spPr>
        <p:txBody>
          <a:bodyPr wrap="none" lIns="0" rIns="0" tIns="0" bIns="0">
            <a:spAutoFit/>
          </a:bodyPr>
          <a:lstStyle/>
          <a:p>
            <a:r>
              <a:rPr sz="1150" b="0">
                <a:solidFill>
                  <a:srgbClr val="2E2E2E"/>
                </a:solidFill>
                <a:latin typeface="Calibri"/>
              </a:rPr>
              <a:t>BPS) and away from 'Manufacturer brands' (-</a:t>
            </a:r>
          </a:p>
        </p:txBody>
      </p:sp>
      <p:pic>
        <p:nvPicPr>
          <p:cNvPr id="32" name="Picture 31" descr="lock.png"/>
          <p:cNvPicPr>
            <a:picLocks noChangeAspect="1"/>
          </p:cNvPicPr>
          <p:nvPr/>
        </p:nvPicPr>
        <p:blipFill>
          <a:blip r:embed="rId4"/>
          <a:stretch>
            <a:fillRect/>
          </a:stretch>
        </p:blipFill>
        <p:spPr>
          <a:xfrm>
            <a:off x="5950106" y="3683952"/>
            <a:ext cx="134549" cy="195707"/>
          </a:xfrm>
          <a:prstGeom prst="rect">
            <a:avLst/>
          </a:prstGeom>
        </p:spPr>
      </p:pic>
      <p:sp>
        <p:nvSpPr>
          <p:cNvPr id="33" name="TextBox 32"/>
          <p:cNvSpPr txBox="1"/>
          <p:nvPr/>
        </p:nvSpPr>
        <p:spPr>
          <a:xfrm>
            <a:off x="612521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Brand Ownership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Brand Ownership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1333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085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323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 operator brands</a:t>
            </a:r>
          </a:p>
        </p:txBody>
      </p:sp>
      <p:sp>
        <p:nvSpPr>
          <p:cNvPr id="19" name="BPS Value 1"/>
          <p:cNvSpPr txBox="1"/>
          <p:nvPr/>
        </p:nvSpPr>
        <p:spPr>
          <a:xfrm>
            <a:off x="6896100" y="199428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31079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0602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298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Manufacturer brands</a:t>
            </a:r>
          </a:p>
        </p:txBody>
      </p:sp>
      <p:sp>
        <p:nvSpPr>
          <p:cNvPr id="23" name="BPS Value 2"/>
          <p:cNvSpPr txBox="1"/>
          <p:nvPr/>
        </p:nvSpPr>
        <p:spPr>
          <a:xfrm>
            <a:off x="6896100" y="329174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525490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2501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1739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Retailer private labels</a:t>
            </a:r>
          </a:p>
        </p:txBody>
      </p:sp>
      <p:sp>
        <p:nvSpPr>
          <p:cNvPr id="27" name="BPS Value 3"/>
          <p:cNvSpPr txBox="1"/>
          <p:nvPr/>
        </p:nvSpPr>
        <p:spPr>
          <a:xfrm>
            <a:off x="6896100" y="523585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Brand Ownership</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886521" cy="194310"/>
          </a:xfrm>
          <a:prstGeom prst="rect">
            <a:avLst/>
          </a:prstGeom>
          <a:noFill/>
        </p:spPr>
        <p:txBody>
          <a:bodyPr wrap="none" lIns="0" rIns="0" tIns="0" bIns="0">
            <a:spAutoFit/>
          </a:bodyPr>
          <a:lstStyle/>
          <a:p>
            <a:r>
              <a:rPr sz="1150" b="0">
                <a:solidFill>
                  <a:srgbClr val="2E2E2E"/>
                </a:solidFill>
                <a:latin typeface="Calibri"/>
              </a:rPr>
              <a:t>▪ 'Retailer private labels' gains the most share +</a:t>
            </a:r>
          </a:p>
        </p:txBody>
      </p:sp>
      <p:pic>
        <p:nvPicPr>
          <p:cNvPr id="35" name="Picture 34" descr="lock.png"/>
          <p:cNvPicPr>
            <a:picLocks noChangeAspect="1"/>
          </p:cNvPicPr>
          <p:nvPr/>
        </p:nvPicPr>
        <p:blipFill>
          <a:blip r:embed="rId5"/>
          <a:stretch>
            <a:fillRect/>
          </a:stretch>
        </p:blipFill>
        <p:spPr>
          <a:xfrm>
            <a:off x="10665225" y="1389951"/>
            <a:ext cx="134549" cy="195707"/>
          </a:xfrm>
          <a:prstGeom prst="rect">
            <a:avLst/>
          </a:prstGeom>
        </p:spPr>
      </p:pic>
      <p:sp>
        <p:nvSpPr>
          <p:cNvPr id="36" name="TextBox 35"/>
          <p:cNvSpPr txBox="1"/>
          <p:nvPr/>
        </p:nvSpPr>
        <p:spPr>
          <a:xfrm>
            <a:off x="10840334"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37" name="TextBox 36"/>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508560" cy="194310"/>
          </a:xfrm>
          <a:prstGeom prst="rect">
            <a:avLst/>
          </a:prstGeom>
          <a:noFill/>
        </p:spPr>
        <p:txBody>
          <a:bodyPr wrap="none" lIns="0" rIns="0" tIns="0" bIns="0">
            <a:spAutoFit/>
          </a:bodyPr>
          <a:lstStyle/>
          <a:p>
            <a:r>
              <a:rPr sz="1150" b="0">
                <a:solidFill>
                  <a:srgbClr val="2E2E2E"/>
                </a:solidFill>
                <a:latin typeface="Calibri"/>
              </a:rPr>
              <a:t>▪ 'Manufacturer brands' cedes the most -</a:t>
            </a:r>
          </a:p>
        </p:txBody>
      </p:sp>
      <p:pic>
        <p:nvPicPr>
          <p:cNvPr id="39" name="Picture 38" descr="lock.png"/>
          <p:cNvPicPr>
            <a:picLocks noChangeAspect="1"/>
          </p:cNvPicPr>
          <p:nvPr/>
        </p:nvPicPr>
        <p:blipFill>
          <a:blip r:embed="rId5"/>
          <a:stretch>
            <a:fillRect/>
          </a:stretch>
        </p:blipFill>
        <p:spPr>
          <a:xfrm>
            <a:off x="10287263" y="1793049"/>
            <a:ext cx="134549" cy="195707"/>
          </a:xfrm>
          <a:prstGeom prst="rect">
            <a:avLst/>
          </a:prstGeom>
        </p:spPr>
      </p:pic>
      <p:sp>
        <p:nvSpPr>
          <p:cNvPr id="40" name="TextBox 39"/>
          <p:cNvSpPr txBox="1"/>
          <p:nvPr/>
        </p:nvSpPr>
        <p:spPr>
          <a:xfrm>
            <a:off x="10462373"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1" name="TextBox 40"/>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4024969" cy="194310"/>
          </a:xfrm>
          <a:prstGeom prst="rect">
            <a:avLst/>
          </a:prstGeom>
          <a:noFill/>
        </p:spPr>
        <p:txBody>
          <a:bodyPr wrap="none" lIns="0" rIns="0" tIns="0" bIns="0">
            <a:spAutoFit/>
          </a:bodyPr>
          <a:lstStyle/>
          <a:p>
            <a:r>
              <a:rPr sz="1150" b="0">
                <a:solidFill>
                  <a:srgbClr val="2E2E2E"/>
                </a:solidFill>
                <a:latin typeface="Calibri"/>
              </a:rPr>
              <a:t>▪ 'Retailer private labels' is the fastest-growing brand ownership at</a:t>
            </a:r>
          </a:p>
        </p:txBody>
      </p:sp>
      <p:pic>
        <p:nvPicPr>
          <p:cNvPr id="43" name="Picture 42" descr="lock.png"/>
          <p:cNvPicPr>
            <a:picLocks noChangeAspect="1"/>
          </p:cNvPicPr>
          <p:nvPr/>
        </p:nvPicPr>
        <p:blipFill>
          <a:blip r:embed="rId5"/>
          <a:stretch>
            <a:fillRect/>
          </a:stretch>
        </p:blipFill>
        <p:spPr>
          <a:xfrm>
            <a:off x="7815470" y="2371407"/>
            <a:ext cx="134549" cy="195707"/>
          </a:xfrm>
          <a:prstGeom prst="rect">
            <a:avLst/>
          </a:prstGeom>
        </p:spPr>
      </p:pic>
      <p:sp>
        <p:nvSpPr>
          <p:cNvPr id="44" name="TextBox 43"/>
          <p:cNvSpPr txBox="1"/>
          <p:nvPr/>
        </p:nvSpPr>
        <p:spPr>
          <a:xfrm>
            <a:off x="799057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5" name="TextBox 44"/>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599245"/>
            <a:ext cx="134549" cy="195707"/>
          </a:xfrm>
          <a:prstGeom prst="rect">
            <a:avLst/>
          </a:prstGeom>
        </p:spPr>
      </p:pic>
      <p:sp>
        <p:nvSpPr>
          <p:cNvPr id="47" name="TextBox 46"/>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599245"/>
            <a:ext cx="134549" cy="195707"/>
          </a:xfrm>
          <a:prstGeom prst="rect">
            <a:avLst/>
          </a:prstGeom>
        </p:spPr>
      </p:pic>
      <p:sp>
        <p:nvSpPr>
          <p:cNvPr id="49" name="TextBox 48"/>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Brand Ownership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Brand Ownership,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Brand Ownership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Manufacturer brands</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Retailer private labels</a:t>
            </a:r>
          </a:p>
        </p:txBody>
      </p:sp>
      <p:sp>
        <p:nvSpPr>
          <p:cNvPr id="49" name="Rectangle 48"/>
          <p:cNvSpPr/>
          <p:nvPr/>
        </p:nvSpPr>
        <p:spPr>
          <a:xfrm>
            <a:off x="1857375" y="4191000"/>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 operator brands</a:t>
            </a:r>
          </a:p>
        </p:txBody>
      </p:sp>
      <p:sp>
        <p:nvSpPr>
          <p:cNvPr id="65" name="Rectangle 64"/>
          <p:cNvSpPr/>
          <p:nvPr/>
        </p:nvSpPr>
        <p:spPr>
          <a:xfrm>
            <a:off x="1857375" y="5381625"/>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13478" y="1589913"/>
            <a:ext cx="366712" cy="533400"/>
          </a:xfrm>
          <a:prstGeom prst="rect">
            <a:avLst/>
          </a:prstGeom>
        </p:spPr>
      </p:pic>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Brand Ownership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Brand Ownership,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Brand Ownership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Manufacturer brands</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Retailer private labels</a:t>
            </a:r>
          </a:p>
        </p:txBody>
      </p:sp>
      <p:sp>
        <p:nvSpPr>
          <p:cNvPr id="49" name="Rectangle 48"/>
          <p:cNvSpPr/>
          <p:nvPr/>
        </p:nvSpPr>
        <p:spPr>
          <a:xfrm>
            <a:off x="1857375" y="4191000"/>
            <a:ext cx="643890" cy="1190625"/>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 operator brands</a:t>
            </a:r>
          </a:p>
        </p:txBody>
      </p:sp>
      <p:sp>
        <p:nvSpPr>
          <p:cNvPr id="65" name="Rectangle 64"/>
          <p:cNvSpPr/>
          <p:nvPr/>
        </p:nvSpPr>
        <p:spPr>
          <a:xfrm>
            <a:off x="1857375" y="5381625"/>
            <a:ext cx="643890" cy="119062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13478" y="1589913"/>
            <a:ext cx="366712" cy="533400"/>
          </a:xfrm>
          <a:prstGeom prst="rect">
            <a:avLst/>
          </a:prstGeom>
        </p:spPr>
      </p:pic>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Sales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Sales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Sales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Sales Channel segment categorizes the market by sales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and institutional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Vending</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Channel split shows how demand is distributed across sales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6_75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0_314_605E5C.png"/>
          <p:cNvPicPr>
            <a:picLocks noChangeAspect="1"/>
          </p:cNvPicPr>
          <p:nvPr/>
        </p:nvPicPr>
        <p:blipFill>
          <a:blip r:embed="rId5"/>
          <a:stretch>
            <a:fillRect/>
          </a:stretch>
        </p:blipFill>
        <p:spPr>
          <a:xfrm>
            <a:off x="2791165" y="2779432"/>
            <a:ext cx="1409020" cy="361950"/>
          </a:xfrm>
          <a:prstGeom prst="rect">
            <a:avLst/>
          </a:prstGeom>
        </p:spPr>
      </p:pic>
      <p:pic>
        <p:nvPicPr>
          <p:cNvPr id="59" name="Picture 58" descr="4_3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_677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_68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6_2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466_5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746_6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8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16857" cy="186689"/>
          </a:xfrm>
          <a:prstGeom prst="rect">
            <a:avLst/>
          </a:prstGeom>
          <a:noFill/>
        </p:spPr>
        <p:txBody>
          <a:bodyPr wrap="none" lIns="0" rIns="0" tIns="0" bIns="0">
            <a:spAutoFit/>
          </a:bodyPr>
          <a:lstStyle/>
          <a:p>
            <a:r>
              <a:rPr sz="1100" b="0">
                <a:solidFill>
                  <a:srgbClr val="2E2E2E"/>
                </a:solidFill>
                <a:latin typeface="Calibri"/>
              </a:rPr>
              <a:t>▪ 'Retail' holds the largest share in 2026</a:t>
            </a:r>
          </a:p>
        </p:txBody>
      </p:sp>
      <p:pic>
        <p:nvPicPr>
          <p:cNvPr id="70" name="Picture 69" descr="lock.png"/>
          <p:cNvPicPr>
            <a:picLocks noChangeAspect="1"/>
          </p:cNvPicPr>
          <p:nvPr/>
        </p:nvPicPr>
        <p:blipFill>
          <a:blip r:embed="rId13"/>
          <a:stretch>
            <a:fillRect/>
          </a:stretch>
        </p:blipFill>
        <p:spPr>
          <a:xfrm>
            <a:off x="2750683" y="4219658"/>
            <a:ext cx="128699" cy="187198"/>
          </a:xfrm>
          <a:prstGeom prst="rect">
            <a:avLst/>
          </a:prstGeom>
        </p:spPr>
      </p:pic>
      <p:sp>
        <p:nvSpPr>
          <p:cNvPr id="71" name="TextBox 70"/>
          <p:cNvSpPr txBox="1"/>
          <p:nvPr/>
        </p:nvSpPr>
        <p:spPr>
          <a:xfrm>
            <a:off x="2918179"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72" name="TextBox 71"/>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73" name="TextBox 72"/>
          <p:cNvSpPr txBox="1"/>
          <p:nvPr/>
        </p:nvSpPr>
        <p:spPr>
          <a:xfrm>
            <a:off x="485775" y="4615009"/>
            <a:ext cx="2202502" cy="186689"/>
          </a:xfrm>
          <a:prstGeom prst="rect">
            <a:avLst/>
          </a:prstGeom>
          <a:noFill/>
        </p:spPr>
        <p:txBody>
          <a:bodyPr wrap="none" lIns="0" rIns="0" tIns="0" bIns="0">
            <a:spAutoFit/>
          </a:bodyPr>
          <a:lstStyle/>
          <a:p>
            <a:r>
              <a:rPr sz="1100" b="0">
                <a:solidFill>
                  <a:srgbClr val="2E2E2E"/>
                </a:solidFill>
                <a:latin typeface="Calibri"/>
              </a:rPr>
              <a:t>▪ 'Foodservice and institutional' is the</a:t>
            </a:r>
          </a:p>
        </p:txBody>
      </p:sp>
      <p:sp>
        <p:nvSpPr>
          <p:cNvPr id="74" name="TextBox 73"/>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75" name="Picture 74" descr="lock.png"/>
          <p:cNvPicPr>
            <a:picLocks noChangeAspect="1"/>
          </p:cNvPicPr>
          <p:nvPr/>
        </p:nvPicPr>
        <p:blipFill>
          <a:blip r:embed="rId13"/>
          <a:stretch>
            <a:fillRect/>
          </a:stretch>
        </p:blipFill>
        <p:spPr>
          <a:xfrm>
            <a:off x="2307026" y="4772870"/>
            <a:ext cx="128699" cy="187198"/>
          </a:xfrm>
          <a:prstGeom prst="rect">
            <a:avLst/>
          </a:prstGeom>
        </p:spPr>
      </p:pic>
      <p:sp>
        <p:nvSpPr>
          <p:cNvPr id="76" name="TextBox 75"/>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77" name="TextBox 76"/>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8" name="TextBox 77"/>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9" name="Picture 78" descr="lock.png"/>
          <p:cNvPicPr>
            <a:picLocks noChangeAspect="1"/>
          </p:cNvPicPr>
          <p:nvPr/>
        </p:nvPicPr>
        <p:blipFill>
          <a:blip r:embed="rId13"/>
          <a:stretch>
            <a:fillRect/>
          </a:stretch>
        </p:blipFill>
        <p:spPr>
          <a:xfrm>
            <a:off x="2240451" y="5158441"/>
            <a:ext cx="128699" cy="187198"/>
          </a:xfrm>
          <a:prstGeom prst="rect">
            <a:avLst/>
          </a:prstGeom>
        </p:spPr>
      </p:pic>
      <p:sp>
        <p:nvSpPr>
          <p:cNvPr id="80" name="TextBox 79"/>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1" name="Picture 80" descr="lock.png"/>
          <p:cNvPicPr>
            <a:picLocks noChangeAspect="1"/>
          </p:cNvPicPr>
          <p:nvPr/>
        </p:nvPicPr>
        <p:blipFill>
          <a:blip r:embed="rId13"/>
          <a:stretch>
            <a:fillRect/>
          </a:stretch>
        </p:blipFill>
        <p:spPr>
          <a:xfrm>
            <a:off x="2552799" y="5158441"/>
            <a:ext cx="128699" cy="187198"/>
          </a:xfrm>
          <a:prstGeom prst="rect">
            <a:avLst/>
          </a:prstGeom>
        </p:spPr>
      </p:pic>
      <p:sp>
        <p:nvSpPr>
          <p:cNvPr id="82" name="TextBox 81"/>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3" name="TextBox 82"/>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4" name="TextBox 83"/>
          <p:cNvSpPr txBox="1"/>
          <p:nvPr/>
        </p:nvSpPr>
        <p:spPr>
          <a:xfrm>
            <a:off x="485775" y="5553793"/>
            <a:ext cx="2582341" cy="186689"/>
          </a:xfrm>
          <a:prstGeom prst="rect">
            <a:avLst/>
          </a:prstGeom>
          <a:noFill/>
        </p:spPr>
        <p:txBody>
          <a:bodyPr wrap="none" lIns="0" rIns="0" tIns="0" bIns="0">
            <a:spAutoFit/>
          </a:bodyPr>
          <a:lstStyle/>
          <a:p>
            <a:r>
              <a:rPr sz="1100" b="0">
                <a:solidFill>
                  <a:srgbClr val="2E2E2E"/>
                </a:solidFill>
                <a:latin typeface="Calibri"/>
              </a:rPr>
              <a:t>▪ 3 sub-segments make up the sales channel</a:t>
            </a:r>
          </a:p>
        </p:txBody>
      </p:sp>
      <p:sp>
        <p:nvSpPr>
          <p:cNvPr id="85" name="TextBox 84"/>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6" name="TextBox 85"/>
          <p:cNvSpPr txBox="1"/>
          <p:nvPr/>
        </p:nvSpPr>
        <p:spPr>
          <a:xfrm>
            <a:off x="3838575" y="4229437"/>
            <a:ext cx="553144" cy="186689"/>
          </a:xfrm>
          <a:prstGeom prst="rect">
            <a:avLst/>
          </a:prstGeom>
          <a:noFill/>
        </p:spPr>
        <p:txBody>
          <a:bodyPr wrap="none" lIns="0" rIns="0" tIns="0" bIns="0">
            <a:spAutoFit/>
          </a:bodyPr>
          <a:lstStyle/>
          <a:p>
            <a:r>
              <a:rPr sz="1100" b="0">
                <a:solidFill>
                  <a:srgbClr val="2E2E2E"/>
                </a:solidFill>
                <a:latin typeface="Calibri"/>
              </a:rPr>
              <a:t>● Retail:</a:t>
            </a:r>
          </a:p>
        </p:txBody>
      </p:sp>
      <p:pic>
        <p:nvPicPr>
          <p:cNvPr id="87" name="Picture 86" descr="lock.png"/>
          <p:cNvPicPr>
            <a:picLocks noChangeAspect="1"/>
          </p:cNvPicPr>
          <p:nvPr/>
        </p:nvPicPr>
        <p:blipFill>
          <a:blip r:embed="rId13"/>
          <a:stretch>
            <a:fillRect/>
          </a:stretch>
        </p:blipFill>
        <p:spPr>
          <a:xfrm>
            <a:off x="4339771" y="4219658"/>
            <a:ext cx="128699" cy="187198"/>
          </a:xfrm>
          <a:prstGeom prst="rect">
            <a:avLst/>
          </a:prstGeom>
        </p:spPr>
      </p:pic>
      <p:sp>
        <p:nvSpPr>
          <p:cNvPr id="88" name="TextBox 87"/>
          <p:cNvSpPr txBox="1"/>
          <p:nvPr/>
        </p:nvSpPr>
        <p:spPr>
          <a:xfrm>
            <a:off x="450726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5366717" y="4219658"/>
            <a:ext cx="128699" cy="187198"/>
          </a:xfrm>
          <a:prstGeom prst="rect">
            <a:avLst/>
          </a:prstGeom>
        </p:spPr>
      </p:pic>
      <p:sp>
        <p:nvSpPr>
          <p:cNvPr id="90" name="TextBox 89"/>
          <p:cNvSpPr txBox="1"/>
          <p:nvPr/>
        </p:nvSpPr>
        <p:spPr>
          <a:xfrm>
            <a:off x="553421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1873170" cy="186689"/>
          </a:xfrm>
          <a:prstGeom prst="rect">
            <a:avLst/>
          </a:prstGeom>
          <a:noFill/>
        </p:spPr>
        <p:txBody>
          <a:bodyPr wrap="none" lIns="0" rIns="0" tIns="0" bIns="0">
            <a:spAutoFit/>
          </a:bodyPr>
          <a:lstStyle/>
          <a:p>
            <a:r>
              <a:rPr sz="1100" b="0">
                <a:solidFill>
                  <a:srgbClr val="2E2E2E"/>
                </a:solidFill>
                <a:latin typeface="Calibri"/>
              </a:rPr>
              <a:t>● Foodservice and institutional:</a:t>
            </a:r>
          </a:p>
        </p:txBody>
      </p:sp>
      <p:pic>
        <p:nvPicPr>
          <p:cNvPr id="92" name="Picture 91" descr="lock.png"/>
          <p:cNvPicPr>
            <a:picLocks noChangeAspect="1"/>
          </p:cNvPicPr>
          <p:nvPr/>
        </p:nvPicPr>
        <p:blipFill>
          <a:blip r:embed="rId13"/>
          <a:stretch>
            <a:fillRect/>
          </a:stretch>
        </p:blipFill>
        <p:spPr>
          <a:xfrm>
            <a:off x="5659797" y="4437590"/>
            <a:ext cx="128699" cy="187198"/>
          </a:xfrm>
          <a:prstGeom prst="rect">
            <a:avLst/>
          </a:prstGeom>
        </p:spPr>
      </p:pic>
      <p:sp>
        <p:nvSpPr>
          <p:cNvPr id="93" name="TextBox 92"/>
          <p:cNvSpPr txBox="1"/>
          <p:nvPr/>
        </p:nvSpPr>
        <p:spPr>
          <a:xfrm>
            <a:off x="582729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6686743" y="4437590"/>
            <a:ext cx="128699" cy="187198"/>
          </a:xfrm>
          <a:prstGeom prst="rect">
            <a:avLst/>
          </a:prstGeom>
        </p:spPr>
      </p:pic>
      <p:sp>
        <p:nvSpPr>
          <p:cNvPr id="95" name="TextBox 94"/>
          <p:cNvSpPr txBox="1"/>
          <p:nvPr/>
        </p:nvSpPr>
        <p:spPr>
          <a:xfrm>
            <a:off x="6854239"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96" name="TextBox 9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97" name="TextBox 96"/>
          <p:cNvSpPr txBox="1"/>
          <p:nvPr/>
        </p:nvSpPr>
        <p:spPr>
          <a:xfrm>
            <a:off x="3838575" y="4832941"/>
            <a:ext cx="696664" cy="186689"/>
          </a:xfrm>
          <a:prstGeom prst="rect">
            <a:avLst/>
          </a:prstGeom>
          <a:noFill/>
        </p:spPr>
        <p:txBody>
          <a:bodyPr wrap="none" lIns="0" rIns="0" tIns="0" bIns="0">
            <a:spAutoFit/>
          </a:bodyPr>
          <a:lstStyle/>
          <a:p>
            <a:r>
              <a:rPr sz="1100" b="0">
                <a:solidFill>
                  <a:srgbClr val="2E2E2E"/>
                </a:solidFill>
                <a:latin typeface="Calibri"/>
              </a:rPr>
              <a:t>● Vending:</a:t>
            </a:r>
          </a:p>
        </p:txBody>
      </p:sp>
      <p:pic>
        <p:nvPicPr>
          <p:cNvPr id="98" name="Picture 97" descr="lock.png"/>
          <p:cNvPicPr>
            <a:picLocks noChangeAspect="1"/>
          </p:cNvPicPr>
          <p:nvPr/>
        </p:nvPicPr>
        <p:blipFill>
          <a:blip r:embed="rId13"/>
          <a:stretch>
            <a:fillRect/>
          </a:stretch>
        </p:blipFill>
        <p:spPr>
          <a:xfrm>
            <a:off x="4483291" y="4823162"/>
            <a:ext cx="128699" cy="187198"/>
          </a:xfrm>
          <a:prstGeom prst="rect">
            <a:avLst/>
          </a:prstGeom>
        </p:spPr>
      </p:pic>
      <p:sp>
        <p:nvSpPr>
          <p:cNvPr id="99" name="TextBox 98"/>
          <p:cNvSpPr txBox="1"/>
          <p:nvPr/>
        </p:nvSpPr>
        <p:spPr>
          <a:xfrm>
            <a:off x="4650786"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3"/>
          <a:stretch>
            <a:fillRect/>
          </a:stretch>
        </p:blipFill>
        <p:spPr>
          <a:xfrm>
            <a:off x="5510237" y="4823162"/>
            <a:ext cx="128699" cy="187198"/>
          </a:xfrm>
          <a:prstGeom prst="rect">
            <a:avLst/>
          </a:prstGeom>
        </p:spPr>
      </p:pic>
      <p:sp>
        <p:nvSpPr>
          <p:cNvPr id="101" name="TextBox 100"/>
          <p:cNvSpPr txBox="1"/>
          <p:nvPr/>
        </p:nvSpPr>
        <p:spPr>
          <a:xfrm>
            <a:off x="5677732"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2" name="TextBox 10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Sales Channel segment is projected to grow at a</a:t>
            </a:r>
          </a:p>
        </p:txBody>
      </p:sp>
      <p:sp>
        <p:nvSpPr>
          <p:cNvPr id="103" name="TextBox 10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04" name="Picture 103" descr="lock.png"/>
          <p:cNvPicPr>
            <a:picLocks noChangeAspect="1"/>
          </p:cNvPicPr>
          <p:nvPr/>
        </p:nvPicPr>
        <p:blipFill>
          <a:blip r:embed="rId13"/>
          <a:stretch>
            <a:fillRect/>
          </a:stretch>
        </p:blipFill>
        <p:spPr>
          <a:xfrm>
            <a:off x="9048826" y="6007677"/>
            <a:ext cx="134549" cy="195707"/>
          </a:xfrm>
          <a:prstGeom prst="rect">
            <a:avLst/>
          </a:prstGeom>
        </p:spPr>
      </p:pic>
      <p:sp>
        <p:nvSpPr>
          <p:cNvPr id="105" name="TextBox 10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Sales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Sales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Sales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777949" cy="186689"/>
          </a:xfrm>
          <a:prstGeom prst="rect">
            <a:avLst/>
          </a:prstGeom>
          <a:noFill/>
        </p:spPr>
        <p:txBody>
          <a:bodyPr wrap="none" lIns="0" rIns="0" tIns="0" bIns="0">
            <a:spAutoFit/>
          </a:bodyPr>
          <a:lstStyle/>
          <a:p>
            <a:r>
              <a:rPr sz="1100" b="0">
                <a:solidFill>
                  <a:srgbClr val="2E2E2E"/>
                </a:solidFill>
                <a:latin typeface="Calibri"/>
              </a:rPr>
              <a:t>Between 2026 and 2036, 'Foodservice and institutional' gains the most share in the Global market (+</a:t>
            </a:r>
          </a:p>
        </p:txBody>
      </p:sp>
      <p:pic>
        <p:nvPicPr>
          <p:cNvPr id="21" name="Picture 20" descr="lock.png"/>
          <p:cNvPicPr>
            <a:picLocks noChangeAspect="1"/>
          </p:cNvPicPr>
          <p:nvPr/>
        </p:nvPicPr>
        <p:blipFill>
          <a:blip r:embed="rId6"/>
          <a:stretch>
            <a:fillRect/>
          </a:stretch>
        </p:blipFill>
        <p:spPr>
          <a:xfrm>
            <a:off x="5983175" y="5851905"/>
            <a:ext cx="128699" cy="187198"/>
          </a:xfrm>
          <a:prstGeom prst="rect">
            <a:avLst/>
          </a:prstGeom>
        </p:spPr>
      </p:pic>
      <p:sp>
        <p:nvSpPr>
          <p:cNvPr id="22" name="TextBox 21"/>
          <p:cNvSpPr txBox="1"/>
          <p:nvPr/>
        </p:nvSpPr>
        <p:spPr>
          <a:xfrm>
            <a:off x="6150671" y="5861685"/>
            <a:ext cx="1444823" cy="186689"/>
          </a:xfrm>
          <a:prstGeom prst="rect">
            <a:avLst/>
          </a:prstGeom>
          <a:noFill/>
        </p:spPr>
        <p:txBody>
          <a:bodyPr wrap="none" lIns="0" rIns="0" tIns="0" bIns="0">
            <a:spAutoFit/>
          </a:bodyPr>
          <a:lstStyle/>
          <a:p>
            <a:r>
              <a:rPr sz="1100" b="0">
                <a:solidFill>
                  <a:srgbClr val="2E2E2E"/>
                </a:solidFill>
                <a:latin typeface="Calibri"/>
              </a:rPr>
              <a:t>BPS) while 'Retail' cedes</a:t>
            </a:r>
          </a:p>
        </p:txBody>
      </p:sp>
      <p:pic>
        <p:nvPicPr>
          <p:cNvPr id="23" name="Picture 22" descr="lock.png"/>
          <p:cNvPicPr>
            <a:picLocks noChangeAspect="1"/>
          </p:cNvPicPr>
          <p:nvPr/>
        </p:nvPicPr>
        <p:blipFill>
          <a:blip r:embed="rId6"/>
          <a:stretch>
            <a:fillRect/>
          </a:stretch>
        </p:blipFill>
        <p:spPr>
          <a:xfrm>
            <a:off x="7543546" y="5851905"/>
            <a:ext cx="128699" cy="187198"/>
          </a:xfrm>
          <a:prstGeom prst="rect">
            <a:avLst/>
          </a:prstGeom>
        </p:spPr>
      </p:pic>
      <p:sp>
        <p:nvSpPr>
          <p:cNvPr id="24" name="TextBox 23"/>
          <p:cNvSpPr txBox="1"/>
          <p:nvPr/>
        </p:nvSpPr>
        <p:spPr>
          <a:xfrm>
            <a:off x="7711042"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Foodservice and institutional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Vending</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Sales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3039702" cy="194310"/>
          </a:xfrm>
          <a:prstGeom prst="rect">
            <a:avLst/>
          </a:prstGeom>
          <a:noFill/>
        </p:spPr>
        <p:txBody>
          <a:bodyPr wrap="none" lIns="0" rIns="0" tIns="0" bIns="0">
            <a:spAutoFit/>
          </a:bodyPr>
          <a:lstStyle/>
          <a:p>
            <a:r>
              <a:rPr sz="1150" b="0">
                <a:solidFill>
                  <a:srgbClr val="2E2E2E"/>
                </a:solidFill>
                <a:latin typeface="Calibri"/>
              </a:rPr>
              <a:t>▪ Across its 3 sub-segments, by sales channel adds</a:t>
            </a:r>
          </a:p>
        </p:txBody>
      </p:sp>
      <p:pic>
        <p:nvPicPr>
          <p:cNvPr id="29" name="Picture 28" descr="lock.png"/>
          <p:cNvPicPr>
            <a:picLocks noChangeAspect="1"/>
          </p:cNvPicPr>
          <p:nvPr/>
        </p:nvPicPr>
        <p:blipFill>
          <a:blip r:embed="rId7"/>
          <a:stretch>
            <a:fillRect/>
          </a:stretch>
        </p:blipFill>
        <p:spPr>
          <a:xfrm>
            <a:off x="9294406" y="4276026"/>
            <a:ext cx="134549" cy="195707"/>
          </a:xfrm>
          <a:prstGeom prst="rect">
            <a:avLst/>
          </a:prstGeom>
        </p:spPr>
      </p:pic>
      <p:sp>
        <p:nvSpPr>
          <p:cNvPr id="30" name="TextBox 29"/>
          <p:cNvSpPr txBox="1"/>
          <p:nvPr/>
        </p:nvSpPr>
        <p:spPr>
          <a:xfrm>
            <a:off x="9469516" y="4286250"/>
            <a:ext cx="2370211" cy="194310"/>
          </a:xfrm>
          <a:prstGeom prst="rect">
            <a:avLst/>
          </a:prstGeom>
          <a:noFill/>
        </p:spPr>
        <p:txBody>
          <a:bodyPr wrap="none" lIns="0" rIns="0" tIns="0" bIns="0">
            <a:spAutoFit/>
          </a:bodyPr>
          <a:lstStyle/>
          <a:p>
            <a:r>
              <a:rPr sz="1150" b="0">
                <a:solidFill>
                  <a:srgbClr val="2E2E2E"/>
                </a:solidFill>
                <a:latin typeface="Calibri"/>
              </a:rPr>
              <a:t>US$ Mn to the Global market between</a:t>
            </a:r>
          </a:p>
        </p:txBody>
      </p:sp>
      <p:sp>
        <p:nvSpPr>
          <p:cNvPr id="31" name="TextBox 30"/>
          <p:cNvSpPr txBox="1"/>
          <p:nvPr/>
        </p:nvSpPr>
        <p:spPr>
          <a:xfrm>
            <a:off x="6305550" y="4461510"/>
            <a:ext cx="995858" cy="194310"/>
          </a:xfrm>
          <a:prstGeom prst="rect">
            <a:avLst/>
          </a:prstGeom>
          <a:noFill/>
        </p:spPr>
        <p:txBody>
          <a:bodyPr wrap="none" lIns="0" rIns="0" tIns="0" bIns="0">
            <a:spAutoFit/>
          </a:bodyPr>
          <a:lstStyle/>
          <a:p>
            <a:r>
              <a:rPr sz="1150" b="0">
                <a:solidFill>
                  <a:srgbClr val="2E2E2E"/>
                </a:solidFill>
                <a:latin typeface="Calibri"/>
              </a:rPr>
              <a:t>2026 and 2036.</a:t>
            </a:r>
          </a:p>
        </p:txBody>
      </p:sp>
      <p:sp>
        <p:nvSpPr>
          <p:cNvPr id="32" name="TextBox 31"/>
          <p:cNvSpPr txBox="1"/>
          <p:nvPr/>
        </p:nvSpPr>
        <p:spPr>
          <a:xfrm>
            <a:off x="6305550" y="4689347"/>
            <a:ext cx="877192" cy="194310"/>
          </a:xfrm>
          <a:prstGeom prst="rect">
            <a:avLst/>
          </a:prstGeom>
          <a:noFill/>
        </p:spPr>
        <p:txBody>
          <a:bodyPr wrap="none" lIns="0" rIns="0" tIns="0" bIns="0">
            <a:spAutoFit/>
          </a:bodyPr>
          <a:lstStyle/>
          <a:p>
            <a:r>
              <a:rPr sz="1150" b="0">
                <a:solidFill>
                  <a:srgbClr val="2E2E2E"/>
                </a:solidFill>
                <a:latin typeface="Calibri"/>
              </a:rPr>
              <a:t>▪ 'Retail' adds</a:t>
            </a:r>
          </a:p>
        </p:txBody>
      </p:sp>
      <p:pic>
        <p:nvPicPr>
          <p:cNvPr id="33" name="Picture 32" descr="lock.png"/>
          <p:cNvPicPr>
            <a:picLocks noChangeAspect="1"/>
          </p:cNvPicPr>
          <p:nvPr/>
        </p:nvPicPr>
        <p:blipFill>
          <a:blip r:embed="rId7"/>
          <a:stretch>
            <a:fillRect/>
          </a:stretch>
        </p:blipFill>
        <p:spPr>
          <a:xfrm>
            <a:off x="7131896" y="4679124"/>
            <a:ext cx="134549" cy="195707"/>
          </a:xfrm>
          <a:prstGeom prst="rect">
            <a:avLst/>
          </a:prstGeom>
        </p:spPr>
      </p:pic>
      <p:sp>
        <p:nvSpPr>
          <p:cNvPr id="34" name="TextBox 33"/>
          <p:cNvSpPr txBox="1"/>
          <p:nvPr/>
        </p:nvSpPr>
        <p:spPr>
          <a:xfrm>
            <a:off x="7307006"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7879477" y="4679124"/>
            <a:ext cx="134549" cy="195707"/>
          </a:xfrm>
          <a:prstGeom prst="rect">
            <a:avLst/>
          </a:prstGeom>
        </p:spPr>
      </p:pic>
      <p:sp>
        <p:nvSpPr>
          <p:cNvPr id="36" name="TextBox 35"/>
          <p:cNvSpPr txBox="1"/>
          <p:nvPr/>
        </p:nvSpPr>
        <p:spPr>
          <a:xfrm>
            <a:off x="8054586"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2257220" cy="194310"/>
          </a:xfrm>
          <a:prstGeom prst="rect">
            <a:avLst/>
          </a:prstGeom>
          <a:noFill/>
        </p:spPr>
        <p:txBody>
          <a:bodyPr wrap="none" lIns="0" rIns="0" tIns="0" bIns="0">
            <a:spAutoFit/>
          </a:bodyPr>
          <a:lstStyle/>
          <a:p>
            <a:r>
              <a:rPr sz="1150" b="0">
                <a:solidFill>
                  <a:srgbClr val="2E2E2E"/>
                </a:solidFill>
                <a:latin typeface="Calibri"/>
              </a:rPr>
              <a:t>▪ 'Foodservice and institutional' adds</a:t>
            </a:r>
          </a:p>
        </p:txBody>
      </p:sp>
      <p:pic>
        <p:nvPicPr>
          <p:cNvPr id="38" name="Picture 37" descr="lock.png"/>
          <p:cNvPicPr>
            <a:picLocks noChangeAspect="1"/>
          </p:cNvPicPr>
          <p:nvPr/>
        </p:nvPicPr>
        <p:blipFill>
          <a:blip r:embed="rId7"/>
          <a:stretch>
            <a:fillRect/>
          </a:stretch>
        </p:blipFill>
        <p:spPr>
          <a:xfrm>
            <a:off x="8511924" y="4906962"/>
            <a:ext cx="134549" cy="195707"/>
          </a:xfrm>
          <a:prstGeom prst="rect">
            <a:avLst/>
          </a:prstGeom>
        </p:spPr>
      </p:pic>
      <p:sp>
        <p:nvSpPr>
          <p:cNvPr id="39" name="TextBox 38"/>
          <p:cNvSpPr txBox="1"/>
          <p:nvPr/>
        </p:nvSpPr>
        <p:spPr>
          <a:xfrm>
            <a:off x="868703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9259504" y="4906962"/>
            <a:ext cx="134549" cy="195707"/>
          </a:xfrm>
          <a:prstGeom prst="rect">
            <a:avLst/>
          </a:prstGeom>
        </p:spPr>
      </p:pic>
      <p:sp>
        <p:nvSpPr>
          <p:cNvPr id="41" name="TextBox 40"/>
          <p:cNvSpPr txBox="1"/>
          <p:nvPr/>
        </p:nvSpPr>
        <p:spPr>
          <a:xfrm>
            <a:off x="943461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027236" cy="194310"/>
          </a:xfrm>
          <a:prstGeom prst="rect">
            <a:avLst/>
          </a:prstGeom>
          <a:noFill/>
        </p:spPr>
        <p:txBody>
          <a:bodyPr wrap="none" lIns="0" rIns="0" tIns="0" bIns="0">
            <a:spAutoFit/>
          </a:bodyPr>
          <a:lstStyle/>
          <a:p>
            <a:r>
              <a:rPr sz="1150" b="0">
                <a:solidFill>
                  <a:srgbClr val="2E2E2E"/>
                </a:solidFill>
                <a:latin typeface="Calibri"/>
              </a:rPr>
              <a:t>▪ 'Vending' adds</a:t>
            </a:r>
          </a:p>
        </p:txBody>
      </p:sp>
      <p:pic>
        <p:nvPicPr>
          <p:cNvPr id="43" name="Picture 42" descr="lock.png"/>
          <p:cNvPicPr>
            <a:picLocks noChangeAspect="1"/>
          </p:cNvPicPr>
          <p:nvPr/>
        </p:nvPicPr>
        <p:blipFill>
          <a:blip r:embed="rId7"/>
          <a:stretch>
            <a:fillRect/>
          </a:stretch>
        </p:blipFill>
        <p:spPr>
          <a:xfrm>
            <a:off x="7281940" y="5134800"/>
            <a:ext cx="134549" cy="195707"/>
          </a:xfrm>
          <a:prstGeom prst="rect">
            <a:avLst/>
          </a:prstGeom>
        </p:spPr>
      </p:pic>
      <p:sp>
        <p:nvSpPr>
          <p:cNvPr id="44" name="TextBox 43"/>
          <p:cNvSpPr txBox="1"/>
          <p:nvPr/>
        </p:nvSpPr>
        <p:spPr>
          <a:xfrm>
            <a:off x="7457049"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029520" y="5134800"/>
            <a:ext cx="134549" cy="195707"/>
          </a:xfrm>
          <a:prstGeom prst="rect">
            <a:avLst/>
          </a:prstGeom>
        </p:spPr>
      </p:pic>
      <p:sp>
        <p:nvSpPr>
          <p:cNvPr id="46" name="TextBox 45"/>
          <p:cNvSpPr txBox="1"/>
          <p:nvPr/>
        </p:nvSpPr>
        <p:spPr>
          <a:xfrm>
            <a:off x="8204629"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Sales Channel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Sales Channel (MT)</a:t>
            </a:r>
          </a:p>
        </p:txBody>
      </p:sp>
      <p:graphicFrame>
        <p:nvGraphicFramePr>
          <p:cNvPr id="13" name="Table 12"/>
          <p:cNvGraphicFramePr>
            <a:graphicFrameLocks noGrp="1"/>
          </p:cNvGraphicFramePr>
          <p:nvPr/>
        </p:nvGraphicFramePr>
        <p:xfrm>
          <a:off x="152400" y="1238250"/>
          <a:ext cx="11887208" cy="1619249"/>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Sales Channel</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Retail</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Foodservice and</a:t>
                      </a:r>
                      <a:endParaRPr sz="1100"/>
                    </a:p>
                    <a:p>
                      <a:pPr algn="l"/>
                      <a:r>
                        <a:rPr sz="1100" b="1">
                          <a:solidFill>
                            <a:srgbClr val="2E2E2E"/>
                          </a:solidFill>
                          <a:latin typeface="Calibri"/>
                        </a:rPr>
                        <a:t>institutional</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Vending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1190625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86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Sales Channel</a:t>
            </a:r>
          </a:p>
        </p:txBody>
      </p:sp>
      <p:sp>
        <p:nvSpPr>
          <p:cNvPr id="17" name="Rectangle 16"/>
          <p:cNvSpPr/>
          <p:nvPr/>
        </p:nvSpPr>
        <p:spPr>
          <a:xfrm>
            <a:off x="276225" y="3524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09975"/>
            <a:ext cx="1163955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00630"/>
            <a:ext cx="366712" cy="533399"/>
          </a:xfrm>
          <a:prstGeom prst="rect">
            <a:avLst/>
          </a:prstGeom>
        </p:spPr>
      </p:pic>
      <p:sp>
        <p:nvSpPr>
          <p:cNvPr id="21" name="TextBox 20"/>
          <p:cNvSpPr txBox="1"/>
          <p:nvPr/>
        </p:nvSpPr>
        <p:spPr>
          <a:xfrm>
            <a:off x="276225" y="3619500"/>
            <a:ext cx="2331417" cy="194310"/>
          </a:xfrm>
          <a:prstGeom prst="rect">
            <a:avLst/>
          </a:prstGeom>
          <a:noFill/>
        </p:spPr>
        <p:txBody>
          <a:bodyPr wrap="none" lIns="0" rIns="0" tIns="0" bIns="0">
            <a:spAutoFit/>
          </a:bodyPr>
          <a:lstStyle/>
          <a:p>
            <a:r>
              <a:rPr sz="1150" b="0">
                <a:solidFill>
                  <a:srgbClr val="2E2E2E"/>
                </a:solidFill>
                <a:latin typeface="Calibri"/>
              </a:rPr>
              <a:t>▪ 'Retail' is the largest sales channel at</a:t>
            </a:r>
          </a:p>
        </p:txBody>
      </p:sp>
      <p:pic>
        <p:nvPicPr>
          <p:cNvPr id="22" name="Picture 21" descr="lock.png"/>
          <p:cNvPicPr>
            <a:picLocks noChangeAspect="1"/>
          </p:cNvPicPr>
          <p:nvPr/>
        </p:nvPicPr>
        <p:blipFill>
          <a:blip r:embed="rId4"/>
          <a:stretch>
            <a:fillRect/>
          </a:stretch>
        </p:blipFill>
        <p:spPr>
          <a:xfrm>
            <a:off x="2556796" y="3609276"/>
            <a:ext cx="134549" cy="195707"/>
          </a:xfrm>
          <a:prstGeom prst="rect">
            <a:avLst/>
          </a:prstGeom>
        </p:spPr>
      </p:pic>
      <p:sp>
        <p:nvSpPr>
          <p:cNvPr id="23" name="TextBox 22"/>
          <p:cNvSpPr txBox="1"/>
          <p:nvPr/>
        </p:nvSpPr>
        <p:spPr>
          <a:xfrm>
            <a:off x="2731905" y="36195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761638" y="3609276"/>
            <a:ext cx="134549" cy="195707"/>
          </a:xfrm>
          <a:prstGeom prst="rect">
            <a:avLst/>
          </a:prstGeom>
        </p:spPr>
      </p:pic>
      <p:sp>
        <p:nvSpPr>
          <p:cNvPr id="25" name="TextBox 24"/>
          <p:cNvSpPr txBox="1"/>
          <p:nvPr/>
        </p:nvSpPr>
        <p:spPr>
          <a:xfrm>
            <a:off x="3936747" y="36195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847337"/>
            <a:ext cx="2767539" cy="194310"/>
          </a:xfrm>
          <a:prstGeom prst="rect">
            <a:avLst/>
          </a:prstGeom>
          <a:noFill/>
        </p:spPr>
        <p:txBody>
          <a:bodyPr wrap="none" lIns="0" rIns="0" tIns="0" bIns="0">
            <a:spAutoFit/>
          </a:bodyPr>
          <a:lstStyle/>
          <a:p>
            <a:r>
              <a:rPr sz="1150" b="0">
                <a:solidFill>
                  <a:srgbClr val="2E2E2E"/>
                </a:solidFill>
                <a:latin typeface="Calibri"/>
              </a:rPr>
              <a:t>▪ 'Foodservice and institutional' grows fastest</a:t>
            </a:r>
          </a:p>
        </p:txBody>
      </p:sp>
      <p:pic>
        <p:nvPicPr>
          <p:cNvPr id="27" name="Picture 26" descr="lock.png"/>
          <p:cNvPicPr>
            <a:picLocks noChangeAspect="1"/>
          </p:cNvPicPr>
          <p:nvPr/>
        </p:nvPicPr>
        <p:blipFill>
          <a:blip r:embed="rId4"/>
          <a:stretch>
            <a:fillRect/>
          </a:stretch>
        </p:blipFill>
        <p:spPr>
          <a:xfrm>
            <a:off x="2992918" y="3837114"/>
            <a:ext cx="134549" cy="195707"/>
          </a:xfrm>
          <a:prstGeom prst="rect">
            <a:avLst/>
          </a:prstGeom>
        </p:spPr>
      </p:pic>
      <p:sp>
        <p:nvSpPr>
          <p:cNvPr id="28" name="TextBox 27"/>
          <p:cNvSpPr txBox="1"/>
          <p:nvPr/>
        </p:nvSpPr>
        <p:spPr>
          <a:xfrm>
            <a:off x="3168027" y="3847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075175"/>
            <a:ext cx="3276717" cy="194310"/>
          </a:xfrm>
          <a:prstGeom prst="rect">
            <a:avLst/>
          </a:prstGeom>
          <a:noFill/>
        </p:spPr>
        <p:txBody>
          <a:bodyPr wrap="none" lIns="0" rIns="0" tIns="0" bIns="0">
            <a:spAutoFit/>
          </a:bodyPr>
          <a:lstStyle/>
          <a:p>
            <a:r>
              <a:rPr sz="1150" b="0">
                <a:solidFill>
                  <a:srgbClr val="2E2E2E"/>
                </a:solidFill>
                <a:latin typeface="Calibri"/>
              </a:rPr>
              <a:t>▪ Share shifts toward 'Foodservice and institutional' (+</a:t>
            </a:r>
          </a:p>
        </p:txBody>
      </p:sp>
      <p:pic>
        <p:nvPicPr>
          <p:cNvPr id="30" name="Picture 29" descr="lock.png"/>
          <p:cNvPicPr>
            <a:picLocks noChangeAspect="1"/>
          </p:cNvPicPr>
          <p:nvPr/>
        </p:nvPicPr>
        <p:blipFill>
          <a:blip r:embed="rId4"/>
          <a:stretch>
            <a:fillRect/>
          </a:stretch>
        </p:blipFill>
        <p:spPr>
          <a:xfrm>
            <a:off x="3502096" y="4064952"/>
            <a:ext cx="134549" cy="195707"/>
          </a:xfrm>
          <a:prstGeom prst="rect">
            <a:avLst/>
          </a:prstGeom>
        </p:spPr>
      </p:pic>
      <p:sp>
        <p:nvSpPr>
          <p:cNvPr id="31" name="TextBox 30"/>
          <p:cNvSpPr txBox="1"/>
          <p:nvPr/>
        </p:nvSpPr>
        <p:spPr>
          <a:xfrm>
            <a:off x="3677205" y="4075175"/>
            <a:ext cx="1822809" cy="194310"/>
          </a:xfrm>
          <a:prstGeom prst="rect">
            <a:avLst/>
          </a:prstGeom>
          <a:noFill/>
        </p:spPr>
        <p:txBody>
          <a:bodyPr wrap="none" lIns="0" rIns="0" tIns="0" bIns="0">
            <a:spAutoFit/>
          </a:bodyPr>
          <a:lstStyle/>
          <a:p>
            <a:r>
              <a:rPr sz="1150" b="0">
                <a:solidFill>
                  <a:srgbClr val="2E2E2E"/>
                </a:solidFill>
                <a:latin typeface="Calibri"/>
              </a:rPr>
              <a:t>BPS) and away from 'Retail' (-</a:t>
            </a:r>
          </a:p>
        </p:txBody>
      </p:sp>
      <p:pic>
        <p:nvPicPr>
          <p:cNvPr id="32" name="Picture 31" descr="lock.png"/>
          <p:cNvPicPr>
            <a:picLocks noChangeAspect="1"/>
          </p:cNvPicPr>
          <p:nvPr/>
        </p:nvPicPr>
        <p:blipFill>
          <a:blip r:embed="rId4"/>
          <a:stretch>
            <a:fillRect/>
          </a:stretch>
        </p:blipFill>
        <p:spPr>
          <a:xfrm>
            <a:off x="5449169" y="4064952"/>
            <a:ext cx="134549" cy="195707"/>
          </a:xfrm>
          <a:prstGeom prst="rect">
            <a:avLst/>
          </a:prstGeom>
        </p:spPr>
      </p:pic>
      <p:sp>
        <p:nvSpPr>
          <p:cNvPr id="33" name="TextBox 32"/>
          <p:cNvSpPr txBox="1"/>
          <p:nvPr/>
        </p:nvSpPr>
        <p:spPr>
          <a:xfrm>
            <a:off x="5624278" y="4075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030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292790"/>
            <a:ext cx="134549" cy="195707"/>
          </a:xfrm>
          <a:prstGeom prst="rect">
            <a:avLst/>
          </a:prstGeom>
        </p:spPr>
      </p:pic>
      <p:sp>
        <p:nvSpPr>
          <p:cNvPr id="36" name="TextBox 35"/>
          <p:cNvSpPr txBox="1"/>
          <p:nvPr/>
        </p:nvSpPr>
        <p:spPr>
          <a:xfrm>
            <a:off x="1965143" y="4303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292790"/>
            <a:ext cx="134549" cy="195707"/>
          </a:xfrm>
          <a:prstGeom prst="rect">
            <a:avLst/>
          </a:prstGeom>
        </p:spPr>
      </p:pic>
      <p:sp>
        <p:nvSpPr>
          <p:cNvPr id="38" name="TextBox 37"/>
          <p:cNvSpPr txBox="1"/>
          <p:nvPr/>
        </p:nvSpPr>
        <p:spPr>
          <a:xfrm>
            <a:off x="2291688" y="43030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Sales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Sales Channel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51666"/>
                <a:gridCol w="584443"/>
                <a:gridCol w="584443"/>
                <a:gridCol w="584443"/>
                <a:gridCol w="584443"/>
                <a:gridCol w="584443"/>
                <a:gridCol w="584443"/>
                <a:gridCol w="584443"/>
                <a:gridCol w="584443"/>
                <a:gridCol w="584443"/>
                <a:gridCol w="584443"/>
                <a:gridCol w="584443"/>
                <a:gridCol w="584443"/>
                <a:gridCol w="584443"/>
                <a:gridCol w="584443"/>
                <a:gridCol w="584443"/>
                <a:gridCol w="584443"/>
                <a:gridCol w="584443"/>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Sales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5141" y="1713738"/>
            <a:ext cx="366712" cy="533400"/>
          </a:xfrm>
          <a:prstGeom prst="rect">
            <a:avLst/>
          </a:prstGeom>
        </p:spPr>
      </p:pic>
      <p:sp>
        <p:nvSpPr>
          <p:cNvPr id="21" name="TextBox 20"/>
          <p:cNvSpPr txBox="1"/>
          <p:nvPr/>
        </p:nvSpPr>
        <p:spPr>
          <a:xfrm>
            <a:off x="276225" y="3238500"/>
            <a:ext cx="2331417" cy="194310"/>
          </a:xfrm>
          <a:prstGeom prst="rect">
            <a:avLst/>
          </a:prstGeom>
          <a:noFill/>
        </p:spPr>
        <p:txBody>
          <a:bodyPr wrap="none" lIns="0" rIns="0" tIns="0" bIns="0">
            <a:spAutoFit/>
          </a:bodyPr>
          <a:lstStyle/>
          <a:p>
            <a:r>
              <a:rPr sz="1150" b="0">
                <a:solidFill>
                  <a:srgbClr val="2E2E2E"/>
                </a:solidFill>
                <a:latin typeface="Calibri"/>
              </a:rPr>
              <a:t>▪ 'Retail' is the largest sales channel at</a:t>
            </a:r>
          </a:p>
        </p:txBody>
      </p:sp>
      <p:pic>
        <p:nvPicPr>
          <p:cNvPr id="22" name="Picture 21" descr="lock.png"/>
          <p:cNvPicPr>
            <a:picLocks noChangeAspect="1"/>
          </p:cNvPicPr>
          <p:nvPr/>
        </p:nvPicPr>
        <p:blipFill>
          <a:blip r:embed="rId4"/>
          <a:stretch>
            <a:fillRect/>
          </a:stretch>
        </p:blipFill>
        <p:spPr>
          <a:xfrm>
            <a:off x="2556796" y="3228276"/>
            <a:ext cx="134549" cy="195707"/>
          </a:xfrm>
          <a:prstGeom prst="rect">
            <a:avLst/>
          </a:prstGeom>
        </p:spPr>
      </p:pic>
      <p:sp>
        <p:nvSpPr>
          <p:cNvPr id="23" name="TextBox 22"/>
          <p:cNvSpPr txBox="1"/>
          <p:nvPr/>
        </p:nvSpPr>
        <p:spPr>
          <a:xfrm>
            <a:off x="2731905"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637838" y="3228276"/>
            <a:ext cx="134549" cy="195707"/>
          </a:xfrm>
          <a:prstGeom prst="rect">
            <a:avLst/>
          </a:prstGeom>
        </p:spPr>
      </p:pic>
      <p:sp>
        <p:nvSpPr>
          <p:cNvPr id="25" name="TextBox 24"/>
          <p:cNvSpPr txBox="1"/>
          <p:nvPr/>
        </p:nvSpPr>
        <p:spPr>
          <a:xfrm>
            <a:off x="3812947"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767539" cy="194310"/>
          </a:xfrm>
          <a:prstGeom prst="rect">
            <a:avLst/>
          </a:prstGeom>
          <a:noFill/>
        </p:spPr>
        <p:txBody>
          <a:bodyPr wrap="none" lIns="0" rIns="0" tIns="0" bIns="0">
            <a:spAutoFit/>
          </a:bodyPr>
          <a:lstStyle/>
          <a:p>
            <a:r>
              <a:rPr sz="1150" b="0">
                <a:solidFill>
                  <a:srgbClr val="2E2E2E"/>
                </a:solidFill>
                <a:latin typeface="Calibri"/>
              </a:rPr>
              <a:t>▪ 'Foodservice and institutional' grows fastest</a:t>
            </a:r>
          </a:p>
        </p:txBody>
      </p:sp>
      <p:pic>
        <p:nvPicPr>
          <p:cNvPr id="27" name="Picture 26" descr="lock.png"/>
          <p:cNvPicPr>
            <a:picLocks noChangeAspect="1"/>
          </p:cNvPicPr>
          <p:nvPr/>
        </p:nvPicPr>
        <p:blipFill>
          <a:blip r:embed="rId4"/>
          <a:stretch>
            <a:fillRect/>
          </a:stretch>
        </p:blipFill>
        <p:spPr>
          <a:xfrm>
            <a:off x="2992918" y="3456114"/>
            <a:ext cx="134549" cy="195707"/>
          </a:xfrm>
          <a:prstGeom prst="rect">
            <a:avLst/>
          </a:prstGeom>
        </p:spPr>
      </p:pic>
      <p:sp>
        <p:nvSpPr>
          <p:cNvPr id="28" name="TextBox 27"/>
          <p:cNvSpPr txBox="1"/>
          <p:nvPr/>
        </p:nvSpPr>
        <p:spPr>
          <a:xfrm>
            <a:off x="3168027"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276717" cy="194310"/>
          </a:xfrm>
          <a:prstGeom prst="rect">
            <a:avLst/>
          </a:prstGeom>
          <a:noFill/>
        </p:spPr>
        <p:txBody>
          <a:bodyPr wrap="none" lIns="0" rIns="0" tIns="0" bIns="0">
            <a:spAutoFit/>
          </a:bodyPr>
          <a:lstStyle/>
          <a:p>
            <a:r>
              <a:rPr sz="1150" b="0">
                <a:solidFill>
                  <a:srgbClr val="2E2E2E"/>
                </a:solidFill>
                <a:latin typeface="Calibri"/>
              </a:rPr>
              <a:t>▪ Share shifts toward 'Foodservice and institutional' (+</a:t>
            </a:r>
          </a:p>
        </p:txBody>
      </p:sp>
      <p:pic>
        <p:nvPicPr>
          <p:cNvPr id="30" name="Picture 29" descr="lock.png"/>
          <p:cNvPicPr>
            <a:picLocks noChangeAspect="1"/>
          </p:cNvPicPr>
          <p:nvPr/>
        </p:nvPicPr>
        <p:blipFill>
          <a:blip r:embed="rId4"/>
          <a:stretch>
            <a:fillRect/>
          </a:stretch>
        </p:blipFill>
        <p:spPr>
          <a:xfrm>
            <a:off x="3502096" y="3683952"/>
            <a:ext cx="134549" cy="195707"/>
          </a:xfrm>
          <a:prstGeom prst="rect">
            <a:avLst/>
          </a:prstGeom>
        </p:spPr>
      </p:pic>
      <p:sp>
        <p:nvSpPr>
          <p:cNvPr id="31" name="TextBox 30"/>
          <p:cNvSpPr txBox="1"/>
          <p:nvPr/>
        </p:nvSpPr>
        <p:spPr>
          <a:xfrm>
            <a:off x="3677205" y="3694175"/>
            <a:ext cx="1822809" cy="194310"/>
          </a:xfrm>
          <a:prstGeom prst="rect">
            <a:avLst/>
          </a:prstGeom>
          <a:noFill/>
        </p:spPr>
        <p:txBody>
          <a:bodyPr wrap="none" lIns="0" rIns="0" tIns="0" bIns="0">
            <a:spAutoFit/>
          </a:bodyPr>
          <a:lstStyle/>
          <a:p>
            <a:r>
              <a:rPr sz="1150" b="0">
                <a:solidFill>
                  <a:srgbClr val="2E2E2E"/>
                </a:solidFill>
                <a:latin typeface="Calibri"/>
              </a:rPr>
              <a:t>BPS) and away from 'Retail' (-</a:t>
            </a:r>
          </a:p>
        </p:txBody>
      </p:sp>
      <p:pic>
        <p:nvPicPr>
          <p:cNvPr id="32" name="Picture 31" descr="lock.png"/>
          <p:cNvPicPr>
            <a:picLocks noChangeAspect="1"/>
          </p:cNvPicPr>
          <p:nvPr/>
        </p:nvPicPr>
        <p:blipFill>
          <a:blip r:embed="rId4"/>
          <a:stretch>
            <a:fillRect/>
          </a:stretch>
        </p:blipFill>
        <p:spPr>
          <a:xfrm>
            <a:off x="5449169" y="3683952"/>
            <a:ext cx="134549" cy="195707"/>
          </a:xfrm>
          <a:prstGeom prst="rect">
            <a:avLst/>
          </a:prstGeom>
        </p:spPr>
      </p:pic>
      <p:sp>
        <p:nvSpPr>
          <p:cNvPr id="33" name="TextBox 32"/>
          <p:cNvSpPr txBox="1"/>
          <p:nvPr/>
        </p:nvSpPr>
        <p:spPr>
          <a:xfrm>
            <a:off x="5624278"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Sales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Sales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6744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626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864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Vending</a:t>
            </a:r>
          </a:p>
        </p:txBody>
      </p:sp>
      <p:sp>
        <p:nvSpPr>
          <p:cNvPr id="19" name="BPS Value 1"/>
          <p:cNvSpPr txBox="1"/>
          <p:nvPr/>
        </p:nvSpPr>
        <p:spPr>
          <a:xfrm>
            <a:off x="6896100" y="174839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7248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72008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438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and institutional</a:t>
            </a:r>
          </a:p>
        </p:txBody>
      </p:sp>
      <p:sp>
        <p:nvSpPr>
          <p:cNvPr id="23" name="BPS Value 2"/>
          <p:cNvSpPr txBox="1"/>
          <p:nvPr/>
        </p:nvSpPr>
        <p:spPr>
          <a:xfrm>
            <a:off x="6896100" y="27058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91485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9100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338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a:t>
            </a:r>
          </a:p>
        </p:txBody>
      </p:sp>
      <p:sp>
        <p:nvSpPr>
          <p:cNvPr id="27" name="BPS Value 3"/>
          <p:cNvSpPr txBox="1"/>
          <p:nvPr/>
        </p:nvSpPr>
        <p:spPr>
          <a:xfrm>
            <a:off x="6896100" y="489580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Sales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313800" cy="194310"/>
          </a:xfrm>
          <a:prstGeom prst="rect">
            <a:avLst/>
          </a:prstGeom>
          <a:noFill/>
        </p:spPr>
        <p:txBody>
          <a:bodyPr wrap="none" lIns="0" rIns="0" tIns="0" bIns="0">
            <a:spAutoFit/>
          </a:bodyPr>
          <a:lstStyle/>
          <a:p>
            <a:r>
              <a:rPr sz="1150" b="0">
                <a:solidFill>
                  <a:srgbClr val="2E2E2E"/>
                </a:solidFill>
                <a:latin typeface="Calibri"/>
              </a:rPr>
              <a:t>▪ 'Foodservice and institutional' gains the most share +</a:t>
            </a:r>
          </a:p>
        </p:txBody>
      </p:sp>
      <p:pic>
        <p:nvPicPr>
          <p:cNvPr id="35" name="Picture 34" descr="lock.png"/>
          <p:cNvPicPr>
            <a:picLocks noChangeAspect="1"/>
          </p:cNvPicPr>
          <p:nvPr/>
        </p:nvPicPr>
        <p:blipFill>
          <a:blip r:embed="rId5"/>
          <a:stretch>
            <a:fillRect/>
          </a:stretch>
        </p:blipFill>
        <p:spPr>
          <a:xfrm>
            <a:off x="11092504" y="1389951"/>
            <a:ext cx="134549" cy="195707"/>
          </a:xfrm>
          <a:prstGeom prst="rect">
            <a:avLst/>
          </a:prstGeom>
        </p:spPr>
      </p:pic>
      <p:sp>
        <p:nvSpPr>
          <p:cNvPr id="36" name="TextBox 35"/>
          <p:cNvSpPr txBox="1"/>
          <p:nvPr/>
        </p:nvSpPr>
        <p:spPr>
          <a:xfrm>
            <a:off x="11267613"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7" name="TextBox 36"/>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1580343" cy="194310"/>
          </a:xfrm>
          <a:prstGeom prst="rect">
            <a:avLst/>
          </a:prstGeom>
          <a:noFill/>
        </p:spPr>
        <p:txBody>
          <a:bodyPr wrap="none" lIns="0" rIns="0" tIns="0" bIns="0">
            <a:spAutoFit/>
          </a:bodyPr>
          <a:lstStyle/>
          <a:p>
            <a:r>
              <a:rPr sz="1150" b="0">
                <a:solidFill>
                  <a:srgbClr val="2E2E2E"/>
                </a:solidFill>
                <a:latin typeface="Calibri"/>
              </a:rPr>
              <a:t>▪ 'Retail' cedes the most -</a:t>
            </a:r>
          </a:p>
        </p:txBody>
      </p:sp>
      <p:pic>
        <p:nvPicPr>
          <p:cNvPr id="39" name="Picture 38" descr="lock.png"/>
          <p:cNvPicPr>
            <a:picLocks noChangeAspect="1"/>
          </p:cNvPicPr>
          <p:nvPr/>
        </p:nvPicPr>
        <p:blipFill>
          <a:blip r:embed="rId5"/>
          <a:stretch>
            <a:fillRect/>
          </a:stretch>
        </p:blipFill>
        <p:spPr>
          <a:xfrm>
            <a:off x="9359047" y="1793049"/>
            <a:ext cx="134549" cy="195707"/>
          </a:xfrm>
          <a:prstGeom prst="rect">
            <a:avLst/>
          </a:prstGeom>
        </p:spPr>
      </p:pic>
      <p:sp>
        <p:nvSpPr>
          <p:cNvPr id="40" name="TextBox 39"/>
          <p:cNvSpPr txBox="1"/>
          <p:nvPr/>
        </p:nvSpPr>
        <p:spPr>
          <a:xfrm>
            <a:off x="9534157" y="180327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41" name="TextBox 40"/>
          <p:cNvSpPr txBox="1"/>
          <p:nvPr/>
        </p:nvSpPr>
        <p:spPr>
          <a:xfrm>
            <a:off x="7829550" y="2031111"/>
            <a:ext cx="4057650" cy="194310"/>
          </a:xfrm>
          <a:prstGeom prst="rect">
            <a:avLst/>
          </a:prstGeom>
          <a:noFill/>
        </p:spPr>
        <p:txBody>
          <a:bodyPr wrap="none" lIns="0" rIns="0" tIns="0" bIns="0">
            <a:spAutoFit/>
          </a:bodyPr>
          <a:lstStyle/>
          <a:p>
            <a:r>
              <a:rPr sz="1150" b="0">
                <a:solidFill>
                  <a:srgbClr val="2E2E2E"/>
                </a:solidFill>
                <a:latin typeface="Calibri"/>
              </a:rPr>
              <a:t>▪ 'Foodservice and institutional' is the fastest-growing sales channel</a:t>
            </a:r>
          </a:p>
        </p:txBody>
      </p:sp>
      <p:sp>
        <p:nvSpPr>
          <p:cNvPr id="42" name="TextBox 41"/>
          <p:cNvSpPr txBox="1"/>
          <p:nvPr/>
        </p:nvSpPr>
        <p:spPr>
          <a:xfrm>
            <a:off x="7829550" y="2206371"/>
            <a:ext cx="195150" cy="194310"/>
          </a:xfrm>
          <a:prstGeom prst="rect">
            <a:avLst/>
          </a:prstGeom>
          <a:noFill/>
        </p:spPr>
        <p:txBody>
          <a:bodyPr wrap="none" lIns="0" rIns="0" tIns="0" bIns="0">
            <a:spAutoFit/>
          </a:bodyPr>
          <a:lstStyle/>
          <a:p>
            <a:r>
              <a:rPr sz="1150" b="0">
                <a:solidFill>
                  <a:srgbClr val="2E2E2E"/>
                </a:solidFill>
                <a:latin typeface="Calibri"/>
              </a:rPr>
              <a:t>at</a:t>
            </a:r>
          </a:p>
        </p:txBody>
      </p:sp>
      <p:pic>
        <p:nvPicPr>
          <p:cNvPr id="43" name="Picture 42" descr="lock.png"/>
          <p:cNvPicPr>
            <a:picLocks noChangeAspect="1"/>
          </p:cNvPicPr>
          <p:nvPr/>
        </p:nvPicPr>
        <p:blipFill>
          <a:blip r:embed="rId5"/>
          <a:stretch>
            <a:fillRect/>
          </a:stretch>
        </p:blipFill>
        <p:spPr>
          <a:xfrm>
            <a:off x="7973854" y="2196147"/>
            <a:ext cx="134549" cy="195707"/>
          </a:xfrm>
          <a:prstGeom prst="rect">
            <a:avLst/>
          </a:prstGeom>
        </p:spPr>
      </p:pic>
      <p:sp>
        <p:nvSpPr>
          <p:cNvPr id="44" name="TextBox 43"/>
          <p:cNvSpPr txBox="1"/>
          <p:nvPr/>
        </p:nvSpPr>
        <p:spPr>
          <a:xfrm>
            <a:off x="8148964" y="220637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5" name="TextBox 44"/>
          <p:cNvSpPr txBox="1"/>
          <p:nvPr/>
        </p:nvSpPr>
        <p:spPr>
          <a:xfrm>
            <a:off x="7829550" y="243420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423985"/>
            <a:ext cx="134549" cy="195707"/>
          </a:xfrm>
          <a:prstGeom prst="rect">
            <a:avLst/>
          </a:prstGeom>
        </p:spPr>
      </p:pic>
      <p:sp>
        <p:nvSpPr>
          <p:cNvPr id="47" name="TextBox 46"/>
          <p:cNvSpPr txBox="1"/>
          <p:nvPr/>
        </p:nvSpPr>
        <p:spPr>
          <a:xfrm>
            <a:off x="9502779" y="243420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423985"/>
            <a:ext cx="134549" cy="195707"/>
          </a:xfrm>
          <a:prstGeom prst="rect">
            <a:avLst/>
          </a:prstGeom>
        </p:spPr>
      </p:pic>
      <p:sp>
        <p:nvSpPr>
          <p:cNvPr id="49" name="TextBox 48"/>
          <p:cNvSpPr txBox="1"/>
          <p:nvPr/>
        </p:nvSpPr>
        <p:spPr>
          <a:xfrm>
            <a:off x="9829324" y="243420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66204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2837307"/>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Sales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institutional</a:t>
            </a:r>
          </a:p>
        </p:txBody>
      </p:sp>
      <p:sp>
        <p:nvSpPr>
          <p:cNvPr id="49" name="Rectangle 48"/>
          <p:cNvSpPr/>
          <p:nvPr/>
        </p:nvSpPr>
        <p:spPr>
          <a:xfrm>
            <a:off x="1857375" y="4191000"/>
            <a:ext cx="643890" cy="1190625"/>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Vending</a:t>
            </a:r>
          </a:p>
        </p:txBody>
      </p:sp>
      <p:sp>
        <p:nvSpPr>
          <p:cNvPr id="65" name="Rectangle 64"/>
          <p:cNvSpPr/>
          <p:nvPr/>
        </p:nvSpPr>
        <p:spPr>
          <a:xfrm>
            <a:off x="185737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52" y="1589913"/>
            <a:ext cx="366712" cy="533400"/>
          </a:xfrm>
          <a:prstGeom prst="rect">
            <a:avLst/>
          </a:prstGeom>
        </p:spPr>
      </p:pic>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Sales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institutional</a:t>
            </a:r>
          </a:p>
        </p:txBody>
      </p:sp>
      <p:sp>
        <p:nvSpPr>
          <p:cNvPr id="49" name="Rectangle 48"/>
          <p:cNvSpPr/>
          <p:nvPr/>
        </p:nvSpPr>
        <p:spPr>
          <a:xfrm>
            <a:off x="1857375" y="4191000"/>
            <a:ext cx="643890" cy="119062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Vending</a:t>
            </a:r>
          </a:p>
        </p:txBody>
      </p:sp>
      <p:sp>
        <p:nvSpPr>
          <p:cNvPr id="65" name="Rectangle 64"/>
          <p:cNvSpPr/>
          <p:nvPr/>
        </p:nvSpPr>
        <p:spPr>
          <a:xfrm>
            <a:off x="1857375" y="5381625"/>
            <a:ext cx="643890" cy="119062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52"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Packaging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Sales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Individual Muffin Size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Flavour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Flavour,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flavour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Flavour, 2026E and 2036F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3110607"/>
                <a:gridCol w="1462765"/>
                <a:gridCol w="1462765"/>
                <a:gridCol w="1462765"/>
                <a:gridCol w="1462765"/>
                <a:gridCol w="1462765"/>
                <a:gridCol w="1462765"/>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Sweet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Savoury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466155" y="1839958"/>
            <a:ext cx="363680" cy="528989"/>
          </a:xfrm>
          <a:prstGeom prst="rect">
            <a:avLst/>
          </a:prstGeom>
        </p:spPr>
      </p:pic>
      <p:sp>
        <p:nvSpPr>
          <p:cNvPr id="21" name="TextBox 20"/>
          <p:cNvSpPr txBox="1"/>
          <p:nvPr/>
        </p:nvSpPr>
        <p:spPr>
          <a:xfrm>
            <a:off x="276225" y="3238500"/>
            <a:ext cx="5185667" cy="194310"/>
          </a:xfrm>
          <a:prstGeom prst="rect">
            <a:avLst/>
          </a:prstGeom>
          <a:noFill/>
        </p:spPr>
        <p:txBody>
          <a:bodyPr wrap="none" lIns="0" rIns="0" tIns="0" bIns="0">
            <a:spAutoFit/>
          </a:bodyPr>
          <a:lstStyle/>
          <a:p>
            <a:r>
              <a:rPr sz="1150" b="0">
                <a:solidFill>
                  <a:srgbClr val="2E2E2E"/>
                </a:solidFill>
                <a:latin typeface="Calibri"/>
              </a:rPr>
              <a:t>▪ 'Sweet muffins' accounts for the largest share of the Global market by product type (</a:t>
            </a:r>
          </a:p>
        </p:txBody>
      </p:sp>
      <p:pic>
        <p:nvPicPr>
          <p:cNvPr id="22" name="Picture 21" descr="lock.png"/>
          <p:cNvPicPr>
            <a:picLocks noChangeAspect="1"/>
          </p:cNvPicPr>
          <p:nvPr/>
        </p:nvPicPr>
        <p:blipFill>
          <a:blip r:embed="rId4"/>
          <a:stretch>
            <a:fillRect/>
          </a:stretch>
        </p:blipFill>
        <p:spPr>
          <a:xfrm>
            <a:off x="5411046" y="3228276"/>
            <a:ext cx="134549" cy="195707"/>
          </a:xfrm>
          <a:prstGeom prst="rect">
            <a:avLst/>
          </a:prstGeom>
        </p:spPr>
      </p:pic>
      <p:sp>
        <p:nvSpPr>
          <p:cNvPr id="23" name="TextBox 22"/>
          <p:cNvSpPr txBox="1"/>
          <p:nvPr/>
        </p:nvSpPr>
        <p:spPr>
          <a:xfrm>
            <a:off x="5586156" y="3238500"/>
            <a:ext cx="582525" cy="194310"/>
          </a:xfrm>
          <a:prstGeom prst="rect">
            <a:avLst/>
          </a:prstGeom>
          <a:noFill/>
        </p:spPr>
        <p:txBody>
          <a:bodyPr wrap="none" lIns="0" rIns="0" tIns="0" bIns="0">
            <a:spAutoFit/>
          </a:bodyPr>
          <a:lstStyle/>
          <a:p>
            <a:r>
              <a:rPr sz="1150" b="0">
                <a:solidFill>
                  <a:srgbClr val="2E2E2E"/>
                </a:solidFill>
                <a:latin typeface="Calibri"/>
              </a:rPr>
              <a:t>US$ Mn,</a:t>
            </a:r>
          </a:p>
        </p:txBody>
      </p:sp>
      <p:pic>
        <p:nvPicPr>
          <p:cNvPr id="24" name="Picture 23" descr="lock.png"/>
          <p:cNvPicPr>
            <a:picLocks noChangeAspect="1"/>
          </p:cNvPicPr>
          <p:nvPr/>
        </p:nvPicPr>
        <p:blipFill>
          <a:blip r:embed="rId4"/>
          <a:stretch>
            <a:fillRect/>
          </a:stretch>
        </p:blipFill>
        <p:spPr>
          <a:xfrm>
            <a:off x="6117835" y="3228276"/>
            <a:ext cx="134549" cy="195707"/>
          </a:xfrm>
          <a:prstGeom prst="rect">
            <a:avLst/>
          </a:prstGeom>
        </p:spPr>
      </p:pic>
      <p:sp>
        <p:nvSpPr>
          <p:cNvPr id="25" name="TextBox 24"/>
          <p:cNvSpPr txBox="1"/>
          <p:nvPr/>
        </p:nvSpPr>
        <p:spPr>
          <a:xfrm>
            <a:off x="6292945" y="3238500"/>
            <a:ext cx="4495638" cy="194310"/>
          </a:xfrm>
          <a:prstGeom prst="rect">
            <a:avLst/>
          </a:prstGeom>
          <a:noFill/>
        </p:spPr>
        <p:txBody>
          <a:bodyPr wrap="none" lIns="0" rIns="0" tIns="0" bIns="0">
            <a:spAutoFit/>
          </a:bodyPr>
          <a:lstStyle/>
          <a:p>
            <a:r>
              <a:rPr sz="1150" b="0">
                <a:solidFill>
                  <a:srgbClr val="2E2E2E"/>
                </a:solidFill>
                <a:latin typeface="Calibri"/>
              </a:rPr>
              <a:t>in 2026E), with 'Sweet Muffins Flavours' its leading flavour sub-segment at</a:t>
            </a:r>
          </a:p>
        </p:txBody>
      </p:sp>
      <p:pic>
        <p:nvPicPr>
          <p:cNvPr id="26" name="Picture 25" descr="lock.png"/>
          <p:cNvPicPr>
            <a:picLocks noChangeAspect="1"/>
          </p:cNvPicPr>
          <p:nvPr/>
        </p:nvPicPr>
        <p:blipFill>
          <a:blip r:embed="rId4"/>
          <a:stretch>
            <a:fillRect/>
          </a:stretch>
        </p:blipFill>
        <p:spPr>
          <a:xfrm>
            <a:off x="10737737" y="3228276"/>
            <a:ext cx="134549" cy="195707"/>
          </a:xfrm>
          <a:prstGeom prst="rect">
            <a:avLst/>
          </a:prstGeom>
        </p:spPr>
      </p:pic>
      <p:sp>
        <p:nvSpPr>
          <p:cNvPr id="27" name="TextBox 26"/>
          <p:cNvSpPr txBox="1"/>
          <p:nvPr/>
        </p:nvSpPr>
        <p:spPr>
          <a:xfrm>
            <a:off x="10912847" y="3238500"/>
            <a:ext cx="582810"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8" name="TextBox 27"/>
          <p:cNvSpPr txBox="1"/>
          <p:nvPr/>
        </p:nvSpPr>
        <p:spPr>
          <a:xfrm>
            <a:off x="276225" y="3466337"/>
            <a:ext cx="4994262" cy="194310"/>
          </a:xfrm>
          <a:prstGeom prst="rect">
            <a:avLst/>
          </a:prstGeom>
          <a:noFill/>
        </p:spPr>
        <p:txBody>
          <a:bodyPr wrap="none" lIns="0" rIns="0" tIns="0" bIns="0">
            <a:spAutoFit/>
          </a:bodyPr>
          <a:lstStyle/>
          <a:p>
            <a:r>
              <a:rPr sz="1150" b="0">
                <a:solidFill>
                  <a:srgbClr val="2E2E2E"/>
                </a:solidFill>
                <a:latin typeface="Calibri"/>
              </a:rPr>
              <a:t>▪ 'Sweet muffins × Sweet Muffins Flavours' is the single largest cross-sectional cell (</a:t>
            </a:r>
          </a:p>
        </p:txBody>
      </p:sp>
      <p:pic>
        <p:nvPicPr>
          <p:cNvPr id="29" name="Picture 28" descr="lock.png"/>
          <p:cNvPicPr>
            <a:picLocks noChangeAspect="1"/>
          </p:cNvPicPr>
          <p:nvPr/>
        </p:nvPicPr>
        <p:blipFill>
          <a:blip r:embed="rId4"/>
          <a:stretch>
            <a:fillRect/>
          </a:stretch>
        </p:blipFill>
        <p:spPr>
          <a:xfrm>
            <a:off x="5219641" y="3456114"/>
            <a:ext cx="134549" cy="195707"/>
          </a:xfrm>
          <a:prstGeom prst="rect">
            <a:avLst/>
          </a:prstGeom>
        </p:spPr>
      </p:pic>
      <p:sp>
        <p:nvSpPr>
          <p:cNvPr id="30" name="TextBox 29"/>
          <p:cNvSpPr txBox="1"/>
          <p:nvPr/>
        </p:nvSpPr>
        <p:spPr>
          <a:xfrm>
            <a:off x="5394750" y="3466337"/>
            <a:ext cx="6381719" cy="194310"/>
          </a:xfrm>
          <a:prstGeom prst="rect">
            <a:avLst/>
          </a:prstGeom>
          <a:noFill/>
        </p:spPr>
        <p:txBody>
          <a:bodyPr wrap="none" lIns="0" rIns="0" tIns="0" bIns="0">
            <a:spAutoFit/>
          </a:bodyPr>
          <a:lstStyle/>
          <a:p>
            <a:r>
              <a:rPr sz="1150" b="0">
                <a:solidFill>
                  <a:srgbClr val="2E2E2E"/>
                </a:solidFill>
                <a:latin typeface="Calibri"/>
              </a:rPr>
              <a:t>US$ Mn, 2026E), while 'Sweet muffins × Savoury Muffins Flavours' records the fastest growth at a CAGR of</a:t>
            </a:r>
          </a:p>
        </p:txBody>
      </p:sp>
      <p:pic>
        <p:nvPicPr>
          <p:cNvPr id="31" name="Picture 30" descr="lock.png"/>
          <p:cNvPicPr>
            <a:picLocks noChangeAspect="1"/>
          </p:cNvPicPr>
          <p:nvPr/>
        </p:nvPicPr>
        <p:blipFill>
          <a:blip r:embed="rId4"/>
          <a:stretch>
            <a:fillRect/>
          </a:stretch>
        </p:blipFill>
        <p:spPr>
          <a:xfrm>
            <a:off x="262145" y="3631374"/>
            <a:ext cx="134549" cy="195707"/>
          </a:xfrm>
          <a:prstGeom prst="rect">
            <a:avLst/>
          </a:prstGeom>
        </p:spPr>
      </p:pic>
      <p:sp>
        <p:nvSpPr>
          <p:cNvPr id="32" name="TextBox 31"/>
          <p:cNvSpPr txBox="1"/>
          <p:nvPr/>
        </p:nvSpPr>
        <p:spPr>
          <a:xfrm>
            <a:off x="437254" y="3641597"/>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3" name="TextBox 32"/>
          <p:cNvSpPr txBox="1"/>
          <p:nvPr/>
        </p:nvSpPr>
        <p:spPr>
          <a:xfrm>
            <a:off x="276225" y="3869435"/>
            <a:ext cx="5575895" cy="194310"/>
          </a:xfrm>
          <a:prstGeom prst="rect">
            <a:avLst/>
          </a:prstGeom>
          <a:noFill/>
        </p:spPr>
        <p:txBody>
          <a:bodyPr wrap="none" lIns="0" rIns="0" tIns="0" bIns="0">
            <a:spAutoFit/>
          </a:bodyPr>
          <a:lstStyle/>
          <a:p>
            <a:r>
              <a:rPr sz="1150" b="0">
                <a:solidFill>
                  <a:srgbClr val="2E2E2E"/>
                </a:solidFill>
                <a:latin typeface="Calibri"/>
              </a:rPr>
              <a:t>▪ Combined, the top three product type × flavour cells generate an absolute $ opportunity of</a:t>
            </a:r>
          </a:p>
        </p:txBody>
      </p:sp>
      <p:pic>
        <p:nvPicPr>
          <p:cNvPr id="34" name="Picture 33" descr="lock.png"/>
          <p:cNvPicPr>
            <a:picLocks noChangeAspect="1"/>
          </p:cNvPicPr>
          <p:nvPr/>
        </p:nvPicPr>
        <p:blipFill>
          <a:blip r:embed="rId4"/>
          <a:stretch>
            <a:fillRect/>
          </a:stretch>
        </p:blipFill>
        <p:spPr>
          <a:xfrm>
            <a:off x="5801274" y="3859212"/>
            <a:ext cx="134549" cy="195707"/>
          </a:xfrm>
          <a:prstGeom prst="rect">
            <a:avLst/>
          </a:prstGeom>
        </p:spPr>
      </p:pic>
      <p:sp>
        <p:nvSpPr>
          <p:cNvPr id="35" name="TextBox 34"/>
          <p:cNvSpPr txBox="1"/>
          <p:nvPr/>
        </p:nvSpPr>
        <p:spPr>
          <a:xfrm>
            <a:off x="5976383" y="3869435"/>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Flavour,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flavour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Flavour, 2026E (% of each row)</a:t>
            </a:r>
          </a:p>
        </p:txBody>
      </p:sp>
      <p:graphicFrame>
        <p:nvGraphicFramePr>
          <p:cNvPr id="13" name="Table 12"/>
          <p:cNvGraphicFramePr>
            <a:graphicFrameLocks noGrp="1"/>
          </p:cNvGraphicFramePr>
          <p:nvPr/>
        </p:nvGraphicFramePr>
        <p:xfrm>
          <a:off x="152400" y="1238250"/>
          <a:ext cx="11887201" cy="1428751"/>
        </p:xfrm>
        <a:graphic>
          <a:graphicData uri="http://schemas.openxmlformats.org/drawingml/2006/table">
            <a:tbl>
              <a:tblPr>
                <a:tableStyleId>{5C22544A-7EE6-4342-B048-85BDC9FD1C3A}</a:tableStyleId>
              </a:tblPr>
              <a:tblGrid>
                <a:gridCol w="1083397"/>
                <a:gridCol w="788880"/>
                <a:gridCol w="1110156"/>
                <a:gridCol w="1308532"/>
                <a:gridCol w="1070776"/>
                <a:gridCol w="1688541"/>
                <a:gridCol w="943374"/>
                <a:gridCol w="1117515"/>
                <a:gridCol w="830550"/>
                <a:gridCol w="1401674"/>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5">
                  <a:txBody>
                    <a:bodyPr wrap="none"/>
                    <a:lstStyle/>
                    <a:p>
                      <a:pPr algn="ctr"/>
                      <a:r>
                        <a:rPr sz="1100" b="1">
                          <a:solidFill>
                            <a:srgbClr val="0B2E4A"/>
                          </a:solidFill>
                          <a:latin typeface="Calibri"/>
                        </a:rPr>
                        <a:t>Sweet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4">
                  <a:txBody>
                    <a:bodyPr wrap="none"/>
                    <a:lstStyle/>
                    <a:p>
                      <a:pPr algn="ctr"/>
                      <a:r>
                        <a:rPr sz="1100" b="1">
                          <a:solidFill>
                            <a:srgbClr val="0B2E4A"/>
                          </a:solidFill>
                          <a:latin typeface="Calibri"/>
                        </a:rPr>
                        <a:t>Savoury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245">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Fruit-based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Chocolate-based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Nut and seed-based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Plain and classic</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Spice and dessert-inspired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Cheese-based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Vegetable-based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Meat-based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Herb and spice-based</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7286625"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0670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Flavour Mix by Product Type, 2026E (% share)</a:t>
            </a:r>
          </a:p>
        </p:txBody>
      </p:sp>
      <p:graphicFrame>
        <p:nvGraphicFramePr>
          <p:cNvPr id="17" name="Chart 16"/>
          <p:cNvGraphicFramePr>
            <a:graphicFrameLocks noGrp="1"/>
          </p:cNvGraphicFramePr>
          <p:nvPr/>
        </p:nvGraphicFramePr>
        <p:xfrm>
          <a:off x="238125" y="3295650"/>
          <a:ext cx="7096125" cy="32766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009900"/>
            <a:ext cx="4457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0956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3337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419475"/>
            <a:ext cx="41910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51008" y="2029112"/>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990419"/>
            <a:ext cx="440818" cy="641190"/>
          </a:xfrm>
          <a:prstGeom prst="rect">
            <a:avLst/>
          </a:prstGeom>
        </p:spPr>
      </p:pic>
      <p:sp>
        <p:nvSpPr>
          <p:cNvPr id="25" name="TextBox 24"/>
          <p:cNvSpPr txBox="1"/>
          <p:nvPr/>
        </p:nvSpPr>
        <p:spPr>
          <a:xfrm>
            <a:off x="7715250" y="3429000"/>
            <a:ext cx="3568278" cy="194310"/>
          </a:xfrm>
          <a:prstGeom prst="rect">
            <a:avLst/>
          </a:prstGeom>
          <a:noFill/>
        </p:spPr>
        <p:txBody>
          <a:bodyPr wrap="none" lIns="0" rIns="0" tIns="0" bIns="0">
            <a:spAutoFit/>
          </a:bodyPr>
          <a:lstStyle/>
          <a:p>
            <a:r>
              <a:rPr sz="1150" b="0">
                <a:solidFill>
                  <a:srgbClr val="2E2E2E"/>
                </a:solidFill>
                <a:latin typeface="Calibri"/>
              </a:rPr>
              <a:t>▪ 'Fruit-based' holds the highest share of 'Sweet muffins' at</a:t>
            </a:r>
          </a:p>
        </p:txBody>
      </p:sp>
      <p:pic>
        <p:nvPicPr>
          <p:cNvPr id="26" name="Picture 25" descr="lock.png"/>
          <p:cNvPicPr>
            <a:picLocks noChangeAspect="1"/>
          </p:cNvPicPr>
          <p:nvPr/>
        </p:nvPicPr>
        <p:blipFill>
          <a:blip r:embed="rId5"/>
          <a:stretch>
            <a:fillRect/>
          </a:stretch>
        </p:blipFill>
        <p:spPr>
          <a:xfrm>
            <a:off x="11232682" y="3418776"/>
            <a:ext cx="134549" cy="195707"/>
          </a:xfrm>
          <a:prstGeom prst="rect">
            <a:avLst/>
          </a:prstGeom>
        </p:spPr>
      </p:pic>
      <p:sp>
        <p:nvSpPr>
          <p:cNvPr id="27" name="TextBox 26"/>
          <p:cNvSpPr txBox="1"/>
          <p:nvPr/>
        </p:nvSpPr>
        <p:spPr>
          <a:xfrm>
            <a:off x="7715250" y="36042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8" name="TextBox 27"/>
          <p:cNvSpPr txBox="1"/>
          <p:nvPr/>
        </p:nvSpPr>
        <p:spPr>
          <a:xfrm>
            <a:off x="7715250" y="3832097"/>
            <a:ext cx="4171950" cy="194310"/>
          </a:xfrm>
          <a:prstGeom prst="rect">
            <a:avLst/>
          </a:prstGeom>
          <a:noFill/>
        </p:spPr>
        <p:txBody>
          <a:bodyPr wrap="none" lIns="0" rIns="0" tIns="0" bIns="0">
            <a:spAutoFit/>
          </a:bodyPr>
          <a:lstStyle/>
          <a:p>
            <a:r>
              <a:rPr sz="1150" b="0">
                <a:solidFill>
                  <a:srgbClr val="2E2E2E"/>
                </a:solidFill>
                <a:latin typeface="Calibri"/>
              </a:rPr>
              <a:t>▪ 'Sweet muffins' is the most concentrated product type sub-segment,</a:t>
            </a:r>
          </a:p>
        </p:txBody>
      </p:sp>
      <p:sp>
        <p:nvSpPr>
          <p:cNvPr id="29" name="TextBox 28"/>
          <p:cNvSpPr txBox="1"/>
          <p:nvPr/>
        </p:nvSpPr>
        <p:spPr>
          <a:xfrm>
            <a:off x="7715250" y="4007357"/>
            <a:ext cx="340059" cy="194310"/>
          </a:xfrm>
          <a:prstGeom prst="rect">
            <a:avLst/>
          </a:prstGeom>
          <a:noFill/>
        </p:spPr>
        <p:txBody>
          <a:bodyPr wrap="none" lIns="0" rIns="0" tIns="0" bIns="0">
            <a:spAutoFit/>
          </a:bodyPr>
          <a:lstStyle/>
          <a:p>
            <a:r>
              <a:rPr sz="1150" b="0">
                <a:solidFill>
                  <a:srgbClr val="2E2E2E"/>
                </a:solidFill>
                <a:latin typeface="Calibri"/>
              </a:rPr>
              <a:t>with</a:t>
            </a:r>
          </a:p>
        </p:txBody>
      </p:sp>
      <p:pic>
        <p:nvPicPr>
          <p:cNvPr id="30" name="Picture 29" descr="lock.png"/>
          <p:cNvPicPr>
            <a:picLocks noChangeAspect="1"/>
          </p:cNvPicPr>
          <p:nvPr/>
        </p:nvPicPr>
        <p:blipFill>
          <a:blip r:embed="rId5"/>
          <a:stretch>
            <a:fillRect/>
          </a:stretch>
        </p:blipFill>
        <p:spPr>
          <a:xfrm>
            <a:off x="8004463" y="3997134"/>
            <a:ext cx="134549" cy="195707"/>
          </a:xfrm>
          <a:prstGeom prst="rect">
            <a:avLst/>
          </a:prstGeom>
        </p:spPr>
      </p:pic>
      <p:sp>
        <p:nvSpPr>
          <p:cNvPr id="31" name="TextBox 30"/>
          <p:cNvSpPr txBox="1"/>
          <p:nvPr/>
        </p:nvSpPr>
        <p:spPr>
          <a:xfrm>
            <a:off x="8179573" y="4007357"/>
            <a:ext cx="1734951" cy="194310"/>
          </a:xfrm>
          <a:prstGeom prst="rect">
            <a:avLst/>
          </a:prstGeom>
          <a:noFill/>
        </p:spPr>
        <p:txBody>
          <a:bodyPr wrap="none" lIns="0" rIns="0" tIns="0" bIns="0">
            <a:spAutoFit/>
          </a:bodyPr>
          <a:lstStyle/>
          <a:p>
            <a:r>
              <a:rPr sz="1150" b="0">
                <a:solidFill>
                  <a:srgbClr val="2E2E2E"/>
                </a:solidFill>
                <a:latin typeface="Calibri"/>
              </a:rPr>
              <a:t>of its value via 'Fruit-based'.</a:t>
            </a:r>
          </a:p>
        </p:txBody>
      </p:sp>
      <p:sp>
        <p:nvSpPr>
          <p:cNvPr id="32" name="TextBox 31"/>
          <p:cNvSpPr txBox="1"/>
          <p:nvPr/>
        </p:nvSpPr>
        <p:spPr>
          <a:xfrm>
            <a:off x="7715250" y="4235195"/>
            <a:ext cx="1498190" cy="194310"/>
          </a:xfrm>
          <a:prstGeom prst="rect">
            <a:avLst/>
          </a:prstGeom>
          <a:noFill/>
        </p:spPr>
        <p:txBody>
          <a:bodyPr wrap="none" lIns="0" rIns="0" tIns="0" bIns="0">
            <a:spAutoFit/>
          </a:bodyPr>
          <a:lstStyle/>
          <a:p>
            <a:r>
              <a:rPr sz="1150" b="0">
                <a:solidFill>
                  <a:srgbClr val="2E2E2E"/>
                </a:solidFill>
                <a:latin typeface="Calibri"/>
              </a:rPr>
              <a:t>▪ 'Cheese-based' gains +</a:t>
            </a:r>
          </a:p>
        </p:txBody>
      </p:sp>
      <p:pic>
        <p:nvPicPr>
          <p:cNvPr id="33" name="Picture 32" descr="lock.png"/>
          <p:cNvPicPr>
            <a:picLocks noChangeAspect="1"/>
          </p:cNvPicPr>
          <p:nvPr/>
        </p:nvPicPr>
        <p:blipFill>
          <a:blip r:embed="rId5"/>
          <a:stretch>
            <a:fillRect/>
          </a:stretch>
        </p:blipFill>
        <p:spPr>
          <a:xfrm>
            <a:off x="9162594" y="4224972"/>
            <a:ext cx="134549" cy="195707"/>
          </a:xfrm>
          <a:prstGeom prst="rect">
            <a:avLst/>
          </a:prstGeom>
        </p:spPr>
      </p:pic>
      <p:sp>
        <p:nvSpPr>
          <p:cNvPr id="34" name="TextBox 33"/>
          <p:cNvSpPr txBox="1"/>
          <p:nvPr/>
        </p:nvSpPr>
        <p:spPr>
          <a:xfrm>
            <a:off x="9337703" y="4235195"/>
            <a:ext cx="2426121" cy="194310"/>
          </a:xfrm>
          <a:prstGeom prst="rect">
            <a:avLst/>
          </a:prstGeom>
          <a:noFill/>
        </p:spPr>
        <p:txBody>
          <a:bodyPr wrap="none" lIns="0" rIns="0" tIns="0" bIns="0">
            <a:spAutoFit/>
          </a:bodyPr>
          <a:lstStyle/>
          <a:p>
            <a:r>
              <a:rPr sz="1150" b="0">
                <a:solidFill>
                  <a:srgbClr val="2E2E2E"/>
                </a:solidFill>
                <a:latin typeface="Calibri"/>
              </a:rPr>
              <a:t>BPS of share of the Global cross-section</a:t>
            </a:r>
          </a:p>
        </p:txBody>
      </p:sp>
      <p:sp>
        <p:nvSpPr>
          <p:cNvPr id="35" name="TextBox 34"/>
          <p:cNvSpPr txBox="1"/>
          <p:nvPr/>
        </p:nvSpPr>
        <p:spPr>
          <a:xfrm>
            <a:off x="7715250" y="4410455"/>
            <a:ext cx="652484" cy="194310"/>
          </a:xfrm>
          <a:prstGeom prst="rect">
            <a:avLst/>
          </a:prstGeom>
          <a:noFill/>
        </p:spPr>
        <p:txBody>
          <a:bodyPr wrap="none" lIns="0" rIns="0" tIns="0" bIns="0">
            <a:spAutoFit/>
          </a:bodyPr>
          <a:lstStyle/>
          <a:p>
            <a:r>
              <a:rPr sz="1150" b="0">
                <a:solidFill>
                  <a:srgbClr val="2E2E2E"/>
                </a:solidFill>
                <a:latin typeface="Calibri"/>
              </a:rPr>
              <a:t>by 2036F.</a:t>
            </a:r>
          </a:p>
        </p:txBody>
      </p:sp>
      <p:sp>
        <p:nvSpPr>
          <p:cNvPr id="36" name="lockshield_17"/>
          <p:cNvSpPr/>
          <p:nvPr/>
        </p:nvSpPr>
        <p:spPr>
          <a:xfrm>
            <a:off x="238125" y="3295650"/>
            <a:ext cx="7096125" cy="32766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Flavour,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Flavour, 2026E–2036F</a:t>
            </a:r>
          </a:p>
        </p:txBody>
      </p:sp>
      <p:graphicFrame>
        <p:nvGraphicFramePr>
          <p:cNvPr id="13" name="Table 12"/>
          <p:cNvGraphicFramePr>
            <a:graphicFrameLocks noGrp="1"/>
          </p:cNvGraphicFramePr>
          <p:nvPr/>
        </p:nvGraphicFramePr>
        <p:xfrm>
          <a:off x="152400" y="1238250"/>
          <a:ext cx="11887198" cy="1238250"/>
        </p:xfrm>
        <a:graphic>
          <a:graphicData uri="http://schemas.openxmlformats.org/drawingml/2006/table">
            <a:tbl>
              <a:tblPr>
                <a:tableStyleId>{5C22544A-7EE6-4342-B048-85BDC9FD1C3A}</a:tableStyleId>
              </a:tblPr>
              <a:tblGrid>
                <a:gridCol w="2819932"/>
                <a:gridCol w="1511211"/>
                <a:gridCol w="1511211"/>
                <a:gridCol w="1511211"/>
                <a:gridCol w="1511211"/>
                <a:gridCol w="1511211"/>
                <a:gridCol w="1511211"/>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Sweet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Savoury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5600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1432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5334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'Sweet muffins × Sweet Muffins Flavours' ranks highest (5/5); 'Savoury muffins × Sweet Muffins Flavours'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319275" y="1837753"/>
            <a:ext cx="366712" cy="533400"/>
          </a:xfrm>
          <a:prstGeom prst="rect">
            <a:avLst/>
          </a:prstGeom>
        </p:spPr>
      </p:pic>
      <p:sp>
        <p:nvSpPr>
          <p:cNvPr id="33" name="TextBox 32"/>
          <p:cNvSpPr txBox="1"/>
          <p:nvPr/>
        </p:nvSpPr>
        <p:spPr>
          <a:xfrm>
            <a:off x="276225" y="3238500"/>
            <a:ext cx="2787253" cy="194310"/>
          </a:xfrm>
          <a:prstGeom prst="rect">
            <a:avLst/>
          </a:prstGeom>
          <a:noFill/>
        </p:spPr>
        <p:txBody>
          <a:bodyPr wrap="none" lIns="0" rIns="0" tIns="0" bIns="0">
            <a:spAutoFit/>
          </a:bodyPr>
          <a:lstStyle/>
          <a:p>
            <a:r>
              <a:rPr sz="1150" b="0">
                <a:solidFill>
                  <a:srgbClr val="2E2E2E"/>
                </a:solidFill>
                <a:latin typeface="Calibri"/>
              </a:rPr>
              <a:t>▪ 1. Sweet muffins × Sweet Muffins Flavours –</a:t>
            </a:r>
          </a:p>
        </p:txBody>
      </p:sp>
      <p:pic>
        <p:nvPicPr>
          <p:cNvPr id="34" name="Picture 33" descr="lock.png"/>
          <p:cNvPicPr>
            <a:picLocks noChangeAspect="1"/>
          </p:cNvPicPr>
          <p:nvPr/>
        </p:nvPicPr>
        <p:blipFill>
          <a:blip r:embed="rId4"/>
          <a:stretch>
            <a:fillRect/>
          </a:stretch>
        </p:blipFill>
        <p:spPr>
          <a:xfrm>
            <a:off x="3012632" y="3228276"/>
            <a:ext cx="134549" cy="195707"/>
          </a:xfrm>
          <a:prstGeom prst="rect">
            <a:avLst/>
          </a:prstGeom>
        </p:spPr>
      </p:pic>
      <p:sp>
        <p:nvSpPr>
          <p:cNvPr id="35" name="TextBox 34"/>
          <p:cNvSpPr txBox="1"/>
          <p:nvPr/>
        </p:nvSpPr>
        <p:spPr>
          <a:xfrm>
            <a:off x="3187741" y="32385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249893" y="3228276"/>
            <a:ext cx="134549" cy="195707"/>
          </a:xfrm>
          <a:prstGeom prst="rect">
            <a:avLst/>
          </a:prstGeom>
        </p:spPr>
      </p:pic>
      <p:sp>
        <p:nvSpPr>
          <p:cNvPr id="37" name="TextBox 36"/>
          <p:cNvSpPr txBox="1"/>
          <p:nvPr/>
        </p:nvSpPr>
        <p:spPr>
          <a:xfrm>
            <a:off x="3425002" y="32385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466337"/>
            <a:ext cx="2895079" cy="194310"/>
          </a:xfrm>
          <a:prstGeom prst="rect">
            <a:avLst/>
          </a:prstGeom>
          <a:noFill/>
        </p:spPr>
        <p:txBody>
          <a:bodyPr wrap="none" lIns="0" rIns="0" tIns="0" bIns="0">
            <a:spAutoFit/>
          </a:bodyPr>
          <a:lstStyle/>
          <a:p>
            <a:r>
              <a:rPr sz="1150" b="0">
                <a:solidFill>
                  <a:srgbClr val="2E2E2E"/>
                </a:solidFill>
                <a:latin typeface="Calibri"/>
              </a:rPr>
              <a:t>▪ 2. Sweet muffins × Savoury Muffins Flavours –</a:t>
            </a:r>
          </a:p>
        </p:txBody>
      </p:sp>
      <p:pic>
        <p:nvPicPr>
          <p:cNvPr id="39" name="Picture 38" descr="lock.png"/>
          <p:cNvPicPr>
            <a:picLocks noChangeAspect="1"/>
          </p:cNvPicPr>
          <p:nvPr/>
        </p:nvPicPr>
        <p:blipFill>
          <a:blip r:embed="rId4"/>
          <a:stretch>
            <a:fillRect/>
          </a:stretch>
        </p:blipFill>
        <p:spPr>
          <a:xfrm>
            <a:off x="3120458" y="3456114"/>
            <a:ext cx="134549" cy="195707"/>
          </a:xfrm>
          <a:prstGeom prst="rect">
            <a:avLst/>
          </a:prstGeom>
        </p:spPr>
      </p:pic>
      <p:sp>
        <p:nvSpPr>
          <p:cNvPr id="40" name="TextBox 39"/>
          <p:cNvSpPr txBox="1"/>
          <p:nvPr/>
        </p:nvSpPr>
        <p:spPr>
          <a:xfrm>
            <a:off x="3295567" y="34663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357719" y="3456114"/>
            <a:ext cx="134549" cy="195707"/>
          </a:xfrm>
          <a:prstGeom prst="rect">
            <a:avLst/>
          </a:prstGeom>
        </p:spPr>
      </p:pic>
      <p:sp>
        <p:nvSpPr>
          <p:cNvPr id="42" name="TextBox 41"/>
          <p:cNvSpPr txBox="1"/>
          <p:nvPr/>
        </p:nvSpPr>
        <p:spPr>
          <a:xfrm>
            <a:off x="3532828" y="34663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3694175"/>
            <a:ext cx="3002905" cy="194310"/>
          </a:xfrm>
          <a:prstGeom prst="rect">
            <a:avLst/>
          </a:prstGeom>
          <a:noFill/>
        </p:spPr>
        <p:txBody>
          <a:bodyPr wrap="none" lIns="0" rIns="0" tIns="0" bIns="0">
            <a:spAutoFit/>
          </a:bodyPr>
          <a:lstStyle/>
          <a:p>
            <a:r>
              <a:rPr sz="1150" b="0">
                <a:solidFill>
                  <a:srgbClr val="2E2E2E"/>
                </a:solidFill>
                <a:latin typeface="Calibri"/>
              </a:rPr>
              <a:t>▪ 3. Savoury muffins × Savoury Muffins Flavours –</a:t>
            </a:r>
          </a:p>
        </p:txBody>
      </p:sp>
      <p:pic>
        <p:nvPicPr>
          <p:cNvPr id="44" name="Picture 43" descr="lock.png"/>
          <p:cNvPicPr>
            <a:picLocks noChangeAspect="1"/>
          </p:cNvPicPr>
          <p:nvPr/>
        </p:nvPicPr>
        <p:blipFill>
          <a:blip r:embed="rId4"/>
          <a:stretch>
            <a:fillRect/>
          </a:stretch>
        </p:blipFill>
        <p:spPr>
          <a:xfrm>
            <a:off x="3228284" y="3683952"/>
            <a:ext cx="134549" cy="195707"/>
          </a:xfrm>
          <a:prstGeom prst="rect">
            <a:avLst/>
          </a:prstGeom>
        </p:spPr>
      </p:pic>
      <p:sp>
        <p:nvSpPr>
          <p:cNvPr id="45" name="TextBox 44"/>
          <p:cNvSpPr txBox="1"/>
          <p:nvPr/>
        </p:nvSpPr>
        <p:spPr>
          <a:xfrm>
            <a:off x="3403393" y="3694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465544" y="3683952"/>
            <a:ext cx="134549" cy="195707"/>
          </a:xfrm>
          <a:prstGeom prst="rect">
            <a:avLst/>
          </a:prstGeom>
        </p:spPr>
      </p:pic>
      <p:sp>
        <p:nvSpPr>
          <p:cNvPr id="47" name="TextBox 46"/>
          <p:cNvSpPr txBox="1"/>
          <p:nvPr/>
        </p:nvSpPr>
        <p:spPr>
          <a:xfrm>
            <a:off x="3640654" y="3694175"/>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48" name="TextBox 47"/>
          <p:cNvSpPr txBox="1"/>
          <p:nvPr/>
        </p:nvSpPr>
        <p:spPr>
          <a:xfrm>
            <a:off x="276225" y="3922013"/>
            <a:ext cx="2895079" cy="194310"/>
          </a:xfrm>
          <a:prstGeom prst="rect">
            <a:avLst/>
          </a:prstGeom>
          <a:noFill/>
        </p:spPr>
        <p:txBody>
          <a:bodyPr wrap="none" lIns="0" rIns="0" tIns="0" bIns="0">
            <a:spAutoFit/>
          </a:bodyPr>
          <a:lstStyle/>
          <a:p>
            <a:r>
              <a:rPr sz="1150" b="0">
                <a:solidFill>
                  <a:srgbClr val="2E2E2E"/>
                </a:solidFill>
                <a:latin typeface="Calibri"/>
              </a:rPr>
              <a:t>▪ 4. Savoury muffins × Sweet Muffins Flavours –</a:t>
            </a:r>
          </a:p>
        </p:txBody>
      </p:sp>
      <p:pic>
        <p:nvPicPr>
          <p:cNvPr id="49" name="Picture 48" descr="lock.png"/>
          <p:cNvPicPr>
            <a:picLocks noChangeAspect="1"/>
          </p:cNvPicPr>
          <p:nvPr/>
        </p:nvPicPr>
        <p:blipFill>
          <a:blip r:embed="rId4"/>
          <a:stretch>
            <a:fillRect/>
          </a:stretch>
        </p:blipFill>
        <p:spPr>
          <a:xfrm>
            <a:off x="3120458" y="3911790"/>
            <a:ext cx="134549" cy="195707"/>
          </a:xfrm>
          <a:prstGeom prst="rect">
            <a:avLst/>
          </a:prstGeom>
        </p:spPr>
      </p:pic>
      <p:sp>
        <p:nvSpPr>
          <p:cNvPr id="50" name="TextBox 49"/>
          <p:cNvSpPr txBox="1"/>
          <p:nvPr/>
        </p:nvSpPr>
        <p:spPr>
          <a:xfrm>
            <a:off x="3295567" y="3922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357719" y="3911790"/>
            <a:ext cx="134549" cy="195707"/>
          </a:xfrm>
          <a:prstGeom prst="rect">
            <a:avLst/>
          </a:prstGeom>
        </p:spPr>
      </p:pic>
      <p:sp>
        <p:nvSpPr>
          <p:cNvPr id="52" name="TextBox 51"/>
          <p:cNvSpPr txBox="1"/>
          <p:nvPr/>
        </p:nvSpPr>
        <p:spPr>
          <a:xfrm>
            <a:off x="3532828" y="3922013"/>
            <a:ext cx="350899" cy="194310"/>
          </a:xfrm>
          <a:prstGeom prst="rect">
            <a:avLst/>
          </a:prstGeom>
          <a:noFill/>
        </p:spPr>
        <p:txBody>
          <a:bodyPr wrap="none" lIns="0" rIns="0" tIns="0" bIns="0">
            <a:spAutoFit/>
          </a:bodyPr>
          <a:lstStyle/>
          <a:p>
            <a:r>
              <a:rPr sz="1150" b="0">
                <a:solidFill>
                  <a:srgbClr val="2E2E2E"/>
                </a:solidFill>
                <a:latin typeface="Calibri"/>
              </a:rPr>
              <a:t>· 1/5</a:t>
            </a:r>
          </a:p>
        </p:txBody>
      </p:sp>
      <p:sp>
        <p:nvSpPr>
          <p:cNvPr id="53" name="TextBox 52"/>
          <p:cNvSpPr txBox="1"/>
          <p:nvPr/>
        </p:nvSpPr>
        <p:spPr>
          <a:xfrm>
            <a:off x="6029325" y="3238500"/>
            <a:ext cx="1546969" cy="194310"/>
          </a:xfrm>
          <a:prstGeom prst="rect">
            <a:avLst/>
          </a:prstGeom>
          <a:noFill/>
        </p:spPr>
        <p:txBody>
          <a:bodyPr wrap="none" lIns="0" rIns="0" tIns="0" bIns="0">
            <a:spAutoFit/>
          </a:bodyPr>
          <a:lstStyle/>
          <a:p>
            <a:r>
              <a:rPr sz="1150" b="0">
                <a:solidFill>
                  <a:srgbClr val="2E2E2E"/>
                </a:solidFill>
                <a:latin typeface="Calibri"/>
              </a:rPr>
              <a:t>▪ 'Sweet muffins × Sweet</a:t>
            </a:r>
          </a:p>
        </p:txBody>
      </p:sp>
      <p:sp>
        <p:nvSpPr>
          <p:cNvPr id="54" name="TextBox 53"/>
          <p:cNvSpPr txBox="1"/>
          <p:nvPr/>
        </p:nvSpPr>
        <p:spPr>
          <a:xfrm>
            <a:off x="6029325" y="3413760"/>
            <a:ext cx="1411473" cy="194310"/>
          </a:xfrm>
          <a:prstGeom prst="rect">
            <a:avLst/>
          </a:prstGeom>
          <a:noFill/>
        </p:spPr>
        <p:txBody>
          <a:bodyPr wrap="none" lIns="0" rIns="0" tIns="0" bIns="0">
            <a:spAutoFit/>
          </a:bodyPr>
          <a:lstStyle/>
          <a:p>
            <a:r>
              <a:rPr sz="1150" b="0">
                <a:solidFill>
                  <a:srgbClr val="2E2E2E"/>
                </a:solidFill>
                <a:latin typeface="Calibri"/>
              </a:rPr>
              <a:t>Muffins Flavours' adds</a:t>
            </a:r>
          </a:p>
        </p:txBody>
      </p:sp>
      <p:pic>
        <p:nvPicPr>
          <p:cNvPr id="55" name="Picture 54" descr="lock.png"/>
          <p:cNvPicPr>
            <a:picLocks noChangeAspect="1"/>
          </p:cNvPicPr>
          <p:nvPr/>
        </p:nvPicPr>
        <p:blipFill>
          <a:blip r:embed="rId4"/>
          <a:stretch>
            <a:fillRect/>
          </a:stretch>
        </p:blipFill>
        <p:spPr>
          <a:xfrm>
            <a:off x="7389952" y="3403536"/>
            <a:ext cx="134549" cy="195707"/>
          </a:xfrm>
          <a:prstGeom prst="rect">
            <a:avLst/>
          </a:prstGeom>
        </p:spPr>
      </p:pic>
      <p:sp>
        <p:nvSpPr>
          <p:cNvPr id="56" name="TextBox 55"/>
          <p:cNvSpPr txBox="1"/>
          <p:nvPr/>
        </p:nvSpPr>
        <p:spPr>
          <a:xfrm>
            <a:off x="6029325" y="3589019"/>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7" name="Picture 56" descr="lock.png"/>
          <p:cNvPicPr>
            <a:picLocks noChangeAspect="1"/>
          </p:cNvPicPr>
          <p:nvPr/>
        </p:nvPicPr>
        <p:blipFill>
          <a:blip r:embed="rId4"/>
          <a:stretch>
            <a:fillRect/>
          </a:stretch>
        </p:blipFill>
        <p:spPr>
          <a:xfrm>
            <a:off x="7203111" y="3578796"/>
            <a:ext cx="134549" cy="195707"/>
          </a:xfrm>
          <a:prstGeom prst="rect">
            <a:avLst/>
          </a:prstGeom>
        </p:spPr>
      </p:pic>
      <p:sp>
        <p:nvSpPr>
          <p:cNvPr id="58" name="TextBox 57"/>
          <p:cNvSpPr txBox="1"/>
          <p:nvPr/>
        </p:nvSpPr>
        <p:spPr>
          <a:xfrm>
            <a:off x="7378220" y="3589019"/>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9" name="TextBox 58"/>
          <p:cNvSpPr txBox="1"/>
          <p:nvPr/>
        </p:nvSpPr>
        <p:spPr>
          <a:xfrm>
            <a:off x="6029325" y="3764279"/>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0" name="TextBox 59"/>
          <p:cNvSpPr txBox="1"/>
          <p:nvPr/>
        </p:nvSpPr>
        <p:spPr>
          <a:xfrm>
            <a:off x="8124825" y="3238500"/>
            <a:ext cx="1654795" cy="194310"/>
          </a:xfrm>
          <a:prstGeom prst="rect">
            <a:avLst/>
          </a:prstGeom>
          <a:noFill/>
        </p:spPr>
        <p:txBody>
          <a:bodyPr wrap="none" lIns="0" rIns="0" tIns="0" bIns="0">
            <a:spAutoFit/>
          </a:bodyPr>
          <a:lstStyle/>
          <a:p>
            <a:r>
              <a:rPr sz="1150" b="0">
                <a:solidFill>
                  <a:srgbClr val="2E2E2E"/>
                </a:solidFill>
                <a:latin typeface="Calibri"/>
              </a:rPr>
              <a:t>▪ 'Sweet muffins × Savoury</a:t>
            </a:r>
          </a:p>
        </p:txBody>
      </p:sp>
      <p:sp>
        <p:nvSpPr>
          <p:cNvPr id="61" name="TextBox 60"/>
          <p:cNvSpPr txBox="1"/>
          <p:nvPr/>
        </p:nvSpPr>
        <p:spPr>
          <a:xfrm>
            <a:off x="8124825" y="3413760"/>
            <a:ext cx="1641388" cy="194310"/>
          </a:xfrm>
          <a:prstGeom prst="rect">
            <a:avLst/>
          </a:prstGeom>
          <a:noFill/>
        </p:spPr>
        <p:txBody>
          <a:bodyPr wrap="none" lIns="0" rIns="0" tIns="0" bIns="0">
            <a:spAutoFit/>
          </a:bodyPr>
          <a:lstStyle/>
          <a:p>
            <a:r>
              <a:rPr sz="1150" b="0">
                <a:solidFill>
                  <a:srgbClr val="2E2E2E"/>
                </a:solidFill>
                <a:latin typeface="Calibri"/>
              </a:rPr>
              <a:t>Muffins Flavours' grows at</a:t>
            </a:r>
          </a:p>
        </p:txBody>
      </p:sp>
      <p:sp>
        <p:nvSpPr>
          <p:cNvPr id="62" name="TextBox 61"/>
          <p:cNvSpPr txBox="1"/>
          <p:nvPr/>
        </p:nvSpPr>
        <p:spPr>
          <a:xfrm>
            <a:off x="8124825" y="3589019"/>
            <a:ext cx="146087" cy="194310"/>
          </a:xfrm>
          <a:prstGeom prst="rect">
            <a:avLst/>
          </a:prstGeom>
          <a:noFill/>
        </p:spPr>
        <p:txBody>
          <a:bodyPr wrap="none" lIns="0" rIns="0" tIns="0" bIns="0">
            <a:spAutoFit/>
          </a:bodyPr>
          <a:lstStyle/>
          <a:p>
            <a:r>
              <a:rPr sz="1150" b="0">
                <a:solidFill>
                  <a:srgbClr val="2E2E2E"/>
                </a:solidFill>
                <a:latin typeface="Calibri"/>
              </a:rPr>
              <a:t>a</a:t>
            </a:r>
          </a:p>
        </p:txBody>
      </p:sp>
      <p:pic>
        <p:nvPicPr>
          <p:cNvPr id="63" name="Picture 62" descr="lock.png"/>
          <p:cNvPicPr>
            <a:picLocks noChangeAspect="1"/>
          </p:cNvPicPr>
          <p:nvPr/>
        </p:nvPicPr>
        <p:blipFill>
          <a:blip r:embed="rId4"/>
          <a:stretch>
            <a:fillRect/>
          </a:stretch>
        </p:blipFill>
        <p:spPr>
          <a:xfrm>
            <a:off x="8220066" y="3578796"/>
            <a:ext cx="134549" cy="195707"/>
          </a:xfrm>
          <a:prstGeom prst="rect">
            <a:avLst/>
          </a:prstGeom>
        </p:spPr>
      </p:pic>
      <p:sp>
        <p:nvSpPr>
          <p:cNvPr id="64" name="TextBox 63"/>
          <p:cNvSpPr txBox="1"/>
          <p:nvPr/>
        </p:nvSpPr>
        <p:spPr>
          <a:xfrm>
            <a:off x="8395175" y="35890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5" name="Picture 64" descr="lock.png"/>
          <p:cNvPicPr>
            <a:picLocks noChangeAspect="1"/>
          </p:cNvPicPr>
          <p:nvPr/>
        </p:nvPicPr>
        <p:blipFill>
          <a:blip r:embed="rId4"/>
          <a:stretch>
            <a:fillRect/>
          </a:stretch>
        </p:blipFill>
        <p:spPr>
          <a:xfrm>
            <a:off x="8790771" y="3578796"/>
            <a:ext cx="134549" cy="195707"/>
          </a:xfrm>
          <a:prstGeom prst="rect">
            <a:avLst/>
          </a:prstGeom>
        </p:spPr>
      </p:pic>
      <p:sp>
        <p:nvSpPr>
          <p:cNvPr id="66" name="TextBox 65"/>
          <p:cNvSpPr txBox="1"/>
          <p:nvPr/>
        </p:nvSpPr>
        <p:spPr>
          <a:xfrm>
            <a:off x="8965880" y="3589019"/>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67" name="TextBox 66"/>
          <p:cNvSpPr txBox="1"/>
          <p:nvPr/>
        </p:nvSpPr>
        <p:spPr>
          <a:xfrm>
            <a:off x="8124825" y="3764279"/>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Packaging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Packaging Format,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packaging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Packaging Format, 2026E and 2036F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2084557"/>
                <a:gridCol w="980264"/>
                <a:gridCol w="980264"/>
                <a:gridCol w="980264"/>
                <a:gridCol w="980264"/>
                <a:gridCol w="980264"/>
                <a:gridCol w="980264"/>
                <a:gridCol w="980264"/>
                <a:gridCol w="980264"/>
                <a:gridCol w="980264"/>
                <a:gridCol w="98026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Rigid plastic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Paperboard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packaging formats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51587" y="1837753"/>
            <a:ext cx="366712" cy="533400"/>
          </a:xfrm>
          <a:prstGeom prst="rect">
            <a:avLst/>
          </a:prstGeom>
        </p:spPr>
      </p:pic>
      <p:sp>
        <p:nvSpPr>
          <p:cNvPr id="21" name="TextBox 20"/>
          <p:cNvSpPr txBox="1"/>
          <p:nvPr/>
        </p:nvSpPr>
        <p:spPr>
          <a:xfrm>
            <a:off x="276225" y="3238500"/>
            <a:ext cx="5185667" cy="194310"/>
          </a:xfrm>
          <a:prstGeom prst="rect">
            <a:avLst/>
          </a:prstGeom>
          <a:noFill/>
        </p:spPr>
        <p:txBody>
          <a:bodyPr wrap="none" lIns="0" rIns="0" tIns="0" bIns="0">
            <a:spAutoFit/>
          </a:bodyPr>
          <a:lstStyle/>
          <a:p>
            <a:r>
              <a:rPr sz="1150" b="0">
                <a:solidFill>
                  <a:srgbClr val="2E2E2E"/>
                </a:solidFill>
                <a:latin typeface="Calibri"/>
              </a:rPr>
              <a:t>▪ 'Sweet muffins' accounts for the largest share of the Global market by product type (</a:t>
            </a:r>
          </a:p>
        </p:txBody>
      </p:sp>
      <p:pic>
        <p:nvPicPr>
          <p:cNvPr id="22" name="Picture 21" descr="lock.png"/>
          <p:cNvPicPr>
            <a:picLocks noChangeAspect="1"/>
          </p:cNvPicPr>
          <p:nvPr/>
        </p:nvPicPr>
        <p:blipFill>
          <a:blip r:embed="rId4"/>
          <a:stretch>
            <a:fillRect/>
          </a:stretch>
        </p:blipFill>
        <p:spPr>
          <a:xfrm>
            <a:off x="5411046" y="3228276"/>
            <a:ext cx="134549" cy="195707"/>
          </a:xfrm>
          <a:prstGeom prst="rect">
            <a:avLst/>
          </a:prstGeom>
        </p:spPr>
      </p:pic>
      <p:sp>
        <p:nvSpPr>
          <p:cNvPr id="23" name="TextBox 22"/>
          <p:cNvSpPr txBox="1"/>
          <p:nvPr/>
        </p:nvSpPr>
        <p:spPr>
          <a:xfrm>
            <a:off x="5586156" y="3238500"/>
            <a:ext cx="582525" cy="194310"/>
          </a:xfrm>
          <a:prstGeom prst="rect">
            <a:avLst/>
          </a:prstGeom>
          <a:noFill/>
        </p:spPr>
        <p:txBody>
          <a:bodyPr wrap="none" lIns="0" rIns="0" tIns="0" bIns="0">
            <a:spAutoFit/>
          </a:bodyPr>
          <a:lstStyle/>
          <a:p>
            <a:r>
              <a:rPr sz="1150" b="0">
                <a:solidFill>
                  <a:srgbClr val="2E2E2E"/>
                </a:solidFill>
                <a:latin typeface="Calibri"/>
              </a:rPr>
              <a:t>US$ Mn,</a:t>
            </a:r>
          </a:p>
        </p:txBody>
      </p:sp>
      <p:pic>
        <p:nvPicPr>
          <p:cNvPr id="24" name="Picture 23" descr="lock.png"/>
          <p:cNvPicPr>
            <a:picLocks noChangeAspect="1"/>
          </p:cNvPicPr>
          <p:nvPr/>
        </p:nvPicPr>
        <p:blipFill>
          <a:blip r:embed="rId4"/>
          <a:stretch>
            <a:fillRect/>
          </a:stretch>
        </p:blipFill>
        <p:spPr>
          <a:xfrm>
            <a:off x="6117835" y="3228276"/>
            <a:ext cx="134549" cy="195707"/>
          </a:xfrm>
          <a:prstGeom prst="rect">
            <a:avLst/>
          </a:prstGeom>
        </p:spPr>
      </p:pic>
      <p:sp>
        <p:nvSpPr>
          <p:cNvPr id="25" name="TextBox 24"/>
          <p:cNvSpPr txBox="1"/>
          <p:nvPr/>
        </p:nvSpPr>
        <p:spPr>
          <a:xfrm>
            <a:off x="6292945" y="3238500"/>
            <a:ext cx="4794584" cy="194310"/>
          </a:xfrm>
          <a:prstGeom prst="rect">
            <a:avLst/>
          </a:prstGeom>
          <a:noFill/>
        </p:spPr>
        <p:txBody>
          <a:bodyPr wrap="none" lIns="0" rIns="0" tIns="0" bIns="0">
            <a:spAutoFit/>
          </a:bodyPr>
          <a:lstStyle/>
          <a:p>
            <a:r>
              <a:rPr sz="1150" b="0">
                <a:solidFill>
                  <a:srgbClr val="2E2E2E"/>
                </a:solidFill>
                <a:latin typeface="Calibri"/>
              </a:rPr>
              <a:t>in 2026E), with 'Rigid plastic packs' its leading packaging format sub-segment at</a:t>
            </a:r>
          </a:p>
        </p:txBody>
      </p:sp>
      <p:pic>
        <p:nvPicPr>
          <p:cNvPr id="26" name="Picture 25" descr="lock.png"/>
          <p:cNvPicPr>
            <a:picLocks noChangeAspect="1"/>
          </p:cNvPicPr>
          <p:nvPr/>
        </p:nvPicPr>
        <p:blipFill>
          <a:blip r:embed="rId4"/>
          <a:stretch>
            <a:fillRect/>
          </a:stretch>
        </p:blipFill>
        <p:spPr>
          <a:xfrm>
            <a:off x="11036683" y="3228276"/>
            <a:ext cx="134549" cy="195707"/>
          </a:xfrm>
          <a:prstGeom prst="rect">
            <a:avLst/>
          </a:prstGeom>
        </p:spPr>
      </p:pic>
      <p:sp>
        <p:nvSpPr>
          <p:cNvPr id="27" name="TextBox 26"/>
          <p:cNvSpPr txBox="1"/>
          <p:nvPr/>
        </p:nvSpPr>
        <p:spPr>
          <a:xfrm>
            <a:off x="11211793" y="323850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28" name="TextBox 27"/>
          <p:cNvSpPr txBox="1"/>
          <p:nvPr/>
        </p:nvSpPr>
        <p:spPr>
          <a:xfrm>
            <a:off x="276225" y="3413760"/>
            <a:ext cx="314672" cy="194310"/>
          </a:xfrm>
          <a:prstGeom prst="rect">
            <a:avLst/>
          </a:prstGeom>
          <a:noFill/>
        </p:spPr>
        <p:txBody>
          <a:bodyPr wrap="none" lIns="0" rIns="0" tIns="0" bIns="0">
            <a:spAutoFit/>
          </a:bodyPr>
          <a:lstStyle/>
          <a:p>
            <a:r>
              <a:rPr sz="1150" b="0">
                <a:solidFill>
                  <a:srgbClr val="2E2E2E"/>
                </a:solidFill>
                <a:latin typeface="Calibri"/>
              </a:rPr>
              <a:t>Mn.</a:t>
            </a:r>
          </a:p>
        </p:txBody>
      </p:sp>
      <p:sp>
        <p:nvSpPr>
          <p:cNvPr id="29" name="TextBox 28"/>
          <p:cNvSpPr txBox="1"/>
          <p:nvPr/>
        </p:nvSpPr>
        <p:spPr>
          <a:xfrm>
            <a:off x="276225" y="3641597"/>
            <a:ext cx="4677916" cy="194310"/>
          </a:xfrm>
          <a:prstGeom prst="rect">
            <a:avLst/>
          </a:prstGeom>
          <a:noFill/>
        </p:spPr>
        <p:txBody>
          <a:bodyPr wrap="none" lIns="0" rIns="0" tIns="0" bIns="0">
            <a:spAutoFit/>
          </a:bodyPr>
          <a:lstStyle/>
          <a:p>
            <a:r>
              <a:rPr sz="1150" b="0">
                <a:solidFill>
                  <a:srgbClr val="2E2E2E"/>
                </a:solidFill>
                <a:latin typeface="Calibri"/>
              </a:rPr>
              <a:t>▪ 'Sweet muffins × Rigid plastic packs' is the single largest cross-sectional cell (</a:t>
            </a:r>
          </a:p>
        </p:txBody>
      </p:sp>
      <p:pic>
        <p:nvPicPr>
          <p:cNvPr id="30" name="Picture 29" descr="lock.png"/>
          <p:cNvPicPr>
            <a:picLocks noChangeAspect="1"/>
          </p:cNvPicPr>
          <p:nvPr/>
        </p:nvPicPr>
        <p:blipFill>
          <a:blip r:embed="rId4"/>
          <a:stretch>
            <a:fillRect/>
          </a:stretch>
        </p:blipFill>
        <p:spPr>
          <a:xfrm>
            <a:off x="4903294" y="3631374"/>
            <a:ext cx="134549" cy="195707"/>
          </a:xfrm>
          <a:prstGeom prst="rect">
            <a:avLst/>
          </a:prstGeom>
        </p:spPr>
      </p:pic>
      <p:sp>
        <p:nvSpPr>
          <p:cNvPr id="31" name="TextBox 30"/>
          <p:cNvSpPr txBox="1"/>
          <p:nvPr/>
        </p:nvSpPr>
        <p:spPr>
          <a:xfrm>
            <a:off x="5078404" y="3641597"/>
            <a:ext cx="6355761" cy="194310"/>
          </a:xfrm>
          <a:prstGeom prst="rect">
            <a:avLst/>
          </a:prstGeom>
          <a:noFill/>
        </p:spPr>
        <p:txBody>
          <a:bodyPr wrap="none" lIns="0" rIns="0" tIns="0" bIns="0">
            <a:spAutoFit/>
          </a:bodyPr>
          <a:lstStyle/>
          <a:p>
            <a:r>
              <a:rPr sz="1150" b="0">
                <a:solidFill>
                  <a:srgbClr val="2E2E2E"/>
                </a:solidFill>
                <a:latin typeface="Calibri"/>
              </a:rPr>
              <a:t>US$ Mn, 2026E), while 'Sweet muffins × Other packaging formats' records the fastest growth at a CAGR of</a:t>
            </a:r>
          </a:p>
        </p:txBody>
      </p:sp>
      <p:pic>
        <p:nvPicPr>
          <p:cNvPr id="32" name="Picture 31" descr="lock.png"/>
          <p:cNvPicPr>
            <a:picLocks noChangeAspect="1"/>
          </p:cNvPicPr>
          <p:nvPr/>
        </p:nvPicPr>
        <p:blipFill>
          <a:blip r:embed="rId4"/>
          <a:stretch>
            <a:fillRect/>
          </a:stretch>
        </p:blipFill>
        <p:spPr>
          <a:xfrm>
            <a:off x="11383319" y="3631374"/>
            <a:ext cx="134549" cy="195707"/>
          </a:xfrm>
          <a:prstGeom prst="rect">
            <a:avLst/>
          </a:prstGeom>
        </p:spPr>
      </p:pic>
      <p:sp>
        <p:nvSpPr>
          <p:cNvPr id="33" name="TextBox 32"/>
          <p:cNvSpPr txBox="1"/>
          <p:nvPr/>
        </p:nvSpPr>
        <p:spPr>
          <a:xfrm>
            <a:off x="276225" y="3816857"/>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4" name="TextBox 33"/>
          <p:cNvSpPr txBox="1"/>
          <p:nvPr/>
        </p:nvSpPr>
        <p:spPr>
          <a:xfrm>
            <a:off x="276225" y="4044695"/>
            <a:ext cx="6191187" cy="194310"/>
          </a:xfrm>
          <a:prstGeom prst="rect">
            <a:avLst/>
          </a:prstGeom>
          <a:noFill/>
        </p:spPr>
        <p:txBody>
          <a:bodyPr wrap="none" lIns="0" rIns="0" tIns="0" bIns="0">
            <a:spAutoFit/>
          </a:bodyPr>
          <a:lstStyle/>
          <a:p>
            <a:r>
              <a:rPr sz="1150" b="0">
                <a:solidFill>
                  <a:srgbClr val="2E2E2E"/>
                </a:solidFill>
                <a:latin typeface="Calibri"/>
              </a:rPr>
              <a:t>▪ Combined, the top three product type × packaging format cells generate an absolute $ opportunity of</a:t>
            </a:r>
          </a:p>
        </p:txBody>
      </p:sp>
      <p:pic>
        <p:nvPicPr>
          <p:cNvPr id="35" name="Picture 34" descr="lock.png"/>
          <p:cNvPicPr>
            <a:picLocks noChangeAspect="1"/>
          </p:cNvPicPr>
          <p:nvPr/>
        </p:nvPicPr>
        <p:blipFill>
          <a:blip r:embed="rId4"/>
          <a:stretch>
            <a:fillRect/>
          </a:stretch>
        </p:blipFill>
        <p:spPr>
          <a:xfrm>
            <a:off x="6416566" y="4034472"/>
            <a:ext cx="134549" cy="195707"/>
          </a:xfrm>
          <a:prstGeom prst="rect">
            <a:avLst/>
          </a:prstGeom>
        </p:spPr>
      </p:pic>
      <p:sp>
        <p:nvSpPr>
          <p:cNvPr id="36" name="TextBox 35"/>
          <p:cNvSpPr txBox="1"/>
          <p:nvPr/>
        </p:nvSpPr>
        <p:spPr>
          <a:xfrm>
            <a:off x="6591676" y="4044695"/>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Packaging Format,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packaging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Packaging Format, 2026E (% of each row)</a:t>
            </a:r>
          </a:p>
        </p:txBody>
      </p:sp>
      <p:graphicFrame>
        <p:nvGraphicFramePr>
          <p:cNvPr id="13" name="Table 12"/>
          <p:cNvGraphicFramePr>
            <a:graphicFrameLocks noGrp="1"/>
          </p:cNvGraphicFramePr>
          <p:nvPr/>
        </p:nvGraphicFramePr>
        <p:xfrm>
          <a:off x="152400" y="1238250"/>
          <a:ext cx="11887199" cy="1238250"/>
        </p:xfrm>
        <a:graphic>
          <a:graphicData uri="http://schemas.openxmlformats.org/drawingml/2006/table">
            <a:tbl>
              <a:tblPr>
                <a:tableStyleId>{5C22544A-7EE6-4342-B048-85BDC9FD1C3A}</a:tableStyleId>
              </a:tblPr>
              <a:tblGrid>
                <a:gridCol w="1090013"/>
                <a:gridCol w="1122093"/>
                <a:gridCol w="1186252"/>
                <a:gridCol w="1423148"/>
                <a:gridCol w="1358989"/>
                <a:gridCol w="473097"/>
                <a:gridCol w="1830313"/>
                <a:gridCol w="1252879"/>
                <a:gridCol w="1603288"/>
                <a:gridCol w="54712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Rigid plastic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Paperboard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 packaging formats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Flow-wrap packs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Pouches and bags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Trays with sealed film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Clamshell containers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Tubs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Cartons with inner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Windowed cartons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 packaging formats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7286625"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Packaging Format Mix by Product Type, 2026E (% share)</a:t>
            </a:r>
          </a:p>
        </p:txBody>
      </p:sp>
      <p:graphicFrame>
        <p:nvGraphicFramePr>
          <p:cNvPr id="17" name="Chart 16"/>
          <p:cNvGraphicFramePr>
            <a:graphicFrameLocks noGrp="1"/>
          </p:cNvGraphicFramePr>
          <p:nvPr/>
        </p:nvGraphicFramePr>
        <p:xfrm>
          <a:off x="238125" y="3105150"/>
          <a:ext cx="7096125" cy="34671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2819400"/>
            <a:ext cx="4457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29051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143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228975"/>
            <a:ext cx="4191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54316" y="183775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864689"/>
            <a:ext cx="440818" cy="641190"/>
          </a:xfrm>
          <a:prstGeom prst="rect">
            <a:avLst/>
          </a:prstGeom>
        </p:spPr>
      </p:pic>
      <p:sp>
        <p:nvSpPr>
          <p:cNvPr id="25" name="TextBox 24"/>
          <p:cNvSpPr txBox="1"/>
          <p:nvPr/>
        </p:nvSpPr>
        <p:spPr>
          <a:xfrm>
            <a:off x="7715250" y="3238500"/>
            <a:ext cx="4124523" cy="194310"/>
          </a:xfrm>
          <a:prstGeom prst="rect">
            <a:avLst/>
          </a:prstGeom>
          <a:noFill/>
        </p:spPr>
        <p:txBody>
          <a:bodyPr wrap="none" lIns="0" rIns="0" tIns="0" bIns="0">
            <a:spAutoFit/>
          </a:bodyPr>
          <a:lstStyle/>
          <a:p>
            <a:r>
              <a:rPr sz="1150" b="0">
                <a:solidFill>
                  <a:srgbClr val="2E2E2E"/>
                </a:solidFill>
                <a:latin typeface="Calibri"/>
              </a:rPr>
              <a:t>▪ 'Windowed cartons' holds the highest share of 'Savoury muffins' at</a:t>
            </a:r>
          </a:p>
        </p:txBody>
      </p:sp>
      <p:pic>
        <p:nvPicPr>
          <p:cNvPr id="26" name="Picture 25" descr="lock.png"/>
          <p:cNvPicPr>
            <a:picLocks noChangeAspect="1"/>
          </p:cNvPicPr>
          <p:nvPr/>
        </p:nvPicPr>
        <p:blipFill>
          <a:blip r:embed="rId5"/>
          <a:stretch>
            <a:fillRect/>
          </a:stretch>
        </p:blipFill>
        <p:spPr>
          <a:xfrm>
            <a:off x="7701170" y="3403536"/>
            <a:ext cx="134549" cy="195707"/>
          </a:xfrm>
          <a:prstGeom prst="rect">
            <a:avLst/>
          </a:prstGeom>
        </p:spPr>
      </p:pic>
      <p:sp>
        <p:nvSpPr>
          <p:cNvPr id="27" name="TextBox 26"/>
          <p:cNvSpPr txBox="1"/>
          <p:nvPr/>
        </p:nvSpPr>
        <p:spPr>
          <a:xfrm>
            <a:off x="7876279" y="34137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8" name="TextBox 27"/>
          <p:cNvSpPr txBox="1"/>
          <p:nvPr/>
        </p:nvSpPr>
        <p:spPr>
          <a:xfrm>
            <a:off x="7715250" y="3641597"/>
            <a:ext cx="3499246" cy="194310"/>
          </a:xfrm>
          <a:prstGeom prst="rect">
            <a:avLst/>
          </a:prstGeom>
          <a:noFill/>
        </p:spPr>
        <p:txBody>
          <a:bodyPr wrap="none" lIns="0" rIns="0" tIns="0" bIns="0">
            <a:spAutoFit/>
          </a:bodyPr>
          <a:lstStyle/>
          <a:p>
            <a:r>
              <a:rPr sz="1150" b="0">
                <a:solidFill>
                  <a:srgbClr val="2E2E2E"/>
                </a:solidFill>
                <a:latin typeface="Calibri"/>
              </a:rPr>
              <a:t>▪ 'Savoury muffins' is the most concentrated product type</a:t>
            </a:r>
          </a:p>
        </p:txBody>
      </p:sp>
      <p:sp>
        <p:nvSpPr>
          <p:cNvPr id="29" name="TextBox 28"/>
          <p:cNvSpPr txBox="1"/>
          <p:nvPr/>
        </p:nvSpPr>
        <p:spPr>
          <a:xfrm>
            <a:off x="7715250" y="38168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0" name="Picture 29" descr="lock.png"/>
          <p:cNvPicPr>
            <a:picLocks noChangeAspect="1"/>
          </p:cNvPicPr>
          <p:nvPr/>
        </p:nvPicPr>
        <p:blipFill>
          <a:blip r:embed="rId5"/>
          <a:stretch>
            <a:fillRect/>
          </a:stretch>
        </p:blipFill>
        <p:spPr>
          <a:xfrm>
            <a:off x="8843110" y="3806634"/>
            <a:ext cx="134549" cy="195707"/>
          </a:xfrm>
          <a:prstGeom prst="rect">
            <a:avLst/>
          </a:prstGeom>
        </p:spPr>
      </p:pic>
      <p:sp>
        <p:nvSpPr>
          <p:cNvPr id="31" name="TextBox 30"/>
          <p:cNvSpPr txBox="1"/>
          <p:nvPr/>
        </p:nvSpPr>
        <p:spPr>
          <a:xfrm>
            <a:off x="9018219" y="3816857"/>
            <a:ext cx="2183370" cy="194310"/>
          </a:xfrm>
          <a:prstGeom prst="rect">
            <a:avLst/>
          </a:prstGeom>
          <a:noFill/>
        </p:spPr>
        <p:txBody>
          <a:bodyPr wrap="none" lIns="0" rIns="0" tIns="0" bIns="0">
            <a:spAutoFit/>
          </a:bodyPr>
          <a:lstStyle/>
          <a:p>
            <a:r>
              <a:rPr sz="1150" b="0">
                <a:solidFill>
                  <a:srgbClr val="2E2E2E"/>
                </a:solidFill>
                <a:latin typeface="Calibri"/>
              </a:rPr>
              <a:t>of its value via 'Windowed cartons'.</a:t>
            </a:r>
          </a:p>
        </p:txBody>
      </p:sp>
      <p:sp>
        <p:nvSpPr>
          <p:cNvPr id="32" name="TextBox 31"/>
          <p:cNvSpPr txBox="1"/>
          <p:nvPr/>
        </p:nvSpPr>
        <p:spPr>
          <a:xfrm>
            <a:off x="7715250" y="4044695"/>
            <a:ext cx="1901254" cy="194310"/>
          </a:xfrm>
          <a:prstGeom prst="rect">
            <a:avLst/>
          </a:prstGeom>
          <a:noFill/>
        </p:spPr>
        <p:txBody>
          <a:bodyPr wrap="none" lIns="0" rIns="0" tIns="0" bIns="0">
            <a:spAutoFit/>
          </a:bodyPr>
          <a:lstStyle/>
          <a:p>
            <a:r>
              <a:rPr sz="1150" b="0">
                <a:solidFill>
                  <a:srgbClr val="2E2E2E"/>
                </a:solidFill>
                <a:latin typeface="Calibri"/>
              </a:rPr>
              <a:t>▪ 'Clamshell containers' gains +</a:t>
            </a:r>
          </a:p>
        </p:txBody>
      </p:sp>
      <p:pic>
        <p:nvPicPr>
          <p:cNvPr id="33" name="Picture 32" descr="lock.png"/>
          <p:cNvPicPr>
            <a:picLocks noChangeAspect="1"/>
          </p:cNvPicPr>
          <p:nvPr/>
        </p:nvPicPr>
        <p:blipFill>
          <a:blip r:embed="rId5"/>
          <a:stretch>
            <a:fillRect/>
          </a:stretch>
        </p:blipFill>
        <p:spPr>
          <a:xfrm>
            <a:off x="9565658" y="4034472"/>
            <a:ext cx="134549" cy="195707"/>
          </a:xfrm>
          <a:prstGeom prst="rect">
            <a:avLst/>
          </a:prstGeom>
        </p:spPr>
      </p:pic>
      <p:sp>
        <p:nvSpPr>
          <p:cNvPr id="34" name="TextBox 33"/>
          <p:cNvSpPr txBox="1"/>
          <p:nvPr/>
        </p:nvSpPr>
        <p:spPr>
          <a:xfrm>
            <a:off x="9740767" y="404469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5" name="TextBox 34"/>
          <p:cNvSpPr txBox="1"/>
          <p:nvPr/>
        </p:nvSpPr>
        <p:spPr>
          <a:xfrm>
            <a:off x="7715250" y="42199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6" name="lockshield_17"/>
          <p:cNvSpPr/>
          <p:nvPr/>
        </p:nvSpPr>
        <p:spPr>
          <a:xfrm>
            <a:off x="238125" y="3105150"/>
            <a:ext cx="7096125" cy="3467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Packaging Format,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Packaging Format, 2026E–2036F</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69340"/>
                <a:gridCol w="1001786"/>
                <a:gridCol w="1001786"/>
                <a:gridCol w="1001786"/>
                <a:gridCol w="1001786"/>
                <a:gridCol w="1001786"/>
                <a:gridCol w="1001786"/>
                <a:gridCol w="1001786"/>
                <a:gridCol w="1001786"/>
                <a:gridCol w="1001786"/>
                <a:gridCol w="100178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Rigid plastic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Paperboard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packaging formats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5600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1432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5334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'Sweet muffins × Rigid plastic packs' ranks highest (5/5); 'Savoury muffins × Paperboard packs'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843980" y="1837753"/>
            <a:ext cx="366712" cy="533400"/>
          </a:xfrm>
          <a:prstGeom prst="rect">
            <a:avLst/>
          </a:prstGeom>
        </p:spPr>
      </p:pic>
      <p:sp>
        <p:nvSpPr>
          <p:cNvPr id="33" name="TextBox 32"/>
          <p:cNvSpPr txBox="1"/>
          <p:nvPr/>
        </p:nvSpPr>
        <p:spPr>
          <a:xfrm>
            <a:off x="276225" y="3238500"/>
            <a:ext cx="2470906" cy="194310"/>
          </a:xfrm>
          <a:prstGeom prst="rect">
            <a:avLst/>
          </a:prstGeom>
          <a:noFill/>
        </p:spPr>
        <p:txBody>
          <a:bodyPr wrap="none" lIns="0" rIns="0" tIns="0" bIns="0">
            <a:spAutoFit/>
          </a:bodyPr>
          <a:lstStyle/>
          <a:p>
            <a:r>
              <a:rPr sz="1150" b="0">
                <a:solidFill>
                  <a:srgbClr val="2E2E2E"/>
                </a:solidFill>
                <a:latin typeface="Calibri"/>
              </a:rPr>
              <a:t>▪ 1. Sweet muffins × Rigid plastic packs –</a:t>
            </a:r>
          </a:p>
        </p:txBody>
      </p:sp>
      <p:pic>
        <p:nvPicPr>
          <p:cNvPr id="34" name="Picture 33" descr="lock.png"/>
          <p:cNvPicPr>
            <a:picLocks noChangeAspect="1"/>
          </p:cNvPicPr>
          <p:nvPr/>
        </p:nvPicPr>
        <p:blipFill>
          <a:blip r:embed="rId4"/>
          <a:stretch>
            <a:fillRect/>
          </a:stretch>
        </p:blipFill>
        <p:spPr>
          <a:xfrm>
            <a:off x="2696285" y="3228276"/>
            <a:ext cx="134549" cy="195707"/>
          </a:xfrm>
          <a:prstGeom prst="rect">
            <a:avLst/>
          </a:prstGeom>
        </p:spPr>
      </p:pic>
      <p:sp>
        <p:nvSpPr>
          <p:cNvPr id="35" name="TextBox 34"/>
          <p:cNvSpPr txBox="1"/>
          <p:nvPr/>
        </p:nvSpPr>
        <p:spPr>
          <a:xfrm>
            <a:off x="2871394" y="32385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933546" y="3228276"/>
            <a:ext cx="134549" cy="195707"/>
          </a:xfrm>
          <a:prstGeom prst="rect">
            <a:avLst/>
          </a:prstGeom>
        </p:spPr>
      </p:pic>
      <p:sp>
        <p:nvSpPr>
          <p:cNvPr id="37" name="TextBox 36"/>
          <p:cNvSpPr txBox="1"/>
          <p:nvPr/>
        </p:nvSpPr>
        <p:spPr>
          <a:xfrm>
            <a:off x="3108655" y="32385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466337"/>
            <a:ext cx="2578732" cy="194310"/>
          </a:xfrm>
          <a:prstGeom prst="rect">
            <a:avLst/>
          </a:prstGeom>
          <a:noFill/>
        </p:spPr>
        <p:txBody>
          <a:bodyPr wrap="none" lIns="0" rIns="0" tIns="0" bIns="0">
            <a:spAutoFit/>
          </a:bodyPr>
          <a:lstStyle/>
          <a:p>
            <a:r>
              <a:rPr sz="1150" b="0">
                <a:solidFill>
                  <a:srgbClr val="2E2E2E"/>
                </a:solidFill>
                <a:latin typeface="Calibri"/>
              </a:rPr>
              <a:t>▪ 2. Savoury muffins × Rigid plastic packs –</a:t>
            </a:r>
          </a:p>
        </p:txBody>
      </p:sp>
      <p:pic>
        <p:nvPicPr>
          <p:cNvPr id="39" name="Picture 38" descr="lock.png"/>
          <p:cNvPicPr>
            <a:picLocks noChangeAspect="1"/>
          </p:cNvPicPr>
          <p:nvPr/>
        </p:nvPicPr>
        <p:blipFill>
          <a:blip r:embed="rId4"/>
          <a:stretch>
            <a:fillRect/>
          </a:stretch>
        </p:blipFill>
        <p:spPr>
          <a:xfrm>
            <a:off x="2804111" y="3456114"/>
            <a:ext cx="134549" cy="195707"/>
          </a:xfrm>
          <a:prstGeom prst="rect">
            <a:avLst/>
          </a:prstGeom>
        </p:spPr>
      </p:pic>
      <p:sp>
        <p:nvSpPr>
          <p:cNvPr id="40" name="TextBox 39"/>
          <p:cNvSpPr txBox="1"/>
          <p:nvPr/>
        </p:nvSpPr>
        <p:spPr>
          <a:xfrm>
            <a:off x="2979220" y="34663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041372" y="3456114"/>
            <a:ext cx="134549" cy="195707"/>
          </a:xfrm>
          <a:prstGeom prst="rect">
            <a:avLst/>
          </a:prstGeom>
        </p:spPr>
      </p:pic>
      <p:sp>
        <p:nvSpPr>
          <p:cNvPr id="42" name="TextBox 41"/>
          <p:cNvSpPr txBox="1"/>
          <p:nvPr/>
        </p:nvSpPr>
        <p:spPr>
          <a:xfrm>
            <a:off x="3216481" y="346633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3" name="TextBox 42"/>
          <p:cNvSpPr txBox="1"/>
          <p:nvPr/>
        </p:nvSpPr>
        <p:spPr>
          <a:xfrm>
            <a:off x="276225" y="3694175"/>
            <a:ext cx="2461207" cy="194310"/>
          </a:xfrm>
          <a:prstGeom prst="rect">
            <a:avLst/>
          </a:prstGeom>
          <a:noFill/>
        </p:spPr>
        <p:txBody>
          <a:bodyPr wrap="none" lIns="0" rIns="0" tIns="0" bIns="0">
            <a:spAutoFit/>
          </a:bodyPr>
          <a:lstStyle/>
          <a:p>
            <a:r>
              <a:rPr sz="1150" b="0">
                <a:solidFill>
                  <a:srgbClr val="2E2E2E"/>
                </a:solidFill>
                <a:latin typeface="Calibri"/>
              </a:rPr>
              <a:t>▪ 3. Sweet muffins × Paperboard packs –</a:t>
            </a:r>
          </a:p>
        </p:txBody>
      </p:sp>
      <p:pic>
        <p:nvPicPr>
          <p:cNvPr id="44" name="Picture 43" descr="lock.png"/>
          <p:cNvPicPr>
            <a:picLocks noChangeAspect="1"/>
          </p:cNvPicPr>
          <p:nvPr/>
        </p:nvPicPr>
        <p:blipFill>
          <a:blip r:embed="rId4"/>
          <a:stretch>
            <a:fillRect/>
          </a:stretch>
        </p:blipFill>
        <p:spPr>
          <a:xfrm>
            <a:off x="2686586" y="3683952"/>
            <a:ext cx="134549" cy="195707"/>
          </a:xfrm>
          <a:prstGeom prst="rect">
            <a:avLst/>
          </a:prstGeom>
        </p:spPr>
      </p:pic>
      <p:sp>
        <p:nvSpPr>
          <p:cNvPr id="45" name="TextBox 44"/>
          <p:cNvSpPr txBox="1"/>
          <p:nvPr/>
        </p:nvSpPr>
        <p:spPr>
          <a:xfrm>
            <a:off x="2861696" y="3694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2923847" y="3683952"/>
            <a:ext cx="134549" cy="195707"/>
          </a:xfrm>
          <a:prstGeom prst="rect">
            <a:avLst/>
          </a:prstGeom>
        </p:spPr>
      </p:pic>
      <p:sp>
        <p:nvSpPr>
          <p:cNvPr id="47" name="TextBox 46"/>
          <p:cNvSpPr txBox="1"/>
          <p:nvPr/>
        </p:nvSpPr>
        <p:spPr>
          <a:xfrm>
            <a:off x="3098957" y="3694175"/>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48" name="TextBox 47"/>
          <p:cNvSpPr txBox="1"/>
          <p:nvPr/>
        </p:nvSpPr>
        <p:spPr>
          <a:xfrm>
            <a:off x="276225" y="3922013"/>
            <a:ext cx="2217315" cy="194310"/>
          </a:xfrm>
          <a:prstGeom prst="rect">
            <a:avLst/>
          </a:prstGeom>
          <a:noFill/>
        </p:spPr>
        <p:txBody>
          <a:bodyPr wrap="none" lIns="0" rIns="0" tIns="0" bIns="0">
            <a:spAutoFit/>
          </a:bodyPr>
          <a:lstStyle/>
          <a:p>
            <a:r>
              <a:rPr sz="1150" b="0">
                <a:solidFill>
                  <a:srgbClr val="2E2E2E"/>
                </a:solidFill>
                <a:latin typeface="Calibri"/>
              </a:rPr>
              <a:t>▪ 4. Sweet muffins × Flexible packs –</a:t>
            </a:r>
          </a:p>
        </p:txBody>
      </p:sp>
      <p:pic>
        <p:nvPicPr>
          <p:cNvPr id="49" name="Picture 48" descr="lock.png"/>
          <p:cNvPicPr>
            <a:picLocks noChangeAspect="1"/>
          </p:cNvPicPr>
          <p:nvPr/>
        </p:nvPicPr>
        <p:blipFill>
          <a:blip r:embed="rId4"/>
          <a:stretch>
            <a:fillRect/>
          </a:stretch>
        </p:blipFill>
        <p:spPr>
          <a:xfrm>
            <a:off x="2442694" y="3911790"/>
            <a:ext cx="134549" cy="195707"/>
          </a:xfrm>
          <a:prstGeom prst="rect">
            <a:avLst/>
          </a:prstGeom>
        </p:spPr>
      </p:pic>
      <p:sp>
        <p:nvSpPr>
          <p:cNvPr id="50" name="TextBox 49"/>
          <p:cNvSpPr txBox="1"/>
          <p:nvPr/>
        </p:nvSpPr>
        <p:spPr>
          <a:xfrm>
            <a:off x="2617804" y="3922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679955" y="3911790"/>
            <a:ext cx="134549" cy="195707"/>
          </a:xfrm>
          <a:prstGeom prst="rect">
            <a:avLst/>
          </a:prstGeom>
        </p:spPr>
      </p:pic>
      <p:sp>
        <p:nvSpPr>
          <p:cNvPr id="52" name="TextBox 51"/>
          <p:cNvSpPr txBox="1"/>
          <p:nvPr/>
        </p:nvSpPr>
        <p:spPr>
          <a:xfrm>
            <a:off x="2855064" y="39220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149851"/>
            <a:ext cx="2569033" cy="194310"/>
          </a:xfrm>
          <a:prstGeom prst="rect">
            <a:avLst/>
          </a:prstGeom>
          <a:noFill/>
        </p:spPr>
        <p:txBody>
          <a:bodyPr wrap="none" lIns="0" rIns="0" tIns="0" bIns="0">
            <a:spAutoFit/>
          </a:bodyPr>
          <a:lstStyle/>
          <a:p>
            <a:r>
              <a:rPr sz="1150" b="0">
                <a:solidFill>
                  <a:srgbClr val="2E2E2E"/>
                </a:solidFill>
                <a:latin typeface="Calibri"/>
              </a:rPr>
              <a:t>▪ 5. Savoury muffins × Paperboard packs –</a:t>
            </a:r>
          </a:p>
        </p:txBody>
      </p:sp>
      <p:pic>
        <p:nvPicPr>
          <p:cNvPr id="54" name="Picture 53" descr="lock.png"/>
          <p:cNvPicPr>
            <a:picLocks noChangeAspect="1"/>
          </p:cNvPicPr>
          <p:nvPr/>
        </p:nvPicPr>
        <p:blipFill>
          <a:blip r:embed="rId4"/>
          <a:stretch>
            <a:fillRect/>
          </a:stretch>
        </p:blipFill>
        <p:spPr>
          <a:xfrm>
            <a:off x="2794412" y="4139628"/>
            <a:ext cx="134549" cy="195707"/>
          </a:xfrm>
          <a:prstGeom prst="rect">
            <a:avLst/>
          </a:prstGeom>
        </p:spPr>
      </p:pic>
      <p:sp>
        <p:nvSpPr>
          <p:cNvPr id="55" name="TextBox 54"/>
          <p:cNvSpPr txBox="1"/>
          <p:nvPr/>
        </p:nvSpPr>
        <p:spPr>
          <a:xfrm>
            <a:off x="2969522" y="4149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031673" y="4139628"/>
            <a:ext cx="134549" cy="195707"/>
          </a:xfrm>
          <a:prstGeom prst="rect">
            <a:avLst/>
          </a:prstGeom>
        </p:spPr>
      </p:pic>
      <p:sp>
        <p:nvSpPr>
          <p:cNvPr id="57" name="TextBox 56"/>
          <p:cNvSpPr txBox="1"/>
          <p:nvPr/>
        </p:nvSpPr>
        <p:spPr>
          <a:xfrm>
            <a:off x="3206783" y="4149851"/>
            <a:ext cx="350899" cy="194310"/>
          </a:xfrm>
          <a:prstGeom prst="rect">
            <a:avLst/>
          </a:prstGeom>
          <a:noFill/>
        </p:spPr>
        <p:txBody>
          <a:bodyPr wrap="none" lIns="0" rIns="0" tIns="0" bIns="0">
            <a:spAutoFit/>
          </a:bodyPr>
          <a:lstStyle/>
          <a:p>
            <a:r>
              <a:rPr sz="1150" b="0">
                <a:solidFill>
                  <a:srgbClr val="2E2E2E"/>
                </a:solidFill>
                <a:latin typeface="Calibri"/>
              </a:rPr>
              <a:t>· 1/5</a:t>
            </a:r>
          </a:p>
        </p:txBody>
      </p:sp>
      <p:sp>
        <p:nvSpPr>
          <p:cNvPr id="58" name="TextBox 57"/>
          <p:cNvSpPr txBox="1"/>
          <p:nvPr/>
        </p:nvSpPr>
        <p:spPr>
          <a:xfrm>
            <a:off x="6029325" y="3238500"/>
            <a:ext cx="1473088" cy="194310"/>
          </a:xfrm>
          <a:prstGeom prst="rect">
            <a:avLst/>
          </a:prstGeom>
          <a:noFill/>
        </p:spPr>
        <p:txBody>
          <a:bodyPr wrap="none" lIns="0" rIns="0" tIns="0" bIns="0">
            <a:spAutoFit/>
          </a:bodyPr>
          <a:lstStyle/>
          <a:p>
            <a:r>
              <a:rPr sz="1150" b="0">
                <a:solidFill>
                  <a:srgbClr val="2E2E2E"/>
                </a:solidFill>
                <a:latin typeface="Calibri"/>
              </a:rPr>
              <a:t>▪ 'Sweet muffins × Rigid</a:t>
            </a:r>
          </a:p>
        </p:txBody>
      </p:sp>
      <p:sp>
        <p:nvSpPr>
          <p:cNvPr id="59" name="TextBox 58"/>
          <p:cNvSpPr txBox="1"/>
          <p:nvPr/>
        </p:nvSpPr>
        <p:spPr>
          <a:xfrm>
            <a:off x="6029325" y="3413760"/>
            <a:ext cx="1169007" cy="194310"/>
          </a:xfrm>
          <a:prstGeom prst="rect">
            <a:avLst/>
          </a:prstGeom>
          <a:noFill/>
        </p:spPr>
        <p:txBody>
          <a:bodyPr wrap="none" lIns="0" rIns="0" tIns="0" bIns="0">
            <a:spAutoFit/>
          </a:bodyPr>
          <a:lstStyle/>
          <a:p>
            <a:r>
              <a:rPr sz="1150" b="0">
                <a:solidFill>
                  <a:srgbClr val="2E2E2E"/>
                </a:solidFill>
                <a:latin typeface="Calibri"/>
              </a:rPr>
              <a:t>plastic packs' adds</a:t>
            </a:r>
          </a:p>
        </p:txBody>
      </p:sp>
      <p:pic>
        <p:nvPicPr>
          <p:cNvPr id="60" name="Picture 59" descr="lock.png"/>
          <p:cNvPicPr>
            <a:picLocks noChangeAspect="1"/>
          </p:cNvPicPr>
          <p:nvPr/>
        </p:nvPicPr>
        <p:blipFill>
          <a:blip r:embed="rId4"/>
          <a:stretch>
            <a:fillRect/>
          </a:stretch>
        </p:blipFill>
        <p:spPr>
          <a:xfrm>
            <a:off x="7147486" y="3403536"/>
            <a:ext cx="134549" cy="195707"/>
          </a:xfrm>
          <a:prstGeom prst="rect">
            <a:avLst/>
          </a:prstGeom>
        </p:spPr>
      </p:pic>
      <p:sp>
        <p:nvSpPr>
          <p:cNvPr id="61" name="TextBox 60"/>
          <p:cNvSpPr txBox="1"/>
          <p:nvPr/>
        </p:nvSpPr>
        <p:spPr>
          <a:xfrm>
            <a:off x="7322595" y="341376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2" name="TextBox 61"/>
          <p:cNvSpPr txBox="1"/>
          <p:nvPr/>
        </p:nvSpPr>
        <p:spPr>
          <a:xfrm>
            <a:off x="6029325" y="3589019"/>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3578796"/>
            <a:ext cx="134549" cy="195707"/>
          </a:xfrm>
          <a:prstGeom prst="rect">
            <a:avLst/>
          </a:prstGeom>
        </p:spPr>
      </p:pic>
      <p:sp>
        <p:nvSpPr>
          <p:cNvPr id="64" name="TextBox 63"/>
          <p:cNvSpPr txBox="1"/>
          <p:nvPr/>
        </p:nvSpPr>
        <p:spPr>
          <a:xfrm>
            <a:off x="7110081" y="3589019"/>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5" name="TextBox 64"/>
          <p:cNvSpPr txBox="1"/>
          <p:nvPr/>
        </p:nvSpPr>
        <p:spPr>
          <a:xfrm>
            <a:off x="6029325" y="376427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6" name="TextBox 65"/>
          <p:cNvSpPr txBox="1"/>
          <p:nvPr/>
        </p:nvSpPr>
        <p:spPr>
          <a:xfrm>
            <a:off x="8124825" y="3238500"/>
            <a:ext cx="1527286" cy="194310"/>
          </a:xfrm>
          <a:prstGeom prst="rect">
            <a:avLst/>
          </a:prstGeom>
          <a:noFill/>
        </p:spPr>
        <p:txBody>
          <a:bodyPr wrap="none" lIns="0" rIns="0" tIns="0" bIns="0">
            <a:spAutoFit/>
          </a:bodyPr>
          <a:lstStyle/>
          <a:p>
            <a:r>
              <a:rPr sz="1150" b="0">
                <a:solidFill>
                  <a:srgbClr val="2E2E2E"/>
                </a:solidFill>
                <a:latin typeface="Calibri"/>
              </a:rPr>
              <a:t>▪ 'Sweet muffins × Other</a:t>
            </a:r>
          </a:p>
        </p:txBody>
      </p:sp>
      <p:sp>
        <p:nvSpPr>
          <p:cNvPr id="67" name="TextBox 66"/>
          <p:cNvSpPr txBox="1"/>
          <p:nvPr/>
        </p:nvSpPr>
        <p:spPr>
          <a:xfrm>
            <a:off x="8124825" y="3413760"/>
            <a:ext cx="1590898" cy="194310"/>
          </a:xfrm>
          <a:prstGeom prst="rect">
            <a:avLst/>
          </a:prstGeom>
          <a:noFill/>
        </p:spPr>
        <p:txBody>
          <a:bodyPr wrap="none" lIns="0" rIns="0" tIns="0" bIns="0">
            <a:spAutoFit/>
          </a:bodyPr>
          <a:lstStyle/>
          <a:p>
            <a:r>
              <a:rPr sz="1150" b="0">
                <a:solidFill>
                  <a:srgbClr val="2E2E2E"/>
                </a:solidFill>
                <a:latin typeface="Calibri"/>
              </a:rPr>
              <a:t>packaging formats' grows</a:t>
            </a:r>
          </a:p>
        </p:txBody>
      </p:sp>
      <p:sp>
        <p:nvSpPr>
          <p:cNvPr id="68" name="TextBox 67"/>
          <p:cNvSpPr txBox="1"/>
          <p:nvPr/>
        </p:nvSpPr>
        <p:spPr>
          <a:xfrm>
            <a:off x="8124825" y="3589019"/>
            <a:ext cx="298127" cy="194310"/>
          </a:xfrm>
          <a:prstGeom prst="rect">
            <a:avLst/>
          </a:prstGeom>
          <a:noFill/>
        </p:spPr>
        <p:txBody>
          <a:bodyPr wrap="none" lIns="0" rIns="0" tIns="0" bIns="0">
            <a:spAutoFit/>
          </a:bodyPr>
          <a:lstStyle/>
          <a:p>
            <a:r>
              <a:rPr sz="1150" b="0">
                <a:solidFill>
                  <a:srgbClr val="2E2E2E"/>
                </a:solidFill>
                <a:latin typeface="Calibri"/>
              </a:rPr>
              <a:t>at a</a:t>
            </a:r>
          </a:p>
        </p:txBody>
      </p:sp>
      <p:pic>
        <p:nvPicPr>
          <p:cNvPr id="69" name="Picture 68" descr="lock.png"/>
          <p:cNvPicPr>
            <a:picLocks noChangeAspect="1"/>
          </p:cNvPicPr>
          <p:nvPr/>
        </p:nvPicPr>
        <p:blipFill>
          <a:blip r:embed="rId4"/>
          <a:stretch>
            <a:fillRect/>
          </a:stretch>
        </p:blipFill>
        <p:spPr>
          <a:xfrm>
            <a:off x="8372106" y="3578796"/>
            <a:ext cx="134549" cy="195707"/>
          </a:xfrm>
          <a:prstGeom prst="rect">
            <a:avLst/>
          </a:prstGeom>
        </p:spPr>
      </p:pic>
      <p:sp>
        <p:nvSpPr>
          <p:cNvPr id="70" name="TextBox 69"/>
          <p:cNvSpPr txBox="1"/>
          <p:nvPr/>
        </p:nvSpPr>
        <p:spPr>
          <a:xfrm>
            <a:off x="8547215" y="35890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1" name="Picture 70" descr="lock.png"/>
          <p:cNvPicPr>
            <a:picLocks noChangeAspect="1"/>
          </p:cNvPicPr>
          <p:nvPr/>
        </p:nvPicPr>
        <p:blipFill>
          <a:blip r:embed="rId4"/>
          <a:stretch>
            <a:fillRect/>
          </a:stretch>
        </p:blipFill>
        <p:spPr>
          <a:xfrm>
            <a:off x="8942811" y="3578796"/>
            <a:ext cx="134549" cy="195707"/>
          </a:xfrm>
          <a:prstGeom prst="rect">
            <a:avLst/>
          </a:prstGeom>
        </p:spPr>
      </p:pic>
      <p:sp>
        <p:nvSpPr>
          <p:cNvPr id="72" name="TextBox 71"/>
          <p:cNvSpPr txBox="1"/>
          <p:nvPr/>
        </p:nvSpPr>
        <p:spPr>
          <a:xfrm>
            <a:off x="9117920" y="3589019"/>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73" name="TextBox 72"/>
          <p:cNvSpPr txBox="1"/>
          <p:nvPr/>
        </p:nvSpPr>
        <p:spPr>
          <a:xfrm>
            <a:off x="8124825" y="3764279"/>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Sales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Sales Channel,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sales channel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Sales Channel, 2026E and 2036F (US$ Mn)</a:t>
            </a:r>
          </a:p>
        </p:txBody>
      </p:sp>
      <p:graphicFrame>
        <p:nvGraphicFramePr>
          <p:cNvPr id="13" name="Table 12"/>
          <p:cNvGraphicFramePr>
            <a:graphicFrameLocks noGrp="1"/>
          </p:cNvGraphicFramePr>
          <p:nvPr/>
        </p:nvGraphicFramePr>
        <p:xfrm>
          <a:off x="152400" y="1238250"/>
          <a:ext cx="11887194" cy="1619249"/>
        </p:xfrm>
        <a:graphic>
          <a:graphicData uri="http://schemas.openxmlformats.org/drawingml/2006/table">
            <a:tbl>
              <a:tblPr>
                <a:tableStyleId>{5C22544A-7EE6-4342-B048-85BDC9FD1C3A}</a:tableStyleId>
              </a:tblPr>
              <a:tblGrid>
                <a:gridCol w="1394554"/>
                <a:gridCol w="655790"/>
                <a:gridCol w="655790"/>
                <a:gridCol w="655790"/>
                <a:gridCol w="655790"/>
                <a:gridCol w="655790"/>
                <a:gridCol w="655790"/>
                <a:gridCol w="655790"/>
                <a:gridCol w="655790"/>
                <a:gridCol w="655790"/>
                <a:gridCol w="655790"/>
                <a:gridCol w="655790"/>
                <a:gridCol w="655790"/>
                <a:gridCol w="655790"/>
                <a:gridCol w="655790"/>
                <a:gridCol w="655790"/>
                <a:gridCol w="655790"/>
              </a:tblGrid>
              <a:tr h="63169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Retailer websites</a:t>
                      </a:r>
                      <a:endParaRPr sz="1100"/>
                    </a:p>
                    <a:p>
                      <a:pPr algn="ctr"/>
                      <a:r>
                        <a:rPr sz="1100" b="1">
                          <a:solidFill>
                            <a:srgbClr val="0B2E4A"/>
                          </a:solidFill>
                          <a:latin typeface="Calibri"/>
                        </a:rPr>
                        <a:t>and apps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Online</a:t>
                      </a:r>
                      <a:endParaRPr sz="1100"/>
                    </a:p>
                    <a:p>
                      <a:pPr algn="ctr"/>
                      <a:r>
                        <a:rPr sz="1100" b="1">
                          <a:solidFill>
                            <a:srgbClr val="0B2E4A"/>
                          </a:solidFill>
                          <a:latin typeface="Calibri"/>
                        </a:rPr>
                        <a:t>marketplaces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Quick-commerce</a:t>
                      </a:r>
                      <a:endParaRPr sz="1100"/>
                    </a:p>
                    <a:p>
                      <a:pPr algn="ctr"/>
                      <a:r>
                        <a:rPr sz="1100" b="1">
                          <a:solidFill>
                            <a:srgbClr val="0B2E4A"/>
                          </a:solidFill>
                          <a:latin typeface="Calibri"/>
                        </a:rPr>
                        <a:t>platforms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Brand-owned</a:t>
                      </a:r>
                      <a:endParaRPr sz="1100"/>
                    </a:p>
                    <a:p>
                      <a:pPr algn="ctr"/>
                      <a:r>
                        <a:rPr sz="1100" b="1">
                          <a:solidFill>
                            <a:srgbClr val="0B2E4A"/>
                          </a:solidFill>
                          <a:latin typeface="Calibri"/>
                        </a:rPr>
                        <a:t>direct-to-consumer</a:t>
                      </a:r>
                      <a:endParaRPr sz="1100"/>
                    </a:p>
                    <a:p>
                      <a:pPr algn="ctr"/>
                      <a:r>
                        <a:rPr sz="1100" b="1">
                          <a:solidFill>
                            <a:srgbClr val="0B2E4A"/>
                          </a:solidFill>
                          <a:latin typeface="Calibri"/>
                        </a:rPr>
                        <a:t>websites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Foodservice and</a:t>
                      </a:r>
                      <a:endParaRPr sz="1100"/>
                    </a:p>
                    <a:p>
                      <a:pPr algn="ctr"/>
                      <a:r>
                        <a:rPr sz="1100" b="1">
                          <a:solidFill>
                            <a:srgbClr val="0B2E4A"/>
                          </a:solidFill>
                          <a:latin typeface="Calibri"/>
                        </a:rPr>
                        <a:t>institutional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88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88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1190625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861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524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09975"/>
            <a:ext cx="1163955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06583" y="2220468"/>
            <a:ext cx="366712" cy="533400"/>
          </a:xfrm>
          <a:prstGeom prst="rect">
            <a:avLst/>
          </a:prstGeom>
        </p:spPr>
      </p:pic>
      <p:sp>
        <p:nvSpPr>
          <p:cNvPr id="21" name="TextBox 20"/>
          <p:cNvSpPr txBox="1"/>
          <p:nvPr/>
        </p:nvSpPr>
        <p:spPr>
          <a:xfrm>
            <a:off x="276225" y="3619500"/>
            <a:ext cx="5185667" cy="194310"/>
          </a:xfrm>
          <a:prstGeom prst="rect">
            <a:avLst/>
          </a:prstGeom>
          <a:noFill/>
        </p:spPr>
        <p:txBody>
          <a:bodyPr wrap="none" lIns="0" rIns="0" tIns="0" bIns="0">
            <a:spAutoFit/>
          </a:bodyPr>
          <a:lstStyle/>
          <a:p>
            <a:r>
              <a:rPr sz="1150" b="0">
                <a:solidFill>
                  <a:srgbClr val="2E2E2E"/>
                </a:solidFill>
                <a:latin typeface="Calibri"/>
              </a:rPr>
              <a:t>▪ 'Sweet muffins' accounts for the largest share of the Global market by product type (</a:t>
            </a:r>
          </a:p>
        </p:txBody>
      </p:sp>
      <p:pic>
        <p:nvPicPr>
          <p:cNvPr id="22" name="Picture 21" descr="lock.png"/>
          <p:cNvPicPr>
            <a:picLocks noChangeAspect="1"/>
          </p:cNvPicPr>
          <p:nvPr/>
        </p:nvPicPr>
        <p:blipFill>
          <a:blip r:embed="rId4"/>
          <a:stretch>
            <a:fillRect/>
          </a:stretch>
        </p:blipFill>
        <p:spPr>
          <a:xfrm>
            <a:off x="5411046" y="3609276"/>
            <a:ext cx="134549" cy="195707"/>
          </a:xfrm>
          <a:prstGeom prst="rect">
            <a:avLst/>
          </a:prstGeom>
        </p:spPr>
      </p:pic>
      <p:sp>
        <p:nvSpPr>
          <p:cNvPr id="23" name="TextBox 22"/>
          <p:cNvSpPr txBox="1"/>
          <p:nvPr/>
        </p:nvSpPr>
        <p:spPr>
          <a:xfrm>
            <a:off x="5586156" y="3619500"/>
            <a:ext cx="582525" cy="194310"/>
          </a:xfrm>
          <a:prstGeom prst="rect">
            <a:avLst/>
          </a:prstGeom>
          <a:noFill/>
        </p:spPr>
        <p:txBody>
          <a:bodyPr wrap="none" lIns="0" rIns="0" tIns="0" bIns="0">
            <a:spAutoFit/>
          </a:bodyPr>
          <a:lstStyle/>
          <a:p>
            <a:r>
              <a:rPr sz="1150" b="0">
                <a:solidFill>
                  <a:srgbClr val="2E2E2E"/>
                </a:solidFill>
                <a:latin typeface="Calibri"/>
              </a:rPr>
              <a:t>US$ Mn,</a:t>
            </a:r>
          </a:p>
        </p:txBody>
      </p:sp>
      <p:pic>
        <p:nvPicPr>
          <p:cNvPr id="24" name="Picture 23" descr="lock.png"/>
          <p:cNvPicPr>
            <a:picLocks noChangeAspect="1"/>
          </p:cNvPicPr>
          <p:nvPr/>
        </p:nvPicPr>
        <p:blipFill>
          <a:blip r:embed="rId4"/>
          <a:stretch>
            <a:fillRect/>
          </a:stretch>
        </p:blipFill>
        <p:spPr>
          <a:xfrm>
            <a:off x="6117835" y="3609276"/>
            <a:ext cx="134549" cy="195707"/>
          </a:xfrm>
          <a:prstGeom prst="rect">
            <a:avLst/>
          </a:prstGeom>
        </p:spPr>
      </p:pic>
      <p:sp>
        <p:nvSpPr>
          <p:cNvPr id="25" name="TextBox 24"/>
          <p:cNvSpPr txBox="1"/>
          <p:nvPr/>
        </p:nvSpPr>
        <p:spPr>
          <a:xfrm>
            <a:off x="6292945" y="3619500"/>
            <a:ext cx="3818445" cy="194310"/>
          </a:xfrm>
          <a:prstGeom prst="rect">
            <a:avLst/>
          </a:prstGeom>
          <a:noFill/>
        </p:spPr>
        <p:txBody>
          <a:bodyPr wrap="none" lIns="0" rIns="0" tIns="0" bIns="0">
            <a:spAutoFit/>
          </a:bodyPr>
          <a:lstStyle/>
          <a:p>
            <a:r>
              <a:rPr sz="1150" b="0">
                <a:solidFill>
                  <a:srgbClr val="2E2E2E"/>
                </a:solidFill>
                <a:latin typeface="Calibri"/>
              </a:rPr>
              <a:t>in 2026E), with 'Retail' its leading sales channel sub-segment at</a:t>
            </a:r>
          </a:p>
        </p:txBody>
      </p:sp>
      <p:pic>
        <p:nvPicPr>
          <p:cNvPr id="26" name="Picture 25" descr="lock.png"/>
          <p:cNvPicPr>
            <a:picLocks noChangeAspect="1"/>
          </p:cNvPicPr>
          <p:nvPr/>
        </p:nvPicPr>
        <p:blipFill>
          <a:blip r:embed="rId4"/>
          <a:stretch>
            <a:fillRect/>
          </a:stretch>
        </p:blipFill>
        <p:spPr>
          <a:xfrm>
            <a:off x="10060545" y="3609276"/>
            <a:ext cx="134549" cy="195707"/>
          </a:xfrm>
          <a:prstGeom prst="rect">
            <a:avLst/>
          </a:prstGeom>
        </p:spPr>
      </p:pic>
      <p:sp>
        <p:nvSpPr>
          <p:cNvPr id="27" name="TextBox 26"/>
          <p:cNvSpPr txBox="1"/>
          <p:nvPr/>
        </p:nvSpPr>
        <p:spPr>
          <a:xfrm>
            <a:off x="10235654" y="3619500"/>
            <a:ext cx="582810"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8" name="TextBox 27"/>
          <p:cNvSpPr txBox="1"/>
          <p:nvPr/>
        </p:nvSpPr>
        <p:spPr>
          <a:xfrm>
            <a:off x="276225" y="3847337"/>
            <a:ext cx="3943957" cy="194310"/>
          </a:xfrm>
          <a:prstGeom prst="rect">
            <a:avLst/>
          </a:prstGeom>
          <a:noFill/>
        </p:spPr>
        <p:txBody>
          <a:bodyPr wrap="none" lIns="0" rIns="0" tIns="0" bIns="0">
            <a:spAutoFit/>
          </a:bodyPr>
          <a:lstStyle/>
          <a:p>
            <a:r>
              <a:rPr sz="1150" b="0">
                <a:solidFill>
                  <a:srgbClr val="2E2E2E"/>
                </a:solidFill>
                <a:latin typeface="Calibri"/>
              </a:rPr>
              <a:t>▪ 'Sweet muffins × Retail' is the single largest cross-sectional cell (</a:t>
            </a:r>
          </a:p>
        </p:txBody>
      </p:sp>
      <p:pic>
        <p:nvPicPr>
          <p:cNvPr id="29" name="Picture 28" descr="lock.png"/>
          <p:cNvPicPr>
            <a:picLocks noChangeAspect="1"/>
          </p:cNvPicPr>
          <p:nvPr/>
        </p:nvPicPr>
        <p:blipFill>
          <a:blip r:embed="rId4"/>
          <a:stretch>
            <a:fillRect/>
          </a:stretch>
        </p:blipFill>
        <p:spPr>
          <a:xfrm>
            <a:off x="4169336" y="3837114"/>
            <a:ext cx="134549" cy="195707"/>
          </a:xfrm>
          <a:prstGeom prst="rect">
            <a:avLst/>
          </a:prstGeom>
        </p:spPr>
      </p:pic>
      <p:sp>
        <p:nvSpPr>
          <p:cNvPr id="30" name="TextBox 29"/>
          <p:cNvSpPr txBox="1"/>
          <p:nvPr/>
        </p:nvSpPr>
        <p:spPr>
          <a:xfrm>
            <a:off x="4344445" y="3847337"/>
            <a:ext cx="6506660" cy="194310"/>
          </a:xfrm>
          <a:prstGeom prst="rect">
            <a:avLst/>
          </a:prstGeom>
          <a:noFill/>
        </p:spPr>
        <p:txBody>
          <a:bodyPr wrap="none" lIns="0" rIns="0" tIns="0" bIns="0">
            <a:spAutoFit/>
          </a:bodyPr>
          <a:lstStyle/>
          <a:p>
            <a:r>
              <a:rPr sz="1150" b="0">
                <a:solidFill>
                  <a:srgbClr val="2E2E2E"/>
                </a:solidFill>
                <a:latin typeface="Calibri"/>
              </a:rPr>
              <a:t>US$ Mn, 2026E), while 'Sweet muffins × Quick-commerce platforms' records the fastest growth at a CAGR of</a:t>
            </a:r>
          </a:p>
        </p:txBody>
      </p:sp>
      <p:pic>
        <p:nvPicPr>
          <p:cNvPr id="31" name="Picture 30" descr="lock.png"/>
          <p:cNvPicPr>
            <a:picLocks noChangeAspect="1"/>
          </p:cNvPicPr>
          <p:nvPr/>
        </p:nvPicPr>
        <p:blipFill>
          <a:blip r:embed="rId4"/>
          <a:stretch>
            <a:fillRect/>
          </a:stretch>
        </p:blipFill>
        <p:spPr>
          <a:xfrm>
            <a:off x="10800260" y="3837114"/>
            <a:ext cx="134549" cy="195707"/>
          </a:xfrm>
          <a:prstGeom prst="rect">
            <a:avLst/>
          </a:prstGeom>
        </p:spPr>
      </p:pic>
      <p:sp>
        <p:nvSpPr>
          <p:cNvPr id="32" name="TextBox 31"/>
          <p:cNvSpPr txBox="1"/>
          <p:nvPr/>
        </p:nvSpPr>
        <p:spPr>
          <a:xfrm>
            <a:off x="10975370" y="3847337"/>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3" name="TextBox 32"/>
          <p:cNvSpPr txBox="1"/>
          <p:nvPr/>
        </p:nvSpPr>
        <p:spPr>
          <a:xfrm>
            <a:off x="276225" y="4022597"/>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34" name="TextBox 33"/>
          <p:cNvSpPr txBox="1"/>
          <p:nvPr/>
        </p:nvSpPr>
        <p:spPr>
          <a:xfrm>
            <a:off x="276225" y="4250435"/>
            <a:ext cx="5949007" cy="194310"/>
          </a:xfrm>
          <a:prstGeom prst="rect">
            <a:avLst/>
          </a:prstGeom>
          <a:noFill/>
        </p:spPr>
        <p:txBody>
          <a:bodyPr wrap="none" lIns="0" rIns="0" tIns="0" bIns="0">
            <a:spAutoFit/>
          </a:bodyPr>
          <a:lstStyle/>
          <a:p>
            <a:r>
              <a:rPr sz="1150" b="0">
                <a:solidFill>
                  <a:srgbClr val="2E2E2E"/>
                </a:solidFill>
                <a:latin typeface="Calibri"/>
              </a:rPr>
              <a:t>▪ Combined, the top three product type × sales channel cells generate an absolute $ opportunity of</a:t>
            </a:r>
          </a:p>
        </p:txBody>
      </p:sp>
      <p:pic>
        <p:nvPicPr>
          <p:cNvPr id="35" name="Picture 34" descr="lock.png"/>
          <p:cNvPicPr>
            <a:picLocks noChangeAspect="1"/>
          </p:cNvPicPr>
          <p:nvPr/>
        </p:nvPicPr>
        <p:blipFill>
          <a:blip r:embed="rId4"/>
          <a:stretch>
            <a:fillRect/>
          </a:stretch>
        </p:blipFill>
        <p:spPr>
          <a:xfrm>
            <a:off x="6174386" y="4240212"/>
            <a:ext cx="134549" cy="195707"/>
          </a:xfrm>
          <a:prstGeom prst="rect">
            <a:avLst/>
          </a:prstGeom>
        </p:spPr>
      </p:pic>
      <p:sp>
        <p:nvSpPr>
          <p:cNvPr id="36" name="TextBox 35"/>
          <p:cNvSpPr txBox="1"/>
          <p:nvPr/>
        </p:nvSpPr>
        <p:spPr>
          <a:xfrm>
            <a:off x="6349495" y="4250435"/>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Sales Channel,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sales channel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Sales Channel, 2026E (% of each row)</a:t>
            </a:r>
          </a:p>
        </p:txBody>
      </p:sp>
      <p:graphicFrame>
        <p:nvGraphicFramePr>
          <p:cNvPr id="13" name="Table 12"/>
          <p:cNvGraphicFramePr>
            <a:graphicFrameLocks noGrp="1"/>
          </p:cNvGraphicFramePr>
          <p:nvPr/>
        </p:nvGraphicFramePr>
        <p:xfrm>
          <a:off x="152400" y="1238250"/>
          <a:ext cx="11887199" cy="1181100"/>
        </p:xfrm>
        <a:graphic>
          <a:graphicData uri="http://schemas.openxmlformats.org/drawingml/2006/table">
            <a:tbl>
              <a:tblPr>
                <a:tableStyleId>{5C22544A-7EE6-4342-B048-85BDC9FD1C3A}</a:tableStyleId>
              </a:tblPr>
              <a:tblGrid>
                <a:gridCol w="1083397"/>
                <a:gridCol w="470225"/>
                <a:gridCol w="1688458"/>
                <a:gridCol w="1331377"/>
                <a:gridCol w="1715112"/>
                <a:gridCol w="2631956"/>
                <a:gridCol w="1820197"/>
                <a:gridCol w="602671"/>
                <a:gridCol w="543806"/>
              </a:tblGrid>
              <a:tr h="438912">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Retailer websites and apps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Online marketplaces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Quick-commerce platforms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Brand-owned direct-to-consumer websites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Foodservice and institutional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7396">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396">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7286625"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194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Sales Channel Mix by Product Type, 2026E (% share)</a:t>
            </a:r>
          </a:p>
        </p:txBody>
      </p:sp>
      <p:graphicFrame>
        <p:nvGraphicFramePr>
          <p:cNvPr id="17" name="Chart 16"/>
          <p:cNvGraphicFramePr>
            <a:graphicFrameLocks noGrp="1"/>
          </p:cNvGraphicFramePr>
          <p:nvPr/>
        </p:nvGraphicFramePr>
        <p:xfrm>
          <a:off x="238125" y="3048000"/>
          <a:ext cx="7096125" cy="352425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2762250"/>
            <a:ext cx="445770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28479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0861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171825"/>
            <a:ext cx="419100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51008" y="1781556"/>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826970"/>
            <a:ext cx="440818" cy="641190"/>
          </a:xfrm>
          <a:prstGeom prst="rect">
            <a:avLst/>
          </a:prstGeom>
        </p:spPr>
      </p:pic>
      <p:sp>
        <p:nvSpPr>
          <p:cNvPr id="25" name="TextBox 24"/>
          <p:cNvSpPr txBox="1"/>
          <p:nvPr/>
        </p:nvSpPr>
        <p:spPr>
          <a:xfrm>
            <a:off x="7715250" y="3181350"/>
            <a:ext cx="3231108" cy="194310"/>
          </a:xfrm>
          <a:prstGeom prst="rect">
            <a:avLst/>
          </a:prstGeom>
          <a:noFill/>
        </p:spPr>
        <p:txBody>
          <a:bodyPr wrap="none" lIns="0" rIns="0" tIns="0" bIns="0">
            <a:spAutoFit/>
          </a:bodyPr>
          <a:lstStyle/>
          <a:p>
            <a:r>
              <a:rPr sz="1150" b="0">
                <a:solidFill>
                  <a:srgbClr val="2E2E2E"/>
                </a:solidFill>
                <a:latin typeface="Calibri"/>
              </a:rPr>
              <a:t>▪ 'Retail' holds the highest share of 'Sweet muffins' at</a:t>
            </a:r>
          </a:p>
        </p:txBody>
      </p:sp>
      <p:pic>
        <p:nvPicPr>
          <p:cNvPr id="26" name="Picture 25" descr="lock.png"/>
          <p:cNvPicPr>
            <a:picLocks noChangeAspect="1"/>
          </p:cNvPicPr>
          <p:nvPr/>
        </p:nvPicPr>
        <p:blipFill>
          <a:blip r:embed="rId5"/>
          <a:stretch>
            <a:fillRect/>
          </a:stretch>
        </p:blipFill>
        <p:spPr>
          <a:xfrm>
            <a:off x="10895512" y="3171126"/>
            <a:ext cx="134549" cy="195707"/>
          </a:xfrm>
          <a:prstGeom prst="rect">
            <a:avLst/>
          </a:prstGeom>
        </p:spPr>
      </p:pic>
      <p:sp>
        <p:nvSpPr>
          <p:cNvPr id="27" name="TextBox 26"/>
          <p:cNvSpPr txBox="1"/>
          <p:nvPr/>
        </p:nvSpPr>
        <p:spPr>
          <a:xfrm>
            <a:off x="11070621" y="318135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8" name="TextBox 27"/>
          <p:cNvSpPr txBox="1"/>
          <p:nvPr/>
        </p:nvSpPr>
        <p:spPr>
          <a:xfrm>
            <a:off x="7715250" y="3409187"/>
            <a:ext cx="4171950" cy="194310"/>
          </a:xfrm>
          <a:prstGeom prst="rect">
            <a:avLst/>
          </a:prstGeom>
          <a:noFill/>
        </p:spPr>
        <p:txBody>
          <a:bodyPr wrap="none" lIns="0" rIns="0" tIns="0" bIns="0">
            <a:spAutoFit/>
          </a:bodyPr>
          <a:lstStyle/>
          <a:p>
            <a:r>
              <a:rPr sz="1150" b="0">
                <a:solidFill>
                  <a:srgbClr val="2E2E2E"/>
                </a:solidFill>
                <a:latin typeface="Calibri"/>
              </a:rPr>
              <a:t>▪ 'Sweet muffins' is the most concentrated product type sub-segment,</a:t>
            </a:r>
          </a:p>
        </p:txBody>
      </p:sp>
      <p:sp>
        <p:nvSpPr>
          <p:cNvPr id="29" name="TextBox 28"/>
          <p:cNvSpPr txBox="1"/>
          <p:nvPr/>
        </p:nvSpPr>
        <p:spPr>
          <a:xfrm>
            <a:off x="7715250" y="3584447"/>
            <a:ext cx="340059" cy="194310"/>
          </a:xfrm>
          <a:prstGeom prst="rect">
            <a:avLst/>
          </a:prstGeom>
          <a:noFill/>
        </p:spPr>
        <p:txBody>
          <a:bodyPr wrap="none" lIns="0" rIns="0" tIns="0" bIns="0">
            <a:spAutoFit/>
          </a:bodyPr>
          <a:lstStyle/>
          <a:p>
            <a:r>
              <a:rPr sz="1150" b="0">
                <a:solidFill>
                  <a:srgbClr val="2E2E2E"/>
                </a:solidFill>
                <a:latin typeface="Calibri"/>
              </a:rPr>
              <a:t>with</a:t>
            </a:r>
          </a:p>
        </p:txBody>
      </p:sp>
      <p:pic>
        <p:nvPicPr>
          <p:cNvPr id="30" name="Picture 29" descr="lock.png"/>
          <p:cNvPicPr>
            <a:picLocks noChangeAspect="1"/>
          </p:cNvPicPr>
          <p:nvPr/>
        </p:nvPicPr>
        <p:blipFill>
          <a:blip r:embed="rId5"/>
          <a:stretch>
            <a:fillRect/>
          </a:stretch>
        </p:blipFill>
        <p:spPr>
          <a:xfrm>
            <a:off x="8004463" y="3574224"/>
            <a:ext cx="134549" cy="195707"/>
          </a:xfrm>
          <a:prstGeom prst="rect">
            <a:avLst/>
          </a:prstGeom>
        </p:spPr>
      </p:pic>
      <p:sp>
        <p:nvSpPr>
          <p:cNvPr id="31" name="TextBox 30"/>
          <p:cNvSpPr txBox="1"/>
          <p:nvPr/>
        </p:nvSpPr>
        <p:spPr>
          <a:xfrm>
            <a:off x="8179573" y="3584447"/>
            <a:ext cx="1397781" cy="194310"/>
          </a:xfrm>
          <a:prstGeom prst="rect">
            <a:avLst/>
          </a:prstGeom>
          <a:noFill/>
        </p:spPr>
        <p:txBody>
          <a:bodyPr wrap="none" lIns="0" rIns="0" tIns="0" bIns="0">
            <a:spAutoFit/>
          </a:bodyPr>
          <a:lstStyle/>
          <a:p>
            <a:r>
              <a:rPr sz="1150" b="0">
                <a:solidFill>
                  <a:srgbClr val="2E2E2E"/>
                </a:solidFill>
                <a:latin typeface="Calibri"/>
              </a:rPr>
              <a:t>of its value via 'Retail'.</a:t>
            </a:r>
          </a:p>
        </p:txBody>
      </p:sp>
      <p:sp>
        <p:nvSpPr>
          <p:cNvPr id="32" name="TextBox 31"/>
          <p:cNvSpPr txBox="1"/>
          <p:nvPr/>
        </p:nvSpPr>
        <p:spPr>
          <a:xfrm>
            <a:off x="7715250" y="3812285"/>
            <a:ext cx="2388722" cy="194310"/>
          </a:xfrm>
          <a:prstGeom prst="rect">
            <a:avLst/>
          </a:prstGeom>
          <a:noFill/>
        </p:spPr>
        <p:txBody>
          <a:bodyPr wrap="none" lIns="0" rIns="0" tIns="0" bIns="0">
            <a:spAutoFit/>
          </a:bodyPr>
          <a:lstStyle/>
          <a:p>
            <a:r>
              <a:rPr sz="1150" b="0">
                <a:solidFill>
                  <a:srgbClr val="2E2E2E"/>
                </a:solidFill>
                <a:latin typeface="Calibri"/>
              </a:rPr>
              <a:t>▪ 'Foodservice and institutional' gains +</a:t>
            </a:r>
          </a:p>
        </p:txBody>
      </p:sp>
      <p:pic>
        <p:nvPicPr>
          <p:cNvPr id="33" name="Picture 32" descr="lock.png"/>
          <p:cNvPicPr>
            <a:picLocks noChangeAspect="1"/>
          </p:cNvPicPr>
          <p:nvPr/>
        </p:nvPicPr>
        <p:blipFill>
          <a:blip r:embed="rId5"/>
          <a:stretch>
            <a:fillRect/>
          </a:stretch>
        </p:blipFill>
        <p:spPr>
          <a:xfrm>
            <a:off x="10053126" y="3802062"/>
            <a:ext cx="134549" cy="195707"/>
          </a:xfrm>
          <a:prstGeom prst="rect">
            <a:avLst/>
          </a:prstGeom>
        </p:spPr>
      </p:pic>
      <p:sp>
        <p:nvSpPr>
          <p:cNvPr id="34" name="TextBox 33"/>
          <p:cNvSpPr txBox="1"/>
          <p:nvPr/>
        </p:nvSpPr>
        <p:spPr>
          <a:xfrm>
            <a:off x="10228235" y="381228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5" name="TextBox 34"/>
          <p:cNvSpPr txBox="1"/>
          <p:nvPr/>
        </p:nvSpPr>
        <p:spPr>
          <a:xfrm>
            <a:off x="7715250" y="398754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6" name="lockshield_17"/>
          <p:cNvSpPr/>
          <p:nvPr/>
        </p:nvSpPr>
        <p:spPr>
          <a:xfrm>
            <a:off x="238125" y="3048000"/>
            <a:ext cx="7096125" cy="35242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Sales Channel,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sales channel sub-segments</a:t>
            </a:r>
          </a:p>
        </p:txBody>
      </p:sp>
      <p:sp>
        <p:nvSpPr>
          <p:cNvPr id="10" name="Rounded Rectangle 9"/>
          <p:cNvSpPr/>
          <p:nvPr/>
        </p:nvSpPr>
        <p:spPr>
          <a:xfrm>
            <a:off x="142875" y="981075"/>
            <a:ext cx="11906250" cy="2667000"/>
          </a:xfrm>
          <a:prstGeom prst="roundRect">
            <a:avLst>
              <a:gd name="adj" fmla="val 285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Sales Channel Sub-segment, Product Type × Sales Channel, 2026E (% of each row) – part 1 of 2</a:t>
            </a:r>
          </a:p>
        </p:txBody>
      </p:sp>
      <p:graphicFrame>
        <p:nvGraphicFramePr>
          <p:cNvPr id="12" name="Table 11"/>
          <p:cNvGraphicFramePr>
            <a:graphicFrameLocks noGrp="1"/>
          </p:cNvGraphicFramePr>
          <p:nvPr/>
        </p:nvGraphicFramePr>
        <p:xfrm>
          <a:off x="152400" y="1238250"/>
          <a:ext cx="11887198" cy="2200275"/>
        </p:xfrm>
        <a:graphic>
          <a:graphicData uri="http://schemas.openxmlformats.org/drawingml/2006/table">
            <a:tbl>
              <a:tblPr>
                <a:tableStyleId>{5C22544A-7EE6-4342-B048-85BDC9FD1C3A}</a:tableStyleId>
              </a:tblPr>
              <a:tblGrid>
                <a:gridCol w="1083397"/>
                <a:gridCol w="1343220"/>
                <a:gridCol w="1020812"/>
                <a:gridCol w="775543"/>
                <a:gridCol w="919241"/>
                <a:gridCol w="1068395"/>
                <a:gridCol w="1167004"/>
                <a:gridCol w="1335628"/>
                <a:gridCol w="1017721"/>
                <a:gridCol w="1064606"/>
                <a:gridCol w="1091631"/>
              </a:tblGrid>
              <a:tr h="63169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7">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Retailer</a:t>
                      </a:r>
                      <a:endParaRPr sz="1100"/>
                    </a:p>
                    <a:p>
                      <a:pPr algn="ctr"/>
                      <a:r>
                        <a:rPr sz="1100" b="1">
                          <a:solidFill>
                            <a:srgbClr val="0B2E4A"/>
                          </a:solidFill>
                          <a:latin typeface="Calibri"/>
                        </a:rPr>
                        <a:t>websites and</a:t>
                      </a:r>
                      <a:endParaRPr sz="1100"/>
                    </a:p>
                    <a:p>
                      <a:pPr algn="ctr"/>
                      <a:r>
                        <a:rPr sz="1100" b="1">
                          <a:solidFill>
                            <a:srgbClr val="0B2E4A"/>
                          </a:solidFill>
                          <a:latin typeface="Calibri"/>
                        </a:rPr>
                        <a:t>apps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Online</a:t>
                      </a:r>
                      <a:endParaRPr sz="1100"/>
                    </a:p>
                    <a:p>
                      <a:pPr algn="ctr"/>
                      <a:r>
                        <a:rPr sz="1100" b="1">
                          <a:solidFill>
                            <a:srgbClr val="0B2E4A"/>
                          </a:solidFill>
                          <a:latin typeface="Calibri"/>
                        </a:rPr>
                        <a:t>marketplaces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Quick-</a:t>
                      </a:r>
                      <a:endParaRPr sz="1100"/>
                    </a:p>
                    <a:p>
                      <a:pPr algn="ctr"/>
                      <a:r>
                        <a:rPr sz="1100" b="1">
                          <a:solidFill>
                            <a:srgbClr val="0B2E4A"/>
                          </a:solidFill>
                          <a:latin typeface="Calibri"/>
                        </a:rPr>
                        <a:t>commerce</a:t>
                      </a:r>
                      <a:endParaRPr sz="1100"/>
                    </a:p>
                    <a:p>
                      <a:pPr algn="ctr"/>
                      <a:r>
                        <a:rPr sz="1100" b="1">
                          <a:solidFill>
                            <a:srgbClr val="0B2E4A"/>
                          </a:solidFill>
                          <a:latin typeface="Calibri"/>
                        </a:rPr>
                        <a:t>platforms</a:t>
                      </a:r>
                      <a:endParaRPr sz="1100"/>
                    </a:p>
                  </a:txBody>
                  <a:tcPr marL="47625" marR="38100" marT="19050" marB="19050" anchor="ctr">
                    <a:solidFill>
                      <a:srgbClr val="E0E8EF"/>
                    </a:solidFill>
                  </a:tcPr>
                </a:tc>
              </a:tr>
              <a:tr h="825913">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Supermarkets and hypermarkets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Convenience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Discount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Warehouse clubs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Traditional grocery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Speciality food and health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Bakery outlets selling packaged products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Retailer websites and apps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Online marketplaces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Quick-commerce platforms</a:t>
                      </a:r>
                      <a:endParaRPr sz="1100"/>
                    </a:p>
                  </a:txBody>
                  <a:tcPr marL="47625" marR="38100" marT="19050" marB="19050" anchor="ctr">
                    <a:solidFill>
                      <a:srgbClr val="E0E8EF"/>
                    </a:solidFill>
                  </a:tcPr>
                </a:tc>
              </a:tr>
              <a:tr h="247555">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55">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5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48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781425"/>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8385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Sales Channel Sub-segment, Product Type × Sales Channel, 2026E (% of each row) – part 2 of 2</a:t>
            </a:r>
          </a:p>
        </p:txBody>
      </p:sp>
      <p:graphicFrame>
        <p:nvGraphicFramePr>
          <p:cNvPr id="16" name="Table 15"/>
          <p:cNvGraphicFramePr>
            <a:graphicFrameLocks noGrp="1"/>
          </p:cNvGraphicFramePr>
          <p:nvPr/>
        </p:nvGraphicFramePr>
        <p:xfrm>
          <a:off x="152400" y="4038600"/>
          <a:ext cx="11887200" cy="1809751"/>
        </p:xfrm>
        <a:graphic>
          <a:graphicData uri="http://schemas.openxmlformats.org/drawingml/2006/table">
            <a:tbl>
              <a:tblPr>
                <a:tableStyleId>{5C22544A-7EE6-4342-B048-85BDC9FD1C3A}</a:tableStyleId>
              </a:tblPr>
              <a:tblGrid>
                <a:gridCol w="1083397"/>
                <a:gridCol w="1894693"/>
                <a:gridCol w="1105953"/>
                <a:gridCol w="1202914"/>
                <a:gridCol w="1300117"/>
                <a:gridCol w="1025266"/>
                <a:gridCol w="1239684"/>
                <a:gridCol w="1198995"/>
                <a:gridCol w="1233510"/>
                <a:gridCol w="602671"/>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Brand-owned direct-to-</a:t>
                      </a:r>
                      <a:endParaRPr sz="1100"/>
                    </a:p>
                    <a:p>
                      <a:pPr algn="ctr"/>
                      <a:r>
                        <a:rPr sz="1100" b="1">
                          <a:solidFill>
                            <a:srgbClr val="0B2E4A"/>
                          </a:solidFill>
                          <a:latin typeface="Calibri"/>
                        </a:rPr>
                        <a:t>consumer websites</a:t>
                      </a:r>
                      <a:endParaRPr sz="1100"/>
                    </a:p>
                  </a:txBody>
                  <a:tcPr marL="47625" marR="38100" marT="19050" marB="19050" anchor="ctr">
                    <a:solidFill>
                      <a:srgbClr val="E0E8EF"/>
                    </a:solidFill>
                  </a:tcPr>
                </a:tc>
                <a:tc gridSpan="7">
                  <a:txBody>
                    <a:bodyPr wrap="none"/>
                    <a:lstStyle/>
                    <a:p>
                      <a:pPr algn="ctr"/>
                      <a:r>
                        <a:rPr sz="1100" b="1">
                          <a:solidFill>
                            <a:srgbClr val="0B2E4A"/>
                          </a:solidFill>
                          <a:latin typeface="Calibri"/>
                        </a:rPr>
                        <a:t>Foodservice and institutional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r>
              <a:tr h="631888">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Brand-owned direct-to-consumer websites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Cafés and coffee chains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Hotels and restaurants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Quick-service restaurants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Corporate catering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Educational institutions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Healthcare institutions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Airline and travel catering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7" name="TextBox 16"/>
          <p:cNvSpPr txBox="1"/>
          <p:nvPr/>
        </p:nvSpPr>
        <p:spPr>
          <a:xfrm>
            <a:off x="219075" y="5857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451007" y="2800493"/>
            <a:ext cx="366712" cy="533400"/>
          </a:xfrm>
          <a:prstGeom prst="rect">
            <a:avLst/>
          </a:prstGeom>
        </p:spPr>
      </p:pic>
      <p:pic>
        <p:nvPicPr>
          <p:cNvPr id="20" name="Picture 19" descr="lock.png"/>
          <p:cNvPicPr>
            <a:picLocks noChangeAspect="1"/>
          </p:cNvPicPr>
          <p:nvPr/>
        </p:nvPicPr>
        <p:blipFill>
          <a:blip r:embed="rId4"/>
          <a:stretch>
            <a:fillRect/>
          </a:stretch>
        </p:blipFill>
        <p:spPr>
          <a:xfrm>
            <a:off x="6451008" y="5212175"/>
            <a:ext cx="366712" cy="533400"/>
          </a:xfrm>
          <a:prstGeom prst="rect">
            <a:avLst/>
          </a:prstGeom>
        </p:spPr>
      </p:pic>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Sales Channel,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Sales Channel, 2026E–2036F</a:t>
            </a:r>
          </a:p>
        </p:txBody>
      </p:sp>
      <p:graphicFrame>
        <p:nvGraphicFramePr>
          <p:cNvPr id="13" name="Table 12"/>
          <p:cNvGraphicFramePr>
            <a:graphicFrameLocks noGrp="1"/>
          </p:cNvGraphicFramePr>
          <p:nvPr/>
        </p:nvGraphicFramePr>
        <p:xfrm>
          <a:off x="152400" y="1238250"/>
          <a:ext cx="11887202" cy="1619249"/>
        </p:xfrm>
        <a:graphic>
          <a:graphicData uri="http://schemas.openxmlformats.org/drawingml/2006/table">
            <a:tbl>
              <a:tblPr>
                <a:tableStyleId>{5C22544A-7EE6-4342-B048-85BDC9FD1C3A}</a:tableStyleId>
              </a:tblPr>
              <a:tblGrid>
                <a:gridCol w="1241554"/>
                <a:gridCol w="665353"/>
                <a:gridCol w="665353"/>
                <a:gridCol w="665353"/>
                <a:gridCol w="665353"/>
                <a:gridCol w="665353"/>
                <a:gridCol w="665353"/>
                <a:gridCol w="665353"/>
                <a:gridCol w="665353"/>
                <a:gridCol w="665353"/>
                <a:gridCol w="665353"/>
                <a:gridCol w="665353"/>
                <a:gridCol w="665353"/>
                <a:gridCol w="665353"/>
                <a:gridCol w="665353"/>
                <a:gridCol w="665353"/>
                <a:gridCol w="665353"/>
              </a:tblGrid>
              <a:tr h="63169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Retailer websites</a:t>
                      </a:r>
                      <a:endParaRPr sz="1100"/>
                    </a:p>
                    <a:p>
                      <a:pPr algn="ctr"/>
                      <a:r>
                        <a:rPr sz="1100" b="1">
                          <a:solidFill>
                            <a:srgbClr val="0B2E4A"/>
                          </a:solidFill>
                          <a:latin typeface="Calibri"/>
                        </a:rPr>
                        <a:t>and apps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Online marketplaces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Quick-commerce</a:t>
                      </a:r>
                      <a:endParaRPr sz="1100"/>
                    </a:p>
                    <a:p>
                      <a:pPr algn="ctr"/>
                      <a:r>
                        <a:rPr sz="1100" b="1">
                          <a:solidFill>
                            <a:srgbClr val="0B2E4A"/>
                          </a:solidFill>
                          <a:latin typeface="Calibri"/>
                        </a:rPr>
                        <a:t>platforms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Brand-owned</a:t>
                      </a:r>
                      <a:endParaRPr sz="1100"/>
                    </a:p>
                    <a:p>
                      <a:pPr algn="ctr"/>
                      <a:r>
                        <a:rPr sz="1100" b="1">
                          <a:solidFill>
                            <a:srgbClr val="0B2E4A"/>
                          </a:solidFill>
                          <a:latin typeface="Calibri"/>
                        </a:rPr>
                        <a:t>direct-to-consumer</a:t>
                      </a:r>
                      <a:endParaRPr sz="1100"/>
                    </a:p>
                    <a:p>
                      <a:pPr algn="ctr"/>
                      <a:r>
                        <a:rPr sz="1100" b="1">
                          <a:solidFill>
                            <a:srgbClr val="0B2E4A"/>
                          </a:solidFill>
                          <a:latin typeface="Calibri"/>
                        </a:rPr>
                        <a:t>websites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Foodservice and</a:t>
                      </a:r>
                      <a:endParaRPr sz="1100"/>
                    </a:p>
                    <a:p>
                      <a:pPr algn="ctr"/>
                      <a:r>
                        <a:rPr sz="1100" b="1">
                          <a:solidFill>
                            <a:srgbClr val="0B2E4A"/>
                          </a:solidFill>
                          <a:latin typeface="Calibri"/>
                        </a:rPr>
                        <a:t>institutional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88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88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560070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861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5242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09975"/>
            <a:ext cx="53340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200400"/>
            <a:ext cx="1943100" cy="3429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2861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524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609975"/>
            <a:ext cx="16764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200400"/>
            <a:ext cx="1943100" cy="3429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2861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524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609975"/>
            <a:ext cx="16764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200400"/>
            <a:ext cx="1943100" cy="3429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2861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524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609975"/>
            <a:ext cx="16764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'Sweet muffins × Foodservice and institutional' ranks highest (5/5); 'Sweet muffins × Retailer websites and apps'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530088" y="2220468"/>
            <a:ext cx="366712" cy="533400"/>
          </a:xfrm>
          <a:prstGeom prst="rect">
            <a:avLst/>
          </a:prstGeom>
        </p:spPr>
      </p:pic>
      <p:sp>
        <p:nvSpPr>
          <p:cNvPr id="33" name="TextBox 32"/>
          <p:cNvSpPr txBox="1"/>
          <p:nvPr/>
        </p:nvSpPr>
        <p:spPr>
          <a:xfrm>
            <a:off x="276225" y="3619500"/>
            <a:ext cx="3116975" cy="194310"/>
          </a:xfrm>
          <a:prstGeom prst="rect">
            <a:avLst/>
          </a:prstGeom>
          <a:noFill/>
        </p:spPr>
        <p:txBody>
          <a:bodyPr wrap="none" lIns="0" rIns="0" tIns="0" bIns="0">
            <a:spAutoFit/>
          </a:bodyPr>
          <a:lstStyle/>
          <a:p>
            <a:r>
              <a:rPr sz="1150" b="0">
                <a:solidFill>
                  <a:srgbClr val="2E2E2E"/>
                </a:solidFill>
                <a:latin typeface="Calibri"/>
              </a:rPr>
              <a:t>▪ 1. Sweet muffins × Foodservice and institutional –</a:t>
            </a:r>
          </a:p>
        </p:txBody>
      </p:sp>
      <p:pic>
        <p:nvPicPr>
          <p:cNvPr id="34" name="Picture 33" descr="lock.png"/>
          <p:cNvPicPr>
            <a:picLocks noChangeAspect="1"/>
          </p:cNvPicPr>
          <p:nvPr/>
        </p:nvPicPr>
        <p:blipFill>
          <a:blip r:embed="rId4"/>
          <a:stretch>
            <a:fillRect/>
          </a:stretch>
        </p:blipFill>
        <p:spPr>
          <a:xfrm>
            <a:off x="3342354" y="3609276"/>
            <a:ext cx="134549" cy="195707"/>
          </a:xfrm>
          <a:prstGeom prst="rect">
            <a:avLst/>
          </a:prstGeom>
        </p:spPr>
      </p:pic>
      <p:sp>
        <p:nvSpPr>
          <p:cNvPr id="35" name="TextBox 34"/>
          <p:cNvSpPr txBox="1"/>
          <p:nvPr/>
        </p:nvSpPr>
        <p:spPr>
          <a:xfrm>
            <a:off x="3517463" y="36195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579615" y="3609276"/>
            <a:ext cx="134549" cy="195707"/>
          </a:xfrm>
          <a:prstGeom prst="rect">
            <a:avLst/>
          </a:prstGeom>
        </p:spPr>
      </p:pic>
      <p:sp>
        <p:nvSpPr>
          <p:cNvPr id="37" name="TextBox 36"/>
          <p:cNvSpPr txBox="1"/>
          <p:nvPr/>
        </p:nvSpPr>
        <p:spPr>
          <a:xfrm>
            <a:off x="3754724" y="36195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847337"/>
            <a:ext cx="3224801" cy="194310"/>
          </a:xfrm>
          <a:prstGeom prst="rect">
            <a:avLst/>
          </a:prstGeom>
          <a:noFill/>
        </p:spPr>
        <p:txBody>
          <a:bodyPr wrap="none" lIns="0" rIns="0" tIns="0" bIns="0">
            <a:spAutoFit/>
          </a:bodyPr>
          <a:lstStyle/>
          <a:p>
            <a:r>
              <a:rPr sz="1150" b="0">
                <a:solidFill>
                  <a:srgbClr val="2E2E2E"/>
                </a:solidFill>
                <a:latin typeface="Calibri"/>
              </a:rPr>
              <a:t>▪ 2. Savoury muffins × Foodservice and institutional –</a:t>
            </a:r>
          </a:p>
        </p:txBody>
      </p:sp>
      <p:pic>
        <p:nvPicPr>
          <p:cNvPr id="39" name="Picture 38" descr="lock.png"/>
          <p:cNvPicPr>
            <a:picLocks noChangeAspect="1"/>
          </p:cNvPicPr>
          <p:nvPr/>
        </p:nvPicPr>
        <p:blipFill>
          <a:blip r:embed="rId4"/>
          <a:stretch>
            <a:fillRect/>
          </a:stretch>
        </p:blipFill>
        <p:spPr>
          <a:xfrm>
            <a:off x="3450180" y="3837114"/>
            <a:ext cx="134549" cy="195707"/>
          </a:xfrm>
          <a:prstGeom prst="rect">
            <a:avLst/>
          </a:prstGeom>
        </p:spPr>
      </p:pic>
      <p:sp>
        <p:nvSpPr>
          <p:cNvPr id="40" name="TextBox 39"/>
          <p:cNvSpPr txBox="1"/>
          <p:nvPr/>
        </p:nvSpPr>
        <p:spPr>
          <a:xfrm>
            <a:off x="3625289" y="38473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687441" y="3837114"/>
            <a:ext cx="134549" cy="195707"/>
          </a:xfrm>
          <a:prstGeom prst="rect">
            <a:avLst/>
          </a:prstGeom>
        </p:spPr>
      </p:pic>
      <p:sp>
        <p:nvSpPr>
          <p:cNvPr id="42" name="TextBox 41"/>
          <p:cNvSpPr txBox="1"/>
          <p:nvPr/>
        </p:nvSpPr>
        <p:spPr>
          <a:xfrm>
            <a:off x="3862550" y="38473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075175"/>
            <a:ext cx="1736948" cy="194310"/>
          </a:xfrm>
          <a:prstGeom prst="rect">
            <a:avLst/>
          </a:prstGeom>
          <a:noFill/>
        </p:spPr>
        <p:txBody>
          <a:bodyPr wrap="none" lIns="0" rIns="0" tIns="0" bIns="0">
            <a:spAutoFit/>
          </a:bodyPr>
          <a:lstStyle/>
          <a:p>
            <a:r>
              <a:rPr sz="1150" b="0">
                <a:solidFill>
                  <a:srgbClr val="2E2E2E"/>
                </a:solidFill>
                <a:latin typeface="Calibri"/>
              </a:rPr>
              <a:t>▪ 3. Sweet muffins × Retail –</a:t>
            </a:r>
          </a:p>
        </p:txBody>
      </p:sp>
      <p:pic>
        <p:nvPicPr>
          <p:cNvPr id="44" name="Picture 43" descr="lock.png"/>
          <p:cNvPicPr>
            <a:picLocks noChangeAspect="1"/>
          </p:cNvPicPr>
          <p:nvPr/>
        </p:nvPicPr>
        <p:blipFill>
          <a:blip r:embed="rId4"/>
          <a:stretch>
            <a:fillRect/>
          </a:stretch>
        </p:blipFill>
        <p:spPr>
          <a:xfrm>
            <a:off x="1962327" y="4064952"/>
            <a:ext cx="134549" cy="195707"/>
          </a:xfrm>
          <a:prstGeom prst="rect">
            <a:avLst/>
          </a:prstGeom>
        </p:spPr>
      </p:pic>
      <p:sp>
        <p:nvSpPr>
          <p:cNvPr id="45" name="TextBox 44"/>
          <p:cNvSpPr txBox="1"/>
          <p:nvPr/>
        </p:nvSpPr>
        <p:spPr>
          <a:xfrm>
            <a:off x="2137436" y="4075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2199588" y="4064952"/>
            <a:ext cx="134549" cy="195707"/>
          </a:xfrm>
          <a:prstGeom prst="rect">
            <a:avLst/>
          </a:prstGeom>
        </p:spPr>
      </p:pic>
      <p:sp>
        <p:nvSpPr>
          <p:cNvPr id="47" name="TextBox 46"/>
          <p:cNvSpPr txBox="1"/>
          <p:nvPr/>
        </p:nvSpPr>
        <p:spPr>
          <a:xfrm>
            <a:off x="2374697" y="4075175"/>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8" name="TextBox 47"/>
          <p:cNvSpPr txBox="1"/>
          <p:nvPr/>
        </p:nvSpPr>
        <p:spPr>
          <a:xfrm>
            <a:off x="276225" y="4303013"/>
            <a:ext cx="1844774" cy="194310"/>
          </a:xfrm>
          <a:prstGeom prst="rect">
            <a:avLst/>
          </a:prstGeom>
          <a:noFill/>
        </p:spPr>
        <p:txBody>
          <a:bodyPr wrap="none" lIns="0" rIns="0" tIns="0" bIns="0">
            <a:spAutoFit/>
          </a:bodyPr>
          <a:lstStyle/>
          <a:p>
            <a:r>
              <a:rPr sz="1150" b="0">
                <a:solidFill>
                  <a:srgbClr val="2E2E2E"/>
                </a:solidFill>
                <a:latin typeface="Calibri"/>
              </a:rPr>
              <a:t>▪ 4. Savoury muffins × Retail –</a:t>
            </a:r>
          </a:p>
        </p:txBody>
      </p:sp>
      <p:pic>
        <p:nvPicPr>
          <p:cNvPr id="49" name="Picture 48" descr="lock.png"/>
          <p:cNvPicPr>
            <a:picLocks noChangeAspect="1"/>
          </p:cNvPicPr>
          <p:nvPr/>
        </p:nvPicPr>
        <p:blipFill>
          <a:blip r:embed="rId4"/>
          <a:stretch>
            <a:fillRect/>
          </a:stretch>
        </p:blipFill>
        <p:spPr>
          <a:xfrm>
            <a:off x="2070153" y="4292790"/>
            <a:ext cx="134549" cy="195707"/>
          </a:xfrm>
          <a:prstGeom prst="rect">
            <a:avLst/>
          </a:prstGeom>
        </p:spPr>
      </p:pic>
      <p:sp>
        <p:nvSpPr>
          <p:cNvPr id="50" name="TextBox 49"/>
          <p:cNvSpPr txBox="1"/>
          <p:nvPr/>
        </p:nvSpPr>
        <p:spPr>
          <a:xfrm>
            <a:off x="2245262" y="4303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307414" y="4292790"/>
            <a:ext cx="134549" cy="195707"/>
          </a:xfrm>
          <a:prstGeom prst="rect">
            <a:avLst/>
          </a:prstGeom>
        </p:spPr>
      </p:pic>
      <p:sp>
        <p:nvSpPr>
          <p:cNvPr id="52" name="TextBox 51"/>
          <p:cNvSpPr txBox="1"/>
          <p:nvPr/>
        </p:nvSpPr>
        <p:spPr>
          <a:xfrm>
            <a:off x="2482523" y="4303013"/>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53" name="TextBox 52"/>
          <p:cNvSpPr txBox="1"/>
          <p:nvPr/>
        </p:nvSpPr>
        <p:spPr>
          <a:xfrm>
            <a:off x="276225" y="4530851"/>
            <a:ext cx="3020020" cy="194310"/>
          </a:xfrm>
          <a:prstGeom prst="rect">
            <a:avLst/>
          </a:prstGeom>
          <a:noFill/>
        </p:spPr>
        <p:txBody>
          <a:bodyPr wrap="none" lIns="0" rIns="0" tIns="0" bIns="0">
            <a:spAutoFit/>
          </a:bodyPr>
          <a:lstStyle/>
          <a:p>
            <a:r>
              <a:rPr sz="1150" b="0">
                <a:solidFill>
                  <a:srgbClr val="2E2E2E"/>
                </a:solidFill>
                <a:latin typeface="Calibri"/>
              </a:rPr>
              <a:t>▪ 5. Sweet muffins × Quick-commerce platforms –</a:t>
            </a:r>
          </a:p>
        </p:txBody>
      </p:sp>
      <p:pic>
        <p:nvPicPr>
          <p:cNvPr id="54" name="Picture 53" descr="lock.png"/>
          <p:cNvPicPr>
            <a:picLocks noChangeAspect="1"/>
          </p:cNvPicPr>
          <p:nvPr/>
        </p:nvPicPr>
        <p:blipFill>
          <a:blip r:embed="rId4"/>
          <a:stretch>
            <a:fillRect/>
          </a:stretch>
        </p:blipFill>
        <p:spPr>
          <a:xfrm>
            <a:off x="3245399" y="4520628"/>
            <a:ext cx="134549" cy="195707"/>
          </a:xfrm>
          <a:prstGeom prst="rect">
            <a:avLst/>
          </a:prstGeom>
        </p:spPr>
      </p:pic>
      <p:sp>
        <p:nvSpPr>
          <p:cNvPr id="55" name="TextBox 54"/>
          <p:cNvSpPr txBox="1"/>
          <p:nvPr/>
        </p:nvSpPr>
        <p:spPr>
          <a:xfrm>
            <a:off x="3420508" y="4530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482660" y="4520628"/>
            <a:ext cx="134549" cy="195707"/>
          </a:xfrm>
          <a:prstGeom prst="rect">
            <a:avLst/>
          </a:prstGeom>
        </p:spPr>
      </p:pic>
      <p:sp>
        <p:nvSpPr>
          <p:cNvPr id="57" name="TextBox 56"/>
          <p:cNvSpPr txBox="1"/>
          <p:nvPr/>
        </p:nvSpPr>
        <p:spPr>
          <a:xfrm>
            <a:off x="3657769" y="45308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619500"/>
            <a:ext cx="1147898" cy="194310"/>
          </a:xfrm>
          <a:prstGeom prst="rect">
            <a:avLst/>
          </a:prstGeom>
          <a:noFill/>
        </p:spPr>
        <p:txBody>
          <a:bodyPr wrap="none" lIns="0" rIns="0" tIns="0" bIns="0">
            <a:spAutoFit/>
          </a:bodyPr>
          <a:lstStyle/>
          <a:p>
            <a:r>
              <a:rPr sz="1150" b="0">
                <a:solidFill>
                  <a:srgbClr val="2E2E2E"/>
                </a:solidFill>
                <a:latin typeface="Calibri"/>
              </a:rPr>
              <a:t>▪ 'Sweet muffins ×</a:t>
            </a:r>
          </a:p>
        </p:txBody>
      </p:sp>
      <p:sp>
        <p:nvSpPr>
          <p:cNvPr id="59" name="TextBox 58"/>
          <p:cNvSpPr txBox="1"/>
          <p:nvPr/>
        </p:nvSpPr>
        <p:spPr>
          <a:xfrm>
            <a:off x="6029325" y="3794760"/>
            <a:ext cx="1045461" cy="194310"/>
          </a:xfrm>
          <a:prstGeom prst="rect">
            <a:avLst/>
          </a:prstGeom>
          <a:noFill/>
        </p:spPr>
        <p:txBody>
          <a:bodyPr wrap="none" lIns="0" rIns="0" tIns="0" bIns="0">
            <a:spAutoFit/>
          </a:bodyPr>
          <a:lstStyle/>
          <a:p>
            <a:r>
              <a:rPr sz="1150" b="0">
                <a:solidFill>
                  <a:srgbClr val="2E2E2E"/>
                </a:solidFill>
                <a:latin typeface="Calibri"/>
              </a:rPr>
              <a:t>Foodservice and</a:t>
            </a:r>
          </a:p>
        </p:txBody>
      </p:sp>
      <p:sp>
        <p:nvSpPr>
          <p:cNvPr id="60" name="TextBox 59"/>
          <p:cNvSpPr txBox="1"/>
          <p:nvPr/>
        </p:nvSpPr>
        <p:spPr>
          <a:xfrm>
            <a:off x="6029325" y="3970019"/>
            <a:ext cx="1137915" cy="194310"/>
          </a:xfrm>
          <a:prstGeom prst="rect">
            <a:avLst/>
          </a:prstGeom>
          <a:noFill/>
        </p:spPr>
        <p:txBody>
          <a:bodyPr wrap="none" lIns="0" rIns="0" tIns="0" bIns="0">
            <a:spAutoFit/>
          </a:bodyPr>
          <a:lstStyle/>
          <a:p>
            <a:r>
              <a:rPr sz="1150" b="0">
                <a:solidFill>
                  <a:srgbClr val="2E2E2E"/>
                </a:solidFill>
                <a:latin typeface="Calibri"/>
              </a:rPr>
              <a:t>institutional' adds</a:t>
            </a:r>
          </a:p>
        </p:txBody>
      </p:sp>
      <p:pic>
        <p:nvPicPr>
          <p:cNvPr id="61" name="Picture 60" descr="lock.png"/>
          <p:cNvPicPr>
            <a:picLocks noChangeAspect="1"/>
          </p:cNvPicPr>
          <p:nvPr/>
        </p:nvPicPr>
        <p:blipFill>
          <a:blip r:embed="rId4"/>
          <a:stretch>
            <a:fillRect/>
          </a:stretch>
        </p:blipFill>
        <p:spPr>
          <a:xfrm>
            <a:off x="7116393" y="3959796"/>
            <a:ext cx="134549" cy="195707"/>
          </a:xfrm>
          <a:prstGeom prst="rect">
            <a:avLst/>
          </a:prstGeom>
        </p:spPr>
      </p:pic>
      <p:sp>
        <p:nvSpPr>
          <p:cNvPr id="62" name="TextBox 61"/>
          <p:cNvSpPr txBox="1"/>
          <p:nvPr/>
        </p:nvSpPr>
        <p:spPr>
          <a:xfrm>
            <a:off x="7291503" y="3970019"/>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3" name="TextBox 62"/>
          <p:cNvSpPr txBox="1"/>
          <p:nvPr/>
        </p:nvSpPr>
        <p:spPr>
          <a:xfrm>
            <a:off x="6029325" y="4145279"/>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4" name="Picture 63" descr="lock.png"/>
          <p:cNvPicPr>
            <a:picLocks noChangeAspect="1"/>
          </p:cNvPicPr>
          <p:nvPr/>
        </p:nvPicPr>
        <p:blipFill>
          <a:blip r:embed="rId4"/>
          <a:stretch>
            <a:fillRect/>
          </a:stretch>
        </p:blipFill>
        <p:spPr>
          <a:xfrm>
            <a:off x="6934972" y="4135056"/>
            <a:ext cx="134549" cy="195707"/>
          </a:xfrm>
          <a:prstGeom prst="rect">
            <a:avLst/>
          </a:prstGeom>
        </p:spPr>
      </p:pic>
      <p:sp>
        <p:nvSpPr>
          <p:cNvPr id="65" name="TextBox 64"/>
          <p:cNvSpPr txBox="1"/>
          <p:nvPr/>
        </p:nvSpPr>
        <p:spPr>
          <a:xfrm>
            <a:off x="7110081" y="4145279"/>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6" name="TextBox 65"/>
          <p:cNvSpPr txBox="1"/>
          <p:nvPr/>
        </p:nvSpPr>
        <p:spPr>
          <a:xfrm>
            <a:off x="6029325" y="432053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7" name="TextBox 66"/>
          <p:cNvSpPr txBox="1"/>
          <p:nvPr/>
        </p:nvSpPr>
        <p:spPr>
          <a:xfrm>
            <a:off x="8124825" y="3619500"/>
            <a:ext cx="1147898" cy="194310"/>
          </a:xfrm>
          <a:prstGeom prst="rect">
            <a:avLst/>
          </a:prstGeom>
          <a:noFill/>
        </p:spPr>
        <p:txBody>
          <a:bodyPr wrap="none" lIns="0" rIns="0" tIns="0" bIns="0">
            <a:spAutoFit/>
          </a:bodyPr>
          <a:lstStyle/>
          <a:p>
            <a:r>
              <a:rPr sz="1150" b="0">
                <a:solidFill>
                  <a:srgbClr val="2E2E2E"/>
                </a:solidFill>
                <a:latin typeface="Calibri"/>
              </a:rPr>
              <a:t>▪ 'Sweet muffins ×</a:t>
            </a:r>
          </a:p>
        </p:txBody>
      </p:sp>
      <p:sp>
        <p:nvSpPr>
          <p:cNvPr id="68" name="TextBox 67"/>
          <p:cNvSpPr txBox="1"/>
          <p:nvPr/>
        </p:nvSpPr>
        <p:spPr>
          <a:xfrm>
            <a:off x="8124825" y="3794760"/>
            <a:ext cx="1657350" cy="194310"/>
          </a:xfrm>
          <a:prstGeom prst="rect">
            <a:avLst/>
          </a:prstGeom>
          <a:noFill/>
        </p:spPr>
        <p:txBody>
          <a:bodyPr wrap="none" lIns="0" rIns="0" tIns="0" bIns="0">
            <a:spAutoFit/>
          </a:bodyPr>
          <a:lstStyle/>
          <a:p>
            <a:r>
              <a:rPr sz="1150" b="0">
                <a:solidFill>
                  <a:srgbClr val="2E2E2E"/>
                </a:solidFill>
                <a:latin typeface="Calibri"/>
              </a:rPr>
              <a:t>Quick-commerce platforms'</a:t>
            </a:r>
          </a:p>
        </p:txBody>
      </p:sp>
      <p:sp>
        <p:nvSpPr>
          <p:cNvPr id="69" name="TextBox 68"/>
          <p:cNvSpPr txBox="1"/>
          <p:nvPr/>
        </p:nvSpPr>
        <p:spPr>
          <a:xfrm>
            <a:off x="8124825" y="3970019"/>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3959796"/>
            <a:ext cx="134549" cy="195707"/>
          </a:xfrm>
          <a:prstGeom prst="rect">
            <a:avLst/>
          </a:prstGeom>
        </p:spPr>
      </p:pic>
      <p:sp>
        <p:nvSpPr>
          <p:cNvPr id="71" name="TextBox 70"/>
          <p:cNvSpPr txBox="1"/>
          <p:nvPr/>
        </p:nvSpPr>
        <p:spPr>
          <a:xfrm>
            <a:off x="8938584" y="39700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3959796"/>
            <a:ext cx="134549" cy="195707"/>
          </a:xfrm>
          <a:prstGeom prst="rect">
            <a:avLst/>
          </a:prstGeom>
        </p:spPr>
      </p:pic>
      <p:sp>
        <p:nvSpPr>
          <p:cNvPr id="73" name="TextBox 72"/>
          <p:cNvSpPr txBox="1"/>
          <p:nvPr/>
        </p:nvSpPr>
        <p:spPr>
          <a:xfrm>
            <a:off x="8124825" y="41452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3205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Individual Muffin Size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Individual Muffin Size,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individual muffin size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Individual Muffin Size, 2026E and 2036F (US$ Mn)</a:t>
            </a:r>
          </a:p>
        </p:txBody>
      </p:sp>
      <p:graphicFrame>
        <p:nvGraphicFramePr>
          <p:cNvPr id="13" name="Table 12"/>
          <p:cNvGraphicFramePr>
            <a:graphicFrameLocks noGrp="1"/>
          </p:cNvGraphicFramePr>
          <p:nvPr/>
        </p:nvGraphicFramePr>
        <p:xfrm>
          <a:off x="152400" y="1238250"/>
          <a:ext cx="11887197" cy="1428752"/>
        </p:xfrm>
        <a:graphic>
          <a:graphicData uri="http://schemas.openxmlformats.org/drawingml/2006/table">
            <a:tbl>
              <a:tblPr>
                <a:tableStyleId>{5C22544A-7EE6-4342-B048-85BDC9FD1C3A}</a:tableStyleId>
              </a:tblPr>
              <a:tblGrid>
                <a:gridCol w="2084557"/>
                <a:gridCol w="980264"/>
                <a:gridCol w="980264"/>
                <a:gridCol w="980264"/>
                <a:gridCol w="980264"/>
                <a:gridCol w="980264"/>
                <a:gridCol w="980264"/>
                <a:gridCol w="980264"/>
                <a:gridCol w="980264"/>
                <a:gridCol w="980264"/>
                <a:gridCol w="980264"/>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Mini / bite-sized - below 30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Small - 30 g to below 60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Standard - 60 g to below 100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Large / jumbo - 100 g and</a:t>
                      </a:r>
                      <a:endParaRPr sz="1100"/>
                    </a:p>
                    <a:p>
                      <a:pPr algn="ctr"/>
                      <a:r>
                        <a:rPr sz="1100" b="1">
                          <a:solidFill>
                            <a:srgbClr val="0B2E4A"/>
                          </a:solidFill>
                          <a:latin typeface="Calibri"/>
                        </a:rPr>
                        <a:t>above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46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51587" y="2029112"/>
            <a:ext cx="366712" cy="533400"/>
          </a:xfrm>
          <a:prstGeom prst="rect">
            <a:avLst/>
          </a:prstGeom>
        </p:spPr>
      </p:pic>
      <p:sp>
        <p:nvSpPr>
          <p:cNvPr id="21" name="TextBox 20"/>
          <p:cNvSpPr txBox="1"/>
          <p:nvPr/>
        </p:nvSpPr>
        <p:spPr>
          <a:xfrm>
            <a:off x="276225" y="3429000"/>
            <a:ext cx="5185667" cy="194310"/>
          </a:xfrm>
          <a:prstGeom prst="rect">
            <a:avLst/>
          </a:prstGeom>
          <a:noFill/>
        </p:spPr>
        <p:txBody>
          <a:bodyPr wrap="none" lIns="0" rIns="0" tIns="0" bIns="0">
            <a:spAutoFit/>
          </a:bodyPr>
          <a:lstStyle/>
          <a:p>
            <a:r>
              <a:rPr sz="1150" b="0">
                <a:solidFill>
                  <a:srgbClr val="2E2E2E"/>
                </a:solidFill>
                <a:latin typeface="Calibri"/>
              </a:rPr>
              <a:t>▪ 'Sweet muffins' accounts for the largest share of the Global market by product type (</a:t>
            </a:r>
          </a:p>
        </p:txBody>
      </p:sp>
      <p:pic>
        <p:nvPicPr>
          <p:cNvPr id="22" name="Picture 21" descr="lock.png"/>
          <p:cNvPicPr>
            <a:picLocks noChangeAspect="1"/>
          </p:cNvPicPr>
          <p:nvPr/>
        </p:nvPicPr>
        <p:blipFill>
          <a:blip r:embed="rId4"/>
          <a:stretch>
            <a:fillRect/>
          </a:stretch>
        </p:blipFill>
        <p:spPr>
          <a:xfrm>
            <a:off x="5411046" y="3418776"/>
            <a:ext cx="134549" cy="195707"/>
          </a:xfrm>
          <a:prstGeom prst="rect">
            <a:avLst/>
          </a:prstGeom>
        </p:spPr>
      </p:pic>
      <p:sp>
        <p:nvSpPr>
          <p:cNvPr id="23" name="TextBox 22"/>
          <p:cNvSpPr txBox="1"/>
          <p:nvPr/>
        </p:nvSpPr>
        <p:spPr>
          <a:xfrm>
            <a:off x="5586156" y="3429000"/>
            <a:ext cx="582525" cy="194310"/>
          </a:xfrm>
          <a:prstGeom prst="rect">
            <a:avLst/>
          </a:prstGeom>
          <a:noFill/>
        </p:spPr>
        <p:txBody>
          <a:bodyPr wrap="none" lIns="0" rIns="0" tIns="0" bIns="0">
            <a:spAutoFit/>
          </a:bodyPr>
          <a:lstStyle/>
          <a:p>
            <a:r>
              <a:rPr sz="1150" b="0">
                <a:solidFill>
                  <a:srgbClr val="2E2E2E"/>
                </a:solidFill>
                <a:latin typeface="Calibri"/>
              </a:rPr>
              <a:t>US$ Mn,</a:t>
            </a:r>
          </a:p>
        </p:txBody>
      </p:sp>
      <p:pic>
        <p:nvPicPr>
          <p:cNvPr id="24" name="Picture 23" descr="lock.png"/>
          <p:cNvPicPr>
            <a:picLocks noChangeAspect="1"/>
          </p:cNvPicPr>
          <p:nvPr/>
        </p:nvPicPr>
        <p:blipFill>
          <a:blip r:embed="rId4"/>
          <a:stretch>
            <a:fillRect/>
          </a:stretch>
        </p:blipFill>
        <p:spPr>
          <a:xfrm>
            <a:off x="6117835" y="3418776"/>
            <a:ext cx="134549" cy="195707"/>
          </a:xfrm>
          <a:prstGeom prst="rect">
            <a:avLst/>
          </a:prstGeom>
        </p:spPr>
      </p:pic>
      <p:sp>
        <p:nvSpPr>
          <p:cNvPr id="25" name="TextBox 24"/>
          <p:cNvSpPr txBox="1"/>
          <p:nvPr/>
        </p:nvSpPr>
        <p:spPr>
          <a:xfrm>
            <a:off x="6292945" y="3429000"/>
            <a:ext cx="4803998" cy="194310"/>
          </a:xfrm>
          <a:prstGeom prst="rect">
            <a:avLst/>
          </a:prstGeom>
          <a:noFill/>
        </p:spPr>
        <p:txBody>
          <a:bodyPr wrap="none" lIns="0" rIns="0" tIns="0" bIns="0">
            <a:spAutoFit/>
          </a:bodyPr>
          <a:lstStyle/>
          <a:p>
            <a:r>
              <a:rPr sz="1150" b="0">
                <a:solidFill>
                  <a:srgbClr val="2E2E2E"/>
                </a:solidFill>
                <a:latin typeface="Calibri"/>
              </a:rPr>
              <a:t>in 2026E), with 'Standard - 60 g to below 100 g' its leading individual muffin size</a:t>
            </a:r>
          </a:p>
        </p:txBody>
      </p:sp>
      <p:sp>
        <p:nvSpPr>
          <p:cNvPr id="26" name="TextBox 25"/>
          <p:cNvSpPr txBox="1"/>
          <p:nvPr/>
        </p:nvSpPr>
        <p:spPr>
          <a:xfrm>
            <a:off x="276225" y="3604260"/>
            <a:ext cx="997284" cy="194310"/>
          </a:xfrm>
          <a:prstGeom prst="rect">
            <a:avLst/>
          </a:prstGeom>
          <a:noFill/>
        </p:spPr>
        <p:txBody>
          <a:bodyPr wrap="none" lIns="0" rIns="0" tIns="0" bIns="0">
            <a:spAutoFit/>
          </a:bodyPr>
          <a:lstStyle/>
          <a:p>
            <a:r>
              <a:rPr sz="1150" b="0">
                <a:solidFill>
                  <a:srgbClr val="2E2E2E"/>
                </a:solidFill>
                <a:latin typeface="Calibri"/>
              </a:rPr>
              <a:t>sub-segment at</a:t>
            </a:r>
          </a:p>
        </p:txBody>
      </p:sp>
      <p:pic>
        <p:nvPicPr>
          <p:cNvPr id="27" name="Picture 26" descr="lock.png"/>
          <p:cNvPicPr>
            <a:picLocks noChangeAspect="1"/>
          </p:cNvPicPr>
          <p:nvPr/>
        </p:nvPicPr>
        <p:blipFill>
          <a:blip r:embed="rId4"/>
          <a:stretch>
            <a:fillRect/>
          </a:stretch>
        </p:blipFill>
        <p:spPr>
          <a:xfrm>
            <a:off x="1222663" y="3594036"/>
            <a:ext cx="134549" cy="195707"/>
          </a:xfrm>
          <a:prstGeom prst="rect">
            <a:avLst/>
          </a:prstGeom>
        </p:spPr>
      </p:pic>
      <p:sp>
        <p:nvSpPr>
          <p:cNvPr id="28" name="TextBox 27"/>
          <p:cNvSpPr txBox="1"/>
          <p:nvPr/>
        </p:nvSpPr>
        <p:spPr>
          <a:xfrm>
            <a:off x="1397773" y="3604260"/>
            <a:ext cx="582810"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9" name="TextBox 28"/>
          <p:cNvSpPr txBox="1"/>
          <p:nvPr/>
        </p:nvSpPr>
        <p:spPr>
          <a:xfrm>
            <a:off x="276225" y="3832097"/>
            <a:ext cx="5418149" cy="194310"/>
          </a:xfrm>
          <a:prstGeom prst="rect">
            <a:avLst/>
          </a:prstGeom>
          <a:noFill/>
        </p:spPr>
        <p:txBody>
          <a:bodyPr wrap="none" lIns="0" rIns="0" tIns="0" bIns="0">
            <a:spAutoFit/>
          </a:bodyPr>
          <a:lstStyle/>
          <a:p>
            <a:r>
              <a:rPr sz="1150" b="0">
                <a:solidFill>
                  <a:srgbClr val="2E2E2E"/>
                </a:solidFill>
                <a:latin typeface="Calibri"/>
              </a:rPr>
              <a:t>▪ 'Sweet muffins × Standard - 60 g to below 100 g' is the single largest cross-sectional cell (</a:t>
            </a:r>
          </a:p>
        </p:txBody>
      </p:sp>
      <p:pic>
        <p:nvPicPr>
          <p:cNvPr id="30" name="Picture 29" descr="lock.png"/>
          <p:cNvPicPr>
            <a:picLocks noChangeAspect="1"/>
          </p:cNvPicPr>
          <p:nvPr/>
        </p:nvPicPr>
        <p:blipFill>
          <a:blip r:embed="rId4"/>
          <a:stretch>
            <a:fillRect/>
          </a:stretch>
        </p:blipFill>
        <p:spPr>
          <a:xfrm>
            <a:off x="5643528" y="3821874"/>
            <a:ext cx="134549" cy="195707"/>
          </a:xfrm>
          <a:prstGeom prst="rect">
            <a:avLst/>
          </a:prstGeom>
        </p:spPr>
      </p:pic>
      <p:sp>
        <p:nvSpPr>
          <p:cNvPr id="31" name="TextBox 30"/>
          <p:cNvSpPr txBox="1"/>
          <p:nvPr/>
        </p:nvSpPr>
        <p:spPr>
          <a:xfrm>
            <a:off x="5818638" y="3832097"/>
            <a:ext cx="5986090" cy="194310"/>
          </a:xfrm>
          <a:prstGeom prst="rect">
            <a:avLst/>
          </a:prstGeom>
          <a:noFill/>
        </p:spPr>
        <p:txBody>
          <a:bodyPr wrap="none" lIns="0" rIns="0" tIns="0" bIns="0">
            <a:spAutoFit/>
          </a:bodyPr>
          <a:lstStyle/>
          <a:p>
            <a:r>
              <a:rPr sz="1150" b="0">
                <a:solidFill>
                  <a:srgbClr val="2E2E2E"/>
                </a:solidFill>
                <a:latin typeface="Calibri"/>
              </a:rPr>
              <a:t>US$ Mn, 2026E), while 'Sweet muffins × Mini / bite-sized - below 30 g' records the fastest growth at</a:t>
            </a:r>
          </a:p>
        </p:txBody>
      </p:sp>
      <p:sp>
        <p:nvSpPr>
          <p:cNvPr id="32" name="TextBox 31"/>
          <p:cNvSpPr txBox="1"/>
          <p:nvPr/>
        </p:nvSpPr>
        <p:spPr>
          <a:xfrm>
            <a:off x="276225" y="4007357"/>
            <a:ext cx="667513" cy="194310"/>
          </a:xfrm>
          <a:prstGeom prst="rect">
            <a:avLst/>
          </a:prstGeom>
          <a:noFill/>
        </p:spPr>
        <p:txBody>
          <a:bodyPr wrap="none" lIns="0" rIns="0" tIns="0" bIns="0">
            <a:spAutoFit/>
          </a:bodyPr>
          <a:lstStyle/>
          <a:p>
            <a:r>
              <a:rPr sz="1150" b="0">
                <a:solidFill>
                  <a:srgbClr val="2E2E2E"/>
                </a:solidFill>
                <a:latin typeface="Calibri"/>
              </a:rPr>
              <a:t>a CAGR of</a:t>
            </a:r>
          </a:p>
        </p:txBody>
      </p:sp>
      <p:pic>
        <p:nvPicPr>
          <p:cNvPr id="33" name="Picture 32" descr="lock.png"/>
          <p:cNvPicPr>
            <a:picLocks noChangeAspect="1"/>
          </p:cNvPicPr>
          <p:nvPr/>
        </p:nvPicPr>
        <p:blipFill>
          <a:blip r:embed="rId4"/>
          <a:stretch>
            <a:fillRect/>
          </a:stretch>
        </p:blipFill>
        <p:spPr>
          <a:xfrm>
            <a:off x="892892" y="3997134"/>
            <a:ext cx="134549" cy="195707"/>
          </a:xfrm>
          <a:prstGeom prst="rect">
            <a:avLst/>
          </a:prstGeom>
        </p:spPr>
      </p:pic>
      <p:sp>
        <p:nvSpPr>
          <p:cNvPr id="34" name="TextBox 33"/>
          <p:cNvSpPr txBox="1"/>
          <p:nvPr/>
        </p:nvSpPr>
        <p:spPr>
          <a:xfrm>
            <a:off x="1068001" y="4007357"/>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5" name="TextBox 34"/>
          <p:cNvSpPr txBox="1"/>
          <p:nvPr/>
        </p:nvSpPr>
        <p:spPr>
          <a:xfrm>
            <a:off x="276225" y="4235195"/>
            <a:ext cx="6414541" cy="194310"/>
          </a:xfrm>
          <a:prstGeom prst="rect">
            <a:avLst/>
          </a:prstGeom>
          <a:noFill/>
        </p:spPr>
        <p:txBody>
          <a:bodyPr wrap="none" lIns="0" rIns="0" tIns="0" bIns="0">
            <a:spAutoFit/>
          </a:bodyPr>
          <a:lstStyle/>
          <a:p>
            <a:r>
              <a:rPr sz="1150" b="0">
                <a:solidFill>
                  <a:srgbClr val="2E2E2E"/>
                </a:solidFill>
                <a:latin typeface="Calibri"/>
              </a:rPr>
              <a:t>▪ Combined, the top three product type × individual muffin size cells generate an absolute $ opportunity of</a:t>
            </a:r>
          </a:p>
        </p:txBody>
      </p:sp>
      <p:pic>
        <p:nvPicPr>
          <p:cNvPr id="36" name="Picture 35" descr="lock.png"/>
          <p:cNvPicPr>
            <a:picLocks noChangeAspect="1"/>
          </p:cNvPicPr>
          <p:nvPr/>
        </p:nvPicPr>
        <p:blipFill>
          <a:blip r:embed="rId4"/>
          <a:stretch>
            <a:fillRect/>
          </a:stretch>
        </p:blipFill>
        <p:spPr>
          <a:xfrm>
            <a:off x="6639920" y="4224972"/>
            <a:ext cx="134549" cy="195707"/>
          </a:xfrm>
          <a:prstGeom prst="rect">
            <a:avLst/>
          </a:prstGeom>
        </p:spPr>
      </p:pic>
      <p:sp>
        <p:nvSpPr>
          <p:cNvPr id="37" name="TextBox 36"/>
          <p:cNvSpPr txBox="1"/>
          <p:nvPr/>
        </p:nvSpPr>
        <p:spPr>
          <a:xfrm>
            <a:off x="6815030" y="4235195"/>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Individual Muffin Size,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individual muffin size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Individual Muffin Size, 2026E (% of each row)</a:t>
            </a:r>
          </a:p>
        </p:txBody>
      </p:sp>
      <p:graphicFrame>
        <p:nvGraphicFramePr>
          <p:cNvPr id="13" name="Table 12"/>
          <p:cNvGraphicFramePr>
            <a:graphicFrameLocks noGrp="1"/>
          </p:cNvGraphicFramePr>
          <p:nvPr/>
        </p:nvGraphicFramePr>
        <p:xfrm>
          <a:off x="152400" y="1238250"/>
          <a:ext cx="11887202" cy="990600"/>
        </p:xfrm>
        <a:graphic>
          <a:graphicData uri="http://schemas.openxmlformats.org/drawingml/2006/table">
            <a:tbl>
              <a:tblPr>
                <a:tableStyleId>{5C22544A-7EE6-4342-B048-85BDC9FD1C3A}</a:tableStyleId>
              </a:tblPr>
              <a:tblGrid>
                <a:gridCol w="1142642"/>
                <a:gridCol w="2148912"/>
                <a:gridCol w="2148912"/>
                <a:gridCol w="2148912"/>
                <a:gridCol w="2148912"/>
                <a:gridCol w="2148912"/>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Mini / bite-sized - below 30 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Small - 30 g to below 60 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Standard - 60 g to below 100 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Large / jumbo - 100 g and above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7286625"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Individual Muffin Size Mix by Product Type, 2026E (% share)</a:t>
            </a:r>
          </a:p>
        </p:txBody>
      </p:sp>
      <p:graphicFrame>
        <p:nvGraphicFramePr>
          <p:cNvPr id="17" name="Chart 16"/>
          <p:cNvGraphicFramePr>
            <a:graphicFrameLocks noGrp="1"/>
          </p:cNvGraphicFramePr>
          <p:nvPr/>
        </p:nvGraphicFramePr>
        <p:xfrm>
          <a:off x="238125" y="2857500"/>
          <a:ext cx="7096125" cy="371475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2571750"/>
            <a:ext cx="445770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26574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28956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2981325"/>
            <a:ext cx="419100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80631" y="158991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701240"/>
            <a:ext cx="440818" cy="641190"/>
          </a:xfrm>
          <a:prstGeom prst="rect">
            <a:avLst/>
          </a:prstGeom>
        </p:spPr>
      </p:pic>
      <p:sp>
        <p:nvSpPr>
          <p:cNvPr id="25" name="TextBox 24"/>
          <p:cNvSpPr txBox="1"/>
          <p:nvPr/>
        </p:nvSpPr>
        <p:spPr>
          <a:xfrm>
            <a:off x="7715250" y="2990850"/>
            <a:ext cx="4038091" cy="194310"/>
          </a:xfrm>
          <a:prstGeom prst="rect">
            <a:avLst/>
          </a:prstGeom>
          <a:noFill/>
        </p:spPr>
        <p:txBody>
          <a:bodyPr wrap="none" lIns="0" rIns="0" tIns="0" bIns="0">
            <a:spAutoFit/>
          </a:bodyPr>
          <a:lstStyle/>
          <a:p>
            <a:r>
              <a:rPr sz="1150" b="0">
                <a:solidFill>
                  <a:srgbClr val="2E2E2E"/>
                </a:solidFill>
                <a:latin typeface="Calibri"/>
              </a:rPr>
              <a:t>▪ 'Standard - 60 g to below 100 g' holds the highest share of 'Sweet</a:t>
            </a:r>
          </a:p>
        </p:txBody>
      </p:sp>
      <p:sp>
        <p:nvSpPr>
          <p:cNvPr id="26" name="TextBox 25"/>
          <p:cNvSpPr txBox="1"/>
          <p:nvPr/>
        </p:nvSpPr>
        <p:spPr>
          <a:xfrm>
            <a:off x="7715250" y="3166110"/>
            <a:ext cx="710319" cy="194310"/>
          </a:xfrm>
          <a:prstGeom prst="rect">
            <a:avLst/>
          </a:prstGeom>
          <a:noFill/>
        </p:spPr>
        <p:txBody>
          <a:bodyPr wrap="none" lIns="0" rIns="0" tIns="0" bIns="0">
            <a:spAutoFit/>
          </a:bodyPr>
          <a:lstStyle/>
          <a:p>
            <a:r>
              <a:rPr sz="1150" b="0">
                <a:solidFill>
                  <a:srgbClr val="2E2E2E"/>
                </a:solidFill>
                <a:latin typeface="Calibri"/>
              </a:rPr>
              <a:t>muffins' at</a:t>
            </a:r>
          </a:p>
        </p:txBody>
      </p:sp>
      <p:pic>
        <p:nvPicPr>
          <p:cNvPr id="27" name="Picture 26" descr="lock.png"/>
          <p:cNvPicPr>
            <a:picLocks noChangeAspect="1"/>
          </p:cNvPicPr>
          <p:nvPr/>
        </p:nvPicPr>
        <p:blipFill>
          <a:blip r:embed="rId5"/>
          <a:stretch>
            <a:fillRect/>
          </a:stretch>
        </p:blipFill>
        <p:spPr>
          <a:xfrm>
            <a:off x="8374723" y="3155886"/>
            <a:ext cx="134549" cy="195707"/>
          </a:xfrm>
          <a:prstGeom prst="rect">
            <a:avLst/>
          </a:prstGeom>
        </p:spPr>
      </p:pic>
      <p:sp>
        <p:nvSpPr>
          <p:cNvPr id="28" name="TextBox 27"/>
          <p:cNvSpPr txBox="1"/>
          <p:nvPr/>
        </p:nvSpPr>
        <p:spPr>
          <a:xfrm>
            <a:off x="8549832" y="316611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3393947"/>
            <a:ext cx="4171950" cy="194310"/>
          </a:xfrm>
          <a:prstGeom prst="rect">
            <a:avLst/>
          </a:prstGeom>
          <a:noFill/>
        </p:spPr>
        <p:txBody>
          <a:bodyPr wrap="none" lIns="0" rIns="0" tIns="0" bIns="0">
            <a:spAutoFit/>
          </a:bodyPr>
          <a:lstStyle/>
          <a:p>
            <a:r>
              <a:rPr sz="1150" b="0">
                <a:solidFill>
                  <a:srgbClr val="2E2E2E"/>
                </a:solidFill>
                <a:latin typeface="Calibri"/>
              </a:rPr>
              <a:t>▪ 'Sweet muffins' is the most concentrated product type sub-segment,</a:t>
            </a:r>
          </a:p>
        </p:txBody>
      </p:sp>
      <p:sp>
        <p:nvSpPr>
          <p:cNvPr id="30" name="TextBox 29"/>
          <p:cNvSpPr txBox="1"/>
          <p:nvPr/>
        </p:nvSpPr>
        <p:spPr>
          <a:xfrm>
            <a:off x="7715250" y="3569207"/>
            <a:ext cx="340059" cy="194310"/>
          </a:xfrm>
          <a:prstGeom prst="rect">
            <a:avLst/>
          </a:prstGeom>
          <a:noFill/>
        </p:spPr>
        <p:txBody>
          <a:bodyPr wrap="none" lIns="0" rIns="0" tIns="0" bIns="0">
            <a:spAutoFit/>
          </a:bodyPr>
          <a:lstStyle/>
          <a:p>
            <a:r>
              <a:rPr sz="1150" b="0">
                <a:solidFill>
                  <a:srgbClr val="2E2E2E"/>
                </a:solidFill>
                <a:latin typeface="Calibri"/>
              </a:rPr>
              <a:t>with</a:t>
            </a:r>
          </a:p>
        </p:txBody>
      </p:sp>
      <p:pic>
        <p:nvPicPr>
          <p:cNvPr id="31" name="Picture 30" descr="lock.png"/>
          <p:cNvPicPr>
            <a:picLocks noChangeAspect="1"/>
          </p:cNvPicPr>
          <p:nvPr/>
        </p:nvPicPr>
        <p:blipFill>
          <a:blip r:embed="rId5"/>
          <a:stretch>
            <a:fillRect/>
          </a:stretch>
        </p:blipFill>
        <p:spPr>
          <a:xfrm>
            <a:off x="8004463" y="3558984"/>
            <a:ext cx="134549" cy="195707"/>
          </a:xfrm>
          <a:prstGeom prst="rect">
            <a:avLst/>
          </a:prstGeom>
        </p:spPr>
      </p:pic>
      <p:sp>
        <p:nvSpPr>
          <p:cNvPr id="32" name="TextBox 31"/>
          <p:cNvSpPr txBox="1"/>
          <p:nvPr/>
        </p:nvSpPr>
        <p:spPr>
          <a:xfrm>
            <a:off x="8179573" y="3569207"/>
            <a:ext cx="2871973" cy="194310"/>
          </a:xfrm>
          <a:prstGeom prst="rect">
            <a:avLst/>
          </a:prstGeom>
          <a:noFill/>
        </p:spPr>
        <p:txBody>
          <a:bodyPr wrap="none" lIns="0" rIns="0" tIns="0" bIns="0">
            <a:spAutoFit/>
          </a:bodyPr>
          <a:lstStyle/>
          <a:p>
            <a:r>
              <a:rPr sz="1150" b="0">
                <a:solidFill>
                  <a:srgbClr val="2E2E2E"/>
                </a:solidFill>
                <a:latin typeface="Calibri"/>
              </a:rPr>
              <a:t>of its value via 'Standard - 60 g to below 100 g'.</a:t>
            </a:r>
          </a:p>
        </p:txBody>
      </p:sp>
      <p:sp>
        <p:nvSpPr>
          <p:cNvPr id="33" name="TextBox 32"/>
          <p:cNvSpPr txBox="1"/>
          <p:nvPr/>
        </p:nvSpPr>
        <p:spPr>
          <a:xfrm>
            <a:off x="7715250" y="3797045"/>
            <a:ext cx="2586149" cy="194310"/>
          </a:xfrm>
          <a:prstGeom prst="rect">
            <a:avLst/>
          </a:prstGeom>
          <a:noFill/>
        </p:spPr>
        <p:txBody>
          <a:bodyPr wrap="none" lIns="0" rIns="0" tIns="0" bIns="0">
            <a:spAutoFit/>
          </a:bodyPr>
          <a:lstStyle/>
          <a:p>
            <a:r>
              <a:rPr sz="1150" b="0">
                <a:solidFill>
                  <a:srgbClr val="2E2E2E"/>
                </a:solidFill>
                <a:latin typeface="Calibri"/>
              </a:rPr>
              <a:t>▪ 'Large / jumbo - 100 g and above' gains +</a:t>
            </a:r>
          </a:p>
        </p:txBody>
      </p:sp>
      <p:pic>
        <p:nvPicPr>
          <p:cNvPr id="34" name="Picture 33" descr="lock.png"/>
          <p:cNvPicPr>
            <a:picLocks noChangeAspect="1"/>
          </p:cNvPicPr>
          <p:nvPr/>
        </p:nvPicPr>
        <p:blipFill>
          <a:blip r:embed="rId5"/>
          <a:stretch>
            <a:fillRect/>
          </a:stretch>
        </p:blipFill>
        <p:spPr>
          <a:xfrm>
            <a:off x="10250553" y="3786822"/>
            <a:ext cx="134549" cy="195707"/>
          </a:xfrm>
          <a:prstGeom prst="rect">
            <a:avLst/>
          </a:prstGeom>
        </p:spPr>
      </p:pic>
      <p:sp>
        <p:nvSpPr>
          <p:cNvPr id="35" name="TextBox 34"/>
          <p:cNvSpPr txBox="1"/>
          <p:nvPr/>
        </p:nvSpPr>
        <p:spPr>
          <a:xfrm>
            <a:off x="10425662" y="3797045"/>
            <a:ext cx="1199815" cy="194310"/>
          </a:xfrm>
          <a:prstGeom prst="rect">
            <a:avLst/>
          </a:prstGeom>
          <a:noFill/>
        </p:spPr>
        <p:txBody>
          <a:bodyPr wrap="none" lIns="0" rIns="0" tIns="0" bIns="0">
            <a:spAutoFit/>
          </a:bodyPr>
          <a:lstStyle/>
          <a:p>
            <a:r>
              <a:rPr sz="1150" b="0">
                <a:solidFill>
                  <a:srgbClr val="2E2E2E"/>
                </a:solidFill>
                <a:latin typeface="Calibri"/>
              </a:rPr>
              <a:t>BPS of share of the</a:t>
            </a:r>
          </a:p>
        </p:txBody>
      </p:sp>
      <p:sp>
        <p:nvSpPr>
          <p:cNvPr id="36" name="TextBox 35"/>
          <p:cNvSpPr txBox="1"/>
          <p:nvPr/>
        </p:nvSpPr>
        <p:spPr>
          <a:xfrm>
            <a:off x="7715250" y="3972305"/>
            <a:ext cx="1878790" cy="194310"/>
          </a:xfrm>
          <a:prstGeom prst="rect">
            <a:avLst/>
          </a:prstGeom>
          <a:noFill/>
        </p:spPr>
        <p:txBody>
          <a:bodyPr wrap="none" lIns="0" rIns="0" tIns="0" bIns="0">
            <a:spAutoFit/>
          </a:bodyPr>
          <a:lstStyle/>
          <a:p>
            <a:r>
              <a:rPr sz="1150" b="0">
                <a:solidFill>
                  <a:srgbClr val="2E2E2E"/>
                </a:solidFill>
                <a:latin typeface="Calibri"/>
              </a:rPr>
              <a:t>Global cross-section by 2036F.</a:t>
            </a:r>
          </a:p>
        </p:txBody>
      </p:sp>
      <p:sp>
        <p:nvSpPr>
          <p:cNvPr id="37" name="lockshield_17"/>
          <p:cNvSpPr/>
          <p:nvPr/>
        </p:nvSpPr>
        <p:spPr>
          <a:xfrm>
            <a:off x="238125" y="2857500"/>
            <a:ext cx="7096125" cy="37147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Individual Muffin Size,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Individual Muffin Size, 2026E–2036F</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1869340"/>
                <a:gridCol w="1001786"/>
                <a:gridCol w="1001786"/>
                <a:gridCol w="1001786"/>
                <a:gridCol w="1001786"/>
                <a:gridCol w="1001786"/>
                <a:gridCol w="1001786"/>
                <a:gridCol w="1001786"/>
                <a:gridCol w="1001786"/>
                <a:gridCol w="1001786"/>
                <a:gridCol w="1001786"/>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Mini / bite-sized - below 30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Small - 30 g to below 60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Standard - 60 g to below 100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Large / jumbo - 100 g and</a:t>
                      </a:r>
                      <a:endParaRPr sz="1100"/>
                    </a:p>
                    <a:p>
                      <a:pPr algn="ctr"/>
                      <a:r>
                        <a:rPr sz="1100" b="1">
                          <a:solidFill>
                            <a:srgbClr val="0B2E4A"/>
                          </a:solidFill>
                          <a:latin typeface="Calibri"/>
                        </a:rPr>
                        <a:t>above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46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5600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3337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53340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009900"/>
            <a:ext cx="1943100" cy="36195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0956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3337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419475"/>
            <a:ext cx="16764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009900"/>
            <a:ext cx="1943100" cy="36195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0956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3337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419475"/>
            <a:ext cx="16764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009900"/>
            <a:ext cx="1943100" cy="36195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0956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3337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419475"/>
            <a:ext cx="16764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'Sweet muffins × Large / jumbo - 100 g and above' ranks highest (5/5); 'Savoury muffins × Small - 30 g to below 60 g'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843980" y="2029112"/>
            <a:ext cx="366712" cy="533400"/>
          </a:xfrm>
          <a:prstGeom prst="rect">
            <a:avLst/>
          </a:prstGeom>
        </p:spPr>
      </p:pic>
      <p:sp>
        <p:nvSpPr>
          <p:cNvPr id="33" name="TextBox 32"/>
          <p:cNvSpPr txBox="1"/>
          <p:nvPr/>
        </p:nvSpPr>
        <p:spPr>
          <a:xfrm>
            <a:off x="276225" y="3429000"/>
            <a:ext cx="3211140" cy="194310"/>
          </a:xfrm>
          <a:prstGeom prst="rect">
            <a:avLst/>
          </a:prstGeom>
          <a:noFill/>
        </p:spPr>
        <p:txBody>
          <a:bodyPr wrap="none" lIns="0" rIns="0" tIns="0" bIns="0">
            <a:spAutoFit/>
          </a:bodyPr>
          <a:lstStyle/>
          <a:p>
            <a:r>
              <a:rPr sz="1150" b="0">
                <a:solidFill>
                  <a:srgbClr val="2E2E2E"/>
                </a:solidFill>
                <a:latin typeface="Calibri"/>
              </a:rPr>
              <a:t>▪ 1. Sweet muffins × Standard - 60 g to below 100 g –</a:t>
            </a:r>
          </a:p>
        </p:txBody>
      </p:sp>
      <p:pic>
        <p:nvPicPr>
          <p:cNvPr id="34" name="Picture 33" descr="lock.png"/>
          <p:cNvPicPr>
            <a:picLocks noChangeAspect="1"/>
          </p:cNvPicPr>
          <p:nvPr/>
        </p:nvPicPr>
        <p:blipFill>
          <a:blip r:embed="rId4"/>
          <a:stretch>
            <a:fillRect/>
          </a:stretch>
        </p:blipFill>
        <p:spPr>
          <a:xfrm>
            <a:off x="3436519" y="3418776"/>
            <a:ext cx="134549" cy="195707"/>
          </a:xfrm>
          <a:prstGeom prst="rect">
            <a:avLst/>
          </a:prstGeom>
        </p:spPr>
      </p:pic>
      <p:sp>
        <p:nvSpPr>
          <p:cNvPr id="35" name="TextBox 34"/>
          <p:cNvSpPr txBox="1"/>
          <p:nvPr/>
        </p:nvSpPr>
        <p:spPr>
          <a:xfrm>
            <a:off x="3611628" y="34290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673780" y="3418776"/>
            <a:ext cx="134549" cy="195707"/>
          </a:xfrm>
          <a:prstGeom prst="rect">
            <a:avLst/>
          </a:prstGeom>
        </p:spPr>
      </p:pic>
      <p:sp>
        <p:nvSpPr>
          <p:cNvPr id="37" name="TextBox 36"/>
          <p:cNvSpPr txBox="1"/>
          <p:nvPr/>
        </p:nvSpPr>
        <p:spPr>
          <a:xfrm>
            <a:off x="3848889" y="3429000"/>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38" name="TextBox 37"/>
          <p:cNvSpPr txBox="1"/>
          <p:nvPr/>
        </p:nvSpPr>
        <p:spPr>
          <a:xfrm>
            <a:off x="276225" y="3656837"/>
            <a:ext cx="3314402" cy="194310"/>
          </a:xfrm>
          <a:prstGeom prst="rect">
            <a:avLst/>
          </a:prstGeom>
          <a:noFill/>
        </p:spPr>
        <p:txBody>
          <a:bodyPr wrap="none" lIns="0" rIns="0" tIns="0" bIns="0">
            <a:spAutoFit/>
          </a:bodyPr>
          <a:lstStyle/>
          <a:p>
            <a:r>
              <a:rPr sz="1150" b="0">
                <a:solidFill>
                  <a:srgbClr val="2E2E2E"/>
                </a:solidFill>
                <a:latin typeface="Calibri"/>
              </a:rPr>
              <a:t>▪ 2. Sweet muffins × Large / jumbo - 100 g and above –</a:t>
            </a:r>
          </a:p>
        </p:txBody>
      </p:sp>
      <p:pic>
        <p:nvPicPr>
          <p:cNvPr id="39" name="Picture 38" descr="lock.png"/>
          <p:cNvPicPr>
            <a:picLocks noChangeAspect="1"/>
          </p:cNvPicPr>
          <p:nvPr/>
        </p:nvPicPr>
        <p:blipFill>
          <a:blip r:embed="rId4"/>
          <a:stretch>
            <a:fillRect/>
          </a:stretch>
        </p:blipFill>
        <p:spPr>
          <a:xfrm>
            <a:off x="3539781" y="3646614"/>
            <a:ext cx="134549" cy="195707"/>
          </a:xfrm>
          <a:prstGeom prst="rect">
            <a:avLst/>
          </a:prstGeom>
        </p:spPr>
      </p:pic>
      <p:sp>
        <p:nvSpPr>
          <p:cNvPr id="40" name="TextBox 39"/>
          <p:cNvSpPr txBox="1"/>
          <p:nvPr/>
        </p:nvSpPr>
        <p:spPr>
          <a:xfrm>
            <a:off x="3714890" y="36568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777042" y="3646614"/>
            <a:ext cx="134549" cy="195707"/>
          </a:xfrm>
          <a:prstGeom prst="rect">
            <a:avLst/>
          </a:prstGeom>
        </p:spPr>
      </p:pic>
      <p:sp>
        <p:nvSpPr>
          <p:cNvPr id="42" name="TextBox 41"/>
          <p:cNvSpPr txBox="1"/>
          <p:nvPr/>
        </p:nvSpPr>
        <p:spPr>
          <a:xfrm>
            <a:off x="3952151" y="36568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3884675"/>
            <a:ext cx="3318966" cy="194310"/>
          </a:xfrm>
          <a:prstGeom prst="rect">
            <a:avLst/>
          </a:prstGeom>
          <a:noFill/>
        </p:spPr>
        <p:txBody>
          <a:bodyPr wrap="none" lIns="0" rIns="0" tIns="0" bIns="0">
            <a:spAutoFit/>
          </a:bodyPr>
          <a:lstStyle/>
          <a:p>
            <a:r>
              <a:rPr sz="1150" b="0">
                <a:solidFill>
                  <a:srgbClr val="2E2E2E"/>
                </a:solidFill>
                <a:latin typeface="Calibri"/>
              </a:rPr>
              <a:t>▪ 3. Savoury muffins × Standard - 60 g to below 100 g –</a:t>
            </a:r>
          </a:p>
        </p:txBody>
      </p:sp>
      <p:pic>
        <p:nvPicPr>
          <p:cNvPr id="44" name="Picture 43" descr="lock.png"/>
          <p:cNvPicPr>
            <a:picLocks noChangeAspect="1"/>
          </p:cNvPicPr>
          <p:nvPr/>
        </p:nvPicPr>
        <p:blipFill>
          <a:blip r:embed="rId4"/>
          <a:stretch>
            <a:fillRect/>
          </a:stretch>
        </p:blipFill>
        <p:spPr>
          <a:xfrm>
            <a:off x="3544345" y="3874452"/>
            <a:ext cx="134549" cy="195707"/>
          </a:xfrm>
          <a:prstGeom prst="rect">
            <a:avLst/>
          </a:prstGeom>
        </p:spPr>
      </p:pic>
      <p:sp>
        <p:nvSpPr>
          <p:cNvPr id="45" name="TextBox 44"/>
          <p:cNvSpPr txBox="1"/>
          <p:nvPr/>
        </p:nvSpPr>
        <p:spPr>
          <a:xfrm>
            <a:off x="3719454" y="38846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781606" y="3874452"/>
            <a:ext cx="134549" cy="195707"/>
          </a:xfrm>
          <a:prstGeom prst="rect">
            <a:avLst/>
          </a:prstGeom>
        </p:spPr>
      </p:pic>
      <p:sp>
        <p:nvSpPr>
          <p:cNvPr id="47" name="TextBox 46"/>
          <p:cNvSpPr txBox="1"/>
          <p:nvPr/>
        </p:nvSpPr>
        <p:spPr>
          <a:xfrm>
            <a:off x="3956715" y="3884675"/>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48" name="TextBox 47"/>
          <p:cNvSpPr txBox="1"/>
          <p:nvPr/>
        </p:nvSpPr>
        <p:spPr>
          <a:xfrm>
            <a:off x="276225" y="4112513"/>
            <a:ext cx="3422228" cy="194310"/>
          </a:xfrm>
          <a:prstGeom prst="rect">
            <a:avLst/>
          </a:prstGeom>
          <a:noFill/>
        </p:spPr>
        <p:txBody>
          <a:bodyPr wrap="none" lIns="0" rIns="0" tIns="0" bIns="0">
            <a:spAutoFit/>
          </a:bodyPr>
          <a:lstStyle/>
          <a:p>
            <a:r>
              <a:rPr sz="1150" b="0">
                <a:solidFill>
                  <a:srgbClr val="2E2E2E"/>
                </a:solidFill>
                <a:latin typeface="Calibri"/>
              </a:rPr>
              <a:t>▪ 4. Savoury muffins × Large / jumbo - 100 g and above –</a:t>
            </a:r>
          </a:p>
        </p:txBody>
      </p:sp>
      <p:pic>
        <p:nvPicPr>
          <p:cNvPr id="49" name="Picture 48" descr="lock.png"/>
          <p:cNvPicPr>
            <a:picLocks noChangeAspect="1"/>
          </p:cNvPicPr>
          <p:nvPr/>
        </p:nvPicPr>
        <p:blipFill>
          <a:blip r:embed="rId4"/>
          <a:stretch>
            <a:fillRect/>
          </a:stretch>
        </p:blipFill>
        <p:spPr>
          <a:xfrm>
            <a:off x="3647607" y="4102290"/>
            <a:ext cx="134549" cy="195707"/>
          </a:xfrm>
          <a:prstGeom prst="rect">
            <a:avLst/>
          </a:prstGeom>
        </p:spPr>
      </p:pic>
      <p:sp>
        <p:nvSpPr>
          <p:cNvPr id="50" name="TextBox 49"/>
          <p:cNvSpPr txBox="1"/>
          <p:nvPr/>
        </p:nvSpPr>
        <p:spPr>
          <a:xfrm>
            <a:off x="3822716" y="41125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884868" y="4102290"/>
            <a:ext cx="134549" cy="195707"/>
          </a:xfrm>
          <a:prstGeom prst="rect">
            <a:avLst/>
          </a:prstGeom>
        </p:spPr>
      </p:pic>
      <p:sp>
        <p:nvSpPr>
          <p:cNvPr id="52" name="TextBox 51"/>
          <p:cNvSpPr txBox="1"/>
          <p:nvPr/>
        </p:nvSpPr>
        <p:spPr>
          <a:xfrm>
            <a:off x="4059977" y="4112513"/>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53" name="TextBox 52"/>
          <p:cNvSpPr txBox="1"/>
          <p:nvPr/>
        </p:nvSpPr>
        <p:spPr>
          <a:xfrm>
            <a:off x="276225" y="4340351"/>
            <a:ext cx="2920751" cy="194310"/>
          </a:xfrm>
          <a:prstGeom prst="rect">
            <a:avLst/>
          </a:prstGeom>
          <a:noFill/>
        </p:spPr>
        <p:txBody>
          <a:bodyPr wrap="none" lIns="0" rIns="0" tIns="0" bIns="0">
            <a:spAutoFit/>
          </a:bodyPr>
          <a:lstStyle/>
          <a:p>
            <a:r>
              <a:rPr sz="1150" b="0">
                <a:solidFill>
                  <a:srgbClr val="2E2E2E"/>
                </a:solidFill>
                <a:latin typeface="Calibri"/>
              </a:rPr>
              <a:t>▪ 5. Sweet muffins × Small - 30 g to below 60 g –</a:t>
            </a:r>
          </a:p>
        </p:txBody>
      </p:sp>
      <p:pic>
        <p:nvPicPr>
          <p:cNvPr id="54" name="Picture 53" descr="lock.png"/>
          <p:cNvPicPr>
            <a:picLocks noChangeAspect="1"/>
          </p:cNvPicPr>
          <p:nvPr/>
        </p:nvPicPr>
        <p:blipFill>
          <a:blip r:embed="rId4"/>
          <a:stretch>
            <a:fillRect/>
          </a:stretch>
        </p:blipFill>
        <p:spPr>
          <a:xfrm>
            <a:off x="3146130" y="4330128"/>
            <a:ext cx="134549" cy="195707"/>
          </a:xfrm>
          <a:prstGeom prst="rect">
            <a:avLst/>
          </a:prstGeom>
        </p:spPr>
      </p:pic>
      <p:sp>
        <p:nvSpPr>
          <p:cNvPr id="55" name="TextBox 54"/>
          <p:cNvSpPr txBox="1"/>
          <p:nvPr/>
        </p:nvSpPr>
        <p:spPr>
          <a:xfrm>
            <a:off x="3321240" y="43403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383391" y="4330128"/>
            <a:ext cx="134549" cy="195707"/>
          </a:xfrm>
          <a:prstGeom prst="rect">
            <a:avLst/>
          </a:prstGeom>
        </p:spPr>
      </p:pic>
      <p:sp>
        <p:nvSpPr>
          <p:cNvPr id="57" name="TextBox 56"/>
          <p:cNvSpPr txBox="1"/>
          <p:nvPr/>
        </p:nvSpPr>
        <p:spPr>
          <a:xfrm>
            <a:off x="3558501" y="4340351"/>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8" name="TextBox 57"/>
          <p:cNvSpPr txBox="1"/>
          <p:nvPr/>
        </p:nvSpPr>
        <p:spPr>
          <a:xfrm>
            <a:off x="6029325" y="3429000"/>
            <a:ext cx="1657350" cy="194310"/>
          </a:xfrm>
          <a:prstGeom prst="rect">
            <a:avLst/>
          </a:prstGeom>
          <a:noFill/>
        </p:spPr>
        <p:txBody>
          <a:bodyPr wrap="none" lIns="0" rIns="0" tIns="0" bIns="0">
            <a:spAutoFit/>
          </a:bodyPr>
          <a:lstStyle/>
          <a:p>
            <a:r>
              <a:rPr sz="1150" b="0">
                <a:solidFill>
                  <a:srgbClr val="2E2E2E"/>
                </a:solidFill>
                <a:latin typeface="Calibri"/>
              </a:rPr>
              <a:t>▪ 'Sweet muffins × Standard</a:t>
            </a:r>
          </a:p>
        </p:txBody>
      </p:sp>
      <p:sp>
        <p:nvSpPr>
          <p:cNvPr id="59" name="TextBox 58"/>
          <p:cNvSpPr txBox="1"/>
          <p:nvPr/>
        </p:nvSpPr>
        <p:spPr>
          <a:xfrm>
            <a:off x="6029325" y="3604260"/>
            <a:ext cx="1657350" cy="194310"/>
          </a:xfrm>
          <a:prstGeom prst="rect">
            <a:avLst/>
          </a:prstGeom>
          <a:noFill/>
        </p:spPr>
        <p:txBody>
          <a:bodyPr wrap="none" lIns="0" rIns="0" tIns="0" bIns="0">
            <a:spAutoFit/>
          </a:bodyPr>
          <a:lstStyle/>
          <a:p>
            <a:r>
              <a:rPr sz="1150" b="0">
                <a:solidFill>
                  <a:srgbClr val="2E2E2E"/>
                </a:solidFill>
                <a:latin typeface="Calibri"/>
              </a:rPr>
              <a:t>- 60 g to below 100 g' adds</a:t>
            </a:r>
          </a:p>
        </p:txBody>
      </p:sp>
      <p:pic>
        <p:nvPicPr>
          <p:cNvPr id="60" name="Picture 59" descr="lock.png"/>
          <p:cNvPicPr>
            <a:picLocks noChangeAspect="1"/>
          </p:cNvPicPr>
          <p:nvPr/>
        </p:nvPicPr>
        <p:blipFill>
          <a:blip r:embed="rId4"/>
          <a:stretch>
            <a:fillRect/>
          </a:stretch>
        </p:blipFill>
        <p:spPr>
          <a:xfrm>
            <a:off x="6015245" y="3769296"/>
            <a:ext cx="134549" cy="195707"/>
          </a:xfrm>
          <a:prstGeom prst="rect">
            <a:avLst/>
          </a:prstGeom>
        </p:spPr>
      </p:pic>
      <p:sp>
        <p:nvSpPr>
          <p:cNvPr id="61" name="TextBox 60"/>
          <p:cNvSpPr txBox="1"/>
          <p:nvPr/>
        </p:nvSpPr>
        <p:spPr>
          <a:xfrm>
            <a:off x="6190354" y="3779519"/>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2" name="Picture 61" descr="lock.png"/>
          <p:cNvPicPr>
            <a:picLocks noChangeAspect="1"/>
          </p:cNvPicPr>
          <p:nvPr/>
        </p:nvPicPr>
        <p:blipFill>
          <a:blip r:embed="rId4"/>
          <a:stretch>
            <a:fillRect/>
          </a:stretch>
        </p:blipFill>
        <p:spPr>
          <a:xfrm>
            <a:off x="6015245" y="3944556"/>
            <a:ext cx="134549" cy="195707"/>
          </a:xfrm>
          <a:prstGeom prst="rect">
            <a:avLst/>
          </a:prstGeom>
        </p:spPr>
      </p:pic>
      <p:sp>
        <p:nvSpPr>
          <p:cNvPr id="63" name="TextBox 62"/>
          <p:cNvSpPr txBox="1"/>
          <p:nvPr/>
        </p:nvSpPr>
        <p:spPr>
          <a:xfrm>
            <a:off x="6190354" y="395477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4" name="TextBox 63"/>
          <p:cNvSpPr txBox="1"/>
          <p:nvPr/>
        </p:nvSpPr>
        <p:spPr>
          <a:xfrm>
            <a:off x="6029325" y="413003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5" name="TextBox 64"/>
          <p:cNvSpPr txBox="1"/>
          <p:nvPr/>
        </p:nvSpPr>
        <p:spPr>
          <a:xfrm>
            <a:off x="8124825" y="3429000"/>
            <a:ext cx="1539552" cy="194310"/>
          </a:xfrm>
          <a:prstGeom prst="rect">
            <a:avLst/>
          </a:prstGeom>
          <a:noFill/>
        </p:spPr>
        <p:txBody>
          <a:bodyPr wrap="none" lIns="0" rIns="0" tIns="0" bIns="0">
            <a:spAutoFit/>
          </a:bodyPr>
          <a:lstStyle/>
          <a:p>
            <a:r>
              <a:rPr sz="1150" b="0">
                <a:solidFill>
                  <a:srgbClr val="2E2E2E"/>
                </a:solidFill>
                <a:latin typeface="Calibri"/>
              </a:rPr>
              <a:t>▪ 'Sweet muffins × Mini /</a:t>
            </a:r>
          </a:p>
        </p:txBody>
      </p:sp>
      <p:sp>
        <p:nvSpPr>
          <p:cNvPr id="66" name="TextBox 65"/>
          <p:cNvSpPr txBox="1"/>
          <p:nvPr/>
        </p:nvSpPr>
        <p:spPr>
          <a:xfrm>
            <a:off x="8124825" y="3604260"/>
            <a:ext cx="1441995" cy="194310"/>
          </a:xfrm>
          <a:prstGeom prst="rect">
            <a:avLst/>
          </a:prstGeom>
          <a:noFill/>
        </p:spPr>
        <p:txBody>
          <a:bodyPr wrap="none" lIns="0" rIns="0" tIns="0" bIns="0">
            <a:spAutoFit/>
          </a:bodyPr>
          <a:lstStyle/>
          <a:p>
            <a:r>
              <a:rPr sz="1150" b="0">
                <a:solidFill>
                  <a:srgbClr val="2E2E2E"/>
                </a:solidFill>
                <a:latin typeface="Calibri"/>
              </a:rPr>
              <a:t>bite-sized - below 30 g'</a:t>
            </a:r>
          </a:p>
        </p:txBody>
      </p:sp>
      <p:sp>
        <p:nvSpPr>
          <p:cNvPr id="67" name="TextBox 66"/>
          <p:cNvSpPr txBox="1"/>
          <p:nvPr/>
        </p:nvSpPr>
        <p:spPr>
          <a:xfrm>
            <a:off x="8124825" y="3779519"/>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68" name="Picture 67" descr="lock.png"/>
          <p:cNvPicPr>
            <a:picLocks noChangeAspect="1"/>
          </p:cNvPicPr>
          <p:nvPr/>
        </p:nvPicPr>
        <p:blipFill>
          <a:blip r:embed="rId4"/>
          <a:stretch>
            <a:fillRect/>
          </a:stretch>
        </p:blipFill>
        <p:spPr>
          <a:xfrm>
            <a:off x="8763474" y="3769296"/>
            <a:ext cx="134549" cy="195707"/>
          </a:xfrm>
          <a:prstGeom prst="rect">
            <a:avLst/>
          </a:prstGeom>
        </p:spPr>
      </p:pic>
      <p:sp>
        <p:nvSpPr>
          <p:cNvPr id="69" name="TextBox 68"/>
          <p:cNvSpPr txBox="1"/>
          <p:nvPr/>
        </p:nvSpPr>
        <p:spPr>
          <a:xfrm>
            <a:off x="8938584" y="37795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9334179" y="3769296"/>
            <a:ext cx="134549" cy="195707"/>
          </a:xfrm>
          <a:prstGeom prst="rect">
            <a:avLst/>
          </a:prstGeom>
        </p:spPr>
      </p:pic>
      <p:sp>
        <p:nvSpPr>
          <p:cNvPr id="71" name="TextBox 70"/>
          <p:cNvSpPr txBox="1"/>
          <p:nvPr/>
        </p:nvSpPr>
        <p:spPr>
          <a:xfrm>
            <a:off x="8124825" y="39547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1300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6668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1971675"/>
            <a:ext cx="7239000" cy="5143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2676525"/>
            <a:ext cx="50673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Region</a:t>
            </a:r>
          </a:p>
        </p:txBody>
      </p:sp>
      <p:sp>
        <p:nvSpPr>
          <p:cNvPr id="8" name="TextBox 7"/>
          <p:cNvSpPr txBox="1"/>
          <p:nvPr/>
        </p:nvSpPr>
        <p:spPr>
          <a:xfrm>
            <a:off x="6096000" y="2676525"/>
            <a:ext cx="5067300" cy="51739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Flour Base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Dietary Formulation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Nutritional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Recipe and Ingredient Claims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Surface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Individual Muffin Size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Storage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Shelf Life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Packaging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 Configuration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Multipack Wrapping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Price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Brand Ownership</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Sales Channel</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Summary, By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1384089" cy="194310"/>
          </a:xfrm>
          <a:prstGeom prst="rect">
            <a:avLst/>
          </a:prstGeom>
          <a:noFill/>
        </p:spPr>
        <p:txBody>
          <a:bodyPr wrap="none" lIns="0" rIns="0" tIns="0" bIns="0">
            <a:spAutoFit/>
          </a:bodyPr>
          <a:lstStyle/>
          <a:p>
            <a:r>
              <a:rPr sz="1150" b="0">
                <a:solidFill>
                  <a:srgbClr val="2E2E2E"/>
                </a:solidFill>
                <a:latin typeface="Calibri"/>
              </a:rPr>
              <a:t>▪ The market grows at</a:t>
            </a:r>
          </a:p>
        </p:txBody>
      </p:sp>
      <p:pic>
        <p:nvPicPr>
          <p:cNvPr id="36" name="Picture 35" descr="lock.png"/>
          <p:cNvPicPr>
            <a:picLocks noChangeAspect="1"/>
          </p:cNvPicPr>
          <p:nvPr/>
        </p:nvPicPr>
        <p:blipFill>
          <a:blip r:embed="rId6"/>
          <a:stretch>
            <a:fillRect/>
          </a:stretch>
        </p:blipFill>
        <p:spPr>
          <a:xfrm>
            <a:off x="9381868" y="2036763"/>
            <a:ext cx="134549" cy="195707"/>
          </a:xfrm>
          <a:prstGeom prst="rect">
            <a:avLst/>
          </a:prstGeom>
        </p:spPr>
      </p:pic>
      <p:sp>
        <p:nvSpPr>
          <p:cNvPr id="37" name="TextBox 36"/>
          <p:cNvSpPr txBox="1"/>
          <p:nvPr/>
        </p:nvSpPr>
        <p:spPr>
          <a:xfrm>
            <a:off x="9556977" y="2046987"/>
            <a:ext cx="2148266" cy="194310"/>
          </a:xfrm>
          <a:prstGeom prst="rect">
            <a:avLst/>
          </a:prstGeom>
          <a:noFill/>
        </p:spPr>
        <p:txBody>
          <a:bodyPr wrap="none" lIns="0" rIns="0" tIns="0" bIns="0">
            <a:spAutoFit/>
          </a:bodyPr>
          <a:lstStyle/>
          <a:p>
            <a:r>
              <a:rPr sz="1150" b="0">
                <a:solidFill>
                  <a:srgbClr val="2E2E2E"/>
                </a:solidFill>
                <a:latin typeface="Calibri"/>
              </a:rPr>
              <a:t>CAGR (2021–2026), accelerating to</a:t>
            </a:r>
          </a:p>
        </p:txBody>
      </p:sp>
      <p:pic>
        <p:nvPicPr>
          <p:cNvPr id="38" name="Picture 37" descr="lock.png"/>
          <p:cNvPicPr>
            <a:picLocks noChangeAspect="1"/>
          </p:cNvPicPr>
          <p:nvPr/>
        </p:nvPicPr>
        <p:blipFill>
          <a:blip r:embed="rId6"/>
          <a:stretch>
            <a:fillRect/>
          </a:stretch>
        </p:blipFill>
        <p:spPr>
          <a:xfrm>
            <a:off x="8034545" y="2212023"/>
            <a:ext cx="134549" cy="195707"/>
          </a:xfrm>
          <a:prstGeom prst="rect">
            <a:avLst/>
          </a:prstGeom>
        </p:spPr>
      </p:pic>
      <p:sp>
        <p:nvSpPr>
          <p:cNvPr id="39" name="TextBox 38"/>
          <p:cNvSpPr txBox="1"/>
          <p:nvPr/>
        </p:nvSpPr>
        <p:spPr>
          <a:xfrm>
            <a:off x="8209654" y="2222247"/>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40" name="TextBox 39"/>
          <p:cNvSpPr txBox="1"/>
          <p:nvPr/>
        </p:nvSpPr>
        <p:spPr>
          <a:xfrm>
            <a:off x="8048625" y="2450085"/>
            <a:ext cx="1509315" cy="194310"/>
          </a:xfrm>
          <a:prstGeom prst="rect">
            <a:avLst/>
          </a:prstGeom>
          <a:noFill/>
        </p:spPr>
        <p:txBody>
          <a:bodyPr wrap="none" lIns="0" rIns="0" tIns="0" bIns="0">
            <a:spAutoFit/>
          </a:bodyPr>
          <a:lstStyle/>
          <a:p>
            <a:r>
              <a:rPr sz="1150" b="0">
                <a:solidFill>
                  <a:srgbClr val="2E2E2E"/>
                </a:solidFill>
                <a:latin typeface="Calibri"/>
              </a:rPr>
              <a:t>▪ Incremental volume of</a:t>
            </a:r>
          </a:p>
        </p:txBody>
      </p:sp>
      <p:pic>
        <p:nvPicPr>
          <p:cNvPr id="41" name="Picture 40" descr="lock.png"/>
          <p:cNvPicPr>
            <a:picLocks noChangeAspect="1"/>
          </p:cNvPicPr>
          <p:nvPr/>
        </p:nvPicPr>
        <p:blipFill>
          <a:blip r:embed="rId6"/>
          <a:stretch>
            <a:fillRect/>
          </a:stretch>
        </p:blipFill>
        <p:spPr>
          <a:xfrm>
            <a:off x="9507094" y="2439861"/>
            <a:ext cx="134549" cy="195707"/>
          </a:xfrm>
          <a:prstGeom prst="rect">
            <a:avLst/>
          </a:prstGeom>
        </p:spPr>
      </p:pic>
      <p:sp>
        <p:nvSpPr>
          <p:cNvPr id="42" name="TextBox 41"/>
          <p:cNvSpPr txBox="1"/>
          <p:nvPr/>
        </p:nvSpPr>
        <p:spPr>
          <a:xfrm>
            <a:off x="9682203" y="2450085"/>
            <a:ext cx="1946609" cy="194310"/>
          </a:xfrm>
          <a:prstGeom prst="rect">
            <a:avLst/>
          </a:prstGeom>
          <a:noFill/>
        </p:spPr>
        <p:txBody>
          <a:bodyPr wrap="none" lIns="0" rIns="0" tIns="0" bIns="0">
            <a:spAutoFit/>
          </a:bodyPr>
          <a:lstStyle/>
          <a:p>
            <a:r>
              <a:rPr sz="1150" b="0">
                <a:solidFill>
                  <a:srgbClr val="2E2E2E"/>
                </a:solidFill>
                <a:latin typeface="Calibri"/>
              </a:rPr>
              <a:t>MT is added between 2021 and</a:t>
            </a:r>
          </a:p>
        </p:txBody>
      </p:sp>
      <p:sp>
        <p:nvSpPr>
          <p:cNvPr id="43" name="TextBox 42"/>
          <p:cNvSpPr txBox="1"/>
          <p:nvPr/>
        </p:nvSpPr>
        <p:spPr>
          <a:xfrm>
            <a:off x="8048625" y="2625345"/>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4" name="TextBox 43"/>
          <p:cNvSpPr txBox="1"/>
          <p:nvPr/>
        </p:nvSpPr>
        <p:spPr>
          <a:xfrm>
            <a:off x="8048625" y="2853182"/>
            <a:ext cx="700335" cy="194310"/>
          </a:xfrm>
          <a:prstGeom prst="rect">
            <a:avLst/>
          </a:prstGeom>
          <a:noFill/>
        </p:spPr>
        <p:txBody>
          <a:bodyPr wrap="none" lIns="0" rIns="0" tIns="0" bIns="0">
            <a:spAutoFit/>
          </a:bodyPr>
          <a:lstStyle/>
          <a:p>
            <a:r>
              <a:rPr sz="1150" b="0">
                <a:solidFill>
                  <a:srgbClr val="2E2E2E"/>
                </a:solidFill>
                <a:latin typeface="Calibri"/>
              </a:rPr>
              <a:t>▪ A further</a:t>
            </a:r>
          </a:p>
        </p:txBody>
      </p:sp>
      <p:pic>
        <p:nvPicPr>
          <p:cNvPr id="45" name="Picture 44" descr="lock.png"/>
          <p:cNvPicPr>
            <a:picLocks noChangeAspect="1"/>
          </p:cNvPicPr>
          <p:nvPr/>
        </p:nvPicPr>
        <p:blipFill>
          <a:blip r:embed="rId6"/>
          <a:stretch>
            <a:fillRect/>
          </a:stretch>
        </p:blipFill>
        <p:spPr>
          <a:xfrm>
            <a:off x="8698114" y="2842959"/>
            <a:ext cx="134549" cy="195707"/>
          </a:xfrm>
          <a:prstGeom prst="rect">
            <a:avLst/>
          </a:prstGeom>
        </p:spPr>
      </p:pic>
      <p:sp>
        <p:nvSpPr>
          <p:cNvPr id="46" name="TextBox 45"/>
          <p:cNvSpPr txBox="1"/>
          <p:nvPr/>
        </p:nvSpPr>
        <p:spPr>
          <a:xfrm>
            <a:off x="8873223" y="2853182"/>
            <a:ext cx="2933017" cy="194310"/>
          </a:xfrm>
          <a:prstGeom prst="rect">
            <a:avLst/>
          </a:prstGeom>
          <a:noFill/>
        </p:spPr>
        <p:txBody>
          <a:bodyPr wrap="none" lIns="0" rIns="0" tIns="0" bIns="0">
            <a:spAutoFit/>
          </a:bodyPr>
          <a:lstStyle/>
          <a:p>
            <a:r>
              <a:rPr sz="1150" b="0">
                <a:solidFill>
                  <a:srgbClr val="2E2E2E"/>
                </a:solidFill>
                <a:latin typeface="Calibri"/>
              </a:rPr>
              <a:t>MT is added 2026–2036 more than the previous</a:t>
            </a:r>
          </a:p>
        </p:txBody>
      </p:sp>
      <p:sp>
        <p:nvSpPr>
          <p:cNvPr id="47" name="TextBox 46"/>
          <p:cNvSpPr txBox="1"/>
          <p:nvPr/>
        </p:nvSpPr>
        <p:spPr>
          <a:xfrm>
            <a:off x="8048625" y="3028442"/>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48" name="TextBox 47"/>
          <p:cNvSpPr txBox="1"/>
          <p:nvPr/>
        </p:nvSpPr>
        <p:spPr>
          <a:xfrm>
            <a:off x="8048625" y="3256280"/>
            <a:ext cx="1724682" cy="194310"/>
          </a:xfrm>
          <a:prstGeom prst="rect">
            <a:avLst/>
          </a:prstGeom>
          <a:noFill/>
        </p:spPr>
        <p:txBody>
          <a:bodyPr wrap="none" lIns="0" rIns="0" tIns="0" bIns="0">
            <a:spAutoFit/>
          </a:bodyPr>
          <a:lstStyle/>
          <a:p>
            <a:r>
              <a:rPr sz="1150" b="0">
                <a:solidFill>
                  <a:srgbClr val="2E2E2E"/>
                </a:solidFill>
                <a:latin typeface="Calibri"/>
              </a:rPr>
              <a:t>▪ Total incremental volume:</a:t>
            </a:r>
          </a:p>
        </p:txBody>
      </p:sp>
      <p:pic>
        <p:nvPicPr>
          <p:cNvPr id="49" name="Picture 48" descr="lock.png"/>
          <p:cNvPicPr>
            <a:picLocks noChangeAspect="1"/>
          </p:cNvPicPr>
          <p:nvPr/>
        </p:nvPicPr>
        <p:blipFill>
          <a:blip r:embed="rId6"/>
          <a:stretch>
            <a:fillRect/>
          </a:stretch>
        </p:blipFill>
        <p:spPr>
          <a:xfrm>
            <a:off x="9722461" y="3246057"/>
            <a:ext cx="134549" cy="195707"/>
          </a:xfrm>
          <a:prstGeom prst="rect">
            <a:avLst/>
          </a:prstGeom>
        </p:spPr>
      </p:pic>
      <p:sp>
        <p:nvSpPr>
          <p:cNvPr id="50" name="TextBox 49"/>
          <p:cNvSpPr txBox="1"/>
          <p:nvPr/>
        </p:nvSpPr>
        <p:spPr>
          <a:xfrm>
            <a:off x="9897570" y="3256280"/>
            <a:ext cx="1410903" cy="194310"/>
          </a:xfrm>
          <a:prstGeom prst="rect">
            <a:avLst/>
          </a:prstGeom>
          <a:noFill/>
        </p:spPr>
        <p:txBody>
          <a:bodyPr wrap="none" lIns="0" rIns="0" tIns="0" bIns="0">
            <a:spAutoFit/>
          </a:bodyPr>
          <a:lstStyle/>
          <a:p>
            <a:r>
              <a:rPr sz="1150" b="0">
                <a:solidFill>
                  <a:srgbClr val="2E2E2E"/>
                </a:solidFill>
                <a:latin typeface="Calibri"/>
              </a:rPr>
              <a:t>MT over 2021–2036, a</a:t>
            </a:r>
          </a:p>
        </p:txBody>
      </p:sp>
      <p:pic>
        <p:nvPicPr>
          <p:cNvPr id="51" name="Picture 50" descr="lock.png"/>
          <p:cNvPicPr>
            <a:picLocks noChangeAspect="1"/>
          </p:cNvPicPr>
          <p:nvPr/>
        </p:nvPicPr>
        <p:blipFill>
          <a:blip r:embed="rId6"/>
          <a:stretch>
            <a:fillRect/>
          </a:stretch>
        </p:blipFill>
        <p:spPr>
          <a:xfrm>
            <a:off x="11257627" y="3246057"/>
            <a:ext cx="134549" cy="195707"/>
          </a:xfrm>
          <a:prstGeom prst="rect">
            <a:avLst/>
          </a:prstGeom>
        </p:spPr>
      </p:pic>
      <p:sp>
        <p:nvSpPr>
          <p:cNvPr id="52" name="TextBox 51"/>
          <p:cNvSpPr txBox="1"/>
          <p:nvPr/>
        </p:nvSpPr>
        <p:spPr>
          <a:xfrm>
            <a:off x="11432736" y="3256280"/>
            <a:ext cx="148939" cy="194310"/>
          </a:xfrm>
          <a:prstGeom prst="rect">
            <a:avLst/>
          </a:prstGeom>
          <a:noFill/>
        </p:spPr>
        <p:txBody>
          <a:bodyPr wrap="none" lIns="0" rIns="0" tIns="0" bIns="0">
            <a:spAutoFit/>
          </a:bodyPr>
          <a:lstStyle/>
          <a:p>
            <a:r>
              <a:rPr sz="1150" b="0">
                <a:solidFill>
                  <a:srgbClr val="2E2E2E"/>
                </a:solidFill>
                <a:latin typeface="Calibri"/>
              </a:rPr>
              <a:t>×</a:t>
            </a:r>
          </a:p>
        </p:txBody>
      </p:sp>
      <p:sp>
        <p:nvSpPr>
          <p:cNvPr id="53" name="TextBox 52"/>
          <p:cNvSpPr txBox="1"/>
          <p:nvPr/>
        </p:nvSpPr>
        <p:spPr>
          <a:xfrm>
            <a:off x="8048625" y="3431540"/>
            <a:ext cx="716880" cy="194310"/>
          </a:xfrm>
          <a:prstGeom prst="rect">
            <a:avLst/>
          </a:prstGeom>
          <a:noFill/>
        </p:spPr>
        <p:txBody>
          <a:bodyPr wrap="none" lIns="0" rIns="0" tIns="0" bIns="0">
            <a:spAutoFit/>
          </a:bodyPr>
          <a:lstStyle/>
          <a:p>
            <a:r>
              <a:rPr sz="1150" b="0">
                <a:solidFill>
                  <a:srgbClr val="2E2E2E"/>
                </a:solidFill>
                <a:latin typeface="Calibri"/>
              </a:rPr>
              <a:t>expansion.</a:t>
            </a:r>
          </a:p>
        </p:txBody>
      </p:sp>
      <p:sp>
        <p:nvSpPr>
          <p:cNvPr id="54" name="TextBox 53"/>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5" name="Picture 54" descr="lock.png"/>
          <p:cNvPicPr>
            <a:picLocks noChangeAspect="1"/>
          </p:cNvPicPr>
          <p:nvPr/>
        </p:nvPicPr>
        <p:blipFill>
          <a:blip r:embed="rId6"/>
          <a:stretch>
            <a:fillRect/>
          </a:stretch>
        </p:blipFill>
        <p:spPr>
          <a:xfrm>
            <a:off x="10136079" y="4446251"/>
            <a:ext cx="134549" cy="195707"/>
          </a:xfrm>
          <a:prstGeom prst="rect">
            <a:avLst/>
          </a:prstGeom>
        </p:spPr>
      </p:pic>
      <p:sp>
        <p:nvSpPr>
          <p:cNvPr id="56" name="TextBox 55"/>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8048625" y="4684312"/>
            <a:ext cx="3827859" cy="194310"/>
          </a:xfrm>
          <a:prstGeom prst="rect">
            <a:avLst/>
          </a:prstGeom>
          <a:noFill/>
        </p:spPr>
        <p:txBody>
          <a:bodyPr wrap="none" lIns="0" rIns="0" tIns="0" bIns="0">
            <a:spAutoFit/>
          </a:bodyPr>
          <a:lstStyle/>
          <a:p>
            <a:r>
              <a:rPr sz="1150" b="0">
                <a:solidFill>
                  <a:srgbClr val="2E2E2E"/>
                </a:solidFill>
                <a:latin typeface="Calibri"/>
              </a:rPr>
              <a:t>▪ Demand concentrates in 'Sweet muffins' within Product Type.</a:t>
            </a:r>
          </a:p>
        </p:txBody>
      </p:sp>
      <p:sp>
        <p:nvSpPr>
          <p:cNvPr id="58" name="TextBox 57"/>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9" name="TextBox 58"/>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7" name="Connector 26"/>
          <p:cNvCxnSpPr/>
          <p:nvPr/>
        </p:nvCxnSpPr>
        <p:spPr>
          <a:xfrm flipV="1">
            <a:off x="2409825" y="1670329"/>
            <a:ext cx="0" cy="53157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2278380" y="220190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22783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2190750" y="1808381"/>
            <a:ext cx="438150" cy="26568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2190750" y="194292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151792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5915025" y="2711033"/>
            <a:ext cx="0" cy="40851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7835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783580" y="27110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5695950" y="2816751"/>
            <a:ext cx="438150" cy="20421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5695950" y="292004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4162425" y="2558633"/>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9" name="TextBox 38"/>
          <p:cNvSpPr txBox="1"/>
          <p:nvPr/>
        </p:nvSpPr>
        <p:spPr>
          <a:xfrm>
            <a:off x="6572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Sweet muffins</a:t>
            </a:r>
          </a:p>
        </p:txBody>
      </p:sp>
      <p:sp>
        <p:nvSpPr>
          <p:cNvPr id="40" name="TextBox 39"/>
          <p:cNvSpPr txBox="1"/>
          <p:nvPr/>
        </p:nvSpPr>
        <p:spPr>
          <a:xfrm>
            <a:off x="41624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Savoury muffins</a:t>
            </a:r>
          </a:p>
        </p:txBody>
      </p:sp>
      <p:sp>
        <p:nvSpPr>
          <p:cNvPr id="41" name="Rounded Rectangle 40"/>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43" name="Connector 42"/>
          <p:cNvCxnSpPr/>
          <p:nvPr/>
        </p:nvCxnSpPr>
        <p:spPr>
          <a:xfrm>
            <a:off x="619125" y="432402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619125" y="475857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9125" y="562765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19125" y="606220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619125" y="4324029"/>
            <a:ext cx="0" cy="1738173"/>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90550" y="432402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590550" y="475857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590550" y="562765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590550" y="606220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54" name="FMI Scale tick"/>
          <p:cNvSpPr txBox="1"/>
          <p:nvPr/>
        </p:nvSpPr>
        <p:spPr>
          <a:xfrm>
            <a:off x="219075" y="4257354"/>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sp>
        <p:nvSpPr>
          <p:cNvPr id="55" name="FMI Scale tick"/>
          <p:cNvSpPr txBox="1"/>
          <p:nvPr/>
        </p:nvSpPr>
        <p:spPr>
          <a:xfrm>
            <a:off x="219075" y="4691897"/>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56"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57" name="FMI Scale tick"/>
          <p:cNvSpPr txBox="1"/>
          <p:nvPr/>
        </p:nvSpPr>
        <p:spPr>
          <a:xfrm>
            <a:off x="219075" y="5560984"/>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58" name="FMI Scale tick"/>
          <p:cNvSpPr txBox="1"/>
          <p:nvPr/>
        </p:nvSpPr>
        <p:spPr>
          <a:xfrm>
            <a:off x="219075" y="5995527"/>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cxnSp>
        <p:nvCxnSpPr>
          <p:cNvPr id="59" name="Connector 58"/>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2152650" y="5193116"/>
            <a:ext cx="457200" cy="29714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MI Data Label"/>
          <p:cNvSpPr txBox="1"/>
          <p:nvPr/>
        </p:nvSpPr>
        <p:spPr>
          <a:xfrm>
            <a:off x="619125" y="5499787"/>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2" name="Rectangle 61"/>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4" name="TextBox 63"/>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65" name="TextBox 64"/>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66" name="Rounded Rectangle 65"/>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8" name="Rectangle 67"/>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1" name="Picture 70" descr="lock.png"/>
          <p:cNvPicPr>
            <a:picLocks noChangeAspect="1"/>
          </p:cNvPicPr>
          <p:nvPr/>
        </p:nvPicPr>
        <p:blipFill>
          <a:blip r:embed="rId4"/>
          <a:stretch>
            <a:fillRect/>
          </a:stretch>
        </p:blipFill>
        <p:spPr>
          <a:xfrm>
            <a:off x="2345475" y="1491005"/>
            <a:ext cx="128699" cy="187198"/>
          </a:xfrm>
          <a:prstGeom prst="rect">
            <a:avLst/>
          </a:prstGeom>
        </p:spPr>
      </p:pic>
      <p:pic>
        <p:nvPicPr>
          <p:cNvPr id="72" name="Picture 71" descr="lock.png"/>
          <p:cNvPicPr>
            <a:picLocks noChangeAspect="1"/>
          </p:cNvPicPr>
          <p:nvPr/>
        </p:nvPicPr>
        <p:blipFill>
          <a:blip r:embed="rId4"/>
          <a:stretch>
            <a:fillRect/>
          </a:stretch>
        </p:blipFill>
        <p:spPr>
          <a:xfrm>
            <a:off x="5850675" y="2531709"/>
            <a:ext cx="128699" cy="187198"/>
          </a:xfrm>
          <a:prstGeom prst="rect">
            <a:avLst/>
          </a:prstGeom>
        </p:spPr>
      </p:pic>
      <p:pic>
        <p:nvPicPr>
          <p:cNvPr id="73" name="Picture 72" descr="lock.png"/>
          <p:cNvPicPr>
            <a:picLocks noChangeAspect="1"/>
          </p:cNvPicPr>
          <p:nvPr/>
        </p:nvPicPr>
        <p:blipFill>
          <a:blip r:embed="rId4"/>
          <a:stretch>
            <a:fillRect/>
          </a:stretch>
        </p:blipFill>
        <p:spPr>
          <a:xfrm>
            <a:off x="2316900" y="5472862"/>
            <a:ext cx="128699" cy="187198"/>
          </a:xfrm>
          <a:prstGeom prst="rect">
            <a:avLst/>
          </a:prstGeom>
        </p:spPr>
      </p:pic>
      <p:pic>
        <p:nvPicPr>
          <p:cNvPr id="74" name="Picture 73" descr="lock.png"/>
          <p:cNvPicPr>
            <a:picLocks noChangeAspect="1"/>
          </p:cNvPicPr>
          <p:nvPr/>
        </p:nvPicPr>
        <p:blipFill>
          <a:blip r:embed="rId4"/>
          <a:stretch>
            <a:fillRect/>
          </a:stretch>
        </p:blipFill>
        <p:spPr>
          <a:xfrm>
            <a:off x="5841150" y="4267488"/>
            <a:ext cx="128699" cy="187198"/>
          </a:xfrm>
          <a:prstGeom prst="rect">
            <a:avLst/>
          </a:prstGeom>
        </p:spPr>
      </p:pic>
      <p:sp>
        <p:nvSpPr>
          <p:cNvPr id="75" name="TextBox 74"/>
          <p:cNvSpPr txBox="1"/>
          <p:nvPr/>
        </p:nvSpPr>
        <p:spPr>
          <a:xfrm>
            <a:off x="8048625" y="1471995"/>
            <a:ext cx="3589632" cy="194310"/>
          </a:xfrm>
          <a:prstGeom prst="rect">
            <a:avLst/>
          </a:prstGeom>
          <a:noFill/>
        </p:spPr>
        <p:txBody>
          <a:bodyPr wrap="none" lIns="0" rIns="0" tIns="0" bIns="0">
            <a:spAutoFit/>
          </a:bodyPr>
          <a:lstStyle/>
          <a:p>
            <a:r>
              <a:rPr sz="1150" b="0">
                <a:solidFill>
                  <a:srgbClr val="2E2E2E"/>
                </a:solidFill>
                <a:latin typeface="Calibri"/>
              </a:rPr>
              <a:t>▪ Average selling price is derived as Value ÷ Volume; 'Sweet</a:t>
            </a:r>
          </a:p>
        </p:txBody>
      </p:sp>
      <p:sp>
        <p:nvSpPr>
          <p:cNvPr id="76" name="TextBox 75"/>
          <p:cNvSpPr txBox="1"/>
          <p:nvPr/>
        </p:nvSpPr>
        <p:spPr>
          <a:xfrm>
            <a:off x="8048625" y="1647255"/>
            <a:ext cx="3224832" cy="194310"/>
          </a:xfrm>
          <a:prstGeom prst="rect">
            <a:avLst/>
          </a:prstGeom>
          <a:noFill/>
        </p:spPr>
        <p:txBody>
          <a:bodyPr wrap="none" lIns="0" rIns="0" tIns="0" bIns="0">
            <a:spAutoFit/>
          </a:bodyPr>
          <a:lstStyle/>
          <a:p>
            <a:r>
              <a:rPr sz="1150" b="0">
                <a:solidFill>
                  <a:srgbClr val="2E2E2E"/>
                </a:solidFill>
                <a:latin typeface="Calibri"/>
              </a:rPr>
              <a:t>muffins' commands the highest product type price at</a:t>
            </a:r>
          </a:p>
        </p:txBody>
      </p:sp>
      <p:pic>
        <p:nvPicPr>
          <p:cNvPr id="77" name="Picture 76" descr="lock.png"/>
          <p:cNvPicPr>
            <a:picLocks noChangeAspect="1"/>
          </p:cNvPicPr>
          <p:nvPr/>
        </p:nvPicPr>
        <p:blipFill>
          <a:blip r:embed="rId4"/>
          <a:stretch>
            <a:fillRect/>
          </a:stretch>
        </p:blipFill>
        <p:spPr>
          <a:xfrm>
            <a:off x="11222611" y="1637031"/>
            <a:ext cx="134549" cy="195707"/>
          </a:xfrm>
          <a:prstGeom prst="rect">
            <a:avLst/>
          </a:prstGeom>
        </p:spPr>
      </p:pic>
      <p:sp>
        <p:nvSpPr>
          <p:cNvPr id="78" name="TextBox 77"/>
          <p:cNvSpPr txBox="1"/>
          <p:nvPr/>
        </p:nvSpPr>
        <p:spPr>
          <a:xfrm>
            <a:off x="8048625" y="1822515"/>
            <a:ext cx="1074018" cy="194310"/>
          </a:xfrm>
          <a:prstGeom prst="rect">
            <a:avLst/>
          </a:prstGeom>
          <a:noFill/>
        </p:spPr>
        <p:txBody>
          <a:bodyPr wrap="none" lIns="0" rIns="0" tIns="0" bIns="0">
            <a:spAutoFit/>
          </a:bodyPr>
          <a:lstStyle/>
          <a:p>
            <a:r>
              <a:rPr sz="1150" b="0">
                <a:solidFill>
                  <a:srgbClr val="2E2E2E"/>
                </a:solidFill>
                <a:latin typeface="Calibri"/>
              </a:rPr>
              <a:t>US$/MT in 2036.</a:t>
            </a:r>
          </a:p>
        </p:txBody>
      </p:sp>
      <p:sp>
        <p:nvSpPr>
          <p:cNvPr id="79" name="TextBox 78"/>
          <p:cNvSpPr txBox="1"/>
          <p:nvPr/>
        </p:nvSpPr>
        <p:spPr>
          <a:xfrm>
            <a:off x="8048625" y="2050353"/>
            <a:ext cx="3227970" cy="194310"/>
          </a:xfrm>
          <a:prstGeom prst="rect">
            <a:avLst/>
          </a:prstGeom>
          <a:noFill/>
        </p:spPr>
        <p:txBody>
          <a:bodyPr wrap="none" lIns="0" rIns="0" tIns="0" bIns="0">
            <a:spAutoFit/>
          </a:bodyPr>
          <a:lstStyle/>
          <a:p>
            <a:r>
              <a:rPr sz="1150" b="0">
                <a:solidFill>
                  <a:srgbClr val="2E2E2E"/>
                </a:solidFill>
                <a:latin typeface="Calibri"/>
              </a:rPr>
              <a:t>▪ 'Sweet muffins' shows the steepest price uplift over</a:t>
            </a:r>
          </a:p>
        </p:txBody>
      </p:sp>
      <p:sp>
        <p:nvSpPr>
          <p:cNvPr id="80" name="TextBox 79"/>
          <p:cNvSpPr txBox="1"/>
          <p:nvPr/>
        </p:nvSpPr>
        <p:spPr>
          <a:xfrm>
            <a:off x="8048625" y="2225613"/>
            <a:ext cx="892311" cy="194310"/>
          </a:xfrm>
          <a:prstGeom prst="rect">
            <a:avLst/>
          </a:prstGeom>
          <a:noFill/>
        </p:spPr>
        <p:txBody>
          <a:bodyPr wrap="none" lIns="0" rIns="0" tIns="0" bIns="0">
            <a:spAutoFit/>
          </a:bodyPr>
          <a:lstStyle/>
          <a:p>
            <a:r>
              <a:rPr sz="1150" b="0">
                <a:solidFill>
                  <a:srgbClr val="2E2E2E"/>
                </a:solidFill>
                <a:latin typeface="Calibri"/>
              </a:rPr>
              <a:t>2026–2036 (+</a:t>
            </a:r>
          </a:p>
        </p:txBody>
      </p:sp>
      <p:pic>
        <p:nvPicPr>
          <p:cNvPr id="81" name="Picture 80" descr="lock.png"/>
          <p:cNvPicPr>
            <a:picLocks noChangeAspect="1"/>
          </p:cNvPicPr>
          <p:nvPr/>
        </p:nvPicPr>
        <p:blipFill>
          <a:blip r:embed="rId4"/>
          <a:stretch>
            <a:fillRect/>
          </a:stretch>
        </p:blipFill>
        <p:spPr>
          <a:xfrm>
            <a:off x="8890090" y="2215389"/>
            <a:ext cx="134549" cy="195707"/>
          </a:xfrm>
          <a:prstGeom prst="rect">
            <a:avLst/>
          </a:prstGeom>
        </p:spPr>
      </p:pic>
      <p:sp>
        <p:nvSpPr>
          <p:cNvPr id="82" name="TextBox 81"/>
          <p:cNvSpPr txBox="1"/>
          <p:nvPr/>
        </p:nvSpPr>
        <p:spPr>
          <a:xfrm>
            <a:off x="9065199" y="222561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83" name="TextBox 82"/>
          <p:cNvSpPr txBox="1"/>
          <p:nvPr/>
        </p:nvSpPr>
        <p:spPr>
          <a:xfrm>
            <a:off x="8048625" y="2453451"/>
            <a:ext cx="2188505" cy="194310"/>
          </a:xfrm>
          <a:prstGeom prst="rect">
            <a:avLst/>
          </a:prstGeom>
          <a:noFill/>
        </p:spPr>
        <p:txBody>
          <a:bodyPr wrap="none" lIns="0" rIns="0" tIns="0" bIns="0">
            <a:spAutoFit/>
          </a:bodyPr>
          <a:lstStyle/>
          <a:p>
            <a:r>
              <a:rPr sz="1150" b="0">
                <a:solidFill>
                  <a:srgbClr val="2E2E2E"/>
                </a:solidFill>
                <a:latin typeface="Calibri"/>
              </a:rPr>
              <a:t>▪ Against the north america price of</a:t>
            </a:r>
          </a:p>
        </p:txBody>
      </p:sp>
      <p:pic>
        <p:nvPicPr>
          <p:cNvPr id="84" name="Picture 83" descr="lock.png"/>
          <p:cNvPicPr>
            <a:picLocks noChangeAspect="1"/>
          </p:cNvPicPr>
          <p:nvPr/>
        </p:nvPicPr>
        <p:blipFill>
          <a:blip r:embed="rId4"/>
          <a:stretch>
            <a:fillRect/>
          </a:stretch>
        </p:blipFill>
        <p:spPr>
          <a:xfrm>
            <a:off x="10186284" y="2443227"/>
            <a:ext cx="134549" cy="195707"/>
          </a:xfrm>
          <a:prstGeom prst="rect">
            <a:avLst/>
          </a:prstGeom>
        </p:spPr>
      </p:pic>
      <p:sp>
        <p:nvSpPr>
          <p:cNvPr id="85" name="TextBox 84"/>
          <p:cNvSpPr txBox="1"/>
          <p:nvPr/>
        </p:nvSpPr>
        <p:spPr>
          <a:xfrm>
            <a:off x="10361393" y="2453451"/>
            <a:ext cx="969615" cy="194310"/>
          </a:xfrm>
          <a:prstGeom prst="rect">
            <a:avLst/>
          </a:prstGeom>
          <a:noFill/>
        </p:spPr>
        <p:txBody>
          <a:bodyPr wrap="none" lIns="0" rIns="0" tIns="0" bIns="0">
            <a:spAutoFit/>
          </a:bodyPr>
          <a:lstStyle/>
          <a:p>
            <a:r>
              <a:rPr sz="1150" b="0">
                <a:solidFill>
                  <a:srgbClr val="2E2E2E"/>
                </a:solidFill>
                <a:latin typeface="Calibri"/>
              </a:rPr>
              <a:t>US$/MT, 1 of 2</a:t>
            </a:r>
          </a:p>
        </p:txBody>
      </p:sp>
      <p:sp>
        <p:nvSpPr>
          <p:cNvPr id="86" name="TextBox 85"/>
          <p:cNvSpPr txBox="1"/>
          <p:nvPr/>
        </p:nvSpPr>
        <p:spPr>
          <a:xfrm>
            <a:off x="8048625" y="2628711"/>
            <a:ext cx="2154845" cy="194310"/>
          </a:xfrm>
          <a:prstGeom prst="rect">
            <a:avLst/>
          </a:prstGeom>
          <a:noFill/>
        </p:spPr>
        <p:txBody>
          <a:bodyPr wrap="none" lIns="0" rIns="0" tIns="0" bIns="0">
            <a:spAutoFit/>
          </a:bodyPr>
          <a:lstStyle/>
          <a:p>
            <a:r>
              <a:rPr sz="1150" b="0">
                <a:solidFill>
                  <a:srgbClr val="2E2E2E"/>
                </a:solidFill>
                <a:latin typeface="Calibri"/>
              </a:rPr>
              <a:t>countries price above and 1 below.</a:t>
            </a:r>
          </a:p>
        </p:txBody>
      </p:sp>
      <p:sp>
        <p:nvSpPr>
          <p:cNvPr id="87" name="TextBox 86"/>
          <p:cNvSpPr txBox="1"/>
          <p:nvPr/>
        </p:nvSpPr>
        <p:spPr>
          <a:xfrm>
            <a:off x="8048625" y="2856548"/>
            <a:ext cx="1762050" cy="194310"/>
          </a:xfrm>
          <a:prstGeom prst="rect">
            <a:avLst/>
          </a:prstGeom>
          <a:noFill/>
        </p:spPr>
        <p:txBody>
          <a:bodyPr wrap="none" lIns="0" rIns="0" tIns="0" bIns="0">
            <a:spAutoFit/>
          </a:bodyPr>
          <a:lstStyle/>
          <a:p>
            <a:r>
              <a:rPr sz="1150" b="0">
                <a:solidFill>
                  <a:srgbClr val="2E2E2E"/>
                </a:solidFill>
                <a:latin typeface="Calibri"/>
              </a:rPr>
              <a:t>▪ 'Canada' is the dearest at +</a:t>
            </a:r>
          </a:p>
        </p:txBody>
      </p:sp>
      <p:pic>
        <p:nvPicPr>
          <p:cNvPr id="88" name="Picture 87" descr="lock.png"/>
          <p:cNvPicPr>
            <a:picLocks noChangeAspect="1"/>
          </p:cNvPicPr>
          <p:nvPr/>
        </p:nvPicPr>
        <p:blipFill>
          <a:blip r:embed="rId4"/>
          <a:stretch>
            <a:fillRect/>
          </a:stretch>
        </p:blipFill>
        <p:spPr>
          <a:xfrm>
            <a:off x="9759829" y="2846325"/>
            <a:ext cx="134549" cy="195707"/>
          </a:xfrm>
          <a:prstGeom prst="rect">
            <a:avLst/>
          </a:prstGeom>
        </p:spPr>
      </p:pic>
      <p:sp>
        <p:nvSpPr>
          <p:cNvPr id="89" name="TextBox 88"/>
          <p:cNvSpPr txBox="1"/>
          <p:nvPr/>
        </p:nvSpPr>
        <p:spPr>
          <a:xfrm>
            <a:off x="9934938" y="2856548"/>
            <a:ext cx="1730102" cy="194310"/>
          </a:xfrm>
          <a:prstGeom prst="rect">
            <a:avLst/>
          </a:prstGeom>
          <a:noFill/>
        </p:spPr>
        <p:txBody>
          <a:bodyPr wrap="none" lIns="0" rIns="0" tIns="0" bIns="0">
            <a:spAutoFit/>
          </a:bodyPr>
          <a:lstStyle/>
          <a:p>
            <a:r>
              <a:rPr sz="1150" b="0">
                <a:solidFill>
                  <a:srgbClr val="2E2E2E"/>
                </a:solidFill>
                <a:latin typeface="Calibri"/>
              </a:rPr>
              <a:t>versus North America, 'U.S.'</a:t>
            </a:r>
          </a:p>
        </p:txBody>
      </p:sp>
      <p:sp>
        <p:nvSpPr>
          <p:cNvPr id="90" name="TextBox 89"/>
          <p:cNvSpPr txBox="1"/>
          <p:nvPr/>
        </p:nvSpPr>
        <p:spPr>
          <a:xfrm>
            <a:off x="8048625" y="3031808"/>
            <a:ext cx="1074588" cy="194310"/>
          </a:xfrm>
          <a:prstGeom prst="rect">
            <a:avLst/>
          </a:prstGeom>
          <a:noFill/>
        </p:spPr>
        <p:txBody>
          <a:bodyPr wrap="none" lIns="0" rIns="0" tIns="0" bIns="0">
            <a:spAutoFit/>
          </a:bodyPr>
          <a:lstStyle/>
          <a:p>
            <a:r>
              <a:rPr sz="1150" b="0">
                <a:solidFill>
                  <a:srgbClr val="2E2E2E"/>
                </a:solidFill>
                <a:latin typeface="Calibri"/>
              </a:rPr>
              <a:t>the cheapest at -</a:t>
            </a:r>
          </a:p>
        </p:txBody>
      </p:sp>
      <p:pic>
        <p:nvPicPr>
          <p:cNvPr id="91" name="Picture 90" descr="lock.png"/>
          <p:cNvPicPr>
            <a:picLocks noChangeAspect="1"/>
          </p:cNvPicPr>
          <p:nvPr/>
        </p:nvPicPr>
        <p:blipFill>
          <a:blip r:embed="rId4"/>
          <a:stretch>
            <a:fillRect/>
          </a:stretch>
        </p:blipFill>
        <p:spPr>
          <a:xfrm>
            <a:off x="9072367" y="3021585"/>
            <a:ext cx="134549" cy="195707"/>
          </a:xfrm>
          <a:prstGeom prst="rect">
            <a:avLst/>
          </a:prstGeom>
        </p:spPr>
      </p:pic>
      <p:sp>
        <p:nvSpPr>
          <p:cNvPr id="92" name="TextBox 91"/>
          <p:cNvSpPr txBox="1"/>
          <p:nvPr/>
        </p:nvSpPr>
        <p:spPr>
          <a:xfrm>
            <a:off x="9247476" y="3031808"/>
            <a:ext cx="2496579" cy="194310"/>
          </a:xfrm>
          <a:prstGeom prst="rect">
            <a:avLst/>
          </a:prstGeom>
          <a:noFill/>
        </p:spPr>
        <p:txBody>
          <a:bodyPr wrap="none" lIns="0" rIns="0" tIns="0" bIns="0">
            <a:spAutoFit/>
          </a:bodyPr>
          <a:lstStyle/>
          <a:p>
            <a:r>
              <a:rPr sz="1150" b="0">
                <a:solidFill>
                  <a:srgbClr val="2E2E2E"/>
                </a:solidFill>
                <a:latin typeface="Calibri"/>
              </a:rPr>
              <a:t>pointing to premiumisation headroom in</a:t>
            </a:r>
          </a:p>
        </p:txBody>
      </p:sp>
      <p:sp>
        <p:nvSpPr>
          <p:cNvPr id="93" name="TextBox 92"/>
          <p:cNvSpPr txBox="1"/>
          <p:nvPr/>
        </p:nvSpPr>
        <p:spPr>
          <a:xfrm>
            <a:off x="8048625" y="3207068"/>
            <a:ext cx="1690166" cy="194310"/>
          </a:xfrm>
          <a:prstGeom prst="rect">
            <a:avLst/>
          </a:prstGeom>
          <a:noFill/>
        </p:spPr>
        <p:txBody>
          <a:bodyPr wrap="none" lIns="0" rIns="0" tIns="0" bIns="0">
            <a:spAutoFit/>
          </a:bodyPr>
          <a:lstStyle/>
          <a:p>
            <a:r>
              <a:rPr sz="1150" b="0">
                <a:solidFill>
                  <a:srgbClr val="2E2E2E"/>
                </a:solidFill>
                <a:latin typeface="Calibri"/>
              </a:rPr>
              <a:t>the lower-priced countries.</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1384089" cy="194310"/>
          </a:xfrm>
          <a:prstGeom prst="rect">
            <a:avLst/>
          </a:prstGeom>
          <a:noFill/>
        </p:spPr>
        <p:txBody>
          <a:bodyPr wrap="none" lIns="0" rIns="0" tIns="0" bIns="0">
            <a:spAutoFit/>
          </a:bodyPr>
          <a:lstStyle/>
          <a:p>
            <a:r>
              <a:rPr sz="1150" b="0">
                <a:solidFill>
                  <a:srgbClr val="2E2E2E"/>
                </a:solidFill>
                <a:latin typeface="Calibri"/>
              </a:rPr>
              <a:t>▪ The market grows at</a:t>
            </a:r>
          </a:p>
        </p:txBody>
      </p:sp>
      <p:pic>
        <p:nvPicPr>
          <p:cNvPr id="36" name="Picture 35" descr="lock.png"/>
          <p:cNvPicPr>
            <a:picLocks noChangeAspect="1"/>
          </p:cNvPicPr>
          <p:nvPr/>
        </p:nvPicPr>
        <p:blipFill>
          <a:blip r:embed="rId6"/>
          <a:stretch>
            <a:fillRect/>
          </a:stretch>
        </p:blipFill>
        <p:spPr>
          <a:xfrm>
            <a:off x="9381868" y="2036763"/>
            <a:ext cx="134549" cy="195707"/>
          </a:xfrm>
          <a:prstGeom prst="rect">
            <a:avLst/>
          </a:prstGeom>
        </p:spPr>
      </p:pic>
      <p:sp>
        <p:nvSpPr>
          <p:cNvPr id="37" name="TextBox 36"/>
          <p:cNvSpPr txBox="1"/>
          <p:nvPr/>
        </p:nvSpPr>
        <p:spPr>
          <a:xfrm>
            <a:off x="9556977" y="2046987"/>
            <a:ext cx="2148266" cy="194310"/>
          </a:xfrm>
          <a:prstGeom prst="rect">
            <a:avLst/>
          </a:prstGeom>
          <a:noFill/>
        </p:spPr>
        <p:txBody>
          <a:bodyPr wrap="none" lIns="0" rIns="0" tIns="0" bIns="0">
            <a:spAutoFit/>
          </a:bodyPr>
          <a:lstStyle/>
          <a:p>
            <a:r>
              <a:rPr sz="1150" b="0">
                <a:solidFill>
                  <a:srgbClr val="2E2E2E"/>
                </a:solidFill>
                <a:latin typeface="Calibri"/>
              </a:rPr>
              <a:t>CAGR (2021–2026), accelerating to</a:t>
            </a:r>
          </a:p>
        </p:txBody>
      </p:sp>
      <p:pic>
        <p:nvPicPr>
          <p:cNvPr id="38" name="Picture 37" descr="lock.png"/>
          <p:cNvPicPr>
            <a:picLocks noChangeAspect="1"/>
          </p:cNvPicPr>
          <p:nvPr/>
        </p:nvPicPr>
        <p:blipFill>
          <a:blip r:embed="rId6"/>
          <a:stretch>
            <a:fillRect/>
          </a:stretch>
        </p:blipFill>
        <p:spPr>
          <a:xfrm>
            <a:off x="8034545" y="2212023"/>
            <a:ext cx="134549" cy="195707"/>
          </a:xfrm>
          <a:prstGeom prst="rect">
            <a:avLst/>
          </a:prstGeom>
        </p:spPr>
      </p:pic>
      <p:sp>
        <p:nvSpPr>
          <p:cNvPr id="39" name="TextBox 38"/>
          <p:cNvSpPr txBox="1"/>
          <p:nvPr/>
        </p:nvSpPr>
        <p:spPr>
          <a:xfrm>
            <a:off x="8209654" y="2222247"/>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40" name="TextBox 39"/>
          <p:cNvSpPr txBox="1"/>
          <p:nvPr/>
        </p:nvSpPr>
        <p:spPr>
          <a:xfrm>
            <a:off x="8048625" y="2450085"/>
            <a:ext cx="1385515" cy="194310"/>
          </a:xfrm>
          <a:prstGeom prst="rect">
            <a:avLst/>
          </a:prstGeom>
          <a:noFill/>
        </p:spPr>
        <p:txBody>
          <a:bodyPr wrap="none" lIns="0" rIns="0" tIns="0" bIns="0">
            <a:spAutoFit/>
          </a:bodyPr>
          <a:lstStyle/>
          <a:p>
            <a:r>
              <a:rPr sz="1150" b="0">
                <a:solidFill>
                  <a:srgbClr val="2E2E2E"/>
                </a:solidFill>
                <a:latin typeface="Calibri"/>
              </a:rPr>
              <a:t>▪ Incremental value of</a:t>
            </a:r>
          </a:p>
        </p:txBody>
      </p:sp>
      <p:pic>
        <p:nvPicPr>
          <p:cNvPr id="41" name="Picture 40" descr="lock.png"/>
          <p:cNvPicPr>
            <a:picLocks noChangeAspect="1"/>
          </p:cNvPicPr>
          <p:nvPr/>
        </p:nvPicPr>
        <p:blipFill>
          <a:blip r:embed="rId6"/>
          <a:stretch>
            <a:fillRect/>
          </a:stretch>
        </p:blipFill>
        <p:spPr>
          <a:xfrm>
            <a:off x="9383294" y="2439861"/>
            <a:ext cx="134549" cy="195707"/>
          </a:xfrm>
          <a:prstGeom prst="rect">
            <a:avLst/>
          </a:prstGeom>
        </p:spPr>
      </p:pic>
      <p:sp>
        <p:nvSpPr>
          <p:cNvPr id="42" name="TextBox 41"/>
          <p:cNvSpPr txBox="1"/>
          <p:nvPr/>
        </p:nvSpPr>
        <p:spPr>
          <a:xfrm>
            <a:off x="9558403" y="2450085"/>
            <a:ext cx="2220168" cy="194310"/>
          </a:xfrm>
          <a:prstGeom prst="rect">
            <a:avLst/>
          </a:prstGeom>
          <a:noFill/>
        </p:spPr>
        <p:txBody>
          <a:bodyPr wrap="none" lIns="0" rIns="0" tIns="0" bIns="0">
            <a:spAutoFit/>
          </a:bodyPr>
          <a:lstStyle/>
          <a:p>
            <a:r>
              <a:rPr sz="1150" b="0">
                <a:solidFill>
                  <a:srgbClr val="2E2E2E"/>
                </a:solidFill>
                <a:latin typeface="Calibri"/>
              </a:rPr>
              <a:t>US$ Mn is added between 2021 and</a:t>
            </a:r>
          </a:p>
        </p:txBody>
      </p:sp>
      <p:sp>
        <p:nvSpPr>
          <p:cNvPr id="43" name="TextBox 42"/>
          <p:cNvSpPr txBox="1"/>
          <p:nvPr/>
        </p:nvSpPr>
        <p:spPr>
          <a:xfrm>
            <a:off x="8048625" y="2625345"/>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4" name="TextBox 43"/>
          <p:cNvSpPr txBox="1"/>
          <p:nvPr/>
        </p:nvSpPr>
        <p:spPr>
          <a:xfrm>
            <a:off x="8048625" y="2853182"/>
            <a:ext cx="700335" cy="194310"/>
          </a:xfrm>
          <a:prstGeom prst="rect">
            <a:avLst/>
          </a:prstGeom>
          <a:noFill/>
        </p:spPr>
        <p:txBody>
          <a:bodyPr wrap="none" lIns="0" rIns="0" tIns="0" bIns="0">
            <a:spAutoFit/>
          </a:bodyPr>
          <a:lstStyle/>
          <a:p>
            <a:r>
              <a:rPr sz="1150" b="0">
                <a:solidFill>
                  <a:srgbClr val="2E2E2E"/>
                </a:solidFill>
                <a:latin typeface="Calibri"/>
              </a:rPr>
              <a:t>▪ A further</a:t>
            </a:r>
          </a:p>
        </p:txBody>
      </p:sp>
      <p:pic>
        <p:nvPicPr>
          <p:cNvPr id="45" name="Picture 44" descr="lock.png"/>
          <p:cNvPicPr>
            <a:picLocks noChangeAspect="1"/>
          </p:cNvPicPr>
          <p:nvPr/>
        </p:nvPicPr>
        <p:blipFill>
          <a:blip r:embed="rId6"/>
          <a:stretch>
            <a:fillRect/>
          </a:stretch>
        </p:blipFill>
        <p:spPr>
          <a:xfrm>
            <a:off x="8698114" y="2842959"/>
            <a:ext cx="134549" cy="195707"/>
          </a:xfrm>
          <a:prstGeom prst="rect">
            <a:avLst/>
          </a:prstGeom>
        </p:spPr>
      </p:pic>
      <p:sp>
        <p:nvSpPr>
          <p:cNvPr id="46" name="TextBox 45"/>
          <p:cNvSpPr txBox="1"/>
          <p:nvPr/>
        </p:nvSpPr>
        <p:spPr>
          <a:xfrm>
            <a:off x="8873223" y="2853182"/>
            <a:ext cx="2662597" cy="194310"/>
          </a:xfrm>
          <a:prstGeom prst="rect">
            <a:avLst/>
          </a:prstGeom>
          <a:noFill/>
        </p:spPr>
        <p:txBody>
          <a:bodyPr wrap="none" lIns="0" rIns="0" tIns="0" bIns="0">
            <a:spAutoFit/>
          </a:bodyPr>
          <a:lstStyle/>
          <a:p>
            <a:r>
              <a:rPr sz="1150" b="0">
                <a:solidFill>
                  <a:srgbClr val="2E2E2E"/>
                </a:solidFill>
                <a:latin typeface="Calibri"/>
              </a:rPr>
              <a:t>US$ Mn is added 2026–2036 more than the</a:t>
            </a:r>
          </a:p>
        </p:txBody>
      </p:sp>
      <p:sp>
        <p:nvSpPr>
          <p:cNvPr id="47" name="TextBox 46"/>
          <p:cNvSpPr txBox="1"/>
          <p:nvPr/>
        </p:nvSpPr>
        <p:spPr>
          <a:xfrm>
            <a:off x="8048625" y="3028442"/>
            <a:ext cx="1044922" cy="194310"/>
          </a:xfrm>
          <a:prstGeom prst="rect">
            <a:avLst/>
          </a:prstGeom>
          <a:noFill/>
        </p:spPr>
        <p:txBody>
          <a:bodyPr wrap="none" lIns="0" rIns="0" tIns="0" bIns="0">
            <a:spAutoFit/>
          </a:bodyPr>
          <a:lstStyle/>
          <a:p>
            <a:r>
              <a:rPr sz="1150" b="0">
                <a:solidFill>
                  <a:srgbClr val="2E2E2E"/>
                </a:solidFill>
                <a:latin typeface="Calibri"/>
              </a:rPr>
              <a:t>previous period.</a:t>
            </a:r>
          </a:p>
        </p:txBody>
      </p:sp>
      <p:sp>
        <p:nvSpPr>
          <p:cNvPr id="48" name="TextBox 47"/>
          <p:cNvSpPr txBox="1"/>
          <p:nvPr/>
        </p:nvSpPr>
        <p:spPr>
          <a:xfrm>
            <a:off x="8048625" y="3256280"/>
            <a:ext cx="1600882" cy="194310"/>
          </a:xfrm>
          <a:prstGeom prst="rect">
            <a:avLst/>
          </a:prstGeom>
          <a:noFill/>
        </p:spPr>
        <p:txBody>
          <a:bodyPr wrap="none" lIns="0" rIns="0" tIns="0" bIns="0">
            <a:spAutoFit/>
          </a:bodyPr>
          <a:lstStyle/>
          <a:p>
            <a:r>
              <a:rPr sz="1150" b="0">
                <a:solidFill>
                  <a:srgbClr val="2E2E2E"/>
                </a:solidFill>
                <a:latin typeface="Calibri"/>
              </a:rPr>
              <a:t>▪ Total incremental value:</a:t>
            </a:r>
          </a:p>
        </p:txBody>
      </p:sp>
      <p:pic>
        <p:nvPicPr>
          <p:cNvPr id="49" name="Picture 48" descr="lock.png"/>
          <p:cNvPicPr>
            <a:picLocks noChangeAspect="1"/>
          </p:cNvPicPr>
          <p:nvPr/>
        </p:nvPicPr>
        <p:blipFill>
          <a:blip r:embed="rId6"/>
          <a:stretch>
            <a:fillRect/>
          </a:stretch>
        </p:blipFill>
        <p:spPr>
          <a:xfrm>
            <a:off x="9598661" y="3246057"/>
            <a:ext cx="134549" cy="195707"/>
          </a:xfrm>
          <a:prstGeom prst="rect">
            <a:avLst/>
          </a:prstGeom>
        </p:spPr>
      </p:pic>
      <p:sp>
        <p:nvSpPr>
          <p:cNvPr id="50" name="TextBox 49"/>
          <p:cNvSpPr txBox="1"/>
          <p:nvPr/>
        </p:nvSpPr>
        <p:spPr>
          <a:xfrm>
            <a:off x="9773770" y="3256280"/>
            <a:ext cx="1684461" cy="194310"/>
          </a:xfrm>
          <a:prstGeom prst="rect">
            <a:avLst/>
          </a:prstGeom>
          <a:noFill/>
        </p:spPr>
        <p:txBody>
          <a:bodyPr wrap="none" lIns="0" rIns="0" tIns="0" bIns="0">
            <a:spAutoFit/>
          </a:bodyPr>
          <a:lstStyle/>
          <a:p>
            <a:r>
              <a:rPr sz="1150" b="0">
                <a:solidFill>
                  <a:srgbClr val="2E2E2E"/>
                </a:solidFill>
                <a:latin typeface="Calibri"/>
              </a:rPr>
              <a:t>US$ Mn over 2021–2036, a</a:t>
            </a:r>
          </a:p>
        </p:txBody>
      </p:sp>
      <p:pic>
        <p:nvPicPr>
          <p:cNvPr id="51" name="Picture 50" descr="lock.png"/>
          <p:cNvPicPr>
            <a:picLocks noChangeAspect="1"/>
          </p:cNvPicPr>
          <p:nvPr/>
        </p:nvPicPr>
        <p:blipFill>
          <a:blip r:embed="rId6"/>
          <a:stretch>
            <a:fillRect/>
          </a:stretch>
        </p:blipFill>
        <p:spPr>
          <a:xfrm>
            <a:off x="11407385" y="3246057"/>
            <a:ext cx="134549" cy="195707"/>
          </a:xfrm>
          <a:prstGeom prst="rect">
            <a:avLst/>
          </a:prstGeom>
        </p:spPr>
      </p:pic>
      <p:sp>
        <p:nvSpPr>
          <p:cNvPr id="52" name="TextBox 51"/>
          <p:cNvSpPr txBox="1"/>
          <p:nvPr/>
        </p:nvSpPr>
        <p:spPr>
          <a:xfrm>
            <a:off x="11582495" y="3256280"/>
            <a:ext cx="148939" cy="194310"/>
          </a:xfrm>
          <a:prstGeom prst="rect">
            <a:avLst/>
          </a:prstGeom>
          <a:noFill/>
        </p:spPr>
        <p:txBody>
          <a:bodyPr wrap="none" lIns="0" rIns="0" tIns="0" bIns="0">
            <a:spAutoFit/>
          </a:bodyPr>
          <a:lstStyle/>
          <a:p>
            <a:r>
              <a:rPr sz="1150" b="0">
                <a:solidFill>
                  <a:srgbClr val="2E2E2E"/>
                </a:solidFill>
                <a:latin typeface="Calibri"/>
              </a:rPr>
              <a:t>×</a:t>
            </a:r>
          </a:p>
        </p:txBody>
      </p:sp>
      <p:sp>
        <p:nvSpPr>
          <p:cNvPr id="53" name="TextBox 52"/>
          <p:cNvSpPr txBox="1"/>
          <p:nvPr/>
        </p:nvSpPr>
        <p:spPr>
          <a:xfrm>
            <a:off x="8048625" y="3431540"/>
            <a:ext cx="716880" cy="194310"/>
          </a:xfrm>
          <a:prstGeom prst="rect">
            <a:avLst/>
          </a:prstGeom>
          <a:noFill/>
        </p:spPr>
        <p:txBody>
          <a:bodyPr wrap="none" lIns="0" rIns="0" tIns="0" bIns="0">
            <a:spAutoFit/>
          </a:bodyPr>
          <a:lstStyle/>
          <a:p>
            <a:r>
              <a:rPr sz="1150" b="0">
                <a:solidFill>
                  <a:srgbClr val="2E2E2E"/>
                </a:solidFill>
                <a:latin typeface="Calibri"/>
              </a:rPr>
              <a:t>expansion.</a:t>
            </a:r>
          </a:p>
        </p:txBody>
      </p:sp>
      <p:sp>
        <p:nvSpPr>
          <p:cNvPr id="54" name="TextBox 53"/>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5" name="Picture 54" descr="lock.png"/>
          <p:cNvPicPr>
            <a:picLocks noChangeAspect="1"/>
          </p:cNvPicPr>
          <p:nvPr/>
        </p:nvPicPr>
        <p:blipFill>
          <a:blip r:embed="rId6"/>
          <a:stretch>
            <a:fillRect/>
          </a:stretch>
        </p:blipFill>
        <p:spPr>
          <a:xfrm>
            <a:off x="10136079" y="4446251"/>
            <a:ext cx="134549" cy="195707"/>
          </a:xfrm>
          <a:prstGeom prst="rect">
            <a:avLst/>
          </a:prstGeom>
        </p:spPr>
      </p:pic>
      <p:sp>
        <p:nvSpPr>
          <p:cNvPr id="56" name="TextBox 55"/>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8048625" y="4684312"/>
            <a:ext cx="3827859" cy="194310"/>
          </a:xfrm>
          <a:prstGeom prst="rect">
            <a:avLst/>
          </a:prstGeom>
          <a:noFill/>
        </p:spPr>
        <p:txBody>
          <a:bodyPr wrap="none" lIns="0" rIns="0" tIns="0" bIns="0">
            <a:spAutoFit/>
          </a:bodyPr>
          <a:lstStyle/>
          <a:p>
            <a:r>
              <a:rPr sz="1150" b="0">
                <a:solidFill>
                  <a:srgbClr val="2E2E2E"/>
                </a:solidFill>
                <a:latin typeface="Calibri"/>
              </a:rPr>
              <a:t>▪ Demand concentrates in 'Sweet muffins' within Product Type.</a:t>
            </a:r>
          </a:p>
        </p:txBody>
      </p:sp>
      <p:sp>
        <p:nvSpPr>
          <p:cNvPr id="58" name="TextBox 57"/>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9" name="TextBox 58"/>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4022407"/>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4022407"/>
            <a:ext cx="157162" cy="228600"/>
          </a:xfrm>
          <a:prstGeom prst="rect">
            <a:avLst/>
          </a:prstGeom>
        </p:spPr>
      </p:pic>
      <p:sp>
        <p:nvSpPr>
          <p:cNvPr id="32" name="TextBox 31"/>
          <p:cNvSpPr txBox="1"/>
          <p:nvPr/>
        </p:nvSpPr>
        <p:spPr>
          <a:xfrm>
            <a:off x="276225" y="4972050"/>
            <a:ext cx="1345579" cy="194310"/>
          </a:xfrm>
          <a:prstGeom prst="rect">
            <a:avLst/>
          </a:prstGeom>
          <a:noFill/>
        </p:spPr>
        <p:txBody>
          <a:bodyPr wrap="none" lIns="0" rIns="0" tIns="0" bIns="0">
            <a:spAutoFit/>
          </a:bodyPr>
          <a:lstStyle/>
          <a:p>
            <a:r>
              <a:rPr sz="1150" b="0">
                <a:solidFill>
                  <a:srgbClr val="2E2E2E"/>
                </a:solidFill>
                <a:latin typeface="Calibri"/>
              </a:rPr>
              <a:t>▪ Value expands from</a:t>
            </a:r>
          </a:p>
        </p:txBody>
      </p:sp>
      <p:pic>
        <p:nvPicPr>
          <p:cNvPr id="33" name="Picture 32" descr="lock.png"/>
          <p:cNvPicPr>
            <a:picLocks noChangeAspect="1"/>
          </p:cNvPicPr>
          <p:nvPr/>
        </p:nvPicPr>
        <p:blipFill>
          <a:blip r:embed="rId6"/>
          <a:stretch>
            <a:fillRect/>
          </a:stretch>
        </p:blipFill>
        <p:spPr>
          <a:xfrm>
            <a:off x="1570958" y="4961826"/>
            <a:ext cx="134549" cy="195707"/>
          </a:xfrm>
          <a:prstGeom prst="rect">
            <a:avLst/>
          </a:prstGeom>
        </p:spPr>
      </p:pic>
      <p:sp>
        <p:nvSpPr>
          <p:cNvPr id="34" name="TextBox 33"/>
          <p:cNvSpPr txBox="1"/>
          <p:nvPr/>
        </p:nvSpPr>
        <p:spPr>
          <a:xfrm>
            <a:off x="1746068" y="4972050"/>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5" name="Picture 34" descr="lock.png"/>
          <p:cNvPicPr>
            <a:picLocks noChangeAspect="1"/>
          </p:cNvPicPr>
          <p:nvPr/>
        </p:nvPicPr>
        <p:blipFill>
          <a:blip r:embed="rId6"/>
          <a:stretch>
            <a:fillRect/>
          </a:stretch>
        </p:blipFill>
        <p:spPr>
          <a:xfrm>
            <a:off x="1897504" y="4961826"/>
            <a:ext cx="134549" cy="195707"/>
          </a:xfrm>
          <a:prstGeom prst="rect">
            <a:avLst/>
          </a:prstGeom>
        </p:spPr>
      </p:pic>
      <p:sp>
        <p:nvSpPr>
          <p:cNvPr id="36" name="TextBox 35"/>
          <p:cNvSpPr txBox="1"/>
          <p:nvPr/>
        </p:nvSpPr>
        <p:spPr>
          <a:xfrm>
            <a:off x="2072613" y="4972050"/>
            <a:ext cx="1051768" cy="194310"/>
          </a:xfrm>
          <a:prstGeom prst="rect">
            <a:avLst/>
          </a:prstGeom>
          <a:noFill/>
        </p:spPr>
        <p:txBody>
          <a:bodyPr wrap="none" lIns="0" rIns="0" tIns="0" bIns="0">
            <a:spAutoFit/>
          </a:bodyPr>
          <a:lstStyle/>
          <a:p>
            <a:r>
              <a:rPr sz="1150" b="0">
                <a:solidFill>
                  <a:srgbClr val="2E2E2E"/>
                </a:solidFill>
                <a:latin typeface="Calibri"/>
              </a:rPr>
              <a:t>US$ Mn by 2036</a:t>
            </a:r>
          </a:p>
        </p:txBody>
      </p:sp>
      <p:pic>
        <p:nvPicPr>
          <p:cNvPr id="37" name="Picture 36" descr="lock.png"/>
          <p:cNvPicPr>
            <a:picLocks noChangeAspect="1"/>
          </p:cNvPicPr>
          <p:nvPr/>
        </p:nvPicPr>
        <p:blipFill>
          <a:blip r:embed="rId6"/>
          <a:stretch>
            <a:fillRect/>
          </a:stretch>
        </p:blipFill>
        <p:spPr>
          <a:xfrm>
            <a:off x="3073535" y="4961826"/>
            <a:ext cx="134549" cy="195707"/>
          </a:xfrm>
          <a:prstGeom prst="rect">
            <a:avLst/>
          </a:prstGeom>
        </p:spPr>
      </p:pic>
      <p:sp>
        <p:nvSpPr>
          <p:cNvPr id="38" name="TextBox 37"/>
          <p:cNvSpPr txBox="1"/>
          <p:nvPr/>
        </p:nvSpPr>
        <p:spPr>
          <a:xfrm>
            <a:off x="3248645" y="4972050"/>
            <a:ext cx="1523845" cy="194310"/>
          </a:xfrm>
          <a:prstGeom prst="rect">
            <a:avLst/>
          </a:prstGeom>
          <a:noFill/>
        </p:spPr>
        <p:txBody>
          <a:bodyPr wrap="none" lIns="0" rIns="0" tIns="0" bIns="0">
            <a:spAutoFit/>
          </a:bodyPr>
          <a:lstStyle/>
          <a:p>
            <a:r>
              <a:rPr sz="1150" b="0">
                <a:solidFill>
                  <a:srgbClr val="2E2E2E"/>
                </a:solidFill>
                <a:latin typeface="Calibri"/>
              </a:rPr>
              <a:t>CAGR, accelerating from</a:t>
            </a:r>
          </a:p>
        </p:txBody>
      </p:sp>
      <p:pic>
        <p:nvPicPr>
          <p:cNvPr id="39" name="Picture 38" descr="lock.png"/>
          <p:cNvPicPr>
            <a:picLocks noChangeAspect="1"/>
          </p:cNvPicPr>
          <p:nvPr/>
        </p:nvPicPr>
        <p:blipFill>
          <a:blip r:embed="rId6"/>
          <a:stretch>
            <a:fillRect/>
          </a:stretch>
        </p:blipFill>
        <p:spPr>
          <a:xfrm>
            <a:off x="4721644" y="4961826"/>
            <a:ext cx="134549" cy="195707"/>
          </a:xfrm>
          <a:prstGeom prst="rect">
            <a:avLst/>
          </a:prstGeom>
        </p:spPr>
      </p:pic>
      <p:sp>
        <p:nvSpPr>
          <p:cNvPr id="40" name="TextBox 39"/>
          <p:cNvSpPr txBox="1"/>
          <p:nvPr/>
        </p:nvSpPr>
        <p:spPr>
          <a:xfrm>
            <a:off x="4896754" y="4972050"/>
            <a:ext cx="922548" cy="194310"/>
          </a:xfrm>
          <a:prstGeom prst="rect">
            <a:avLst/>
          </a:prstGeom>
          <a:noFill/>
        </p:spPr>
        <p:txBody>
          <a:bodyPr wrap="none" lIns="0" rIns="0" tIns="0" bIns="0">
            <a:spAutoFit/>
          </a:bodyPr>
          <a:lstStyle/>
          <a:p>
            <a:r>
              <a:rPr sz="1150" b="0">
                <a:solidFill>
                  <a:srgbClr val="2E2E2E"/>
                </a:solidFill>
                <a:latin typeface="Calibri"/>
              </a:rPr>
              <a:t>in 2021–2025.</a:t>
            </a:r>
          </a:p>
        </p:txBody>
      </p:sp>
      <p:sp>
        <p:nvSpPr>
          <p:cNvPr id="41" name="TextBox 40"/>
          <p:cNvSpPr txBox="1"/>
          <p:nvPr/>
        </p:nvSpPr>
        <p:spPr>
          <a:xfrm>
            <a:off x="276225" y="5199888"/>
            <a:ext cx="1247737" cy="194310"/>
          </a:xfrm>
          <a:prstGeom prst="rect">
            <a:avLst/>
          </a:prstGeom>
          <a:noFill/>
        </p:spPr>
        <p:txBody>
          <a:bodyPr wrap="none" lIns="0" rIns="0" tIns="0" bIns="0">
            <a:spAutoFit/>
          </a:bodyPr>
          <a:lstStyle/>
          <a:p>
            <a:r>
              <a:rPr sz="1150" b="0">
                <a:solidFill>
                  <a:srgbClr val="2E2E2E"/>
                </a:solidFill>
                <a:latin typeface="Calibri"/>
              </a:rPr>
              <a:t>▪ Volume rises from</a:t>
            </a:r>
          </a:p>
        </p:txBody>
      </p:sp>
      <p:pic>
        <p:nvPicPr>
          <p:cNvPr id="42" name="Picture 41" descr="lock.png"/>
          <p:cNvPicPr>
            <a:picLocks noChangeAspect="1"/>
          </p:cNvPicPr>
          <p:nvPr/>
        </p:nvPicPr>
        <p:blipFill>
          <a:blip r:embed="rId6"/>
          <a:stretch>
            <a:fillRect/>
          </a:stretch>
        </p:blipFill>
        <p:spPr>
          <a:xfrm>
            <a:off x="1473116" y="5189664"/>
            <a:ext cx="134549" cy="195707"/>
          </a:xfrm>
          <a:prstGeom prst="rect">
            <a:avLst/>
          </a:prstGeom>
        </p:spPr>
      </p:pic>
      <p:sp>
        <p:nvSpPr>
          <p:cNvPr id="43" name="TextBox 42"/>
          <p:cNvSpPr txBox="1"/>
          <p:nvPr/>
        </p:nvSpPr>
        <p:spPr>
          <a:xfrm>
            <a:off x="1648226" y="51998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6"/>
          <a:stretch>
            <a:fillRect/>
          </a:stretch>
        </p:blipFill>
        <p:spPr>
          <a:xfrm>
            <a:off x="1799662" y="5189664"/>
            <a:ext cx="134549" cy="195707"/>
          </a:xfrm>
          <a:prstGeom prst="rect">
            <a:avLst/>
          </a:prstGeom>
        </p:spPr>
      </p:pic>
      <p:sp>
        <p:nvSpPr>
          <p:cNvPr id="45" name="TextBox 44"/>
          <p:cNvSpPr txBox="1"/>
          <p:nvPr/>
        </p:nvSpPr>
        <p:spPr>
          <a:xfrm>
            <a:off x="1974771" y="5199888"/>
            <a:ext cx="1653939" cy="194310"/>
          </a:xfrm>
          <a:prstGeom prst="rect">
            <a:avLst/>
          </a:prstGeom>
          <a:noFill/>
        </p:spPr>
        <p:txBody>
          <a:bodyPr wrap="none" lIns="0" rIns="0" tIns="0" bIns="0">
            <a:spAutoFit/>
          </a:bodyPr>
          <a:lstStyle/>
          <a:p>
            <a:r>
              <a:rPr sz="1150" b="0">
                <a:solidFill>
                  <a:srgbClr val="2E2E2E"/>
                </a:solidFill>
                <a:latin typeface="Calibri"/>
              </a:rPr>
              <a:t>MT over the same decade.</a:t>
            </a:r>
          </a:p>
        </p:txBody>
      </p:sp>
      <p:sp>
        <p:nvSpPr>
          <p:cNvPr id="46" name="TextBox 45"/>
          <p:cNvSpPr txBox="1"/>
          <p:nvPr/>
        </p:nvSpPr>
        <p:spPr>
          <a:xfrm>
            <a:off x="276225" y="5427725"/>
            <a:ext cx="888317" cy="194310"/>
          </a:xfrm>
          <a:prstGeom prst="rect">
            <a:avLst/>
          </a:prstGeom>
          <a:noFill/>
        </p:spPr>
        <p:txBody>
          <a:bodyPr wrap="none" lIns="0" rIns="0" tIns="0" bIns="0">
            <a:spAutoFit/>
          </a:bodyPr>
          <a:lstStyle/>
          <a:p>
            <a:r>
              <a:rPr sz="1150" b="0">
                <a:solidFill>
                  <a:srgbClr val="2E2E2E"/>
                </a:solidFill>
                <a:latin typeface="Calibri"/>
              </a:rPr>
              <a:t>▪ Value grows</a:t>
            </a:r>
          </a:p>
        </p:txBody>
      </p:sp>
      <p:pic>
        <p:nvPicPr>
          <p:cNvPr id="47" name="Picture 46" descr="lock.png"/>
          <p:cNvPicPr>
            <a:picLocks noChangeAspect="1"/>
          </p:cNvPicPr>
          <p:nvPr/>
        </p:nvPicPr>
        <p:blipFill>
          <a:blip r:embed="rId6"/>
          <a:stretch>
            <a:fillRect/>
          </a:stretch>
        </p:blipFill>
        <p:spPr>
          <a:xfrm>
            <a:off x="1113696" y="5417502"/>
            <a:ext cx="134549" cy="195707"/>
          </a:xfrm>
          <a:prstGeom prst="rect">
            <a:avLst/>
          </a:prstGeom>
        </p:spPr>
      </p:pic>
      <p:sp>
        <p:nvSpPr>
          <p:cNvPr id="48" name="TextBox 47"/>
          <p:cNvSpPr txBox="1"/>
          <p:nvPr/>
        </p:nvSpPr>
        <p:spPr>
          <a:xfrm>
            <a:off x="1288806" y="5427725"/>
            <a:ext cx="3072774" cy="194310"/>
          </a:xfrm>
          <a:prstGeom prst="rect">
            <a:avLst/>
          </a:prstGeom>
          <a:noFill/>
        </p:spPr>
        <p:txBody>
          <a:bodyPr wrap="none" lIns="0" rIns="0" tIns="0" bIns="0">
            <a:spAutoFit/>
          </a:bodyPr>
          <a:lstStyle/>
          <a:p>
            <a:r>
              <a:rPr sz="1150" b="0">
                <a:solidFill>
                  <a:srgbClr val="2E2E2E"/>
                </a:solidFill>
                <a:latin typeface="Calibri"/>
              </a:rPr>
              <a:t>BPS of CAGR faster than volume firming price/mix.</a:t>
            </a:r>
          </a:p>
        </p:txBody>
      </p:sp>
      <p:sp>
        <p:nvSpPr>
          <p:cNvPr id="49" name="TextBox 48"/>
          <p:cNvSpPr txBox="1"/>
          <p:nvPr/>
        </p:nvSpPr>
        <p:spPr>
          <a:xfrm>
            <a:off x="276225" y="5655563"/>
            <a:ext cx="1675333" cy="194310"/>
          </a:xfrm>
          <a:prstGeom prst="rect">
            <a:avLst/>
          </a:prstGeom>
          <a:noFill/>
        </p:spPr>
        <p:txBody>
          <a:bodyPr wrap="none" lIns="0" rIns="0" tIns="0" bIns="0">
            <a:spAutoFit/>
          </a:bodyPr>
          <a:lstStyle/>
          <a:p>
            <a:r>
              <a:rPr sz="1150" b="0">
                <a:solidFill>
                  <a:srgbClr val="2E2E2E"/>
                </a:solidFill>
                <a:latin typeface="Calibri"/>
              </a:rPr>
              <a:t>▪ The forecast decade adds</a:t>
            </a:r>
          </a:p>
        </p:txBody>
      </p:sp>
      <p:pic>
        <p:nvPicPr>
          <p:cNvPr id="50" name="Picture 49" descr="lock.png"/>
          <p:cNvPicPr>
            <a:picLocks noChangeAspect="1"/>
          </p:cNvPicPr>
          <p:nvPr/>
        </p:nvPicPr>
        <p:blipFill>
          <a:blip r:embed="rId6"/>
          <a:stretch>
            <a:fillRect/>
          </a:stretch>
        </p:blipFill>
        <p:spPr>
          <a:xfrm>
            <a:off x="1900712" y="5645340"/>
            <a:ext cx="134549" cy="195707"/>
          </a:xfrm>
          <a:prstGeom prst="rect">
            <a:avLst/>
          </a:prstGeom>
        </p:spPr>
      </p:pic>
      <p:sp>
        <p:nvSpPr>
          <p:cNvPr id="51" name="TextBox 50"/>
          <p:cNvSpPr txBox="1"/>
          <p:nvPr/>
        </p:nvSpPr>
        <p:spPr>
          <a:xfrm>
            <a:off x="2075821" y="5655563"/>
            <a:ext cx="2268946" cy="194310"/>
          </a:xfrm>
          <a:prstGeom prst="rect">
            <a:avLst/>
          </a:prstGeom>
          <a:noFill/>
        </p:spPr>
        <p:txBody>
          <a:bodyPr wrap="none" lIns="0" rIns="0" tIns="0" bIns="0">
            <a:spAutoFit/>
          </a:bodyPr>
          <a:lstStyle/>
          <a:p>
            <a:r>
              <a:rPr sz="1150" b="0">
                <a:solidFill>
                  <a:srgbClr val="2E2E2E"/>
                </a:solidFill>
                <a:latin typeface="Calibri"/>
              </a:rPr>
              <a:t>US$ Mn of incremental opportunity (</a:t>
            </a:r>
          </a:p>
        </p:txBody>
      </p:sp>
      <p:pic>
        <p:nvPicPr>
          <p:cNvPr id="52" name="Picture 51" descr="lock.png"/>
          <p:cNvPicPr>
            <a:picLocks noChangeAspect="1"/>
          </p:cNvPicPr>
          <p:nvPr/>
        </p:nvPicPr>
        <p:blipFill>
          <a:blip r:embed="rId6"/>
          <a:stretch>
            <a:fillRect/>
          </a:stretch>
        </p:blipFill>
        <p:spPr>
          <a:xfrm>
            <a:off x="4293922" y="5645340"/>
            <a:ext cx="134549" cy="195707"/>
          </a:xfrm>
          <a:prstGeom prst="rect">
            <a:avLst/>
          </a:prstGeom>
        </p:spPr>
      </p:pic>
      <p:sp>
        <p:nvSpPr>
          <p:cNvPr id="53" name="TextBox 52"/>
          <p:cNvSpPr txBox="1"/>
          <p:nvPr/>
        </p:nvSpPr>
        <p:spPr>
          <a:xfrm>
            <a:off x="4469031" y="5655563"/>
            <a:ext cx="2516547" cy="194310"/>
          </a:xfrm>
          <a:prstGeom prst="rect">
            <a:avLst/>
          </a:prstGeom>
          <a:noFill/>
        </p:spPr>
        <p:txBody>
          <a:bodyPr wrap="none" lIns="0" rIns="0" tIns="0" bIns="0">
            <a:spAutoFit/>
          </a:bodyPr>
          <a:lstStyle/>
          <a:p>
            <a:r>
              <a:rPr sz="1150" b="0">
                <a:solidFill>
                  <a:srgbClr val="2E2E2E"/>
                </a:solidFill>
                <a:latin typeface="Calibri"/>
              </a:rPr>
              <a:t>in the first five years) the market reaches</a:t>
            </a:r>
          </a:p>
        </p:txBody>
      </p:sp>
      <p:pic>
        <p:nvPicPr>
          <p:cNvPr id="54" name="Picture 53" descr="lock.png"/>
          <p:cNvPicPr>
            <a:picLocks noChangeAspect="1"/>
          </p:cNvPicPr>
          <p:nvPr/>
        </p:nvPicPr>
        <p:blipFill>
          <a:blip r:embed="rId6"/>
          <a:stretch>
            <a:fillRect/>
          </a:stretch>
        </p:blipFill>
        <p:spPr>
          <a:xfrm>
            <a:off x="6934732" y="5645340"/>
            <a:ext cx="134549" cy="195707"/>
          </a:xfrm>
          <a:prstGeom prst="rect">
            <a:avLst/>
          </a:prstGeom>
        </p:spPr>
      </p:pic>
      <p:sp>
        <p:nvSpPr>
          <p:cNvPr id="55" name="TextBox 54"/>
          <p:cNvSpPr txBox="1"/>
          <p:nvPr/>
        </p:nvSpPr>
        <p:spPr>
          <a:xfrm>
            <a:off x="7109841" y="5655563"/>
            <a:ext cx="1040358" cy="194310"/>
          </a:xfrm>
          <a:prstGeom prst="rect">
            <a:avLst/>
          </a:prstGeom>
          <a:noFill/>
        </p:spPr>
        <p:txBody>
          <a:bodyPr wrap="none" lIns="0" rIns="0" tIns="0" bIns="0">
            <a:spAutoFit/>
          </a:bodyPr>
          <a:lstStyle/>
          <a:p>
            <a:r>
              <a:rPr sz="1150" b="0">
                <a:solidFill>
                  <a:srgbClr val="2E2E2E"/>
                </a:solidFill>
                <a:latin typeface="Calibri"/>
              </a:rPr>
              <a:t>× its 2026 value.</a:t>
            </a:r>
          </a:p>
        </p:txBody>
      </p:sp>
      <p:sp>
        <p:nvSpPr>
          <p:cNvPr id="56"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8"/>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42971">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42971">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6"/>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7"/>
            <a:ext cx="3743325" cy="149374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5666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5666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39"/>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8"/>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2270455" cy="186689"/>
          </a:xfrm>
          <a:prstGeom prst="rect">
            <a:avLst/>
          </a:prstGeom>
          <a:noFill/>
        </p:spPr>
        <p:txBody>
          <a:bodyPr wrap="none" lIns="0" rIns="0" tIns="0" bIns="0">
            <a:spAutoFit/>
          </a:bodyPr>
          <a:lstStyle/>
          <a:p>
            <a:r>
              <a:rPr sz="1100" b="0">
                <a:solidFill>
                  <a:srgbClr val="2E2E2E"/>
                </a:solidFill>
                <a:latin typeface="Calibri"/>
              </a:rPr>
              <a:t>Canada posts the highest CAGR Index (</a:t>
            </a:r>
          </a:p>
        </p:txBody>
      </p:sp>
      <p:pic>
        <p:nvPicPr>
          <p:cNvPr id="35" name="Picture 34" descr="lock.png"/>
          <p:cNvPicPr>
            <a:picLocks noChangeAspect="1"/>
          </p:cNvPicPr>
          <p:nvPr/>
        </p:nvPicPr>
        <p:blipFill>
          <a:blip r:embed="rId6"/>
          <a:stretch>
            <a:fillRect/>
          </a:stretch>
        </p:blipFill>
        <p:spPr>
          <a:xfrm>
            <a:off x="2475681" y="6150795"/>
            <a:ext cx="128699" cy="187198"/>
          </a:xfrm>
          <a:prstGeom prst="rect">
            <a:avLst/>
          </a:prstGeom>
        </p:spPr>
      </p:pic>
      <p:sp>
        <p:nvSpPr>
          <p:cNvPr id="36" name="TextBox 35"/>
          <p:cNvSpPr txBox="1"/>
          <p:nvPr/>
        </p:nvSpPr>
        <p:spPr>
          <a:xfrm>
            <a:off x="2643177"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37" name="Picture 36" descr="lock.png"/>
          <p:cNvPicPr>
            <a:picLocks noChangeAspect="1"/>
          </p:cNvPicPr>
          <p:nvPr/>
        </p:nvPicPr>
        <p:blipFill>
          <a:blip r:embed="rId6"/>
          <a:stretch>
            <a:fillRect/>
          </a:stretch>
        </p:blipFill>
        <p:spPr>
          <a:xfrm>
            <a:off x="3381208" y="6150795"/>
            <a:ext cx="128699" cy="187198"/>
          </a:xfrm>
          <a:prstGeom prst="rect">
            <a:avLst/>
          </a:prstGeom>
        </p:spPr>
      </p:pic>
      <p:sp>
        <p:nvSpPr>
          <p:cNvPr id="38" name="TextBox 37"/>
          <p:cNvSpPr txBox="1"/>
          <p:nvPr/>
        </p:nvSpPr>
        <p:spPr>
          <a:xfrm>
            <a:off x="3548704" y="6160574"/>
            <a:ext cx="5105400" cy="186689"/>
          </a:xfrm>
          <a:prstGeom prst="rect">
            <a:avLst/>
          </a:prstGeom>
          <a:noFill/>
        </p:spPr>
        <p:txBody>
          <a:bodyPr wrap="none" lIns="0" rIns="0" tIns="0" bIns="0">
            <a:spAutoFit/>
          </a:bodyPr>
          <a:lstStyle/>
          <a:p>
            <a:r>
              <a:rPr sz="1100" b="0">
                <a:solidFill>
                  <a:srgbClr val="2E2E2E"/>
                </a:solidFill>
                <a:latin typeface="Calibri"/>
              </a:rPr>
              <a:t>against the North America benchmark, while U.S. offers the largest absolute opportunity</a:t>
            </a:r>
          </a:p>
        </p:txBody>
      </p:sp>
      <p:pic>
        <p:nvPicPr>
          <p:cNvPr id="39" name="Picture 38" descr="lock.png"/>
          <p:cNvPicPr>
            <a:picLocks noChangeAspect="1"/>
          </p:cNvPicPr>
          <p:nvPr/>
        </p:nvPicPr>
        <p:blipFill>
          <a:blip r:embed="rId6"/>
          <a:stretch>
            <a:fillRect/>
          </a:stretch>
        </p:blipFill>
        <p:spPr>
          <a:xfrm>
            <a:off x="8602156" y="6150795"/>
            <a:ext cx="128699" cy="187198"/>
          </a:xfrm>
          <a:prstGeom prst="rect">
            <a:avLst/>
          </a:prstGeom>
        </p:spPr>
      </p:pic>
      <p:sp>
        <p:nvSpPr>
          <p:cNvPr id="40" name="TextBox 39"/>
          <p:cNvSpPr txBox="1"/>
          <p:nvPr/>
        </p:nvSpPr>
        <p:spPr>
          <a:xfrm>
            <a:off x="8769652" y="6160574"/>
            <a:ext cx="1827907" cy="186689"/>
          </a:xfrm>
          <a:prstGeom prst="rect">
            <a:avLst/>
          </a:prstGeom>
          <a:noFill/>
        </p:spPr>
        <p:txBody>
          <a:bodyPr wrap="none" lIns="0" rIns="0" tIns="0" bIns="0">
            <a:spAutoFit/>
          </a:bodyPr>
          <a:lstStyle/>
          <a:p>
            <a:r>
              <a:rPr sz="1100" b="0">
                <a:solidFill>
                  <a:srgbClr val="2E2E2E"/>
                </a:solidFill>
                <a:latin typeface="Calibri"/>
              </a:rPr>
              <a:t>US$ Mn of incremental market</a:t>
            </a:r>
          </a:p>
        </p:txBody>
      </p:sp>
      <p:sp>
        <p:nvSpPr>
          <p:cNvPr id="41" name="TextBox 40"/>
          <p:cNvSpPr txBox="1"/>
          <p:nvPr/>
        </p:nvSpPr>
        <p:spPr>
          <a:xfrm>
            <a:off x="257175" y="6328214"/>
            <a:ext cx="1528588" cy="186689"/>
          </a:xfrm>
          <a:prstGeom prst="rect">
            <a:avLst/>
          </a:prstGeom>
          <a:noFill/>
        </p:spPr>
        <p:txBody>
          <a:bodyPr wrap="none" lIns="0" rIns="0" tIns="0" bIns="0">
            <a:spAutoFit/>
          </a:bodyPr>
          <a:lstStyle/>
          <a:p>
            <a:r>
              <a:rPr sz="1100" b="0">
                <a:solidFill>
                  <a:srgbClr val="2E2E2E"/>
                </a:solidFill>
                <a:latin typeface="Calibri"/>
              </a:rPr>
              <a:t>between 2026 and 2036 (</a:t>
            </a:r>
          </a:p>
        </p:txBody>
      </p:sp>
      <p:pic>
        <p:nvPicPr>
          <p:cNvPr id="42" name="Picture 41" descr="lock.png"/>
          <p:cNvPicPr>
            <a:picLocks noChangeAspect="1"/>
          </p:cNvPicPr>
          <p:nvPr/>
        </p:nvPicPr>
        <p:blipFill>
          <a:blip r:embed="rId6"/>
          <a:stretch>
            <a:fillRect/>
          </a:stretch>
        </p:blipFill>
        <p:spPr>
          <a:xfrm>
            <a:off x="1733815" y="6318435"/>
            <a:ext cx="128699" cy="187198"/>
          </a:xfrm>
          <a:prstGeom prst="rect">
            <a:avLst/>
          </a:prstGeom>
        </p:spPr>
      </p:pic>
      <p:sp>
        <p:nvSpPr>
          <p:cNvPr id="43" name="TextBox 42"/>
          <p:cNvSpPr txBox="1"/>
          <p:nvPr/>
        </p:nvSpPr>
        <p:spPr>
          <a:xfrm>
            <a:off x="1901311" y="6328214"/>
            <a:ext cx="1973336" cy="186689"/>
          </a:xfrm>
          <a:prstGeom prst="rect">
            <a:avLst/>
          </a:prstGeom>
          <a:noFill/>
        </p:spPr>
        <p:txBody>
          <a:bodyPr wrap="none" lIns="0" rIns="0" tIns="0" bIns="0">
            <a:spAutoFit/>
          </a:bodyPr>
          <a:lstStyle/>
          <a:p>
            <a:r>
              <a:rPr sz="1100" b="0">
                <a:solidFill>
                  <a:srgbClr val="2E2E2E"/>
                </a:solidFill>
                <a:latin typeface="Calibri"/>
              </a:rPr>
              <a:t>of the North America increment).</a:t>
            </a:r>
          </a:p>
        </p:txBody>
      </p:sp>
      <p:sp>
        <p:nvSpPr>
          <p:cNvPr id="44"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142875" y="2781300"/>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8670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051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190875"/>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581525"/>
            <a:ext cx="39433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6672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053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991100"/>
            <a:ext cx="36766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581525"/>
            <a:ext cx="3819525"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6672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053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4991100"/>
            <a:ext cx="3552825"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581525"/>
            <a:ext cx="3819525"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6672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053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4991100"/>
            <a:ext cx="3552825"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'Sweet muffins'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2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536329" cy="194310"/>
          </a:xfrm>
          <a:prstGeom prst="rect">
            <a:avLst/>
          </a:prstGeom>
          <a:noFill/>
        </p:spPr>
        <p:txBody>
          <a:bodyPr wrap="none" lIns="0" rIns="0" tIns="0" bIns="0">
            <a:spAutoFit/>
          </a:bodyPr>
          <a:lstStyle/>
          <a:p>
            <a:r>
              <a:rPr sz="1150" b="0">
                <a:solidFill>
                  <a:srgbClr val="2E2E2E"/>
                </a:solidFill>
                <a:latin typeface="Calibri"/>
              </a:rPr>
              <a:t>▪ The North America Packaged Muffins market is valued at</a:t>
            </a:r>
          </a:p>
        </p:txBody>
      </p:sp>
      <p:pic>
        <p:nvPicPr>
          <p:cNvPr id="32" name="Picture 31" descr="lock.png"/>
          <p:cNvPicPr>
            <a:picLocks noChangeAspect="1"/>
          </p:cNvPicPr>
          <p:nvPr/>
        </p:nvPicPr>
        <p:blipFill>
          <a:blip r:embed="rId4"/>
          <a:stretch>
            <a:fillRect/>
          </a:stretch>
        </p:blipFill>
        <p:spPr>
          <a:xfrm>
            <a:off x="3761708" y="1389951"/>
            <a:ext cx="134549" cy="195707"/>
          </a:xfrm>
          <a:prstGeom prst="rect">
            <a:avLst/>
          </a:prstGeom>
        </p:spPr>
      </p:pic>
      <p:sp>
        <p:nvSpPr>
          <p:cNvPr id="33" name="TextBox 32"/>
          <p:cNvSpPr txBox="1"/>
          <p:nvPr/>
        </p:nvSpPr>
        <p:spPr>
          <a:xfrm>
            <a:off x="3936818" y="1400175"/>
            <a:ext cx="2440384" cy="194310"/>
          </a:xfrm>
          <a:prstGeom prst="rect">
            <a:avLst/>
          </a:prstGeom>
          <a:noFill/>
        </p:spPr>
        <p:txBody>
          <a:bodyPr wrap="none" lIns="0" rIns="0" tIns="0" bIns="0">
            <a:spAutoFit/>
          </a:bodyPr>
          <a:lstStyle/>
          <a:p>
            <a:r>
              <a:rPr sz="1150" b="0">
                <a:solidFill>
                  <a:srgbClr val="2E2E2E"/>
                </a:solidFill>
                <a:latin typeface="Calibri"/>
              </a:rPr>
              <a:t>US$ Mn in 2026 and is forecast to reach</a:t>
            </a:r>
          </a:p>
        </p:txBody>
      </p:sp>
      <p:pic>
        <p:nvPicPr>
          <p:cNvPr id="34" name="Picture 33" descr="lock.png"/>
          <p:cNvPicPr>
            <a:picLocks noChangeAspect="1"/>
          </p:cNvPicPr>
          <p:nvPr/>
        </p:nvPicPr>
        <p:blipFill>
          <a:blip r:embed="rId4"/>
          <a:stretch>
            <a:fillRect/>
          </a:stretch>
        </p:blipFill>
        <p:spPr>
          <a:xfrm>
            <a:off x="6326356" y="1389951"/>
            <a:ext cx="134549" cy="195707"/>
          </a:xfrm>
          <a:prstGeom prst="rect">
            <a:avLst/>
          </a:prstGeom>
        </p:spPr>
      </p:pic>
      <p:sp>
        <p:nvSpPr>
          <p:cNvPr id="35" name="TextBox 34"/>
          <p:cNvSpPr txBox="1"/>
          <p:nvPr/>
        </p:nvSpPr>
        <p:spPr>
          <a:xfrm>
            <a:off x="6501465" y="1400175"/>
            <a:ext cx="1088566" cy="194310"/>
          </a:xfrm>
          <a:prstGeom prst="rect">
            <a:avLst/>
          </a:prstGeom>
          <a:noFill/>
        </p:spPr>
        <p:txBody>
          <a:bodyPr wrap="none" lIns="0" rIns="0" tIns="0" bIns="0">
            <a:spAutoFit/>
          </a:bodyPr>
          <a:lstStyle/>
          <a:p>
            <a:r>
              <a:rPr sz="1150" b="0">
                <a:solidFill>
                  <a:srgbClr val="2E2E2E"/>
                </a:solidFill>
                <a:latin typeface="Calibri"/>
              </a:rPr>
              <a:t>US$ Mn by 2036.</a:t>
            </a:r>
          </a:p>
        </p:txBody>
      </p:sp>
      <p:sp>
        <p:nvSpPr>
          <p:cNvPr id="36" name="TextBox 35"/>
          <p:cNvSpPr txBox="1"/>
          <p:nvPr/>
        </p:nvSpPr>
        <p:spPr>
          <a:xfrm>
            <a:off x="276225" y="1628013"/>
            <a:ext cx="988156" cy="194310"/>
          </a:xfrm>
          <a:prstGeom prst="rect">
            <a:avLst/>
          </a:prstGeom>
          <a:noFill/>
        </p:spPr>
        <p:txBody>
          <a:bodyPr wrap="none" lIns="0" rIns="0" tIns="0" bIns="0">
            <a:spAutoFit/>
          </a:bodyPr>
          <a:lstStyle/>
          <a:p>
            <a:r>
              <a:rPr sz="1150" b="0">
                <a:solidFill>
                  <a:srgbClr val="2E2E2E"/>
                </a:solidFill>
                <a:latin typeface="Calibri"/>
              </a:rPr>
              <a:t>▪ That implies a</a:t>
            </a:r>
          </a:p>
        </p:txBody>
      </p:sp>
      <p:pic>
        <p:nvPicPr>
          <p:cNvPr id="37" name="Picture 36" descr="lock.png"/>
          <p:cNvPicPr>
            <a:picLocks noChangeAspect="1"/>
          </p:cNvPicPr>
          <p:nvPr/>
        </p:nvPicPr>
        <p:blipFill>
          <a:blip r:embed="rId4"/>
          <a:stretch>
            <a:fillRect/>
          </a:stretch>
        </p:blipFill>
        <p:spPr>
          <a:xfrm>
            <a:off x="1213535" y="1617789"/>
            <a:ext cx="134549" cy="195707"/>
          </a:xfrm>
          <a:prstGeom prst="rect">
            <a:avLst/>
          </a:prstGeom>
        </p:spPr>
      </p:pic>
      <p:sp>
        <p:nvSpPr>
          <p:cNvPr id="38" name="TextBox 37"/>
          <p:cNvSpPr txBox="1"/>
          <p:nvPr/>
        </p:nvSpPr>
        <p:spPr>
          <a:xfrm>
            <a:off x="1388644" y="1628013"/>
            <a:ext cx="2163955" cy="194310"/>
          </a:xfrm>
          <a:prstGeom prst="rect">
            <a:avLst/>
          </a:prstGeom>
          <a:noFill/>
        </p:spPr>
        <p:txBody>
          <a:bodyPr wrap="none" lIns="0" rIns="0" tIns="0" bIns="0">
            <a:spAutoFit/>
          </a:bodyPr>
          <a:lstStyle/>
          <a:p>
            <a:r>
              <a:rPr sz="1150" b="0">
                <a:solidFill>
                  <a:srgbClr val="2E2E2E"/>
                </a:solidFill>
                <a:latin typeface="Calibri"/>
              </a:rPr>
              <a:t>forecast CAGR (2026–2036), versus</a:t>
            </a:r>
          </a:p>
        </p:txBody>
      </p:sp>
      <p:pic>
        <p:nvPicPr>
          <p:cNvPr id="39" name="Picture 38" descr="lock.png"/>
          <p:cNvPicPr>
            <a:picLocks noChangeAspect="1"/>
          </p:cNvPicPr>
          <p:nvPr/>
        </p:nvPicPr>
        <p:blipFill>
          <a:blip r:embed="rId4"/>
          <a:stretch>
            <a:fillRect/>
          </a:stretch>
        </p:blipFill>
        <p:spPr>
          <a:xfrm>
            <a:off x="3501754" y="1617789"/>
            <a:ext cx="134549" cy="195707"/>
          </a:xfrm>
          <a:prstGeom prst="rect">
            <a:avLst/>
          </a:prstGeom>
        </p:spPr>
      </p:pic>
      <p:sp>
        <p:nvSpPr>
          <p:cNvPr id="40" name="TextBox 39"/>
          <p:cNvSpPr txBox="1"/>
          <p:nvPr/>
        </p:nvSpPr>
        <p:spPr>
          <a:xfrm>
            <a:off x="3676863" y="1628013"/>
            <a:ext cx="1078867" cy="194310"/>
          </a:xfrm>
          <a:prstGeom prst="rect">
            <a:avLst/>
          </a:prstGeom>
          <a:noFill/>
        </p:spPr>
        <p:txBody>
          <a:bodyPr wrap="none" lIns="0" rIns="0" tIns="0" bIns="0">
            <a:spAutoFit/>
          </a:bodyPr>
          <a:lstStyle/>
          <a:p>
            <a:r>
              <a:rPr sz="1150" b="0">
                <a:solidFill>
                  <a:srgbClr val="2E2E2E"/>
                </a:solidFill>
                <a:latin typeface="Calibri"/>
              </a:rPr>
              <a:t>over 2021–2025.</a:t>
            </a:r>
          </a:p>
        </p:txBody>
      </p:sp>
      <p:sp>
        <p:nvSpPr>
          <p:cNvPr id="41" name="TextBox 40"/>
          <p:cNvSpPr txBox="1"/>
          <p:nvPr/>
        </p:nvSpPr>
        <p:spPr>
          <a:xfrm>
            <a:off x="276225" y="1855851"/>
            <a:ext cx="1070024" cy="194310"/>
          </a:xfrm>
          <a:prstGeom prst="rect">
            <a:avLst/>
          </a:prstGeom>
          <a:noFill/>
        </p:spPr>
        <p:txBody>
          <a:bodyPr wrap="none" lIns="0" rIns="0" tIns="0" bIns="0">
            <a:spAutoFit/>
          </a:bodyPr>
          <a:lstStyle/>
          <a:p>
            <a:r>
              <a:rPr sz="1150" b="0">
                <a:solidFill>
                  <a:srgbClr val="2E2E2E"/>
                </a:solidFill>
                <a:latin typeface="Calibri"/>
              </a:rPr>
              <a:t>▪ An incremental</a:t>
            </a:r>
          </a:p>
        </p:txBody>
      </p:sp>
      <p:pic>
        <p:nvPicPr>
          <p:cNvPr id="42" name="Picture 41" descr="lock.png"/>
          <p:cNvPicPr>
            <a:picLocks noChangeAspect="1"/>
          </p:cNvPicPr>
          <p:nvPr/>
        </p:nvPicPr>
        <p:blipFill>
          <a:blip r:embed="rId4"/>
          <a:stretch>
            <a:fillRect/>
          </a:stretch>
        </p:blipFill>
        <p:spPr>
          <a:xfrm>
            <a:off x="1295403" y="1845627"/>
            <a:ext cx="134549" cy="195707"/>
          </a:xfrm>
          <a:prstGeom prst="rect">
            <a:avLst/>
          </a:prstGeom>
        </p:spPr>
      </p:pic>
      <p:sp>
        <p:nvSpPr>
          <p:cNvPr id="43" name="TextBox 42"/>
          <p:cNvSpPr txBox="1"/>
          <p:nvPr/>
        </p:nvSpPr>
        <p:spPr>
          <a:xfrm>
            <a:off x="1470512" y="1855851"/>
            <a:ext cx="2984934" cy="194310"/>
          </a:xfrm>
          <a:prstGeom prst="rect">
            <a:avLst/>
          </a:prstGeom>
          <a:noFill/>
        </p:spPr>
        <p:txBody>
          <a:bodyPr wrap="none" lIns="0" rIns="0" tIns="0" bIns="0">
            <a:spAutoFit/>
          </a:bodyPr>
          <a:lstStyle/>
          <a:p>
            <a:r>
              <a:rPr sz="1150" b="0">
                <a:solidFill>
                  <a:srgbClr val="2E2E2E"/>
                </a:solidFill>
                <a:latin typeface="Calibri"/>
              </a:rPr>
              <a:t>US$ Mn of demand is created over the forecast a</a:t>
            </a:r>
          </a:p>
        </p:txBody>
      </p:sp>
      <p:pic>
        <p:nvPicPr>
          <p:cNvPr id="44" name="Picture 43" descr="lock.png"/>
          <p:cNvPicPr>
            <a:picLocks noChangeAspect="1"/>
          </p:cNvPicPr>
          <p:nvPr/>
        </p:nvPicPr>
        <p:blipFill>
          <a:blip r:embed="rId4"/>
          <a:stretch>
            <a:fillRect/>
          </a:stretch>
        </p:blipFill>
        <p:spPr>
          <a:xfrm>
            <a:off x="4404600" y="1845627"/>
            <a:ext cx="134549" cy="195707"/>
          </a:xfrm>
          <a:prstGeom prst="rect">
            <a:avLst/>
          </a:prstGeom>
        </p:spPr>
      </p:pic>
      <p:sp>
        <p:nvSpPr>
          <p:cNvPr id="45" name="TextBox 44"/>
          <p:cNvSpPr txBox="1"/>
          <p:nvPr/>
        </p:nvSpPr>
        <p:spPr>
          <a:xfrm>
            <a:off x="4579710" y="1855851"/>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6" name="TextBox 45"/>
          <p:cNvSpPr txBox="1"/>
          <p:nvPr/>
        </p:nvSpPr>
        <p:spPr>
          <a:xfrm>
            <a:off x="276225" y="3200400"/>
            <a:ext cx="5146302" cy="194310"/>
          </a:xfrm>
          <a:prstGeom prst="rect">
            <a:avLst/>
          </a:prstGeom>
          <a:noFill/>
        </p:spPr>
        <p:txBody>
          <a:bodyPr wrap="none" lIns="0" rIns="0" tIns="0" bIns="0">
            <a:spAutoFit/>
          </a:bodyPr>
          <a:lstStyle/>
          <a:p>
            <a:r>
              <a:rPr sz="1150" b="0">
                <a:solidFill>
                  <a:srgbClr val="2E2E2E"/>
                </a:solidFill>
                <a:latin typeface="Calibri"/>
              </a:rPr>
              <a:t>▪ The market is consolidated: the leading product type category 'Sweet muffins' holds</a:t>
            </a:r>
          </a:p>
        </p:txBody>
      </p:sp>
      <p:pic>
        <p:nvPicPr>
          <p:cNvPr id="47" name="Picture 46" descr="lock.png"/>
          <p:cNvPicPr>
            <a:picLocks noChangeAspect="1"/>
          </p:cNvPicPr>
          <p:nvPr/>
        </p:nvPicPr>
        <p:blipFill>
          <a:blip r:embed="rId4"/>
          <a:stretch>
            <a:fillRect/>
          </a:stretch>
        </p:blipFill>
        <p:spPr>
          <a:xfrm>
            <a:off x="5371681" y="3190176"/>
            <a:ext cx="134549" cy="195707"/>
          </a:xfrm>
          <a:prstGeom prst="rect">
            <a:avLst/>
          </a:prstGeom>
        </p:spPr>
      </p:pic>
      <p:sp>
        <p:nvSpPr>
          <p:cNvPr id="48" name="TextBox 47"/>
          <p:cNvSpPr txBox="1"/>
          <p:nvPr/>
        </p:nvSpPr>
        <p:spPr>
          <a:xfrm>
            <a:off x="5546791" y="32004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9" name="TextBox 48"/>
          <p:cNvSpPr txBox="1"/>
          <p:nvPr/>
        </p:nvSpPr>
        <p:spPr>
          <a:xfrm>
            <a:off x="276225" y="3428237"/>
            <a:ext cx="5104085" cy="194310"/>
          </a:xfrm>
          <a:prstGeom prst="rect">
            <a:avLst/>
          </a:prstGeom>
          <a:noFill/>
        </p:spPr>
        <p:txBody>
          <a:bodyPr wrap="none" lIns="0" rIns="0" tIns="0" bIns="0">
            <a:spAutoFit/>
          </a:bodyPr>
          <a:lstStyle/>
          <a:p>
            <a:r>
              <a:rPr sz="1150" b="0">
                <a:solidFill>
                  <a:srgbClr val="2E2E2E"/>
                </a:solidFill>
                <a:latin typeface="Calibri"/>
              </a:rPr>
              <a:t>▪ Demand spans 2 countries and 21 segmentation lenses (2 product type categories).</a:t>
            </a:r>
          </a:p>
        </p:txBody>
      </p:sp>
      <p:sp>
        <p:nvSpPr>
          <p:cNvPr id="50" name="TextBox 49"/>
          <p:cNvSpPr txBox="1"/>
          <p:nvPr/>
        </p:nvSpPr>
        <p:spPr>
          <a:xfrm>
            <a:off x="276225" y="3656075"/>
            <a:ext cx="2288914" cy="194310"/>
          </a:xfrm>
          <a:prstGeom prst="rect">
            <a:avLst/>
          </a:prstGeom>
          <a:noFill/>
        </p:spPr>
        <p:txBody>
          <a:bodyPr wrap="none" lIns="0" rIns="0" tIns="0" bIns="0">
            <a:spAutoFit/>
          </a:bodyPr>
          <a:lstStyle/>
          <a:p>
            <a:r>
              <a:rPr sz="1150" b="0">
                <a:solidFill>
                  <a:srgbClr val="2E2E2E"/>
                </a:solidFill>
                <a:latin typeface="Calibri"/>
              </a:rPr>
              <a:t>▪ U.S. is the largest country market at</a:t>
            </a:r>
          </a:p>
        </p:txBody>
      </p:sp>
      <p:pic>
        <p:nvPicPr>
          <p:cNvPr id="51" name="Picture 50" descr="lock.png"/>
          <p:cNvPicPr>
            <a:picLocks noChangeAspect="1"/>
          </p:cNvPicPr>
          <p:nvPr/>
        </p:nvPicPr>
        <p:blipFill>
          <a:blip r:embed="rId4"/>
          <a:stretch>
            <a:fillRect/>
          </a:stretch>
        </p:blipFill>
        <p:spPr>
          <a:xfrm>
            <a:off x="2514293" y="3645852"/>
            <a:ext cx="134549" cy="195707"/>
          </a:xfrm>
          <a:prstGeom prst="rect">
            <a:avLst/>
          </a:prstGeom>
        </p:spPr>
      </p:pic>
      <p:sp>
        <p:nvSpPr>
          <p:cNvPr id="52" name="TextBox 51"/>
          <p:cNvSpPr txBox="1"/>
          <p:nvPr/>
        </p:nvSpPr>
        <p:spPr>
          <a:xfrm>
            <a:off x="2689402" y="36560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3" name="TextBox 52"/>
          <p:cNvSpPr txBox="1"/>
          <p:nvPr/>
        </p:nvSpPr>
        <p:spPr>
          <a:xfrm>
            <a:off x="276225" y="5000625"/>
            <a:ext cx="2520540" cy="194310"/>
          </a:xfrm>
          <a:prstGeom prst="rect">
            <a:avLst/>
          </a:prstGeom>
          <a:noFill/>
        </p:spPr>
        <p:txBody>
          <a:bodyPr wrap="none" lIns="0" rIns="0" tIns="0" bIns="0">
            <a:spAutoFit/>
          </a:bodyPr>
          <a:lstStyle/>
          <a:p>
            <a:r>
              <a:rPr sz="1150" b="0">
                <a:solidFill>
                  <a:srgbClr val="2E2E2E"/>
                </a:solidFill>
                <a:latin typeface="Calibri"/>
              </a:rPr>
              <a:t>▪ Accelerating uptake of 'Sweet muffins' (</a:t>
            </a:r>
          </a:p>
        </p:txBody>
      </p:sp>
      <p:pic>
        <p:nvPicPr>
          <p:cNvPr id="54" name="Picture 53" descr="lock.png"/>
          <p:cNvPicPr>
            <a:picLocks noChangeAspect="1"/>
          </p:cNvPicPr>
          <p:nvPr/>
        </p:nvPicPr>
        <p:blipFill>
          <a:blip r:embed="rId4"/>
          <a:stretch>
            <a:fillRect/>
          </a:stretch>
        </p:blipFill>
        <p:spPr>
          <a:xfrm>
            <a:off x="2745919" y="4990401"/>
            <a:ext cx="134549" cy="195707"/>
          </a:xfrm>
          <a:prstGeom prst="rect">
            <a:avLst/>
          </a:prstGeom>
        </p:spPr>
      </p:pic>
      <p:sp>
        <p:nvSpPr>
          <p:cNvPr id="55" name="TextBox 54"/>
          <p:cNvSpPr txBox="1"/>
          <p:nvPr/>
        </p:nvSpPr>
        <p:spPr>
          <a:xfrm>
            <a:off x="2921028" y="500062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6" name="TextBox 55"/>
          <p:cNvSpPr txBox="1"/>
          <p:nvPr/>
        </p:nvSpPr>
        <p:spPr>
          <a:xfrm>
            <a:off x="276225" y="5228463"/>
            <a:ext cx="2146510" cy="194310"/>
          </a:xfrm>
          <a:prstGeom prst="rect">
            <a:avLst/>
          </a:prstGeom>
          <a:noFill/>
        </p:spPr>
        <p:txBody>
          <a:bodyPr wrap="none" lIns="0" rIns="0" tIns="0" bIns="0">
            <a:spAutoFit/>
          </a:bodyPr>
          <a:lstStyle/>
          <a:p>
            <a:r>
              <a:rPr sz="1150" b="0">
                <a:solidFill>
                  <a:srgbClr val="2E2E2E"/>
                </a:solidFill>
                <a:latin typeface="Calibri"/>
              </a:rPr>
              <a:t>▪ Fast-growing demand in Canada (</a:t>
            </a:r>
          </a:p>
        </p:txBody>
      </p:sp>
      <p:pic>
        <p:nvPicPr>
          <p:cNvPr id="57" name="Picture 56" descr="lock.png"/>
          <p:cNvPicPr>
            <a:picLocks noChangeAspect="1"/>
          </p:cNvPicPr>
          <p:nvPr/>
        </p:nvPicPr>
        <p:blipFill>
          <a:blip r:embed="rId4"/>
          <a:stretch>
            <a:fillRect/>
          </a:stretch>
        </p:blipFill>
        <p:spPr>
          <a:xfrm>
            <a:off x="2371889" y="5218239"/>
            <a:ext cx="134549" cy="195707"/>
          </a:xfrm>
          <a:prstGeom prst="rect">
            <a:avLst/>
          </a:prstGeom>
        </p:spPr>
      </p:pic>
      <p:sp>
        <p:nvSpPr>
          <p:cNvPr id="58" name="TextBox 57"/>
          <p:cNvSpPr txBox="1"/>
          <p:nvPr/>
        </p:nvSpPr>
        <p:spPr>
          <a:xfrm>
            <a:off x="2546998" y="522846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9" name="TextBox 58"/>
          <p:cNvSpPr txBox="1"/>
          <p:nvPr/>
        </p:nvSpPr>
        <p:spPr>
          <a:xfrm>
            <a:off x="276225" y="5456300"/>
            <a:ext cx="3497218" cy="194310"/>
          </a:xfrm>
          <a:prstGeom prst="rect">
            <a:avLst/>
          </a:prstGeom>
          <a:noFill/>
        </p:spPr>
        <p:txBody>
          <a:bodyPr wrap="none" lIns="0" rIns="0" tIns="0" bIns="0">
            <a:spAutoFit/>
          </a:bodyPr>
          <a:lstStyle/>
          <a:p>
            <a:r>
              <a:rPr sz="1150" b="0">
                <a:solidFill>
                  <a:srgbClr val="2E2E2E"/>
                </a:solidFill>
                <a:latin typeface="Calibri"/>
              </a:rPr>
              <a:t>▪ Momentum in Foodservice and institutional within sales</a:t>
            </a:r>
          </a:p>
        </p:txBody>
      </p:sp>
      <p:sp>
        <p:nvSpPr>
          <p:cNvPr id="60" name="TextBox 59"/>
          <p:cNvSpPr txBox="1"/>
          <p:nvPr/>
        </p:nvSpPr>
        <p:spPr>
          <a:xfrm>
            <a:off x="276225" y="5631560"/>
            <a:ext cx="621890" cy="194310"/>
          </a:xfrm>
          <a:prstGeom prst="rect">
            <a:avLst/>
          </a:prstGeom>
          <a:noFill/>
        </p:spPr>
        <p:txBody>
          <a:bodyPr wrap="none" lIns="0" rIns="0" tIns="0" bIns="0">
            <a:spAutoFit/>
          </a:bodyPr>
          <a:lstStyle/>
          <a:p>
            <a:r>
              <a:rPr sz="1150" b="0">
                <a:solidFill>
                  <a:srgbClr val="2E2E2E"/>
                </a:solidFill>
                <a:latin typeface="Calibri"/>
              </a:rPr>
              <a:t>channel (</a:t>
            </a:r>
          </a:p>
        </p:txBody>
      </p:sp>
      <p:pic>
        <p:nvPicPr>
          <p:cNvPr id="61" name="Picture 60" descr="lock.png"/>
          <p:cNvPicPr>
            <a:picLocks noChangeAspect="1"/>
          </p:cNvPicPr>
          <p:nvPr/>
        </p:nvPicPr>
        <p:blipFill>
          <a:blip r:embed="rId4"/>
          <a:stretch>
            <a:fillRect/>
          </a:stretch>
        </p:blipFill>
        <p:spPr>
          <a:xfrm>
            <a:off x="847269" y="5621337"/>
            <a:ext cx="134549" cy="195707"/>
          </a:xfrm>
          <a:prstGeom prst="rect">
            <a:avLst/>
          </a:prstGeom>
        </p:spPr>
      </p:pic>
      <p:sp>
        <p:nvSpPr>
          <p:cNvPr id="62" name="TextBox 61"/>
          <p:cNvSpPr txBox="1"/>
          <p:nvPr/>
        </p:nvSpPr>
        <p:spPr>
          <a:xfrm>
            <a:off x="1022378" y="56315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3" name="TextBox 62"/>
          <p:cNvSpPr txBox="1"/>
          <p:nvPr/>
        </p:nvSpPr>
        <p:spPr>
          <a:xfrm>
            <a:off x="4371975" y="5000625"/>
            <a:ext cx="2577306" cy="194310"/>
          </a:xfrm>
          <a:prstGeom prst="rect">
            <a:avLst/>
          </a:prstGeom>
          <a:noFill/>
        </p:spPr>
        <p:txBody>
          <a:bodyPr wrap="none" lIns="0" rIns="0" tIns="0" bIns="0">
            <a:spAutoFit/>
          </a:bodyPr>
          <a:lstStyle/>
          <a:p>
            <a:r>
              <a:rPr sz="1150" b="0">
                <a:solidFill>
                  <a:srgbClr val="2E2E2E"/>
                </a:solidFill>
                <a:latin typeface="Calibri"/>
              </a:rPr>
              <a:t>▪ Slower momentum in 'Savoury muffins' (</a:t>
            </a:r>
          </a:p>
        </p:txBody>
      </p:sp>
      <p:pic>
        <p:nvPicPr>
          <p:cNvPr id="64" name="Picture 63" descr="lock.png"/>
          <p:cNvPicPr>
            <a:picLocks noChangeAspect="1"/>
          </p:cNvPicPr>
          <p:nvPr/>
        </p:nvPicPr>
        <p:blipFill>
          <a:blip r:embed="rId4"/>
          <a:stretch>
            <a:fillRect/>
          </a:stretch>
        </p:blipFill>
        <p:spPr>
          <a:xfrm>
            <a:off x="6898435" y="4990401"/>
            <a:ext cx="134549" cy="195707"/>
          </a:xfrm>
          <a:prstGeom prst="rect">
            <a:avLst/>
          </a:prstGeom>
        </p:spPr>
      </p:pic>
      <p:sp>
        <p:nvSpPr>
          <p:cNvPr id="65" name="TextBox 64"/>
          <p:cNvSpPr txBox="1"/>
          <p:nvPr/>
        </p:nvSpPr>
        <p:spPr>
          <a:xfrm>
            <a:off x="7073544" y="50006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6" name="TextBox 65"/>
          <p:cNvSpPr txBox="1"/>
          <p:nvPr/>
        </p:nvSpPr>
        <p:spPr>
          <a:xfrm>
            <a:off x="4371975" y="52284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7" name="TextBox 66"/>
          <p:cNvSpPr txBox="1"/>
          <p:nvPr/>
        </p:nvSpPr>
        <p:spPr>
          <a:xfrm>
            <a:off x="4371975" y="54037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8" name="Picture 67" descr="lock.png"/>
          <p:cNvPicPr>
            <a:picLocks noChangeAspect="1"/>
          </p:cNvPicPr>
          <p:nvPr/>
        </p:nvPicPr>
        <p:blipFill>
          <a:blip r:embed="rId4"/>
          <a:stretch>
            <a:fillRect/>
          </a:stretch>
        </p:blipFill>
        <p:spPr>
          <a:xfrm>
            <a:off x="4883401" y="5393499"/>
            <a:ext cx="134549" cy="195707"/>
          </a:xfrm>
          <a:prstGeom prst="rect">
            <a:avLst/>
          </a:prstGeom>
        </p:spPr>
      </p:pic>
      <p:sp>
        <p:nvSpPr>
          <p:cNvPr id="69" name="TextBox 68"/>
          <p:cNvSpPr txBox="1"/>
          <p:nvPr/>
        </p:nvSpPr>
        <p:spPr>
          <a:xfrm>
            <a:off x="5058510" y="54037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4371975" y="5631560"/>
            <a:ext cx="3530054" cy="194310"/>
          </a:xfrm>
          <a:prstGeom prst="rect">
            <a:avLst/>
          </a:prstGeom>
          <a:noFill/>
        </p:spPr>
        <p:txBody>
          <a:bodyPr wrap="none" lIns="0" rIns="0" tIns="0" bIns="0">
            <a:spAutoFit/>
          </a:bodyPr>
          <a:lstStyle/>
          <a:p>
            <a:r>
              <a:rPr sz="1150" b="0">
                <a:solidFill>
                  <a:srgbClr val="2E2E2E"/>
                </a:solidFill>
                <a:latin typeface="Calibri"/>
              </a:rPr>
              <a:t>▪ Value concentration in 'Sweet muffins' raises barriers for</a:t>
            </a:r>
          </a:p>
        </p:txBody>
      </p:sp>
      <p:sp>
        <p:nvSpPr>
          <p:cNvPr id="71" name="TextBox 70"/>
          <p:cNvSpPr txBox="1"/>
          <p:nvPr/>
        </p:nvSpPr>
        <p:spPr>
          <a:xfrm>
            <a:off x="4371975" y="5806820"/>
            <a:ext cx="902295" cy="194310"/>
          </a:xfrm>
          <a:prstGeom prst="rect">
            <a:avLst/>
          </a:prstGeom>
          <a:noFill/>
        </p:spPr>
        <p:txBody>
          <a:bodyPr wrap="none" lIns="0" rIns="0" tIns="0" bIns="0">
            <a:spAutoFit/>
          </a:bodyPr>
          <a:lstStyle/>
          <a:p>
            <a:r>
              <a:rPr sz="1150" b="0">
                <a:solidFill>
                  <a:srgbClr val="2E2E2E"/>
                </a:solidFill>
                <a:latin typeface="Calibri"/>
              </a:rPr>
              <a:t>new entrants.</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'Sweet muffins'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1856829" cy="186689"/>
          </a:xfrm>
          <a:prstGeom prst="rect">
            <a:avLst/>
          </a:prstGeom>
          <a:noFill/>
        </p:spPr>
        <p:txBody>
          <a:bodyPr wrap="none" lIns="0" rIns="0" tIns="0" bIns="0">
            <a:spAutoFit/>
          </a:bodyPr>
          <a:lstStyle/>
          <a:p>
            <a:r>
              <a:rPr sz="1100" b="0">
                <a:solidFill>
                  <a:srgbClr val="2E2E2E"/>
                </a:solidFill>
                <a:latin typeface="Calibri"/>
              </a:rPr>
              <a:t>▪ Lead category 'Sweet muffins'</a:t>
            </a:r>
          </a:p>
        </p:txBody>
      </p:sp>
      <p:pic>
        <p:nvPicPr>
          <p:cNvPr id="41" name="Picture 40" descr="lock.png"/>
          <p:cNvPicPr>
            <a:picLocks noChangeAspect="1"/>
          </p:cNvPicPr>
          <p:nvPr/>
        </p:nvPicPr>
        <p:blipFill>
          <a:blip r:embed="rId5"/>
          <a:stretch>
            <a:fillRect/>
          </a:stretch>
        </p:blipFill>
        <p:spPr>
          <a:xfrm>
            <a:off x="8110430" y="1826260"/>
            <a:ext cx="128699" cy="187198"/>
          </a:xfrm>
          <a:prstGeom prst="rect">
            <a:avLst/>
          </a:prstGeom>
        </p:spPr>
      </p:pic>
      <p:sp>
        <p:nvSpPr>
          <p:cNvPr id="42" name="TextBox 41"/>
          <p:cNvSpPr txBox="1"/>
          <p:nvPr/>
        </p:nvSpPr>
        <p:spPr>
          <a:xfrm>
            <a:off x="8277926"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152053" cy="186689"/>
          </a:xfrm>
          <a:prstGeom prst="rect">
            <a:avLst/>
          </a:prstGeom>
          <a:noFill/>
        </p:spPr>
        <p:txBody>
          <a:bodyPr wrap="none" lIns="0" rIns="0" tIns="0" bIns="0">
            <a:spAutoFit/>
          </a:bodyPr>
          <a:lstStyle/>
          <a:p>
            <a:r>
              <a:rPr sz="1100" b="0">
                <a:solidFill>
                  <a:srgbClr val="2E2E2E"/>
                </a:solidFill>
                <a:latin typeface="Calibri"/>
              </a:rPr>
              <a:t>▪ Lead country U.S.</a:t>
            </a:r>
          </a:p>
        </p:txBody>
      </p:sp>
      <p:pic>
        <p:nvPicPr>
          <p:cNvPr id="44" name="Picture 43" descr="lock.png"/>
          <p:cNvPicPr>
            <a:picLocks noChangeAspect="1"/>
          </p:cNvPicPr>
          <p:nvPr/>
        </p:nvPicPr>
        <p:blipFill>
          <a:blip r:embed="rId5"/>
          <a:stretch>
            <a:fillRect/>
          </a:stretch>
        </p:blipFill>
        <p:spPr>
          <a:xfrm>
            <a:off x="7405655" y="2044192"/>
            <a:ext cx="128699" cy="187198"/>
          </a:xfrm>
          <a:prstGeom prst="rect">
            <a:avLst/>
          </a:prstGeom>
        </p:spPr>
      </p:pic>
      <p:sp>
        <p:nvSpPr>
          <p:cNvPr id="45" name="TextBox 44"/>
          <p:cNvSpPr txBox="1"/>
          <p:nvPr/>
        </p:nvSpPr>
        <p:spPr>
          <a:xfrm>
            <a:off x="7573151"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343883" cy="194310"/>
          </a:xfrm>
          <a:prstGeom prst="rect">
            <a:avLst/>
          </a:prstGeom>
          <a:noFill/>
        </p:spPr>
        <p:txBody>
          <a:bodyPr wrap="none" lIns="0" rIns="0" tIns="0" bIns="0">
            <a:spAutoFit/>
          </a:bodyPr>
          <a:lstStyle/>
          <a:p>
            <a:r>
              <a:rPr sz="1150" b="0">
                <a:solidFill>
                  <a:srgbClr val="2E2E2E"/>
                </a:solidFill>
                <a:latin typeface="Calibri"/>
              </a:rPr>
              <a:t>▪ Investment is flowing toward the fastest-growing tier 'Sweet muffins' (</a:t>
            </a:r>
          </a:p>
        </p:txBody>
      </p:sp>
      <p:pic>
        <p:nvPicPr>
          <p:cNvPr id="50" name="Picture 49" descr="lock.png"/>
          <p:cNvPicPr>
            <a:picLocks noChangeAspect="1"/>
          </p:cNvPicPr>
          <p:nvPr/>
        </p:nvPicPr>
        <p:blipFill>
          <a:blip r:embed="rId5"/>
          <a:stretch>
            <a:fillRect/>
          </a:stretch>
        </p:blipFill>
        <p:spPr>
          <a:xfrm>
            <a:off x="4569262" y="3304476"/>
            <a:ext cx="134549" cy="195707"/>
          </a:xfrm>
          <a:prstGeom prst="rect">
            <a:avLst/>
          </a:prstGeom>
        </p:spPr>
      </p:pic>
      <p:sp>
        <p:nvSpPr>
          <p:cNvPr id="51" name="TextBox 50"/>
          <p:cNvSpPr txBox="1"/>
          <p:nvPr/>
        </p:nvSpPr>
        <p:spPr>
          <a:xfrm>
            <a:off x="4744371" y="33147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2" name="TextBox 51"/>
          <p:cNvSpPr txBox="1"/>
          <p:nvPr/>
        </p:nvSpPr>
        <p:spPr>
          <a:xfrm>
            <a:off x="276225" y="3542537"/>
            <a:ext cx="679226" cy="194310"/>
          </a:xfrm>
          <a:prstGeom prst="rect">
            <a:avLst/>
          </a:prstGeom>
          <a:noFill/>
        </p:spPr>
        <p:txBody>
          <a:bodyPr wrap="none" lIns="0" rIns="0" tIns="0" bIns="0">
            <a:spAutoFit/>
          </a:bodyPr>
          <a:lstStyle/>
          <a:p>
            <a:r>
              <a:rPr sz="1150" b="0">
                <a:solidFill>
                  <a:srgbClr val="2E2E2E"/>
                </a:solidFill>
                <a:latin typeface="Calibri"/>
              </a:rPr>
              <a:t>▪ Canada (</a:t>
            </a:r>
          </a:p>
        </p:txBody>
      </p:sp>
      <p:pic>
        <p:nvPicPr>
          <p:cNvPr id="53" name="Picture 52" descr="lock.png"/>
          <p:cNvPicPr>
            <a:picLocks noChangeAspect="1"/>
          </p:cNvPicPr>
          <p:nvPr/>
        </p:nvPicPr>
        <p:blipFill>
          <a:blip r:embed="rId5"/>
          <a:stretch>
            <a:fillRect/>
          </a:stretch>
        </p:blipFill>
        <p:spPr>
          <a:xfrm>
            <a:off x="904605" y="3532314"/>
            <a:ext cx="134549" cy="195707"/>
          </a:xfrm>
          <a:prstGeom prst="rect">
            <a:avLst/>
          </a:prstGeom>
        </p:spPr>
      </p:pic>
      <p:sp>
        <p:nvSpPr>
          <p:cNvPr id="54" name="TextBox 53"/>
          <p:cNvSpPr txBox="1"/>
          <p:nvPr/>
        </p:nvSpPr>
        <p:spPr>
          <a:xfrm>
            <a:off x="1079714" y="3542537"/>
            <a:ext cx="2362224" cy="194310"/>
          </a:xfrm>
          <a:prstGeom prst="rect">
            <a:avLst/>
          </a:prstGeom>
          <a:noFill/>
        </p:spPr>
        <p:txBody>
          <a:bodyPr wrap="none" lIns="0" rIns="0" tIns="0" bIns="0">
            <a:spAutoFit/>
          </a:bodyPr>
          <a:lstStyle/>
          <a:p>
            <a:r>
              <a:rPr sz="1150" b="0">
                <a:solidFill>
                  <a:srgbClr val="2E2E2E"/>
                </a:solidFill>
                <a:latin typeface="Calibri"/>
              </a:rPr>
              <a:t>) is a priority country for new capacity.</a:t>
            </a:r>
          </a:p>
        </p:txBody>
      </p:sp>
      <p:sp>
        <p:nvSpPr>
          <p:cNvPr id="55" name="TextBox 54"/>
          <p:cNvSpPr txBox="1"/>
          <p:nvPr/>
        </p:nvSpPr>
        <p:spPr>
          <a:xfrm>
            <a:off x="276225" y="3770375"/>
            <a:ext cx="2857996" cy="194310"/>
          </a:xfrm>
          <a:prstGeom prst="rect">
            <a:avLst/>
          </a:prstGeom>
          <a:noFill/>
        </p:spPr>
        <p:txBody>
          <a:bodyPr wrap="none" lIns="0" rIns="0" tIns="0" bIns="0">
            <a:spAutoFit/>
          </a:bodyPr>
          <a:lstStyle/>
          <a:p>
            <a:r>
              <a:rPr sz="1150" b="0">
                <a:solidFill>
                  <a:srgbClr val="2E2E2E"/>
                </a:solidFill>
                <a:latin typeface="Calibri"/>
              </a:rPr>
              <a:t>▪ Scale players anchor around 'Sweet muffins' (</a:t>
            </a:r>
          </a:p>
        </p:txBody>
      </p:sp>
      <p:pic>
        <p:nvPicPr>
          <p:cNvPr id="56" name="Picture 55" descr="lock.png"/>
          <p:cNvPicPr>
            <a:picLocks noChangeAspect="1"/>
          </p:cNvPicPr>
          <p:nvPr/>
        </p:nvPicPr>
        <p:blipFill>
          <a:blip r:embed="rId5"/>
          <a:stretch>
            <a:fillRect/>
          </a:stretch>
        </p:blipFill>
        <p:spPr>
          <a:xfrm>
            <a:off x="3083375" y="3760152"/>
            <a:ext cx="134549" cy="195707"/>
          </a:xfrm>
          <a:prstGeom prst="rect">
            <a:avLst/>
          </a:prstGeom>
        </p:spPr>
      </p:pic>
      <p:sp>
        <p:nvSpPr>
          <p:cNvPr id="57" name="TextBox 56"/>
          <p:cNvSpPr txBox="1"/>
          <p:nvPr/>
        </p:nvSpPr>
        <p:spPr>
          <a:xfrm>
            <a:off x="3258484" y="3770375"/>
            <a:ext cx="484683"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58" name="TextBox 57"/>
          <p:cNvSpPr txBox="1"/>
          <p:nvPr/>
        </p:nvSpPr>
        <p:spPr>
          <a:xfrm>
            <a:off x="6305550" y="3314700"/>
            <a:ext cx="4758642" cy="194310"/>
          </a:xfrm>
          <a:prstGeom prst="rect">
            <a:avLst/>
          </a:prstGeom>
          <a:noFill/>
        </p:spPr>
        <p:txBody>
          <a:bodyPr wrap="none" lIns="0" rIns="0" tIns="0" bIns="0">
            <a:spAutoFit/>
          </a:bodyPr>
          <a:lstStyle/>
          <a:p>
            <a:r>
              <a:rPr sz="1150" b="0">
                <a:solidFill>
                  <a:srgbClr val="2E2E2E"/>
                </a:solidFill>
                <a:latin typeface="Calibri"/>
              </a:rPr>
              <a:t>▪ R&amp;D aligns with the migration to 'Sweet muffins' and adjacent premium tiers.</a:t>
            </a:r>
          </a:p>
        </p:txBody>
      </p:sp>
      <p:sp>
        <p:nvSpPr>
          <p:cNvPr id="59" name="TextBox 58"/>
          <p:cNvSpPr txBox="1"/>
          <p:nvPr/>
        </p:nvSpPr>
        <p:spPr>
          <a:xfrm>
            <a:off x="6305550" y="3542537"/>
            <a:ext cx="4603179" cy="194310"/>
          </a:xfrm>
          <a:prstGeom prst="rect">
            <a:avLst/>
          </a:prstGeom>
          <a:noFill/>
        </p:spPr>
        <p:txBody>
          <a:bodyPr wrap="none" lIns="0" rIns="0" tIns="0" bIns="0">
            <a:spAutoFit/>
          </a:bodyPr>
          <a:lstStyle/>
          <a:p>
            <a:r>
              <a:rPr sz="1150" b="0">
                <a:solidFill>
                  <a:srgbClr val="2E2E2E"/>
                </a:solidFill>
                <a:latin typeface="Calibri"/>
              </a:rPr>
              <a:t>▪ Development spend targets product type categories gaining share to 2036.</a:t>
            </a:r>
          </a:p>
        </p:txBody>
      </p:sp>
      <p:sp>
        <p:nvSpPr>
          <p:cNvPr id="60" name="TextBox 59"/>
          <p:cNvSpPr txBox="1"/>
          <p:nvPr/>
        </p:nvSpPr>
        <p:spPr>
          <a:xfrm>
            <a:off x="6305550" y="3770375"/>
            <a:ext cx="1663352" cy="194310"/>
          </a:xfrm>
          <a:prstGeom prst="rect">
            <a:avLst/>
          </a:prstGeom>
          <a:noFill/>
        </p:spPr>
        <p:txBody>
          <a:bodyPr wrap="none" lIns="0" rIns="0" tIns="0" bIns="0">
            <a:spAutoFit/>
          </a:bodyPr>
          <a:lstStyle/>
          <a:p>
            <a:r>
              <a:rPr sz="115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918056" y="3760152"/>
            <a:ext cx="134549" cy="195707"/>
          </a:xfrm>
          <a:prstGeom prst="rect">
            <a:avLst/>
          </a:prstGeom>
        </p:spPr>
      </p:pic>
      <p:sp>
        <p:nvSpPr>
          <p:cNvPr id="62" name="TextBox 61"/>
          <p:cNvSpPr txBox="1"/>
          <p:nvPr/>
        </p:nvSpPr>
        <p:spPr>
          <a:xfrm>
            <a:off x="8093165" y="3770375"/>
            <a:ext cx="963036" cy="194310"/>
          </a:xfrm>
          <a:prstGeom prst="rect">
            <a:avLst/>
          </a:prstGeom>
          <a:noFill/>
        </p:spPr>
        <p:txBody>
          <a:bodyPr wrap="none" lIns="0" rIns="0" tIns="0" bIns="0">
            <a:spAutoFit/>
          </a:bodyPr>
          <a:lstStyle/>
          <a:p>
            <a:r>
              <a:rPr sz="115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'Sweet muffins' tier and Foodservice and institutional within sales channel.</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52417" cy="194310"/>
          </a:xfrm>
          <a:prstGeom prst="rect">
            <a:avLst/>
          </a:prstGeom>
          <a:noFill/>
        </p:spPr>
        <p:txBody>
          <a:bodyPr wrap="none" lIns="0" rIns="0" tIns="0" bIns="0">
            <a:spAutoFit/>
          </a:bodyPr>
          <a:lstStyle/>
          <a:p>
            <a:r>
              <a:rPr sz="1150" b="0">
                <a:solidFill>
                  <a:srgbClr val="2E2E2E"/>
                </a:solidFill>
                <a:latin typeface="Calibri"/>
              </a:rPr>
              <a:t>▪ Balance scale in 'Sweet muffins' with targeted growth in 'Sweet muffins', pursuing the</a:t>
            </a:r>
          </a:p>
        </p:txBody>
      </p:sp>
      <p:pic>
        <p:nvPicPr>
          <p:cNvPr id="32" name="Picture 31" descr="lock.png"/>
          <p:cNvPicPr>
            <a:picLocks noChangeAspect="1"/>
          </p:cNvPicPr>
          <p:nvPr/>
        </p:nvPicPr>
        <p:blipFill>
          <a:blip r:embed="rId4"/>
          <a:stretch>
            <a:fillRect/>
          </a:stretch>
        </p:blipFill>
        <p:spPr>
          <a:xfrm>
            <a:off x="5477796" y="1389951"/>
            <a:ext cx="134549" cy="195707"/>
          </a:xfrm>
          <a:prstGeom prst="rect">
            <a:avLst/>
          </a:prstGeom>
        </p:spPr>
      </p:pic>
      <p:sp>
        <p:nvSpPr>
          <p:cNvPr id="33" name="TextBox 32"/>
          <p:cNvSpPr txBox="1"/>
          <p:nvPr/>
        </p:nvSpPr>
        <p:spPr>
          <a:xfrm>
            <a:off x="276225"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4" name="TextBox 33"/>
          <p:cNvSpPr txBox="1"/>
          <p:nvPr/>
        </p:nvSpPr>
        <p:spPr>
          <a:xfrm>
            <a:off x="276225" y="3276600"/>
            <a:ext cx="1719262" cy="194310"/>
          </a:xfrm>
          <a:prstGeom prst="rect">
            <a:avLst/>
          </a:prstGeom>
          <a:noFill/>
        </p:spPr>
        <p:txBody>
          <a:bodyPr wrap="none" lIns="0" rIns="0" tIns="0" bIns="0">
            <a:spAutoFit/>
          </a:bodyPr>
          <a:lstStyle/>
          <a:p>
            <a:r>
              <a:rPr sz="1150" b="0">
                <a:solidFill>
                  <a:srgbClr val="2E2E2E"/>
                </a:solidFill>
                <a:latin typeface="Calibri"/>
              </a:rPr>
              <a:t>▪ Prioritise 'Sweet muffins' (</a:t>
            </a:r>
          </a:p>
        </p:txBody>
      </p:sp>
      <p:pic>
        <p:nvPicPr>
          <p:cNvPr id="35" name="Picture 34" descr="lock.png"/>
          <p:cNvPicPr>
            <a:picLocks noChangeAspect="1"/>
          </p:cNvPicPr>
          <p:nvPr/>
        </p:nvPicPr>
        <p:blipFill>
          <a:blip r:embed="rId4"/>
          <a:stretch>
            <a:fillRect/>
          </a:stretch>
        </p:blipFill>
        <p:spPr>
          <a:xfrm>
            <a:off x="1944641" y="3266376"/>
            <a:ext cx="134549" cy="195707"/>
          </a:xfrm>
          <a:prstGeom prst="rect">
            <a:avLst/>
          </a:prstGeom>
        </p:spPr>
      </p:pic>
      <p:sp>
        <p:nvSpPr>
          <p:cNvPr id="36" name="TextBox 35"/>
          <p:cNvSpPr txBox="1"/>
          <p:nvPr/>
        </p:nvSpPr>
        <p:spPr>
          <a:xfrm>
            <a:off x="2119750" y="3276600"/>
            <a:ext cx="1609439" cy="194310"/>
          </a:xfrm>
          <a:prstGeom prst="rect">
            <a:avLst/>
          </a:prstGeom>
          <a:noFill/>
        </p:spPr>
        <p:txBody>
          <a:bodyPr wrap="none" lIns="0" rIns="0" tIns="0" bIns="0">
            <a:spAutoFit/>
          </a:bodyPr>
          <a:lstStyle/>
          <a:p>
            <a:r>
              <a:rPr sz="1150" b="0">
                <a:solidFill>
                  <a:srgbClr val="2E2E2E"/>
                </a:solidFill>
                <a:latin typeface="Calibri"/>
              </a:rPr>
              <a:t>); 'Sweet muffins' anchors</a:t>
            </a:r>
          </a:p>
        </p:txBody>
      </p:sp>
      <p:pic>
        <p:nvPicPr>
          <p:cNvPr id="37" name="Picture 36" descr="lock.png"/>
          <p:cNvPicPr>
            <a:picLocks noChangeAspect="1"/>
          </p:cNvPicPr>
          <p:nvPr/>
        </p:nvPicPr>
        <p:blipFill>
          <a:blip r:embed="rId4"/>
          <a:stretch>
            <a:fillRect/>
          </a:stretch>
        </p:blipFill>
        <p:spPr>
          <a:xfrm>
            <a:off x="3678344" y="3266376"/>
            <a:ext cx="134549" cy="195707"/>
          </a:xfrm>
          <a:prstGeom prst="rect">
            <a:avLst/>
          </a:prstGeom>
        </p:spPr>
      </p:pic>
      <p:sp>
        <p:nvSpPr>
          <p:cNvPr id="38" name="TextBox 37"/>
          <p:cNvSpPr txBox="1"/>
          <p:nvPr/>
        </p:nvSpPr>
        <p:spPr>
          <a:xfrm>
            <a:off x="3853453" y="3276600"/>
            <a:ext cx="586519" cy="194310"/>
          </a:xfrm>
          <a:prstGeom prst="rect">
            <a:avLst/>
          </a:prstGeom>
          <a:noFill/>
        </p:spPr>
        <p:txBody>
          <a:bodyPr wrap="none" lIns="0" rIns="0" tIns="0" bIns="0">
            <a:spAutoFit/>
          </a:bodyPr>
          <a:lstStyle/>
          <a:p>
            <a:r>
              <a:rPr sz="1150" b="0">
                <a:solidFill>
                  <a:srgbClr val="2E2E2E"/>
                </a:solidFill>
                <a:latin typeface="Calibri"/>
              </a:rPr>
              <a:t>of value.</a:t>
            </a:r>
          </a:p>
        </p:txBody>
      </p:sp>
      <p:sp>
        <p:nvSpPr>
          <p:cNvPr id="39" name="TextBox 38"/>
          <p:cNvSpPr txBox="1"/>
          <p:nvPr/>
        </p:nvSpPr>
        <p:spPr>
          <a:xfrm>
            <a:off x="6305550" y="3276600"/>
            <a:ext cx="1083431" cy="194310"/>
          </a:xfrm>
          <a:prstGeom prst="rect">
            <a:avLst/>
          </a:prstGeom>
          <a:noFill/>
        </p:spPr>
        <p:txBody>
          <a:bodyPr wrap="none" lIns="0" rIns="0" tIns="0" bIns="0">
            <a:spAutoFit/>
          </a:bodyPr>
          <a:lstStyle/>
          <a:p>
            <a:r>
              <a:rPr sz="1150" b="0">
                <a:solidFill>
                  <a:srgbClr val="2E2E2E"/>
                </a:solidFill>
                <a:latin typeface="Calibri"/>
              </a:rPr>
              <a:t>▪ Lead with U.S. (</a:t>
            </a:r>
          </a:p>
        </p:txBody>
      </p:sp>
      <p:pic>
        <p:nvPicPr>
          <p:cNvPr id="40" name="Picture 39" descr="lock.png"/>
          <p:cNvPicPr>
            <a:picLocks noChangeAspect="1"/>
          </p:cNvPicPr>
          <p:nvPr/>
        </p:nvPicPr>
        <p:blipFill>
          <a:blip r:embed="rId4"/>
          <a:stretch>
            <a:fillRect/>
          </a:stretch>
        </p:blipFill>
        <p:spPr>
          <a:xfrm>
            <a:off x="7338135" y="3266376"/>
            <a:ext cx="134549" cy="195707"/>
          </a:xfrm>
          <a:prstGeom prst="rect">
            <a:avLst/>
          </a:prstGeom>
        </p:spPr>
      </p:pic>
      <p:sp>
        <p:nvSpPr>
          <p:cNvPr id="41" name="TextBox 40"/>
          <p:cNvSpPr txBox="1"/>
          <p:nvPr/>
        </p:nvSpPr>
        <p:spPr>
          <a:xfrm>
            <a:off x="7513244" y="3276600"/>
            <a:ext cx="1772319" cy="194310"/>
          </a:xfrm>
          <a:prstGeom prst="rect">
            <a:avLst/>
          </a:prstGeom>
          <a:noFill/>
        </p:spPr>
        <p:txBody>
          <a:bodyPr wrap="none" lIns="0" rIns="0" tIns="0" bIns="0">
            <a:spAutoFit/>
          </a:bodyPr>
          <a:lstStyle/>
          <a:p>
            <a:r>
              <a:rPr sz="1150" b="0">
                <a:solidFill>
                  <a:srgbClr val="2E2E2E"/>
                </a:solidFill>
                <a:latin typeface="Calibri"/>
              </a:rPr>
              <a:t>); capture upside in Canada (</a:t>
            </a:r>
          </a:p>
        </p:txBody>
      </p:sp>
      <p:pic>
        <p:nvPicPr>
          <p:cNvPr id="42" name="Picture 41" descr="lock.png"/>
          <p:cNvPicPr>
            <a:picLocks noChangeAspect="1"/>
          </p:cNvPicPr>
          <p:nvPr/>
        </p:nvPicPr>
        <p:blipFill>
          <a:blip r:embed="rId4"/>
          <a:stretch>
            <a:fillRect/>
          </a:stretch>
        </p:blipFill>
        <p:spPr>
          <a:xfrm>
            <a:off x="9234718" y="3266376"/>
            <a:ext cx="134549" cy="195707"/>
          </a:xfrm>
          <a:prstGeom prst="rect">
            <a:avLst/>
          </a:prstGeom>
        </p:spPr>
      </p:pic>
      <p:sp>
        <p:nvSpPr>
          <p:cNvPr id="43" name="TextBox 42"/>
          <p:cNvSpPr txBox="1"/>
          <p:nvPr/>
        </p:nvSpPr>
        <p:spPr>
          <a:xfrm>
            <a:off x="9409827" y="32766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4" name="TextBox 43"/>
          <p:cNvSpPr txBox="1"/>
          <p:nvPr/>
        </p:nvSpPr>
        <p:spPr>
          <a:xfrm>
            <a:off x="276225" y="4972050"/>
            <a:ext cx="1527571" cy="194310"/>
          </a:xfrm>
          <a:prstGeom prst="rect">
            <a:avLst/>
          </a:prstGeom>
          <a:noFill/>
        </p:spPr>
        <p:txBody>
          <a:bodyPr wrap="none" lIns="0" rIns="0" tIns="0" bIns="0">
            <a:spAutoFit/>
          </a:bodyPr>
          <a:lstStyle/>
          <a:p>
            <a:r>
              <a:rPr sz="1150" b="0">
                <a:solidFill>
                  <a:srgbClr val="2E2E2E"/>
                </a:solidFill>
                <a:latin typeface="Calibri"/>
              </a:rPr>
              <a:t>▪ Packaged Muffins adds</a:t>
            </a:r>
          </a:p>
        </p:txBody>
      </p:sp>
      <p:pic>
        <p:nvPicPr>
          <p:cNvPr id="45" name="Picture 44" descr="lock.png"/>
          <p:cNvPicPr>
            <a:picLocks noChangeAspect="1"/>
          </p:cNvPicPr>
          <p:nvPr/>
        </p:nvPicPr>
        <p:blipFill>
          <a:blip r:embed="rId4"/>
          <a:stretch>
            <a:fillRect/>
          </a:stretch>
        </p:blipFill>
        <p:spPr>
          <a:xfrm>
            <a:off x="1752950" y="4961826"/>
            <a:ext cx="134549" cy="195707"/>
          </a:xfrm>
          <a:prstGeom prst="rect">
            <a:avLst/>
          </a:prstGeom>
        </p:spPr>
      </p:pic>
      <p:sp>
        <p:nvSpPr>
          <p:cNvPr id="46" name="TextBox 45"/>
          <p:cNvSpPr txBox="1"/>
          <p:nvPr/>
        </p:nvSpPr>
        <p:spPr>
          <a:xfrm>
            <a:off x="1928060" y="4972050"/>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7" name="Picture 46" descr="lock.png"/>
          <p:cNvPicPr>
            <a:picLocks noChangeAspect="1"/>
          </p:cNvPicPr>
          <p:nvPr/>
        </p:nvPicPr>
        <p:blipFill>
          <a:blip r:embed="rId4"/>
          <a:stretch>
            <a:fillRect/>
          </a:stretch>
        </p:blipFill>
        <p:spPr>
          <a:xfrm>
            <a:off x="3692321" y="4961826"/>
            <a:ext cx="134549" cy="195707"/>
          </a:xfrm>
          <a:prstGeom prst="rect">
            <a:avLst/>
          </a:prstGeom>
        </p:spPr>
      </p:pic>
      <p:sp>
        <p:nvSpPr>
          <p:cNvPr id="48" name="TextBox 47"/>
          <p:cNvSpPr txBox="1"/>
          <p:nvPr/>
        </p:nvSpPr>
        <p:spPr>
          <a:xfrm>
            <a:off x="3867431" y="4972050"/>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9" name="TextBox 48"/>
          <p:cNvSpPr txBox="1"/>
          <p:nvPr/>
        </p:nvSpPr>
        <p:spPr>
          <a:xfrm>
            <a:off x="276225" y="5199888"/>
            <a:ext cx="634436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segment/country while seeding the fastest-growing pockets early.</a:t>
            </a:r>
          </a:p>
        </p:txBody>
      </p:sp>
      <p:sp>
        <p:nvSpPr>
          <p:cNvPr id="50" name="TextBox 49"/>
          <p:cNvSpPr txBox="1"/>
          <p:nvPr/>
        </p:nvSpPr>
        <p:spPr>
          <a:xfrm>
            <a:off x="276225" y="5427725"/>
            <a:ext cx="4210670" cy="194310"/>
          </a:xfrm>
          <a:prstGeom prst="rect">
            <a:avLst/>
          </a:prstGeom>
          <a:noFill/>
        </p:spPr>
        <p:txBody>
          <a:bodyPr wrap="none" lIns="0" rIns="0" tIns="0" bIns="0">
            <a:spAutoFit/>
          </a:bodyPr>
          <a:lstStyle/>
          <a:p>
            <a:r>
              <a:rPr sz="1150" b="0">
                <a:solidFill>
                  <a:srgbClr val="2E2E2E"/>
                </a:solidFill>
                <a:latin typeface="Calibri"/>
              </a:rPr>
              <a:t>▪ Defend share in 'Sweet muffins' as the value anchor of the portfolio.</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5.0%</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4.1%</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3.0%</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Packaged Muffins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26160"/>
            <a:ext cx="635826" cy="879140"/>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90056"/>
            <a:ext cx="635826" cy="1215244"/>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54397"/>
            <a:ext cx="635826" cy="1350903"/>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56706"/>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51931"/>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3.0%</a:t>
            </a:r>
          </a:p>
        </p:txBody>
      </p:sp>
      <p:cxnSp>
        <p:nvCxnSpPr>
          <p:cNvPr id="22" name="Connector 21"/>
          <p:cNvCxnSpPr/>
          <p:nvPr/>
        </p:nvCxnSpPr>
        <p:spPr>
          <a:xfrm>
            <a:off x="1456468" y="2699531"/>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94756"/>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4.1%</a:t>
            </a:r>
          </a:p>
        </p:txBody>
      </p:sp>
      <p:cxnSp>
        <p:nvCxnSpPr>
          <p:cNvPr id="24" name="Connector 23"/>
          <p:cNvCxnSpPr/>
          <p:nvPr/>
        </p:nvCxnSpPr>
        <p:spPr>
          <a:xfrm>
            <a:off x="1456468" y="2442356"/>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37581"/>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5.0%</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Packaged Muffins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46" name="Picture 45" descr="lock.png"/>
          <p:cNvPicPr>
            <a:picLocks noChangeAspect="1"/>
          </p:cNvPicPr>
          <p:nvPr/>
        </p:nvPicPr>
        <p:blipFill>
          <a:blip r:embed="rId5"/>
          <a:stretch>
            <a:fillRect/>
          </a:stretch>
        </p:blipFill>
        <p:spPr>
          <a:xfrm>
            <a:off x="1033540" y="5361876"/>
            <a:ext cx="134549" cy="195707"/>
          </a:xfrm>
          <a:prstGeom prst="rect">
            <a:avLst/>
          </a:prstGeom>
        </p:spPr>
      </p:pic>
      <p:sp>
        <p:nvSpPr>
          <p:cNvPr id="47" name="TextBox 46"/>
          <p:cNvSpPr txBox="1"/>
          <p:nvPr/>
        </p:nvSpPr>
        <p:spPr>
          <a:xfrm>
            <a:off x="1208649" y="5372100"/>
            <a:ext cx="1930047" cy="194310"/>
          </a:xfrm>
          <a:prstGeom prst="rect">
            <a:avLst/>
          </a:prstGeom>
          <a:noFill/>
        </p:spPr>
        <p:txBody>
          <a:bodyPr wrap="none" lIns="0" rIns="0" tIns="0" bIns="0">
            <a:spAutoFit/>
          </a:bodyPr>
          <a:lstStyle/>
          <a:p>
            <a:r>
              <a:rPr sz="1150" b="0">
                <a:solidFill>
                  <a:srgbClr val="2E2E2E"/>
                </a:solidFill>
                <a:latin typeface="Calibri"/>
              </a:rPr>
              <a:t>US$ Mn by 2036 at 5.0% CAGR.</a:t>
            </a:r>
          </a:p>
        </p:txBody>
      </p:sp>
      <p:sp>
        <p:nvSpPr>
          <p:cNvPr id="48" name="TextBox 47"/>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49" name="Picture 48" descr="lock.png"/>
          <p:cNvPicPr>
            <a:picLocks noChangeAspect="1"/>
          </p:cNvPicPr>
          <p:nvPr/>
        </p:nvPicPr>
        <p:blipFill>
          <a:blip r:embed="rId5"/>
          <a:stretch>
            <a:fillRect/>
          </a:stretch>
        </p:blipFill>
        <p:spPr>
          <a:xfrm>
            <a:off x="1673650" y="5589714"/>
            <a:ext cx="134549" cy="195707"/>
          </a:xfrm>
          <a:prstGeom prst="rect">
            <a:avLst/>
          </a:prstGeom>
        </p:spPr>
      </p:pic>
      <p:sp>
        <p:nvSpPr>
          <p:cNvPr id="50" name="TextBox 49"/>
          <p:cNvSpPr txBox="1"/>
          <p:nvPr/>
        </p:nvSpPr>
        <p:spPr>
          <a:xfrm>
            <a:off x="1848759" y="5599938"/>
            <a:ext cx="1424292" cy="194310"/>
          </a:xfrm>
          <a:prstGeom prst="rect">
            <a:avLst/>
          </a:prstGeom>
          <a:noFill/>
        </p:spPr>
        <p:txBody>
          <a:bodyPr wrap="none" lIns="0" rIns="0" tIns="0" bIns="0">
            <a:spAutoFit/>
          </a:bodyPr>
          <a:lstStyle/>
          <a:p>
            <a:r>
              <a:rPr sz="1150" b="0">
                <a:solidFill>
                  <a:srgbClr val="2E2E2E"/>
                </a:solidFill>
                <a:latin typeface="Calibri"/>
              </a:rPr>
              <a:t>US$ Mn at 4.1% CAGR.</a:t>
            </a:r>
          </a:p>
        </p:txBody>
      </p:sp>
      <p:sp>
        <p:nvSpPr>
          <p:cNvPr id="51" name="TextBox 50"/>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52" name="Picture 51" descr="lock.png"/>
          <p:cNvPicPr>
            <a:picLocks noChangeAspect="1"/>
          </p:cNvPicPr>
          <p:nvPr/>
        </p:nvPicPr>
        <p:blipFill>
          <a:blip r:embed="rId5"/>
          <a:stretch>
            <a:fillRect/>
          </a:stretch>
        </p:blipFill>
        <p:spPr>
          <a:xfrm>
            <a:off x="1194994" y="5817552"/>
            <a:ext cx="134549" cy="195707"/>
          </a:xfrm>
          <a:prstGeom prst="rect">
            <a:avLst/>
          </a:prstGeom>
        </p:spPr>
      </p:pic>
      <p:sp>
        <p:nvSpPr>
          <p:cNvPr id="53" name="TextBox 52"/>
          <p:cNvSpPr txBox="1"/>
          <p:nvPr/>
        </p:nvSpPr>
        <p:spPr>
          <a:xfrm>
            <a:off x="1370103" y="5827775"/>
            <a:ext cx="1424292" cy="194310"/>
          </a:xfrm>
          <a:prstGeom prst="rect">
            <a:avLst/>
          </a:prstGeom>
          <a:noFill/>
        </p:spPr>
        <p:txBody>
          <a:bodyPr wrap="none" lIns="0" rIns="0" tIns="0" bIns="0">
            <a:spAutoFit/>
          </a:bodyPr>
          <a:lstStyle/>
          <a:p>
            <a:r>
              <a:rPr sz="1150" b="0">
                <a:solidFill>
                  <a:srgbClr val="2E2E2E"/>
                </a:solidFill>
                <a:latin typeface="Calibri"/>
              </a:rPr>
              <a:t>US$ Mn at 3.0% CAGR.</a:t>
            </a:r>
          </a:p>
        </p:txBody>
      </p:sp>
      <p:sp>
        <p:nvSpPr>
          <p:cNvPr id="54" name="TextBox 53"/>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55" name="Picture 54" descr="lock.png"/>
          <p:cNvPicPr>
            <a:picLocks noChangeAspect="1"/>
          </p:cNvPicPr>
          <p:nvPr/>
        </p:nvPicPr>
        <p:blipFill>
          <a:blip r:embed="rId5"/>
          <a:stretch>
            <a:fillRect/>
          </a:stretch>
        </p:blipFill>
        <p:spPr>
          <a:xfrm>
            <a:off x="3885509" y="6045390"/>
            <a:ext cx="134549" cy="195707"/>
          </a:xfrm>
          <a:prstGeom prst="rect">
            <a:avLst/>
          </a:prstGeom>
        </p:spPr>
      </p:pic>
      <p:sp>
        <p:nvSpPr>
          <p:cNvPr id="56" name="TextBox 55"/>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57"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Region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Packaged Muffins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 (1/2)</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 (2/2)</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480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60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8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117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_744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6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217539" cy="186689"/>
          </a:xfrm>
          <a:prstGeom prst="rect">
            <a:avLst/>
          </a:prstGeom>
          <a:noFill/>
        </p:spPr>
        <p:txBody>
          <a:bodyPr wrap="none" lIns="0" rIns="0" tIns="0" bIns="0">
            <a:spAutoFit/>
          </a:bodyPr>
          <a:lstStyle/>
          <a:p>
            <a:r>
              <a:rPr sz="1100" b="0">
                <a:solidFill>
                  <a:srgbClr val="2E2E2E"/>
                </a:solidFill>
                <a:latin typeface="Calibri"/>
              </a:rPr>
              <a:t>▪ 'U.S.' holds the largest share in 2026</a:t>
            </a:r>
          </a:p>
        </p:txBody>
      </p:sp>
      <p:pic>
        <p:nvPicPr>
          <p:cNvPr id="59" name="Picture 58" descr="lock.png"/>
          <p:cNvPicPr>
            <a:picLocks noChangeAspect="1"/>
          </p:cNvPicPr>
          <p:nvPr/>
        </p:nvPicPr>
        <p:blipFill>
          <a:blip r:embed="rId10"/>
          <a:stretch>
            <a:fillRect/>
          </a:stretch>
        </p:blipFill>
        <p:spPr>
          <a:xfrm>
            <a:off x="2651365" y="4219658"/>
            <a:ext cx="128699" cy="187198"/>
          </a:xfrm>
          <a:prstGeom prst="rect">
            <a:avLst/>
          </a:prstGeom>
        </p:spPr>
      </p:pic>
      <p:sp>
        <p:nvSpPr>
          <p:cNvPr id="60" name="TextBox 59"/>
          <p:cNvSpPr txBox="1"/>
          <p:nvPr/>
        </p:nvSpPr>
        <p:spPr>
          <a:xfrm>
            <a:off x="2818861"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61" name="TextBox 60"/>
          <p:cNvSpPr txBox="1"/>
          <p:nvPr/>
        </p:nvSpPr>
        <p:spPr>
          <a:xfrm>
            <a:off x="485775" y="4397077"/>
            <a:ext cx="855464" cy="186689"/>
          </a:xfrm>
          <a:prstGeom prst="rect">
            <a:avLst/>
          </a:prstGeom>
          <a:noFill/>
        </p:spPr>
        <p:txBody>
          <a:bodyPr wrap="none" lIns="0" rIns="0" tIns="0" bIns="0">
            <a:spAutoFit/>
          </a:bodyPr>
          <a:lstStyle/>
          <a:p>
            <a:r>
              <a:rPr sz="1100" b="0">
                <a:solidFill>
                  <a:srgbClr val="2E2E2E"/>
                </a:solidFill>
                <a:latin typeface="Calibri"/>
              </a:rPr>
              <a:t>market value.</a:t>
            </a:r>
          </a:p>
        </p:txBody>
      </p:sp>
      <p:sp>
        <p:nvSpPr>
          <p:cNvPr id="62" name="TextBox 61"/>
          <p:cNvSpPr txBox="1"/>
          <p:nvPr/>
        </p:nvSpPr>
        <p:spPr>
          <a:xfrm>
            <a:off x="485775" y="4615009"/>
            <a:ext cx="2512491" cy="186689"/>
          </a:xfrm>
          <a:prstGeom prst="rect">
            <a:avLst/>
          </a:prstGeom>
          <a:noFill/>
        </p:spPr>
        <p:txBody>
          <a:bodyPr wrap="none" lIns="0" rIns="0" tIns="0" bIns="0">
            <a:spAutoFit/>
          </a:bodyPr>
          <a:lstStyle/>
          <a:p>
            <a:r>
              <a:rPr sz="1100" b="0">
                <a:solidFill>
                  <a:srgbClr val="2E2E2E"/>
                </a:solidFill>
                <a:latin typeface="Calibri"/>
              </a:rPr>
              <a:t>▪ 'Canada' is the fastest-growing country at</a:t>
            </a:r>
          </a:p>
        </p:txBody>
      </p:sp>
      <p:pic>
        <p:nvPicPr>
          <p:cNvPr id="63" name="Picture 62" descr="lock.png"/>
          <p:cNvPicPr>
            <a:picLocks noChangeAspect="1"/>
          </p:cNvPicPr>
          <p:nvPr/>
        </p:nvPicPr>
        <p:blipFill>
          <a:blip r:embed="rId10"/>
          <a:stretch>
            <a:fillRect/>
          </a:stretch>
        </p:blipFill>
        <p:spPr>
          <a:xfrm>
            <a:off x="2946318" y="4605230"/>
            <a:ext cx="128699" cy="187198"/>
          </a:xfrm>
          <a:prstGeom prst="rect">
            <a:avLst/>
          </a:prstGeom>
        </p:spPr>
      </p:pic>
      <p:sp>
        <p:nvSpPr>
          <p:cNvPr id="64" name="TextBox 63"/>
          <p:cNvSpPr txBox="1"/>
          <p:nvPr/>
        </p:nvSpPr>
        <p:spPr>
          <a:xfrm>
            <a:off x="485775"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720949" cy="186689"/>
          </a:xfrm>
          <a:prstGeom prst="rect">
            <a:avLst/>
          </a:prstGeom>
          <a:noFill/>
        </p:spPr>
        <p:txBody>
          <a:bodyPr wrap="none" lIns="0" rIns="0" tIns="0" bIns="0">
            <a:spAutoFit/>
          </a:bodyPr>
          <a:lstStyle/>
          <a:p>
            <a:r>
              <a:rPr sz="1100" b="0">
                <a:solidFill>
                  <a:srgbClr val="2E2E2E"/>
                </a:solidFill>
                <a:latin typeface="Calibri"/>
              </a:rPr>
              <a:t>▪ Market value expands from</a:t>
            </a:r>
          </a:p>
        </p:txBody>
      </p:sp>
      <p:pic>
        <p:nvPicPr>
          <p:cNvPr id="66" name="Picture 65" descr="lock.png"/>
          <p:cNvPicPr>
            <a:picLocks noChangeAspect="1"/>
          </p:cNvPicPr>
          <p:nvPr/>
        </p:nvPicPr>
        <p:blipFill>
          <a:blip r:embed="rId10"/>
          <a:stretch>
            <a:fillRect/>
          </a:stretch>
        </p:blipFill>
        <p:spPr>
          <a:xfrm>
            <a:off x="2154775" y="4990801"/>
            <a:ext cx="128699" cy="187198"/>
          </a:xfrm>
          <a:prstGeom prst="rect">
            <a:avLst/>
          </a:prstGeom>
        </p:spPr>
      </p:pic>
      <p:sp>
        <p:nvSpPr>
          <p:cNvPr id="67" name="TextBox 66"/>
          <p:cNvSpPr txBox="1"/>
          <p:nvPr/>
        </p:nvSpPr>
        <p:spPr>
          <a:xfrm>
            <a:off x="2322271"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467123" y="4990801"/>
            <a:ext cx="128699" cy="187198"/>
          </a:xfrm>
          <a:prstGeom prst="rect">
            <a:avLst/>
          </a:prstGeom>
        </p:spPr>
      </p:pic>
      <p:sp>
        <p:nvSpPr>
          <p:cNvPr id="69" name="TextBox 68"/>
          <p:cNvSpPr txBox="1"/>
          <p:nvPr/>
        </p:nvSpPr>
        <p:spPr>
          <a:xfrm>
            <a:off x="2634619"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831455" cy="186689"/>
          </a:xfrm>
          <a:prstGeom prst="rect">
            <a:avLst/>
          </a:prstGeom>
          <a:noFill/>
        </p:spPr>
        <p:txBody>
          <a:bodyPr wrap="none" lIns="0" rIns="0" tIns="0" bIns="0">
            <a:spAutoFit/>
          </a:bodyPr>
          <a:lstStyle/>
          <a:p>
            <a:r>
              <a:rPr sz="1100" b="0">
                <a:solidFill>
                  <a:srgbClr val="2E2E2E"/>
                </a:solidFill>
                <a:latin typeface="Calibri"/>
              </a:rPr>
              <a:t>▪ 2 countries make up the geographic landscape.</a:t>
            </a:r>
          </a:p>
        </p:txBody>
      </p:sp>
      <p:sp>
        <p:nvSpPr>
          <p:cNvPr id="72" name="TextBox 71"/>
          <p:cNvSpPr txBox="1"/>
          <p:nvPr/>
        </p:nvSpPr>
        <p:spPr>
          <a:xfrm>
            <a:off x="3838575" y="4229437"/>
            <a:ext cx="453826" cy="186689"/>
          </a:xfrm>
          <a:prstGeom prst="rect">
            <a:avLst/>
          </a:prstGeom>
          <a:noFill/>
        </p:spPr>
        <p:txBody>
          <a:bodyPr wrap="none" lIns="0" rIns="0" tIns="0" bIns="0">
            <a:spAutoFit/>
          </a:bodyPr>
          <a:lstStyle/>
          <a:p>
            <a:r>
              <a:rPr sz="1100" b="0">
                <a:solidFill>
                  <a:srgbClr val="2E2E2E"/>
                </a:solidFill>
                <a:latin typeface="Calibri"/>
              </a:rPr>
              <a:t>● U.S.:</a:t>
            </a:r>
          </a:p>
        </p:txBody>
      </p:sp>
      <p:pic>
        <p:nvPicPr>
          <p:cNvPr id="73" name="Picture 72" descr="lock.png"/>
          <p:cNvPicPr>
            <a:picLocks noChangeAspect="1"/>
          </p:cNvPicPr>
          <p:nvPr/>
        </p:nvPicPr>
        <p:blipFill>
          <a:blip r:embed="rId10"/>
          <a:stretch>
            <a:fillRect/>
          </a:stretch>
        </p:blipFill>
        <p:spPr>
          <a:xfrm>
            <a:off x="4240453" y="4219658"/>
            <a:ext cx="128699" cy="187198"/>
          </a:xfrm>
          <a:prstGeom prst="rect">
            <a:avLst/>
          </a:prstGeom>
        </p:spPr>
      </p:pic>
      <p:sp>
        <p:nvSpPr>
          <p:cNvPr id="74" name="TextBox 73"/>
          <p:cNvSpPr txBox="1"/>
          <p:nvPr/>
        </p:nvSpPr>
        <p:spPr>
          <a:xfrm>
            <a:off x="44079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5" name="Picture 74" descr="lock.png"/>
          <p:cNvPicPr>
            <a:picLocks noChangeAspect="1"/>
          </p:cNvPicPr>
          <p:nvPr/>
        </p:nvPicPr>
        <p:blipFill>
          <a:blip r:embed="rId10"/>
          <a:stretch>
            <a:fillRect/>
          </a:stretch>
        </p:blipFill>
        <p:spPr>
          <a:xfrm>
            <a:off x="5267399" y="4219658"/>
            <a:ext cx="128699" cy="187198"/>
          </a:xfrm>
          <a:prstGeom prst="rect">
            <a:avLst/>
          </a:prstGeom>
        </p:spPr>
      </p:pic>
      <p:sp>
        <p:nvSpPr>
          <p:cNvPr id="76" name="TextBox 75"/>
          <p:cNvSpPr txBox="1"/>
          <p:nvPr/>
        </p:nvSpPr>
        <p:spPr>
          <a:xfrm>
            <a:off x="543489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77" name="TextBox 76"/>
          <p:cNvSpPr txBox="1"/>
          <p:nvPr/>
        </p:nvSpPr>
        <p:spPr>
          <a:xfrm>
            <a:off x="3838575" y="4447369"/>
            <a:ext cx="651371" cy="186689"/>
          </a:xfrm>
          <a:prstGeom prst="rect">
            <a:avLst/>
          </a:prstGeom>
          <a:noFill/>
        </p:spPr>
        <p:txBody>
          <a:bodyPr wrap="none" lIns="0" rIns="0" tIns="0" bIns="0">
            <a:spAutoFit/>
          </a:bodyPr>
          <a:lstStyle/>
          <a:p>
            <a:r>
              <a:rPr sz="1100" b="0">
                <a:solidFill>
                  <a:srgbClr val="2E2E2E"/>
                </a:solidFill>
                <a:latin typeface="Calibri"/>
              </a:rPr>
              <a:t>● Canada:</a:t>
            </a:r>
          </a:p>
        </p:txBody>
      </p:sp>
      <p:pic>
        <p:nvPicPr>
          <p:cNvPr id="78" name="Picture 77" descr="lock.png"/>
          <p:cNvPicPr>
            <a:picLocks noChangeAspect="1"/>
          </p:cNvPicPr>
          <p:nvPr/>
        </p:nvPicPr>
        <p:blipFill>
          <a:blip r:embed="rId10"/>
          <a:stretch>
            <a:fillRect/>
          </a:stretch>
        </p:blipFill>
        <p:spPr>
          <a:xfrm>
            <a:off x="4437997" y="4437590"/>
            <a:ext cx="128699" cy="187198"/>
          </a:xfrm>
          <a:prstGeom prst="rect">
            <a:avLst/>
          </a:prstGeom>
        </p:spPr>
      </p:pic>
      <p:sp>
        <p:nvSpPr>
          <p:cNvPr id="79" name="TextBox 78"/>
          <p:cNvSpPr txBox="1"/>
          <p:nvPr/>
        </p:nvSpPr>
        <p:spPr>
          <a:xfrm>
            <a:off x="460549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0" name="Picture 79" descr="lock.png"/>
          <p:cNvPicPr>
            <a:picLocks noChangeAspect="1"/>
          </p:cNvPicPr>
          <p:nvPr/>
        </p:nvPicPr>
        <p:blipFill>
          <a:blip r:embed="rId10"/>
          <a:stretch>
            <a:fillRect/>
          </a:stretch>
        </p:blipFill>
        <p:spPr>
          <a:xfrm>
            <a:off x="5464943" y="4437590"/>
            <a:ext cx="128699" cy="187198"/>
          </a:xfrm>
          <a:prstGeom prst="rect">
            <a:avLst/>
          </a:prstGeom>
        </p:spPr>
      </p:pic>
      <p:sp>
        <p:nvSpPr>
          <p:cNvPr id="81" name="TextBox 80"/>
          <p:cNvSpPr txBox="1"/>
          <p:nvPr/>
        </p:nvSpPr>
        <p:spPr>
          <a:xfrm>
            <a:off x="563243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2" name="TextBox 8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North America market is projected to grow at a</a:t>
            </a:r>
          </a:p>
        </p:txBody>
      </p:sp>
      <p:sp>
        <p:nvSpPr>
          <p:cNvPr id="83" name="TextBox 8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4" name="Picture 83" descr="lock.png"/>
          <p:cNvPicPr>
            <a:picLocks noChangeAspect="1"/>
          </p:cNvPicPr>
          <p:nvPr/>
        </p:nvPicPr>
        <p:blipFill>
          <a:blip r:embed="rId10"/>
          <a:stretch>
            <a:fillRect/>
          </a:stretch>
        </p:blipFill>
        <p:spPr>
          <a:xfrm>
            <a:off x="9048826" y="6007677"/>
            <a:ext cx="134549" cy="195707"/>
          </a:xfrm>
          <a:prstGeom prst="rect">
            <a:avLst/>
          </a:prstGeom>
        </p:spPr>
      </p:pic>
      <p:sp>
        <p:nvSpPr>
          <p:cNvPr id="85" name="TextBox 8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Analysis, By Country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99165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9868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1068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97260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252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204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74425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0616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10015537" y="6070282"/>
            <a:ext cx="209550" cy="304800"/>
          </a:xfrm>
          <a:prstGeom prst="rect">
            <a:avLst/>
          </a:prstGeom>
        </p:spPr>
      </p:pic>
      <p:sp>
        <p:nvSpPr>
          <p:cNvPr id="34" name="TextBox 33"/>
          <p:cNvSpPr txBox="1"/>
          <p:nvPr/>
        </p:nvSpPr>
        <p:spPr>
          <a:xfrm>
            <a:off x="7239000" y="1400175"/>
            <a:ext cx="1866453" cy="194310"/>
          </a:xfrm>
          <a:prstGeom prst="rect">
            <a:avLst/>
          </a:prstGeom>
          <a:noFill/>
        </p:spPr>
        <p:txBody>
          <a:bodyPr wrap="none" lIns="0" rIns="0" tIns="0" bIns="0">
            <a:spAutoFit/>
          </a:bodyPr>
          <a:lstStyle/>
          <a:p>
            <a:r>
              <a:rPr sz="1150" b="0">
                <a:solidFill>
                  <a:srgbClr val="2E2E2E"/>
                </a:solidFill>
                <a:latin typeface="Calibri"/>
              </a:rPr>
              <a:t>▪ U.S. is the largest country, at</a:t>
            </a:r>
          </a:p>
        </p:txBody>
      </p:sp>
      <p:pic>
        <p:nvPicPr>
          <p:cNvPr id="35" name="Picture 34" descr="lock.png"/>
          <p:cNvPicPr>
            <a:picLocks noChangeAspect="1"/>
          </p:cNvPicPr>
          <p:nvPr/>
        </p:nvPicPr>
        <p:blipFill>
          <a:blip r:embed="rId5"/>
          <a:stretch>
            <a:fillRect/>
          </a:stretch>
        </p:blipFill>
        <p:spPr>
          <a:xfrm>
            <a:off x="9054607" y="1389951"/>
            <a:ext cx="134549" cy="195707"/>
          </a:xfrm>
          <a:prstGeom prst="rect">
            <a:avLst/>
          </a:prstGeom>
        </p:spPr>
      </p:pic>
      <p:sp>
        <p:nvSpPr>
          <p:cNvPr id="36" name="TextBox 35"/>
          <p:cNvSpPr txBox="1"/>
          <p:nvPr/>
        </p:nvSpPr>
        <p:spPr>
          <a:xfrm>
            <a:off x="9229716" y="1400175"/>
            <a:ext cx="1040072" cy="194310"/>
          </a:xfrm>
          <a:prstGeom prst="rect">
            <a:avLst/>
          </a:prstGeom>
          <a:noFill/>
        </p:spPr>
        <p:txBody>
          <a:bodyPr wrap="none" lIns="0" rIns="0" tIns="0" bIns="0">
            <a:spAutoFit/>
          </a:bodyPr>
          <a:lstStyle/>
          <a:p>
            <a:r>
              <a:rPr sz="1150" b="0">
                <a:solidFill>
                  <a:srgbClr val="2E2E2E"/>
                </a:solidFill>
                <a:latin typeface="Calibri"/>
              </a:rPr>
              <a:t>of 2036 volume.</a:t>
            </a:r>
          </a:p>
        </p:txBody>
      </p:sp>
      <p:sp>
        <p:nvSpPr>
          <p:cNvPr id="37" name="TextBox 36"/>
          <p:cNvSpPr txBox="1"/>
          <p:nvPr/>
        </p:nvSpPr>
        <p:spPr>
          <a:xfrm>
            <a:off x="7239000" y="1628013"/>
            <a:ext cx="2036464" cy="194310"/>
          </a:xfrm>
          <a:prstGeom prst="rect">
            <a:avLst/>
          </a:prstGeom>
          <a:noFill/>
        </p:spPr>
        <p:txBody>
          <a:bodyPr wrap="none" lIns="0" rIns="0" tIns="0" bIns="0">
            <a:spAutoFit/>
          </a:bodyPr>
          <a:lstStyle/>
          <a:p>
            <a:r>
              <a:rPr sz="1150" b="0">
                <a:solidFill>
                  <a:srgbClr val="2E2E2E"/>
                </a:solidFill>
                <a:latin typeface="Calibri"/>
              </a:rPr>
              <a:t>▪ 'Canada' gains the most share +</a:t>
            </a:r>
          </a:p>
        </p:txBody>
      </p:sp>
      <p:pic>
        <p:nvPicPr>
          <p:cNvPr id="38" name="Picture 37" descr="lock.png"/>
          <p:cNvPicPr>
            <a:picLocks noChangeAspect="1"/>
          </p:cNvPicPr>
          <p:nvPr/>
        </p:nvPicPr>
        <p:blipFill>
          <a:blip r:embed="rId5"/>
          <a:stretch>
            <a:fillRect/>
          </a:stretch>
        </p:blipFill>
        <p:spPr>
          <a:xfrm>
            <a:off x="9224618" y="1617789"/>
            <a:ext cx="134549" cy="195707"/>
          </a:xfrm>
          <a:prstGeom prst="rect">
            <a:avLst/>
          </a:prstGeom>
        </p:spPr>
      </p:pic>
      <p:sp>
        <p:nvSpPr>
          <p:cNvPr id="39" name="TextBox 38"/>
          <p:cNvSpPr txBox="1"/>
          <p:nvPr/>
        </p:nvSpPr>
        <p:spPr>
          <a:xfrm>
            <a:off x="9399728" y="1628013"/>
            <a:ext cx="2342542"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a:t>
            </a:r>
            <a:r>
              <a:rPr sz="1150" b="0">
                <a:solidFill>
                  <a:srgbClr val="2E2E2E"/>
                </a:solidFill>
                <a:latin typeface="Calibri"/>
              </a:rPr>
              <a:t> on the</a:t>
            </a:r>
          </a:p>
        </p:txBody>
      </p:sp>
      <p:sp>
        <p:nvSpPr>
          <p:cNvPr id="40" name="TextBox 39"/>
          <p:cNvSpPr txBox="1"/>
          <p:nvPr/>
        </p:nvSpPr>
        <p:spPr>
          <a:xfrm>
            <a:off x="7239000" y="1803273"/>
            <a:ext cx="764802" cy="194310"/>
          </a:xfrm>
          <a:prstGeom prst="rect">
            <a:avLst/>
          </a:prstGeom>
          <a:noFill/>
        </p:spPr>
        <p:txBody>
          <a:bodyPr wrap="none" lIns="0" rIns="0" tIns="0" bIns="0">
            <a:spAutoFit/>
          </a:bodyPr>
          <a:lstStyle/>
          <a:p>
            <a:r>
              <a:rPr sz="1150" b="0">
                <a:solidFill>
                  <a:srgbClr val="2E2E2E"/>
                </a:solidFill>
                <a:latin typeface="Calibri"/>
              </a:rPr>
              <a:t>right scale).</a:t>
            </a:r>
          </a:p>
        </p:txBody>
      </p:sp>
      <p:sp>
        <p:nvSpPr>
          <p:cNvPr id="41" name="TextBox 40"/>
          <p:cNvSpPr txBox="1"/>
          <p:nvPr/>
        </p:nvSpPr>
        <p:spPr>
          <a:xfrm>
            <a:off x="7239000" y="2031111"/>
            <a:ext cx="1476511" cy="194310"/>
          </a:xfrm>
          <a:prstGeom prst="rect">
            <a:avLst/>
          </a:prstGeom>
          <a:noFill/>
        </p:spPr>
        <p:txBody>
          <a:bodyPr wrap="none" lIns="0" rIns="0" tIns="0" bIns="0">
            <a:spAutoFit/>
          </a:bodyPr>
          <a:lstStyle/>
          <a:p>
            <a:r>
              <a:rPr sz="1150" b="0">
                <a:solidFill>
                  <a:srgbClr val="2E2E2E"/>
                </a:solidFill>
                <a:latin typeface="Calibri"/>
              </a:rPr>
              <a:t>▪ 'U.S.' cedes the most -</a:t>
            </a:r>
          </a:p>
        </p:txBody>
      </p:sp>
      <p:pic>
        <p:nvPicPr>
          <p:cNvPr id="42" name="Picture 41" descr="lock.png"/>
          <p:cNvPicPr>
            <a:picLocks noChangeAspect="1"/>
          </p:cNvPicPr>
          <p:nvPr/>
        </p:nvPicPr>
        <p:blipFill>
          <a:blip r:embed="rId5"/>
          <a:stretch>
            <a:fillRect/>
          </a:stretch>
        </p:blipFill>
        <p:spPr>
          <a:xfrm>
            <a:off x="8664665" y="2020887"/>
            <a:ext cx="134549" cy="195707"/>
          </a:xfrm>
          <a:prstGeom prst="rect">
            <a:avLst/>
          </a:prstGeom>
        </p:spPr>
      </p:pic>
      <p:sp>
        <p:nvSpPr>
          <p:cNvPr id="43" name="TextBox 42"/>
          <p:cNvSpPr txBox="1"/>
          <p:nvPr/>
        </p:nvSpPr>
        <p:spPr>
          <a:xfrm>
            <a:off x="8839774" y="2031111"/>
            <a:ext cx="1917799"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a:t>
            </a:r>
            <a:r>
              <a:rPr sz="1150" b="0">
                <a:solidFill>
                  <a:srgbClr val="2E2E2E"/>
                </a:solidFill>
                <a:latin typeface="Calibri"/>
              </a:rPr>
              <a:t>).</a:t>
            </a:r>
          </a:p>
        </p:txBody>
      </p:sp>
      <p:sp>
        <p:nvSpPr>
          <p:cNvPr id="44" name="TextBox 43"/>
          <p:cNvSpPr txBox="1"/>
          <p:nvPr/>
        </p:nvSpPr>
        <p:spPr>
          <a:xfrm>
            <a:off x="7239000" y="2258949"/>
            <a:ext cx="1425736" cy="194310"/>
          </a:xfrm>
          <a:prstGeom prst="rect">
            <a:avLst/>
          </a:prstGeom>
          <a:noFill/>
        </p:spPr>
        <p:txBody>
          <a:bodyPr wrap="none" lIns="0" rIns="0" tIns="0" bIns="0">
            <a:spAutoFit/>
          </a:bodyPr>
          <a:lstStyle/>
          <a:p>
            <a:r>
              <a:rPr sz="1150" b="0">
                <a:solidFill>
                  <a:srgbClr val="2E2E2E"/>
                </a:solidFill>
                <a:latin typeface="Calibri"/>
              </a:rPr>
              <a:t>▪ Canada grows fastest</a:t>
            </a:r>
          </a:p>
        </p:txBody>
      </p:sp>
      <p:pic>
        <p:nvPicPr>
          <p:cNvPr id="45" name="Picture 44" descr="lock.png"/>
          <p:cNvPicPr>
            <a:picLocks noChangeAspect="1"/>
          </p:cNvPicPr>
          <p:nvPr/>
        </p:nvPicPr>
        <p:blipFill>
          <a:blip r:embed="rId5"/>
          <a:stretch>
            <a:fillRect/>
          </a:stretch>
        </p:blipFill>
        <p:spPr>
          <a:xfrm>
            <a:off x="8613890" y="2248725"/>
            <a:ext cx="134549" cy="195707"/>
          </a:xfrm>
          <a:prstGeom prst="rect">
            <a:avLst/>
          </a:prstGeom>
        </p:spPr>
      </p:pic>
      <p:sp>
        <p:nvSpPr>
          <p:cNvPr id="46" name="TextBox 45"/>
          <p:cNvSpPr txBox="1"/>
          <p:nvPr/>
        </p:nvSpPr>
        <p:spPr>
          <a:xfrm>
            <a:off x="8788999" y="2258949"/>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7" name="TextBox 46"/>
          <p:cNvSpPr txBox="1"/>
          <p:nvPr/>
        </p:nvSpPr>
        <p:spPr>
          <a:xfrm>
            <a:off x="7239000" y="2486787"/>
            <a:ext cx="1088851" cy="194310"/>
          </a:xfrm>
          <a:prstGeom prst="rect">
            <a:avLst/>
          </a:prstGeom>
          <a:noFill/>
        </p:spPr>
        <p:txBody>
          <a:bodyPr wrap="none" lIns="0" rIns="0" tIns="0" bIns="0">
            <a:spAutoFit/>
          </a:bodyPr>
          <a:lstStyle/>
          <a:p>
            <a:r>
              <a:rPr sz="1150" b="0">
                <a:solidFill>
                  <a:srgbClr val="2E2E2E"/>
                </a:solidFill>
                <a:latin typeface="Calibri"/>
              </a:rPr>
              <a:t>▪ Total rises from</a:t>
            </a:r>
          </a:p>
        </p:txBody>
      </p:sp>
      <p:pic>
        <p:nvPicPr>
          <p:cNvPr id="48" name="Picture 47" descr="lock.png"/>
          <p:cNvPicPr>
            <a:picLocks noChangeAspect="1"/>
          </p:cNvPicPr>
          <p:nvPr/>
        </p:nvPicPr>
        <p:blipFill>
          <a:blip r:embed="rId5"/>
          <a:stretch>
            <a:fillRect/>
          </a:stretch>
        </p:blipFill>
        <p:spPr>
          <a:xfrm>
            <a:off x="8277005" y="2476563"/>
            <a:ext cx="134549" cy="195707"/>
          </a:xfrm>
          <a:prstGeom prst="rect">
            <a:avLst/>
          </a:prstGeom>
        </p:spPr>
      </p:pic>
      <p:sp>
        <p:nvSpPr>
          <p:cNvPr id="49" name="TextBox 48"/>
          <p:cNvSpPr txBox="1"/>
          <p:nvPr/>
        </p:nvSpPr>
        <p:spPr>
          <a:xfrm>
            <a:off x="8452114" y="2486787"/>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0" name="Picture 49" descr="lock.png"/>
          <p:cNvPicPr>
            <a:picLocks noChangeAspect="1"/>
          </p:cNvPicPr>
          <p:nvPr/>
        </p:nvPicPr>
        <p:blipFill>
          <a:blip r:embed="rId5"/>
          <a:stretch>
            <a:fillRect/>
          </a:stretch>
        </p:blipFill>
        <p:spPr>
          <a:xfrm>
            <a:off x="8603550" y="2476563"/>
            <a:ext cx="134549" cy="195707"/>
          </a:xfrm>
          <a:prstGeom prst="rect">
            <a:avLst/>
          </a:prstGeom>
        </p:spPr>
      </p:pic>
      <p:sp>
        <p:nvSpPr>
          <p:cNvPr id="51" name="TextBox 50"/>
          <p:cNvSpPr txBox="1"/>
          <p:nvPr/>
        </p:nvSpPr>
        <p:spPr>
          <a:xfrm>
            <a:off x="8778660" y="2486787"/>
            <a:ext cx="1412614" cy="194310"/>
          </a:xfrm>
          <a:prstGeom prst="rect">
            <a:avLst/>
          </a:prstGeom>
          <a:noFill/>
        </p:spPr>
        <p:txBody>
          <a:bodyPr wrap="none" lIns="0" rIns="0" tIns="0" bIns="0">
            <a:spAutoFit/>
          </a:bodyPr>
          <a:lstStyle/>
          <a:p>
            <a:r>
              <a:rPr sz="1150" b="0">
                <a:solidFill>
                  <a:srgbClr val="2E2E2E"/>
                </a:solidFill>
                <a:latin typeface="Calibri"/>
              </a:rPr>
              <a:t>MT across 2 countries.</a:t>
            </a:r>
          </a:p>
        </p:txBody>
      </p:sp>
      <p:sp>
        <p:nvSpPr>
          <p:cNvPr id="52" name="TextBox 51"/>
          <p:cNvSpPr txBox="1"/>
          <p:nvPr/>
        </p:nvSpPr>
        <p:spPr>
          <a:xfrm>
            <a:off x="1613208" y="5877496"/>
            <a:ext cx="1078882" cy="186689"/>
          </a:xfrm>
          <a:prstGeom prst="rect">
            <a:avLst/>
          </a:prstGeom>
          <a:noFill/>
        </p:spPr>
        <p:txBody>
          <a:bodyPr wrap="none" lIns="0" rIns="0" tIns="0" bIns="0">
            <a:spAutoFit/>
          </a:bodyPr>
          <a:lstStyle/>
          <a:p>
            <a:r>
              <a:rPr sz="1100" b="1">
                <a:solidFill>
                  <a:srgbClr val="6C7A89"/>
                </a:solidFill>
                <a:latin typeface="Calibri"/>
              </a:rPr>
              <a:t>2026 TOTAL (MT)</a:t>
            </a:r>
          </a:p>
        </p:txBody>
      </p:sp>
      <p:pic>
        <p:nvPicPr>
          <p:cNvPr id="53" name="Picture 52" descr="lock.png"/>
          <p:cNvPicPr>
            <a:picLocks noChangeAspect="1"/>
          </p:cNvPicPr>
          <p:nvPr/>
        </p:nvPicPr>
        <p:blipFill>
          <a:blip r:embed="rId5"/>
          <a:stretch>
            <a:fillRect/>
          </a:stretch>
        </p:blipFill>
        <p:spPr>
          <a:xfrm>
            <a:off x="1984327" y="6077648"/>
            <a:ext cx="233998" cy="340360"/>
          </a:xfrm>
          <a:prstGeom prst="rect">
            <a:avLst/>
          </a:prstGeom>
        </p:spPr>
      </p:pic>
      <p:sp>
        <p:nvSpPr>
          <p:cNvPr id="54" name="TextBox 53"/>
          <p:cNvSpPr txBox="1"/>
          <p:nvPr/>
        </p:nvSpPr>
        <p:spPr>
          <a:xfrm>
            <a:off x="5647046" y="5877496"/>
            <a:ext cx="1078882" cy="186689"/>
          </a:xfrm>
          <a:prstGeom prst="rect">
            <a:avLst/>
          </a:prstGeom>
          <a:noFill/>
        </p:spPr>
        <p:txBody>
          <a:bodyPr wrap="none" lIns="0" rIns="0" tIns="0" bIns="0">
            <a:spAutoFit/>
          </a:bodyPr>
          <a:lstStyle/>
          <a:p>
            <a:r>
              <a:rPr sz="1100" b="1">
                <a:solidFill>
                  <a:srgbClr val="6C7A89"/>
                </a:solidFill>
                <a:latin typeface="Calibri"/>
              </a:rPr>
              <a:t>2036 TOTAL (MT)</a:t>
            </a:r>
          </a:p>
        </p:txBody>
      </p:sp>
      <p:pic>
        <p:nvPicPr>
          <p:cNvPr id="55" name="Picture 54" descr="lock.png"/>
          <p:cNvPicPr>
            <a:picLocks noChangeAspect="1"/>
          </p:cNvPicPr>
          <p:nvPr/>
        </p:nvPicPr>
        <p:blipFill>
          <a:blip r:embed="rId5"/>
          <a:stretch>
            <a:fillRect/>
          </a:stretch>
        </p:blipFill>
        <p:spPr>
          <a:xfrm>
            <a:off x="6018165" y="6077648"/>
            <a:ext cx="233998" cy="340360"/>
          </a:xfrm>
          <a:prstGeom prst="rect">
            <a:avLst/>
          </a:prstGeom>
        </p:spPr>
      </p:pic>
      <p:sp>
        <p:nvSpPr>
          <p:cNvPr id="56"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593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403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881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81196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1866453" cy="194310"/>
          </a:xfrm>
          <a:prstGeom prst="rect">
            <a:avLst/>
          </a:prstGeom>
          <a:noFill/>
        </p:spPr>
        <p:txBody>
          <a:bodyPr wrap="none" lIns="0" rIns="0" tIns="0" bIns="0">
            <a:spAutoFit/>
          </a:bodyPr>
          <a:lstStyle/>
          <a:p>
            <a:r>
              <a:rPr sz="1150" b="0">
                <a:solidFill>
                  <a:srgbClr val="2E2E2E"/>
                </a:solidFill>
                <a:latin typeface="Calibri"/>
              </a:rPr>
              <a:t>▪ U.S. is the largest country, at</a:t>
            </a:r>
          </a:p>
        </p:txBody>
      </p:sp>
      <p:pic>
        <p:nvPicPr>
          <p:cNvPr id="37" name="Picture 36" descr="lock.png"/>
          <p:cNvPicPr>
            <a:picLocks noChangeAspect="1"/>
          </p:cNvPicPr>
          <p:nvPr/>
        </p:nvPicPr>
        <p:blipFill>
          <a:blip r:embed="rId5"/>
          <a:stretch>
            <a:fillRect/>
          </a:stretch>
        </p:blipFill>
        <p:spPr>
          <a:xfrm>
            <a:off x="9054607" y="1389951"/>
            <a:ext cx="134549" cy="195707"/>
          </a:xfrm>
          <a:prstGeom prst="rect">
            <a:avLst/>
          </a:prstGeom>
        </p:spPr>
      </p:pic>
      <p:sp>
        <p:nvSpPr>
          <p:cNvPr id="38" name="TextBox 37"/>
          <p:cNvSpPr txBox="1"/>
          <p:nvPr/>
        </p:nvSpPr>
        <p:spPr>
          <a:xfrm>
            <a:off x="9229716" y="14001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39" name="TextBox 38"/>
          <p:cNvSpPr txBox="1"/>
          <p:nvPr/>
        </p:nvSpPr>
        <p:spPr>
          <a:xfrm>
            <a:off x="7239000" y="1628013"/>
            <a:ext cx="2036464" cy="194310"/>
          </a:xfrm>
          <a:prstGeom prst="rect">
            <a:avLst/>
          </a:prstGeom>
          <a:noFill/>
        </p:spPr>
        <p:txBody>
          <a:bodyPr wrap="none" lIns="0" rIns="0" tIns="0" bIns="0">
            <a:spAutoFit/>
          </a:bodyPr>
          <a:lstStyle/>
          <a:p>
            <a:r>
              <a:rPr sz="1150" b="0">
                <a:solidFill>
                  <a:srgbClr val="2E2E2E"/>
                </a:solidFill>
                <a:latin typeface="Calibri"/>
              </a:rPr>
              <a:t>▪ 'Canada' gains the most share +</a:t>
            </a:r>
          </a:p>
        </p:txBody>
      </p:sp>
      <p:pic>
        <p:nvPicPr>
          <p:cNvPr id="40" name="Picture 39" descr="lock.png"/>
          <p:cNvPicPr>
            <a:picLocks noChangeAspect="1"/>
          </p:cNvPicPr>
          <p:nvPr/>
        </p:nvPicPr>
        <p:blipFill>
          <a:blip r:embed="rId5"/>
          <a:stretch>
            <a:fillRect/>
          </a:stretch>
        </p:blipFill>
        <p:spPr>
          <a:xfrm>
            <a:off x="9224618" y="1617789"/>
            <a:ext cx="134549" cy="195707"/>
          </a:xfrm>
          <a:prstGeom prst="rect">
            <a:avLst/>
          </a:prstGeom>
        </p:spPr>
      </p:pic>
      <p:sp>
        <p:nvSpPr>
          <p:cNvPr id="41" name="TextBox 40"/>
          <p:cNvSpPr txBox="1"/>
          <p:nvPr/>
        </p:nvSpPr>
        <p:spPr>
          <a:xfrm>
            <a:off x="9399728" y="1628013"/>
            <a:ext cx="2342542"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a:t>
            </a:r>
            <a:r>
              <a:rPr sz="1150" b="0">
                <a:solidFill>
                  <a:srgbClr val="2E2E2E"/>
                </a:solidFill>
                <a:latin typeface="Calibri"/>
              </a:rPr>
              <a:t> on the</a:t>
            </a:r>
          </a:p>
        </p:txBody>
      </p:sp>
      <p:sp>
        <p:nvSpPr>
          <p:cNvPr id="42" name="TextBox 41"/>
          <p:cNvSpPr txBox="1"/>
          <p:nvPr/>
        </p:nvSpPr>
        <p:spPr>
          <a:xfrm>
            <a:off x="7239000" y="1803273"/>
            <a:ext cx="764802" cy="194310"/>
          </a:xfrm>
          <a:prstGeom prst="rect">
            <a:avLst/>
          </a:prstGeom>
          <a:noFill/>
        </p:spPr>
        <p:txBody>
          <a:bodyPr wrap="none" lIns="0" rIns="0" tIns="0" bIns="0">
            <a:spAutoFit/>
          </a:bodyPr>
          <a:lstStyle/>
          <a:p>
            <a:r>
              <a:rPr sz="1150" b="0">
                <a:solidFill>
                  <a:srgbClr val="2E2E2E"/>
                </a:solidFill>
                <a:latin typeface="Calibri"/>
              </a:rPr>
              <a:t>right scale).</a:t>
            </a:r>
          </a:p>
        </p:txBody>
      </p:sp>
      <p:sp>
        <p:nvSpPr>
          <p:cNvPr id="43" name="TextBox 42"/>
          <p:cNvSpPr txBox="1"/>
          <p:nvPr/>
        </p:nvSpPr>
        <p:spPr>
          <a:xfrm>
            <a:off x="7239000" y="2031111"/>
            <a:ext cx="1476511" cy="194310"/>
          </a:xfrm>
          <a:prstGeom prst="rect">
            <a:avLst/>
          </a:prstGeom>
          <a:noFill/>
        </p:spPr>
        <p:txBody>
          <a:bodyPr wrap="none" lIns="0" rIns="0" tIns="0" bIns="0">
            <a:spAutoFit/>
          </a:bodyPr>
          <a:lstStyle/>
          <a:p>
            <a:r>
              <a:rPr sz="1150" b="0">
                <a:solidFill>
                  <a:srgbClr val="2E2E2E"/>
                </a:solidFill>
                <a:latin typeface="Calibri"/>
              </a:rPr>
              <a:t>▪ 'U.S.' cedes the most -</a:t>
            </a:r>
          </a:p>
        </p:txBody>
      </p:sp>
      <p:pic>
        <p:nvPicPr>
          <p:cNvPr id="44" name="Picture 43" descr="lock.png"/>
          <p:cNvPicPr>
            <a:picLocks noChangeAspect="1"/>
          </p:cNvPicPr>
          <p:nvPr/>
        </p:nvPicPr>
        <p:blipFill>
          <a:blip r:embed="rId5"/>
          <a:stretch>
            <a:fillRect/>
          </a:stretch>
        </p:blipFill>
        <p:spPr>
          <a:xfrm>
            <a:off x="8664665" y="2020887"/>
            <a:ext cx="134549" cy="195707"/>
          </a:xfrm>
          <a:prstGeom prst="rect">
            <a:avLst/>
          </a:prstGeom>
        </p:spPr>
      </p:pic>
      <p:sp>
        <p:nvSpPr>
          <p:cNvPr id="45" name="TextBox 44"/>
          <p:cNvSpPr txBox="1"/>
          <p:nvPr/>
        </p:nvSpPr>
        <p:spPr>
          <a:xfrm>
            <a:off x="8839774" y="2031111"/>
            <a:ext cx="1917799"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239000" y="2258949"/>
            <a:ext cx="1425736" cy="194310"/>
          </a:xfrm>
          <a:prstGeom prst="rect">
            <a:avLst/>
          </a:prstGeom>
          <a:noFill/>
        </p:spPr>
        <p:txBody>
          <a:bodyPr wrap="none" lIns="0" rIns="0" tIns="0" bIns="0">
            <a:spAutoFit/>
          </a:bodyPr>
          <a:lstStyle/>
          <a:p>
            <a:r>
              <a:rPr sz="1150" b="0">
                <a:solidFill>
                  <a:srgbClr val="2E2E2E"/>
                </a:solidFill>
                <a:latin typeface="Calibri"/>
              </a:rPr>
              <a:t>▪ Canada grows fastest</a:t>
            </a:r>
          </a:p>
        </p:txBody>
      </p:sp>
      <p:pic>
        <p:nvPicPr>
          <p:cNvPr id="47" name="Picture 46" descr="lock.png"/>
          <p:cNvPicPr>
            <a:picLocks noChangeAspect="1"/>
          </p:cNvPicPr>
          <p:nvPr/>
        </p:nvPicPr>
        <p:blipFill>
          <a:blip r:embed="rId5"/>
          <a:stretch>
            <a:fillRect/>
          </a:stretch>
        </p:blipFill>
        <p:spPr>
          <a:xfrm>
            <a:off x="8613890" y="2248725"/>
            <a:ext cx="134549" cy="195707"/>
          </a:xfrm>
          <a:prstGeom prst="rect">
            <a:avLst/>
          </a:prstGeom>
        </p:spPr>
      </p:pic>
      <p:sp>
        <p:nvSpPr>
          <p:cNvPr id="48" name="TextBox 47"/>
          <p:cNvSpPr txBox="1"/>
          <p:nvPr/>
        </p:nvSpPr>
        <p:spPr>
          <a:xfrm>
            <a:off x="8788999" y="2258949"/>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9" name="TextBox 48"/>
          <p:cNvSpPr txBox="1"/>
          <p:nvPr/>
        </p:nvSpPr>
        <p:spPr>
          <a:xfrm>
            <a:off x="7239000" y="2486787"/>
            <a:ext cx="1088851" cy="194310"/>
          </a:xfrm>
          <a:prstGeom prst="rect">
            <a:avLst/>
          </a:prstGeom>
          <a:noFill/>
        </p:spPr>
        <p:txBody>
          <a:bodyPr wrap="none" lIns="0" rIns="0" tIns="0" bIns="0">
            <a:spAutoFit/>
          </a:bodyPr>
          <a:lstStyle/>
          <a:p>
            <a:r>
              <a:rPr sz="1150" b="0">
                <a:solidFill>
                  <a:srgbClr val="2E2E2E"/>
                </a:solidFill>
                <a:latin typeface="Calibri"/>
              </a:rPr>
              <a:t>▪ Total rises from</a:t>
            </a:r>
          </a:p>
        </p:txBody>
      </p:sp>
      <p:pic>
        <p:nvPicPr>
          <p:cNvPr id="50" name="Picture 49" descr="lock.png"/>
          <p:cNvPicPr>
            <a:picLocks noChangeAspect="1"/>
          </p:cNvPicPr>
          <p:nvPr/>
        </p:nvPicPr>
        <p:blipFill>
          <a:blip r:embed="rId5"/>
          <a:stretch>
            <a:fillRect/>
          </a:stretch>
        </p:blipFill>
        <p:spPr>
          <a:xfrm>
            <a:off x="8277005" y="2476563"/>
            <a:ext cx="134549" cy="195707"/>
          </a:xfrm>
          <a:prstGeom prst="rect">
            <a:avLst/>
          </a:prstGeom>
        </p:spPr>
      </p:pic>
      <p:sp>
        <p:nvSpPr>
          <p:cNvPr id="51" name="TextBox 50"/>
          <p:cNvSpPr txBox="1"/>
          <p:nvPr/>
        </p:nvSpPr>
        <p:spPr>
          <a:xfrm>
            <a:off x="8452114" y="2486787"/>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2" name="Picture 51" descr="lock.png"/>
          <p:cNvPicPr>
            <a:picLocks noChangeAspect="1"/>
          </p:cNvPicPr>
          <p:nvPr/>
        </p:nvPicPr>
        <p:blipFill>
          <a:blip r:embed="rId5"/>
          <a:stretch>
            <a:fillRect/>
          </a:stretch>
        </p:blipFill>
        <p:spPr>
          <a:xfrm>
            <a:off x="8603550" y="2476563"/>
            <a:ext cx="134549" cy="195707"/>
          </a:xfrm>
          <a:prstGeom prst="rect">
            <a:avLst/>
          </a:prstGeom>
        </p:spPr>
      </p:pic>
      <p:sp>
        <p:nvSpPr>
          <p:cNvPr id="53" name="TextBox 52"/>
          <p:cNvSpPr txBox="1"/>
          <p:nvPr/>
        </p:nvSpPr>
        <p:spPr>
          <a:xfrm>
            <a:off x="8778660" y="2486787"/>
            <a:ext cx="1686173" cy="194310"/>
          </a:xfrm>
          <a:prstGeom prst="rect">
            <a:avLst/>
          </a:prstGeom>
          <a:noFill/>
        </p:spPr>
        <p:txBody>
          <a:bodyPr wrap="none" lIns="0" rIns="0" tIns="0" bIns="0">
            <a:spAutoFit/>
          </a:bodyPr>
          <a:lstStyle/>
          <a:p>
            <a:r>
              <a:rPr sz="1150" b="0">
                <a:solidFill>
                  <a:srgbClr val="2E2E2E"/>
                </a:solidFill>
                <a:latin typeface="Calibri"/>
              </a:rPr>
              <a:t>US$ Mn across 2 countries.</a:t>
            </a:r>
          </a:p>
        </p:txBody>
      </p:sp>
      <p:sp>
        <p:nvSpPr>
          <p:cNvPr id="54"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Share Analysis, By Country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(MT)</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607264"/>
                <a:gridCol w="604720"/>
                <a:gridCol w="604720"/>
                <a:gridCol w="604720"/>
                <a:gridCol w="604720"/>
                <a:gridCol w="604720"/>
                <a:gridCol w="604720"/>
                <a:gridCol w="604720"/>
                <a:gridCol w="719193"/>
                <a:gridCol w="719193"/>
                <a:gridCol w="719193"/>
                <a:gridCol w="719193"/>
                <a:gridCol w="719193"/>
                <a:gridCol w="719193"/>
                <a:gridCol w="719193"/>
                <a:gridCol w="719193"/>
                <a:gridCol w="719193"/>
                <a:gridCol w="574154"/>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12939" y="1589913"/>
            <a:ext cx="366712" cy="533400"/>
          </a:xfrm>
          <a:prstGeom prst="rect">
            <a:avLst/>
          </a:prstGeom>
        </p:spPr>
      </p:pic>
      <p:sp>
        <p:nvSpPr>
          <p:cNvPr id="21" name="TextBox 20"/>
          <p:cNvSpPr txBox="1"/>
          <p:nvPr/>
        </p:nvSpPr>
        <p:spPr>
          <a:xfrm>
            <a:off x="276225" y="2990850"/>
            <a:ext cx="1742368" cy="194310"/>
          </a:xfrm>
          <a:prstGeom prst="rect">
            <a:avLst/>
          </a:prstGeom>
          <a:noFill/>
        </p:spPr>
        <p:txBody>
          <a:bodyPr wrap="none" lIns="0" rIns="0" tIns="0" bIns="0">
            <a:spAutoFit/>
          </a:bodyPr>
          <a:lstStyle/>
          <a:p>
            <a:r>
              <a:rPr sz="1150" b="0">
                <a:solidFill>
                  <a:srgbClr val="2E2E2E"/>
                </a:solidFill>
                <a:latin typeface="Calibri"/>
              </a:rPr>
              <a:t>▪ 'U.S.' is the largest country</a:t>
            </a:r>
          </a:p>
        </p:txBody>
      </p:sp>
      <p:pic>
        <p:nvPicPr>
          <p:cNvPr id="22" name="Picture 21" descr="lock.png"/>
          <p:cNvPicPr>
            <a:picLocks noChangeAspect="1"/>
          </p:cNvPicPr>
          <p:nvPr/>
        </p:nvPicPr>
        <p:blipFill>
          <a:blip r:embed="rId4"/>
          <a:stretch>
            <a:fillRect/>
          </a:stretch>
        </p:blipFill>
        <p:spPr>
          <a:xfrm>
            <a:off x="1967747" y="2980626"/>
            <a:ext cx="134549" cy="195707"/>
          </a:xfrm>
          <a:prstGeom prst="rect">
            <a:avLst/>
          </a:prstGeom>
        </p:spPr>
      </p:pic>
      <p:sp>
        <p:nvSpPr>
          <p:cNvPr id="23" name="TextBox 22"/>
          <p:cNvSpPr txBox="1"/>
          <p:nvPr/>
        </p:nvSpPr>
        <p:spPr>
          <a:xfrm>
            <a:off x="2142856" y="29908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172589" y="2980626"/>
            <a:ext cx="134549" cy="195707"/>
          </a:xfrm>
          <a:prstGeom prst="rect">
            <a:avLst/>
          </a:prstGeom>
        </p:spPr>
      </p:pic>
      <p:sp>
        <p:nvSpPr>
          <p:cNvPr id="25" name="TextBox 24"/>
          <p:cNvSpPr txBox="1"/>
          <p:nvPr/>
        </p:nvSpPr>
        <p:spPr>
          <a:xfrm>
            <a:off x="3347698" y="29908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218687"/>
            <a:ext cx="1642243" cy="194310"/>
          </a:xfrm>
          <a:prstGeom prst="rect">
            <a:avLst/>
          </a:prstGeom>
          <a:noFill/>
        </p:spPr>
        <p:txBody>
          <a:bodyPr wrap="none" lIns="0" rIns="0" tIns="0" bIns="0">
            <a:spAutoFit/>
          </a:bodyPr>
          <a:lstStyle/>
          <a:p>
            <a:r>
              <a:rPr sz="1150" b="0">
                <a:solidFill>
                  <a:srgbClr val="2E2E2E"/>
                </a:solidFill>
                <a:latin typeface="Calibri"/>
              </a:rPr>
              <a:t>▪ 'Canada' grows fastest at</a:t>
            </a:r>
          </a:p>
        </p:txBody>
      </p:sp>
      <p:pic>
        <p:nvPicPr>
          <p:cNvPr id="27" name="Picture 26" descr="lock.png"/>
          <p:cNvPicPr>
            <a:picLocks noChangeAspect="1"/>
          </p:cNvPicPr>
          <p:nvPr/>
        </p:nvPicPr>
        <p:blipFill>
          <a:blip r:embed="rId4"/>
          <a:stretch>
            <a:fillRect/>
          </a:stretch>
        </p:blipFill>
        <p:spPr>
          <a:xfrm>
            <a:off x="1867622" y="3208464"/>
            <a:ext cx="134549" cy="195707"/>
          </a:xfrm>
          <a:prstGeom prst="rect">
            <a:avLst/>
          </a:prstGeom>
        </p:spPr>
      </p:pic>
      <p:sp>
        <p:nvSpPr>
          <p:cNvPr id="28" name="TextBox 27"/>
          <p:cNvSpPr txBox="1"/>
          <p:nvPr/>
        </p:nvSpPr>
        <p:spPr>
          <a:xfrm>
            <a:off x="2042732"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1999381" cy="194310"/>
          </a:xfrm>
          <a:prstGeom prst="rect">
            <a:avLst/>
          </a:prstGeom>
          <a:noFill/>
        </p:spPr>
        <p:txBody>
          <a:bodyPr wrap="none" lIns="0" rIns="0" tIns="0" bIns="0">
            <a:spAutoFit/>
          </a:bodyPr>
          <a:lstStyle/>
          <a:p>
            <a:r>
              <a:rPr sz="1150" b="0">
                <a:solidFill>
                  <a:srgbClr val="2E2E2E"/>
                </a:solidFill>
                <a:latin typeface="Calibri"/>
              </a:rPr>
              <a:t>▪ Share shifts toward 'Canada' (+</a:t>
            </a:r>
          </a:p>
        </p:txBody>
      </p:sp>
      <p:pic>
        <p:nvPicPr>
          <p:cNvPr id="30" name="Picture 29" descr="lock.png"/>
          <p:cNvPicPr>
            <a:picLocks noChangeAspect="1"/>
          </p:cNvPicPr>
          <p:nvPr/>
        </p:nvPicPr>
        <p:blipFill>
          <a:blip r:embed="rId4"/>
          <a:stretch>
            <a:fillRect/>
          </a:stretch>
        </p:blipFill>
        <p:spPr>
          <a:xfrm>
            <a:off x="2224760" y="3436302"/>
            <a:ext cx="134549" cy="195707"/>
          </a:xfrm>
          <a:prstGeom prst="rect">
            <a:avLst/>
          </a:prstGeom>
        </p:spPr>
      </p:pic>
      <p:sp>
        <p:nvSpPr>
          <p:cNvPr id="31" name="TextBox 30"/>
          <p:cNvSpPr txBox="1"/>
          <p:nvPr/>
        </p:nvSpPr>
        <p:spPr>
          <a:xfrm>
            <a:off x="2399870" y="3446525"/>
            <a:ext cx="1718977" cy="194310"/>
          </a:xfrm>
          <a:prstGeom prst="rect">
            <a:avLst/>
          </a:prstGeom>
          <a:noFill/>
        </p:spPr>
        <p:txBody>
          <a:bodyPr wrap="none" lIns="0" rIns="0" tIns="0" bIns="0">
            <a:spAutoFit/>
          </a:bodyPr>
          <a:lstStyle/>
          <a:p>
            <a:r>
              <a:rPr sz="1150" b="0">
                <a:solidFill>
                  <a:srgbClr val="2E2E2E"/>
                </a:solidFill>
                <a:latin typeface="Calibri"/>
              </a:rPr>
              <a:t>BPS) and away from 'U.S.' (-</a:t>
            </a:r>
          </a:p>
        </p:txBody>
      </p:sp>
      <p:pic>
        <p:nvPicPr>
          <p:cNvPr id="32" name="Picture 31" descr="lock.png"/>
          <p:cNvPicPr>
            <a:picLocks noChangeAspect="1"/>
          </p:cNvPicPr>
          <p:nvPr/>
        </p:nvPicPr>
        <p:blipFill>
          <a:blip r:embed="rId4"/>
          <a:stretch>
            <a:fillRect/>
          </a:stretch>
        </p:blipFill>
        <p:spPr>
          <a:xfrm>
            <a:off x="4068001" y="3436302"/>
            <a:ext cx="134549" cy="195707"/>
          </a:xfrm>
          <a:prstGeom prst="rect">
            <a:avLst/>
          </a:prstGeom>
        </p:spPr>
      </p:pic>
      <p:sp>
        <p:nvSpPr>
          <p:cNvPr id="33" name="TextBox 32"/>
          <p:cNvSpPr txBox="1"/>
          <p:nvPr/>
        </p:nvSpPr>
        <p:spPr>
          <a:xfrm>
            <a:off x="4243110"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664140"/>
            <a:ext cx="134549" cy="195707"/>
          </a:xfrm>
          <a:prstGeom prst="rect">
            <a:avLst/>
          </a:prstGeom>
        </p:spPr>
      </p:pic>
      <p:sp>
        <p:nvSpPr>
          <p:cNvPr id="36" name="TextBox 35"/>
          <p:cNvSpPr txBox="1"/>
          <p:nvPr/>
        </p:nvSpPr>
        <p:spPr>
          <a:xfrm>
            <a:off x="1965143"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664140"/>
            <a:ext cx="134549" cy="195707"/>
          </a:xfrm>
          <a:prstGeom prst="rect">
            <a:avLst/>
          </a:prstGeom>
        </p:spPr>
      </p:pic>
      <p:sp>
        <p:nvSpPr>
          <p:cNvPr id="38" name="TextBox 37"/>
          <p:cNvSpPr txBox="1"/>
          <p:nvPr/>
        </p:nvSpPr>
        <p:spPr>
          <a:xfrm>
            <a:off x="2291688" y="3674363"/>
            <a:ext cx="1412614" cy="194310"/>
          </a:xfrm>
          <a:prstGeom prst="rect">
            <a:avLst/>
          </a:prstGeom>
          <a:noFill/>
        </p:spPr>
        <p:txBody>
          <a:bodyPr wrap="none" lIns="0" rIns="0" tIns="0" bIns="0">
            <a:spAutoFit/>
          </a:bodyPr>
          <a:lstStyle/>
          <a:p>
            <a:r>
              <a:rPr sz="1150" b="0">
                <a:solidFill>
                  <a:srgbClr val="2E2E2E"/>
                </a:solidFill>
                <a:latin typeface="Calibri"/>
              </a:rPr>
              <a:t>MT across 2 countries.</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57436" y="1589913"/>
            <a:ext cx="366712" cy="533400"/>
          </a:xfrm>
          <a:prstGeom prst="rect">
            <a:avLst/>
          </a:prstGeom>
        </p:spPr>
      </p:pic>
      <p:sp>
        <p:nvSpPr>
          <p:cNvPr id="21" name="TextBox 20"/>
          <p:cNvSpPr txBox="1"/>
          <p:nvPr/>
        </p:nvSpPr>
        <p:spPr>
          <a:xfrm>
            <a:off x="276225" y="2990850"/>
            <a:ext cx="1742368" cy="194310"/>
          </a:xfrm>
          <a:prstGeom prst="rect">
            <a:avLst/>
          </a:prstGeom>
          <a:noFill/>
        </p:spPr>
        <p:txBody>
          <a:bodyPr wrap="none" lIns="0" rIns="0" tIns="0" bIns="0">
            <a:spAutoFit/>
          </a:bodyPr>
          <a:lstStyle/>
          <a:p>
            <a:r>
              <a:rPr sz="1150" b="0">
                <a:solidFill>
                  <a:srgbClr val="2E2E2E"/>
                </a:solidFill>
                <a:latin typeface="Calibri"/>
              </a:rPr>
              <a:t>▪ 'U.S.' is the largest country</a:t>
            </a:r>
          </a:p>
        </p:txBody>
      </p:sp>
      <p:pic>
        <p:nvPicPr>
          <p:cNvPr id="22" name="Picture 21" descr="lock.png"/>
          <p:cNvPicPr>
            <a:picLocks noChangeAspect="1"/>
          </p:cNvPicPr>
          <p:nvPr/>
        </p:nvPicPr>
        <p:blipFill>
          <a:blip r:embed="rId4"/>
          <a:stretch>
            <a:fillRect/>
          </a:stretch>
        </p:blipFill>
        <p:spPr>
          <a:xfrm>
            <a:off x="1967747" y="2980626"/>
            <a:ext cx="134549" cy="195707"/>
          </a:xfrm>
          <a:prstGeom prst="rect">
            <a:avLst/>
          </a:prstGeom>
        </p:spPr>
      </p:pic>
      <p:sp>
        <p:nvSpPr>
          <p:cNvPr id="23" name="TextBox 22"/>
          <p:cNvSpPr txBox="1"/>
          <p:nvPr/>
        </p:nvSpPr>
        <p:spPr>
          <a:xfrm>
            <a:off x="2142856"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048789" y="2980626"/>
            <a:ext cx="134549" cy="195707"/>
          </a:xfrm>
          <a:prstGeom prst="rect">
            <a:avLst/>
          </a:prstGeom>
        </p:spPr>
      </p:pic>
      <p:sp>
        <p:nvSpPr>
          <p:cNvPr id="25" name="TextBox 24"/>
          <p:cNvSpPr txBox="1"/>
          <p:nvPr/>
        </p:nvSpPr>
        <p:spPr>
          <a:xfrm>
            <a:off x="3223898"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642243" cy="194310"/>
          </a:xfrm>
          <a:prstGeom prst="rect">
            <a:avLst/>
          </a:prstGeom>
          <a:noFill/>
        </p:spPr>
        <p:txBody>
          <a:bodyPr wrap="none" lIns="0" rIns="0" tIns="0" bIns="0">
            <a:spAutoFit/>
          </a:bodyPr>
          <a:lstStyle/>
          <a:p>
            <a:r>
              <a:rPr sz="1150" b="0">
                <a:solidFill>
                  <a:srgbClr val="2E2E2E"/>
                </a:solidFill>
                <a:latin typeface="Calibri"/>
              </a:rPr>
              <a:t>▪ 'Canada' grows fastest at</a:t>
            </a:r>
          </a:p>
        </p:txBody>
      </p:sp>
      <p:pic>
        <p:nvPicPr>
          <p:cNvPr id="27" name="Picture 26" descr="lock.png"/>
          <p:cNvPicPr>
            <a:picLocks noChangeAspect="1"/>
          </p:cNvPicPr>
          <p:nvPr/>
        </p:nvPicPr>
        <p:blipFill>
          <a:blip r:embed="rId4"/>
          <a:stretch>
            <a:fillRect/>
          </a:stretch>
        </p:blipFill>
        <p:spPr>
          <a:xfrm>
            <a:off x="1867622" y="3208464"/>
            <a:ext cx="134549" cy="195707"/>
          </a:xfrm>
          <a:prstGeom prst="rect">
            <a:avLst/>
          </a:prstGeom>
        </p:spPr>
      </p:pic>
      <p:sp>
        <p:nvSpPr>
          <p:cNvPr id="28" name="TextBox 27"/>
          <p:cNvSpPr txBox="1"/>
          <p:nvPr/>
        </p:nvSpPr>
        <p:spPr>
          <a:xfrm>
            <a:off x="2042732"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1999381" cy="194310"/>
          </a:xfrm>
          <a:prstGeom prst="rect">
            <a:avLst/>
          </a:prstGeom>
          <a:noFill/>
        </p:spPr>
        <p:txBody>
          <a:bodyPr wrap="none" lIns="0" rIns="0" tIns="0" bIns="0">
            <a:spAutoFit/>
          </a:bodyPr>
          <a:lstStyle/>
          <a:p>
            <a:r>
              <a:rPr sz="1150" b="0">
                <a:solidFill>
                  <a:srgbClr val="2E2E2E"/>
                </a:solidFill>
                <a:latin typeface="Calibri"/>
              </a:rPr>
              <a:t>▪ Share shifts toward 'Canada' (+</a:t>
            </a:r>
          </a:p>
        </p:txBody>
      </p:sp>
      <p:pic>
        <p:nvPicPr>
          <p:cNvPr id="30" name="Picture 29" descr="lock.png"/>
          <p:cNvPicPr>
            <a:picLocks noChangeAspect="1"/>
          </p:cNvPicPr>
          <p:nvPr/>
        </p:nvPicPr>
        <p:blipFill>
          <a:blip r:embed="rId4"/>
          <a:stretch>
            <a:fillRect/>
          </a:stretch>
        </p:blipFill>
        <p:spPr>
          <a:xfrm>
            <a:off x="2224760" y="3436302"/>
            <a:ext cx="134549" cy="195707"/>
          </a:xfrm>
          <a:prstGeom prst="rect">
            <a:avLst/>
          </a:prstGeom>
        </p:spPr>
      </p:pic>
      <p:sp>
        <p:nvSpPr>
          <p:cNvPr id="31" name="TextBox 30"/>
          <p:cNvSpPr txBox="1"/>
          <p:nvPr/>
        </p:nvSpPr>
        <p:spPr>
          <a:xfrm>
            <a:off x="2399870" y="3446525"/>
            <a:ext cx="1718977" cy="194310"/>
          </a:xfrm>
          <a:prstGeom prst="rect">
            <a:avLst/>
          </a:prstGeom>
          <a:noFill/>
        </p:spPr>
        <p:txBody>
          <a:bodyPr wrap="none" lIns="0" rIns="0" tIns="0" bIns="0">
            <a:spAutoFit/>
          </a:bodyPr>
          <a:lstStyle/>
          <a:p>
            <a:r>
              <a:rPr sz="1150" b="0">
                <a:solidFill>
                  <a:srgbClr val="2E2E2E"/>
                </a:solidFill>
                <a:latin typeface="Calibri"/>
              </a:rPr>
              <a:t>BPS) and away from 'U.S.' (-</a:t>
            </a:r>
          </a:p>
        </p:txBody>
      </p:sp>
      <p:pic>
        <p:nvPicPr>
          <p:cNvPr id="32" name="Picture 31" descr="lock.png"/>
          <p:cNvPicPr>
            <a:picLocks noChangeAspect="1"/>
          </p:cNvPicPr>
          <p:nvPr/>
        </p:nvPicPr>
        <p:blipFill>
          <a:blip r:embed="rId4"/>
          <a:stretch>
            <a:fillRect/>
          </a:stretch>
        </p:blipFill>
        <p:spPr>
          <a:xfrm>
            <a:off x="4068001" y="3436302"/>
            <a:ext cx="134549" cy="195707"/>
          </a:xfrm>
          <a:prstGeom prst="rect">
            <a:avLst/>
          </a:prstGeom>
        </p:spPr>
      </p:pic>
      <p:sp>
        <p:nvSpPr>
          <p:cNvPr id="33" name="TextBox 32"/>
          <p:cNvSpPr txBox="1"/>
          <p:nvPr/>
        </p:nvSpPr>
        <p:spPr>
          <a:xfrm>
            <a:off x="4243110"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686173" cy="194310"/>
          </a:xfrm>
          <a:prstGeom prst="rect">
            <a:avLst/>
          </a:prstGeom>
          <a:noFill/>
        </p:spPr>
        <p:txBody>
          <a:bodyPr wrap="none" lIns="0" rIns="0" tIns="0" bIns="0">
            <a:spAutoFit/>
          </a:bodyPr>
          <a:lstStyle/>
          <a:p>
            <a:r>
              <a:rPr sz="1150" b="0">
                <a:solidFill>
                  <a:srgbClr val="2E2E2E"/>
                </a:solidFill>
                <a:latin typeface="Calibri"/>
              </a:rPr>
              <a:t>US$ Mn across 2 countries.</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(MT)</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6058646" y="2026489"/>
            <a:ext cx="363375" cy="528545"/>
          </a:xfrm>
          <a:prstGeom prst="rect">
            <a:avLst/>
          </a:prstGeom>
        </p:spPr>
      </p:pic>
      <p:pic>
        <p:nvPicPr>
          <p:cNvPr id="19" name="Picture 18" descr="lock.png"/>
          <p:cNvPicPr>
            <a:picLocks noChangeAspect="1"/>
          </p:cNvPicPr>
          <p:nvPr/>
        </p:nvPicPr>
        <p:blipFill>
          <a:blip r:embed="rId6"/>
          <a:stretch>
            <a:fillRect/>
          </a:stretch>
        </p:blipFill>
        <p:spPr>
          <a:xfrm>
            <a:off x="6058646" y="4912564"/>
            <a:ext cx="363375" cy="528545"/>
          </a:xfrm>
          <a:prstGeom prst="rect">
            <a:avLst/>
          </a:prstGeom>
        </p:spPr>
      </p:pic>
      <p:sp>
        <p:nvSpPr>
          <p:cNvPr id="20" name="lockshield_13"/>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86"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8137511" y="1266825"/>
            <a:ext cx="3816364"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4130192" y="3919537"/>
            <a:ext cx="115252" cy="167639"/>
          </a:xfrm>
          <a:prstGeom prst="rect">
            <a:avLst/>
          </a:prstGeom>
        </p:spPr>
      </p:pic>
      <p:pic>
        <p:nvPicPr>
          <p:cNvPr id="17" name="Picture 16" descr="lock.png"/>
          <p:cNvPicPr>
            <a:picLocks noChangeAspect="1"/>
          </p:cNvPicPr>
          <p:nvPr/>
        </p:nvPicPr>
        <p:blipFill>
          <a:blip r:embed="rId4"/>
          <a:stretch>
            <a:fillRect/>
          </a:stretch>
        </p:blipFill>
        <p:spPr>
          <a:xfrm>
            <a:off x="9988066" y="3919537"/>
            <a:ext cx="115252" cy="167639"/>
          </a:xfrm>
          <a:prstGeom prst="rect">
            <a:avLst/>
          </a:prstGeom>
        </p:spPr>
      </p:pic>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666875"/>
            <a:ext cx="103632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009775"/>
            <a:ext cx="103632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2695575"/>
            <a:ext cx="5067300" cy="36385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Flour Base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Dietary Formulation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Nutritional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Recipe and Ingredient Claims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Surface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Individual Muffin Size</a:t>
            </a:r>
          </a:p>
        </p:txBody>
      </p:sp>
      <p:sp>
        <p:nvSpPr>
          <p:cNvPr id="12" name="TextBox 11"/>
          <p:cNvSpPr txBox="1"/>
          <p:nvPr/>
        </p:nvSpPr>
        <p:spPr>
          <a:xfrm>
            <a:off x="6096000" y="2695575"/>
            <a:ext cx="5067300" cy="32448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Storage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Shelf Life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 Configuration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Multipack Wrapping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Price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Brand Ownership</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a:t>
            </a:r>
          </a:p>
        </p:txBody>
      </p:sp>
      <p:sp>
        <p:nvSpPr>
          <p:cNvPr id="13" name="TextBox 1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Sweet muffins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Savoury muffins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1_997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086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600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_268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5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05261" cy="186689"/>
          </a:xfrm>
          <a:prstGeom prst="rect">
            <a:avLst/>
          </a:prstGeom>
          <a:noFill/>
        </p:spPr>
        <p:txBody>
          <a:bodyPr wrap="none" lIns="0" rIns="0" tIns="0" bIns="0">
            <a:spAutoFit/>
          </a:bodyPr>
          <a:lstStyle/>
          <a:p>
            <a:r>
              <a:rPr sz="1100" b="0">
                <a:solidFill>
                  <a:srgbClr val="2E2E2E"/>
                </a:solidFill>
                <a:latin typeface="Calibri"/>
              </a:rPr>
              <a:t>▪ 'Sweet muffins' holds the largest share in 2026</a:t>
            </a:r>
          </a:p>
        </p:txBody>
      </p:sp>
      <p:pic>
        <p:nvPicPr>
          <p:cNvPr id="59" name="Picture 58" descr="lock.png"/>
          <p:cNvPicPr>
            <a:picLocks noChangeAspect="1"/>
          </p:cNvPicPr>
          <p:nvPr/>
        </p:nvPicPr>
        <p:blipFill>
          <a:blip r:embed="rId10"/>
          <a:stretch>
            <a:fillRect/>
          </a:stretch>
        </p:blipFill>
        <p:spPr>
          <a:xfrm>
            <a:off x="472307" y="4387298"/>
            <a:ext cx="128699" cy="187198"/>
          </a:xfrm>
          <a:prstGeom prst="rect">
            <a:avLst/>
          </a:prstGeom>
        </p:spPr>
      </p:pic>
      <p:sp>
        <p:nvSpPr>
          <p:cNvPr id="60" name="TextBox 59"/>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1" name="TextBox 60"/>
          <p:cNvSpPr txBox="1"/>
          <p:nvPr/>
        </p:nvSpPr>
        <p:spPr>
          <a:xfrm>
            <a:off x="485775" y="4615009"/>
            <a:ext cx="2286843" cy="186689"/>
          </a:xfrm>
          <a:prstGeom prst="rect">
            <a:avLst/>
          </a:prstGeom>
          <a:noFill/>
        </p:spPr>
        <p:txBody>
          <a:bodyPr wrap="none" lIns="0" rIns="0" tIns="0" bIns="0">
            <a:spAutoFit/>
          </a:bodyPr>
          <a:lstStyle/>
          <a:p>
            <a:r>
              <a:rPr sz="1100" b="0">
                <a:solidFill>
                  <a:srgbClr val="2E2E2E"/>
                </a:solidFill>
                <a:latin typeface="Calibri"/>
              </a:rPr>
              <a:t>▪ 'Sweet muffins' is the fastest-growing</a:t>
            </a:r>
          </a:p>
        </p:txBody>
      </p:sp>
      <p:sp>
        <p:nvSpPr>
          <p:cNvPr id="62" name="TextBox 61"/>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3" name="Picture 62" descr="lock.png"/>
          <p:cNvPicPr>
            <a:picLocks noChangeAspect="1"/>
          </p:cNvPicPr>
          <p:nvPr/>
        </p:nvPicPr>
        <p:blipFill>
          <a:blip r:embed="rId10"/>
          <a:stretch>
            <a:fillRect/>
          </a:stretch>
        </p:blipFill>
        <p:spPr>
          <a:xfrm>
            <a:off x="1391064" y="4772870"/>
            <a:ext cx="128699" cy="187198"/>
          </a:xfrm>
          <a:prstGeom prst="rect">
            <a:avLst/>
          </a:prstGeom>
        </p:spPr>
      </p:pic>
      <p:sp>
        <p:nvSpPr>
          <p:cNvPr id="64" name="TextBox 63"/>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6" name="Picture 65" descr="lock.png"/>
          <p:cNvPicPr>
            <a:picLocks noChangeAspect="1"/>
          </p:cNvPicPr>
          <p:nvPr/>
        </p:nvPicPr>
        <p:blipFill>
          <a:blip r:embed="rId10"/>
          <a:stretch>
            <a:fillRect/>
          </a:stretch>
        </p:blipFill>
        <p:spPr>
          <a:xfrm>
            <a:off x="2240451" y="4990801"/>
            <a:ext cx="128699" cy="187198"/>
          </a:xfrm>
          <a:prstGeom prst="rect">
            <a:avLst/>
          </a:prstGeom>
        </p:spPr>
      </p:pic>
      <p:sp>
        <p:nvSpPr>
          <p:cNvPr id="67" name="TextBox 66"/>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552799" y="4990801"/>
            <a:ext cx="128699" cy="187198"/>
          </a:xfrm>
          <a:prstGeom prst="rect">
            <a:avLst/>
          </a:prstGeom>
        </p:spPr>
      </p:pic>
      <p:sp>
        <p:nvSpPr>
          <p:cNvPr id="69" name="TextBox 68"/>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558603" cy="186689"/>
          </a:xfrm>
          <a:prstGeom prst="rect">
            <a:avLst/>
          </a:prstGeom>
          <a:noFill/>
        </p:spPr>
        <p:txBody>
          <a:bodyPr wrap="none" lIns="0" rIns="0" tIns="0" bIns="0">
            <a:spAutoFit/>
          </a:bodyPr>
          <a:lstStyle/>
          <a:p>
            <a:r>
              <a:rPr sz="1100" b="0">
                <a:solidFill>
                  <a:srgbClr val="2E2E2E"/>
                </a:solidFill>
                <a:latin typeface="Calibri"/>
              </a:rPr>
              <a:t>▪ 2 sub-segments make up the product type</a:t>
            </a:r>
          </a:p>
        </p:txBody>
      </p:sp>
      <p:sp>
        <p:nvSpPr>
          <p:cNvPr id="72" name="TextBox 71"/>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3" name="TextBox 72"/>
          <p:cNvSpPr txBox="1"/>
          <p:nvPr/>
        </p:nvSpPr>
        <p:spPr>
          <a:xfrm>
            <a:off x="3838575" y="4229437"/>
            <a:ext cx="1041548" cy="186689"/>
          </a:xfrm>
          <a:prstGeom prst="rect">
            <a:avLst/>
          </a:prstGeom>
          <a:noFill/>
        </p:spPr>
        <p:txBody>
          <a:bodyPr wrap="none" lIns="0" rIns="0" tIns="0" bIns="0">
            <a:spAutoFit/>
          </a:bodyPr>
          <a:lstStyle/>
          <a:p>
            <a:r>
              <a:rPr sz="1100" b="0">
                <a:solidFill>
                  <a:srgbClr val="2E2E2E"/>
                </a:solidFill>
                <a:latin typeface="Calibri"/>
              </a:rPr>
              <a:t>● Sweet muffins:</a:t>
            </a:r>
          </a:p>
        </p:txBody>
      </p:sp>
      <p:pic>
        <p:nvPicPr>
          <p:cNvPr id="74" name="Picture 73" descr="lock.png"/>
          <p:cNvPicPr>
            <a:picLocks noChangeAspect="1"/>
          </p:cNvPicPr>
          <p:nvPr/>
        </p:nvPicPr>
        <p:blipFill>
          <a:blip r:embed="rId10"/>
          <a:stretch>
            <a:fillRect/>
          </a:stretch>
        </p:blipFill>
        <p:spPr>
          <a:xfrm>
            <a:off x="4828175" y="4219658"/>
            <a:ext cx="128699" cy="187198"/>
          </a:xfrm>
          <a:prstGeom prst="rect">
            <a:avLst/>
          </a:prstGeom>
        </p:spPr>
      </p:pic>
      <p:sp>
        <p:nvSpPr>
          <p:cNvPr id="75" name="TextBox 74"/>
          <p:cNvSpPr txBox="1"/>
          <p:nvPr/>
        </p:nvSpPr>
        <p:spPr>
          <a:xfrm>
            <a:off x="499567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855121" y="4219658"/>
            <a:ext cx="128699" cy="187198"/>
          </a:xfrm>
          <a:prstGeom prst="rect">
            <a:avLst/>
          </a:prstGeom>
        </p:spPr>
      </p:pic>
      <p:sp>
        <p:nvSpPr>
          <p:cNvPr id="77" name="TextBox 76"/>
          <p:cNvSpPr txBox="1"/>
          <p:nvPr/>
        </p:nvSpPr>
        <p:spPr>
          <a:xfrm>
            <a:off x="602261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1144686" cy="186689"/>
          </a:xfrm>
          <a:prstGeom prst="rect">
            <a:avLst/>
          </a:prstGeom>
          <a:noFill/>
        </p:spPr>
        <p:txBody>
          <a:bodyPr wrap="none" lIns="0" rIns="0" tIns="0" bIns="0">
            <a:spAutoFit/>
          </a:bodyPr>
          <a:lstStyle/>
          <a:p>
            <a:r>
              <a:rPr sz="1100" b="0">
                <a:solidFill>
                  <a:srgbClr val="2E2E2E"/>
                </a:solidFill>
                <a:latin typeface="Calibri"/>
              </a:rPr>
              <a:t>● Savoury muffins:</a:t>
            </a:r>
          </a:p>
        </p:txBody>
      </p:sp>
      <p:pic>
        <p:nvPicPr>
          <p:cNvPr id="79" name="Picture 78" descr="lock.png"/>
          <p:cNvPicPr>
            <a:picLocks noChangeAspect="1"/>
          </p:cNvPicPr>
          <p:nvPr/>
        </p:nvPicPr>
        <p:blipFill>
          <a:blip r:embed="rId10"/>
          <a:stretch>
            <a:fillRect/>
          </a:stretch>
        </p:blipFill>
        <p:spPr>
          <a:xfrm>
            <a:off x="4931313" y="4437590"/>
            <a:ext cx="128699" cy="187198"/>
          </a:xfrm>
          <a:prstGeom prst="rect">
            <a:avLst/>
          </a:prstGeom>
        </p:spPr>
      </p:pic>
      <p:sp>
        <p:nvSpPr>
          <p:cNvPr id="80" name="TextBox 79"/>
          <p:cNvSpPr txBox="1"/>
          <p:nvPr/>
        </p:nvSpPr>
        <p:spPr>
          <a:xfrm>
            <a:off x="509880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958259" y="4437590"/>
            <a:ext cx="128699" cy="187198"/>
          </a:xfrm>
          <a:prstGeom prst="rect">
            <a:avLst/>
          </a:prstGeom>
        </p:spPr>
      </p:pic>
      <p:sp>
        <p:nvSpPr>
          <p:cNvPr id="82" name="TextBox 81"/>
          <p:cNvSpPr txBox="1"/>
          <p:nvPr/>
        </p:nvSpPr>
        <p:spPr>
          <a:xfrm>
            <a:off x="6125755"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84" name="TextBox 83"/>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5" name="Picture 84" descr="lock.png"/>
          <p:cNvPicPr>
            <a:picLocks noChangeAspect="1"/>
          </p:cNvPicPr>
          <p:nvPr/>
        </p:nvPicPr>
        <p:blipFill>
          <a:blip r:embed="rId10"/>
          <a:stretch>
            <a:fillRect/>
          </a:stretch>
        </p:blipFill>
        <p:spPr>
          <a:xfrm>
            <a:off x="9048826" y="6007677"/>
            <a:ext cx="134549" cy="195707"/>
          </a:xfrm>
          <a:prstGeom prst="rect">
            <a:avLst/>
          </a:prstGeom>
        </p:spPr>
      </p:pic>
      <p:sp>
        <p:nvSpPr>
          <p:cNvPr id="86" name="TextBox 85"/>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413722" cy="186689"/>
          </a:xfrm>
          <a:prstGeom prst="rect">
            <a:avLst/>
          </a:prstGeom>
          <a:noFill/>
        </p:spPr>
        <p:txBody>
          <a:bodyPr wrap="none" lIns="0" rIns="0" tIns="0" bIns="0">
            <a:spAutoFit/>
          </a:bodyPr>
          <a:lstStyle/>
          <a:p>
            <a:r>
              <a:rPr sz="1100" b="0">
                <a:solidFill>
                  <a:srgbClr val="2E2E2E"/>
                </a:solidFill>
                <a:latin typeface="Calibri"/>
              </a:rPr>
              <a:t>Between 2026 and 2036, 'Sweet muffins' gains the most share in the North America market (+</a:t>
            </a:r>
          </a:p>
        </p:txBody>
      </p:sp>
      <p:pic>
        <p:nvPicPr>
          <p:cNvPr id="21" name="Picture 20" descr="lock.png"/>
          <p:cNvPicPr>
            <a:picLocks noChangeAspect="1"/>
          </p:cNvPicPr>
          <p:nvPr/>
        </p:nvPicPr>
        <p:blipFill>
          <a:blip r:embed="rId6"/>
          <a:stretch>
            <a:fillRect/>
          </a:stretch>
        </p:blipFill>
        <p:spPr>
          <a:xfrm>
            <a:off x="5618948" y="5851905"/>
            <a:ext cx="128699" cy="187198"/>
          </a:xfrm>
          <a:prstGeom prst="rect">
            <a:avLst/>
          </a:prstGeom>
        </p:spPr>
      </p:pic>
      <p:sp>
        <p:nvSpPr>
          <p:cNvPr id="22" name="TextBox 21"/>
          <p:cNvSpPr txBox="1"/>
          <p:nvPr/>
        </p:nvSpPr>
        <p:spPr>
          <a:xfrm>
            <a:off x="5786444" y="5861685"/>
            <a:ext cx="2036365" cy="186689"/>
          </a:xfrm>
          <a:prstGeom prst="rect">
            <a:avLst/>
          </a:prstGeom>
          <a:noFill/>
        </p:spPr>
        <p:txBody>
          <a:bodyPr wrap="none" lIns="0" rIns="0" tIns="0" bIns="0">
            <a:spAutoFit/>
          </a:bodyPr>
          <a:lstStyle/>
          <a:p>
            <a:r>
              <a:rPr sz="1100" b="0">
                <a:solidFill>
                  <a:srgbClr val="2E2E2E"/>
                </a:solidFill>
                <a:latin typeface="Calibri"/>
              </a:rPr>
              <a:t>BPS) while 'Savoury muffins' cedes</a:t>
            </a:r>
          </a:p>
        </p:txBody>
      </p:sp>
      <p:pic>
        <p:nvPicPr>
          <p:cNvPr id="23" name="Picture 22" descr="lock.png"/>
          <p:cNvPicPr>
            <a:picLocks noChangeAspect="1"/>
          </p:cNvPicPr>
          <p:nvPr/>
        </p:nvPicPr>
        <p:blipFill>
          <a:blip r:embed="rId6"/>
          <a:stretch>
            <a:fillRect/>
          </a:stretch>
        </p:blipFill>
        <p:spPr>
          <a:xfrm>
            <a:off x="7770861" y="5851905"/>
            <a:ext cx="128699" cy="187198"/>
          </a:xfrm>
          <a:prstGeom prst="rect">
            <a:avLst/>
          </a:prstGeom>
        </p:spPr>
      </p:pic>
      <p:sp>
        <p:nvSpPr>
          <p:cNvPr id="24" name="TextBox 23"/>
          <p:cNvSpPr txBox="1"/>
          <p:nvPr/>
        </p:nvSpPr>
        <p:spPr>
          <a:xfrm>
            <a:off x="7938357"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Sweet muffins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Savoury muffins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Type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Type (MT)</a:t>
            </a:r>
          </a:p>
        </p:txBody>
      </p:sp>
      <p:graphicFrame>
        <p:nvGraphicFramePr>
          <p:cNvPr id="13" name="Table 12"/>
          <p:cNvGraphicFramePr>
            <a:graphicFrameLocks noGrp="1"/>
          </p:cNvGraphicFramePr>
          <p:nvPr/>
        </p:nvGraphicFramePr>
        <p:xfrm>
          <a:off x="152400" y="1238250"/>
          <a:ext cx="11887199" cy="1181100"/>
        </p:xfrm>
        <a:graphic>
          <a:graphicData uri="http://schemas.openxmlformats.org/drawingml/2006/table">
            <a:tbl>
              <a:tblPr>
                <a:tableStyleId>{5C22544A-7EE6-4342-B048-85BDC9FD1C3A}</a:tableStyleId>
              </a:tblPr>
              <a:tblGrid>
                <a:gridCol w="1083397"/>
                <a:gridCol w="583049"/>
                <a:gridCol w="583049"/>
                <a:gridCol w="583049"/>
                <a:gridCol w="583049"/>
                <a:gridCol w="583049"/>
                <a:gridCol w="583049"/>
                <a:gridCol w="583049"/>
                <a:gridCol w="693420"/>
                <a:gridCol w="693420"/>
                <a:gridCol w="693420"/>
                <a:gridCol w="693420"/>
                <a:gridCol w="693420"/>
                <a:gridCol w="693420"/>
                <a:gridCol w="693420"/>
                <a:gridCol w="693420"/>
                <a:gridCol w="693420"/>
                <a:gridCol w="481679"/>
              </a:tblGrid>
              <a:tr h="438912">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7396">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396">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Type</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51008" y="1781556"/>
            <a:ext cx="366712" cy="533400"/>
          </a:xfrm>
          <a:prstGeom prst="rect">
            <a:avLst/>
          </a:prstGeom>
        </p:spPr>
      </p:pic>
      <p:sp>
        <p:nvSpPr>
          <p:cNvPr id="21" name="TextBox 20"/>
          <p:cNvSpPr txBox="1"/>
          <p:nvPr/>
        </p:nvSpPr>
        <p:spPr>
          <a:xfrm>
            <a:off x="276225" y="3181350"/>
            <a:ext cx="2817204" cy="194310"/>
          </a:xfrm>
          <a:prstGeom prst="rect">
            <a:avLst/>
          </a:prstGeom>
          <a:noFill/>
        </p:spPr>
        <p:txBody>
          <a:bodyPr wrap="none" lIns="0" rIns="0" tIns="0" bIns="0">
            <a:spAutoFit/>
          </a:bodyPr>
          <a:lstStyle/>
          <a:p>
            <a:r>
              <a:rPr sz="1150" b="0">
                <a:solidFill>
                  <a:srgbClr val="2E2E2E"/>
                </a:solidFill>
                <a:latin typeface="Calibri"/>
              </a:rPr>
              <a:t>▪ 'Sweet muffins' is the largest product type at</a:t>
            </a:r>
          </a:p>
        </p:txBody>
      </p:sp>
      <p:pic>
        <p:nvPicPr>
          <p:cNvPr id="22" name="Picture 21" descr="lock.png"/>
          <p:cNvPicPr>
            <a:picLocks noChangeAspect="1"/>
          </p:cNvPicPr>
          <p:nvPr/>
        </p:nvPicPr>
        <p:blipFill>
          <a:blip r:embed="rId4"/>
          <a:stretch>
            <a:fillRect/>
          </a:stretch>
        </p:blipFill>
        <p:spPr>
          <a:xfrm>
            <a:off x="3042583" y="3171126"/>
            <a:ext cx="134549" cy="195707"/>
          </a:xfrm>
          <a:prstGeom prst="rect">
            <a:avLst/>
          </a:prstGeom>
        </p:spPr>
      </p:pic>
      <p:sp>
        <p:nvSpPr>
          <p:cNvPr id="23" name="TextBox 22"/>
          <p:cNvSpPr txBox="1"/>
          <p:nvPr/>
        </p:nvSpPr>
        <p:spPr>
          <a:xfrm>
            <a:off x="3217692" y="31813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247425" y="3171126"/>
            <a:ext cx="134549" cy="195707"/>
          </a:xfrm>
          <a:prstGeom prst="rect">
            <a:avLst/>
          </a:prstGeom>
        </p:spPr>
      </p:pic>
      <p:sp>
        <p:nvSpPr>
          <p:cNvPr id="25" name="TextBox 24"/>
          <p:cNvSpPr txBox="1"/>
          <p:nvPr/>
        </p:nvSpPr>
        <p:spPr>
          <a:xfrm>
            <a:off x="4422535" y="31813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09187"/>
            <a:ext cx="1898116" cy="194310"/>
          </a:xfrm>
          <a:prstGeom prst="rect">
            <a:avLst/>
          </a:prstGeom>
          <a:noFill/>
        </p:spPr>
        <p:txBody>
          <a:bodyPr wrap="none" lIns="0" rIns="0" tIns="0" bIns="0">
            <a:spAutoFit/>
          </a:bodyPr>
          <a:lstStyle/>
          <a:p>
            <a:r>
              <a:rPr sz="1150" b="0">
                <a:solidFill>
                  <a:srgbClr val="2E2E2E"/>
                </a:solidFill>
                <a:latin typeface="Calibri"/>
              </a:rPr>
              <a:t>▪ 'Sweet muffins' grows fastest</a:t>
            </a:r>
          </a:p>
        </p:txBody>
      </p:sp>
      <p:pic>
        <p:nvPicPr>
          <p:cNvPr id="27" name="Picture 26" descr="lock.png"/>
          <p:cNvPicPr>
            <a:picLocks noChangeAspect="1"/>
          </p:cNvPicPr>
          <p:nvPr/>
        </p:nvPicPr>
        <p:blipFill>
          <a:blip r:embed="rId4"/>
          <a:stretch>
            <a:fillRect/>
          </a:stretch>
        </p:blipFill>
        <p:spPr>
          <a:xfrm>
            <a:off x="2123495" y="3398964"/>
            <a:ext cx="134549" cy="195707"/>
          </a:xfrm>
          <a:prstGeom prst="rect">
            <a:avLst/>
          </a:prstGeom>
        </p:spPr>
      </p:pic>
      <p:sp>
        <p:nvSpPr>
          <p:cNvPr id="28" name="TextBox 27"/>
          <p:cNvSpPr txBox="1"/>
          <p:nvPr/>
        </p:nvSpPr>
        <p:spPr>
          <a:xfrm>
            <a:off x="2298604" y="34091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37025"/>
            <a:ext cx="2407294" cy="194310"/>
          </a:xfrm>
          <a:prstGeom prst="rect">
            <a:avLst/>
          </a:prstGeom>
          <a:noFill/>
        </p:spPr>
        <p:txBody>
          <a:bodyPr wrap="none" lIns="0" rIns="0" tIns="0" bIns="0">
            <a:spAutoFit/>
          </a:bodyPr>
          <a:lstStyle/>
          <a:p>
            <a:r>
              <a:rPr sz="1150" b="0">
                <a:solidFill>
                  <a:srgbClr val="2E2E2E"/>
                </a:solidFill>
                <a:latin typeface="Calibri"/>
              </a:rPr>
              <a:t>▪ Share shifts toward 'Sweet muffins' (+</a:t>
            </a:r>
          </a:p>
        </p:txBody>
      </p:sp>
      <p:pic>
        <p:nvPicPr>
          <p:cNvPr id="30" name="Picture 29" descr="lock.png"/>
          <p:cNvPicPr>
            <a:picLocks noChangeAspect="1"/>
          </p:cNvPicPr>
          <p:nvPr/>
        </p:nvPicPr>
        <p:blipFill>
          <a:blip r:embed="rId4"/>
          <a:stretch>
            <a:fillRect/>
          </a:stretch>
        </p:blipFill>
        <p:spPr>
          <a:xfrm>
            <a:off x="2632673" y="3626802"/>
            <a:ext cx="134549" cy="195707"/>
          </a:xfrm>
          <a:prstGeom prst="rect">
            <a:avLst/>
          </a:prstGeom>
        </p:spPr>
      </p:pic>
      <p:sp>
        <p:nvSpPr>
          <p:cNvPr id="31" name="TextBox 30"/>
          <p:cNvSpPr txBox="1"/>
          <p:nvPr/>
        </p:nvSpPr>
        <p:spPr>
          <a:xfrm>
            <a:off x="2807783" y="3637025"/>
            <a:ext cx="2441240" cy="194310"/>
          </a:xfrm>
          <a:prstGeom prst="rect">
            <a:avLst/>
          </a:prstGeom>
          <a:noFill/>
        </p:spPr>
        <p:txBody>
          <a:bodyPr wrap="none" lIns="0" rIns="0" tIns="0" bIns="0">
            <a:spAutoFit/>
          </a:bodyPr>
          <a:lstStyle/>
          <a:p>
            <a:r>
              <a:rPr sz="1150" b="0">
                <a:solidFill>
                  <a:srgbClr val="2E2E2E"/>
                </a:solidFill>
                <a:latin typeface="Calibri"/>
              </a:rPr>
              <a:t>BPS) and away from 'Savoury muffins' (-</a:t>
            </a:r>
          </a:p>
        </p:txBody>
      </p:sp>
      <p:pic>
        <p:nvPicPr>
          <p:cNvPr id="32" name="Picture 31" descr="lock.png"/>
          <p:cNvPicPr>
            <a:picLocks noChangeAspect="1"/>
          </p:cNvPicPr>
          <p:nvPr/>
        </p:nvPicPr>
        <p:blipFill>
          <a:blip r:embed="rId4"/>
          <a:stretch>
            <a:fillRect/>
          </a:stretch>
        </p:blipFill>
        <p:spPr>
          <a:xfrm>
            <a:off x="5198177" y="3626802"/>
            <a:ext cx="134549" cy="195707"/>
          </a:xfrm>
          <a:prstGeom prst="rect">
            <a:avLst/>
          </a:prstGeom>
        </p:spPr>
      </p:pic>
      <p:sp>
        <p:nvSpPr>
          <p:cNvPr id="33" name="TextBox 32"/>
          <p:cNvSpPr txBox="1"/>
          <p:nvPr/>
        </p:nvSpPr>
        <p:spPr>
          <a:xfrm>
            <a:off x="5373286" y="36370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8648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854640"/>
            <a:ext cx="134549" cy="195707"/>
          </a:xfrm>
          <a:prstGeom prst="rect">
            <a:avLst/>
          </a:prstGeom>
        </p:spPr>
      </p:pic>
      <p:sp>
        <p:nvSpPr>
          <p:cNvPr id="36" name="TextBox 35"/>
          <p:cNvSpPr txBox="1"/>
          <p:nvPr/>
        </p:nvSpPr>
        <p:spPr>
          <a:xfrm>
            <a:off x="1965143" y="38648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854640"/>
            <a:ext cx="134549" cy="195707"/>
          </a:xfrm>
          <a:prstGeom prst="rect">
            <a:avLst/>
          </a:prstGeom>
        </p:spPr>
      </p:pic>
      <p:sp>
        <p:nvSpPr>
          <p:cNvPr id="38" name="TextBox 37"/>
          <p:cNvSpPr txBox="1"/>
          <p:nvPr/>
        </p:nvSpPr>
        <p:spPr>
          <a:xfrm>
            <a:off x="2291688" y="38648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3" name="Table 12"/>
          <p:cNvGraphicFramePr>
            <a:graphicFrameLocks noGrp="1"/>
          </p:cNvGraphicFramePr>
          <p:nvPr/>
        </p:nvGraphicFramePr>
        <p:xfrm>
          <a:off x="152400" y="1238250"/>
          <a:ext cx="11887207" cy="990600"/>
        </p:xfrm>
        <a:graphic>
          <a:graphicData uri="http://schemas.openxmlformats.org/drawingml/2006/table">
            <a:tbl>
              <a:tblPr>
                <a:tableStyleId>{5C22544A-7EE6-4342-B048-85BDC9FD1C3A}</a:tableStyleId>
              </a:tblPr>
              <a:tblGrid>
                <a:gridCol w="1227204"/>
                <a:gridCol w="627059"/>
                <a:gridCol w="627059"/>
                <a:gridCol w="627059"/>
                <a:gridCol w="627059"/>
                <a:gridCol w="627059"/>
                <a:gridCol w="627059"/>
                <a:gridCol w="627059"/>
                <a:gridCol w="627059"/>
                <a:gridCol w="627059"/>
                <a:gridCol w="627059"/>
                <a:gridCol w="627059"/>
                <a:gridCol w="627059"/>
                <a:gridCol w="627059"/>
                <a:gridCol w="627059"/>
                <a:gridCol w="627059"/>
                <a:gridCol w="627059"/>
                <a:gridCol w="627059"/>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Type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2915" y="1589913"/>
            <a:ext cx="366712" cy="533400"/>
          </a:xfrm>
          <a:prstGeom prst="rect">
            <a:avLst/>
          </a:prstGeom>
        </p:spPr>
      </p:pic>
      <p:sp>
        <p:nvSpPr>
          <p:cNvPr id="21" name="TextBox 20"/>
          <p:cNvSpPr txBox="1"/>
          <p:nvPr/>
        </p:nvSpPr>
        <p:spPr>
          <a:xfrm>
            <a:off x="276225" y="2990850"/>
            <a:ext cx="2817204" cy="194310"/>
          </a:xfrm>
          <a:prstGeom prst="rect">
            <a:avLst/>
          </a:prstGeom>
          <a:noFill/>
        </p:spPr>
        <p:txBody>
          <a:bodyPr wrap="none" lIns="0" rIns="0" tIns="0" bIns="0">
            <a:spAutoFit/>
          </a:bodyPr>
          <a:lstStyle/>
          <a:p>
            <a:r>
              <a:rPr sz="1150" b="0">
                <a:solidFill>
                  <a:srgbClr val="2E2E2E"/>
                </a:solidFill>
                <a:latin typeface="Calibri"/>
              </a:rPr>
              <a:t>▪ 'Sweet muffins' is the largest product type at</a:t>
            </a:r>
          </a:p>
        </p:txBody>
      </p:sp>
      <p:pic>
        <p:nvPicPr>
          <p:cNvPr id="22" name="Picture 21" descr="lock.png"/>
          <p:cNvPicPr>
            <a:picLocks noChangeAspect="1"/>
          </p:cNvPicPr>
          <p:nvPr/>
        </p:nvPicPr>
        <p:blipFill>
          <a:blip r:embed="rId4"/>
          <a:stretch>
            <a:fillRect/>
          </a:stretch>
        </p:blipFill>
        <p:spPr>
          <a:xfrm>
            <a:off x="3042583" y="2980626"/>
            <a:ext cx="134549" cy="195707"/>
          </a:xfrm>
          <a:prstGeom prst="rect">
            <a:avLst/>
          </a:prstGeom>
        </p:spPr>
      </p:pic>
      <p:sp>
        <p:nvSpPr>
          <p:cNvPr id="23" name="TextBox 22"/>
          <p:cNvSpPr txBox="1"/>
          <p:nvPr/>
        </p:nvSpPr>
        <p:spPr>
          <a:xfrm>
            <a:off x="3217692"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123625" y="2980626"/>
            <a:ext cx="134549" cy="195707"/>
          </a:xfrm>
          <a:prstGeom prst="rect">
            <a:avLst/>
          </a:prstGeom>
        </p:spPr>
      </p:pic>
      <p:sp>
        <p:nvSpPr>
          <p:cNvPr id="25" name="TextBox 24"/>
          <p:cNvSpPr txBox="1"/>
          <p:nvPr/>
        </p:nvSpPr>
        <p:spPr>
          <a:xfrm>
            <a:off x="4298735"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898116" cy="194310"/>
          </a:xfrm>
          <a:prstGeom prst="rect">
            <a:avLst/>
          </a:prstGeom>
          <a:noFill/>
        </p:spPr>
        <p:txBody>
          <a:bodyPr wrap="none" lIns="0" rIns="0" tIns="0" bIns="0">
            <a:spAutoFit/>
          </a:bodyPr>
          <a:lstStyle/>
          <a:p>
            <a:r>
              <a:rPr sz="1150" b="0">
                <a:solidFill>
                  <a:srgbClr val="2E2E2E"/>
                </a:solidFill>
                <a:latin typeface="Calibri"/>
              </a:rPr>
              <a:t>▪ 'Sweet muffins' grows fastest</a:t>
            </a:r>
          </a:p>
        </p:txBody>
      </p:sp>
      <p:pic>
        <p:nvPicPr>
          <p:cNvPr id="27" name="Picture 26" descr="lock.png"/>
          <p:cNvPicPr>
            <a:picLocks noChangeAspect="1"/>
          </p:cNvPicPr>
          <p:nvPr/>
        </p:nvPicPr>
        <p:blipFill>
          <a:blip r:embed="rId4"/>
          <a:stretch>
            <a:fillRect/>
          </a:stretch>
        </p:blipFill>
        <p:spPr>
          <a:xfrm>
            <a:off x="2123495" y="3208464"/>
            <a:ext cx="134549" cy="195707"/>
          </a:xfrm>
          <a:prstGeom prst="rect">
            <a:avLst/>
          </a:prstGeom>
        </p:spPr>
      </p:pic>
      <p:sp>
        <p:nvSpPr>
          <p:cNvPr id="28" name="TextBox 27"/>
          <p:cNvSpPr txBox="1"/>
          <p:nvPr/>
        </p:nvSpPr>
        <p:spPr>
          <a:xfrm>
            <a:off x="2298604"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407294" cy="194310"/>
          </a:xfrm>
          <a:prstGeom prst="rect">
            <a:avLst/>
          </a:prstGeom>
          <a:noFill/>
        </p:spPr>
        <p:txBody>
          <a:bodyPr wrap="none" lIns="0" rIns="0" tIns="0" bIns="0">
            <a:spAutoFit/>
          </a:bodyPr>
          <a:lstStyle/>
          <a:p>
            <a:r>
              <a:rPr sz="1150" b="0">
                <a:solidFill>
                  <a:srgbClr val="2E2E2E"/>
                </a:solidFill>
                <a:latin typeface="Calibri"/>
              </a:rPr>
              <a:t>▪ Share shifts toward 'Sweet muffins' (+</a:t>
            </a:r>
          </a:p>
        </p:txBody>
      </p:sp>
      <p:pic>
        <p:nvPicPr>
          <p:cNvPr id="30" name="Picture 29" descr="lock.png"/>
          <p:cNvPicPr>
            <a:picLocks noChangeAspect="1"/>
          </p:cNvPicPr>
          <p:nvPr/>
        </p:nvPicPr>
        <p:blipFill>
          <a:blip r:embed="rId4"/>
          <a:stretch>
            <a:fillRect/>
          </a:stretch>
        </p:blipFill>
        <p:spPr>
          <a:xfrm>
            <a:off x="2632673" y="3436302"/>
            <a:ext cx="134549" cy="195707"/>
          </a:xfrm>
          <a:prstGeom prst="rect">
            <a:avLst/>
          </a:prstGeom>
        </p:spPr>
      </p:pic>
      <p:sp>
        <p:nvSpPr>
          <p:cNvPr id="31" name="TextBox 30"/>
          <p:cNvSpPr txBox="1"/>
          <p:nvPr/>
        </p:nvSpPr>
        <p:spPr>
          <a:xfrm>
            <a:off x="2807783" y="3446525"/>
            <a:ext cx="2441240" cy="194310"/>
          </a:xfrm>
          <a:prstGeom prst="rect">
            <a:avLst/>
          </a:prstGeom>
          <a:noFill/>
        </p:spPr>
        <p:txBody>
          <a:bodyPr wrap="none" lIns="0" rIns="0" tIns="0" bIns="0">
            <a:spAutoFit/>
          </a:bodyPr>
          <a:lstStyle/>
          <a:p>
            <a:r>
              <a:rPr sz="1150" b="0">
                <a:solidFill>
                  <a:srgbClr val="2E2E2E"/>
                </a:solidFill>
                <a:latin typeface="Calibri"/>
              </a:rPr>
              <a:t>BPS) and away from 'Savoury muffins' (-</a:t>
            </a:r>
          </a:p>
        </p:txBody>
      </p:sp>
      <p:pic>
        <p:nvPicPr>
          <p:cNvPr id="32" name="Picture 31" descr="lock.png"/>
          <p:cNvPicPr>
            <a:picLocks noChangeAspect="1"/>
          </p:cNvPicPr>
          <p:nvPr/>
        </p:nvPicPr>
        <p:blipFill>
          <a:blip r:embed="rId4"/>
          <a:stretch>
            <a:fillRect/>
          </a:stretch>
        </p:blipFill>
        <p:spPr>
          <a:xfrm>
            <a:off x="5198177" y="3436302"/>
            <a:ext cx="134549" cy="195707"/>
          </a:xfrm>
          <a:prstGeom prst="rect">
            <a:avLst/>
          </a:prstGeom>
        </p:spPr>
      </p:pic>
      <p:sp>
        <p:nvSpPr>
          <p:cNvPr id="33" name="TextBox 32"/>
          <p:cNvSpPr txBox="1"/>
          <p:nvPr/>
        </p:nvSpPr>
        <p:spPr>
          <a:xfrm>
            <a:off x="5373286"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3967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63490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587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Savoury muffins</a:t>
            </a:r>
          </a:p>
        </p:txBody>
      </p:sp>
      <p:sp>
        <p:nvSpPr>
          <p:cNvPr id="19" name="BPS Value 1"/>
          <p:cNvSpPr txBox="1"/>
          <p:nvPr/>
        </p:nvSpPr>
        <p:spPr>
          <a:xfrm>
            <a:off x="6896100" y="262062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9258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9211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449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Sweet muffins</a:t>
            </a:r>
          </a:p>
        </p:txBody>
      </p:sp>
      <p:sp>
        <p:nvSpPr>
          <p:cNvPr id="23" name="BPS Value 2"/>
          <p:cNvSpPr txBox="1"/>
          <p:nvPr/>
        </p:nvSpPr>
        <p:spPr>
          <a:xfrm>
            <a:off x="6896100" y="490681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Type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2444377" cy="194310"/>
          </a:xfrm>
          <a:prstGeom prst="rect">
            <a:avLst/>
          </a:prstGeom>
          <a:noFill/>
        </p:spPr>
        <p:txBody>
          <a:bodyPr wrap="none" lIns="0" rIns="0" tIns="0" bIns="0">
            <a:spAutoFit/>
          </a:bodyPr>
          <a:lstStyle/>
          <a:p>
            <a:r>
              <a:rPr sz="1150" b="0">
                <a:solidFill>
                  <a:srgbClr val="2E2E2E"/>
                </a:solidFill>
                <a:latin typeface="Calibri"/>
              </a:rPr>
              <a:t>▪ 'Sweet muffins' gains the most share +</a:t>
            </a:r>
          </a:p>
        </p:txBody>
      </p:sp>
      <p:pic>
        <p:nvPicPr>
          <p:cNvPr id="31" name="Picture 30" descr="lock.png"/>
          <p:cNvPicPr>
            <a:picLocks noChangeAspect="1"/>
          </p:cNvPicPr>
          <p:nvPr/>
        </p:nvPicPr>
        <p:blipFill>
          <a:blip r:embed="rId5"/>
          <a:stretch>
            <a:fillRect/>
          </a:stretch>
        </p:blipFill>
        <p:spPr>
          <a:xfrm>
            <a:off x="10223081" y="1389951"/>
            <a:ext cx="134549" cy="195707"/>
          </a:xfrm>
          <a:prstGeom prst="rect">
            <a:avLst/>
          </a:prstGeom>
        </p:spPr>
      </p:pic>
      <p:sp>
        <p:nvSpPr>
          <p:cNvPr id="32" name="TextBox 31"/>
          <p:cNvSpPr txBox="1"/>
          <p:nvPr/>
        </p:nvSpPr>
        <p:spPr>
          <a:xfrm>
            <a:off x="10398191"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3" name="TextBox 32"/>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198774" cy="194310"/>
          </a:xfrm>
          <a:prstGeom prst="rect">
            <a:avLst/>
          </a:prstGeom>
          <a:noFill/>
        </p:spPr>
        <p:txBody>
          <a:bodyPr wrap="none" lIns="0" rIns="0" tIns="0" bIns="0">
            <a:spAutoFit/>
          </a:bodyPr>
          <a:lstStyle/>
          <a:p>
            <a:r>
              <a:rPr sz="1150" b="0">
                <a:solidFill>
                  <a:srgbClr val="2E2E2E"/>
                </a:solidFill>
                <a:latin typeface="Calibri"/>
              </a:rPr>
              <a:t>▪ 'Savoury muffins' cedes the most -</a:t>
            </a:r>
          </a:p>
        </p:txBody>
      </p:sp>
      <p:pic>
        <p:nvPicPr>
          <p:cNvPr id="35" name="Picture 34" descr="lock.png"/>
          <p:cNvPicPr>
            <a:picLocks noChangeAspect="1"/>
          </p:cNvPicPr>
          <p:nvPr/>
        </p:nvPicPr>
        <p:blipFill>
          <a:blip r:embed="rId5"/>
          <a:stretch>
            <a:fillRect/>
          </a:stretch>
        </p:blipFill>
        <p:spPr>
          <a:xfrm>
            <a:off x="9977478" y="1793049"/>
            <a:ext cx="134549" cy="195707"/>
          </a:xfrm>
          <a:prstGeom prst="rect">
            <a:avLst/>
          </a:prstGeom>
        </p:spPr>
      </p:pic>
      <p:sp>
        <p:nvSpPr>
          <p:cNvPr id="36" name="TextBox 35"/>
          <p:cNvSpPr txBox="1"/>
          <p:nvPr/>
        </p:nvSpPr>
        <p:spPr>
          <a:xfrm>
            <a:off x="10152587"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37" name="TextBox 36"/>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339504" cy="194310"/>
          </a:xfrm>
          <a:prstGeom prst="rect">
            <a:avLst/>
          </a:prstGeom>
          <a:noFill/>
        </p:spPr>
        <p:txBody>
          <a:bodyPr wrap="none" lIns="0" rIns="0" tIns="0" bIns="0">
            <a:spAutoFit/>
          </a:bodyPr>
          <a:lstStyle/>
          <a:p>
            <a:r>
              <a:rPr sz="1150" b="0">
                <a:solidFill>
                  <a:srgbClr val="2E2E2E"/>
                </a:solidFill>
                <a:latin typeface="Calibri"/>
              </a:rPr>
              <a:t>▪ 'Sweet muffins' is the fastest-growing product type at</a:t>
            </a:r>
          </a:p>
        </p:txBody>
      </p:sp>
      <p:pic>
        <p:nvPicPr>
          <p:cNvPr id="39" name="Picture 38" descr="lock.png"/>
          <p:cNvPicPr>
            <a:picLocks noChangeAspect="1"/>
          </p:cNvPicPr>
          <p:nvPr/>
        </p:nvPicPr>
        <p:blipFill>
          <a:blip r:embed="rId5"/>
          <a:stretch>
            <a:fillRect/>
          </a:stretch>
        </p:blipFill>
        <p:spPr>
          <a:xfrm>
            <a:off x="11118208" y="2196147"/>
            <a:ext cx="134549" cy="195707"/>
          </a:xfrm>
          <a:prstGeom prst="rect">
            <a:avLst/>
          </a:prstGeom>
        </p:spPr>
      </p:pic>
      <p:sp>
        <p:nvSpPr>
          <p:cNvPr id="40" name="TextBox 39"/>
          <p:cNvSpPr txBox="1"/>
          <p:nvPr/>
        </p:nvSpPr>
        <p:spPr>
          <a:xfrm>
            <a:off x="11293317"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1" name="TextBox 40"/>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2" name="TextBox 41"/>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3" name="Picture 42" descr="lock.png"/>
          <p:cNvPicPr>
            <a:picLocks noChangeAspect="1"/>
          </p:cNvPicPr>
          <p:nvPr/>
        </p:nvPicPr>
        <p:blipFill>
          <a:blip r:embed="rId5"/>
          <a:stretch>
            <a:fillRect/>
          </a:stretch>
        </p:blipFill>
        <p:spPr>
          <a:xfrm>
            <a:off x="9327669" y="2599245"/>
            <a:ext cx="134549" cy="195707"/>
          </a:xfrm>
          <a:prstGeom prst="rect">
            <a:avLst/>
          </a:prstGeom>
        </p:spPr>
      </p:pic>
      <p:sp>
        <p:nvSpPr>
          <p:cNvPr id="44" name="TextBox 43"/>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5" name="Picture 44" descr="lock.png"/>
          <p:cNvPicPr>
            <a:picLocks noChangeAspect="1"/>
          </p:cNvPicPr>
          <p:nvPr/>
        </p:nvPicPr>
        <p:blipFill>
          <a:blip r:embed="rId5"/>
          <a:stretch>
            <a:fillRect/>
          </a:stretch>
        </p:blipFill>
        <p:spPr>
          <a:xfrm>
            <a:off x="9654215" y="2599245"/>
            <a:ext cx="134549" cy="195707"/>
          </a:xfrm>
          <a:prstGeom prst="rect">
            <a:avLst/>
          </a:prstGeom>
        </p:spPr>
      </p:pic>
      <p:sp>
        <p:nvSpPr>
          <p:cNvPr id="46" name="TextBox 45"/>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7" name="TextBox 46"/>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8" name="TextBox 47"/>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9"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Type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a:t>
            </a:r>
          </a:p>
        </p:txBody>
      </p:sp>
      <p:sp>
        <p:nvSpPr>
          <p:cNvPr id="33" name="Rectangle 32"/>
          <p:cNvSpPr/>
          <p:nvPr/>
        </p:nvSpPr>
        <p:spPr>
          <a:xfrm>
            <a:off x="1857375" y="2752725"/>
            <a:ext cx="643890" cy="190976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01417" y="1482090"/>
            <a:ext cx="330041" cy="480060"/>
          </a:xfrm>
          <a:prstGeom prst="rect">
            <a:avLst/>
          </a:prstGeom>
        </p:spPr>
      </p:pic>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Type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a:t>
            </a:r>
          </a:p>
        </p:txBody>
      </p:sp>
      <p:sp>
        <p:nvSpPr>
          <p:cNvPr id="33" name="Rectangle 32"/>
          <p:cNvSpPr/>
          <p:nvPr/>
        </p:nvSpPr>
        <p:spPr>
          <a:xfrm>
            <a:off x="185737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a:t>
            </a:r>
          </a:p>
        </p:txBody>
      </p:sp>
      <p:sp>
        <p:nvSpPr>
          <p:cNvPr id="49" name="Rectangle 48"/>
          <p:cNvSpPr/>
          <p:nvPr/>
        </p:nvSpPr>
        <p:spPr>
          <a:xfrm>
            <a:off x="185737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01417" y="1482090"/>
            <a:ext cx="330041" cy="480060"/>
          </a:xfrm>
          <a:prstGeom prst="rect">
            <a:avLst/>
          </a:prstGeom>
        </p:spPr>
      </p:pic>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Flavour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Flavour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Flavour,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Flavour segment categorizes the market by flavour.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Sweet Muffins Flavours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Savoury Muffins Flavours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Flavour split shows how demand is distributed across flavour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087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2_931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5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510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_423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8835" cy="186689"/>
          </a:xfrm>
          <a:prstGeom prst="rect">
            <a:avLst/>
          </a:prstGeom>
          <a:noFill/>
        </p:spPr>
        <p:txBody>
          <a:bodyPr wrap="none" lIns="0" rIns="0" tIns="0" bIns="0">
            <a:spAutoFit/>
          </a:bodyPr>
          <a:lstStyle/>
          <a:p>
            <a:r>
              <a:rPr sz="1100" b="0">
                <a:solidFill>
                  <a:srgbClr val="2E2E2E"/>
                </a:solidFill>
                <a:latin typeface="Calibri"/>
              </a:rPr>
              <a:t>▪ 'Sweet Muffins Flavours' holds the largest share</a:t>
            </a:r>
          </a:p>
        </p:txBody>
      </p:sp>
      <p:sp>
        <p:nvSpPr>
          <p:cNvPr id="59" name="TextBox 58"/>
          <p:cNvSpPr txBox="1"/>
          <p:nvPr/>
        </p:nvSpPr>
        <p:spPr>
          <a:xfrm>
            <a:off x="485775" y="4397077"/>
            <a:ext cx="497209" cy="186689"/>
          </a:xfrm>
          <a:prstGeom prst="rect">
            <a:avLst/>
          </a:prstGeom>
          <a:noFill/>
        </p:spPr>
        <p:txBody>
          <a:bodyPr wrap="none" lIns="0" rIns="0" tIns="0" bIns="0">
            <a:spAutoFit/>
          </a:bodyPr>
          <a:lstStyle/>
          <a:p>
            <a:r>
              <a:rPr sz="1100" b="0">
                <a:solidFill>
                  <a:srgbClr val="2E2E2E"/>
                </a:solidFill>
                <a:latin typeface="Calibri"/>
              </a:rPr>
              <a:t>in 2026</a:t>
            </a:r>
          </a:p>
        </p:txBody>
      </p:sp>
      <p:pic>
        <p:nvPicPr>
          <p:cNvPr id="60" name="Picture 59" descr="lock.png"/>
          <p:cNvPicPr>
            <a:picLocks noChangeAspect="1"/>
          </p:cNvPicPr>
          <p:nvPr/>
        </p:nvPicPr>
        <p:blipFill>
          <a:blip r:embed="rId10"/>
          <a:stretch>
            <a:fillRect/>
          </a:stretch>
        </p:blipFill>
        <p:spPr>
          <a:xfrm>
            <a:off x="931036" y="4387298"/>
            <a:ext cx="128699" cy="187198"/>
          </a:xfrm>
          <a:prstGeom prst="rect">
            <a:avLst/>
          </a:prstGeom>
        </p:spPr>
      </p:pic>
      <p:sp>
        <p:nvSpPr>
          <p:cNvPr id="61" name="TextBox 60"/>
          <p:cNvSpPr txBox="1"/>
          <p:nvPr/>
        </p:nvSpPr>
        <p:spPr>
          <a:xfrm>
            <a:off x="1098532"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2" name="TextBox 61"/>
          <p:cNvSpPr txBox="1"/>
          <p:nvPr/>
        </p:nvSpPr>
        <p:spPr>
          <a:xfrm>
            <a:off x="485775" y="4615009"/>
            <a:ext cx="2906216" cy="186689"/>
          </a:xfrm>
          <a:prstGeom prst="rect">
            <a:avLst/>
          </a:prstGeom>
          <a:noFill/>
        </p:spPr>
        <p:txBody>
          <a:bodyPr wrap="none" lIns="0" rIns="0" tIns="0" bIns="0">
            <a:spAutoFit/>
          </a:bodyPr>
          <a:lstStyle/>
          <a:p>
            <a:r>
              <a:rPr sz="1100" b="0">
                <a:solidFill>
                  <a:srgbClr val="2E2E2E"/>
                </a:solidFill>
                <a:latin typeface="Calibri"/>
              </a:rPr>
              <a:t>▪ 'Savoury Muffins Flavours' is the fastest-growing</a:t>
            </a:r>
          </a:p>
        </p:txBody>
      </p:sp>
      <p:sp>
        <p:nvSpPr>
          <p:cNvPr id="63" name="TextBox 62"/>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4" name="Picture 63" descr="lock.png"/>
          <p:cNvPicPr>
            <a:picLocks noChangeAspect="1"/>
          </p:cNvPicPr>
          <p:nvPr/>
        </p:nvPicPr>
        <p:blipFill>
          <a:blip r:embed="rId10"/>
          <a:stretch>
            <a:fillRect/>
          </a:stretch>
        </p:blipFill>
        <p:spPr>
          <a:xfrm>
            <a:off x="1391064" y="4772870"/>
            <a:ext cx="128699" cy="187198"/>
          </a:xfrm>
          <a:prstGeom prst="rect">
            <a:avLst/>
          </a:prstGeom>
        </p:spPr>
      </p:pic>
      <p:sp>
        <p:nvSpPr>
          <p:cNvPr id="65" name="TextBox 64"/>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6" name="TextBox 6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7" name="Picture 66" descr="lock.png"/>
          <p:cNvPicPr>
            <a:picLocks noChangeAspect="1"/>
          </p:cNvPicPr>
          <p:nvPr/>
        </p:nvPicPr>
        <p:blipFill>
          <a:blip r:embed="rId10"/>
          <a:stretch>
            <a:fillRect/>
          </a:stretch>
        </p:blipFill>
        <p:spPr>
          <a:xfrm>
            <a:off x="2240451" y="4990801"/>
            <a:ext cx="128699" cy="187198"/>
          </a:xfrm>
          <a:prstGeom prst="rect">
            <a:avLst/>
          </a:prstGeom>
        </p:spPr>
      </p:pic>
      <p:sp>
        <p:nvSpPr>
          <p:cNvPr id="68" name="TextBox 6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9" name="Picture 68" descr="lock.png"/>
          <p:cNvPicPr>
            <a:picLocks noChangeAspect="1"/>
          </p:cNvPicPr>
          <p:nvPr/>
        </p:nvPicPr>
        <p:blipFill>
          <a:blip r:embed="rId10"/>
          <a:stretch>
            <a:fillRect/>
          </a:stretch>
        </p:blipFill>
        <p:spPr>
          <a:xfrm>
            <a:off x="2552799" y="4990801"/>
            <a:ext cx="128699" cy="187198"/>
          </a:xfrm>
          <a:prstGeom prst="rect">
            <a:avLst/>
          </a:prstGeom>
        </p:spPr>
      </p:pic>
      <p:sp>
        <p:nvSpPr>
          <p:cNvPr id="70" name="TextBox 6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2" name="TextBox 71"/>
          <p:cNvSpPr txBox="1"/>
          <p:nvPr/>
        </p:nvSpPr>
        <p:spPr>
          <a:xfrm>
            <a:off x="485775" y="5386153"/>
            <a:ext cx="2861741" cy="186689"/>
          </a:xfrm>
          <a:prstGeom prst="rect">
            <a:avLst/>
          </a:prstGeom>
          <a:noFill/>
        </p:spPr>
        <p:txBody>
          <a:bodyPr wrap="none" lIns="0" rIns="0" tIns="0" bIns="0">
            <a:spAutoFit/>
          </a:bodyPr>
          <a:lstStyle/>
          <a:p>
            <a:r>
              <a:rPr sz="1100" b="0">
                <a:solidFill>
                  <a:srgbClr val="2E2E2E"/>
                </a:solidFill>
                <a:latin typeface="Calibri"/>
              </a:rPr>
              <a:t>▪ 2 sub-segments make up the flavour landscape.</a:t>
            </a:r>
          </a:p>
        </p:txBody>
      </p:sp>
      <p:sp>
        <p:nvSpPr>
          <p:cNvPr id="73" name="TextBox 72"/>
          <p:cNvSpPr txBox="1"/>
          <p:nvPr/>
        </p:nvSpPr>
        <p:spPr>
          <a:xfrm>
            <a:off x="3838575" y="4229437"/>
            <a:ext cx="1557783" cy="186689"/>
          </a:xfrm>
          <a:prstGeom prst="rect">
            <a:avLst/>
          </a:prstGeom>
          <a:noFill/>
        </p:spPr>
        <p:txBody>
          <a:bodyPr wrap="none" lIns="0" rIns="0" tIns="0" bIns="0">
            <a:spAutoFit/>
          </a:bodyPr>
          <a:lstStyle/>
          <a:p>
            <a:r>
              <a:rPr sz="1100" b="0">
                <a:solidFill>
                  <a:srgbClr val="2E2E2E"/>
                </a:solidFill>
                <a:latin typeface="Calibri"/>
              </a:rPr>
              <a:t>● Sweet Muffins Flavours:</a:t>
            </a:r>
          </a:p>
        </p:txBody>
      </p:sp>
      <p:pic>
        <p:nvPicPr>
          <p:cNvPr id="74" name="Picture 73" descr="lock.png"/>
          <p:cNvPicPr>
            <a:picLocks noChangeAspect="1"/>
          </p:cNvPicPr>
          <p:nvPr/>
        </p:nvPicPr>
        <p:blipFill>
          <a:blip r:embed="rId10"/>
          <a:stretch>
            <a:fillRect/>
          </a:stretch>
        </p:blipFill>
        <p:spPr>
          <a:xfrm>
            <a:off x="5344410" y="4219658"/>
            <a:ext cx="128699" cy="187198"/>
          </a:xfrm>
          <a:prstGeom prst="rect">
            <a:avLst/>
          </a:prstGeom>
        </p:spPr>
      </p:pic>
      <p:sp>
        <p:nvSpPr>
          <p:cNvPr id="75" name="TextBox 74"/>
          <p:cNvSpPr txBox="1"/>
          <p:nvPr/>
        </p:nvSpPr>
        <p:spPr>
          <a:xfrm>
            <a:off x="551190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6371356" y="4219658"/>
            <a:ext cx="128699" cy="187198"/>
          </a:xfrm>
          <a:prstGeom prst="rect">
            <a:avLst/>
          </a:prstGeom>
        </p:spPr>
      </p:pic>
      <p:sp>
        <p:nvSpPr>
          <p:cNvPr id="77" name="TextBox 76"/>
          <p:cNvSpPr txBox="1"/>
          <p:nvPr/>
        </p:nvSpPr>
        <p:spPr>
          <a:xfrm>
            <a:off x="653885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78" name="TextBox 77"/>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79" name="TextBox 78"/>
          <p:cNvSpPr txBox="1"/>
          <p:nvPr/>
        </p:nvSpPr>
        <p:spPr>
          <a:xfrm>
            <a:off x="3838575" y="4615009"/>
            <a:ext cx="1660921" cy="186689"/>
          </a:xfrm>
          <a:prstGeom prst="rect">
            <a:avLst/>
          </a:prstGeom>
          <a:noFill/>
        </p:spPr>
        <p:txBody>
          <a:bodyPr wrap="none" lIns="0" rIns="0" tIns="0" bIns="0">
            <a:spAutoFit/>
          </a:bodyPr>
          <a:lstStyle/>
          <a:p>
            <a:r>
              <a:rPr sz="1100" b="0">
                <a:solidFill>
                  <a:srgbClr val="2E2E2E"/>
                </a:solidFill>
                <a:latin typeface="Calibri"/>
              </a:rPr>
              <a:t>● Savoury Muffins Flavours:</a:t>
            </a:r>
          </a:p>
        </p:txBody>
      </p:sp>
      <p:pic>
        <p:nvPicPr>
          <p:cNvPr id="80" name="Picture 79" descr="lock.png"/>
          <p:cNvPicPr>
            <a:picLocks noChangeAspect="1"/>
          </p:cNvPicPr>
          <p:nvPr/>
        </p:nvPicPr>
        <p:blipFill>
          <a:blip r:embed="rId10"/>
          <a:stretch>
            <a:fillRect/>
          </a:stretch>
        </p:blipFill>
        <p:spPr>
          <a:xfrm>
            <a:off x="5447548" y="4605230"/>
            <a:ext cx="128699" cy="187198"/>
          </a:xfrm>
          <a:prstGeom prst="rect">
            <a:avLst/>
          </a:prstGeom>
        </p:spPr>
      </p:pic>
      <p:sp>
        <p:nvSpPr>
          <p:cNvPr id="81" name="TextBox 80"/>
          <p:cNvSpPr txBox="1"/>
          <p:nvPr/>
        </p:nvSpPr>
        <p:spPr>
          <a:xfrm>
            <a:off x="5615044"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0"/>
          <a:stretch>
            <a:fillRect/>
          </a:stretch>
        </p:blipFill>
        <p:spPr>
          <a:xfrm>
            <a:off x="6474494" y="4605230"/>
            <a:ext cx="128699" cy="187198"/>
          </a:xfrm>
          <a:prstGeom prst="rect">
            <a:avLst/>
          </a:prstGeom>
        </p:spPr>
      </p:pic>
      <p:sp>
        <p:nvSpPr>
          <p:cNvPr id="83" name="TextBox 82"/>
          <p:cNvSpPr txBox="1"/>
          <p:nvPr/>
        </p:nvSpPr>
        <p:spPr>
          <a:xfrm>
            <a:off x="6641990" y="461500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4" name="TextBox 83"/>
          <p:cNvSpPr txBox="1"/>
          <p:nvPr/>
        </p:nvSpPr>
        <p:spPr>
          <a:xfrm>
            <a:off x="3838575" y="478264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85" name="TextBox 84"/>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Flavour segment is projected to grow at a CAGR</a:t>
            </a:r>
          </a:p>
        </p:txBody>
      </p:sp>
      <p:sp>
        <p:nvSpPr>
          <p:cNvPr id="86" name="TextBox 85"/>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87" name="Picture 86" descr="lock.png"/>
          <p:cNvPicPr>
            <a:picLocks noChangeAspect="1"/>
          </p:cNvPicPr>
          <p:nvPr/>
        </p:nvPicPr>
        <p:blipFill>
          <a:blip r:embed="rId10"/>
          <a:stretch>
            <a:fillRect/>
          </a:stretch>
        </p:blipFill>
        <p:spPr>
          <a:xfrm>
            <a:off x="8674884" y="6007677"/>
            <a:ext cx="134549" cy="195707"/>
          </a:xfrm>
          <a:prstGeom prst="rect">
            <a:avLst/>
          </a:prstGeom>
        </p:spPr>
      </p:pic>
      <p:sp>
        <p:nvSpPr>
          <p:cNvPr id="88" name="TextBox 87"/>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Flavour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Flavour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Flavour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Flavour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033095" cy="186689"/>
          </a:xfrm>
          <a:prstGeom prst="rect">
            <a:avLst/>
          </a:prstGeom>
          <a:noFill/>
        </p:spPr>
        <p:txBody>
          <a:bodyPr wrap="none" lIns="0" rIns="0" tIns="0" bIns="0">
            <a:spAutoFit/>
          </a:bodyPr>
          <a:lstStyle/>
          <a:p>
            <a:r>
              <a:rPr sz="1100" b="0">
                <a:solidFill>
                  <a:srgbClr val="2E2E2E"/>
                </a:solidFill>
                <a:latin typeface="Calibri"/>
              </a:rPr>
              <a:t>Between 2026 and 2036, 'Savoury Muffins Flavours' gains the most share in the North America market (+</a:t>
            </a:r>
          </a:p>
        </p:txBody>
      </p:sp>
      <p:pic>
        <p:nvPicPr>
          <p:cNvPr id="21" name="Picture 20" descr="lock.png"/>
          <p:cNvPicPr>
            <a:picLocks noChangeAspect="1"/>
          </p:cNvPicPr>
          <p:nvPr/>
        </p:nvPicPr>
        <p:blipFill>
          <a:blip r:embed="rId6"/>
          <a:stretch>
            <a:fillRect/>
          </a:stretch>
        </p:blipFill>
        <p:spPr>
          <a:xfrm>
            <a:off x="6238321" y="5851905"/>
            <a:ext cx="128699" cy="187198"/>
          </a:xfrm>
          <a:prstGeom prst="rect">
            <a:avLst/>
          </a:prstGeom>
        </p:spPr>
      </p:pic>
      <p:sp>
        <p:nvSpPr>
          <p:cNvPr id="22" name="TextBox 21"/>
          <p:cNvSpPr txBox="1"/>
          <p:nvPr/>
        </p:nvSpPr>
        <p:spPr>
          <a:xfrm>
            <a:off x="6405817" y="5861685"/>
            <a:ext cx="2449462" cy="186689"/>
          </a:xfrm>
          <a:prstGeom prst="rect">
            <a:avLst/>
          </a:prstGeom>
          <a:noFill/>
        </p:spPr>
        <p:txBody>
          <a:bodyPr wrap="none" lIns="0" rIns="0" tIns="0" bIns="0">
            <a:spAutoFit/>
          </a:bodyPr>
          <a:lstStyle/>
          <a:p>
            <a:r>
              <a:rPr sz="1100" b="0">
                <a:solidFill>
                  <a:srgbClr val="2E2E2E"/>
                </a:solidFill>
                <a:latin typeface="Calibri"/>
              </a:rPr>
              <a:t>BPS) while 'Sweet Muffins Flavours' cedes</a:t>
            </a:r>
          </a:p>
        </p:txBody>
      </p:sp>
      <p:pic>
        <p:nvPicPr>
          <p:cNvPr id="23" name="Picture 22" descr="lock.png"/>
          <p:cNvPicPr>
            <a:picLocks noChangeAspect="1"/>
          </p:cNvPicPr>
          <p:nvPr/>
        </p:nvPicPr>
        <p:blipFill>
          <a:blip r:embed="rId6"/>
          <a:stretch>
            <a:fillRect/>
          </a:stretch>
        </p:blipFill>
        <p:spPr>
          <a:xfrm>
            <a:off x="8803332" y="5851905"/>
            <a:ext cx="128699" cy="187198"/>
          </a:xfrm>
          <a:prstGeom prst="rect">
            <a:avLst/>
          </a:prstGeom>
        </p:spPr>
      </p:pic>
      <p:sp>
        <p:nvSpPr>
          <p:cNvPr id="24" name="TextBox 23"/>
          <p:cNvSpPr txBox="1"/>
          <p:nvPr/>
        </p:nvSpPr>
        <p:spPr>
          <a:xfrm>
            <a:off x="8970828" y="5861685"/>
            <a:ext cx="2741124"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a:t>
            </a:r>
          </a:p>
        </p:txBody>
      </p:sp>
      <p:sp>
        <p:nvSpPr>
          <p:cNvPr id="25" name="TextBox 24"/>
          <p:cNvSpPr txBox="1"/>
          <p:nvPr/>
        </p:nvSpPr>
        <p:spPr>
          <a:xfrm>
            <a:off x="257175" y="602932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Flavour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Sweet Muffins Flavours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Savoury Muffins Flavours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Flavour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Flavour,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Flavour (MT)</a:t>
            </a:r>
          </a:p>
        </p:txBody>
      </p:sp>
      <p:graphicFrame>
        <p:nvGraphicFramePr>
          <p:cNvPr id="13" name="Table 12"/>
          <p:cNvGraphicFramePr>
            <a:graphicFrameLocks noGrp="1"/>
          </p:cNvGraphicFramePr>
          <p:nvPr/>
        </p:nvGraphicFramePr>
        <p:xfrm>
          <a:off x="152400" y="1238250"/>
          <a:ext cx="11887199" cy="990600"/>
        </p:xfrm>
        <a:graphic>
          <a:graphicData uri="http://schemas.openxmlformats.org/drawingml/2006/table">
            <a:tbl>
              <a:tblPr>
                <a:tableStyleId>{5C22544A-7EE6-4342-B048-85BDC9FD1C3A}</a:tableStyleId>
              </a:tblPr>
              <a:tblGrid>
                <a:gridCol w="1603399"/>
                <a:gridCol w="547922"/>
                <a:gridCol w="547922"/>
                <a:gridCol w="547922"/>
                <a:gridCol w="547922"/>
                <a:gridCol w="547922"/>
                <a:gridCol w="547922"/>
                <a:gridCol w="547922"/>
                <a:gridCol w="658895"/>
                <a:gridCol w="658895"/>
                <a:gridCol w="658895"/>
                <a:gridCol w="658895"/>
                <a:gridCol w="658895"/>
                <a:gridCol w="658895"/>
                <a:gridCol w="658895"/>
                <a:gridCol w="658895"/>
                <a:gridCol w="658895"/>
                <a:gridCol w="518291"/>
              </a:tblGrid>
              <a:tr h="246126">
                <a:tc>
                  <a:txBody>
                    <a:bodyPr wrap="none"/>
                    <a:lstStyle/>
                    <a:p>
                      <a:pPr algn="l"/>
                      <a:r>
                        <a:rPr sz="1100" b="1">
                          <a:solidFill>
                            <a:srgbClr val="0B2E4A"/>
                          </a:solidFill>
                          <a:latin typeface="Calibri"/>
                        </a:rPr>
                        <a:t>Flavour</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8158">
                <a:tc>
                  <a:txBody>
                    <a:bodyPr wrap="none"/>
                    <a:lstStyle/>
                    <a:p>
                      <a:pPr algn="l"/>
                      <a:r>
                        <a:rPr sz="1100" b="1">
                          <a:solidFill>
                            <a:srgbClr val="2E2E2E"/>
                          </a:solidFill>
                          <a:latin typeface="Calibri"/>
                        </a:rPr>
                        <a:t>Sweet Muffins Flavours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158">
                <a:tc>
                  <a:txBody>
                    <a:bodyPr wrap="none"/>
                    <a:lstStyle/>
                    <a:p>
                      <a:pPr algn="l"/>
                      <a:r>
                        <a:rPr sz="1100" b="1">
                          <a:solidFill>
                            <a:srgbClr val="2E2E2E"/>
                          </a:solidFill>
                          <a:latin typeface="Calibri"/>
                        </a:rPr>
                        <a:t>Savoury Muffins Flavours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Flavour</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11009" y="1589913"/>
            <a:ext cx="366712" cy="533400"/>
          </a:xfrm>
          <a:prstGeom prst="rect">
            <a:avLst/>
          </a:prstGeom>
        </p:spPr>
      </p:pic>
      <p:sp>
        <p:nvSpPr>
          <p:cNvPr id="21" name="TextBox 20"/>
          <p:cNvSpPr txBox="1"/>
          <p:nvPr/>
        </p:nvSpPr>
        <p:spPr>
          <a:xfrm>
            <a:off x="276225" y="2990850"/>
            <a:ext cx="3008610" cy="194310"/>
          </a:xfrm>
          <a:prstGeom prst="rect">
            <a:avLst/>
          </a:prstGeom>
          <a:noFill/>
        </p:spPr>
        <p:txBody>
          <a:bodyPr wrap="none" lIns="0" rIns="0" tIns="0" bIns="0">
            <a:spAutoFit/>
          </a:bodyPr>
          <a:lstStyle/>
          <a:p>
            <a:r>
              <a:rPr sz="1150" b="0">
                <a:solidFill>
                  <a:srgbClr val="2E2E2E"/>
                </a:solidFill>
                <a:latin typeface="Calibri"/>
              </a:rPr>
              <a:t>▪ 'Sweet Muffins Flavours' is the largest flavour at</a:t>
            </a:r>
          </a:p>
        </p:txBody>
      </p:sp>
      <p:pic>
        <p:nvPicPr>
          <p:cNvPr id="22" name="Picture 21" descr="lock.png"/>
          <p:cNvPicPr>
            <a:picLocks noChangeAspect="1"/>
          </p:cNvPicPr>
          <p:nvPr/>
        </p:nvPicPr>
        <p:blipFill>
          <a:blip r:embed="rId4"/>
          <a:stretch>
            <a:fillRect/>
          </a:stretch>
        </p:blipFill>
        <p:spPr>
          <a:xfrm>
            <a:off x="3233989" y="2980626"/>
            <a:ext cx="134549" cy="195707"/>
          </a:xfrm>
          <a:prstGeom prst="rect">
            <a:avLst/>
          </a:prstGeom>
        </p:spPr>
      </p:pic>
      <p:sp>
        <p:nvSpPr>
          <p:cNvPr id="23" name="TextBox 22"/>
          <p:cNvSpPr txBox="1"/>
          <p:nvPr/>
        </p:nvSpPr>
        <p:spPr>
          <a:xfrm>
            <a:off x="3409098" y="29908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38831" y="2980626"/>
            <a:ext cx="134549" cy="195707"/>
          </a:xfrm>
          <a:prstGeom prst="rect">
            <a:avLst/>
          </a:prstGeom>
        </p:spPr>
      </p:pic>
      <p:sp>
        <p:nvSpPr>
          <p:cNvPr id="25" name="TextBox 24"/>
          <p:cNvSpPr txBox="1"/>
          <p:nvPr/>
        </p:nvSpPr>
        <p:spPr>
          <a:xfrm>
            <a:off x="4613940" y="29908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218687"/>
            <a:ext cx="2545643" cy="194310"/>
          </a:xfrm>
          <a:prstGeom prst="rect">
            <a:avLst/>
          </a:prstGeom>
          <a:noFill/>
        </p:spPr>
        <p:txBody>
          <a:bodyPr wrap="none" lIns="0" rIns="0" tIns="0" bIns="0">
            <a:spAutoFit/>
          </a:bodyPr>
          <a:lstStyle/>
          <a:p>
            <a:r>
              <a:rPr sz="1150" b="0">
                <a:solidFill>
                  <a:srgbClr val="2E2E2E"/>
                </a:solidFill>
                <a:latin typeface="Calibri"/>
              </a:rPr>
              <a:t>▪ 'Savoury Muffins Flavours' grows fastest</a:t>
            </a:r>
          </a:p>
        </p:txBody>
      </p:sp>
      <p:pic>
        <p:nvPicPr>
          <p:cNvPr id="27" name="Picture 26" descr="lock.png"/>
          <p:cNvPicPr>
            <a:picLocks noChangeAspect="1"/>
          </p:cNvPicPr>
          <p:nvPr/>
        </p:nvPicPr>
        <p:blipFill>
          <a:blip r:embed="rId4"/>
          <a:stretch>
            <a:fillRect/>
          </a:stretch>
        </p:blipFill>
        <p:spPr>
          <a:xfrm>
            <a:off x="2771022" y="3208464"/>
            <a:ext cx="134549" cy="195707"/>
          </a:xfrm>
          <a:prstGeom prst="rect">
            <a:avLst/>
          </a:prstGeom>
        </p:spPr>
      </p:pic>
      <p:sp>
        <p:nvSpPr>
          <p:cNvPr id="28" name="TextBox 27"/>
          <p:cNvSpPr txBox="1"/>
          <p:nvPr/>
        </p:nvSpPr>
        <p:spPr>
          <a:xfrm>
            <a:off x="294613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3054821" cy="194310"/>
          </a:xfrm>
          <a:prstGeom prst="rect">
            <a:avLst/>
          </a:prstGeom>
          <a:noFill/>
        </p:spPr>
        <p:txBody>
          <a:bodyPr wrap="none" lIns="0" rIns="0" tIns="0" bIns="0">
            <a:spAutoFit/>
          </a:bodyPr>
          <a:lstStyle/>
          <a:p>
            <a:r>
              <a:rPr sz="1150" b="0">
                <a:solidFill>
                  <a:srgbClr val="2E2E2E"/>
                </a:solidFill>
                <a:latin typeface="Calibri"/>
              </a:rPr>
              <a:t>▪ Share shifts toward 'Savoury Muffins Flavours' (+</a:t>
            </a:r>
          </a:p>
        </p:txBody>
      </p:sp>
      <p:pic>
        <p:nvPicPr>
          <p:cNvPr id="30" name="Picture 29" descr="lock.png"/>
          <p:cNvPicPr>
            <a:picLocks noChangeAspect="1"/>
          </p:cNvPicPr>
          <p:nvPr/>
        </p:nvPicPr>
        <p:blipFill>
          <a:blip r:embed="rId4"/>
          <a:stretch>
            <a:fillRect/>
          </a:stretch>
        </p:blipFill>
        <p:spPr>
          <a:xfrm>
            <a:off x="3280200" y="3436302"/>
            <a:ext cx="134549" cy="195707"/>
          </a:xfrm>
          <a:prstGeom prst="rect">
            <a:avLst/>
          </a:prstGeom>
        </p:spPr>
      </p:pic>
      <p:sp>
        <p:nvSpPr>
          <p:cNvPr id="31" name="TextBox 30"/>
          <p:cNvSpPr txBox="1"/>
          <p:nvPr/>
        </p:nvSpPr>
        <p:spPr>
          <a:xfrm>
            <a:off x="3455309" y="3446525"/>
            <a:ext cx="2873114" cy="194310"/>
          </a:xfrm>
          <a:prstGeom prst="rect">
            <a:avLst/>
          </a:prstGeom>
          <a:noFill/>
        </p:spPr>
        <p:txBody>
          <a:bodyPr wrap="none" lIns="0" rIns="0" tIns="0" bIns="0">
            <a:spAutoFit/>
          </a:bodyPr>
          <a:lstStyle/>
          <a:p>
            <a:r>
              <a:rPr sz="1150" b="0">
                <a:solidFill>
                  <a:srgbClr val="2E2E2E"/>
                </a:solidFill>
                <a:latin typeface="Calibri"/>
              </a:rPr>
              <a:t>BPS) and away from 'Sweet Muffins Flavours' (-</a:t>
            </a:r>
          </a:p>
        </p:txBody>
      </p:sp>
      <p:pic>
        <p:nvPicPr>
          <p:cNvPr id="32" name="Picture 31" descr="lock.png"/>
          <p:cNvPicPr>
            <a:picLocks noChangeAspect="1"/>
          </p:cNvPicPr>
          <p:nvPr/>
        </p:nvPicPr>
        <p:blipFill>
          <a:blip r:embed="rId4"/>
          <a:stretch>
            <a:fillRect/>
          </a:stretch>
        </p:blipFill>
        <p:spPr>
          <a:xfrm>
            <a:off x="6277577" y="3436302"/>
            <a:ext cx="134549" cy="195707"/>
          </a:xfrm>
          <a:prstGeom prst="rect">
            <a:avLst/>
          </a:prstGeom>
        </p:spPr>
      </p:pic>
      <p:sp>
        <p:nvSpPr>
          <p:cNvPr id="33" name="TextBox 32"/>
          <p:cNvSpPr txBox="1"/>
          <p:nvPr/>
        </p:nvSpPr>
        <p:spPr>
          <a:xfrm>
            <a:off x="6452687"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664140"/>
            <a:ext cx="134549" cy="195707"/>
          </a:xfrm>
          <a:prstGeom prst="rect">
            <a:avLst/>
          </a:prstGeom>
        </p:spPr>
      </p:pic>
      <p:sp>
        <p:nvSpPr>
          <p:cNvPr id="36" name="TextBox 35"/>
          <p:cNvSpPr txBox="1"/>
          <p:nvPr/>
        </p:nvSpPr>
        <p:spPr>
          <a:xfrm>
            <a:off x="1965143"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664140"/>
            <a:ext cx="134549" cy="195707"/>
          </a:xfrm>
          <a:prstGeom prst="rect">
            <a:avLst/>
          </a:prstGeom>
        </p:spPr>
      </p:pic>
      <p:sp>
        <p:nvSpPr>
          <p:cNvPr id="38" name="TextBox 37"/>
          <p:cNvSpPr txBox="1"/>
          <p:nvPr/>
        </p:nvSpPr>
        <p:spPr>
          <a:xfrm>
            <a:off x="2291688" y="36743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Flavour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Flavour,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Flavour (US$ Mn)</a:t>
            </a:r>
          </a:p>
        </p:txBody>
      </p:sp>
      <p:graphicFrame>
        <p:nvGraphicFramePr>
          <p:cNvPr id="13" name="Table 12"/>
          <p:cNvGraphicFramePr>
            <a:graphicFrameLocks noGrp="1"/>
          </p:cNvGraphicFramePr>
          <p:nvPr/>
        </p:nvGraphicFramePr>
        <p:xfrm>
          <a:off x="152400" y="1238250"/>
          <a:ext cx="11887208" cy="990600"/>
        </p:xfrm>
        <a:graphic>
          <a:graphicData uri="http://schemas.openxmlformats.org/drawingml/2006/table">
            <a:tbl>
              <a:tblPr>
                <a:tableStyleId>{5C22544A-7EE6-4342-B048-85BDC9FD1C3A}</a:tableStyleId>
              </a:tblPr>
              <a:tblGrid>
                <a:gridCol w="1757520"/>
                <a:gridCol w="595864"/>
                <a:gridCol w="595864"/>
                <a:gridCol w="595864"/>
                <a:gridCol w="595864"/>
                <a:gridCol w="595864"/>
                <a:gridCol w="595864"/>
                <a:gridCol w="595864"/>
                <a:gridCol w="595864"/>
                <a:gridCol w="595864"/>
                <a:gridCol w="595864"/>
                <a:gridCol w="595864"/>
                <a:gridCol w="595864"/>
                <a:gridCol w="595864"/>
                <a:gridCol w="595864"/>
                <a:gridCol w="595864"/>
                <a:gridCol w="595864"/>
                <a:gridCol w="595864"/>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Flavour</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88074" y="1589913"/>
            <a:ext cx="366712" cy="533400"/>
          </a:xfrm>
          <a:prstGeom prst="rect">
            <a:avLst/>
          </a:prstGeom>
        </p:spPr>
      </p:pic>
      <p:sp>
        <p:nvSpPr>
          <p:cNvPr id="21" name="TextBox 20"/>
          <p:cNvSpPr txBox="1"/>
          <p:nvPr/>
        </p:nvSpPr>
        <p:spPr>
          <a:xfrm>
            <a:off x="276225" y="2990850"/>
            <a:ext cx="3008610" cy="194310"/>
          </a:xfrm>
          <a:prstGeom prst="rect">
            <a:avLst/>
          </a:prstGeom>
          <a:noFill/>
        </p:spPr>
        <p:txBody>
          <a:bodyPr wrap="none" lIns="0" rIns="0" tIns="0" bIns="0">
            <a:spAutoFit/>
          </a:bodyPr>
          <a:lstStyle/>
          <a:p>
            <a:r>
              <a:rPr sz="1150" b="0">
                <a:solidFill>
                  <a:srgbClr val="2E2E2E"/>
                </a:solidFill>
                <a:latin typeface="Calibri"/>
              </a:rPr>
              <a:t>▪ 'Sweet Muffins Flavours' is the largest flavour at</a:t>
            </a:r>
          </a:p>
        </p:txBody>
      </p:sp>
      <p:pic>
        <p:nvPicPr>
          <p:cNvPr id="22" name="Picture 21" descr="lock.png"/>
          <p:cNvPicPr>
            <a:picLocks noChangeAspect="1"/>
          </p:cNvPicPr>
          <p:nvPr/>
        </p:nvPicPr>
        <p:blipFill>
          <a:blip r:embed="rId4"/>
          <a:stretch>
            <a:fillRect/>
          </a:stretch>
        </p:blipFill>
        <p:spPr>
          <a:xfrm>
            <a:off x="3233989" y="2980626"/>
            <a:ext cx="134549" cy="195707"/>
          </a:xfrm>
          <a:prstGeom prst="rect">
            <a:avLst/>
          </a:prstGeom>
        </p:spPr>
      </p:pic>
      <p:sp>
        <p:nvSpPr>
          <p:cNvPr id="23" name="TextBox 22"/>
          <p:cNvSpPr txBox="1"/>
          <p:nvPr/>
        </p:nvSpPr>
        <p:spPr>
          <a:xfrm>
            <a:off x="3409098"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15031" y="2980626"/>
            <a:ext cx="134549" cy="195707"/>
          </a:xfrm>
          <a:prstGeom prst="rect">
            <a:avLst/>
          </a:prstGeom>
        </p:spPr>
      </p:pic>
      <p:sp>
        <p:nvSpPr>
          <p:cNvPr id="25" name="TextBox 24"/>
          <p:cNvSpPr txBox="1"/>
          <p:nvPr/>
        </p:nvSpPr>
        <p:spPr>
          <a:xfrm>
            <a:off x="4490140"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2545643" cy="194310"/>
          </a:xfrm>
          <a:prstGeom prst="rect">
            <a:avLst/>
          </a:prstGeom>
          <a:noFill/>
        </p:spPr>
        <p:txBody>
          <a:bodyPr wrap="none" lIns="0" rIns="0" tIns="0" bIns="0">
            <a:spAutoFit/>
          </a:bodyPr>
          <a:lstStyle/>
          <a:p>
            <a:r>
              <a:rPr sz="1150" b="0">
                <a:solidFill>
                  <a:srgbClr val="2E2E2E"/>
                </a:solidFill>
                <a:latin typeface="Calibri"/>
              </a:rPr>
              <a:t>▪ 'Savoury Muffins Flavours' grows fastest</a:t>
            </a:r>
          </a:p>
        </p:txBody>
      </p:sp>
      <p:pic>
        <p:nvPicPr>
          <p:cNvPr id="27" name="Picture 26" descr="lock.png"/>
          <p:cNvPicPr>
            <a:picLocks noChangeAspect="1"/>
          </p:cNvPicPr>
          <p:nvPr/>
        </p:nvPicPr>
        <p:blipFill>
          <a:blip r:embed="rId4"/>
          <a:stretch>
            <a:fillRect/>
          </a:stretch>
        </p:blipFill>
        <p:spPr>
          <a:xfrm>
            <a:off x="2771022" y="3208464"/>
            <a:ext cx="134549" cy="195707"/>
          </a:xfrm>
          <a:prstGeom prst="rect">
            <a:avLst/>
          </a:prstGeom>
        </p:spPr>
      </p:pic>
      <p:sp>
        <p:nvSpPr>
          <p:cNvPr id="28" name="TextBox 27"/>
          <p:cNvSpPr txBox="1"/>
          <p:nvPr/>
        </p:nvSpPr>
        <p:spPr>
          <a:xfrm>
            <a:off x="294613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3054821" cy="194310"/>
          </a:xfrm>
          <a:prstGeom prst="rect">
            <a:avLst/>
          </a:prstGeom>
          <a:noFill/>
        </p:spPr>
        <p:txBody>
          <a:bodyPr wrap="none" lIns="0" rIns="0" tIns="0" bIns="0">
            <a:spAutoFit/>
          </a:bodyPr>
          <a:lstStyle/>
          <a:p>
            <a:r>
              <a:rPr sz="1150" b="0">
                <a:solidFill>
                  <a:srgbClr val="2E2E2E"/>
                </a:solidFill>
                <a:latin typeface="Calibri"/>
              </a:rPr>
              <a:t>▪ Share shifts toward 'Savoury Muffins Flavours' (+</a:t>
            </a:r>
          </a:p>
        </p:txBody>
      </p:sp>
      <p:pic>
        <p:nvPicPr>
          <p:cNvPr id="30" name="Picture 29" descr="lock.png"/>
          <p:cNvPicPr>
            <a:picLocks noChangeAspect="1"/>
          </p:cNvPicPr>
          <p:nvPr/>
        </p:nvPicPr>
        <p:blipFill>
          <a:blip r:embed="rId4"/>
          <a:stretch>
            <a:fillRect/>
          </a:stretch>
        </p:blipFill>
        <p:spPr>
          <a:xfrm>
            <a:off x="3280200" y="3436302"/>
            <a:ext cx="134549" cy="195707"/>
          </a:xfrm>
          <a:prstGeom prst="rect">
            <a:avLst/>
          </a:prstGeom>
        </p:spPr>
      </p:pic>
      <p:sp>
        <p:nvSpPr>
          <p:cNvPr id="31" name="TextBox 30"/>
          <p:cNvSpPr txBox="1"/>
          <p:nvPr/>
        </p:nvSpPr>
        <p:spPr>
          <a:xfrm>
            <a:off x="3455309" y="3446525"/>
            <a:ext cx="2873114" cy="194310"/>
          </a:xfrm>
          <a:prstGeom prst="rect">
            <a:avLst/>
          </a:prstGeom>
          <a:noFill/>
        </p:spPr>
        <p:txBody>
          <a:bodyPr wrap="none" lIns="0" rIns="0" tIns="0" bIns="0">
            <a:spAutoFit/>
          </a:bodyPr>
          <a:lstStyle/>
          <a:p>
            <a:r>
              <a:rPr sz="1150" b="0">
                <a:solidFill>
                  <a:srgbClr val="2E2E2E"/>
                </a:solidFill>
                <a:latin typeface="Calibri"/>
              </a:rPr>
              <a:t>BPS) and away from 'Sweet Muffins Flavours' (-</a:t>
            </a:r>
          </a:p>
        </p:txBody>
      </p:sp>
      <p:pic>
        <p:nvPicPr>
          <p:cNvPr id="32" name="Picture 31" descr="lock.png"/>
          <p:cNvPicPr>
            <a:picLocks noChangeAspect="1"/>
          </p:cNvPicPr>
          <p:nvPr/>
        </p:nvPicPr>
        <p:blipFill>
          <a:blip r:embed="rId4"/>
          <a:stretch>
            <a:fillRect/>
          </a:stretch>
        </p:blipFill>
        <p:spPr>
          <a:xfrm>
            <a:off x="6277577" y="3436302"/>
            <a:ext cx="134549" cy="195707"/>
          </a:xfrm>
          <a:prstGeom prst="rect">
            <a:avLst/>
          </a:prstGeom>
        </p:spPr>
      </p:pic>
      <p:sp>
        <p:nvSpPr>
          <p:cNvPr id="33" name="TextBox 32"/>
          <p:cNvSpPr txBox="1"/>
          <p:nvPr/>
        </p:nvSpPr>
        <p:spPr>
          <a:xfrm>
            <a:off x="6452687"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Flavour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Flavour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70587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7011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6249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Savoury Muffins Flavours</a:t>
            </a:r>
          </a:p>
        </p:txBody>
      </p:sp>
      <p:sp>
        <p:nvSpPr>
          <p:cNvPr id="19" name="BPS Value 1"/>
          <p:cNvSpPr txBox="1"/>
          <p:nvPr/>
        </p:nvSpPr>
        <p:spPr>
          <a:xfrm>
            <a:off x="6896100" y="268682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9206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873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9111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Sweet Muffins Flavours</a:t>
            </a:r>
          </a:p>
        </p:txBody>
      </p:sp>
      <p:sp>
        <p:nvSpPr>
          <p:cNvPr id="23" name="BPS Value 2"/>
          <p:cNvSpPr txBox="1"/>
          <p:nvPr/>
        </p:nvSpPr>
        <p:spPr>
          <a:xfrm>
            <a:off x="6896100" y="497301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Flavour</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091904" cy="194310"/>
          </a:xfrm>
          <a:prstGeom prst="rect">
            <a:avLst/>
          </a:prstGeom>
          <a:noFill/>
        </p:spPr>
        <p:txBody>
          <a:bodyPr wrap="none" lIns="0" rIns="0" tIns="0" bIns="0">
            <a:spAutoFit/>
          </a:bodyPr>
          <a:lstStyle/>
          <a:p>
            <a:r>
              <a:rPr sz="1150" b="0">
                <a:solidFill>
                  <a:srgbClr val="2E2E2E"/>
                </a:solidFill>
                <a:latin typeface="Calibri"/>
              </a:rPr>
              <a:t>▪ 'Savoury Muffins Flavours' gains the most share +</a:t>
            </a:r>
          </a:p>
        </p:txBody>
      </p:sp>
      <p:pic>
        <p:nvPicPr>
          <p:cNvPr id="31" name="Picture 30" descr="lock.png"/>
          <p:cNvPicPr>
            <a:picLocks noChangeAspect="1"/>
          </p:cNvPicPr>
          <p:nvPr/>
        </p:nvPicPr>
        <p:blipFill>
          <a:blip r:embed="rId5"/>
          <a:stretch>
            <a:fillRect/>
          </a:stretch>
        </p:blipFill>
        <p:spPr>
          <a:xfrm>
            <a:off x="10870608" y="1389951"/>
            <a:ext cx="134549" cy="195707"/>
          </a:xfrm>
          <a:prstGeom prst="rect">
            <a:avLst/>
          </a:prstGeom>
        </p:spPr>
      </p:pic>
      <p:sp>
        <p:nvSpPr>
          <p:cNvPr id="32" name="TextBox 31"/>
          <p:cNvSpPr txBox="1"/>
          <p:nvPr/>
        </p:nvSpPr>
        <p:spPr>
          <a:xfrm>
            <a:off x="11045717"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3" name="TextBox 32"/>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630648" cy="194310"/>
          </a:xfrm>
          <a:prstGeom prst="rect">
            <a:avLst/>
          </a:prstGeom>
          <a:noFill/>
        </p:spPr>
        <p:txBody>
          <a:bodyPr wrap="none" lIns="0" rIns="0" tIns="0" bIns="0">
            <a:spAutoFit/>
          </a:bodyPr>
          <a:lstStyle/>
          <a:p>
            <a:r>
              <a:rPr sz="1150" b="0">
                <a:solidFill>
                  <a:srgbClr val="2E2E2E"/>
                </a:solidFill>
                <a:latin typeface="Calibri"/>
              </a:rPr>
              <a:t>▪ 'Sweet Muffins Flavours' cedes the most -</a:t>
            </a:r>
          </a:p>
        </p:txBody>
      </p:sp>
      <p:pic>
        <p:nvPicPr>
          <p:cNvPr id="35" name="Picture 34" descr="lock.png"/>
          <p:cNvPicPr>
            <a:picLocks noChangeAspect="1"/>
          </p:cNvPicPr>
          <p:nvPr/>
        </p:nvPicPr>
        <p:blipFill>
          <a:blip r:embed="rId5"/>
          <a:stretch>
            <a:fillRect/>
          </a:stretch>
        </p:blipFill>
        <p:spPr>
          <a:xfrm>
            <a:off x="10409352" y="1793049"/>
            <a:ext cx="134549" cy="195707"/>
          </a:xfrm>
          <a:prstGeom prst="rect">
            <a:avLst/>
          </a:prstGeom>
        </p:spPr>
      </p:pic>
      <p:sp>
        <p:nvSpPr>
          <p:cNvPr id="36" name="TextBox 35"/>
          <p:cNvSpPr txBox="1"/>
          <p:nvPr/>
        </p:nvSpPr>
        <p:spPr>
          <a:xfrm>
            <a:off x="10584461"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37" name="TextBox 36"/>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638736" cy="194310"/>
          </a:xfrm>
          <a:prstGeom prst="rect">
            <a:avLst/>
          </a:prstGeom>
          <a:noFill/>
        </p:spPr>
        <p:txBody>
          <a:bodyPr wrap="none" lIns="0" rIns="0" tIns="0" bIns="0">
            <a:spAutoFit/>
          </a:bodyPr>
          <a:lstStyle/>
          <a:p>
            <a:r>
              <a:rPr sz="1150" b="0">
                <a:solidFill>
                  <a:srgbClr val="2E2E2E"/>
                </a:solidFill>
                <a:latin typeface="Calibri"/>
              </a:rPr>
              <a:t>▪ 'Savoury Muffins Flavours' is the fastest-growing flavour at</a:t>
            </a:r>
          </a:p>
        </p:txBody>
      </p:sp>
      <p:pic>
        <p:nvPicPr>
          <p:cNvPr id="39" name="Picture 38" descr="lock.png"/>
          <p:cNvPicPr>
            <a:picLocks noChangeAspect="1"/>
          </p:cNvPicPr>
          <p:nvPr/>
        </p:nvPicPr>
        <p:blipFill>
          <a:blip r:embed="rId5"/>
          <a:stretch>
            <a:fillRect/>
          </a:stretch>
        </p:blipFill>
        <p:spPr>
          <a:xfrm>
            <a:off x="11417439" y="2196147"/>
            <a:ext cx="134549" cy="195707"/>
          </a:xfrm>
          <a:prstGeom prst="rect">
            <a:avLst/>
          </a:prstGeom>
        </p:spPr>
      </p:pic>
      <p:sp>
        <p:nvSpPr>
          <p:cNvPr id="40" name="TextBox 39"/>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Flavour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Flavour,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Flavour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 Flavours</a:t>
            </a:r>
          </a:p>
        </p:txBody>
      </p:sp>
      <p:sp>
        <p:nvSpPr>
          <p:cNvPr id="33" name="Rectangle 32"/>
          <p:cNvSpPr/>
          <p:nvPr/>
        </p:nvSpPr>
        <p:spPr>
          <a:xfrm>
            <a:off x="185737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 Flavours</a:t>
            </a:r>
          </a:p>
        </p:txBody>
      </p:sp>
      <p:sp>
        <p:nvSpPr>
          <p:cNvPr id="49" name="Rectangle 48"/>
          <p:cNvSpPr/>
          <p:nvPr/>
        </p:nvSpPr>
        <p:spPr>
          <a:xfrm>
            <a:off x="1857375" y="4662488"/>
            <a:ext cx="643890" cy="190976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87778" y="1482090"/>
            <a:ext cx="330041" cy="480060"/>
          </a:xfrm>
          <a:prstGeom prst="rect">
            <a:avLst/>
          </a:prstGeom>
        </p:spPr>
      </p:pic>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Flavour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Flavour,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Flavour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 Flavours</a:t>
            </a:r>
          </a:p>
        </p:txBody>
      </p:sp>
      <p:sp>
        <p:nvSpPr>
          <p:cNvPr id="33" name="Rectangle 32"/>
          <p:cNvSpPr/>
          <p:nvPr/>
        </p:nvSpPr>
        <p:spPr>
          <a:xfrm>
            <a:off x="185737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 Flavours</a:t>
            </a:r>
          </a:p>
        </p:txBody>
      </p:sp>
      <p:sp>
        <p:nvSpPr>
          <p:cNvPr id="49" name="Rectangle 48"/>
          <p:cNvSpPr/>
          <p:nvPr/>
        </p:nvSpPr>
        <p:spPr>
          <a:xfrm>
            <a:off x="1857375" y="4662488"/>
            <a:ext cx="643890" cy="190976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87778" y="1482090"/>
            <a:ext cx="330041" cy="480060"/>
          </a:xfrm>
          <a:prstGeom prst="rect">
            <a:avLst/>
          </a:prstGeom>
        </p:spPr>
      </p:pic>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Flour Base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Flour Base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Flour Base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Primary Flour Base,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Flour Base segment categorizes the market by primary flour base.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Oat-based</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Rice-based</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Wheat-based</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Corn-based</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Flour Base split shows how demand is distributed across primary flour base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714_2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_243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7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637_8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830_2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7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631_8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948_1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551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753_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80158" cy="186689"/>
          </a:xfrm>
          <a:prstGeom prst="rect">
            <a:avLst/>
          </a:prstGeom>
          <a:noFill/>
        </p:spPr>
        <p:txBody>
          <a:bodyPr wrap="none" lIns="0" rIns="0" tIns="0" bIns="0">
            <a:spAutoFit/>
          </a:bodyPr>
          <a:lstStyle/>
          <a:p>
            <a:r>
              <a:rPr sz="1100" b="0">
                <a:solidFill>
                  <a:srgbClr val="2E2E2E"/>
                </a:solidFill>
                <a:latin typeface="Calibri"/>
              </a:rPr>
              <a:t>▪ 'Oat-based' holds the largest share in 2026</a:t>
            </a:r>
          </a:p>
        </p:txBody>
      </p:sp>
      <p:pic>
        <p:nvPicPr>
          <p:cNvPr id="81" name="Picture 80" descr="lock.png"/>
          <p:cNvPicPr>
            <a:picLocks noChangeAspect="1"/>
          </p:cNvPicPr>
          <p:nvPr/>
        </p:nvPicPr>
        <p:blipFill>
          <a:blip r:embed="rId16"/>
          <a:stretch>
            <a:fillRect/>
          </a:stretch>
        </p:blipFill>
        <p:spPr>
          <a:xfrm>
            <a:off x="3013985"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'Millet-based' is the fastest-growing sub-segment</a:t>
            </a:r>
          </a:p>
        </p:txBody>
      </p:sp>
      <p:sp>
        <p:nvSpPr>
          <p:cNvPr id="84" name="TextBox 83"/>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85" name="Picture 84" descr="lock.png"/>
          <p:cNvPicPr>
            <a:picLocks noChangeAspect="1"/>
          </p:cNvPicPr>
          <p:nvPr/>
        </p:nvPicPr>
        <p:blipFill>
          <a:blip r:embed="rId16"/>
          <a:stretch>
            <a:fillRect/>
          </a:stretch>
        </p:blipFill>
        <p:spPr>
          <a:xfrm>
            <a:off x="623805" y="4772870"/>
            <a:ext cx="128699" cy="187198"/>
          </a:xfrm>
          <a:prstGeom prst="rect">
            <a:avLst/>
          </a:prstGeom>
        </p:spPr>
      </p:pic>
      <p:sp>
        <p:nvSpPr>
          <p:cNvPr id="86" name="TextBox 85"/>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868290" cy="186689"/>
          </a:xfrm>
          <a:prstGeom prst="rect">
            <a:avLst/>
          </a:prstGeom>
          <a:noFill/>
        </p:spPr>
        <p:txBody>
          <a:bodyPr wrap="none" lIns="0" rIns="0" tIns="0" bIns="0">
            <a:spAutoFit/>
          </a:bodyPr>
          <a:lstStyle/>
          <a:p>
            <a:r>
              <a:rPr sz="1100" b="0">
                <a:solidFill>
                  <a:srgbClr val="2E2E2E"/>
                </a:solidFill>
                <a:latin typeface="Calibri"/>
              </a:rPr>
              <a:t>▪ 8 sub-segments make up the primary flour base</a:t>
            </a:r>
          </a:p>
        </p:txBody>
      </p:sp>
      <p:sp>
        <p:nvSpPr>
          <p:cNvPr id="94" name="TextBox 9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5" name="TextBox 94"/>
          <p:cNvSpPr txBox="1"/>
          <p:nvPr/>
        </p:nvSpPr>
        <p:spPr>
          <a:xfrm>
            <a:off x="3838575" y="4229437"/>
            <a:ext cx="816446" cy="186689"/>
          </a:xfrm>
          <a:prstGeom prst="rect">
            <a:avLst/>
          </a:prstGeom>
          <a:noFill/>
        </p:spPr>
        <p:txBody>
          <a:bodyPr wrap="none" lIns="0" rIns="0" tIns="0" bIns="0">
            <a:spAutoFit/>
          </a:bodyPr>
          <a:lstStyle/>
          <a:p>
            <a:r>
              <a:rPr sz="1100" b="0">
                <a:solidFill>
                  <a:srgbClr val="2E2E2E"/>
                </a:solidFill>
                <a:latin typeface="Calibri"/>
              </a:rPr>
              <a:t>● Oat-based:</a:t>
            </a:r>
          </a:p>
        </p:txBody>
      </p:sp>
      <p:pic>
        <p:nvPicPr>
          <p:cNvPr id="96" name="Picture 95" descr="lock.png"/>
          <p:cNvPicPr>
            <a:picLocks noChangeAspect="1"/>
          </p:cNvPicPr>
          <p:nvPr/>
        </p:nvPicPr>
        <p:blipFill>
          <a:blip r:embed="rId16"/>
          <a:stretch>
            <a:fillRect/>
          </a:stretch>
        </p:blipFill>
        <p:spPr>
          <a:xfrm>
            <a:off x="4603072" y="4219658"/>
            <a:ext cx="128699" cy="187198"/>
          </a:xfrm>
          <a:prstGeom prst="rect">
            <a:avLst/>
          </a:prstGeom>
        </p:spPr>
      </p:pic>
      <p:sp>
        <p:nvSpPr>
          <p:cNvPr id="97" name="TextBox 96"/>
          <p:cNvSpPr txBox="1"/>
          <p:nvPr/>
        </p:nvSpPr>
        <p:spPr>
          <a:xfrm>
            <a:off x="477056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5630018" y="4219658"/>
            <a:ext cx="128699" cy="187198"/>
          </a:xfrm>
          <a:prstGeom prst="rect">
            <a:avLst/>
          </a:prstGeom>
        </p:spPr>
      </p:pic>
      <p:sp>
        <p:nvSpPr>
          <p:cNvPr id="99" name="TextBox 98"/>
          <p:cNvSpPr txBox="1"/>
          <p:nvPr/>
        </p:nvSpPr>
        <p:spPr>
          <a:xfrm>
            <a:off x="5797514"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847005" cy="186689"/>
          </a:xfrm>
          <a:prstGeom prst="rect">
            <a:avLst/>
          </a:prstGeom>
          <a:noFill/>
        </p:spPr>
        <p:txBody>
          <a:bodyPr wrap="none" lIns="0" rIns="0" tIns="0" bIns="0">
            <a:spAutoFit/>
          </a:bodyPr>
          <a:lstStyle/>
          <a:p>
            <a:r>
              <a:rPr sz="1100" b="0">
                <a:solidFill>
                  <a:srgbClr val="2E2E2E"/>
                </a:solidFill>
                <a:latin typeface="Calibri"/>
              </a:rPr>
              <a:t>● Rice-based:</a:t>
            </a:r>
          </a:p>
        </p:txBody>
      </p:sp>
      <p:pic>
        <p:nvPicPr>
          <p:cNvPr id="101" name="Picture 100" descr="lock.png"/>
          <p:cNvPicPr>
            <a:picLocks noChangeAspect="1"/>
          </p:cNvPicPr>
          <p:nvPr/>
        </p:nvPicPr>
        <p:blipFill>
          <a:blip r:embed="rId16"/>
          <a:stretch>
            <a:fillRect/>
          </a:stretch>
        </p:blipFill>
        <p:spPr>
          <a:xfrm>
            <a:off x="4633632" y="4437590"/>
            <a:ext cx="128699" cy="187198"/>
          </a:xfrm>
          <a:prstGeom prst="rect">
            <a:avLst/>
          </a:prstGeom>
        </p:spPr>
      </p:pic>
      <p:sp>
        <p:nvSpPr>
          <p:cNvPr id="102" name="TextBox 101"/>
          <p:cNvSpPr txBox="1"/>
          <p:nvPr/>
        </p:nvSpPr>
        <p:spPr>
          <a:xfrm>
            <a:off x="4801128"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5660578" y="4437590"/>
            <a:ext cx="128699" cy="187198"/>
          </a:xfrm>
          <a:prstGeom prst="rect">
            <a:avLst/>
          </a:prstGeom>
        </p:spPr>
      </p:pic>
      <p:sp>
        <p:nvSpPr>
          <p:cNvPr id="104" name="TextBox 103"/>
          <p:cNvSpPr txBox="1"/>
          <p:nvPr/>
        </p:nvSpPr>
        <p:spPr>
          <a:xfrm>
            <a:off x="5828074"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991344" cy="186689"/>
          </a:xfrm>
          <a:prstGeom prst="rect">
            <a:avLst/>
          </a:prstGeom>
          <a:noFill/>
        </p:spPr>
        <p:txBody>
          <a:bodyPr wrap="none" lIns="0" rIns="0" tIns="0" bIns="0">
            <a:spAutoFit/>
          </a:bodyPr>
          <a:lstStyle/>
          <a:p>
            <a:r>
              <a:rPr sz="1100" b="0">
                <a:solidFill>
                  <a:srgbClr val="2E2E2E"/>
                </a:solidFill>
                <a:latin typeface="Calibri"/>
              </a:rPr>
              <a:t>● Wheat-based:</a:t>
            </a:r>
          </a:p>
        </p:txBody>
      </p:sp>
      <p:pic>
        <p:nvPicPr>
          <p:cNvPr id="106" name="Picture 105" descr="lock.png"/>
          <p:cNvPicPr>
            <a:picLocks noChangeAspect="1"/>
          </p:cNvPicPr>
          <p:nvPr/>
        </p:nvPicPr>
        <p:blipFill>
          <a:blip r:embed="rId16"/>
          <a:stretch>
            <a:fillRect/>
          </a:stretch>
        </p:blipFill>
        <p:spPr>
          <a:xfrm>
            <a:off x="4777970" y="4655522"/>
            <a:ext cx="128699" cy="187198"/>
          </a:xfrm>
          <a:prstGeom prst="rect">
            <a:avLst/>
          </a:prstGeom>
        </p:spPr>
      </p:pic>
      <p:sp>
        <p:nvSpPr>
          <p:cNvPr id="107" name="TextBox 106"/>
          <p:cNvSpPr txBox="1"/>
          <p:nvPr/>
        </p:nvSpPr>
        <p:spPr>
          <a:xfrm>
            <a:off x="494546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804916" y="4655522"/>
            <a:ext cx="128699" cy="187198"/>
          </a:xfrm>
          <a:prstGeom prst="rect">
            <a:avLst/>
          </a:prstGeom>
        </p:spPr>
      </p:pic>
      <p:sp>
        <p:nvSpPr>
          <p:cNvPr id="109" name="TextBox 108"/>
          <p:cNvSpPr txBox="1"/>
          <p:nvPr/>
        </p:nvSpPr>
        <p:spPr>
          <a:xfrm>
            <a:off x="5972412"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0" name="TextBox 109"/>
          <p:cNvSpPr txBox="1"/>
          <p:nvPr/>
        </p:nvSpPr>
        <p:spPr>
          <a:xfrm>
            <a:off x="3838575" y="4883233"/>
            <a:ext cx="880566" cy="186689"/>
          </a:xfrm>
          <a:prstGeom prst="rect">
            <a:avLst/>
          </a:prstGeom>
          <a:noFill/>
        </p:spPr>
        <p:txBody>
          <a:bodyPr wrap="none" lIns="0" rIns="0" tIns="0" bIns="0">
            <a:spAutoFit/>
          </a:bodyPr>
          <a:lstStyle/>
          <a:p>
            <a:r>
              <a:rPr sz="1100" b="0">
                <a:solidFill>
                  <a:srgbClr val="2E2E2E"/>
                </a:solidFill>
                <a:latin typeface="Calibri"/>
              </a:rPr>
              <a:t>● Corn-based:</a:t>
            </a:r>
          </a:p>
        </p:txBody>
      </p:sp>
      <p:pic>
        <p:nvPicPr>
          <p:cNvPr id="111" name="Picture 110" descr="lock.png"/>
          <p:cNvPicPr>
            <a:picLocks noChangeAspect="1"/>
          </p:cNvPicPr>
          <p:nvPr/>
        </p:nvPicPr>
        <p:blipFill>
          <a:blip r:embed="rId16"/>
          <a:stretch>
            <a:fillRect/>
          </a:stretch>
        </p:blipFill>
        <p:spPr>
          <a:xfrm>
            <a:off x="4667193" y="4873454"/>
            <a:ext cx="128699" cy="187198"/>
          </a:xfrm>
          <a:prstGeom prst="rect">
            <a:avLst/>
          </a:prstGeom>
        </p:spPr>
      </p:pic>
      <p:sp>
        <p:nvSpPr>
          <p:cNvPr id="112" name="TextBox 111"/>
          <p:cNvSpPr txBox="1"/>
          <p:nvPr/>
        </p:nvSpPr>
        <p:spPr>
          <a:xfrm>
            <a:off x="4834688"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5694139" y="4873454"/>
            <a:ext cx="128699" cy="187198"/>
          </a:xfrm>
          <a:prstGeom prst="rect">
            <a:avLst/>
          </a:prstGeom>
        </p:spPr>
      </p:pic>
      <p:sp>
        <p:nvSpPr>
          <p:cNvPr id="114" name="TextBox 113"/>
          <p:cNvSpPr txBox="1"/>
          <p:nvPr/>
        </p:nvSpPr>
        <p:spPr>
          <a:xfrm>
            <a:off x="5861634"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5" name="TextBox 114"/>
          <p:cNvSpPr txBox="1"/>
          <p:nvPr/>
        </p:nvSpPr>
        <p:spPr>
          <a:xfrm>
            <a:off x="8524875" y="5842641"/>
            <a:ext cx="2937867" cy="194310"/>
          </a:xfrm>
          <a:prstGeom prst="rect">
            <a:avLst/>
          </a:prstGeom>
          <a:noFill/>
        </p:spPr>
        <p:txBody>
          <a:bodyPr wrap="none" lIns="0" rIns="0" tIns="0" bIns="0">
            <a:spAutoFit/>
          </a:bodyPr>
          <a:lstStyle/>
          <a:p>
            <a:r>
              <a:rPr sz="1150" b="1">
                <a:solidFill>
                  <a:srgbClr val="0B2E4A"/>
                </a:solidFill>
                <a:latin typeface="Calibri"/>
              </a:rPr>
              <a:t>The Primary Flour Base segment is projected to</a:t>
            </a:r>
          </a:p>
        </p:txBody>
      </p:sp>
      <p:sp>
        <p:nvSpPr>
          <p:cNvPr id="116" name="TextBox 11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7" name="Picture 116" descr="lock.png"/>
          <p:cNvPicPr>
            <a:picLocks noChangeAspect="1"/>
          </p:cNvPicPr>
          <p:nvPr/>
        </p:nvPicPr>
        <p:blipFill>
          <a:blip r:embed="rId16"/>
          <a:stretch>
            <a:fillRect/>
          </a:stretch>
        </p:blipFill>
        <p:spPr>
          <a:xfrm>
            <a:off x="9651852" y="6007677"/>
            <a:ext cx="134549" cy="195707"/>
          </a:xfrm>
          <a:prstGeom prst="rect">
            <a:avLst/>
          </a:prstGeom>
        </p:spPr>
      </p:pic>
      <p:sp>
        <p:nvSpPr>
          <p:cNvPr id="118" name="TextBox 11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Flour Base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Primary Flour Base,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Flour Base segment categorizes the market by primary flour base.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single-flour bases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Multigrain and blended flour bases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Millet-based</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Almond and other nut flour-based</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450_9_605E5C.png"/>
          <p:cNvPicPr>
            <a:picLocks noChangeAspect="1"/>
          </p:cNvPicPr>
          <p:nvPr/>
        </p:nvPicPr>
        <p:blipFill>
          <a:blip r:embed="rId4"/>
          <a:stretch>
            <a:fillRect/>
          </a:stretch>
        </p:blipFill>
        <p:spPr>
          <a:xfrm>
            <a:off x="2476330" y="2286582"/>
            <a:ext cx="1195728" cy="361950"/>
          </a:xfrm>
          <a:prstGeom prst="rect">
            <a:avLst/>
          </a:prstGeom>
        </p:spPr>
      </p:pic>
      <p:pic>
        <p:nvPicPr>
          <p:cNvPr id="54" name="Picture 53" descr="713_0_605E5C.png"/>
          <p:cNvPicPr>
            <a:picLocks noChangeAspect="1"/>
          </p:cNvPicPr>
          <p:nvPr/>
        </p:nvPicPr>
        <p:blipFill>
          <a:blip r:embed="rId5"/>
          <a:stretch>
            <a:fillRect/>
          </a:stretch>
        </p:blipFill>
        <p:spPr>
          <a:xfrm>
            <a:off x="2476330" y="2779432"/>
            <a:ext cx="1195728" cy="361950"/>
          </a:xfrm>
          <a:prstGeom prst="rect">
            <a:avLst/>
          </a:prstGeom>
        </p:spPr>
      </p:pic>
      <p:pic>
        <p:nvPicPr>
          <p:cNvPr id="55" name="Picture 54" descr="4_7__605E5C.png"/>
          <p:cNvPicPr>
            <a:picLocks noChangeAspect="1"/>
          </p:cNvPicPr>
          <p:nvPr/>
        </p:nvPicPr>
        <p:blipFill>
          <a:blip r:embed="rId6"/>
          <a:stretch>
            <a:fillRect/>
          </a:stretch>
        </p:blipFill>
        <p:spPr>
          <a:xfrm>
            <a:off x="2582976" y="3272281"/>
            <a:ext cx="982436" cy="361950"/>
          </a:xfrm>
          <a:prstGeom prst="rect">
            <a:avLst/>
          </a:prstGeom>
        </p:spPr>
      </p:pic>
      <p:pic>
        <p:nvPicPr>
          <p:cNvPr id="56" name="Picture 55" descr="258_8_605E5C.png"/>
          <p:cNvPicPr>
            <a:picLocks noChangeAspect="1"/>
          </p:cNvPicPr>
          <p:nvPr/>
        </p:nvPicPr>
        <p:blipFill>
          <a:blip r:embed="rId7"/>
          <a:stretch>
            <a:fillRect/>
          </a:stretch>
        </p:blipFill>
        <p:spPr>
          <a:xfrm>
            <a:off x="5005218" y="2286582"/>
            <a:ext cx="1195728" cy="361950"/>
          </a:xfrm>
          <a:prstGeom prst="rect">
            <a:avLst/>
          </a:prstGeom>
        </p:spPr>
      </p:pic>
      <p:pic>
        <p:nvPicPr>
          <p:cNvPr id="57" name="Picture 56" descr="276_3_605E5C.png"/>
          <p:cNvPicPr>
            <a:picLocks noChangeAspect="1"/>
          </p:cNvPicPr>
          <p:nvPr/>
        </p:nvPicPr>
        <p:blipFill>
          <a:blip r:embed="rId8"/>
          <a:stretch>
            <a:fillRect/>
          </a:stretch>
        </p:blipFill>
        <p:spPr>
          <a:xfrm>
            <a:off x="5005218" y="2779432"/>
            <a:ext cx="1195728" cy="361950"/>
          </a:xfrm>
          <a:prstGeom prst="rect">
            <a:avLst/>
          </a:prstGeom>
        </p:spPr>
      </p:pic>
      <p:pic>
        <p:nvPicPr>
          <p:cNvPr id="58" name="Picture 57" descr="0_7__605E5C.png"/>
          <p:cNvPicPr>
            <a:picLocks noChangeAspect="1"/>
          </p:cNvPicPr>
          <p:nvPr/>
        </p:nvPicPr>
        <p:blipFill>
          <a:blip r:embed="rId9"/>
          <a:stretch>
            <a:fillRect/>
          </a:stretch>
        </p:blipFill>
        <p:spPr>
          <a:xfrm>
            <a:off x="5111864" y="3272281"/>
            <a:ext cx="982436" cy="361950"/>
          </a:xfrm>
          <a:prstGeom prst="rect">
            <a:avLst/>
          </a:prstGeom>
        </p:spPr>
      </p:pic>
      <p:pic>
        <p:nvPicPr>
          <p:cNvPr id="59" name="Picture 58" descr="243_2_605E5C.png"/>
          <p:cNvPicPr>
            <a:picLocks noChangeAspect="1"/>
          </p:cNvPicPr>
          <p:nvPr/>
        </p:nvPicPr>
        <p:blipFill>
          <a:blip r:embed="rId10"/>
          <a:stretch>
            <a:fillRect/>
          </a:stretch>
        </p:blipFill>
        <p:spPr>
          <a:xfrm>
            <a:off x="7534105" y="2286582"/>
            <a:ext cx="1195728" cy="361950"/>
          </a:xfrm>
          <a:prstGeom prst="rect">
            <a:avLst/>
          </a:prstGeom>
        </p:spPr>
      </p:pic>
      <p:pic>
        <p:nvPicPr>
          <p:cNvPr id="60" name="Picture 59" descr="425_4_605E5C.png"/>
          <p:cNvPicPr>
            <a:picLocks noChangeAspect="1"/>
          </p:cNvPicPr>
          <p:nvPr/>
        </p:nvPicPr>
        <p:blipFill>
          <a:blip r:embed="rId11"/>
          <a:stretch>
            <a:fillRect/>
          </a:stretch>
        </p:blipFill>
        <p:spPr>
          <a:xfrm>
            <a:off x="7534105" y="2779432"/>
            <a:ext cx="1195728" cy="361950"/>
          </a:xfrm>
          <a:prstGeom prst="rect">
            <a:avLst/>
          </a:prstGeom>
        </p:spPr>
      </p:pic>
      <p:pic>
        <p:nvPicPr>
          <p:cNvPr id="61" name="Picture 60" descr="5_8__605E5C.png"/>
          <p:cNvPicPr>
            <a:picLocks noChangeAspect="1"/>
          </p:cNvPicPr>
          <p:nvPr/>
        </p:nvPicPr>
        <p:blipFill>
          <a:blip r:embed="rId12"/>
          <a:stretch>
            <a:fillRect/>
          </a:stretch>
        </p:blipFill>
        <p:spPr>
          <a:xfrm>
            <a:off x="7640751" y="3272281"/>
            <a:ext cx="982436" cy="361950"/>
          </a:xfrm>
          <a:prstGeom prst="rect">
            <a:avLst/>
          </a:prstGeom>
        </p:spPr>
      </p:pic>
      <p:pic>
        <p:nvPicPr>
          <p:cNvPr id="62" name="Picture 61" descr="109_0_605E5C.png"/>
          <p:cNvPicPr>
            <a:picLocks noChangeAspect="1"/>
          </p:cNvPicPr>
          <p:nvPr/>
        </p:nvPicPr>
        <p:blipFill>
          <a:blip r:embed="rId13"/>
          <a:stretch>
            <a:fillRect/>
          </a:stretch>
        </p:blipFill>
        <p:spPr>
          <a:xfrm>
            <a:off x="10062992" y="2286582"/>
            <a:ext cx="1195728" cy="361950"/>
          </a:xfrm>
          <a:prstGeom prst="rect">
            <a:avLst/>
          </a:prstGeom>
        </p:spPr>
      </p:pic>
      <p:pic>
        <p:nvPicPr>
          <p:cNvPr id="63" name="Picture 62" descr="164_0_605E5C.png"/>
          <p:cNvPicPr>
            <a:picLocks noChangeAspect="1"/>
          </p:cNvPicPr>
          <p:nvPr/>
        </p:nvPicPr>
        <p:blipFill>
          <a:blip r:embed="rId14"/>
          <a:stretch>
            <a:fillRect/>
          </a:stretch>
        </p:blipFill>
        <p:spPr>
          <a:xfrm>
            <a:off x="10062992" y="2779432"/>
            <a:ext cx="1195728" cy="361950"/>
          </a:xfrm>
          <a:prstGeom prst="rect">
            <a:avLst/>
          </a:prstGeom>
        </p:spPr>
      </p:pic>
      <p:pic>
        <p:nvPicPr>
          <p:cNvPr id="64" name="Picture 63" descr="4_2__605E5C.png"/>
          <p:cNvPicPr>
            <a:picLocks noChangeAspect="1"/>
          </p:cNvPicPr>
          <p:nvPr/>
        </p:nvPicPr>
        <p:blipFill>
          <a:blip r:embed="rId15"/>
          <a:stretch>
            <a:fillRect/>
          </a:stretch>
        </p:blipFill>
        <p:spPr>
          <a:xfrm>
            <a:off x="10169638" y="3272281"/>
            <a:ext cx="982436" cy="361950"/>
          </a:xfrm>
          <a:prstGeom prst="rect">
            <a:avLst/>
          </a:prstGeom>
        </p:spPr>
      </p:pic>
      <p:pic>
        <p:nvPicPr>
          <p:cNvPr id="65" name="Picture 64" descr="lock.png"/>
          <p:cNvPicPr>
            <a:picLocks noChangeAspect="1"/>
          </p:cNvPicPr>
          <p:nvPr/>
        </p:nvPicPr>
        <p:blipFill>
          <a:blip r:embed="rId16"/>
          <a:stretch>
            <a:fillRect/>
          </a:stretch>
        </p:blipFill>
        <p:spPr>
          <a:xfrm>
            <a:off x="2980848" y="2827057"/>
            <a:ext cx="183356" cy="266700"/>
          </a:xfrm>
          <a:prstGeom prst="rect">
            <a:avLst/>
          </a:prstGeom>
        </p:spPr>
      </p:pic>
      <p:pic>
        <p:nvPicPr>
          <p:cNvPr id="66" name="Picture 65" descr="lock.png"/>
          <p:cNvPicPr>
            <a:picLocks noChangeAspect="1"/>
          </p:cNvPicPr>
          <p:nvPr/>
        </p:nvPicPr>
        <p:blipFill>
          <a:blip r:embed="rId16"/>
          <a:stretch>
            <a:fillRect/>
          </a:stretch>
        </p:blipFill>
        <p:spPr>
          <a:xfrm>
            <a:off x="5509737" y="2827057"/>
            <a:ext cx="183356" cy="266700"/>
          </a:xfrm>
          <a:prstGeom prst="rect">
            <a:avLst/>
          </a:prstGeom>
        </p:spPr>
      </p:pic>
      <p:pic>
        <p:nvPicPr>
          <p:cNvPr id="67" name="Picture 66" descr="lock.png"/>
          <p:cNvPicPr>
            <a:picLocks noChangeAspect="1"/>
          </p:cNvPicPr>
          <p:nvPr/>
        </p:nvPicPr>
        <p:blipFill>
          <a:blip r:embed="rId16"/>
          <a:stretch>
            <a:fillRect/>
          </a:stretch>
        </p:blipFill>
        <p:spPr>
          <a:xfrm>
            <a:off x="8038624" y="2827057"/>
            <a:ext cx="183356" cy="266700"/>
          </a:xfrm>
          <a:prstGeom prst="rect">
            <a:avLst/>
          </a:prstGeom>
        </p:spPr>
      </p:pic>
      <p:pic>
        <p:nvPicPr>
          <p:cNvPr id="68" name="Picture 67" descr="lock.png"/>
          <p:cNvPicPr>
            <a:picLocks noChangeAspect="1"/>
          </p:cNvPicPr>
          <p:nvPr/>
        </p:nvPicPr>
        <p:blipFill>
          <a:blip r:embed="rId16"/>
          <a:stretch>
            <a:fillRect/>
          </a:stretch>
        </p:blipFill>
        <p:spPr>
          <a:xfrm>
            <a:off x="10567511" y="2827057"/>
            <a:ext cx="183356" cy="266700"/>
          </a:xfrm>
          <a:prstGeom prst="rect">
            <a:avLst/>
          </a:prstGeom>
        </p:spPr>
      </p:pic>
      <p:sp>
        <p:nvSpPr>
          <p:cNvPr id="69" name="TextBox 68"/>
          <p:cNvSpPr txBox="1"/>
          <p:nvPr/>
        </p:nvSpPr>
        <p:spPr>
          <a:xfrm>
            <a:off x="485775" y="4229437"/>
            <a:ext cx="1584250" cy="186689"/>
          </a:xfrm>
          <a:prstGeom prst="rect">
            <a:avLst/>
          </a:prstGeom>
          <a:noFill/>
        </p:spPr>
        <p:txBody>
          <a:bodyPr wrap="none" lIns="0" rIns="0" tIns="0" bIns="0">
            <a:spAutoFit/>
          </a:bodyPr>
          <a:lstStyle/>
          <a:p>
            <a:r>
              <a:rPr sz="1100" b="0">
                <a:solidFill>
                  <a:srgbClr val="2E2E2E"/>
                </a:solidFill>
                <a:latin typeface="Calibri"/>
              </a:rPr>
              <a:t>● Other single-flour bases:</a:t>
            </a:r>
          </a:p>
        </p:txBody>
      </p:sp>
      <p:pic>
        <p:nvPicPr>
          <p:cNvPr id="70" name="Picture 69" descr="lock.png"/>
          <p:cNvPicPr>
            <a:picLocks noChangeAspect="1"/>
          </p:cNvPicPr>
          <p:nvPr/>
        </p:nvPicPr>
        <p:blipFill>
          <a:blip r:embed="rId16"/>
          <a:stretch>
            <a:fillRect/>
          </a:stretch>
        </p:blipFill>
        <p:spPr>
          <a:xfrm>
            <a:off x="2018077" y="4219658"/>
            <a:ext cx="128699" cy="187198"/>
          </a:xfrm>
          <a:prstGeom prst="rect">
            <a:avLst/>
          </a:prstGeom>
        </p:spPr>
      </p:pic>
      <p:sp>
        <p:nvSpPr>
          <p:cNvPr id="71" name="TextBox 70"/>
          <p:cNvSpPr txBox="1"/>
          <p:nvPr/>
        </p:nvSpPr>
        <p:spPr>
          <a:xfrm>
            <a:off x="218557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2" name="Picture 71" descr="lock.png"/>
          <p:cNvPicPr>
            <a:picLocks noChangeAspect="1"/>
          </p:cNvPicPr>
          <p:nvPr/>
        </p:nvPicPr>
        <p:blipFill>
          <a:blip r:embed="rId16"/>
          <a:stretch>
            <a:fillRect/>
          </a:stretch>
        </p:blipFill>
        <p:spPr>
          <a:xfrm>
            <a:off x="3045023" y="4219658"/>
            <a:ext cx="128699" cy="187198"/>
          </a:xfrm>
          <a:prstGeom prst="rect">
            <a:avLst/>
          </a:prstGeom>
        </p:spPr>
      </p:pic>
      <p:sp>
        <p:nvSpPr>
          <p:cNvPr id="73" name="TextBox 72"/>
          <p:cNvSpPr txBox="1"/>
          <p:nvPr/>
        </p:nvSpPr>
        <p:spPr>
          <a:xfrm>
            <a:off x="3212519"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4" name="TextBox 73"/>
          <p:cNvSpPr txBox="1"/>
          <p:nvPr/>
        </p:nvSpPr>
        <p:spPr>
          <a:xfrm>
            <a:off x="485775" y="4447369"/>
            <a:ext cx="2215629" cy="186689"/>
          </a:xfrm>
          <a:prstGeom prst="rect">
            <a:avLst/>
          </a:prstGeom>
          <a:noFill/>
        </p:spPr>
        <p:txBody>
          <a:bodyPr wrap="none" lIns="0" rIns="0" tIns="0" bIns="0">
            <a:spAutoFit/>
          </a:bodyPr>
          <a:lstStyle/>
          <a:p>
            <a:r>
              <a:rPr sz="1100" b="0">
                <a:solidFill>
                  <a:srgbClr val="2E2E2E"/>
                </a:solidFill>
                <a:latin typeface="Calibri"/>
              </a:rPr>
              <a:t>● Multigrain and blended flour bases:</a:t>
            </a:r>
          </a:p>
        </p:txBody>
      </p:sp>
      <p:pic>
        <p:nvPicPr>
          <p:cNvPr id="75" name="Picture 74" descr="lock.png"/>
          <p:cNvPicPr>
            <a:picLocks noChangeAspect="1"/>
          </p:cNvPicPr>
          <p:nvPr/>
        </p:nvPicPr>
        <p:blipFill>
          <a:blip r:embed="rId16"/>
          <a:stretch>
            <a:fillRect/>
          </a:stretch>
        </p:blipFill>
        <p:spPr>
          <a:xfrm>
            <a:off x="2649455" y="4437590"/>
            <a:ext cx="128699" cy="187198"/>
          </a:xfrm>
          <a:prstGeom prst="rect">
            <a:avLst/>
          </a:prstGeom>
        </p:spPr>
      </p:pic>
      <p:sp>
        <p:nvSpPr>
          <p:cNvPr id="76" name="TextBox 75"/>
          <p:cNvSpPr txBox="1"/>
          <p:nvPr/>
        </p:nvSpPr>
        <p:spPr>
          <a:xfrm>
            <a:off x="2816951"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6"/>
          <a:stretch>
            <a:fillRect/>
          </a:stretch>
        </p:blipFill>
        <p:spPr>
          <a:xfrm>
            <a:off x="3676401" y="4437590"/>
            <a:ext cx="128699" cy="187198"/>
          </a:xfrm>
          <a:prstGeom prst="rect">
            <a:avLst/>
          </a:prstGeom>
        </p:spPr>
      </p:pic>
      <p:sp>
        <p:nvSpPr>
          <p:cNvPr id="78" name="TextBox 77"/>
          <p:cNvSpPr txBox="1"/>
          <p:nvPr/>
        </p:nvSpPr>
        <p:spPr>
          <a:xfrm>
            <a:off x="3843897"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9" name="TextBox 78"/>
          <p:cNvSpPr txBox="1"/>
          <p:nvPr/>
        </p:nvSpPr>
        <p:spPr>
          <a:xfrm>
            <a:off x="485775" y="4665301"/>
            <a:ext cx="942776" cy="186689"/>
          </a:xfrm>
          <a:prstGeom prst="rect">
            <a:avLst/>
          </a:prstGeom>
          <a:noFill/>
        </p:spPr>
        <p:txBody>
          <a:bodyPr wrap="none" lIns="0" rIns="0" tIns="0" bIns="0">
            <a:spAutoFit/>
          </a:bodyPr>
          <a:lstStyle/>
          <a:p>
            <a:r>
              <a:rPr sz="1100" b="0">
                <a:solidFill>
                  <a:srgbClr val="2E2E2E"/>
                </a:solidFill>
                <a:latin typeface="Calibri"/>
              </a:rPr>
              <a:t>● Millet-based:</a:t>
            </a:r>
          </a:p>
        </p:txBody>
      </p:sp>
      <p:pic>
        <p:nvPicPr>
          <p:cNvPr id="80" name="Picture 79" descr="lock.png"/>
          <p:cNvPicPr>
            <a:picLocks noChangeAspect="1"/>
          </p:cNvPicPr>
          <p:nvPr/>
        </p:nvPicPr>
        <p:blipFill>
          <a:blip r:embed="rId16"/>
          <a:stretch>
            <a:fillRect/>
          </a:stretch>
        </p:blipFill>
        <p:spPr>
          <a:xfrm>
            <a:off x="1376603" y="4655522"/>
            <a:ext cx="128699" cy="187198"/>
          </a:xfrm>
          <a:prstGeom prst="rect">
            <a:avLst/>
          </a:prstGeom>
        </p:spPr>
      </p:pic>
      <p:sp>
        <p:nvSpPr>
          <p:cNvPr id="81" name="TextBox 80"/>
          <p:cNvSpPr txBox="1"/>
          <p:nvPr/>
        </p:nvSpPr>
        <p:spPr>
          <a:xfrm>
            <a:off x="154409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6"/>
          <a:stretch>
            <a:fillRect/>
          </a:stretch>
        </p:blipFill>
        <p:spPr>
          <a:xfrm>
            <a:off x="2403549" y="4655522"/>
            <a:ext cx="128699" cy="187198"/>
          </a:xfrm>
          <a:prstGeom prst="rect">
            <a:avLst/>
          </a:prstGeom>
        </p:spPr>
      </p:pic>
      <p:sp>
        <p:nvSpPr>
          <p:cNvPr id="83" name="TextBox 82"/>
          <p:cNvSpPr txBox="1"/>
          <p:nvPr/>
        </p:nvSpPr>
        <p:spPr>
          <a:xfrm>
            <a:off x="2571045"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4" name="TextBox 83"/>
          <p:cNvSpPr txBox="1"/>
          <p:nvPr/>
        </p:nvSpPr>
        <p:spPr>
          <a:xfrm>
            <a:off x="485775" y="4883233"/>
            <a:ext cx="2172245" cy="186689"/>
          </a:xfrm>
          <a:prstGeom prst="rect">
            <a:avLst/>
          </a:prstGeom>
          <a:noFill/>
        </p:spPr>
        <p:txBody>
          <a:bodyPr wrap="none" lIns="0" rIns="0" tIns="0" bIns="0">
            <a:spAutoFit/>
          </a:bodyPr>
          <a:lstStyle/>
          <a:p>
            <a:r>
              <a:rPr sz="1100" b="0">
                <a:solidFill>
                  <a:srgbClr val="2E2E2E"/>
                </a:solidFill>
                <a:latin typeface="Calibri"/>
              </a:rPr>
              <a:t>● Almond and other nut flour-based:</a:t>
            </a:r>
          </a:p>
        </p:txBody>
      </p:sp>
      <p:pic>
        <p:nvPicPr>
          <p:cNvPr id="85" name="Picture 84" descr="lock.png"/>
          <p:cNvPicPr>
            <a:picLocks noChangeAspect="1"/>
          </p:cNvPicPr>
          <p:nvPr/>
        </p:nvPicPr>
        <p:blipFill>
          <a:blip r:embed="rId16"/>
          <a:stretch>
            <a:fillRect/>
          </a:stretch>
        </p:blipFill>
        <p:spPr>
          <a:xfrm>
            <a:off x="2606072" y="4873454"/>
            <a:ext cx="128699" cy="187198"/>
          </a:xfrm>
          <a:prstGeom prst="rect">
            <a:avLst/>
          </a:prstGeom>
        </p:spPr>
      </p:pic>
      <p:sp>
        <p:nvSpPr>
          <p:cNvPr id="86" name="TextBox 85"/>
          <p:cNvSpPr txBox="1"/>
          <p:nvPr/>
        </p:nvSpPr>
        <p:spPr>
          <a:xfrm>
            <a:off x="2773568"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6"/>
          <a:stretch>
            <a:fillRect/>
          </a:stretch>
        </p:blipFill>
        <p:spPr>
          <a:xfrm>
            <a:off x="3633018" y="4873454"/>
            <a:ext cx="128699" cy="187198"/>
          </a:xfrm>
          <a:prstGeom prst="rect">
            <a:avLst/>
          </a:prstGeom>
        </p:spPr>
      </p:pic>
      <p:sp>
        <p:nvSpPr>
          <p:cNvPr id="88" name="TextBox 87"/>
          <p:cNvSpPr txBox="1"/>
          <p:nvPr/>
        </p:nvSpPr>
        <p:spPr>
          <a:xfrm>
            <a:off x="3800514"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Primary Flour Base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Flour Base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Flour Base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Flour Base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188619" cy="186689"/>
          </a:xfrm>
          <a:prstGeom prst="rect">
            <a:avLst/>
          </a:prstGeom>
          <a:noFill/>
        </p:spPr>
        <p:txBody>
          <a:bodyPr wrap="none" lIns="0" rIns="0" tIns="0" bIns="0">
            <a:spAutoFit/>
          </a:bodyPr>
          <a:lstStyle/>
          <a:p>
            <a:r>
              <a:rPr sz="1100" b="0">
                <a:solidFill>
                  <a:srgbClr val="2E2E2E"/>
                </a:solidFill>
                <a:latin typeface="Calibri"/>
              </a:rPr>
              <a:t>Between 2026 and 2036, 'Oat-based' gains the most share in the North America market (+</a:t>
            </a:r>
          </a:p>
        </p:txBody>
      </p:sp>
      <p:pic>
        <p:nvPicPr>
          <p:cNvPr id="21" name="Picture 20" descr="lock.png"/>
          <p:cNvPicPr>
            <a:picLocks noChangeAspect="1"/>
          </p:cNvPicPr>
          <p:nvPr/>
        </p:nvPicPr>
        <p:blipFill>
          <a:blip r:embed="rId6"/>
          <a:stretch>
            <a:fillRect/>
          </a:stretch>
        </p:blipFill>
        <p:spPr>
          <a:xfrm>
            <a:off x="5393846" y="5851905"/>
            <a:ext cx="128699" cy="187198"/>
          </a:xfrm>
          <a:prstGeom prst="rect">
            <a:avLst/>
          </a:prstGeom>
        </p:spPr>
      </p:pic>
      <p:sp>
        <p:nvSpPr>
          <p:cNvPr id="22" name="TextBox 21"/>
          <p:cNvSpPr txBox="1"/>
          <p:nvPr/>
        </p:nvSpPr>
        <p:spPr>
          <a:xfrm>
            <a:off x="5561342" y="5861685"/>
            <a:ext cx="1738684" cy="186689"/>
          </a:xfrm>
          <a:prstGeom prst="rect">
            <a:avLst/>
          </a:prstGeom>
          <a:noFill/>
        </p:spPr>
        <p:txBody>
          <a:bodyPr wrap="none" lIns="0" rIns="0" tIns="0" bIns="0">
            <a:spAutoFit/>
          </a:bodyPr>
          <a:lstStyle/>
          <a:p>
            <a:r>
              <a:rPr sz="1100" b="0">
                <a:solidFill>
                  <a:srgbClr val="2E2E2E"/>
                </a:solidFill>
                <a:latin typeface="Calibri"/>
              </a:rPr>
              <a:t>BPS) while 'Rice-based' cedes</a:t>
            </a:r>
          </a:p>
        </p:txBody>
      </p:sp>
      <p:pic>
        <p:nvPicPr>
          <p:cNvPr id="23" name="Picture 22" descr="lock.png"/>
          <p:cNvPicPr>
            <a:picLocks noChangeAspect="1"/>
          </p:cNvPicPr>
          <p:nvPr/>
        </p:nvPicPr>
        <p:blipFill>
          <a:blip r:embed="rId6"/>
          <a:stretch>
            <a:fillRect/>
          </a:stretch>
        </p:blipFill>
        <p:spPr>
          <a:xfrm>
            <a:off x="7248078" y="5851905"/>
            <a:ext cx="128699" cy="187198"/>
          </a:xfrm>
          <a:prstGeom prst="rect">
            <a:avLst/>
          </a:prstGeom>
        </p:spPr>
      </p:pic>
      <p:sp>
        <p:nvSpPr>
          <p:cNvPr id="24" name="TextBox 23"/>
          <p:cNvSpPr txBox="1"/>
          <p:nvPr/>
        </p:nvSpPr>
        <p:spPr>
          <a:xfrm>
            <a:off x="7415574"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Primary Flour Base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Flour Base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Wheat-based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Oat-based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Rice-based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Corn-based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Primary Flour Base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Flour Base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Millet-based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Almond and other nut flour-based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single-flour bases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Multigrain and blended flour bases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Primary Flour Base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Primary Flour Base,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514725"/>
          </a:xfrm>
          <a:prstGeom prst="roundRect">
            <a:avLst>
              <a:gd name="adj" fmla="val 21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Primary Flour Base (MT)</a:t>
            </a:r>
          </a:p>
        </p:txBody>
      </p:sp>
      <p:graphicFrame>
        <p:nvGraphicFramePr>
          <p:cNvPr id="13" name="Table 12"/>
          <p:cNvGraphicFramePr>
            <a:graphicFrameLocks noGrp="1"/>
          </p:cNvGraphicFramePr>
          <p:nvPr/>
        </p:nvGraphicFramePr>
        <p:xfrm>
          <a:off x="152400" y="1238250"/>
          <a:ext cx="11887208" cy="3047997"/>
        </p:xfrm>
        <a:graphic>
          <a:graphicData uri="http://schemas.openxmlformats.org/drawingml/2006/table">
            <a:tbl>
              <a:tblPr>
                <a:tableStyleId>{5C22544A-7EE6-4342-B048-85BDC9FD1C3A}</a:tableStyleId>
              </a:tblPr>
              <a:tblGrid>
                <a:gridCol w="2012457"/>
                <a:gridCol w="530662"/>
                <a:gridCol w="530662"/>
                <a:gridCol w="530662"/>
                <a:gridCol w="530662"/>
                <a:gridCol w="530662"/>
                <a:gridCol w="530662"/>
                <a:gridCol w="530662"/>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Primary Flour Base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57">
                <a:tc>
                  <a:txBody>
                    <a:bodyPr wrap="none"/>
                    <a:lstStyle/>
                    <a:p>
                      <a:pPr algn="l"/>
                      <a:r>
                        <a:rPr sz="1100" b="1">
                          <a:solidFill>
                            <a:srgbClr val="2E2E2E"/>
                          </a:solidFill>
                          <a:latin typeface="Calibri"/>
                        </a:rPr>
                        <a:t>Wheat-based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57">
                <a:tc>
                  <a:txBody>
                    <a:bodyPr wrap="none"/>
                    <a:lstStyle/>
                    <a:p>
                      <a:pPr algn="l"/>
                      <a:r>
                        <a:rPr sz="1100" b="1">
                          <a:solidFill>
                            <a:srgbClr val="2E2E2E"/>
                          </a:solidFill>
                          <a:latin typeface="Calibri"/>
                        </a:rPr>
                        <a:t>Oat-based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Rice-based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57">
                <a:tc>
                  <a:txBody>
                    <a:bodyPr wrap="none"/>
                    <a:lstStyle/>
                    <a:p>
                      <a:pPr algn="l"/>
                      <a:r>
                        <a:rPr sz="1100" b="1">
                          <a:solidFill>
                            <a:srgbClr val="2E2E2E"/>
                          </a:solidFill>
                          <a:latin typeface="Calibri"/>
                        </a:rPr>
                        <a:t>Corn-based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Millet-based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43">
                <a:tc>
                  <a:txBody>
                    <a:bodyPr wrap="none"/>
                    <a:lstStyle/>
                    <a:p>
                      <a:pPr algn="l"/>
                      <a:r>
                        <a:rPr sz="1100" b="1">
                          <a:solidFill>
                            <a:srgbClr val="2E2E2E"/>
                          </a:solidFill>
                          <a:latin typeface="Calibri"/>
                        </a:rPr>
                        <a:t>Almond and other nut flour-</a:t>
                      </a:r>
                      <a:endParaRPr sz="1100"/>
                    </a:p>
                    <a:p>
                      <a:pPr algn="l"/>
                      <a:r>
                        <a:rPr sz="1100" b="1">
                          <a:solidFill>
                            <a:srgbClr val="2E2E2E"/>
                          </a:solidFill>
                          <a:latin typeface="Calibri"/>
                        </a:rPr>
                        <a:t>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Other single-flour bases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43">
                <a:tc>
                  <a:txBody>
                    <a:bodyPr wrap="none"/>
                    <a:lstStyle/>
                    <a:p>
                      <a:pPr algn="l"/>
                      <a:r>
                        <a:rPr sz="1100" b="1">
                          <a:solidFill>
                            <a:srgbClr val="2E2E2E"/>
                          </a:solidFill>
                          <a:latin typeface="Calibri"/>
                        </a:rPr>
                        <a:t>Multigrain and blended flour</a:t>
                      </a:r>
                      <a:endParaRPr sz="1100"/>
                    </a:p>
                    <a:p>
                      <a:pPr algn="l"/>
                      <a:r>
                        <a:rPr sz="1100" b="1">
                          <a:solidFill>
                            <a:srgbClr val="2E2E2E"/>
                          </a:solidFill>
                          <a:latin typeface="Calibri"/>
                        </a:rPr>
                        <a:t>bases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2957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29150"/>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7148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Primary Flour Base</a:t>
            </a:r>
          </a:p>
        </p:txBody>
      </p:sp>
      <p:sp>
        <p:nvSpPr>
          <p:cNvPr id="17" name="Rectangle 16"/>
          <p:cNvSpPr/>
          <p:nvPr/>
        </p:nvSpPr>
        <p:spPr>
          <a:xfrm>
            <a:off x="276225" y="49530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38725"/>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15542" y="2715004"/>
            <a:ext cx="366712" cy="533400"/>
          </a:xfrm>
          <a:prstGeom prst="rect">
            <a:avLst/>
          </a:prstGeom>
        </p:spPr>
      </p:pic>
      <p:sp>
        <p:nvSpPr>
          <p:cNvPr id="21" name="TextBox 20"/>
          <p:cNvSpPr txBox="1"/>
          <p:nvPr/>
        </p:nvSpPr>
        <p:spPr>
          <a:xfrm>
            <a:off x="276225" y="5048250"/>
            <a:ext cx="2905633" cy="194310"/>
          </a:xfrm>
          <a:prstGeom prst="rect">
            <a:avLst/>
          </a:prstGeom>
          <a:noFill/>
        </p:spPr>
        <p:txBody>
          <a:bodyPr wrap="none" lIns="0" rIns="0" tIns="0" bIns="0">
            <a:spAutoFit/>
          </a:bodyPr>
          <a:lstStyle/>
          <a:p>
            <a:r>
              <a:rPr sz="1150" b="0">
                <a:solidFill>
                  <a:srgbClr val="2E2E2E"/>
                </a:solidFill>
                <a:latin typeface="Calibri"/>
              </a:rPr>
              <a:t>▪ 'Oat-based' is the largest primary flour base at</a:t>
            </a:r>
          </a:p>
        </p:txBody>
      </p:sp>
      <p:pic>
        <p:nvPicPr>
          <p:cNvPr id="22" name="Picture 21" descr="lock.png"/>
          <p:cNvPicPr>
            <a:picLocks noChangeAspect="1"/>
          </p:cNvPicPr>
          <p:nvPr/>
        </p:nvPicPr>
        <p:blipFill>
          <a:blip r:embed="rId4"/>
          <a:stretch>
            <a:fillRect/>
          </a:stretch>
        </p:blipFill>
        <p:spPr>
          <a:xfrm>
            <a:off x="3131012" y="5038026"/>
            <a:ext cx="134549" cy="195707"/>
          </a:xfrm>
          <a:prstGeom prst="rect">
            <a:avLst/>
          </a:prstGeom>
        </p:spPr>
      </p:pic>
      <p:sp>
        <p:nvSpPr>
          <p:cNvPr id="23" name="TextBox 22"/>
          <p:cNvSpPr txBox="1"/>
          <p:nvPr/>
        </p:nvSpPr>
        <p:spPr>
          <a:xfrm>
            <a:off x="3306121" y="50482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335854" y="5038026"/>
            <a:ext cx="134549" cy="195707"/>
          </a:xfrm>
          <a:prstGeom prst="rect">
            <a:avLst/>
          </a:prstGeom>
        </p:spPr>
      </p:pic>
      <p:sp>
        <p:nvSpPr>
          <p:cNvPr id="25" name="TextBox 24"/>
          <p:cNvSpPr txBox="1"/>
          <p:nvPr/>
        </p:nvSpPr>
        <p:spPr>
          <a:xfrm>
            <a:off x="4510963" y="50482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5276088"/>
            <a:ext cx="1794854" cy="194310"/>
          </a:xfrm>
          <a:prstGeom prst="rect">
            <a:avLst/>
          </a:prstGeom>
          <a:noFill/>
        </p:spPr>
        <p:txBody>
          <a:bodyPr wrap="none" lIns="0" rIns="0" tIns="0" bIns="0">
            <a:spAutoFit/>
          </a:bodyPr>
          <a:lstStyle/>
          <a:p>
            <a:r>
              <a:rPr sz="1150" b="0">
                <a:solidFill>
                  <a:srgbClr val="2E2E2E"/>
                </a:solidFill>
                <a:latin typeface="Calibri"/>
              </a:rPr>
              <a:t>▪ 'Millet-based' grows fastest</a:t>
            </a:r>
          </a:p>
        </p:txBody>
      </p:sp>
      <p:pic>
        <p:nvPicPr>
          <p:cNvPr id="27" name="Picture 26" descr="lock.png"/>
          <p:cNvPicPr>
            <a:picLocks noChangeAspect="1"/>
          </p:cNvPicPr>
          <p:nvPr/>
        </p:nvPicPr>
        <p:blipFill>
          <a:blip r:embed="rId4"/>
          <a:stretch>
            <a:fillRect/>
          </a:stretch>
        </p:blipFill>
        <p:spPr>
          <a:xfrm>
            <a:off x="2020233" y="5265864"/>
            <a:ext cx="134549" cy="195707"/>
          </a:xfrm>
          <a:prstGeom prst="rect">
            <a:avLst/>
          </a:prstGeom>
        </p:spPr>
      </p:pic>
      <p:sp>
        <p:nvSpPr>
          <p:cNvPr id="28" name="TextBox 27"/>
          <p:cNvSpPr txBox="1"/>
          <p:nvPr/>
        </p:nvSpPr>
        <p:spPr>
          <a:xfrm>
            <a:off x="2195342" y="527608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503925"/>
            <a:ext cx="2171960" cy="194310"/>
          </a:xfrm>
          <a:prstGeom prst="rect">
            <a:avLst/>
          </a:prstGeom>
          <a:noFill/>
        </p:spPr>
        <p:txBody>
          <a:bodyPr wrap="none" lIns="0" rIns="0" tIns="0" bIns="0">
            <a:spAutoFit/>
          </a:bodyPr>
          <a:lstStyle/>
          <a:p>
            <a:r>
              <a:rPr sz="1150" b="0">
                <a:solidFill>
                  <a:srgbClr val="2E2E2E"/>
                </a:solidFill>
                <a:latin typeface="Calibri"/>
              </a:rPr>
              <a:t>▪ Share shifts toward 'Oat-based' (+</a:t>
            </a:r>
          </a:p>
        </p:txBody>
      </p:sp>
      <p:pic>
        <p:nvPicPr>
          <p:cNvPr id="30" name="Picture 29" descr="lock.png"/>
          <p:cNvPicPr>
            <a:picLocks noChangeAspect="1"/>
          </p:cNvPicPr>
          <p:nvPr/>
        </p:nvPicPr>
        <p:blipFill>
          <a:blip r:embed="rId4"/>
          <a:stretch>
            <a:fillRect/>
          </a:stretch>
        </p:blipFill>
        <p:spPr>
          <a:xfrm>
            <a:off x="2397339" y="5493702"/>
            <a:ext cx="134549" cy="195707"/>
          </a:xfrm>
          <a:prstGeom prst="rect">
            <a:avLst/>
          </a:prstGeom>
        </p:spPr>
      </p:pic>
      <p:sp>
        <p:nvSpPr>
          <p:cNvPr id="31" name="TextBox 30"/>
          <p:cNvSpPr txBox="1"/>
          <p:nvPr/>
        </p:nvSpPr>
        <p:spPr>
          <a:xfrm>
            <a:off x="2572448" y="5503925"/>
            <a:ext cx="3560861" cy="194310"/>
          </a:xfrm>
          <a:prstGeom prst="rect">
            <a:avLst/>
          </a:prstGeom>
          <a:noFill/>
        </p:spPr>
        <p:txBody>
          <a:bodyPr wrap="none" lIns="0" rIns="0" tIns="0" bIns="0">
            <a:spAutoFit/>
          </a:bodyPr>
          <a:lstStyle/>
          <a:p>
            <a:r>
              <a:rPr sz="1150" b="0">
                <a:solidFill>
                  <a:srgbClr val="2E2E2E"/>
                </a:solidFill>
                <a:latin typeface="Calibri"/>
              </a:rPr>
              <a:t>BPS) and away from 'Multigrain and blended flour bases' (-</a:t>
            </a:r>
          </a:p>
        </p:txBody>
      </p:sp>
      <p:pic>
        <p:nvPicPr>
          <p:cNvPr id="32" name="Picture 31" descr="lock.png"/>
          <p:cNvPicPr>
            <a:picLocks noChangeAspect="1"/>
          </p:cNvPicPr>
          <p:nvPr/>
        </p:nvPicPr>
        <p:blipFill>
          <a:blip r:embed="rId4"/>
          <a:stretch>
            <a:fillRect/>
          </a:stretch>
        </p:blipFill>
        <p:spPr>
          <a:xfrm>
            <a:off x="6082464" y="5493702"/>
            <a:ext cx="134549" cy="195707"/>
          </a:xfrm>
          <a:prstGeom prst="rect">
            <a:avLst/>
          </a:prstGeom>
        </p:spPr>
      </p:pic>
      <p:sp>
        <p:nvSpPr>
          <p:cNvPr id="33" name="TextBox 32"/>
          <p:cNvSpPr txBox="1"/>
          <p:nvPr/>
        </p:nvSpPr>
        <p:spPr>
          <a:xfrm>
            <a:off x="6257573" y="55039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7317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721540"/>
            <a:ext cx="134549" cy="195707"/>
          </a:xfrm>
          <a:prstGeom prst="rect">
            <a:avLst/>
          </a:prstGeom>
        </p:spPr>
      </p:pic>
      <p:sp>
        <p:nvSpPr>
          <p:cNvPr id="36" name="TextBox 35"/>
          <p:cNvSpPr txBox="1"/>
          <p:nvPr/>
        </p:nvSpPr>
        <p:spPr>
          <a:xfrm>
            <a:off x="1965143" y="57317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721540"/>
            <a:ext cx="134549" cy="195707"/>
          </a:xfrm>
          <a:prstGeom prst="rect">
            <a:avLst/>
          </a:prstGeom>
        </p:spPr>
      </p:pic>
      <p:sp>
        <p:nvSpPr>
          <p:cNvPr id="38" name="TextBox 37"/>
          <p:cNvSpPr txBox="1"/>
          <p:nvPr/>
        </p:nvSpPr>
        <p:spPr>
          <a:xfrm>
            <a:off x="2291688" y="5731763"/>
            <a:ext cx="1470521" cy="194310"/>
          </a:xfrm>
          <a:prstGeom prst="rect">
            <a:avLst/>
          </a:prstGeom>
          <a:noFill/>
        </p:spPr>
        <p:txBody>
          <a:bodyPr wrap="none" lIns="0" rIns="0" tIns="0" bIns="0">
            <a:spAutoFit/>
          </a:bodyPr>
          <a:lstStyle/>
          <a:p>
            <a:r>
              <a:rPr sz="1150" b="0">
                <a:solidFill>
                  <a:srgbClr val="2E2E2E"/>
                </a:solidFill>
                <a:latin typeface="Calibri"/>
              </a:rPr>
              <a:t>MT across 8 categories.</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Primary Flour Base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Flour Base,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Primary Flour Base (US$ Mn)</a:t>
            </a:r>
          </a:p>
        </p:txBody>
      </p:sp>
      <p:graphicFrame>
        <p:nvGraphicFramePr>
          <p:cNvPr id="13" name="Table 12"/>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264040"/>
                <a:gridCol w="566068"/>
                <a:gridCol w="566068"/>
                <a:gridCol w="566068"/>
                <a:gridCol w="566068"/>
                <a:gridCol w="566068"/>
                <a:gridCol w="566068"/>
                <a:gridCol w="566068"/>
                <a:gridCol w="566068"/>
                <a:gridCol w="566068"/>
                <a:gridCol w="566068"/>
                <a:gridCol w="566068"/>
                <a:gridCol w="566068"/>
                <a:gridCol w="566068"/>
                <a:gridCol w="566068"/>
                <a:gridCol w="566068"/>
                <a:gridCol w="566068"/>
                <a:gridCol w="566068"/>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Primary Flour Base</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41327" y="2328100"/>
            <a:ext cx="366712" cy="533400"/>
          </a:xfrm>
          <a:prstGeom prst="rect">
            <a:avLst/>
          </a:prstGeom>
        </p:spPr>
      </p:pic>
      <p:sp>
        <p:nvSpPr>
          <p:cNvPr id="21" name="TextBox 20"/>
          <p:cNvSpPr txBox="1"/>
          <p:nvPr/>
        </p:nvSpPr>
        <p:spPr>
          <a:xfrm>
            <a:off x="276225" y="4467225"/>
            <a:ext cx="2905633" cy="194310"/>
          </a:xfrm>
          <a:prstGeom prst="rect">
            <a:avLst/>
          </a:prstGeom>
          <a:noFill/>
        </p:spPr>
        <p:txBody>
          <a:bodyPr wrap="none" lIns="0" rIns="0" tIns="0" bIns="0">
            <a:spAutoFit/>
          </a:bodyPr>
          <a:lstStyle/>
          <a:p>
            <a:r>
              <a:rPr sz="1150" b="0">
                <a:solidFill>
                  <a:srgbClr val="2E2E2E"/>
                </a:solidFill>
                <a:latin typeface="Calibri"/>
              </a:rPr>
              <a:t>▪ 'Oat-based' is the largest primary flour base at</a:t>
            </a:r>
          </a:p>
        </p:txBody>
      </p:sp>
      <p:pic>
        <p:nvPicPr>
          <p:cNvPr id="22" name="Picture 21" descr="lock.png"/>
          <p:cNvPicPr>
            <a:picLocks noChangeAspect="1"/>
          </p:cNvPicPr>
          <p:nvPr/>
        </p:nvPicPr>
        <p:blipFill>
          <a:blip r:embed="rId4"/>
          <a:stretch>
            <a:fillRect/>
          </a:stretch>
        </p:blipFill>
        <p:spPr>
          <a:xfrm>
            <a:off x="3131012" y="4457001"/>
            <a:ext cx="134549" cy="195707"/>
          </a:xfrm>
          <a:prstGeom prst="rect">
            <a:avLst/>
          </a:prstGeom>
        </p:spPr>
      </p:pic>
      <p:sp>
        <p:nvSpPr>
          <p:cNvPr id="23" name="TextBox 22"/>
          <p:cNvSpPr txBox="1"/>
          <p:nvPr/>
        </p:nvSpPr>
        <p:spPr>
          <a:xfrm>
            <a:off x="3306121" y="44672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212054" y="4457001"/>
            <a:ext cx="134549" cy="195707"/>
          </a:xfrm>
          <a:prstGeom prst="rect">
            <a:avLst/>
          </a:prstGeom>
        </p:spPr>
      </p:pic>
      <p:sp>
        <p:nvSpPr>
          <p:cNvPr id="25" name="TextBox 24"/>
          <p:cNvSpPr txBox="1"/>
          <p:nvPr/>
        </p:nvSpPr>
        <p:spPr>
          <a:xfrm>
            <a:off x="4387163" y="44672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695063"/>
            <a:ext cx="1794854" cy="194310"/>
          </a:xfrm>
          <a:prstGeom prst="rect">
            <a:avLst/>
          </a:prstGeom>
          <a:noFill/>
        </p:spPr>
        <p:txBody>
          <a:bodyPr wrap="none" lIns="0" rIns="0" tIns="0" bIns="0">
            <a:spAutoFit/>
          </a:bodyPr>
          <a:lstStyle/>
          <a:p>
            <a:r>
              <a:rPr sz="1150" b="0">
                <a:solidFill>
                  <a:srgbClr val="2E2E2E"/>
                </a:solidFill>
                <a:latin typeface="Calibri"/>
              </a:rPr>
              <a:t>▪ 'Millet-based' grows fastest</a:t>
            </a:r>
          </a:p>
        </p:txBody>
      </p:sp>
      <p:pic>
        <p:nvPicPr>
          <p:cNvPr id="27" name="Picture 26" descr="lock.png"/>
          <p:cNvPicPr>
            <a:picLocks noChangeAspect="1"/>
          </p:cNvPicPr>
          <p:nvPr/>
        </p:nvPicPr>
        <p:blipFill>
          <a:blip r:embed="rId4"/>
          <a:stretch>
            <a:fillRect/>
          </a:stretch>
        </p:blipFill>
        <p:spPr>
          <a:xfrm>
            <a:off x="2020233" y="4684839"/>
            <a:ext cx="134549" cy="195707"/>
          </a:xfrm>
          <a:prstGeom prst="rect">
            <a:avLst/>
          </a:prstGeom>
        </p:spPr>
      </p:pic>
      <p:sp>
        <p:nvSpPr>
          <p:cNvPr id="28" name="TextBox 27"/>
          <p:cNvSpPr txBox="1"/>
          <p:nvPr/>
        </p:nvSpPr>
        <p:spPr>
          <a:xfrm>
            <a:off x="2195342" y="46950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922900"/>
            <a:ext cx="2171960" cy="194310"/>
          </a:xfrm>
          <a:prstGeom prst="rect">
            <a:avLst/>
          </a:prstGeom>
          <a:noFill/>
        </p:spPr>
        <p:txBody>
          <a:bodyPr wrap="none" lIns="0" rIns="0" tIns="0" bIns="0">
            <a:spAutoFit/>
          </a:bodyPr>
          <a:lstStyle/>
          <a:p>
            <a:r>
              <a:rPr sz="1150" b="0">
                <a:solidFill>
                  <a:srgbClr val="2E2E2E"/>
                </a:solidFill>
                <a:latin typeface="Calibri"/>
              </a:rPr>
              <a:t>▪ Share shifts toward 'Oat-based' (+</a:t>
            </a:r>
          </a:p>
        </p:txBody>
      </p:sp>
      <p:pic>
        <p:nvPicPr>
          <p:cNvPr id="30" name="Picture 29" descr="lock.png"/>
          <p:cNvPicPr>
            <a:picLocks noChangeAspect="1"/>
          </p:cNvPicPr>
          <p:nvPr/>
        </p:nvPicPr>
        <p:blipFill>
          <a:blip r:embed="rId4"/>
          <a:stretch>
            <a:fillRect/>
          </a:stretch>
        </p:blipFill>
        <p:spPr>
          <a:xfrm>
            <a:off x="2397339" y="4912677"/>
            <a:ext cx="134549" cy="195707"/>
          </a:xfrm>
          <a:prstGeom prst="rect">
            <a:avLst/>
          </a:prstGeom>
        </p:spPr>
      </p:pic>
      <p:sp>
        <p:nvSpPr>
          <p:cNvPr id="31" name="TextBox 30"/>
          <p:cNvSpPr txBox="1"/>
          <p:nvPr/>
        </p:nvSpPr>
        <p:spPr>
          <a:xfrm>
            <a:off x="2572448" y="4922900"/>
            <a:ext cx="2130028" cy="194310"/>
          </a:xfrm>
          <a:prstGeom prst="rect">
            <a:avLst/>
          </a:prstGeom>
          <a:noFill/>
        </p:spPr>
        <p:txBody>
          <a:bodyPr wrap="none" lIns="0" rIns="0" tIns="0" bIns="0">
            <a:spAutoFit/>
          </a:bodyPr>
          <a:lstStyle/>
          <a:p>
            <a:r>
              <a:rPr sz="1150" b="0">
                <a:solidFill>
                  <a:srgbClr val="2E2E2E"/>
                </a:solidFill>
                <a:latin typeface="Calibri"/>
              </a:rPr>
              <a:t>BPS) and away from 'Rice-based' (-</a:t>
            </a:r>
          </a:p>
        </p:txBody>
      </p:sp>
      <p:pic>
        <p:nvPicPr>
          <p:cNvPr id="32" name="Picture 31" descr="lock.png"/>
          <p:cNvPicPr>
            <a:picLocks noChangeAspect="1"/>
          </p:cNvPicPr>
          <p:nvPr/>
        </p:nvPicPr>
        <p:blipFill>
          <a:blip r:embed="rId4"/>
          <a:stretch>
            <a:fillRect/>
          </a:stretch>
        </p:blipFill>
        <p:spPr>
          <a:xfrm>
            <a:off x="4651630" y="4912677"/>
            <a:ext cx="134549" cy="195707"/>
          </a:xfrm>
          <a:prstGeom prst="rect">
            <a:avLst/>
          </a:prstGeom>
        </p:spPr>
      </p:pic>
      <p:sp>
        <p:nvSpPr>
          <p:cNvPr id="33" name="TextBox 32"/>
          <p:cNvSpPr txBox="1"/>
          <p:nvPr/>
        </p:nvSpPr>
        <p:spPr>
          <a:xfrm>
            <a:off x="4826739" y="49229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1507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5140515"/>
            <a:ext cx="134549" cy="195707"/>
          </a:xfrm>
          <a:prstGeom prst="rect">
            <a:avLst/>
          </a:prstGeom>
        </p:spPr>
      </p:pic>
      <p:sp>
        <p:nvSpPr>
          <p:cNvPr id="36" name="TextBox 35"/>
          <p:cNvSpPr txBox="1"/>
          <p:nvPr/>
        </p:nvSpPr>
        <p:spPr>
          <a:xfrm>
            <a:off x="1841342" y="51507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5140515"/>
            <a:ext cx="134549" cy="195707"/>
          </a:xfrm>
          <a:prstGeom prst="rect">
            <a:avLst/>
          </a:prstGeom>
        </p:spPr>
      </p:pic>
      <p:sp>
        <p:nvSpPr>
          <p:cNvPr id="38" name="TextBox 37"/>
          <p:cNvSpPr txBox="1"/>
          <p:nvPr/>
        </p:nvSpPr>
        <p:spPr>
          <a:xfrm>
            <a:off x="2167888" y="5150738"/>
            <a:ext cx="1744079" cy="194310"/>
          </a:xfrm>
          <a:prstGeom prst="rect">
            <a:avLst/>
          </a:prstGeom>
          <a:noFill/>
        </p:spPr>
        <p:txBody>
          <a:bodyPr wrap="none" lIns="0" rIns="0" tIns="0" bIns="0">
            <a:spAutoFit/>
          </a:bodyPr>
          <a:lstStyle/>
          <a:p>
            <a:r>
              <a:rPr sz="1150" b="0">
                <a:solidFill>
                  <a:srgbClr val="2E2E2E"/>
                </a:solidFill>
                <a:latin typeface="Calibri"/>
              </a:rPr>
              <a:t>US$ Mn across 8 categories.</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Primary Flour Base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Flour Base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Primary Flour Base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41276"/>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3651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603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Almond and other nut flour-based</a:t>
            </a:r>
          </a:p>
        </p:txBody>
      </p:sp>
      <p:sp>
        <p:nvSpPr>
          <p:cNvPr id="19" name="BPS Value 1"/>
          <p:cNvSpPr txBox="1"/>
          <p:nvPr/>
        </p:nvSpPr>
        <p:spPr>
          <a:xfrm>
            <a:off x="6896100" y="172222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1929313"/>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19245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8483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Multigrain and blended flour bases</a:t>
            </a:r>
          </a:p>
        </p:txBody>
      </p:sp>
      <p:sp>
        <p:nvSpPr>
          <p:cNvPr id="23" name="BPS Value 2"/>
          <p:cNvSpPr txBox="1"/>
          <p:nvPr/>
        </p:nvSpPr>
        <p:spPr>
          <a:xfrm>
            <a:off x="6896100" y="191026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22900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2242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480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Millet-based</a:t>
            </a:r>
          </a:p>
        </p:txBody>
      </p:sp>
      <p:sp>
        <p:nvSpPr>
          <p:cNvPr id="27" name="BPS Value 3"/>
          <p:cNvSpPr txBox="1"/>
          <p:nvPr/>
        </p:nvSpPr>
        <p:spPr>
          <a:xfrm>
            <a:off x="6896100" y="220995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271517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7104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6342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single-flour bases</a:t>
            </a:r>
          </a:p>
        </p:txBody>
      </p:sp>
      <p:sp>
        <p:nvSpPr>
          <p:cNvPr id="31" name="BPS Value 4"/>
          <p:cNvSpPr txBox="1"/>
          <p:nvPr/>
        </p:nvSpPr>
        <p:spPr>
          <a:xfrm>
            <a:off x="6896100" y="269612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334128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3365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2603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Corn-based</a:t>
            </a:r>
          </a:p>
        </p:txBody>
      </p:sp>
      <p:sp>
        <p:nvSpPr>
          <p:cNvPr id="35" name="BPS Value 5"/>
          <p:cNvSpPr txBox="1"/>
          <p:nvPr/>
        </p:nvSpPr>
        <p:spPr>
          <a:xfrm>
            <a:off x="6896100" y="332223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01746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01270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39365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Rice-based</a:t>
            </a:r>
          </a:p>
        </p:txBody>
      </p:sp>
      <p:sp>
        <p:nvSpPr>
          <p:cNvPr id="39" name="BPS Value 6"/>
          <p:cNvSpPr txBox="1"/>
          <p:nvPr/>
        </p:nvSpPr>
        <p:spPr>
          <a:xfrm>
            <a:off x="6896100" y="399841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FMI Legend Chip"/>
          <p:cNvSpPr/>
          <p:nvPr/>
        </p:nvSpPr>
        <p:spPr>
          <a:xfrm>
            <a:off x="4928997" y="477691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47721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6959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Wheat-based</a:t>
            </a:r>
          </a:p>
        </p:txBody>
      </p:sp>
      <p:sp>
        <p:nvSpPr>
          <p:cNvPr id="43" name="BPS Value 7"/>
          <p:cNvSpPr txBox="1"/>
          <p:nvPr/>
        </p:nvSpPr>
        <p:spPr>
          <a:xfrm>
            <a:off x="6896100" y="475786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4" name="FMI Legend Chip"/>
          <p:cNvSpPr/>
          <p:nvPr/>
        </p:nvSpPr>
        <p:spPr>
          <a:xfrm>
            <a:off x="4928997" y="571271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0795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3175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Oat-based</a:t>
            </a:r>
          </a:p>
        </p:txBody>
      </p:sp>
      <p:sp>
        <p:nvSpPr>
          <p:cNvPr id="47" name="BPS Value 8"/>
          <p:cNvSpPr txBox="1"/>
          <p:nvPr/>
        </p:nvSpPr>
        <p:spPr>
          <a:xfrm>
            <a:off x="6896100" y="569366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Primary Flour Base</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lock.png"/>
          <p:cNvPicPr>
            <a:picLocks noChangeAspect="1"/>
          </p:cNvPicPr>
          <p:nvPr/>
        </p:nvPicPr>
        <p:blipFill>
          <a:blip r:embed="rId5"/>
          <a:stretch>
            <a:fillRect/>
          </a:stretch>
        </p:blipFill>
        <p:spPr>
          <a:xfrm>
            <a:off x="2557843" y="3833622"/>
            <a:ext cx="275034" cy="400050"/>
          </a:xfrm>
          <a:prstGeom prst="rect">
            <a:avLst/>
          </a:prstGeom>
        </p:spPr>
      </p:pic>
      <p:sp>
        <p:nvSpPr>
          <p:cNvPr id="54" name="TextBox 53"/>
          <p:cNvSpPr txBox="1"/>
          <p:nvPr/>
        </p:nvSpPr>
        <p:spPr>
          <a:xfrm>
            <a:off x="7829550" y="1400175"/>
            <a:ext cx="2209043" cy="194310"/>
          </a:xfrm>
          <a:prstGeom prst="rect">
            <a:avLst/>
          </a:prstGeom>
          <a:noFill/>
        </p:spPr>
        <p:txBody>
          <a:bodyPr wrap="none" lIns="0" rIns="0" tIns="0" bIns="0">
            <a:spAutoFit/>
          </a:bodyPr>
          <a:lstStyle/>
          <a:p>
            <a:r>
              <a:rPr sz="1150" b="0">
                <a:solidFill>
                  <a:srgbClr val="2E2E2E"/>
                </a:solidFill>
                <a:latin typeface="Calibri"/>
              </a:rPr>
              <a:t>▪ 'Oat-based' gains the most share +</a:t>
            </a:r>
          </a:p>
        </p:txBody>
      </p:sp>
      <p:pic>
        <p:nvPicPr>
          <p:cNvPr id="55" name="Picture 54" descr="lock.png"/>
          <p:cNvPicPr>
            <a:picLocks noChangeAspect="1"/>
          </p:cNvPicPr>
          <p:nvPr/>
        </p:nvPicPr>
        <p:blipFill>
          <a:blip r:embed="rId5"/>
          <a:stretch>
            <a:fillRect/>
          </a:stretch>
        </p:blipFill>
        <p:spPr>
          <a:xfrm>
            <a:off x="9987747" y="1389951"/>
            <a:ext cx="134549" cy="195707"/>
          </a:xfrm>
          <a:prstGeom prst="rect">
            <a:avLst/>
          </a:prstGeom>
        </p:spPr>
      </p:pic>
      <p:sp>
        <p:nvSpPr>
          <p:cNvPr id="56" name="TextBox 55"/>
          <p:cNvSpPr txBox="1"/>
          <p:nvPr/>
        </p:nvSpPr>
        <p:spPr>
          <a:xfrm>
            <a:off x="10162856"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57" name="TextBox 56"/>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58" name="TextBox 57"/>
          <p:cNvSpPr txBox="1"/>
          <p:nvPr/>
        </p:nvSpPr>
        <p:spPr>
          <a:xfrm>
            <a:off x="7829550" y="1803273"/>
            <a:ext cx="1887562" cy="194310"/>
          </a:xfrm>
          <a:prstGeom prst="rect">
            <a:avLst/>
          </a:prstGeom>
          <a:noFill/>
        </p:spPr>
        <p:txBody>
          <a:bodyPr wrap="none" lIns="0" rIns="0" tIns="0" bIns="0">
            <a:spAutoFit/>
          </a:bodyPr>
          <a:lstStyle/>
          <a:p>
            <a:r>
              <a:rPr sz="1150" b="0">
                <a:solidFill>
                  <a:srgbClr val="2E2E2E"/>
                </a:solidFill>
                <a:latin typeface="Calibri"/>
              </a:rPr>
              <a:t>▪ 'Rice-based' cedes the most -</a:t>
            </a:r>
          </a:p>
        </p:txBody>
      </p:sp>
      <p:pic>
        <p:nvPicPr>
          <p:cNvPr id="59" name="Picture 58" descr="lock.png"/>
          <p:cNvPicPr>
            <a:picLocks noChangeAspect="1"/>
          </p:cNvPicPr>
          <p:nvPr/>
        </p:nvPicPr>
        <p:blipFill>
          <a:blip r:embed="rId5"/>
          <a:stretch>
            <a:fillRect/>
          </a:stretch>
        </p:blipFill>
        <p:spPr>
          <a:xfrm>
            <a:off x="9666266" y="1793049"/>
            <a:ext cx="134549" cy="195707"/>
          </a:xfrm>
          <a:prstGeom prst="rect">
            <a:avLst/>
          </a:prstGeom>
        </p:spPr>
      </p:pic>
      <p:sp>
        <p:nvSpPr>
          <p:cNvPr id="60" name="TextBox 59"/>
          <p:cNvSpPr txBox="1"/>
          <p:nvPr/>
        </p:nvSpPr>
        <p:spPr>
          <a:xfrm>
            <a:off x="9841375"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61" name="TextBox 60"/>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62" name="TextBox 61"/>
          <p:cNvSpPr txBox="1"/>
          <p:nvPr/>
        </p:nvSpPr>
        <p:spPr>
          <a:xfrm>
            <a:off x="7829550" y="2206371"/>
            <a:ext cx="3560005" cy="194310"/>
          </a:xfrm>
          <a:prstGeom prst="rect">
            <a:avLst/>
          </a:prstGeom>
          <a:noFill/>
        </p:spPr>
        <p:txBody>
          <a:bodyPr wrap="none" lIns="0" rIns="0" tIns="0" bIns="0">
            <a:spAutoFit/>
          </a:bodyPr>
          <a:lstStyle/>
          <a:p>
            <a:r>
              <a:rPr sz="1150" b="0">
                <a:solidFill>
                  <a:srgbClr val="2E2E2E"/>
                </a:solidFill>
                <a:latin typeface="Calibri"/>
              </a:rPr>
              <a:t>▪ 'Millet-based' is the fastest-growing primary flour base at</a:t>
            </a:r>
          </a:p>
        </p:txBody>
      </p:sp>
      <p:pic>
        <p:nvPicPr>
          <p:cNvPr id="63" name="Picture 62" descr="lock.png"/>
          <p:cNvPicPr>
            <a:picLocks noChangeAspect="1"/>
          </p:cNvPicPr>
          <p:nvPr/>
        </p:nvPicPr>
        <p:blipFill>
          <a:blip r:embed="rId5"/>
          <a:stretch>
            <a:fillRect/>
          </a:stretch>
        </p:blipFill>
        <p:spPr>
          <a:xfrm>
            <a:off x="11338709" y="2196147"/>
            <a:ext cx="134549" cy="195707"/>
          </a:xfrm>
          <a:prstGeom prst="rect">
            <a:avLst/>
          </a:prstGeom>
        </p:spPr>
      </p:pic>
      <p:sp>
        <p:nvSpPr>
          <p:cNvPr id="64" name="TextBox 63"/>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5" name="TextBox 64"/>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66" name="Picture 65" descr="lock.png"/>
          <p:cNvPicPr>
            <a:picLocks noChangeAspect="1"/>
          </p:cNvPicPr>
          <p:nvPr/>
        </p:nvPicPr>
        <p:blipFill>
          <a:blip r:embed="rId5"/>
          <a:stretch>
            <a:fillRect/>
          </a:stretch>
        </p:blipFill>
        <p:spPr>
          <a:xfrm>
            <a:off x="9327669" y="2599245"/>
            <a:ext cx="134549" cy="195707"/>
          </a:xfrm>
          <a:prstGeom prst="rect">
            <a:avLst/>
          </a:prstGeom>
        </p:spPr>
      </p:pic>
      <p:sp>
        <p:nvSpPr>
          <p:cNvPr id="67" name="TextBox 66"/>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8" name="Picture 67" descr="lock.png"/>
          <p:cNvPicPr>
            <a:picLocks noChangeAspect="1"/>
          </p:cNvPicPr>
          <p:nvPr/>
        </p:nvPicPr>
        <p:blipFill>
          <a:blip r:embed="rId5"/>
          <a:stretch>
            <a:fillRect/>
          </a:stretch>
        </p:blipFill>
        <p:spPr>
          <a:xfrm>
            <a:off x="9654215" y="2599245"/>
            <a:ext cx="134549" cy="195707"/>
          </a:xfrm>
          <a:prstGeom prst="rect">
            <a:avLst/>
          </a:prstGeom>
        </p:spPr>
      </p:pic>
      <p:sp>
        <p:nvSpPr>
          <p:cNvPr id="69" name="TextBox 68"/>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70" name="TextBox 69"/>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71" name="TextBox 70"/>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7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Primary Flour Base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Primary Flour Base,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2219326"/>
        </p:xfrm>
        <a:graphic>
          <a:graphicData uri="http://schemas.openxmlformats.org/drawingml/2006/table">
            <a:tbl>
              <a:tblPr>
                <a:tableStyleId>{5C22544A-7EE6-4342-B048-85BDC9FD1C3A}</a:tableStyleId>
              </a:tblPr>
              <a:tblGrid>
                <a:gridCol w="2317919"/>
                <a:gridCol w="637952"/>
                <a:gridCol w="637952"/>
                <a:gridCol w="637952"/>
                <a:gridCol w="637952"/>
                <a:gridCol w="637952"/>
                <a:gridCol w="637952"/>
                <a:gridCol w="637952"/>
                <a:gridCol w="637952"/>
                <a:gridCol w="637952"/>
                <a:gridCol w="637952"/>
                <a:gridCol w="637952"/>
                <a:gridCol w="637952"/>
                <a:gridCol w="637952"/>
                <a:gridCol w="637952"/>
                <a:gridCol w="63795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Primary Flour Base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Wheat-based</a:t>
            </a:r>
          </a:p>
        </p:txBody>
      </p:sp>
      <p:sp>
        <p:nvSpPr>
          <p:cNvPr id="33" name="Rectangle 32"/>
          <p:cNvSpPr/>
          <p:nvPr/>
        </p:nvSpPr>
        <p:spPr>
          <a:xfrm>
            <a:off x="185737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4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Oat-based</a:t>
            </a:r>
          </a:p>
        </p:txBody>
      </p:sp>
      <p:sp>
        <p:nvSpPr>
          <p:cNvPr id="49" name="Rectangle 48"/>
          <p:cNvSpPr/>
          <p:nvPr/>
        </p:nvSpPr>
        <p:spPr>
          <a:xfrm>
            <a:off x="1857375" y="4521994"/>
            <a:ext cx="643890" cy="292894"/>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Rice-based</a:t>
            </a:r>
          </a:p>
        </p:txBody>
      </p:sp>
      <p:sp>
        <p:nvSpPr>
          <p:cNvPr id="65" name="Rectangle 64"/>
          <p:cNvSpPr/>
          <p:nvPr/>
        </p:nvSpPr>
        <p:spPr>
          <a:xfrm>
            <a:off x="1857375" y="4814888"/>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Corn-based</a:t>
            </a:r>
          </a:p>
        </p:txBody>
      </p:sp>
      <p:sp>
        <p:nvSpPr>
          <p:cNvPr id="81" name="Rectangle 80"/>
          <p:cNvSpPr/>
          <p:nvPr/>
        </p:nvSpPr>
        <p:spPr>
          <a:xfrm>
            <a:off x="185737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Millet-based</a:t>
            </a:r>
          </a:p>
        </p:txBody>
      </p:sp>
      <p:sp>
        <p:nvSpPr>
          <p:cNvPr id="97" name="Rectangle 96"/>
          <p:cNvSpPr/>
          <p:nvPr/>
        </p:nvSpPr>
        <p:spPr>
          <a:xfrm>
            <a:off x="1857375" y="5400675"/>
            <a:ext cx="643890" cy="292894"/>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Almond and other nut flour-based</a:t>
            </a:r>
          </a:p>
        </p:txBody>
      </p:sp>
      <p:sp>
        <p:nvSpPr>
          <p:cNvPr id="113" name="Rectangle 112"/>
          <p:cNvSpPr/>
          <p:nvPr/>
        </p:nvSpPr>
        <p:spPr>
          <a:xfrm>
            <a:off x="185737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Other single-flour bases</a:t>
            </a:r>
          </a:p>
        </p:txBody>
      </p:sp>
      <p:sp>
        <p:nvSpPr>
          <p:cNvPr id="129" name="Rectangle 128"/>
          <p:cNvSpPr/>
          <p:nvPr/>
        </p:nvSpPr>
        <p:spPr>
          <a:xfrm>
            <a:off x="1857375" y="5986462"/>
            <a:ext cx="643890" cy="292894"/>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Multigrain and blended flour bases</a:t>
            </a:r>
          </a:p>
        </p:txBody>
      </p:sp>
      <p:sp>
        <p:nvSpPr>
          <p:cNvPr id="145" name="Rectangle 144"/>
          <p:cNvSpPr/>
          <p:nvPr/>
        </p:nvSpPr>
        <p:spPr>
          <a:xfrm>
            <a:off x="18573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068268" y="2204276"/>
            <a:ext cx="366712" cy="533400"/>
          </a:xfrm>
          <a:prstGeom prst="rect">
            <a:avLst/>
          </a:prstGeom>
        </p:spPr>
      </p:pic>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Primary Flour Base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Flour Base,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2461476"/>
                <a:gridCol w="628382"/>
                <a:gridCol w="628382"/>
                <a:gridCol w="628382"/>
                <a:gridCol w="628382"/>
                <a:gridCol w="628382"/>
                <a:gridCol w="628382"/>
                <a:gridCol w="628382"/>
                <a:gridCol w="628382"/>
                <a:gridCol w="628382"/>
                <a:gridCol w="628382"/>
                <a:gridCol w="628382"/>
                <a:gridCol w="628382"/>
                <a:gridCol w="628382"/>
                <a:gridCol w="628382"/>
                <a:gridCol w="62838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Primary Flour Base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Wheat-based</a:t>
            </a:r>
          </a:p>
        </p:txBody>
      </p:sp>
      <p:sp>
        <p:nvSpPr>
          <p:cNvPr id="33" name="Rectangle 32"/>
          <p:cNvSpPr/>
          <p:nvPr/>
        </p:nvSpPr>
        <p:spPr>
          <a:xfrm>
            <a:off x="185737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Oat-based</a:t>
            </a:r>
          </a:p>
        </p:txBody>
      </p:sp>
      <p:sp>
        <p:nvSpPr>
          <p:cNvPr id="49" name="Rectangle 48"/>
          <p:cNvSpPr/>
          <p:nvPr/>
        </p:nvSpPr>
        <p:spPr>
          <a:xfrm>
            <a:off x="1857375" y="4521994"/>
            <a:ext cx="643890" cy="292894"/>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Rice-based</a:t>
            </a:r>
          </a:p>
        </p:txBody>
      </p:sp>
      <p:sp>
        <p:nvSpPr>
          <p:cNvPr id="65" name="Rectangle 64"/>
          <p:cNvSpPr/>
          <p:nvPr/>
        </p:nvSpPr>
        <p:spPr>
          <a:xfrm>
            <a:off x="1857375" y="4814888"/>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Corn-based</a:t>
            </a:r>
          </a:p>
        </p:txBody>
      </p:sp>
      <p:sp>
        <p:nvSpPr>
          <p:cNvPr id="81" name="Rectangle 80"/>
          <p:cNvSpPr/>
          <p:nvPr/>
        </p:nvSpPr>
        <p:spPr>
          <a:xfrm>
            <a:off x="185737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Millet-based</a:t>
            </a:r>
          </a:p>
        </p:txBody>
      </p:sp>
      <p:sp>
        <p:nvSpPr>
          <p:cNvPr id="97" name="Rectangle 96"/>
          <p:cNvSpPr/>
          <p:nvPr/>
        </p:nvSpPr>
        <p:spPr>
          <a:xfrm>
            <a:off x="1857375" y="5400675"/>
            <a:ext cx="643890" cy="292894"/>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Almond and other nut flour-based</a:t>
            </a:r>
          </a:p>
        </p:txBody>
      </p:sp>
      <p:sp>
        <p:nvSpPr>
          <p:cNvPr id="113" name="Rectangle 112"/>
          <p:cNvSpPr/>
          <p:nvPr/>
        </p:nvSpPr>
        <p:spPr>
          <a:xfrm>
            <a:off x="185737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Other single-flour bases</a:t>
            </a:r>
          </a:p>
        </p:txBody>
      </p:sp>
      <p:sp>
        <p:nvSpPr>
          <p:cNvPr id="129" name="Rectangle 128"/>
          <p:cNvSpPr/>
          <p:nvPr/>
        </p:nvSpPr>
        <p:spPr>
          <a:xfrm>
            <a:off x="1857375" y="5986462"/>
            <a:ext cx="643890" cy="29289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Multigrain and blended flour bases</a:t>
            </a:r>
          </a:p>
        </p:txBody>
      </p:sp>
      <p:sp>
        <p:nvSpPr>
          <p:cNvPr id="145" name="Rectangle 144"/>
          <p:cNvSpPr/>
          <p:nvPr/>
        </p:nvSpPr>
        <p:spPr>
          <a:xfrm>
            <a:off x="18573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40051" y="2204276"/>
            <a:ext cx="366712" cy="533400"/>
          </a:xfrm>
          <a:prstGeom prst="rect">
            <a:avLst/>
          </a:prstGeom>
        </p:spPr>
      </p:pic>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Dietary Formulation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Dietary Formulation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Dietary Formulation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Dietary Formulation,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Dietary Formulation segment categorizes the market by dietary formulation.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(base)</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and vegan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Vegan</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Dietary Formulation split shows how demand is distributed across dietary formulation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633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_544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5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_139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565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587_2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974_0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2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238_5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69_8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1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650281" cy="186689"/>
          </a:xfrm>
          <a:prstGeom prst="rect">
            <a:avLst/>
          </a:prstGeom>
          <a:noFill/>
        </p:spPr>
        <p:txBody>
          <a:bodyPr wrap="none" lIns="0" rIns="0" tIns="0" bIns="0">
            <a:spAutoFit/>
          </a:bodyPr>
          <a:lstStyle/>
          <a:p>
            <a:r>
              <a:rPr sz="1100" b="0">
                <a:solidFill>
                  <a:srgbClr val="2E2E2E"/>
                </a:solidFill>
                <a:latin typeface="Calibri"/>
              </a:rPr>
              <a:t>▪ 'Gluten-free' holds the largest share in 2026</a:t>
            </a:r>
          </a:p>
        </p:txBody>
      </p:sp>
      <p:pic>
        <p:nvPicPr>
          <p:cNvPr id="81" name="Picture 80" descr="lock.png"/>
          <p:cNvPicPr>
            <a:picLocks noChangeAspect="1"/>
          </p:cNvPicPr>
          <p:nvPr/>
        </p:nvPicPr>
        <p:blipFill>
          <a:blip r:embed="rId16"/>
          <a:stretch>
            <a:fillRect/>
          </a:stretch>
        </p:blipFill>
        <p:spPr>
          <a:xfrm>
            <a:off x="3084108"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227634" cy="186689"/>
          </a:xfrm>
          <a:prstGeom prst="rect">
            <a:avLst/>
          </a:prstGeom>
          <a:noFill/>
        </p:spPr>
        <p:txBody>
          <a:bodyPr wrap="none" lIns="0" rIns="0" tIns="0" bIns="0">
            <a:spAutoFit/>
          </a:bodyPr>
          <a:lstStyle/>
          <a:p>
            <a:r>
              <a:rPr sz="1100" b="0">
                <a:solidFill>
                  <a:srgbClr val="2E2E2E"/>
                </a:solidFill>
                <a:latin typeface="Calibri"/>
              </a:rPr>
              <a:t>▪ 'Conventional' is the fastest-growing</a:t>
            </a:r>
          </a:p>
        </p:txBody>
      </p:sp>
      <p:sp>
        <p:nvSpPr>
          <p:cNvPr id="84" name="TextBox 8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5" name="Picture 84" descr="lock.png"/>
          <p:cNvPicPr>
            <a:picLocks noChangeAspect="1"/>
          </p:cNvPicPr>
          <p:nvPr/>
        </p:nvPicPr>
        <p:blipFill>
          <a:blip r:embed="rId16"/>
          <a:stretch>
            <a:fillRect/>
          </a:stretch>
        </p:blipFill>
        <p:spPr>
          <a:xfrm>
            <a:off x="1391064" y="4772870"/>
            <a:ext cx="128699" cy="187198"/>
          </a:xfrm>
          <a:prstGeom prst="rect">
            <a:avLst/>
          </a:prstGeom>
        </p:spPr>
      </p:pic>
      <p:sp>
        <p:nvSpPr>
          <p:cNvPr id="86" name="TextBox 8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914650" cy="186689"/>
          </a:xfrm>
          <a:prstGeom prst="rect">
            <a:avLst/>
          </a:prstGeom>
          <a:noFill/>
        </p:spPr>
        <p:txBody>
          <a:bodyPr wrap="none" lIns="0" rIns="0" tIns="0" bIns="0">
            <a:spAutoFit/>
          </a:bodyPr>
          <a:lstStyle/>
          <a:p>
            <a:r>
              <a:rPr sz="1100" b="0">
                <a:solidFill>
                  <a:srgbClr val="2E2E2E"/>
                </a:solidFill>
                <a:latin typeface="Calibri"/>
              </a:rPr>
              <a:t>▪ 4 sub-segments make up the dietary formulation</a:t>
            </a:r>
          </a:p>
        </p:txBody>
      </p:sp>
      <p:sp>
        <p:nvSpPr>
          <p:cNvPr id="94" name="TextBox 9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5" name="TextBox 94"/>
          <p:cNvSpPr txBox="1"/>
          <p:nvPr/>
        </p:nvSpPr>
        <p:spPr>
          <a:xfrm>
            <a:off x="3838575" y="4229437"/>
            <a:ext cx="886569" cy="186689"/>
          </a:xfrm>
          <a:prstGeom prst="rect">
            <a:avLst/>
          </a:prstGeom>
          <a:noFill/>
        </p:spPr>
        <p:txBody>
          <a:bodyPr wrap="none" lIns="0" rIns="0" tIns="0" bIns="0">
            <a:spAutoFit/>
          </a:bodyPr>
          <a:lstStyle/>
          <a:p>
            <a:r>
              <a:rPr sz="1100" b="0">
                <a:solidFill>
                  <a:srgbClr val="2E2E2E"/>
                </a:solidFill>
                <a:latin typeface="Calibri"/>
              </a:rPr>
              <a:t>● Gluten-free:</a:t>
            </a:r>
          </a:p>
        </p:txBody>
      </p:sp>
      <p:pic>
        <p:nvPicPr>
          <p:cNvPr id="96" name="Picture 95" descr="lock.png"/>
          <p:cNvPicPr>
            <a:picLocks noChangeAspect="1"/>
          </p:cNvPicPr>
          <p:nvPr/>
        </p:nvPicPr>
        <p:blipFill>
          <a:blip r:embed="rId16"/>
          <a:stretch>
            <a:fillRect/>
          </a:stretch>
        </p:blipFill>
        <p:spPr>
          <a:xfrm>
            <a:off x="4673195" y="4219658"/>
            <a:ext cx="128699" cy="187198"/>
          </a:xfrm>
          <a:prstGeom prst="rect">
            <a:avLst/>
          </a:prstGeom>
        </p:spPr>
      </p:pic>
      <p:sp>
        <p:nvSpPr>
          <p:cNvPr id="97" name="TextBox 96"/>
          <p:cNvSpPr txBox="1"/>
          <p:nvPr/>
        </p:nvSpPr>
        <p:spPr>
          <a:xfrm>
            <a:off x="484069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5700141" y="4219658"/>
            <a:ext cx="128699" cy="187198"/>
          </a:xfrm>
          <a:prstGeom prst="rect">
            <a:avLst/>
          </a:prstGeom>
        </p:spPr>
      </p:pic>
      <p:sp>
        <p:nvSpPr>
          <p:cNvPr id="99" name="TextBox 98"/>
          <p:cNvSpPr txBox="1"/>
          <p:nvPr/>
        </p:nvSpPr>
        <p:spPr>
          <a:xfrm>
            <a:off x="586763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1502122" cy="186689"/>
          </a:xfrm>
          <a:prstGeom prst="rect">
            <a:avLst/>
          </a:prstGeom>
          <a:noFill/>
        </p:spPr>
        <p:txBody>
          <a:bodyPr wrap="none" lIns="0" rIns="0" tIns="0" bIns="0">
            <a:spAutoFit/>
          </a:bodyPr>
          <a:lstStyle/>
          <a:p>
            <a:r>
              <a:rPr sz="1100" b="0">
                <a:solidFill>
                  <a:srgbClr val="2E2E2E"/>
                </a:solidFill>
                <a:latin typeface="Calibri"/>
              </a:rPr>
              <a:t>● Gluten-free and vegan:</a:t>
            </a:r>
          </a:p>
        </p:txBody>
      </p:sp>
      <p:pic>
        <p:nvPicPr>
          <p:cNvPr id="101" name="Picture 100" descr="lock.png"/>
          <p:cNvPicPr>
            <a:picLocks noChangeAspect="1"/>
          </p:cNvPicPr>
          <p:nvPr/>
        </p:nvPicPr>
        <p:blipFill>
          <a:blip r:embed="rId16"/>
          <a:stretch>
            <a:fillRect/>
          </a:stretch>
        </p:blipFill>
        <p:spPr>
          <a:xfrm>
            <a:off x="5288748" y="4437590"/>
            <a:ext cx="128699" cy="187198"/>
          </a:xfrm>
          <a:prstGeom prst="rect">
            <a:avLst/>
          </a:prstGeom>
        </p:spPr>
      </p:pic>
      <p:sp>
        <p:nvSpPr>
          <p:cNvPr id="102" name="TextBox 101"/>
          <p:cNvSpPr txBox="1"/>
          <p:nvPr/>
        </p:nvSpPr>
        <p:spPr>
          <a:xfrm>
            <a:off x="545624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6315694" y="4437590"/>
            <a:ext cx="128699" cy="187198"/>
          </a:xfrm>
          <a:prstGeom prst="rect">
            <a:avLst/>
          </a:prstGeom>
        </p:spPr>
      </p:pic>
      <p:sp>
        <p:nvSpPr>
          <p:cNvPr id="104" name="TextBox 103"/>
          <p:cNvSpPr txBox="1"/>
          <p:nvPr/>
        </p:nvSpPr>
        <p:spPr>
          <a:xfrm>
            <a:off x="648319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982340" cy="186689"/>
          </a:xfrm>
          <a:prstGeom prst="rect">
            <a:avLst/>
          </a:prstGeom>
          <a:noFill/>
        </p:spPr>
        <p:txBody>
          <a:bodyPr wrap="none" lIns="0" rIns="0" tIns="0" bIns="0">
            <a:spAutoFit/>
          </a:bodyPr>
          <a:lstStyle/>
          <a:p>
            <a:r>
              <a:rPr sz="1100" b="0">
                <a:solidFill>
                  <a:srgbClr val="2E2E2E"/>
                </a:solidFill>
                <a:latin typeface="Calibri"/>
              </a:rPr>
              <a:t>● Conventional:</a:t>
            </a:r>
          </a:p>
        </p:txBody>
      </p:sp>
      <p:pic>
        <p:nvPicPr>
          <p:cNvPr id="106" name="Picture 105" descr="lock.png"/>
          <p:cNvPicPr>
            <a:picLocks noChangeAspect="1"/>
          </p:cNvPicPr>
          <p:nvPr/>
        </p:nvPicPr>
        <p:blipFill>
          <a:blip r:embed="rId16"/>
          <a:stretch>
            <a:fillRect/>
          </a:stretch>
        </p:blipFill>
        <p:spPr>
          <a:xfrm>
            <a:off x="4768966" y="4655522"/>
            <a:ext cx="128699" cy="187198"/>
          </a:xfrm>
          <a:prstGeom prst="rect">
            <a:avLst/>
          </a:prstGeom>
        </p:spPr>
      </p:pic>
      <p:sp>
        <p:nvSpPr>
          <p:cNvPr id="107" name="TextBox 106"/>
          <p:cNvSpPr txBox="1"/>
          <p:nvPr/>
        </p:nvSpPr>
        <p:spPr>
          <a:xfrm>
            <a:off x="49364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795912" y="4655522"/>
            <a:ext cx="128699" cy="187198"/>
          </a:xfrm>
          <a:prstGeom prst="rect">
            <a:avLst/>
          </a:prstGeom>
        </p:spPr>
      </p:pic>
      <p:sp>
        <p:nvSpPr>
          <p:cNvPr id="109" name="TextBox 108"/>
          <p:cNvSpPr txBox="1"/>
          <p:nvPr/>
        </p:nvSpPr>
        <p:spPr>
          <a:xfrm>
            <a:off x="5963408"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0" name="TextBox 109"/>
          <p:cNvSpPr txBox="1"/>
          <p:nvPr/>
        </p:nvSpPr>
        <p:spPr>
          <a:xfrm>
            <a:off x="3838575" y="4883233"/>
            <a:ext cx="584522" cy="186689"/>
          </a:xfrm>
          <a:prstGeom prst="rect">
            <a:avLst/>
          </a:prstGeom>
          <a:noFill/>
        </p:spPr>
        <p:txBody>
          <a:bodyPr wrap="none" lIns="0" rIns="0" tIns="0" bIns="0">
            <a:spAutoFit/>
          </a:bodyPr>
          <a:lstStyle/>
          <a:p>
            <a:r>
              <a:rPr sz="1100" b="0">
                <a:solidFill>
                  <a:srgbClr val="2E2E2E"/>
                </a:solidFill>
                <a:latin typeface="Calibri"/>
              </a:rPr>
              <a:t>● Vegan:</a:t>
            </a:r>
          </a:p>
        </p:txBody>
      </p:sp>
      <p:pic>
        <p:nvPicPr>
          <p:cNvPr id="111" name="Picture 110" descr="lock.png"/>
          <p:cNvPicPr>
            <a:picLocks noChangeAspect="1"/>
          </p:cNvPicPr>
          <p:nvPr/>
        </p:nvPicPr>
        <p:blipFill>
          <a:blip r:embed="rId16"/>
          <a:stretch>
            <a:fillRect/>
          </a:stretch>
        </p:blipFill>
        <p:spPr>
          <a:xfrm>
            <a:off x="4371149" y="4873454"/>
            <a:ext cx="128699" cy="187198"/>
          </a:xfrm>
          <a:prstGeom prst="rect">
            <a:avLst/>
          </a:prstGeom>
        </p:spPr>
      </p:pic>
      <p:sp>
        <p:nvSpPr>
          <p:cNvPr id="112" name="TextBox 111"/>
          <p:cNvSpPr txBox="1"/>
          <p:nvPr/>
        </p:nvSpPr>
        <p:spPr>
          <a:xfrm>
            <a:off x="453864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5398095" y="4873454"/>
            <a:ext cx="128699" cy="187198"/>
          </a:xfrm>
          <a:prstGeom prst="rect">
            <a:avLst/>
          </a:prstGeom>
        </p:spPr>
      </p:pic>
      <p:sp>
        <p:nvSpPr>
          <p:cNvPr id="114" name="TextBox 113"/>
          <p:cNvSpPr txBox="1"/>
          <p:nvPr/>
        </p:nvSpPr>
        <p:spPr>
          <a:xfrm>
            <a:off x="5565590"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5" name="TextBox 114"/>
          <p:cNvSpPr txBox="1"/>
          <p:nvPr/>
        </p:nvSpPr>
        <p:spPr>
          <a:xfrm>
            <a:off x="8524875" y="5842641"/>
            <a:ext cx="3021419" cy="194310"/>
          </a:xfrm>
          <a:prstGeom prst="rect">
            <a:avLst/>
          </a:prstGeom>
          <a:noFill/>
        </p:spPr>
        <p:txBody>
          <a:bodyPr wrap="none" lIns="0" rIns="0" tIns="0" bIns="0">
            <a:spAutoFit/>
          </a:bodyPr>
          <a:lstStyle/>
          <a:p>
            <a:r>
              <a:rPr sz="1150" b="1">
                <a:solidFill>
                  <a:srgbClr val="0B2E4A"/>
                </a:solidFill>
                <a:latin typeface="Calibri"/>
              </a:rPr>
              <a:t>The Dietary Formulation segment is projected to</a:t>
            </a:r>
          </a:p>
        </p:txBody>
      </p:sp>
      <p:sp>
        <p:nvSpPr>
          <p:cNvPr id="116" name="TextBox 11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7" name="Picture 116" descr="lock.png"/>
          <p:cNvPicPr>
            <a:picLocks noChangeAspect="1"/>
          </p:cNvPicPr>
          <p:nvPr/>
        </p:nvPicPr>
        <p:blipFill>
          <a:blip r:embed="rId16"/>
          <a:stretch>
            <a:fillRect/>
          </a:stretch>
        </p:blipFill>
        <p:spPr>
          <a:xfrm>
            <a:off x="9651852" y="6007677"/>
            <a:ext cx="134549" cy="195707"/>
          </a:xfrm>
          <a:prstGeom prst="rect">
            <a:avLst/>
          </a:prstGeom>
        </p:spPr>
      </p:pic>
      <p:sp>
        <p:nvSpPr>
          <p:cNvPr id="118" name="TextBox 11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Dietary Formulation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Dietary Formulation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Dietary Formulation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Dietary Formulation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258742" cy="186689"/>
          </a:xfrm>
          <a:prstGeom prst="rect">
            <a:avLst/>
          </a:prstGeom>
          <a:noFill/>
        </p:spPr>
        <p:txBody>
          <a:bodyPr wrap="none" lIns="0" rIns="0" tIns="0" bIns="0">
            <a:spAutoFit/>
          </a:bodyPr>
          <a:lstStyle/>
          <a:p>
            <a:r>
              <a:rPr sz="1100" b="0">
                <a:solidFill>
                  <a:srgbClr val="2E2E2E"/>
                </a:solidFill>
                <a:latin typeface="Calibri"/>
              </a:rPr>
              <a:t>Between 2026 and 2036, 'Gluten-free' gains the most share in the North America market (+</a:t>
            </a:r>
          </a:p>
        </p:txBody>
      </p:sp>
      <p:pic>
        <p:nvPicPr>
          <p:cNvPr id="21" name="Picture 20" descr="lock.png"/>
          <p:cNvPicPr>
            <a:picLocks noChangeAspect="1"/>
          </p:cNvPicPr>
          <p:nvPr/>
        </p:nvPicPr>
        <p:blipFill>
          <a:blip r:embed="rId6"/>
          <a:stretch>
            <a:fillRect/>
          </a:stretch>
        </p:blipFill>
        <p:spPr>
          <a:xfrm>
            <a:off x="5463969" y="5851905"/>
            <a:ext cx="128699" cy="187198"/>
          </a:xfrm>
          <a:prstGeom prst="rect">
            <a:avLst/>
          </a:prstGeom>
        </p:spPr>
      </p:pic>
      <p:sp>
        <p:nvSpPr>
          <p:cNvPr id="22" name="TextBox 21"/>
          <p:cNvSpPr txBox="1"/>
          <p:nvPr/>
        </p:nvSpPr>
        <p:spPr>
          <a:xfrm>
            <a:off x="5631464" y="5861685"/>
            <a:ext cx="2393801" cy="186689"/>
          </a:xfrm>
          <a:prstGeom prst="rect">
            <a:avLst/>
          </a:prstGeom>
          <a:noFill/>
        </p:spPr>
        <p:txBody>
          <a:bodyPr wrap="none" lIns="0" rIns="0" tIns="0" bIns="0">
            <a:spAutoFit/>
          </a:bodyPr>
          <a:lstStyle/>
          <a:p>
            <a:r>
              <a:rPr sz="1100" b="0">
                <a:solidFill>
                  <a:srgbClr val="2E2E2E"/>
                </a:solidFill>
                <a:latin typeface="Calibri"/>
              </a:rPr>
              <a:t>BPS) while 'Gluten-free and vegan' cedes</a:t>
            </a:r>
          </a:p>
        </p:txBody>
      </p:sp>
      <p:pic>
        <p:nvPicPr>
          <p:cNvPr id="23" name="Picture 22" descr="lock.png"/>
          <p:cNvPicPr>
            <a:picLocks noChangeAspect="1"/>
          </p:cNvPicPr>
          <p:nvPr/>
        </p:nvPicPr>
        <p:blipFill>
          <a:blip r:embed="rId6"/>
          <a:stretch>
            <a:fillRect/>
          </a:stretch>
        </p:blipFill>
        <p:spPr>
          <a:xfrm>
            <a:off x="7973317" y="5851905"/>
            <a:ext cx="128699" cy="187198"/>
          </a:xfrm>
          <a:prstGeom prst="rect">
            <a:avLst/>
          </a:prstGeom>
        </p:spPr>
      </p:pic>
      <p:sp>
        <p:nvSpPr>
          <p:cNvPr id="24" name="TextBox 23"/>
          <p:cNvSpPr txBox="1"/>
          <p:nvPr/>
        </p:nvSpPr>
        <p:spPr>
          <a:xfrm>
            <a:off x="8140813"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Dietary Formulation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Gluten-free</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Vegan</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Gluten-free and vegan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Dietary Formulation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Dietary Formulation,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Dietary Formulation (MT)</a:t>
            </a:r>
          </a:p>
        </p:txBody>
      </p:sp>
      <p:graphicFrame>
        <p:nvGraphicFramePr>
          <p:cNvPr id="13" name="Table 12"/>
          <p:cNvGraphicFramePr>
            <a:graphicFrameLocks noGrp="1"/>
          </p:cNvGraphicFramePr>
          <p:nvPr/>
        </p:nvGraphicFramePr>
        <p:xfrm>
          <a:off x="152400" y="1238250"/>
          <a:ext cx="11887199" cy="1676402"/>
        </p:xfrm>
        <a:graphic>
          <a:graphicData uri="http://schemas.openxmlformats.org/drawingml/2006/table">
            <a:tbl>
              <a:tblPr>
                <a:tableStyleId>{5C22544A-7EE6-4342-B048-85BDC9FD1C3A}</a:tableStyleId>
              </a:tblPr>
              <a:tblGrid>
                <a:gridCol w="1434703"/>
                <a:gridCol w="563999"/>
                <a:gridCol w="563999"/>
                <a:gridCol w="563999"/>
                <a:gridCol w="563999"/>
                <a:gridCol w="563999"/>
                <a:gridCol w="563999"/>
                <a:gridCol w="563999"/>
                <a:gridCol w="674370"/>
                <a:gridCol w="674370"/>
                <a:gridCol w="674370"/>
                <a:gridCol w="674370"/>
                <a:gridCol w="674370"/>
                <a:gridCol w="674370"/>
                <a:gridCol w="674370"/>
                <a:gridCol w="674370"/>
                <a:gridCol w="674370"/>
                <a:gridCol w="435173"/>
              </a:tblGrid>
              <a:tr h="438912">
                <a:tc>
                  <a:txBody>
                    <a:bodyPr wrap="none"/>
                    <a:lstStyle/>
                    <a:p>
                      <a:pPr algn="l"/>
                      <a:r>
                        <a:rPr sz="1100" b="1">
                          <a:solidFill>
                            <a:srgbClr val="0B2E4A"/>
                          </a:solidFill>
                          <a:latin typeface="Calibri"/>
                        </a:rPr>
                        <a:t>Dietary Formulation</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7498">
                <a:tc>
                  <a:txBody>
                    <a:bodyPr wrap="none"/>
                    <a:lstStyle/>
                    <a:p>
                      <a:pPr algn="l"/>
                      <a:r>
                        <a:rPr sz="1100" b="1">
                          <a:solidFill>
                            <a:srgbClr val="2E2E2E"/>
                          </a:solidFill>
                          <a:latin typeface="Calibri"/>
                        </a:rPr>
                        <a:t>Conventional</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498">
                <a:tc>
                  <a:txBody>
                    <a:bodyPr wrap="none"/>
                    <a:lstStyle/>
                    <a:p>
                      <a:pPr algn="l"/>
                      <a:r>
                        <a:rPr sz="1100" b="1">
                          <a:solidFill>
                            <a:srgbClr val="2E2E2E"/>
                          </a:solidFill>
                          <a:latin typeface="Calibri"/>
                        </a:rPr>
                        <a:t>Gluten-free</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498">
                <a:tc>
                  <a:txBody>
                    <a:bodyPr wrap="none"/>
                    <a:lstStyle/>
                    <a:p>
                      <a:pPr algn="l"/>
                      <a:r>
                        <a:rPr sz="1100" b="1">
                          <a:solidFill>
                            <a:srgbClr val="2E2E2E"/>
                          </a:solidFill>
                          <a:latin typeface="Calibri"/>
                        </a:rPr>
                        <a:t>Vegan</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498">
                <a:tc>
                  <a:txBody>
                    <a:bodyPr wrap="none"/>
                    <a:lstStyle/>
                    <a:p>
                      <a:pPr algn="l"/>
                      <a:r>
                        <a:rPr sz="1100" b="1">
                          <a:solidFill>
                            <a:srgbClr val="2E2E2E"/>
                          </a:solidFill>
                          <a:latin typeface="Calibri"/>
                        </a:rPr>
                        <a:t>Gluten-free and vegan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Dietary Formulation</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26661" y="2029206"/>
            <a:ext cx="366712" cy="533400"/>
          </a:xfrm>
          <a:prstGeom prst="rect">
            <a:avLst/>
          </a:prstGeom>
        </p:spPr>
      </p:pic>
      <p:sp>
        <p:nvSpPr>
          <p:cNvPr id="21" name="TextBox 20"/>
          <p:cNvSpPr txBox="1"/>
          <p:nvPr/>
        </p:nvSpPr>
        <p:spPr>
          <a:xfrm>
            <a:off x="276225" y="3676650"/>
            <a:ext cx="3046548" cy="194310"/>
          </a:xfrm>
          <a:prstGeom prst="rect">
            <a:avLst/>
          </a:prstGeom>
          <a:noFill/>
        </p:spPr>
        <p:txBody>
          <a:bodyPr wrap="none" lIns="0" rIns="0" tIns="0" bIns="0">
            <a:spAutoFit/>
          </a:bodyPr>
          <a:lstStyle/>
          <a:p>
            <a:r>
              <a:rPr sz="1150" b="0">
                <a:solidFill>
                  <a:srgbClr val="2E2E2E"/>
                </a:solidFill>
                <a:latin typeface="Calibri"/>
              </a:rPr>
              <a:t>▪ 'Gluten-free' is the largest dietary formulation at</a:t>
            </a:r>
          </a:p>
        </p:txBody>
      </p:sp>
      <p:pic>
        <p:nvPicPr>
          <p:cNvPr id="22" name="Picture 21" descr="lock.png"/>
          <p:cNvPicPr>
            <a:picLocks noChangeAspect="1"/>
          </p:cNvPicPr>
          <p:nvPr/>
        </p:nvPicPr>
        <p:blipFill>
          <a:blip r:embed="rId4"/>
          <a:stretch>
            <a:fillRect/>
          </a:stretch>
        </p:blipFill>
        <p:spPr>
          <a:xfrm>
            <a:off x="3271927" y="3666426"/>
            <a:ext cx="134549" cy="195707"/>
          </a:xfrm>
          <a:prstGeom prst="rect">
            <a:avLst/>
          </a:prstGeom>
        </p:spPr>
      </p:pic>
      <p:sp>
        <p:nvSpPr>
          <p:cNvPr id="23" name="TextBox 22"/>
          <p:cNvSpPr txBox="1"/>
          <p:nvPr/>
        </p:nvSpPr>
        <p:spPr>
          <a:xfrm>
            <a:off x="3447037" y="36766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76770" y="3666426"/>
            <a:ext cx="134549" cy="195707"/>
          </a:xfrm>
          <a:prstGeom prst="rect">
            <a:avLst/>
          </a:prstGeom>
        </p:spPr>
      </p:pic>
      <p:sp>
        <p:nvSpPr>
          <p:cNvPr id="25" name="TextBox 24"/>
          <p:cNvSpPr txBox="1"/>
          <p:nvPr/>
        </p:nvSpPr>
        <p:spPr>
          <a:xfrm>
            <a:off x="4651879" y="36766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904487"/>
            <a:ext cx="1836216" cy="194310"/>
          </a:xfrm>
          <a:prstGeom prst="rect">
            <a:avLst/>
          </a:prstGeom>
          <a:noFill/>
        </p:spPr>
        <p:txBody>
          <a:bodyPr wrap="none" lIns="0" rIns="0" tIns="0" bIns="0">
            <a:spAutoFit/>
          </a:bodyPr>
          <a:lstStyle/>
          <a:p>
            <a:r>
              <a:rPr sz="1150" b="0">
                <a:solidFill>
                  <a:srgbClr val="2E2E2E"/>
                </a:solidFill>
                <a:latin typeface="Calibri"/>
              </a:rPr>
              <a:t>▪ 'Conventional' grows fastest</a:t>
            </a:r>
          </a:p>
        </p:txBody>
      </p:sp>
      <p:pic>
        <p:nvPicPr>
          <p:cNvPr id="27" name="Picture 26" descr="lock.png"/>
          <p:cNvPicPr>
            <a:picLocks noChangeAspect="1"/>
          </p:cNvPicPr>
          <p:nvPr/>
        </p:nvPicPr>
        <p:blipFill>
          <a:blip r:embed="rId4"/>
          <a:stretch>
            <a:fillRect/>
          </a:stretch>
        </p:blipFill>
        <p:spPr>
          <a:xfrm>
            <a:off x="2061595" y="3894264"/>
            <a:ext cx="134549" cy="195707"/>
          </a:xfrm>
          <a:prstGeom prst="rect">
            <a:avLst/>
          </a:prstGeom>
        </p:spPr>
      </p:pic>
      <p:sp>
        <p:nvSpPr>
          <p:cNvPr id="28" name="TextBox 27"/>
          <p:cNvSpPr txBox="1"/>
          <p:nvPr/>
        </p:nvSpPr>
        <p:spPr>
          <a:xfrm>
            <a:off x="2236704" y="39044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132325"/>
            <a:ext cx="2345394" cy="194310"/>
          </a:xfrm>
          <a:prstGeom prst="rect">
            <a:avLst/>
          </a:prstGeom>
          <a:noFill/>
        </p:spPr>
        <p:txBody>
          <a:bodyPr wrap="none" lIns="0" rIns="0" tIns="0" bIns="0">
            <a:spAutoFit/>
          </a:bodyPr>
          <a:lstStyle/>
          <a:p>
            <a:r>
              <a:rPr sz="1150" b="0">
                <a:solidFill>
                  <a:srgbClr val="2E2E2E"/>
                </a:solidFill>
                <a:latin typeface="Calibri"/>
              </a:rPr>
              <a:t>▪ Share shifts toward 'Conventional' (+</a:t>
            </a:r>
          </a:p>
        </p:txBody>
      </p:sp>
      <p:pic>
        <p:nvPicPr>
          <p:cNvPr id="30" name="Picture 29" descr="lock.png"/>
          <p:cNvPicPr>
            <a:picLocks noChangeAspect="1"/>
          </p:cNvPicPr>
          <p:nvPr/>
        </p:nvPicPr>
        <p:blipFill>
          <a:blip r:embed="rId4"/>
          <a:stretch>
            <a:fillRect/>
          </a:stretch>
        </p:blipFill>
        <p:spPr>
          <a:xfrm>
            <a:off x="2570773" y="4122102"/>
            <a:ext cx="134549" cy="195707"/>
          </a:xfrm>
          <a:prstGeom prst="rect">
            <a:avLst/>
          </a:prstGeom>
        </p:spPr>
      </p:pic>
      <p:sp>
        <p:nvSpPr>
          <p:cNvPr id="31" name="TextBox 30"/>
          <p:cNvSpPr txBox="1"/>
          <p:nvPr/>
        </p:nvSpPr>
        <p:spPr>
          <a:xfrm>
            <a:off x="2745883" y="4132325"/>
            <a:ext cx="2814922" cy="194310"/>
          </a:xfrm>
          <a:prstGeom prst="rect">
            <a:avLst/>
          </a:prstGeom>
          <a:noFill/>
        </p:spPr>
        <p:txBody>
          <a:bodyPr wrap="none" lIns="0" rIns="0" tIns="0" bIns="0">
            <a:spAutoFit/>
          </a:bodyPr>
          <a:lstStyle/>
          <a:p>
            <a:r>
              <a:rPr sz="1150" b="0">
                <a:solidFill>
                  <a:srgbClr val="2E2E2E"/>
                </a:solidFill>
                <a:latin typeface="Calibri"/>
              </a:rPr>
              <a:t>BPS) and away from 'Gluten-free and vegan' (-</a:t>
            </a:r>
          </a:p>
        </p:txBody>
      </p:sp>
      <p:pic>
        <p:nvPicPr>
          <p:cNvPr id="32" name="Picture 31" descr="lock.png"/>
          <p:cNvPicPr>
            <a:picLocks noChangeAspect="1"/>
          </p:cNvPicPr>
          <p:nvPr/>
        </p:nvPicPr>
        <p:blipFill>
          <a:blip r:embed="rId4"/>
          <a:stretch>
            <a:fillRect/>
          </a:stretch>
        </p:blipFill>
        <p:spPr>
          <a:xfrm>
            <a:off x="5509959" y="4122102"/>
            <a:ext cx="134549" cy="195707"/>
          </a:xfrm>
          <a:prstGeom prst="rect">
            <a:avLst/>
          </a:prstGeom>
        </p:spPr>
      </p:pic>
      <p:sp>
        <p:nvSpPr>
          <p:cNvPr id="33" name="TextBox 32"/>
          <p:cNvSpPr txBox="1"/>
          <p:nvPr/>
        </p:nvSpPr>
        <p:spPr>
          <a:xfrm>
            <a:off x="5685068" y="41323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601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349940"/>
            <a:ext cx="134549" cy="195707"/>
          </a:xfrm>
          <a:prstGeom prst="rect">
            <a:avLst/>
          </a:prstGeom>
        </p:spPr>
      </p:pic>
      <p:sp>
        <p:nvSpPr>
          <p:cNvPr id="36" name="TextBox 35"/>
          <p:cNvSpPr txBox="1"/>
          <p:nvPr/>
        </p:nvSpPr>
        <p:spPr>
          <a:xfrm>
            <a:off x="1965143" y="43601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349940"/>
            <a:ext cx="134549" cy="195707"/>
          </a:xfrm>
          <a:prstGeom prst="rect">
            <a:avLst/>
          </a:prstGeom>
        </p:spPr>
      </p:pic>
      <p:sp>
        <p:nvSpPr>
          <p:cNvPr id="38" name="TextBox 37"/>
          <p:cNvSpPr txBox="1"/>
          <p:nvPr/>
        </p:nvSpPr>
        <p:spPr>
          <a:xfrm>
            <a:off x="2291688" y="43601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Dietary Formulation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Dietary Formulation,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Dietary Formulation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1590585"/>
                <a:gridCol w="605683"/>
                <a:gridCol w="605683"/>
                <a:gridCol w="605683"/>
                <a:gridCol w="605683"/>
                <a:gridCol w="605683"/>
                <a:gridCol w="605683"/>
                <a:gridCol w="605683"/>
                <a:gridCol w="605683"/>
                <a:gridCol w="605683"/>
                <a:gridCol w="605683"/>
                <a:gridCol w="605683"/>
                <a:gridCol w="605683"/>
                <a:gridCol w="605683"/>
                <a:gridCol w="605683"/>
                <a:gridCol w="605683"/>
                <a:gridCol w="605683"/>
                <a:gridCol w="605683"/>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Dietary Formulation</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04600" y="1837563"/>
            <a:ext cx="366712" cy="533400"/>
          </a:xfrm>
          <a:prstGeom prst="rect">
            <a:avLst/>
          </a:prstGeom>
        </p:spPr>
      </p:pic>
      <p:sp>
        <p:nvSpPr>
          <p:cNvPr id="21" name="TextBox 20"/>
          <p:cNvSpPr txBox="1"/>
          <p:nvPr/>
        </p:nvSpPr>
        <p:spPr>
          <a:xfrm>
            <a:off x="276225" y="3486150"/>
            <a:ext cx="3046548" cy="194310"/>
          </a:xfrm>
          <a:prstGeom prst="rect">
            <a:avLst/>
          </a:prstGeom>
          <a:noFill/>
        </p:spPr>
        <p:txBody>
          <a:bodyPr wrap="none" lIns="0" rIns="0" tIns="0" bIns="0">
            <a:spAutoFit/>
          </a:bodyPr>
          <a:lstStyle/>
          <a:p>
            <a:r>
              <a:rPr sz="1150" b="0">
                <a:solidFill>
                  <a:srgbClr val="2E2E2E"/>
                </a:solidFill>
                <a:latin typeface="Calibri"/>
              </a:rPr>
              <a:t>▪ 'Gluten-free' is the largest dietary formulation at</a:t>
            </a:r>
          </a:p>
        </p:txBody>
      </p:sp>
      <p:pic>
        <p:nvPicPr>
          <p:cNvPr id="22" name="Picture 21" descr="lock.png"/>
          <p:cNvPicPr>
            <a:picLocks noChangeAspect="1"/>
          </p:cNvPicPr>
          <p:nvPr/>
        </p:nvPicPr>
        <p:blipFill>
          <a:blip r:embed="rId4"/>
          <a:stretch>
            <a:fillRect/>
          </a:stretch>
        </p:blipFill>
        <p:spPr>
          <a:xfrm>
            <a:off x="3271927" y="3475926"/>
            <a:ext cx="134549" cy="195707"/>
          </a:xfrm>
          <a:prstGeom prst="rect">
            <a:avLst/>
          </a:prstGeom>
        </p:spPr>
      </p:pic>
      <p:sp>
        <p:nvSpPr>
          <p:cNvPr id="23" name="TextBox 22"/>
          <p:cNvSpPr txBox="1"/>
          <p:nvPr/>
        </p:nvSpPr>
        <p:spPr>
          <a:xfrm>
            <a:off x="3447037"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52969" y="3475926"/>
            <a:ext cx="134549" cy="195707"/>
          </a:xfrm>
          <a:prstGeom prst="rect">
            <a:avLst/>
          </a:prstGeom>
        </p:spPr>
      </p:pic>
      <p:sp>
        <p:nvSpPr>
          <p:cNvPr id="25" name="TextBox 24"/>
          <p:cNvSpPr txBox="1"/>
          <p:nvPr/>
        </p:nvSpPr>
        <p:spPr>
          <a:xfrm>
            <a:off x="4528079"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1836216" cy="194310"/>
          </a:xfrm>
          <a:prstGeom prst="rect">
            <a:avLst/>
          </a:prstGeom>
          <a:noFill/>
        </p:spPr>
        <p:txBody>
          <a:bodyPr wrap="none" lIns="0" rIns="0" tIns="0" bIns="0">
            <a:spAutoFit/>
          </a:bodyPr>
          <a:lstStyle/>
          <a:p>
            <a:r>
              <a:rPr sz="1150" b="0">
                <a:solidFill>
                  <a:srgbClr val="2E2E2E"/>
                </a:solidFill>
                <a:latin typeface="Calibri"/>
              </a:rPr>
              <a:t>▪ 'Conventional' grows fastest</a:t>
            </a:r>
          </a:p>
        </p:txBody>
      </p:sp>
      <p:pic>
        <p:nvPicPr>
          <p:cNvPr id="27" name="Picture 26" descr="lock.png"/>
          <p:cNvPicPr>
            <a:picLocks noChangeAspect="1"/>
          </p:cNvPicPr>
          <p:nvPr/>
        </p:nvPicPr>
        <p:blipFill>
          <a:blip r:embed="rId4"/>
          <a:stretch>
            <a:fillRect/>
          </a:stretch>
        </p:blipFill>
        <p:spPr>
          <a:xfrm>
            <a:off x="2061595" y="3703764"/>
            <a:ext cx="134549" cy="195707"/>
          </a:xfrm>
          <a:prstGeom prst="rect">
            <a:avLst/>
          </a:prstGeom>
        </p:spPr>
      </p:pic>
      <p:sp>
        <p:nvSpPr>
          <p:cNvPr id="28" name="TextBox 27"/>
          <p:cNvSpPr txBox="1"/>
          <p:nvPr/>
        </p:nvSpPr>
        <p:spPr>
          <a:xfrm>
            <a:off x="2236704"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45270" cy="194310"/>
          </a:xfrm>
          <a:prstGeom prst="rect">
            <a:avLst/>
          </a:prstGeom>
          <a:noFill/>
        </p:spPr>
        <p:txBody>
          <a:bodyPr wrap="none" lIns="0" rIns="0" tIns="0" bIns="0">
            <a:spAutoFit/>
          </a:bodyPr>
          <a:lstStyle/>
          <a:p>
            <a:r>
              <a:rPr sz="1150" b="0">
                <a:solidFill>
                  <a:srgbClr val="2E2E2E"/>
                </a:solidFill>
                <a:latin typeface="Calibri"/>
              </a:rPr>
              <a:t>▪ Share shifts toward 'Gluten-free' (+</a:t>
            </a:r>
          </a:p>
        </p:txBody>
      </p:sp>
      <p:pic>
        <p:nvPicPr>
          <p:cNvPr id="30" name="Picture 29" descr="lock.png"/>
          <p:cNvPicPr>
            <a:picLocks noChangeAspect="1"/>
          </p:cNvPicPr>
          <p:nvPr/>
        </p:nvPicPr>
        <p:blipFill>
          <a:blip r:embed="rId4"/>
          <a:stretch>
            <a:fillRect/>
          </a:stretch>
        </p:blipFill>
        <p:spPr>
          <a:xfrm>
            <a:off x="2470649" y="3931602"/>
            <a:ext cx="134549" cy="195707"/>
          </a:xfrm>
          <a:prstGeom prst="rect">
            <a:avLst/>
          </a:prstGeom>
        </p:spPr>
      </p:pic>
      <p:sp>
        <p:nvSpPr>
          <p:cNvPr id="31" name="TextBox 30"/>
          <p:cNvSpPr txBox="1"/>
          <p:nvPr/>
        </p:nvSpPr>
        <p:spPr>
          <a:xfrm>
            <a:off x="2645758" y="3941825"/>
            <a:ext cx="2814922" cy="194310"/>
          </a:xfrm>
          <a:prstGeom prst="rect">
            <a:avLst/>
          </a:prstGeom>
          <a:noFill/>
        </p:spPr>
        <p:txBody>
          <a:bodyPr wrap="none" lIns="0" rIns="0" tIns="0" bIns="0">
            <a:spAutoFit/>
          </a:bodyPr>
          <a:lstStyle/>
          <a:p>
            <a:r>
              <a:rPr sz="1150" b="0">
                <a:solidFill>
                  <a:srgbClr val="2E2E2E"/>
                </a:solidFill>
                <a:latin typeface="Calibri"/>
              </a:rPr>
              <a:t>BPS) and away from 'Gluten-free and vegan' (-</a:t>
            </a:r>
          </a:p>
        </p:txBody>
      </p:sp>
      <p:pic>
        <p:nvPicPr>
          <p:cNvPr id="32" name="Picture 31" descr="lock.png"/>
          <p:cNvPicPr>
            <a:picLocks noChangeAspect="1"/>
          </p:cNvPicPr>
          <p:nvPr/>
        </p:nvPicPr>
        <p:blipFill>
          <a:blip r:embed="rId4"/>
          <a:stretch>
            <a:fillRect/>
          </a:stretch>
        </p:blipFill>
        <p:spPr>
          <a:xfrm>
            <a:off x="5409835" y="3931602"/>
            <a:ext cx="134549" cy="195707"/>
          </a:xfrm>
          <a:prstGeom prst="rect">
            <a:avLst/>
          </a:prstGeom>
        </p:spPr>
      </p:pic>
      <p:sp>
        <p:nvSpPr>
          <p:cNvPr id="33" name="TextBox 32"/>
          <p:cNvSpPr txBox="1"/>
          <p:nvPr/>
        </p:nvSpPr>
        <p:spPr>
          <a:xfrm>
            <a:off x="5584944"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Dietary Formulation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Dietary Formulation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8646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817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055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Vegan</a:t>
            </a:r>
          </a:p>
        </p:txBody>
      </p:sp>
      <p:sp>
        <p:nvSpPr>
          <p:cNvPr id="19" name="BPS Value 1"/>
          <p:cNvSpPr txBox="1"/>
          <p:nvPr/>
        </p:nvSpPr>
        <p:spPr>
          <a:xfrm>
            <a:off x="6896100" y="176741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31762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31285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23665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a:t>
            </a:r>
          </a:p>
        </p:txBody>
      </p:sp>
      <p:sp>
        <p:nvSpPr>
          <p:cNvPr id="23" name="BPS Value 2"/>
          <p:cNvSpPr txBox="1"/>
          <p:nvPr/>
        </p:nvSpPr>
        <p:spPr>
          <a:xfrm>
            <a:off x="6896100" y="229857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40204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9727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3210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and vegan</a:t>
            </a:r>
          </a:p>
        </p:txBody>
      </p:sp>
      <p:sp>
        <p:nvSpPr>
          <p:cNvPr id="27" name="BPS Value 3"/>
          <p:cNvSpPr txBox="1"/>
          <p:nvPr/>
        </p:nvSpPr>
        <p:spPr>
          <a:xfrm>
            <a:off x="6896100" y="338299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15707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1523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0761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(base)</a:t>
            </a:r>
          </a:p>
        </p:txBody>
      </p:sp>
      <p:sp>
        <p:nvSpPr>
          <p:cNvPr id="31" name="BPS Value 4"/>
          <p:cNvSpPr txBox="1"/>
          <p:nvPr/>
        </p:nvSpPr>
        <p:spPr>
          <a:xfrm>
            <a:off x="6896100" y="51380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Dietary Formulation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282353" cy="194310"/>
          </a:xfrm>
          <a:prstGeom prst="rect">
            <a:avLst/>
          </a:prstGeom>
          <a:noFill/>
        </p:spPr>
        <p:txBody>
          <a:bodyPr wrap="none" lIns="0" rIns="0" tIns="0" bIns="0">
            <a:spAutoFit/>
          </a:bodyPr>
          <a:lstStyle/>
          <a:p>
            <a:r>
              <a:rPr sz="1150" b="0">
                <a:solidFill>
                  <a:srgbClr val="2E2E2E"/>
                </a:solidFill>
                <a:latin typeface="Calibri"/>
              </a:rPr>
              <a:t>▪ 'Gluten-free' gains the most share +</a:t>
            </a:r>
          </a:p>
        </p:txBody>
      </p:sp>
      <p:pic>
        <p:nvPicPr>
          <p:cNvPr id="39" name="Picture 38" descr="lock.png"/>
          <p:cNvPicPr>
            <a:picLocks noChangeAspect="1"/>
          </p:cNvPicPr>
          <p:nvPr/>
        </p:nvPicPr>
        <p:blipFill>
          <a:blip r:embed="rId5"/>
          <a:stretch>
            <a:fillRect/>
          </a:stretch>
        </p:blipFill>
        <p:spPr>
          <a:xfrm>
            <a:off x="10061057" y="1389951"/>
            <a:ext cx="134549" cy="195707"/>
          </a:xfrm>
          <a:prstGeom prst="rect">
            <a:avLst/>
          </a:prstGeom>
        </p:spPr>
      </p:pic>
      <p:sp>
        <p:nvSpPr>
          <p:cNvPr id="40" name="TextBox 39"/>
          <p:cNvSpPr txBox="1"/>
          <p:nvPr/>
        </p:nvSpPr>
        <p:spPr>
          <a:xfrm>
            <a:off x="10236166"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572456" cy="194310"/>
          </a:xfrm>
          <a:prstGeom prst="rect">
            <a:avLst/>
          </a:prstGeom>
          <a:noFill/>
        </p:spPr>
        <p:txBody>
          <a:bodyPr wrap="none" lIns="0" rIns="0" tIns="0" bIns="0">
            <a:spAutoFit/>
          </a:bodyPr>
          <a:lstStyle/>
          <a:p>
            <a:r>
              <a:rPr sz="1150" b="0">
                <a:solidFill>
                  <a:srgbClr val="2E2E2E"/>
                </a:solidFill>
                <a:latin typeface="Calibri"/>
              </a:rPr>
              <a:t>▪ 'Gluten-free and vegan' cedes the most -</a:t>
            </a:r>
          </a:p>
        </p:txBody>
      </p:sp>
      <p:pic>
        <p:nvPicPr>
          <p:cNvPr id="43" name="Picture 42" descr="lock.png"/>
          <p:cNvPicPr>
            <a:picLocks noChangeAspect="1"/>
          </p:cNvPicPr>
          <p:nvPr/>
        </p:nvPicPr>
        <p:blipFill>
          <a:blip r:embed="rId5"/>
          <a:stretch>
            <a:fillRect/>
          </a:stretch>
        </p:blipFill>
        <p:spPr>
          <a:xfrm>
            <a:off x="10351160" y="1793049"/>
            <a:ext cx="134549" cy="195707"/>
          </a:xfrm>
          <a:prstGeom prst="rect">
            <a:avLst/>
          </a:prstGeom>
        </p:spPr>
      </p:pic>
      <p:sp>
        <p:nvSpPr>
          <p:cNvPr id="44" name="TextBox 43"/>
          <p:cNvSpPr txBox="1"/>
          <p:nvPr/>
        </p:nvSpPr>
        <p:spPr>
          <a:xfrm>
            <a:off x="10526270"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5" name="TextBox 44"/>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3668972" cy="194310"/>
          </a:xfrm>
          <a:prstGeom prst="rect">
            <a:avLst/>
          </a:prstGeom>
          <a:noFill/>
        </p:spPr>
        <p:txBody>
          <a:bodyPr wrap="none" lIns="0" rIns="0" tIns="0" bIns="0">
            <a:spAutoFit/>
          </a:bodyPr>
          <a:lstStyle/>
          <a:p>
            <a:r>
              <a:rPr sz="1150" b="0">
                <a:solidFill>
                  <a:srgbClr val="2E2E2E"/>
                </a:solidFill>
                <a:latin typeface="Calibri"/>
              </a:rPr>
              <a:t>▪ 'Conventional' is the fastest-growing dietary formulation at</a:t>
            </a:r>
          </a:p>
        </p:txBody>
      </p:sp>
      <p:pic>
        <p:nvPicPr>
          <p:cNvPr id="47" name="Picture 46" descr="lock.png"/>
          <p:cNvPicPr>
            <a:picLocks noChangeAspect="1"/>
          </p:cNvPicPr>
          <p:nvPr/>
        </p:nvPicPr>
        <p:blipFill>
          <a:blip r:embed="rId5"/>
          <a:stretch>
            <a:fillRect/>
          </a:stretch>
        </p:blipFill>
        <p:spPr>
          <a:xfrm>
            <a:off x="11447676" y="2196147"/>
            <a:ext cx="134549" cy="195707"/>
          </a:xfrm>
          <a:prstGeom prst="rect">
            <a:avLst/>
          </a:prstGeom>
        </p:spPr>
      </p:pic>
      <p:sp>
        <p:nvSpPr>
          <p:cNvPr id="48" name="TextBox 47"/>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9" name="TextBox 48"/>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0" name="Picture 49" descr="lock.png"/>
          <p:cNvPicPr>
            <a:picLocks noChangeAspect="1"/>
          </p:cNvPicPr>
          <p:nvPr/>
        </p:nvPicPr>
        <p:blipFill>
          <a:blip r:embed="rId5"/>
          <a:stretch>
            <a:fillRect/>
          </a:stretch>
        </p:blipFill>
        <p:spPr>
          <a:xfrm>
            <a:off x="9327669" y="2599245"/>
            <a:ext cx="134549" cy="195707"/>
          </a:xfrm>
          <a:prstGeom prst="rect">
            <a:avLst/>
          </a:prstGeom>
        </p:spPr>
      </p:pic>
      <p:sp>
        <p:nvSpPr>
          <p:cNvPr id="51" name="TextBox 50"/>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2" name="Picture 51" descr="lock.png"/>
          <p:cNvPicPr>
            <a:picLocks noChangeAspect="1"/>
          </p:cNvPicPr>
          <p:nvPr/>
        </p:nvPicPr>
        <p:blipFill>
          <a:blip r:embed="rId5"/>
          <a:stretch>
            <a:fillRect/>
          </a:stretch>
        </p:blipFill>
        <p:spPr>
          <a:xfrm>
            <a:off x="9654215" y="2599245"/>
            <a:ext cx="134549" cy="195707"/>
          </a:xfrm>
          <a:prstGeom prst="rect">
            <a:avLst/>
          </a:prstGeom>
        </p:spPr>
      </p:pic>
      <p:sp>
        <p:nvSpPr>
          <p:cNvPr id="53" name="TextBox 52"/>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4" name="TextBox 53"/>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5" name="TextBox 54"/>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Dietary Formulation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Dietary Formulation,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1631154"/>
                <a:gridCol w="683736"/>
                <a:gridCol w="683736"/>
                <a:gridCol w="683736"/>
                <a:gridCol w="683736"/>
                <a:gridCol w="683736"/>
                <a:gridCol w="683736"/>
                <a:gridCol w="683736"/>
                <a:gridCol w="683736"/>
                <a:gridCol w="683736"/>
                <a:gridCol w="683736"/>
                <a:gridCol w="683736"/>
                <a:gridCol w="683736"/>
                <a:gridCol w="683736"/>
                <a:gridCol w="683736"/>
                <a:gridCol w="68373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Dietary Formulation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33" name="Rectangle 32"/>
          <p:cNvSpPr/>
          <p:nvPr/>
        </p:nvSpPr>
        <p:spPr>
          <a:xfrm>
            <a:off x="1857375" y="3248025"/>
            <a:ext cx="643890" cy="831056"/>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D63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sp>
        <p:nvSpPr>
          <p:cNvPr id="49" name="Rectangle 48"/>
          <p:cNvSpPr/>
          <p:nvPr/>
        </p:nvSpPr>
        <p:spPr>
          <a:xfrm>
            <a:off x="1857375" y="4079081"/>
            <a:ext cx="643890" cy="831056"/>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81" name="Rectangle 80"/>
          <p:cNvSpPr/>
          <p:nvPr/>
        </p:nvSpPr>
        <p:spPr>
          <a:xfrm>
            <a:off x="1857375" y="5741194"/>
            <a:ext cx="643890" cy="831056"/>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724884"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Dietary Formulation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Dietary Formulation,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1238250"/>
        </p:xfrm>
        <a:graphic>
          <a:graphicData uri="http://schemas.openxmlformats.org/drawingml/2006/table">
            <a:tbl>
              <a:tblPr>
                <a:tableStyleId>{5C22544A-7EE6-4342-B048-85BDC9FD1C3A}</a:tableStyleId>
              </a:tblPr>
              <a:tblGrid>
                <a:gridCol w="1739911"/>
                <a:gridCol w="676486"/>
                <a:gridCol w="676486"/>
                <a:gridCol w="676486"/>
                <a:gridCol w="676486"/>
                <a:gridCol w="676486"/>
                <a:gridCol w="676486"/>
                <a:gridCol w="676486"/>
                <a:gridCol w="676486"/>
                <a:gridCol w="676486"/>
                <a:gridCol w="676486"/>
                <a:gridCol w="676486"/>
                <a:gridCol w="676486"/>
                <a:gridCol w="676486"/>
                <a:gridCol w="676486"/>
                <a:gridCol w="67648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Dietary Formulation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33" name="Rectangle 32"/>
          <p:cNvSpPr/>
          <p:nvPr/>
        </p:nvSpPr>
        <p:spPr>
          <a:xfrm>
            <a:off x="1857375" y="3248025"/>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C3D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sp>
        <p:nvSpPr>
          <p:cNvPr id="49" name="Rectangle 48"/>
          <p:cNvSpPr/>
          <p:nvPr/>
        </p:nvSpPr>
        <p:spPr>
          <a:xfrm>
            <a:off x="1857375" y="4079081"/>
            <a:ext cx="643890" cy="831056"/>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81" name="Rectangle 80"/>
          <p:cNvSpPr/>
          <p:nvPr/>
        </p:nvSpPr>
        <p:spPr>
          <a:xfrm>
            <a:off x="1857375" y="5741194"/>
            <a:ext cx="643890" cy="831056"/>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779266"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Nutritional Positioning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Nutritional Positioning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Nutritional Positioning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Nutritional Positioning,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Nutritional Positioning segment categorizes the market by nutritional positioning.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Protein-enriched</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indulgent</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Reduced-sugar</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nutrition-focused formulati…</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Nutritional Positioning split shows how demand is distributed across nutritional positioning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789_1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_310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692_1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990_2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6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665_1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1_080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0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526_0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608_8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1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'Protein-enriched' holds the largest share in 2026</a:t>
            </a:r>
          </a:p>
        </p:txBody>
      </p:sp>
      <p:pic>
        <p:nvPicPr>
          <p:cNvPr id="81" name="Picture 80" descr="lock.png"/>
          <p:cNvPicPr>
            <a:picLocks noChangeAspect="1"/>
          </p:cNvPicPr>
          <p:nvPr/>
        </p:nvPicPr>
        <p:blipFill>
          <a:blip r:embed="rId16"/>
          <a:stretch>
            <a:fillRect/>
          </a:stretch>
        </p:blipFill>
        <p:spPr>
          <a:xfrm>
            <a:off x="472307" y="4387298"/>
            <a:ext cx="128699" cy="187198"/>
          </a:xfrm>
          <a:prstGeom prst="rect">
            <a:avLst/>
          </a:prstGeom>
        </p:spPr>
      </p:pic>
      <p:sp>
        <p:nvSpPr>
          <p:cNvPr id="82" name="TextBox 81"/>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305397" cy="186689"/>
          </a:xfrm>
          <a:prstGeom prst="rect">
            <a:avLst/>
          </a:prstGeom>
          <a:noFill/>
        </p:spPr>
        <p:txBody>
          <a:bodyPr wrap="none" lIns="0" rIns="0" tIns="0" bIns="0">
            <a:spAutoFit/>
          </a:bodyPr>
          <a:lstStyle/>
          <a:p>
            <a:r>
              <a:rPr sz="1100" b="0">
                <a:solidFill>
                  <a:srgbClr val="2E2E2E"/>
                </a:solidFill>
                <a:latin typeface="Calibri"/>
              </a:rPr>
              <a:t>▪ 'Fibre-enriched' is the fastest-growing</a:t>
            </a:r>
          </a:p>
        </p:txBody>
      </p:sp>
      <p:sp>
        <p:nvSpPr>
          <p:cNvPr id="84" name="TextBox 8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5" name="Picture 84" descr="lock.png"/>
          <p:cNvPicPr>
            <a:picLocks noChangeAspect="1"/>
          </p:cNvPicPr>
          <p:nvPr/>
        </p:nvPicPr>
        <p:blipFill>
          <a:blip r:embed="rId16"/>
          <a:stretch>
            <a:fillRect/>
          </a:stretch>
        </p:blipFill>
        <p:spPr>
          <a:xfrm>
            <a:off x="1391064" y="4772870"/>
            <a:ext cx="128699" cy="187198"/>
          </a:xfrm>
          <a:prstGeom prst="rect">
            <a:avLst/>
          </a:prstGeom>
        </p:spPr>
      </p:pic>
      <p:sp>
        <p:nvSpPr>
          <p:cNvPr id="86" name="TextBox 8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424906" cy="186689"/>
          </a:xfrm>
          <a:prstGeom prst="rect">
            <a:avLst/>
          </a:prstGeom>
          <a:noFill/>
        </p:spPr>
        <p:txBody>
          <a:bodyPr wrap="none" lIns="0" rIns="0" tIns="0" bIns="0">
            <a:spAutoFit/>
          </a:bodyPr>
          <a:lstStyle/>
          <a:p>
            <a:r>
              <a:rPr sz="1100" b="0">
                <a:solidFill>
                  <a:srgbClr val="2E2E2E"/>
                </a:solidFill>
                <a:latin typeface="Calibri"/>
              </a:rPr>
              <a:t>▪ 7 sub-segments make up the nutritional</a:t>
            </a:r>
          </a:p>
        </p:txBody>
      </p:sp>
      <p:sp>
        <p:nvSpPr>
          <p:cNvPr id="94" name="TextBox 93"/>
          <p:cNvSpPr txBox="1"/>
          <p:nvPr/>
        </p:nvSpPr>
        <p:spPr>
          <a:xfrm>
            <a:off x="485775" y="5553793"/>
            <a:ext cx="1343868" cy="186689"/>
          </a:xfrm>
          <a:prstGeom prst="rect">
            <a:avLst/>
          </a:prstGeom>
          <a:noFill/>
        </p:spPr>
        <p:txBody>
          <a:bodyPr wrap="none" lIns="0" rIns="0" tIns="0" bIns="0">
            <a:spAutoFit/>
          </a:bodyPr>
          <a:lstStyle/>
          <a:p>
            <a:r>
              <a:rPr sz="1100" b="0">
                <a:solidFill>
                  <a:srgbClr val="2E2E2E"/>
                </a:solidFill>
                <a:latin typeface="Calibri"/>
              </a:rPr>
              <a:t>positioning landscape.</a:t>
            </a:r>
          </a:p>
        </p:txBody>
      </p:sp>
      <p:sp>
        <p:nvSpPr>
          <p:cNvPr id="95" name="TextBox 94"/>
          <p:cNvSpPr txBox="1"/>
          <p:nvPr/>
        </p:nvSpPr>
        <p:spPr>
          <a:xfrm>
            <a:off x="3838575" y="4229437"/>
            <a:ext cx="1188888" cy="186689"/>
          </a:xfrm>
          <a:prstGeom prst="rect">
            <a:avLst/>
          </a:prstGeom>
          <a:noFill/>
        </p:spPr>
        <p:txBody>
          <a:bodyPr wrap="none" lIns="0" rIns="0" tIns="0" bIns="0">
            <a:spAutoFit/>
          </a:bodyPr>
          <a:lstStyle/>
          <a:p>
            <a:r>
              <a:rPr sz="1100" b="0">
                <a:solidFill>
                  <a:srgbClr val="2E2E2E"/>
                </a:solidFill>
                <a:latin typeface="Calibri"/>
              </a:rPr>
              <a:t>● Protein-enriched:</a:t>
            </a:r>
          </a:p>
        </p:txBody>
      </p:sp>
      <p:pic>
        <p:nvPicPr>
          <p:cNvPr id="96" name="Picture 95" descr="lock.png"/>
          <p:cNvPicPr>
            <a:picLocks noChangeAspect="1"/>
          </p:cNvPicPr>
          <p:nvPr/>
        </p:nvPicPr>
        <p:blipFill>
          <a:blip r:embed="rId16"/>
          <a:stretch>
            <a:fillRect/>
          </a:stretch>
        </p:blipFill>
        <p:spPr>
          <a:xfrm>
            <a:off x="4975515" y="4219658"/>
            <a:ext cx="128699" cy="187198"/>
          </a:xfrm>
          <a:prstGeom prst="rect">
            <a:avLst/>
          </a:prstGeom>
        </p:spPr>
      </p:pic>
      <p:sp>
        <p:nvSpPr>
          <p:cNvPr id="97" name="TextBox 96"/>
          <p:cNvSpPr txBox="1"/>
          <p:nvPr/>
        </p:nvSpPr>
        <p:spPr>
          <a:xfrm>
            <a:off x="514301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6002461" y="4219658"/>
            <a:ext cx="128699" cy="187198"/>
          </a:xfrm>
          <a:prstGeom prst="rect">
            <a:avLst/>
          </a:prstGeom>
        </p:spPr>
      </p:pic>
      <p:sp>
        <p:nvSpPr>
          <p:cNvPr id="99" name="TextBox 98"/>
          <p:cNvSpPr txBox="1"/>
          <p:nvPr/>
        </p:nvSpPr>
        <p:spPr>
          <a:xfrm>
            <a:off x="616995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1400894" cy="186689"/>
          </a:xfrm>
          <a:prstGeom prst="rect">
            <a:avLst/>
          </a:prstGeom>
          <a:noFill/>
        </p:spPr>
        <p:txBody>
          <a:bodyPr wrap="none" lIns="0" rIns="0" tIns="0" bIns="0">
            <a:spAutoFit/>
          </a:bodyPr>
          <a:lstStyle/>
          <a:p>
            <a:r>
              <a:rPr sz="1100" b="0">
                <a:solidFill>
                  <a:srgbClr val="2E2E2E"/>
                </a:solidFill>
                <a:latin typeface="Calibri"/>
              </a:rPr>
              <a:t>● Standard / indulgent:</a:t>
            </a:r>
          </a:p>
        </p:txBody>
      </p:sp>
      <p:pic>
        <p:nvPicPr>
          <p:cNvPr id="101" name="Picture 100" descr="lock.png"/>
          <p:cNvPicPr>
            <a:picLocks noChangeAspect="1"/>
          </p:cNvPicPr>
          <p:nvPr/>
        </p:nvPicPr>
        <p:blipFill>
          <a:blip r:embed="rId16"/>
          <a:stretch>
            <a:fillRect/>
          </a:stretch>
        </p:blipFill>
        <p:spPr>
          <a:xfrm>
            <a:off x="5187520" y="4437590"/>
            <a:ext cx="128699" cy="187198"/>
          </a:xfrm>
          <a:prstGeom prst="rect">
            <a:avLst/>
          </a:prstGeom>
        </p:spPr>
      </p:pic>
      <p:sp>
        <p:nvSpPr>
          <p:cNvPr id="102" name="TextBox 101"/>
          <p:cNvSpPr txBox="1"/>
          <p:nvPr/>
        </p:nvSpPr>
        <p:spPr>
          <a:xfrm>
            <a:off x="535501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6214466" y="4437590"/>
            <a:ext cx="128699" cy="187198"/>
          </a:xfrm>
          <a:prstGeom prst="rect">
            <a:avLst/>
          </a:prstGeom>
        </p:spPr>
      </p:pic>
      <p:sp>
        <p:nvSpPr>
          <p:cNvPr id="104" name="TextBox 103"/>
          <p:cNvSpPr txBox="1"/>
          <p:nvPr/>
        </p:nvSpPr>
        <p:spPr>
          <a:xfrm>
            <a:off x="638196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1076200" cy="186689"/>
          </a:xfrm>
          <a:prstGeom prst="rect">
            <a:avLst/>
          </a:prstGeom>
          <a:noFill/>
        </p:spPr>
        <p:txBody>
          <a:bodyPr wrap="none" lIns="0" rIns="0" tIns="0" bIns="0">
            <a:spAutoFit/>
          </a:bodyPr>
          <a:lstStyle/>
          <a:p>
            <a:r>
              <a:rPr sz="1100" b="0">
                <a:solidFill>
                  <a:srgbClr val="2E2E2E"/>
                </a:solidFill>
                <a:latin typeface="Calibri"/>
              </a:rPr>
              <a:t>● Reduced-sugar:</a:t>
            </a:r>
          </a:p>
        </p:txBody>
      </p:sp>
      <p:pic>
        <p:nvPicPr>
          <p:cNvPr id="106" name="Picture 105" descr="lock.png"/>
          <p:cNvPicPr>
            <a:picLocks noChangeAspect="1"/>
          </p:cNvPicPr>
          <p:nvPr/>
        </p:nvPicPr>
        <p:blipFill>
          <a:blip r:embed="rId16"/>
          <a:stretch>
            <a:fillRect/>
          </a:stretch>
        </p:blipFill>
        <p:spPr>
          <a:xfrm>
            <a:off x="4862827" y="4655522"/>
            <a:ext cx="128699" cy="187198"/>
          </a:xfrm>
          <a:prstGeom prst="rect">
            <a:avLst/>
          </a:prstGeom>
        </p:spPr>
      </p:pic>
      <p:sp>
        <p:nvSpPr>
          <p:cNvPr id="107" name="TextBox 106"/>
          <p:cNvSpPr txBox="1"/>
          <p:nvPr/>
        </p:nvSpPr>
        <p:spPr>
          <a:xfrm>
            <a:off x="50303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889773" y="4655522"/>
            <a:ext cx="128699" cy="187198"/>
          </a:xfrm>
          <a:prstGeom prst="rect">
            <a:avLst/>
          </a:prstGeom>
        </p:spPr>
      </p:pic>
      <p:sp>
        <p:nvSpPr>
          <p:cNvPr id="109" name="TextBox 108"/>
          <p:cNvSpPr txBox="1"/>
          <p:nvPr/>
        </p:nvSpPr>
        <p:spPr>
          <a:xfrm>
            <a:off x="6057269"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0" name="TextBox 109"/>
          <p:cNvSpPr txBox="1"/>
          <p:nvPr/>
        </p:nvSpPr>
        <p:spPr>
          <a:xfrm>
            <a:off x="3838575" y="4883233"/>
            <a:ext cx="2344142" cy="186689"/>
          </a:xfrm>
          <a:prstGeom prst="rect">
            <a:avLst/>
          </a:prstGeom>
          <a:noFill/>
        </p:spPr>
        <p:txBody>
          <a:bodyPr wrap="none" lIns="0" rIns="0" tIns="0" bIns="0">
            <a:spAutoFit/>
          </a:bodyPr>
          <a:lstStyle/>
          <a:p>
            <a:r>
              <a:rPr sz="1100" b="0">
                <a:solidFill>
                  <a:srgbClr val="2E2E2E"/>
                </a:solidFill>
                <a:latin typeface="Calibri"/>
              </a:rPr>
              <a:t>● Other nutrition-focused formulations:</a:t>
            </a:r>
          </a:p>
        </p:txBody>
      </p:sp>
      <p:pic>
        <p:nvPicPr>
          <p:cNvPr id="111" name="Picture 110" descr="lock.png"/>
          <p:cNvPicPr>
            <a:picLocks noChangeAspect="1"/>
          </p:cNvPicPr>
          <p:nvPr/>
        </p:nvPicPr>
        <p:blipFill>
          <a:blip r:embed="rId16"/>
          <a:stretch>
            <a:fillRect/>
          </a:stretch>
        </p:blipFill>
        <p:spPr>
          <a:xfrm>
            <a:off x="6130768" y="4873454"/>
            <a:ext cx="128699" cy="187198"/>
          </a:xfrm>
          <a:prstGeom prst="rect">
            <a:avLst/>
          </a:prstGeom>
        </p:spPr>
      </p:pic>
      <p:sp>
        <p:nvSpPr>
          <p:cNvPr id="112" name="TextBox 111"/>
          <p:cNvSpPr txBox="1"/>
          <p:nvPr/>
        </p:nvSpPr>
        <p:spPr>
          <a:xfrm>
            <a:off x="629826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7157714" y="4873454"/>
            <a:ext cx="128699" cy="187198"/>
          </a:xfrm>
          <a:prstGeom prst="rect">
            <a:avLst/>
          </a:prstGeom>
        </p:spPr>
      </p:pic>
      <p:sp>
        <p:nvSpPr>
          <p:cNvPr id="114" name="TextBox 113"/>
          <p:cNvSpPr txBox="1"/>
          <p:nvPr/>
        </p:nvSpPr>
        <p:spPr>
          <a:xfrm>
            <a:off x="7325210" y="4883233"/>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15" name="TextBox 114"/>
          <p:cNvSpPr txBox="1"/>
          <p:nvPr/>
        </p:nvSpPr>
        <p:spPr>
          <a:xfrm>
            <a:off x="3838575" y="5050873"/>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16" name="TextBox 11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Nutritional Positioning segment is projected to</a:t>
            </a:r>
          </a:p>
        </p:txBody>
      </p:sp>
      <p:sp>
        <p:nvSpPr>
          <p:cNvPr id="117" name="TextBox 11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8" name="Picture 117" descr="lock.png"/>
          <p:cNvPicPr>
            <a:picLocks noChangeAspect="1"/>
          </p:cNvPicPr>
          <p:nvPr/>
        </p:nvPicPr>
        <p:blipFill>
          <a:blip r:embed="rId16"/>
          <a:stretch>
            <a:fillRect/>
          </a:stretch>
        </p:blipFill>
        <p:spPr>
          <a:xfrm>
            <a:off x="9651852" y="6007677"/>
            <a:ext cx="134549" cy="195707"/>
          </a:xfrm>
          <a:prstGeom prst="rect">
            <a:avLst/>
          </a:prstGeom>
        </p:spPr>
      </p:pic>
      <p:sp>
        <p:nvSpPr>
          <p:cNvPr id="119" name="TextBox 11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Nutritional Positioning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Nutritional Positioning,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Nutritional Positioning segment categorizes the market by nutritional positioning.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Reduced-fat</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No-added-sugar</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Fibre-enriched</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6" name="Picture 45" descr="520_6_605E5C.png"/>
          <p:cNvPicPr>
            <a:picLocks noChangeAspect="1"/>
          </p:cNvPicPr>
          <p:nvPr/>
        </p:nvPicPr>
        <p:blipFill>
          <a:blip r:embed="rId4"/>
          <a:stretch>
            <a:fillRect/>
          </a:stretch>
        </p:blipFill>
        <p:spPr>
          <a:xfrm>
            <a:off x="2897811" y="2286582"/>
            <a:ext cx="1195728" cy="361950"/>
          </a:xfrm>
          <a:prstGeom prst="rect">
            <a:avLst/>
          </a:prstGeom>
        </p:spPr>
      </p:pic>
      <p:pic>
        <p:nvPicPr>
          <p:cNvPr id="47" name="Picture 46" descr="749_6_605E5C.png"/>
          <p:cNvPicPr>
            <a:picLocks noChangeAspect="1"/>
          </p:cNvPicPr>
          <p:nvPr/>
        </p:nvPicPr>
        <p:blipFill>
          <a:blip r:embed="rId5"/>
          <a:stretch>
            <a:fillRect/>
          </a:stretch>
        </p:blipFill>
        <p:spPr>
          <a:xfrm>
            <a:off x="2897811" y="2779432"/>
            <a:ext cx="1195728" cy="361950"/>
          </a:xfrm>
          <a:prstGeom prst="rect">
            <a:avLst/>
          </a:prstGeom>
        </p:spPr>
      </p:pic>
      <p:pic>
        <p:nvPicPr>
          <p:cNvPr id="48" name="Picture 47" descr="3_7__605E5C.png"/>
          <p:cNvPicPr>
            <a:picLocks noChangeAspect="1"/>
          </p:cNvPicPr>
          <p:nvPr/>
        </p:nvPicPr>
        <p:blipFill>
          <a:blip r:embed="rId6"/>
          <a:stretch>
            <a:fillRect/>
          </a:stretch>
        </p:blipFill>
        <p:spPr>
          <a:xfrm>
            <a:off x="3004457" y="3272281"/>
            <a:ext cx="982436" cy="361950"/>
          </a:xfrm>
          <a:prstGeom prst="rect">
            <a:avLst/>
          </a:prstGeom>
        </p:spPr>
      </p:pic>
      <p:pic>
        <p:nvPicPr>
          <p:cNvPr id="49" name="Picture 48" descr="292_4_605E5C.png"/>
          <p:cNvPicPr>
            <a:picLocks noChangeAspect="1"/>
          </p:cNvPicPr>
          <p:nvPr/>
        </p:nvPicPr>
        <p:blipFill>
          <a:blip r:embed="rId7"/>
          <a:stretch>
            <a:fillRect/>
          </a:stretch>
        </p:blipFill>
        <p:spPr>
          <a:xfrm>
            <a:off x="6269661" y="2286582"/>
            <a:ext cx="1195728" cy="361950"/>
          </a:xfrm>
          <a:prstGeom prst="rect">
            <a:avLst/>
          </a:prstGeom>
        </p:spPr>
      </p:pic>
      <p:pic>
        <p:nvPicPr>
          <p:cNvPr id="50" name="Picture 49" descr="406_5_605E5C.png"/>
          <p:cNvPicPr>
            <a:picLocks noChangeAspect="1"/>
          </p:cNvPicPr>
          <p:nvPr/>
        </p:nvPicPr>
        <p:blipFill>
          <a:blip r:embed="rId8"/>
          <a:stretch>
            <a:fillRect/>
          </a:stretch>
        </p:blipFill>
        <p:spPr>
          <a:xfrm>
            <a:off x="6269661" y="2779432"/>
            <a:ext cx="1195728" cy="361950"/>
          </a:xfrm>
          <a:prstGeom prst="rect">
            <a:avLst/>
          </a:prstGeom>
        </p:spPr>
      </p:pic>
      <p:pic>
        <p:nvPicPr>
          <p:cNvPr id="51" name="Picture 50" descr="3_3__605E5C.png"/>
          <p:cNvPicPr>
            <a:picLocks noChangeAspect="1"/>
          </p:cNvPicPr>
          <p:nvPr/>
        </p:nvPicPr>
        <p:blipFill>
          <a:blip r:embed="rId9"/>
          <a:stretch>
            <a:fillRect/>
          </a:stretch>
        </p:blipFill>
        <p:spPr>
          <a:xfrm>
            <a:off x="6376307" y="3272281"/>
            <a:ext cx="982436" cy="361950"/>
          </a:xfrm>
          <a:prstGeom prst="rect">
            <a:avLst/>
          </a:prstGeom>
        </p:spPr>
      </p:pic>
      <p:pic>
        <p:nvPicPr>
          <p:cNvPr id="52" name="Picture 51" descr="111_7_605E5C.png"/>
          <p:cNvPicPr>
            <a:picLocks noChangeAspect="1"/>
          </p:cNvPicPr>
          <p:nvPr/>
        </p:nvPicPr>
        <p:blipFill>
          <a:blip r:embed="rId10"/>
          <a:stretch>
            <a:fillRect/>
          </a:stretch>
        </p:blipFill>
        <p:spPr>
          <a:xfrm>
            <a:off x="9641511" y="2286582"/>
            <a:ext cx="1195728" cy="361950"/>
          </a:xfrm>
          <a:prstGeom prst="rect">
            <a:avLst/>
          </a:prstGeom>
        </p:spPr>
      </p:pic>
      <p:pic>
        <p:nvPicPr>
          <p:cNvPr id="53" name="Picture 52" descr="208_3_605E5C.png"/>
          <p:cNvPicPr>
            <a:picLocks noChangeAspect="1"/>
          </p:cNvPicPr>
          <p:nvPr/>
        </p:nvPicPr>
        <p:blipFill>
          <a:blip r:embed="rId11"/>
          <a:stretch>
            <a:fillRect/>
          </a:stretch>
        </p:blipFill>
        <p:spPr>
          <a:xfrm>
            <a:off x="9641511" y="2779432"/>
            <a:ext cx="1195728" cy="361950"/>
          </a:xfrm>
          <a:prstGeom prst="rect">
            <a:avLst/>
          </a:prstGeom>
        </p:spPr>
      </p:pic>
      <p:pic>
        <p:nvPicPr>
          <p:cNvPr id="54" name="Picture 53" descr="6_4__605E5C.png"/>
          <p:cNvPicPr>
            <a:picLocks noChangeAspect="1"/>
          </p:cNvPicPr>
          <p:nvPr/>
        </p:nvPicPr>
        <p:blipFill>
          <a:blip r:embed="rId12"/>
          <a:stretch>
            <a:fillRect/>
          </a:stretch>
        </p:blipFill>
        <p:spPr>
          <a:xfrm>
            <a:off x="9748157" y="3272281"/>
            <a:ext cx="982436" cy="361950"/>
          </a:xfrm>
          <a:prstGeom prst="rect">
            <a:avLst/>
          </a:prstGeom>
        </p:spPr>
      </p:pic>
      <p:pic>
        <p:nvPicPr>
          <p:cNvPr id="55" name="Picture 54" descr="lock.png"/>
          <p:cNvPicPr>
            <a:picLocks noChangeAspect="1"/>
          </p:cNvPicPr>
          <p:nvPr/>
        </p:nvPicPr>
        <p:blipFill>
          <a:blip r:embed="rId13"/>
          <a:stretch>
            <a:fillRect/>
          </a:stretch>
        </p:blipFill>
        <p:spPr>
          <a:xfrm>
            <a:off x="3402330" y="2827057"/>
            <a:ext cx="183356" cy="266700"/>
          </a:xfrm>
          <a:prstGeom prst="rect">
            <a:avLst/>
          </a:prstGeom>
        </p:spPr>
      </p:pic>
      <p:pic>
        <p:nvPicPr>
          <p:cNvPr id="56" name="Picture 55" descr="lock.png"/>
          <p:cNvPicPr>
            <a:picLocks noChangeAspect="1"/>
          </p:cNvPicPr>
          <p:nvPr/>
        </p:nvPicPr>
        <p:blipFill>
          <a:blip r:embed="rId13"/>
          <a:stretch>
            <a:fillRect/>
          </a:stretch>
        </p:blipFill>
        <p:spPr>
          <a:xfrm>
            <a:off x="6774180" y="2827057"/>
            <a:ext cx="183356" cy="266700"/>
          </a:xfrm>
          <a:prstGeom prst="rect">
            <a:avLst/>
          </a:prstGeom>
        </p:spPr>
      </p:pic>
      <p:pic>
        <p:nvPicPr>
          <p:cNvPr id="57" name="Picture 56" descr="lock.png"/>
          <p:cNvPicPr>
            <a:picLocks noChangeAspect="1"/>
          </p:cNvPicPr>
          <p:nvPr/>
        </p:nvPicPr>
        <p:blipFill>
          <a:blip r:embed="rId13"/>
          <a:stretch>
            <a:fillRect/>
          </a:stretch>
        </p:blipFill>
        <p:spPr>
          <a:xfrm>
            <a:off x="10146030" y="2827057"/>
            <a:ext cx="183356" cy="266700"/>
          </a:xfrm>
          <a:prstGeom prst="rect">
            <a:avLst/>
          </a:prstGeom>
        </p:spPr>
      </p:pic>
      <p:sp>
        <p:nvSpPr>
          <p:cNvPr id="58" name="TextBox 57"/>
          <p:cNvSpPr txBox="1"/>
          <p:nvPr/>
        </p:nvSpPr>
        <p:spPr>
          <a:xfrm>
            <a:off x="485775" y="4229437"/>
            <a:ext cx="923131" cy="186689"/>
          </a:xfrm>
          <a:prstGeom prst="rect">
            <a:avLst/>
          </a:prstGeom>
          <a:noFill/>
        </p:spPr>
        <p:txBody>
          <a:bodyPr wrap="none" lIns="0" rIns="0" tIns="0" bIns="0">
            <a:spAutoFit/>
          </a:bodyPr>
          <a:lstStyle/>
          <a:p>
            <a:r>
              <a:rPr sz="1100" b="0">
                <a:solidFill>
                  <a:srgbClr val="2E2E2E"/>
                </a:solidFill>
                <a:latin typeface="Calibri"/>
              </a:rPr>
              <a:t>● Reduced-fat:</a:t>
            </a:r>
          </a:p>
        </p:txBody>
      </p:sp>
      <p:pic>
        <p:nvPicPr>
          <p:cNvPr id="59" name="Picture 58" descr="lock.png"/>
          <p:cNvPicPr>
            <a:picLocks noChangeAspect="1"/>
          </p:cNvPicPr>
          <p:nvPr/>
        </p:nvPicPr>
        <p:blipFill>
          <a:blip r:embed="rId13"/>
          <a:stretch>
            <a:fillRect/>
          </a:stretch>
        </p:blipFill>
        <p:spPr>
          <a:xfrm>
            <a:off x="1356957" y="4219658"/>
            <a:ext cx="128699" cy="187198"/>
          </a:xfrm>
          <a:prstGeom prst="rect">
            <a:avLst/>
          </a:prstGeom>
        </p:spPr>
      </p:pic>
      <p:sp>
        <p:nvSpPr>
          <p:cNvPr id="60" name="TextBox 59"/>
          <p:cNvSpPr txBox="1"/>
          <p:nvPr/>
        </p:nvSpPr>
        <p:spPr>
          <a:xfrm>
            <a:off x="152445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1" name="Picture 60" descr="lock.png"/>
          <p:cNvPicPr>
            <a:picLocks noChangeAspect="1"/>
          </p:cNvPicPr>
          <p:nvPr/>
        </p:nvPicPr>
        <p:blipFill>
          <a:blip r:embed="rId13"/>
          <a:stretch>
            <a:fillRect/>
          </a:stretch>
        </p:blipFill>
        <p:spPr>
          <a:xfrm>
            <a:off x="2383903" y="4219658"/>
            <a:ext cx="128699" cy="187198"/>
          </a:xfrm>
          <a:prstGeom prst="rect">
            <a:avLst/>
          </a:prstGeom>
        </p:spPr>
      </p:pic>
      <p:sp>
        <p:nvSpPr>
          <p:cNvPr id="62" name="TextBox 61"/>
          <p:cNvSpPr txBox="1"/>
          <p:nvPr/>
        </p:nvSpPr>
        <p:spPr>
          <a:xfrm>
            <a:off x="2551399"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3" name="TextBox 62"/>
          <p:cNvSpPr txBox="1"/>
          <p:nvPr/>
        </p:nvSpPr>
        <p:spPr>
          <a:xfrm>
            <a:off x="485775" y="4447369"/>
            <a:ext cx="1145232" cy="186689"/>
          </a:xfrm>
          <a:prstGeom prst="rect">
            <a:avLst/>
          </a:prstGeom>
          <a:noFill/>
        </p:spPr>
        <p:txBody>
          <a:bodyPr wrap="none" lIns="0" rIns="0" tIns="0" bIns="0">
            <a:spAutoFit/>
          </a:bodyPr>
          <a:lstStyle/>
          <a:p>
            <a:r>
              <a:rPr sz="1100" b="0">
                <a:solidFill>
                  <a:srgbClr val="2E2E2E"/>
                </a:solidFill>
                <a:latin typeface="Calibri"/>
              </a:rPr>
              <a:t>● No-added-sugar:</a:t>
            </a:r>
          </a:p>
        </p:txBody>
      </p:sp>
      <p:pic>
        <p:nvPicPr>
          <p:cNvPr id="64" name="Picture 63" descr="lock.png"/>
          <p:cNvPicPr>
            <a:picLocks noChangeAspect="1"/>
          </p:cNvPicPr>
          <p:nvPr/>
        </p:nvPicPr>
        <p:blipFill>
          <a:blip r:embed="rId13"/>
          <a:stretch>
            <a:fillRect/>
          </a:stretch>
        </p:blipFill>
        <p:spPr>
          <a:xfrm>
            <a:off x="1579059" y="4437590"/>
            <a:ext cx="128699" cy="187198"/>
          </a:xfrm>
          <a:prstGeom prst="rect">
            <a:avLst/>
          </a:prstGeom>
        </p:spPr>
      </p:pic>
      <p:sp>
        <p:nvSpPr>
          <p:cNvPr id="65" name="TextBox 64"/>
          <p:cNvSpPr txBox="1"/>
          <p:nvPr/>
        </p:nvSpPr>
        <p:spPr>
          <a:xfrm>
            <a:off x="174655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6" name="Picture 65" descr="lock.png"/>
          <p:cNvPicPr>
            <a:picLocks noChangeAspect="1"/>
          </p:cNvPicPr>
          <p:nvPr/>
        </p:nvPicPr>
        <p:blipFill>
          <a:blip r:embed="rId13"/>
          <a:stretch>
            <a:fillRect/>
          </a:stretch>
        </p:blipFill>
        <p:spPr>
          <a:xfrm>
            <a:off x="2606005" y="4437590"/>
            <a:ext cx="128699" cy="187198"/>
          </a:xfrm>
          <a:prstGeom prst="rect">
            <a:avLst/>
          </a:prstGeom>
        </p:spPr>
      </p:pic>
      <p:sp>
        <p:nvSpPr>
          <p:cNvPr id="67" name="TextBox 66"/>
          <p:cNvSpPr txBox="1"/>
          <p:nvPr/>
        </p:nvSpPr>
        <p:spPr>
          <a:xfrm>
            <a:off x="277350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8" name="TextBox 67"/>
          <p:cNvSpPr txBox="1"/>
          <p:nvPr/>
        </p:nvSpPr>
        <p:spPr>
          <a:xfrm>
            <a:off x="485775" y="4665301"/>
            <a:ext cx="1060102" cy="186689"/>
          </a:xfrm>
          <a:prstGeom prst="rect">
            <a:avLst/>
          </a:prstGeom>
          <a:noFill/>
        </p:spPr>
        <p:txBody>
          <a:bodyPr wrap="none" lIns="0" rIns="0" tIns="0" bIns="0">
            <a:spAutoFit/>
          </a:bodyPr>
          <a:lstStyle/>
          <a:p>
            <a:r>
              <a:rPr sz="1100" b="0">
                <a:solidFill>
                  <a:srgbClr val="2E2E2E"/>
                </a:solidFill>
                <a:latin typeface="Calibri"/>
              </a:rPr>
              <a:t>● Fibre-enriched:</a:t>
            </a:r>
          </a:p>
        </p:txBody>
      </p:sp>
      <p:pic>
        <p:nvPicPr>
          <p:cNvPr id="69" name="Picture 68" descr="lock.png"/>
          <p:cNvPicPr>
            <a:picLocks noChangeAspect="1"/>
          </p:cNvPicPr>
          <p:nvPr/>
        </p:nvPicPr>
        <p:blipFill>
          <a:blip r:embed="rId13"/>
          <a:stretch>
            <a:fillRect/>
          </a:stretch>
        </p:blipFill>
        <p:spPr>
          <a:xfrm>
            <a:off x="1493929" y="4655522"/>
            <a:ext cx="128699" cy="187198"/>
          </a:xfrm>
          <a:prstGeom prst="rect">
            <a:avLst/>
          </a:prstGeom>
        </p:spPr>
      </p:pic>
      <p:sp>
        <p:nvSpPr>
          <p:cNvPr id="70" name="TextBox 69"/>
          <p:cNvSpPr txBox="1"/>
          <p:nvPr/>
        </p:nvSpPr>
        <p:spPr>
          <a:xfrm>
            <a:off x="1661425"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1" name="Picture 70" descr="lock.png"/>
          <p:cNvPicPr>
            <a:picLocks noChangeAspect="1"/>
          </p:cNvPicPr>
          <p:nvPr/>
        </p:nvPicPr>
        <p:blipFill>
          <a:blip r:embed="rId13"/>
          <a:stretch>
            <a:fillRect/>
          </a:stretch>
        </p:blipFill>
        <p:spPr>
          <a:xfrm>
            <a:off x="2520875" y="4655522"/>
            <a:ext cx="128699" cy="187198"/>
          </a:xfrm>
          <a:prstGeom prst="rect">
            <a:avLst/>
          </a:prstGeom>
        </p:spPr>
      </p:pic>
      <p:sp>
        <p:nvSpPr>
          <p:cNvPr id="72" name="TextBox 71"/>
          <p:cNvSpPr txBox="1"/>
          <p:nvPr/>
        </p:nvSpPr>
        <p:spPr>
          <a:xfrm>
            <a:off x="2688371"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Nutritional Positioning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Nutritional Positioning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Nutritional Positioning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Nutritional Positioning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561062" cy="186689"/>
          </a:xfrm>
          <a:prstGeom prst="rect">
            <a:avLst/>
          </a:prstGeom>
          <a:noFill/>
        </p:spPr>
        <p:txBody>
          <a:bodyPr wrap="none" lIns="0" rIns="0" tIns="0" bIns="0">
            <a:spAutoFit/>
          </a:bodyPr>
          <a:lstStyle/>
          <a:p>
            <a:r>
              <a:rPr sz="1100" b="0">
                <a:solidFill>
                  <a:srgbClr val="2E2E2E"/>
                </a:solidFill>
                <a:latin typeface="Calibri"/>
              </a:rPr>
              <a:t>Between 2026 and 2036, 'Protein-enriched' gains the most share in the North America market (+</a:t>
            </a:r>
          </a:p>
        </p:txBody>
      </p:sp>
      <p:pic>
        <p:nvPicPr>
          <p:cNvPr id="21" name="Picture 20" descr="lock.png"/>
          <p:cNvPicPr>
            <a:picLocks noChangeAspect="1"/>
          </p:cNvPicPr>
          <p:nvPr/>
        </p:nvPicPr>
        <p:blipFill>
          <a:blip r:embed="rId6"/>
          <a:stretch>
            <a:fillRect/>
          </a:stretch>
        </p:blipFill>
        <p:spPr>
          <a:xfrm>
            <a:off x="5766288" y="5851905"/>
            <a:ext cx="128699" cy="187198"/>
          </a:xfrm>
          <a:prstGeom prst="rect">
            <a:avLst/>
          </a:prstGeom>
        </p:spPr>
      </p:pic>
      <p:sp>
        <p:nvSpPr>
          <p:cNvPr id="22" name="TextBox 21"/>
          <p:cNvSpPr txBox="1"/>
          <p:nvPr/>
        </p:nvSpPr>
        <p:spPr>
          <a:xfrm>
            <a:off x="5933784" y="5861685"/>
            <a:ext cx="3235821" cy="186689"/>
          </a:xfrm>
          <a:prstGeom prst="rect">
            <a:avLst/>
          </a:prstGeom>
          <a:noFill/>
        </p:spPr>
        <p:txBody>
          <a:bodyPr wrap="none" lIns="0" rIns="0" tIns="0" bIns="0">
            <a:spAutoFit/>
          </a:bodyPr>
          <a:lstStyle/>
          <a:p>
            <a:r>
              <a:rPr sz="1100" b="0">
                <a:solidFill>
                  <a:srgbClr val="2E2E2E"/>
                </a:solidFill>
                <a:latin typeface="Calibri"/>
              </a:rPr>
              <a:t>BPS) while 'Other nutrition-focused formulations' cedes</a:t>
            </a:r>
          </a:p>
        </p:txBody>
      </p:sp>
      <p:pic>
        <p:nvPicPr>
          <p:cNvPr id="23" name="Picture 22" descr="lock.png"/>
          <p:cNvPicPr>
            <a:picLocks noChangeAspect="1"/>
          </p:cNvPicPr>
          <p:nvPr/>
        </p:nvPicPr>
        <p:blipFill>
          <a:blip r:embed="rId6"/>
          <a:stretch>
            <a:fillRect/>
          </a:stretch>
        </p:blipFill>
        <p:spPr>
          <a:xfrm>
            <a:off x="9117657" y="5851905"/>
            <a:ext cx="128699" cy="187198"/>
          </a:xfrm>
          <a:prstGeom prst="rect">
            <a:avLst/>
          </a:prstGeom>
        </p:spPr>
      </p:pic>
      <p:sp>
        <p:nvSpPr>
          <p:cNvPr id="24" name="TextBox 23"/>
          <p:cNvSpPr txBox="1"/>
          <p:nvPr/>
        </p:nvSpPr>
        <p:spPr>
          <a:xfrm>
            <a:off x="9285153" y="5861685"/>
            <a:ext cx="2421342" cy="186689"/>
          </a:xfrm>
          <a:prstGeom prst="rect">
            <a:avLst/>
          </a:prstGeom>
          <a:noFill/>
        </p:spPr>
        <p:txBody>
          <a:bodyPr wrap="none" lIns="0" rIns="0" tIns="0" bIns="0">
            <a:spAutoFit/>
          </a:bodyPr>
          <a:lstStyle/>
          <a:p>
            <a:r>
              <a:rPr sz="1100" b="0">
                <a:solidFill>
                  <a:srgbClr val="2E2E2E"/>
                </a:solidFill>
                <a:latin typeface="Calibri"/>
              </a:rPr>
              <a:t>BPS. Bubbles right of the CAGR-Index line</a:t>
            </a:r>
          </a:p>
        </p:txBody>
      </p:sp>
      <p:sp>
        <p:nvSpPr>
          <p:cNvPr id="25" name="TextBox 24"/>
          <p:cNvSpPr txBox="1"/>
          <p:nvPr/>
        </p:nvSpPr>
        <p:spPr>
          <a:xfrm>
            <a:off x="257175" y="6029325"/>
            <a:ext cx="2279476" cy="186689"/>
          </a:xfrm>
          <a:prstGeom prst="rect">
            <a:avLst/>
          </a:prstGeom>
          <a:noFill/>
        </p:spPr>
        <p:txBody>
          <a:bodyPr wrap="none" lIns="0" rIns="0" tIns="0" bIns="0">
            <a:spAutoFit/>
          </a:bodyPr>
          <a:lstStyle/>
          <a:p>
            <a:r>
              <a:rPr sz="1100" b="0">
                <a:solidFill>
                  <a:srgbClr val="2E2E2E"/>
                </a:solidFill>
                <a:latin typeface="Calibri"/>
              </a:rPr>
              <a:t>grow 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Nutritional Positioning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Nutritional Positioning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Standard / indulgent</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Protein-enriched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Fibre-enriched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Reduced-sugar</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Nutritional Positioning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Nutritional Positioning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No-added-sugar</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Reduced-fat</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nutrition-focused formulations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Nutritional Positioning</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7"/>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3100230" y="5216754"/>
            <a:ext cx="252890" cy="367840"/>
          </a:xfrm>
          <a:prstGeom prst="rect">
            <a:avLst/>
          </a:prstGeom>
        </p:spPr>
      </p:pic>
      <p:sp>
        <p:nvSpPr>
          <p:cNvPr id="27" name="TextBox 26"/>
          <p:cNvSpPr txBox="1"/>
          <p:nvPr/>
        </p:nvSpPr>
        <p:spPr>
          <a:xfrm>
            <a:off x="6305550" y="4286250"/>
            <a:ext cx="3568278" cy="194310"/>
          </a:xfrm>
          <a:prstGeom prst="rect">
            <a:avLst/>
          </a:prstGeom>
          <a:noFill/>
        </p:spPr>
        <p:txBody>
          <a:bodyPr wrap="none" lIns="0" rIns="0" tIns="0" bIns="0">
            <a:spAutoFit/>
          </a:bodyPr>
          <a:lstStyle/>
          <a:p>
            <a:r>
              <a:rPr sz="1150" b="0">
                <a:solidFill>
                  <a:srgbClr val="2E2E2E"/>
                </a:solidFill>
                <a:latin typeface="Calibri"/>
              </a:rPr>
              <a:t>▪ Across its 7 sub-segments, by nutritional positioning adds</a:t>
            </a:r>
          </a:p>
        </p:txBody>
      </p:sp>
      <p:pic>
        <p:nvPicPr>
          <p:cNvPr id="28" name="Picture 27" descr="lock.png"/>
          <p:cNvPicPr>
            <a:picLocks noChangeAspect="1"/>
          </p:cNvPicPr>
          <p:nvPr/>
        </p:nvPicPr>
        <p:blipFill>
          <a:blip r:embed="rId7"/>
          <a:stretch>
            <a:fillRect/>
          </a:stretch>
        </p:blipFill>
        <p:spPr>
          <a:xfrm>
            <a:off x="9822982" y="4276026"/>
            <a:ext cx="134549" cy="195707"/>
          </a:xfrm>
          <a:prstGeom prst="rect">
            <a:avLst/>
          </a:prstGeom>
        </p:spPr>
      </p:pic>
      <p:sp>
        <p:nvSpPr>
          <p:cNvPr id="29" name="TextBox 28"/>
          <p:cNvSpPr txBox="1"/>
          <p:nvPr/>
        </p:nvSpPr>
        <p:spPr>
          <a:xfrm>
            <a:off x="9998091" y="4286250"/>
            <a:ext cx="1841636" cy="194310"/>
          </a:xfrm>
          <a:prstGeom prst="rect">
            <a:avLst/>
          </a:prstGeom>
          <a:noFill/>
        </p:spPr>
        <p:txBody>
          <a:bodyPr wrap="none" lIns="0" rIns="0" tIns="0" bIns="0">
            <a:spAutoFit/>
          </a:bodyPr>
          <a:lstStyle/>
          <a:p>
            <a:r>
              <a:rPr sz="1150" b="0">
                <a:solidFill>
                  <a:srgbClr val="2E2E2E"/>
                </a:solidFill>
                <a:latin typeface="Calibri"/>
              </a:rPr>
              <a:t>US$ Mn to the North America</a:t>
            </a:r>
          </a:p>
        </p:txBody>
      </p:sp>
      <p:sp>
        <p:nvSpPr>
          <p:cNvPr id="30" name="TextBox 29"/>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1" name="TextBox 30"/>
          <p:cNvSpPr txBox="1"/>
          <p:nvPr/>
        </p:nvSpPr>
        <p:spPr>
          <a:xfrm>
            <a:off x="6305550" y="4689347"/>
            <a:ext cx="1541834" cy="194310"/>
          </a:xfrm>
          <a:prstGeom prst="rect">
            <a:avLst/>
          </a:prstGeom>
          <a:noFill/>
        </p:spPr>
        <p:txBody>
          <a:bodyPr wrap="none" lIns="0" rIns="0" tIns="0" bIns="0">
            <a:spAutoFit/>
          </a:bodyPr>
          <a:lstStyle/>
          <a:p>
            <a:r>
              <a:rPr sz="1150" b="0">
                <a:solidFill>
                  <a:srgbClr val="2E2E2E"/>
                </a:solidFill>
                <a:latin typeface="Calibri"/>
              </a:rPr>
              <a:t>▪ 'Protein-enriched' adds</a:t>
            </a:r>
          </a:p>
        </p:txBody>
      </p:sp>
      <p:pic>
        <p:nvPicPr>
          <p:cNvPr id="32" name="Picture 31" descr="lock.png"/>
          <p:cNvPicPr>
            <a:picLocks noChangeAspect="1"/>
          </p:cNvPicPr>
          <p:nvPr/>
        </p:nvPicPr>
        <p:blipFill>
          <a:blip r:embed="rId7"/>
          <a:stretch>
            <a:fillRect/>
          </a:stretch>
        </p:blipFill>
        <p:spPr>
          <a:xfrm>
            <a:off x="7796538" y="4679124"/>
            <a:ext cx="134549" cy="195707"/>
          </a:xfrm>
          <a:prstGeom prst="rect">
            <a:avLst/>
          </a:prstGeom>
        </p:spPr>
      </p:pic>
      <p:sp>
        <p:nvSpPr>
          <p:cNvPr id="33" name="TextBox 32"/>
          <p:cNvSpPr txBox="1"/>
          <p:nvPr/>
        </p:nvSpPr>
        <p:spPr>
          <a:xfrm>
            <a:off x="7971647"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4" name="Picture 33" descr="lock.png"/>
          <p:cNvPicPr>
            <a:picLocks noChangeAspect="1"/>
          </p:cNvPicPr>
          <p:nvPr/>
        </p:nvPicPr>
        <p:blipFill>
          <a:blip r:embed="rId7"/>
          <a:stretch>
            <a:fillRect/>
          </a:stretch>
        </p:blipFill>
        <p:spPr>
          <a:xfrm>
            <a:off x="8544118" y="4679124"/>
            <a:ext cx="134549" cy="195707"/>
          </a:xfrm>
          <a:prstGeom prst="rect">
            <a:avLst/>
          </a:prstGeom>
        </p:spPr>
      </p:pic>
      <p:sp>
        <p:nvSpPr>
          <p:cNvPr id="35" name="TextBox 34"/>
          <p:cNvSpPr txBox="1"/>
          <p:nvPr/>
        </p:nvSpPr>
        <p:spPr>
          <a:xfrm>
            <a:off x="8719227"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6" name="TextBox 35"/>
          <p:cNvSpPr txBox="1"/>
          <p:nvPr/>
        </p:nvSpPr>
        <p:spPr>
          <a:xfrm>
            <a:off x="6305550" y="4917185"/>
            <a:ext cx="1424024" cy="194310"/>
          </a:xfrm>
          <a:prstGeom prst="rect">
            <a:avLst/>
          </a:prstGeom>
          <a:noFill/>
        </p:spPr>
        <p:txBody>
          <a:bodyPr wrap="none" lIns="0" rIns="0" tIns="0" bIns="0">
            <a:spAutoFit/>
          </a:bodyPr>
          <a:lstStyle/>
          <a:p>
            <a:r>
              <a:rPr sz="1150" b="0">
                <a:solidFill>
                  <a:srgbClr val="2E2E2E"/>
                </a:solidFill>
                <a:latin typeface="Calibri"/>
              </a:rPr>
              <a:t>▪ 'Reduced-sugar' adds</a:t>
            </a:r>
          </a:p>
        </p:txBody>
      </p:sp>
      <p:pic>
        <p:nvPicPr>
          <p:cNvPr id="37" name="Picture 36" descr="lock.png"/>
          <p:cNvPicPr>
            <a:picLocks noChangeAspect="1"/>
          </p:cNvPicPr>
          <p:nvPr/>
        </p:nvPicPr>
        <p:blipFill>
          <a:blip r:embed="rId7"/>
          <a:stretch>
            <a:fillRect/>
          </a:stretch>
        </p:blipFill>
        <p:spPr>
          <a:xfrm>
            <a:off x="7678728" y="4906962"/>
            <a:ext cx="134549" cy="195707"/>
          </a:xfrm>
          <a:prstGeom prst="rect">
            <a:avLst/>
          </a:prstGeom>
        </p:spPr>
      </p:pic>
      <p:sp>
        <p:nvSpPr>
          <p:cNvPr id="38" name="TextBox 37"/>
          <p:cNvSpPr txBox="1"/>
          <p:nvPr/>
        </p:nvSpPr>
        <p:spPr>
          <a:xfrm>
            <a:off x="7853837"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9" name="Picture 38" descr="lock.png"/>
          <p:cNvPicPr>
            <a:picLocks noChangeAspect="1"/>
          </p:cNvPicPr>
          <p:nvPr/>
        </p:nvPicPr>
        <p:blipFill>
          <a:blip r:embed="rId7"/>
          <a:stretch>
            <a:fillRect/>
          </a:stretch>
        </p:blipFill>
        <p:spPr>
          <a:xfrm>
            <a:off x="8426308" y="4906962"/>
            <a:ext cx="134549" cy="195707"/>
          </a:xfrm>
          <a:prstGeom prst="rect">
            <a:avLst/>
          </a:prstGeom>
        </p:spPr>
      </p:pic>
      <p:sp>
        <p:nvSpPr>
          <p:cNvPr id="40" name="TextBox 39"/>
          <p:cNvSpPr txBox="1"/>
          <p:nvPr/>
        </p:nvSpPr>
        <p:spPr>
          <a:xfrm>
            <a:off x="8601418"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1" name="TextBox 40"/>
          <p:cNvSpPr txBox="1"/>
          <p:nvPr/>
        </p:nvSpPr>
        <p:spPr>
          <a:xfrm>
            <a:off x="6305550" y="5145023"/>
            <a:ext cx="1763476" cy="194310"/>
          </a:xfrm>
          <a:prstGeom prst="rect">
            <a:avLst/>
          </a:prstGeom>
          <a:noFill/>
        </p:spPr>
        <p:txBody>
          <a:bodyPr wrap="none" lIns="0" rIns="0" tIns="0" bIns="0">
            <a:spAutoFit/>
          </a:bodyPr>
          <a:lstStyle/>
          <a:p>
            <a:r>
              <a:rPr sz="1150" b="0">
                <a:solidFill>
                  <a:srgbClr val="2E2E2E"/>
                </a:solidFill>
                <a:latin typeface="Calibri"/>
              </a:rPr>
              <a:t>▪ 'Standard / indulgent' adds</a:t>
            </a:r>
          </a:p>
        </p:txBody>
      </p:sp>
      <p:pic>
        <p:nvPicPr>
          <p:cNvPr id="42" name="Picture 41" descr="lock.png"/>
          <p:cNvPicPr>
            <a:picLocks noChangeAspect="1"/>
          </p:cNvPicPr>
          <p:nvPr/>
        </p:nvPicPr>
        <p:blipFill>
          <a:blip r:embed="rId7"/>
          <a:stretch>
            <a:fillRect/>
          </a:stretch>
        </p:blipFill>
        <p:spPr>
          <a:xfrm>
            <a:off x="8018180" y="5134800"/>
            <a:ext cx="134549" cy="195707"/>
          </a:xfrm>
          <a:prstGeom prst="rect">
            <a:avLst/>
          </a:prstGeom>
        </p:spPr>
      </p:pic>
      <p:sp>
        <p:nvSpPr>
          <p:cNvPr id="43" name="TextBox 42"/>
          <p:cNvSpPr txBox="1"/>
          <p:nvPr/>
        </p:nvSpPr>
        <p:spPr>
          <a:xfrm>
            <a:off x="8193290"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4" name="Picture 43" descr="lock.png"/>
          <p:cNvPicPr>
            <a:picLocks noChangeAspect="1"/>
          </p:cNvPicPr>
          <p:nvPr/>
        </p:nvPicPr>
        <p:blipFill>
          <a:blip r:embed="rId7"/>
          <a:stretch>
            <a:fillRect/>
          </a:stretch>
        </p:blipFill>
        <p:spPr>
          <a:xfrm>
            <a:off x="8765760" y="5134800"/>
            <a:ext cx="134549" cy="195707"/>
          </a:xfrm>
          <a:prstGeom prst="rect">
            <a:avLst/>
          </a:prstGeom>
        </p:spPr>
      </p:pic>
      <p:sp>
        <p:nvSpPr>
          <p:cNvPr id="45" name="TextBox 44"/>
          <p:cNvSpPr txBox="1"/>
          <p:nvPr/>
        </p:nvSpPr>
        <p:spPr>
          <a:xfrm>
            <a:off x="8940870"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6" name="TextBox 45"/>
          <p:cNvSpPr txBox="1"/>
          <p:nvPr/>
        </p:nvSpPr>
        <p:spPr>
          <a:xfrm>
            <a:off x="6305550" y="5372861"/>
            <a:ext cx="3335796" cy="194310"/>
          </a:xfrm>
          <a:prstGeom prst="rect">
            <a:avLst/>
          </a:prstGeom>
          <a:noFill/>
        </p:spPr>
        <p:txBody>
          <a:bodyPr wrap="none" lIns="0" rIns="0" tIns="0" bIns="0">
            <a:spAutoFit/>
          </a:bodyPr>
          <a:lstStyle/>
          <a:p>
            <a:r>
              <a:rPr sz="1150" b="0">
                <a:solidFill>
                  <a:srgbClr val="2E2E2E"/>
                </a:solidFill>
                <a:latin typeface="Calibri"/>
              </a:rPr>
              <a:t>▪ 'Other nutrition-focused formulations' adds the least:</a:t>
            </a:r>
          </a:p>
        </p:txBody>
      </p:sp>
      <p:pic>
        <p:nvPicPr>
          <p:cNvPr id="47" name="Picture 46" descr="lock.png"/>
          <p:cNvPicPr>
            <a:picLocks noChangeAspect="1"/>
          </p:cNvPicPr>
          <p:nvPr/>
        </p:nvPicPr>
        <p:blipFill>
          <a:blip r:embed="rId7"/>
          <a:stretch>
            <a:fillRect/>
          </a:stretch>
        </p:blipFill>
        <p:spPr>
          <a:xfrm>
            <a:off x="9590500" y="5362638"/>
            <a:ext cx="134549" cy="195707"/>
          </a:xfrm>
          <a:prstGeom prst="rect">
            <a:avLst/>
          </a:prstGeom>
        </p:spPr>
      </p:pic>
      <p:sp>
        <p:nvSpPr>
          <p:cNvPr id="48" name="TextBox 47"/>
          <p:cNvSpPr txBox="1"/>
          <p:nvPr/>
        </p:nvSpPr>
        <p:spPr>
          <a:xfrm>
            <a:off x="9765609" y="5372861"/>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9" name="Picture 48" descr="lock.png"/>
          <p:cNvPicPr>
            <a:picLocks noChangeAspect="1"/>
          </p:cNvPicPr>
          <p:nvPr/>
        </p:nvPicPr>
        <p:blipFill>
          <a:blip r:embed="rId7"/>
          <a:stretch>
            <a:fillRect/>
          </a:stretch>
        </p:blipFill>
        <p:spPr>
          <a:xfrm>
            <a:off x="10338080" y="5362638"/>
            <a:ext cx="134549" cy="195707"/>
          </a:xfrm>
          <a:prstGeom prst="rect">
            <a:avLst/>
          </a:prstGeom>
        </p:spPr>
      </p:pic>
      <p:sp>
        <p:nvSpPr>
          <p:cNvPr id="50" name="TextBox 49"/>
          <p:cNvSpPr txBox="1"/>
          <p:nvPr/>
        </p:nvSpPr>
        <p:spPr>
          <a:xfrm>
            <a:off x="10513189" y="5372861"/>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1"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Nutritional Positioning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Nutritional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Nutritional Positioning (MT)</a:t>
            </a:r>
          </a:p>
        </p:txBody>
      </p:sp>
      <p:graphicFrame>
        <p:nvGraphicFramePr>
          <p:cNvPr id="13" name="Table 12"/>
          <p:cNvGraphicFramePr>
            <a:graphicFrameLocks noGrp="1"/>
          </p:cNvGraphicFramePr>
          <p:nvPr/>
        </p:nvGraphicFramePr>
        <p:xfrm>
          <a:off x="152400" y="1238250"/>
          <a:ext cx="11887208" cy="2609850"/>
        </p:xfrm>
        <a:graphic>
          <a:graphicData uri="http://schemas.openxmlformats.org/drawingml/2006/table">
            <a:tbl>
              <a:tblPr>
                <a:tableStyleId>{5C22544A-7EE6-4342-B048-85BDC9FD1C3A}</a:tableStyleId>
              </a:tblPr>
              <a:tblGrid>
                <a:gridCol w="2012457"/>
                <a:gridCol w="530662"/>
                <a:gridCol w="530662"/>
                <a:gridCol w="530662"/>
                <a:gridCol w="530662"/>
                <a:gridCol w="530662"/>
                <a:gridCol w="530662"/>
                <a:gridCol w="530662"/>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Nutritional Positioning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269">
                <a:tc>
                  <a:txBody>
                    <a:bodyPr wrap="none"/>
                    <a:lstStyle/>
                    <a:p>
                      <a:pPr algn="l"/>
                      <a:r>
                        <a:rPr sz="1100" b="1">
                          <a:solidFill>
                            <a:srgbClr val="2E2E2E"/>
                          </a:solidFill>
                          <a:latin typeface="Calibri"/>
                        </a:rPr>
                        <a:t>Standard / indulgent</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269">
                <a:tc>
                  <a:txBody>
                    <a:bodyPr wrap="none"/>
                    <a:lstStyle/>
                    <a:p>
                      <a:pPr algn="l"/>
                      <a:r>
                        <a:rPr sz="1100" b="1">
                          <a:solidFill>
                            <a:srgbClr val="2E2E2E"/>
                          </a:solidFill>
                          <a:latin typeface="Calibri"/>
                        </a:rPr>
                        <a:t>Protein-enriched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269">
                <a:tc>
                  <a:txBody>
                    <a:bodyPr wrap="none"/>
                    <a:lstStyle/>
                    <a:p>
                      <a:pPr algn="l"/>
                      <a:r>
                        <a:rPr sz="1100" b="1">
                          <a:solidFill>
                            <a:srgbClr val="2E2E2E"/>
                          </a:solidFill>
                          <a:latin typeface="Calibri"/>
                        </a:rPr>
                        <a:t>Fibre-enriched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269">
                <a:tc>
                  <a:txBody>
                    <a:bodyPr wrap="none"/>
                    <a:lstStyle/>
                    <a:p>
                      <a:pPr algn="l"/>
                      <a:r>
                        <a:rPr sz="1100" b="1">
                          <a:solidFill>
                            <a:srgbClr val="2E2E2E"/>
                          </a:solidFill>
                          <a:latin typeface="Calibri"/>
                        </a:rPr>
                        <a:t>Reduced-sugar</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269">
                <a:tc>
                  <a:txBody>
                    <a:bodyPr wrap="none"/>
                    <a:lstStyle/>
                    <a:p>
                      <a:pPr algn="l"/>
                      <a:r>
                        <a:rPr sz="1100" b="1">
                          <a:solidFill>
                            <a:srgbClr val="2E2E2E"/>
                          </a:solidFill>
                          <a:latin typeface="Calibri"/>
                        </a:rPr>
                        <a:t>No-added-sugar</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269">
                <a:tc>
                  <a:txBody>
                    <a:bodyPr wrap="none"/>
                    <a:lstStyle/>
                    <a:p>
                      <a:pPr algn="l"/>
                      <a:r>
                        <a:rPr sz="1100" b="1">
                          <a:solidFill>
                            <a:srgbClr val="2E2E2E"/>
                          </a:solidFill>
                          <a:latin typeface="Calibri"/>
                        </a:rPr>
                        <a:t>Reduced-fat</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40055">
                <a:tc>
                  <a:txBody>
                    <a:bodyPr wrap="none"/>
                    <a:lstStyle/>
                    <a:p>
                      <a:pPr algn="l"/>
                      <a:r>
                        <a:rPr sz="1100" b="1">
                          <a:solidFill>
                            <a:srgbClr val="2E2E2E"/>
                          </a:solidFill>
                          <a:latin typeface="Calibri"/>
                        </a:rPr>
                        <a:t>Other nutrition-focused</a:t>
                      </a:r>
                      <a:endParaRPr sz="1100"/>
                    </a:p>
                    <a:p>
                      <a:pPr algn="l"/>
                      <a:r>
                        <a:rPr sz="1100" b="1">
                          <a:solidFill>
                            <a:srgbClr val="2E2E2E"/>
                          </a:solidFill>
                          <a:latin typeface="Calibri"/>
                        </a:rPr>
                        <a:t>formulations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269">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576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91000"/>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767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Nutritional Positioning</a:t>
            </a:r>
          </a:p>
        </p:txBody>
      </p:sp>
      <p:sp>
        <p:nvSpPr>
          <p:cNvPr id="17" name="Rectangle 16"/>
          <p:cNvSpPr/>
          <p:nvPr/>
        </p:nvSpPr>
        <p:spPr>
          <a:xfrm>
            <a:off x="276225" y="4514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00575"/>
            <a:ext cx="11639550" cy="1952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15542" y="2495931"/>
            <a:ext cx="366712" cy="533400"/>
          </a:xfrm>
          <a:prstGeom prst="rect">
            <a:avLst/>
          </a:prstGeom>
        </p:spPr>
      </p:pic>
      <p:sp>
        <p:nvSpPr>
          <p:cNvPr id="21" name="TextBox 20"/>
          <p:cNvSpPr txBox="1"/>
          <p:nvPr/>
        </p:nvSpPr>
        <p:spPr>
          <a:xfrm>
            <a:off x="276225" y="4610100"/>
            <a:ext cx="3524634" cy="194310"/>
          </a:xfrm>
          <a:prstGeom prst="rect">
            <a:avLst/>
          </a:prstGeom>
          <a:noFill/>
        </p:spPr>
        <p:txBody>
          <a:bodyPr wrap="none" lIns="0" rIns="0" tIns="0" bIns="0">
            <a:spAutoFit/>
          </a:bodyPr>
          <a:lstStyle/>
          <a:p>
            <a:r>
              <a:rPr sz="1150" b="0">
                <a:solidFill>
                  <a:srgbClr val="2E2E2E"/>
                </a:solidFill>
                <a:latin typeface="Calibri"/>
              </a:rPr>
              <a:t>▪ 'Protein-enriched' is the largest nutritional positioning at</a:t>
            </a:r>
          </a:p>
        </p:txBody>
      </p:sp>
      <p:pic>
        <p:nvPicPr>
          <p:cNvPr id="22" name="Picture 21" descr="lock.png"/>
          <p:cNvPicPr>
            <a:picLocks noChangeAspect="1"/>
          </p:cNvPicPr>
          <p:nvPr/>
        </p:nvPicPr>
        <p:blipFill>
          <a:blip r:embed="rId4"/>
          <a:stretch>
            <a:fillRect/>
          </a:stretch>
        </p:blipFill>
        <p:spPr>
          <a:xfrm>
            <a:off x="3750013" y="4599876"/>
            <a:ext cx="134549" cy="195707"/>
          </a:xfrm>
          <a:prstGeom prst="rect">
            <a:avLst/>
          </a:prstGeom>
        </p:spPr>
      </p:pic>
      <p:sp>
        <p:nvSpPr>
          <p:cNvPr id="23" name="TextBox 22"/>
          <p:cNvSpPr txBox="1"/>
          <p:nvPr/>
        </p:nvSpPr>
        <p:spPr>
          <a:xfrm>
            <a:off x="3925122" y="46101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954855" y="4599876"/>
            <a:ext cx="134549" cy="195707"/>
          </a:xfrm>
          <a:prstGeom prst="rect">
            <a:avLst/>
          </a:prstGeom>
        </p:spPr>
      </p:pic>
      <p:sp>
        <p:nvSpPr>
          <p:cNvPr id="25" name="TextBox 24"/>
          <p:cNvSpPr txBox="1"/>
          <p:nvPr/>
        </p:nvSpPr>
        <p:spPr>
          <a:xfrm>
            <a:off x="5129964" y="46101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837938"/>
            <a:ext cx="1917513" cy="194310"/>
          </a:xfrm>
          <a:prstGeom prst="rect">
            <a:avLst/>
          </a:prstGeom>
          <a:noFill/>
        </p:spPr>
        <p:txBody>
          <a:bodyPr wrap="none" lIns="0" rIns="0" tIns="0" bIns="0">
            <a:spAutoFit/>
          </a:bodyPr>
          <a:lstStyle/>
          <a:p>
            <a:r>
              <a:rPr sz="1150" b="0">
                <a:solidFill>
                  <a:srgbClr val="2E2E2E"/>
                </a:solidFill>
                <a:latin typeface="Calibri"/>
              </a:rPr>
              <a:t>▪ 'Fibre-enriched' grows fastest</a:t>
            </a:r>
          </a:p>
        </p:txBody>
      </p:sp>
      <p:pic>
        <p:nvPicPr>
          <p:cNvPr id="27" name="Picture 26" descr="lock.png"/>
          <p:cNvPicPr>
            <a:picLocks noChangeAspect="1"/>
          </p:cNvPicPr>
          <p:nvPr/>
        </p:nvPicPr>
        <p:blipFill>
          <a:blip r:embed="rId4"/>
          <a:stretch>
            <a:fillRect/>
          </a:stretch>
        </p:blipFill>
        <p:spPr>
          <a:xfrm>
            <a:off x="2142892" y="4827714"/>
            <a:ext cx="134549" cy="195707"/>
          </a:xfrm>
          <a:prstGeom prst="rect">
            <a:avLst/>
          </a:prstGeom>
        </p:spPr>
      </p:pic>
      <p:sp>
        <p:nvSpPr>
          <p:cNvPr id="28" name="TextBox 27"/>
          <p:cNvSpPr txBox="1"/>
          <p:nvPr/>
        </p:nvSpPr>
        <p:spPr>
          <a:xfrm>
            <a:off x="2318002" y="483793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065775"/>
            <a:ext cx="2561332" cy="194310"/>
          </a:xfrm>
          <a:prstGeom prst="rect">
            <a:avLst/>
          </a:prstGeom>
          <a:noFill/>
        </p:spPr>
        <p:txBody>
          <a:bodyPr wrap="none" lIns="0" rIns="0" tIns="0" bIns="0">
            <a:spAutoFit/>
          </a:bodyPr>
          <a:lstStyle/>
          <a:p>
            <a:r>
              <a:rPr sz="1150" b="0">
                <a:solidFill>
                  <a:srgbClr val="2E2E2E"/>
                </a:solidFill>
                <a:latin typeface="Calibri"/>
              </a:rPr>
              <a:t>▪ Share shifts toward 'Protein-enriched' (+</a:t>
            </a:r>
          </a:p>
        </p:txBody>
      </p:sp>
      <p:pic>
        <p:nvPicPr>
          <p:cNvPr id="30" name="Picture 29" descr="lock.png"/>
          <p:cNvPicPr>
            <a:picLocks noChangeAspect="1"/>
          </p:cNvPicPr>
          <p:nvPr/>
        </p:nvPicPr>
        <p:blipFill>
          <a:blip r:embed="rId4"/>
          <a:stretch>
            <a:fillRect/>
          </a:stretch>
        </p:blipFill>
        <p:spPr>
          <a:xfrm>
            <a:off x="2786710" y="5055552"/>
            <a:ext cx="134549" cy="195707"/>
          </a:xfrm>
          <a:prstGeom prst="rect">
            <a:avLst/>
          </a:prstGeom>
        </p:spPr>
      </p:pic>
      <p:sp>
        <p:nvSpPr>
          <p:cNvPr id="31" name="TextBox 30"/>
          <p:cNvSpPr txBox="1"/>
          <p:nvPr/>
        </p:nvSpPr>
        <p:spPr>
          <a:xfrm>
            <a:off x="2961820" y="5065775"/>
            <a:ext cx="3695216" cy="194310"/>
          </a:xfrm>
          <a:prstGeom prst="rect">
            <a:avLst/>
          </a:prstGeom>
          <a:noFill/>
        </p:spPr>
        <p:txBody>
          <a:bodyPr wrap="none" lIns="0" rIns="0" tIns="0" bIns="0">
            <a:spAutoFit/>
          </a:bodyPr>
          <a:lstStyle/>
          <a:p>
            <a:r>
              <a:rPr sz="1150" b="0">
                <a:solidFill>
                  <a:srgbClr val="2E2E2E"/>
                </a:solidFill>
                <a:latin typeface="Calibri"/>
              </a:rPr>
              <a:t>BPS) and away from 'Other nutrition-focused formulations' (-</a:t>
            </a:r>
          </a:p>
        </p:txBody>
      </p:sp>
      <p:pic>
        <p:nvPicPr>
          <p:cNvPr id="32" name="Picture 31" descr="lock.png"/>
          <p:cNvPicPr>
            <a:picLocks noChangeAspect="1"/>
          </p:cNvPicPr>
          <p:nvPr/>
        </p:nvPicPr>
        <p:blipFill>
          <a:blip r:embed="rId4"/>
          <a:stretch>
            <a:fillRect/>
          </a:stretch>
        </p:blipFill>
        <p:spPr>
          <a:xfrm>
            <a:off x="6606190" y="5055552"/>
            <a:ext cx="134549" cy="195707"/>
          </a:xfrm>
          <a:prstGeom prst="rect">
            <a:avLst/>
          </a:prstGeom>
        </p:spPr>
      </p:pic>
      <p:sp>
        <p:nvSpPr>
          <p:cNvPr id="33" name="TextBox 32"/>
          <p:cNvSpPr txBox="1"/>
          <p:nvPr/>
        </p:nvSpPr>
        <p:spPr>
          <a:xfrm>
            <a:off x="6781299" y="50657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2936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283390"/>
            <a:ext cx="134549" cy="195707"/>
          </a:xfrm>
          <a:prstGeom prst="rect">
            <a:avLst/>
          </a:prstGeom>
        </p:spPr>
      </p:pic>
      <p:sp>
        <p:nvSpPr>
          <p:cNvPr id="36" name="TextBox 35"/>
          <p:cNvSpPr txBox="1"/>
          <p:nvPr/>
        </p:nvSpPr>
        <p:spPr>
          <a:xfrm>
            <a:off x="1965143" y="52936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283390"/>
            <a:ext cx="134549" cy="195707"/>
          </a:xfrm>
          <a:prstGeom prst="rect">
            <a:avLst/>
          </a:prstGeom>
        </p:spPr>
      </p:pic>
      <p:sp>
        <p:nvSpPr>
          <p:cNvPr id="38" name="TextBox 37"/>
          <p:cNvSpPr txBox="1"/>
          <p:nvPr/>
        </p:nvSpPr>
        <p:spPr>
          <a:xfrm>
            <a:off x="2291688" y="5293613"/>
            <a:ext cx="1470521" cy="194310"/>
          </a:xfrm>
          <a:prstGeom prst="rect">
            <a:avLst/>
          </a:prstGeom>
          <a:noFill/>
        </p:spPr>
        <p:txBody>
          <a:bodyPr wrap="none" lIns="0" rIns="0" tIns="0" bIns="0">
            <a:spAutoFit/>
          </a:bodyPr>
          <a:lstStyle/>
          <a:p>
            <a:r>
              <a:rPr sz="1150" b="0">
                <a:solidFill>
                  <a:srgbClr val="2E2E2E"/>
                </a:solidFill>
                <a:latin typeface="Calibri"/>
              </a:rPr>
              <a:t>MT across 7 categories.</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Nutritional Positioning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Nutritional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Nutritional Positioning (US$ Mn)</a:t>
            </a:r>
          </a:p>
        </p:txBody>
      </p:sp>
      <p:graphicFrame>
        <p:nvGraphicFramePr>
          <p:cNvPr id="13" name="Table 12"/>
          <p:cNvGraphicFramePr>
            <a:graphicFrameLocks noGrp="1"/>
          </p:cNvGraphicFramePr>
          <p:nvPr/>
        </p:nvGraphicFramePr>
        <p:xfrm>
          <a:off x="152400" y="1238250"/>
          <a:ext cx="11887203" cy="2219326"/>
        </p:xfrm>
        <a:graphic>
          <a:graphicData uri="http://schemas.openxmlformats.org/drawingml/2006/table">
            <a:tbl>
              <a:tblPr>
                <a:tableStyleId>{5C22544A-7EE6-4342-B048-85BDC9FD1C3A}</a:tableStyleId>
              </a:tblPr>
              <a:tblGrid>
                <a:gridCol w="2374428"/>
                <a:gridCol w="559575"/>
                <a:gridCol w="559575"/>
                <a:gridCol w="559575"/>
                <a:gridCol w="559575"/>
                <a:gridCol w="559575"/>
                <a:gridCol w="559575"/>
                <a:gridCol w="559575"/>
                <a:gridCol w="559575"/>
                <a:gridCol w="559575"/>
                <a:gridCol w="559575"/>
                <a:gridCol w="559575"/>
                <a:gridCol w="559575"/>
                <a:gridCol w="559575"/>
                <a:gridCol w="559575"/>
                <a:gridCol w="559575"/>
                <a:gridCol w="559575"/>
                <a:gridCol w="559575"/>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Nutritional Positioning</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96525" y="2204276"/>
            <a:ext cx="366712" cy="533400"/>
          </a:xfrm>
          <a:prstGeom prst="rect">
            <a:avLst/>
          </a:prstGeom>
        </p:spPr>
      </p:pic>
      <p:sp>
        <p:nvSpPr>
          <p:cNvPr id="21" name="TextBox 20"/>
          <p:cNvSpPr txBox="1"/>
          <p:nvPr/>
        </p:nvSpPr>
        <p:spPr>
          <a:xfrm>
            <a:off x="276225" y="4219575"/>
            <a:ext cx="3524634" cy="194310"/>
          </a:xfrm>
          <a:prstGeom prst="rect">
            <a:avLst/>
          </a:prstGeom>
          <a:noFill/>
        </p:spPr>
        <p:txBody>
          <a:bodyPr wrap="none" lIns="0" rIns="0" tIns="0" bIns="0">
            <a:spAutoFit/>
          </a:bodyPr>
          <a:lstStyle/>
          <a:p>
            <a:r>
              <a:rPr sz="1150" b="0">
                <a:solidFill>
                  <a:srgbClr val="2E2E2E"/>
                </a:solidFill>
                <a:latin typeface="Calibri"/>
              </a:rPr>
              <a:t>▪ 'Protein-enriched' is the largest nutritional positioning at</a:t>
            </a:r>
          </a:p>
        </p:txBody>
      </p:sp>
      <p:pic>
        <p:nvPicPr>
          <p:cNvPr id="22" name="Picture 21" descr="lock.png"/>
          <p:cNvPicPr>
            <a:picLocks noChangeAspect="1"/>
          </p:cNvPicPr>
          <p:nvPr/>
        </p:nvPicPr>
        <p:blipFill>
          <a:blip r:embed="rId4"/>
          <a:stretch>
            <a:fillRect/>
          </a:stretch>
        </p:blipFill>
        <p:spPr>
          <a:xfrm>
            <a:off x="3750013" y="4209351"/>
            <a:ext cx="134549" cy="195707"/>
          </a:xfrm>
          <a:prstGeom prst="rect">
            <a:avLst/>
          </a:prstGeom>
        </p:spPr>
      </p:pic>
      <p:sp>
        <p:nvSpPr>
          <p:cNvPr id="23" name="TextBox 22"/>
          <p:cNvSpPr txBox="1"/>
          <p:nvPr/>
        </p:nvSpPr>
        <p:spPr>
          <a:xfrm>
            <a:off x="3925122" y="421957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831055" y="4209351"/>
            <a:ext cx="134549" cy="195707"/>
          </a:xfrm>
          <a:prstGeom prst="rect">
            <a:avLst/>
          </a:prstGeom>
        </p:spPr>
      </p:pic>
      <p:sp>
        <p:nvSpPr>
          <p:cNvPr id="25" name="TextBox 24"/>
          <p:cNvSpPr txBox="1"/>
          <p:nvPr/>
        </p:nvSpPr>
        <p:spPr>
          <a:xfrm>
            <a:off x="5006164" y="421957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447413"/>
            <a:ext cx="1917513" cy="194310"/>
          </a:xfrm>
          <a:prstGeom prst="rect">
            <a:avLst/>
          </a:prstGeom>
          <a:noFill/>
        </p:spPr>
        <p:txBody>
          <a:bodyPr wrap="none" lIns="0" rIns="0" tIns="0" bIns="0">
            <a:spAutoFit/>
          </a:bodyPr>
          <a:lstStyle/>
          <a:p>
            <a:r>
              <a:rPr sz="1150" b="0">
                <a:solidFill>
                  <a:srgbClr val="2E2E2E"/>
                </a:solidFill>
                <a:latin typeface="Calibri"/>
              </a:rPr>
              <a:t>▪ 'Fibre-enriched' grows fastest</a:t>
            </a:r>
          </a:p>
        </p:txBody>
      </p:sp>
      <p:pic>
        <p:nvPicPr>
          <p:cNvPr id="27" name="Picture 26" descr="lock.png"/>
          <p:cNvPicPr>
            <a:picLocks noChangeAspect="1"/>
          </p:cNvPicPr>
          <p:nvPr/>
        </p:nvPicPr>
        <p:blipFill>
          <a:blip r:embed="rId4"/>
          <a:stretch>
            <a:fillRect/>
          </a:stretch>
        </p:blipFill>
        <p:spPr>
          <a:xfrm>
            <a:off x="2142892" y="4437189"/>
            <a:ext cx="134549" cy="195707"/>
          </a:xfrm>
          <a:prstGeom prst="rect">
            <a:avLst/>
          </a:prstGeom>
        </p:spPr>
      </p:pic>
      <p:sp>
        <p:nvSpPr>
          <p:cNvPr id="28" name="TextBox 27"/>
          <p:cNvSpPr txBox="1"/>
          <p:nvPr/>
        </p:nvSpPr>
        <p:spPr>
          <a:xfrm>
            <a:off x="2318002" y="444741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675250"/>
            <a:ext cx="2561332" cy="194310"/>
          </a:xfrm>
          <a:prstGeom prst="rect">
            <a:avLst/>
          </a:prstGeom>
          <a:noFill/>
        </p:spPr>
        <p:txBody>
          <a:bodyPr wrap="none" lIns="0" rIns="0" tIns="0" bIns="0">
            <a:spAutoFit/>
          </a:bodyPr>
          <a:lstStyle/>
          <a:p>
            <a:r>
              <a:rPr sz="1150" b="0">
                <a:solidFill>
                  <a:srgbClr val="2E2E2E"/>
                </a:solidFill>
                <a:latin typeface="Calibri"/>
              </a:rPr>
              <a:t>▪ Share shifts toward 'Protein-enriched' (+</a:t>
            </a:r>
          </a:p>
        </p:txBody>
      </p:sp>
      <p:pic>
        <p:nvPicPr>
          <p:cNvPr id="30" name="Picture 29" descr="lock.png"/>
          <p:cNvPicPr>
            <a:picLocks noChangeAspect="1"/>
          </p:cNvPicPr>
          <p:nvPr/>
        </p:nvPicPr>
        <p:blipFill>
          <a:blip r:embed="rId4"/>
          <a:stretch>
            <a:fillRect/>
          </a:stretch>
        </p:blipFill>
        <p:spPr>
          <a:xfrm>
            <a:off x="2786710" y="4665027"/>
            <a:ext cx="134549" cy="195707"/>
          </a:xfrm>
          <a:prstGeom prst="rect">
            <a:avLst/>
          </a:prstGeom>
        </p:spPr>
      </p:pic>
      <p:sp>
        <p:nvSpPr>
          <p:cNvPr id="31" name="TextBox 30"/>
          <p:cNvSpPr txBox="1"/>
          <p:nvPr/>
        </p:nvSpPr>
        <p:spPr>
          <a:xfrm>
            <a:off x="2961820" y="4675250"/>
            <a:ext cx="3695216" cy="194310"/>
          </a:xfrm>
          <a:prstGeom prst="rect">
            <a:avLst/>
          </a:prstGeom>
          <a:noFill/>
        </p:spPr>
        <p:txBody>
          <a:bodyPr wrap="none" lIns="0" rIns="0" tIns="0" bIns="0">
            <a:spAutoFit/>
          </a:bodyPr>
          <a:lstStyle/>
          <a:p>
            <a:r>
              <a:rPr sz="1150" b="0">
                <a:solidFill>
                  <a:srgbClr val="2E2E2E"/>
                </a:solidFill>
                <a:latin typeface="Calibri"/>
              </a:rPr>
              <a:t>BPS) and away from 'Other nutrition-focused formulations' (-</a:t>
            </a:r>
          </a:p>
        </p:txBody>
      </p:sp>
      <p:pic>
        <p:nvPicPr>
          <p:cNvPr id="32" name="Picture 31" descr="lock.png"/>
          <p:cNvPicPr>
            <a:picLocks noChangeAspect="1"/>
          </p:cNvPicPr>
          <p:nvPr/>
        </p:nvPicPr>
        <p:blipFill>
          <a:blip r:embed="rId4"/>
          <a:stretch>
            <a:fillRect/>
          </a:stretch>
        </p:blipFill>
        <p:spPr>
          <a:xfrm>
            <a:off x="6606190" y="4665027"/>
            <a:ext cx="134549" cy="195707"/>
          </a:xfrm>
          <a:prstGeom prst="rect">
            <a:avLst/>
          </a:prstGeom>
        </p:spPr>
      </p:pic>
      <p:sp>
        <p:nvSpPr>
          <p:cNvPr id="33" name="TextBox 32"/>
          <p:cNvSpPr txBox="1"/>
          <p:nvPr/>
        </p:nvSpPr>
        <p:spPr>
          <a:xfrm>
            <a:off x="6781299" y="46752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90308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892865"/>
            <a:ext cx="134549" cy="195707"/>
          </a:xfrm>
          <a:prstGeom prst="rect">
            <a:avLst/>
          </a:prstGeom>
        </p:spPr>
      </p:pic>
      <p:sp>
        <p:nvSpPr>
          <p:cNvPr id="36" name="TextBox 35"/>
          <p:cNvSpPr txBox="1"/>
          <p:nvPr/>
        </p:nvSpPr>
        <p:spPr>
          <a:xfrm>
            <a:off x="1841342" y="49030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892865"/>
            <a:ext cx="134549" cy="195707"/>
          </a:xfrm>
          <a:prstGeom prst="rect">
            <a:avLst/>
          </a:prstGeom>
        </p:spPr>
      </p:pic>
      <p:sp>
        <p:nvSpPr>
          <p:cNvPr id="38" name="TextBox 37"/>
          <p:cNvSpPr txBox="1"/>
          <p:nvPr/>
        </p:nvSpPr>
        <p:spPr>
          <a:xfrm>
            <a:off x="2167888" y="4903088"/>
            <a:ext cx="1744079" cy="194310"/>
          </a:xfrm>
          <a:prstGeom prst="rect">
            <a:avLst/>
          </a:prstGeom>
          <a:noFill/>
        </p:spPr>
        <p:txBody>
          <a:bodyPr wrap="none" lIns="0" rIns="0" tIns="0" bIns="0">
            <a:spAutoFit/>
          </a:bodyPr>
          <a:lstStyle/>
          <a:p>
            <a:r>
              <a:rPr sz="1150" b="0">
                <a:solidFill>
                  <a:srgbClr val="2E2E2E"/>
                </a:solidFill>
                <a:latin typeface="Calibri"/>
              </a:rPr>
              <a:t>US$ Mn across 7 categories.</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Nutritional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Nutritional Positioning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Nutritional Positioning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60208"/>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5544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792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Fibre-enriched</a:t>
            </a:r>
          </a:p>
        </p:txBody>
      </p:sp>
      <p:sp>
        <p:nvSpPr>
          <p:cNvPr id="19" name="BPS Value 1"/>
          <p:cNvSpPr txBox="1"/>
          <p:nvPr/>
        </p:nvSpPr>
        <p:spPr>
          <a:xfrm>
            <a:off x="6896100" y="174115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022767"/>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180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418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No-added-sugar</a:t>
            </a:r>
          </a:p>
        </p:txBody>
      </p:sp>
      <p:sp>
        <p:nvSpPr>
          <p:cNvPr id="23" name="BPS Value 2"/>
          <p:cNvSpPr txBox="1"/>
          <p:nvPr/>
        </p:nvSpPr>
        <p:spPr>
          <a:xfrm>
            <a:off x="6896100" y="200371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45638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45161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754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nutrition-focused formulations</a:t>
            </a:r>
          </a:p>
        </p:txBody>
      </p:sp>
      <p:sp>
        <p:nvSpPr>
          <p:cNvPr id="27" name="BPS Value 3"/>
          <p:cNvSpPr txBox="1"/>
          <p:nvPr/>
        </p:nvSpPr>
        <p:spPr>
          <a:xfrm>
            <a:off x="6896100" y="243733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303650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03174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5554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Reduced-fat</a:t>
            </a:r>
          </a:p>
        </p:txBody>
      </p:sp>
      <p:sp>
        <p:nvSpPr>
          <p:cNvPr id="31" name="BPS Value 4"/>
          <p:cNvSpPr txBox="1"/>
          <p:nvPr/>
        </p:nvSpPr>
        <p:spPr>
          <a:xfrm>
            <a:off x="6896100" y="301745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928997" y="377949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7747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6985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indulgent</a:t>
            </a:r>
          </a:p>
        </p:txBody>
      </p:sp>
      <p:sp>
        <p:nvSpPr>
          <p:cNvPr id="35" name="BPS Value 5"/>
          <p:cNvSpPr txBox="1"/>
          <p:nvPr/>
        </p:nvSpPr>
        <p:spPr>
          <a:xfrm>
            <a:off x="6896100" y="37604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66366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6589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5827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Reduced-sugar</a:t>
            </a:r>
          </a:p>
        </p:txBody>
      </p:sp>
      <p:sp>
        <p:nvSpPr>
          <p:cNvPr id="39" name="BPS Value 6"/>
          <p:cNvSpPr txBox="1"/>
          <p:nvPr/>
        </p:nvSpPr>
        <p:spPr>
          <a:xfrm>
            <a:off x="6896100" y="464461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FMI Legend Chip"/>
          <p:cNvSpPr/>
          <p:nvPr/>
        </p:nvSpPr>
        <p:spPr>
          <a:xfrm>
            <a:off x="4928997" y="568430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6795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6033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Protein-enriched</a:t>
            </a:r>
          </a:p>
        </p:txBody>
      </p:sp>
      <p:sp>
        <p:nvSpPr>
          <p:cNvPr id="43" name="BPS Value 7"/>
          <p:cNvSpPr txBox="1"/>
          <p:nvPr/>
        </p:nvSpPr>
        <p:spPr>
          <a:xfrm>
            <a:off x="6896100" y="566525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Nutritional Positioning</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5"/>
          <a:stretch>
            <a:fillRect/>
          </a:stretch>
        </p:blipFill>
        <p:spPr>
          <a:xfrm>
            <a:off x="2557843" y="3833622"/>
            <a:ext cx="275034" cy="400050"/>
          </a:xfrm>
          <a:prstGeom prst="rect">
            <a:avLst/>
          </a:prstGeom>
        </p:spPr>
      </p:pic>
      <p:sp>
        <p:nvSpPr>
          <p:cNvPr id="50" name="TextBox 49"/>
          <p:cNvSpPr txBox="1"/>
          <p:nvPr/>
        </p:nvSpPr>
        <p:spPr>
          <a:xfrm>
            <a:off x="7829550" y="1400175"/>
            <a:ext cx="2598415" cy="194310"/>
          </a:xfrm>
          <a:prstGeom prst="rect">
            <a:avLst/>
          </a:prstGeom>
          <a:noFill/>
        </p:spPr>
        <p:txBody>
          <a:bodyPr wrap="none" lIns="0" rIns="0" tIns="0" bIns="0">
            <a:spAutoFit/>
          </a:bodyPr>
          <a:lstStyle/>
          <a:p>
            <a:r>
              <a:rPr sz="1150" b="0">
                <a:solidFill>
                  <a:srgbClr val="2E2E2E"/>
                </a:solidFill>
                <a:latin typeface="Calibri"/>
              </a:rPr>
              <a:t>▪ 'Protein-enriched' gains the most share +</a:t>
            </a:r>
          </a:p>
        </p:txBody>
      </p:sp>
      <p:pic>
        <p:nvPicPr>
          <p:cNvPr id="51" name="Picture 50" descr="lock.png"/>
          <p:cNvPicPr>
            <a:picLocks noChangeAspect="1"/>
          </p:cNvPicPr>
          <p:nvPr/>
        </p:nvPicPr>
        <p:blipFill>
          <a:blip r:embed="rId5"/>
          <a:stretch>
            <a:fillRect/>
          </a:stretch>
        </p:blipFill>
        <p:spPr>
          <a:xfrm>
            <a:off x="10377118" y="1389951"/>
            <a:ext cx="134549" cy="195707"/>
          </a:xfrm>
          <a:prstGeom prst="rect">
            <a:avLst/>
          </a:prstGeom>
        </p:spPr>
      </p:pic>
      <p:sp>
        <p:nvSpPr>
          <p:cNvPr id="52" name="TextBox 51"/>
          <p:cNvSpPr txBox="1"/>
          <p:nvPr/>
        </p:nvSpPr>
        <p:spPr>
          <a:xfrm>
            <a:off x="10552228" y="1400175"/>
            <a:ext cx="1186408" cy="194310"/>
          </a:xfrm>
          <a:prstGeom prst="rect">
            <a:avLst/>
          </a:prstGeom>
          <a:noFill/>
        </p:spPr>
        <p:txBody>
          <a:bodyPr wrap="none" lIns="0" rIns="0" tIns="0" bIns="0">
            <a:spAutoFit/>
          </a:bodyPr>
          <a:lstStyle/>
          <a:p>
            <a:r>
              <a:rPr sz="1150" b="0">
                <a:solidFill>
                  <a:srgbClr val="2E2E2E"/>
                </a:solidFill>
                <a:latin typeface="Calibri"/>
              </a:rPr>
              <a:t>BPS between 2026</a:t>
            </a:r>
          </a:p>
        </p:txBody>
      </p:sp>
      <p:sp>
        <p:nvSpPr>
          <p:cNvPr id="53" name="TextBox 52"/>
          <p:cNvSpPr txBox="1"/>
          <p:nvPr/>
        </p:nvSpPr>
        <p:spPr>
          <a:xfrm>
            <a:off x="7829550" y="1575435"/>
            <a:ext cx="1983692" cy="194310"/>
          </a:xfrm>
          <a:prstGeom prst="rect">
            <a:avLst/>
          </a:prstGeom>
          <a:noFill/>
        </p:spPr>
        <p:txBody>
          <a:bodyPr wrap="none" lIns="0" rIns="0" tIns="0" bIns="0">
            <a:spAutoFit/>
          </a:bodyPr>
          <a:lstStyle/>
          <a:p>
            <a:r>
              <a:rPr sz="1150" b="0">
                <a:solidFill>
                  <a:srgbClr val="2E2E2E"/>
                </a:solidFill>
                <a:latin typeface="Calibri"/>
              </a:rPr>
              <a:t>and 2036 (</a:t>
            </a:r>
            <a:r>
              <a:rPr sz="1150" b="0">
                <a:solidFill>
                  <a:srgbClr val="2E7D32"/>
                </a:solidFill>
                <a:latin typeface="Calibri"/>
              </a:rPr>
              <a:t>green ▲</a:t>
            </a:r>
            <a:r>
              <a:rPr sz="1150" b="0">
                <a:solidFill>
                  <a:srgbClr val="2E2E2E"/>
                </a:solidFill>
                <a:latin typeface="Calibri"/>
              </a:rPr>
              <a:t> on the scale).</a:t>
            </a:r>
          </a:p>
        </p:txBody>
      </p:sp>
      <p:sp>
        <p:nvSpPr>
          <p:cNvPr id="54" name="TextBox 53"/>
          <p:cNvSpPr txBox="1"/>
          <p:nvPr/>
        </p:nvSpPr>
        <p:spPr>
          <a:xfrm>
            <a:off x="7829550" y="1803273"/>
            <a:ext cx="3452750" cy="194310"/>
          </a:xfrm>
          <a:prstGeom prst="rect">
            <a:avLst/>
          </a:prstGeom>
          <a:noFill/>
        </p:spPr>
        <p:txBody>
          <a:bodyPr wrap="none" lIns="0" rIns="0" tIns="0" bIns="0">
            <a:spAutoFit/>
          </a:bodyPr>
          <a:lstStyle/>
          <a:p>
            <a:r>
              <a:rPr sz="1150" b="0">
                <a:solidFill>
                  <a:srgbClr val="2E2E2E"/>
                </a:solidFill>
                <a:latin typeface="Calibri"/>
              </a:rPr>
              <a:t>▪ 'Other nutrition-focused formulations' cedes the most -</a:t>
            </a:r>
          </a:p>
        </p:txBody>
      </p:sp>
      <p:pic>
        <p:nvPicPr>
          <p:cNvPr id="55" name="Picture 54" descr="lock.png"/>
          <p:cNvPicPr>
            <a:picLocks noChangeAspect="1"/>
          </p:cNvPicPr>
          <p:nvPr/>
        </p:nvPicPr>
        <p:blipFill>
          <a:blip r:embed="rId5"/>
          <a:stretch>
            <a:fillRect/>
          </a:stretch>
        </p:blipFill>
        <p:spPr>
          <a:xfrm>
            <a:off x="11231454" y="1793049"/>
            <a:ext cx="134549" cy="195707"/>
          </a:xfrm>
          <a:prstGeom prst="rect">
            <a:avLst/>
          </a:prstGeom>
        </p:spPr>
      </p:pic>
      <p:sp>
        <p:nvSpPr>
          <p:cNvPr id="56" name="TextBox 55"/>
          <p:cNvSpPr txBox="1"/>
          <p:nvPr/>
        </p:nvSpPr>
        <p:spPr>
          <a:xfrm>
            <a:off x="11406563" y="180327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7" name="TextBox 56"/>
          <p:cNvSpPr txBox="1"/>
          <p:nvPr/>
        </p:nvSpPr>
        <p:spPr>
          <a:xfrm>
            <a:off x="7829550" y="1978533"/>
            <a:ext cx="1896119" cy="194310"/>
          </a:xfrm>
          <a:prstGeom prst="rect">
            <a:avLst/>
          </a:prstGeom>
          <a:noFill/>
        </p:spPr>
        <p:txBody>
          <a:bodyPr wrap="none" lIns="0" rIns="0" tIns="0" bIns="0">
            <a:spAutoFit/>
          </a:bodyPr>
          <a:lstStyle/>
          <a:p>
            <a:r>
              <a:rPr sz="1150" b="0">
                <a:solidFill>
                  <a:srgbClr val="2E2E2E"/>
                </a:solidFill>
                <a:latin typeface="Calibri"/>
              </a:rPr>
              <a:t>over the same window (</a:t>
            </a:r>
            <a:r>
              <a:rPr sz="1150" b="0">
                <a:solidFill>
                  <a:srgbClr val="E44D3A"/>
                </a:solidFill>
                <a:latin typeface="Calibri"/>
              </a:rPr>
              <a:t>red ▼</a:t>
            </a:r>
            <a:r>
              <a:rPr sz="1150" b="0">
                <a:solidFill>
                  <a:srgbClr val="2E2E2E"/>
                </a:solidFill>
                <a:latin typeface="Calibri"/>
              </a:rPr>
              <a:t>).</a:t>
            </a:r>
          </a:p>
        </p:txBody>
      </p:sp>
      <p:sp>
        <p:nvSpPr>
          <p:cNvPr id="58" name="TextBox 57"/>
          <p:cNvSpPr txBox="1"/>
          <p:nvPr/>
        </p:nvSpPr>
        <p:spPr>
          <a:xfrm>
            <a:off x="7829550" y="2206371"/>
            <a:ext cx="3912294" cy="194310"/>
          </a:xfrm>
          <a:prstGeom prst="rect">
            <a:avLst/>
          </a:prstGeom>
          <a:noFill/>
        </p:spPr>
        <p:txBody>
          <a:bodyPr wrap="none" lIns="0" rIns="0" tIns="0" bIns="0">
            <a:spAutoFit/>
          </a:bodyPr>
          <a:lstStyle/>
          <a:p>
            <a:r>
              <a:rPr sz="1150" b="0">
                <a:solidFill>
                  <a:srgbClr val="2E2E2E"/>
                </a:solidFill>
                <a:latin typeface="Calibri"/>
              </a:rPr>
              <a:t>▪ 'Fibre-enriched' is the fastest-growing nutritional positioning at</a:t>
            </a:r>
          </a:p>
        </p:txBody>
      </p:sp>
      <p:pic>
        <p:nvPicPr>
          <p:cNvPr id="59" name="Picture 58" descr="lock.png"/>
          <p:cNvPicPr>
            <a:picLocks noChangeAspect="1"/>
          </p:cNvPicPr>
          <p:nvPr/>
        </p:nvPicPr>
        <p:blipFill>
          <a:blip r:embed="rId5"/>
          <a:stretch>
            <a:fillRect/>
          </a:stretch>
        </p:blipFill>
        <p:spPr>
          <a:xfrm>
            <a:off x="7815470" y="2371407"/>
            <a:ext cx="134549" cy="195707"/>
          </a:xfrm>
          <a:prstGeom prst="rect">
            <a:avLst/>
          </a:prstGeom>
        </p:spPr>
      </p:pic>
      <p:sp>
        <p:nvSpPr>
          <p:cNvPr id="60" name="TextBox 59"/>
          <p:cNvSpPr txBox="1"/>
          <p:nvPr/>
        </p:nvSpPr>
        <p:spPr>
          <a:xfrm>
            <a:off x="799057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1" name="TextBox 6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62" name="Picture 61" descr="lock.png"/>
          <p:cNvPicPr>
            <a:picLocks noChangeAspect="1"/>
          </p:cNvPicPr>
          <p:nvPr/>
        </p:nvPicPr>
        <p:blipFill>
          <a:blip r:embed="rId5"/>
          <a:stretch>
            <a:fillRect/>
          </a:stretch>
        </p:blipFill>
        <p:spPr>
          <a:xfrm>
            <a:off x="9327669" y="2599245"/>
            <a:ext cx="134549" cy="195707"/>
          </a:xfrm>
          <a:prstGeom prst="rect">
            <a:avLst/>
          </a:prstGeom>
        </p:spPr>
      </p:pic>
      <p:sp>
        <p:nvSpPr>
          <p:cNvPr id="63" name="TextBox 6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4" name="Picture 63" descr="lock.png"/>
          <p:cNvPicPr>
            <a:picLocks noChangeAspect="1"/>
          </p:cNvPicPr>
          <p:nvPr/>
        </p:nvPicPr>
        <p:blipFill>
          <a:blip r:embed="rId5"/>
          <a:stretch>
            <a:fillRect/>
          </a:stretch>
        </p:blipFill>
        <p:spPr>
          <a:xfrm>
            <a:off x="9654215" y="2599245"/>
            <a:ext cx="134549" cy="195707"/>
          </a:xfrm>
          <a:prstGeom prst="rect">
            <a:avLst/>
          </a:prstGeom>
        </p:spPr>
      </p:pic>
      <p:sp>
        <p:nvSpPr>
          <p:cNvPr id="65" name="TextBox 6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66" name="TextBox 6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67" name="TextBox 6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6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Nutritional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Nutritional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Nutritional Positioning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sp>
        <p:nvSpPr>
          <p:cNvPr id="33" name="Rectangle 32"/>
          <p:cNvSpPr/>
          <p:nvPr/>
        </p:nvSpPr>
        <p:spPr>
          <a:xfrm>
            <a:off x="1857375" y="3981450"/>
            <a:ext cx="643890"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sp>
        <p:nvSpPr>
          <p:cNvPr id="49" name="Rectangle 48"/>
          <p:cNvSpPr/>
          <p:nvPr/>
        </p:nvSpPr>
        <p:spPr>
          <a:xfrm>
            <a:off x="185737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sp>
        <p:nvSpPr>
          <p:cNvPr id="65" name="Rectangle 64"/>
          <p:cNvSpPr/>
          <p:nvPr/>
        </p:nvSpPr>
        <p:spPr>
          <a:xfrm>
            <a:off x="1857375" y="4721679"/>
            <a:ext cx="643890" cy="37011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sp>
        <p:nvSpPr>
          <p:cNvPr id="81" name="Rectangle 80"/>
          <p:cNvSpPr/>
          <p:nvPr/>
        </p:nvSpPr>
        <p:spPr>
          <a:xfrm>
            <a:off x="1857375" y="5091793"/>
            <a:ext cx="643890" cy="37011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sp>
        <p:nvSpPr>
          <p:cNvPr id="97" name="Rectangle 96"/>
          <p:cNvSpPr/>
          <p:nvPr/>
        </p:nvSpPr>
        <p:spPr>
          <a:xfrm>
            <a:off x="1857375" y="5461907"/>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sp>
        <p:nvSpPr>
          <p:cNvPr id="113" name="Rectangle 112"/>
          <p:cNvSpPr/>
          <p:nvPr/>
        </p:nvSpPr>
        <p:spPr>
          <a:xfrm>
            <a:off x="185737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129" name="Rectangle 128"/>
          <p:cNvSpPr/>
          <p:nvPr/>
        </p:nvSpPr>
        <p:spPr>
          <a:xfrm>
            <a:off x="1857375" y="6202136"/>
            <a:ext cx="643890"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198768" y="2080450"/>
            <a:ext cx="366712" cy="533400"/>
          </a:xfrm>
          <a:prstGeom prst="rect">
            <a:avLst/>
          </a:prstGeom>
        </p:spPr>
      </p:pic>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Nutritional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Nutritional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Nutritional Positioning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sp>
        <p:nvSpPr>
          <p:cNvPr id="33" name="Rectangle 32"/>
          <p:cNvSpPr/>
          <p:nvPr/>
        </p:nvSpPr>
        <p:spPr>
          <a:xfrm>
            <a:off x="1857375" y="3981450"/>
            <a:ext cx="643890"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sp>
        <p:nvSpPr>
          <p:cNvPr id="49" name="Rectangle 48"/>
          <p:cNvSpPr/>
          <p:nvPr/>
        </p:nvSpPr>
        <p:spPr>
          <a:xfrm>
            <a:off x="185737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sp>
        <p:nvSpPr>
          <p:cNvPr id="65" name="Rectangle 64"/>
          <p:cNvSpPr/>
          <p:nvPr/>
        </p:nvSpPr>
        <p:spPr>
          <a:xfrm>
            <a:off x="1857375" y="4721679"/>
            <a:ext cx="643890" cy="37011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sp>
        <p:nvSpPr>
          <p:cNvPr id="81" name="Rectangle 80"/>
          <p:cNvSpPr/>
          <p:nvPr/>
        </p:nvSpPr>
        <p:spPr>
          <a:xfrm>
            <a:off x="1857375" y="5091793"/>
            <a:ext cx="643890" cy="37011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sp>
        <p:nvSpPr>
          <p:cNvPr id="97" name="Rectangle 96"/>
          <p:cNvSpPr/>
          <p:nvPr/>
        </p:nvSpPr>
        <p:spPr>
          <a:xfrm>
            <a:off x="1857375" y="5461907"/>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sp>
        <p:nvSpPr>
          <p:cNvPr id="113" name="Rectangle 112"/>
          <p:cNvSpPr/>
          <p:nvPr/>
        </p:nvSpPr>
        <p:spPr>
          <a:xfrm>
            <a:off x="185737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129" name="Rectangle 128"/>
          <p:cNvSpPr/>
          <p:nvPr/>
        </p:nvSpPr>
        <p:spPr>
          <a:xfrm>
            <a:off x="1857375" y="6202136"/>
            <a:ext cx="643890"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198768" y="2080450"/>
            <a:ext cx="366712" cy="533400"/>
          </a:xfrm>
          <a:prstGeom prst="rect">
            <a:avLst/>
          </a:prstGeom>
        </p:spPr>
      </p:pic>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Recipe and Ingredient Claims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Recipe and Ingredient Claims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Recipe and Ingredient Claims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Recipe and Ingredient Claims,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Recipe and Ingredient Claims segment categorizes the market by recipe and ingredient claims.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Additional claim mapping</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Organic-certified</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 non-organic</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Recipe and Ingredient Claims split shows how demand is distributed across recipe and ingredient claims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_955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4_540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4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576_5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732_3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2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66_0_605E5C.png"/>
          <p:cNvPicPr>
            <a:picLocks noChangeAspect="1"/>
          </p:cNvPicPr>
          <p:nvPr/>
        </p:nvPicPr>
        <p:blipFill>
          <a:blip r:embed="rId10"/>
          <a:stretch>
            <a:fillRect/>
          </a:stretch>
        </p:blipFill>
        <p:spPr>
          <a:xfrm>
            <a:off x="9748157" y="2286582"/>
            <a:ext cx="982436" cy="361950"/>
          </a:xfrm>
          <a:prstGeom prst="rect">
            <a:avLst/>
          </a:prstGeom>
        </p:spPr>
      </p:pic>
      <p:pic>
        <p:nvPicPr>
          <p:cNvPr id="64" name="Picture 63" descr="80_9_605E5C.png"/>
          <p:cNvPicPr>
            <a:picLocks noChangeAspect="1"/>
          </p:cNvPicPr>
          <p:nvPr/>
        </p:nvPicPr>
        <p:blipFill>
          <a:blip r:embed="rId11"/>
          <a:stretch>
            <a:fillRect/>
          </a:stretch>
        </p:blipFill>
        <p:spPr>
          <a:xfrm>
            <a:off x="9748157" y="2779432"/>
            <a:ext cx="982436" cy="361950"/>
          </a:xfrm>
          <a:prstGeom prst="rect">
            <a:avLst/>
          </a:prstGeom>
        </p:spPr>
      </p:pic>
      <p:pic>
        <p:nvPicPr>
          <p:cNvPr id="65" name="Picture 64" descr="2_1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'Additional claim mapping' holds the largest share</a:t>
            </a:r>
          </a:p>
        </p:txBody>
      </p:sp>
      <p:sp>
        <p:nvSpPr>
          <p:cNvPr id="70" name="TextBox 69"/>
          <p:cNvSpPr txBox="1"/>
          <p:nvPr/>
        </p:nvSpPr>
        <p:spPr>
          <a:xfrm>
            <a:off x="485775" y="4397077"/>
            <a:ext cx="497209" cy="186689"/>
          </a:xfrm>
          <a:prstGeom prst="rect">
            <a:avLst/>
          </a:prstGeom>
          <a:noFill/>
        </p:spPr>
        <p:txBody>
          <a:bodyPr wrap="none" lIns="0" rIns="0" tIns="0" bIns="0">
            <a:spAutoFit/>
          </a:bodyPr>
          <a:lstStyle/>
          <a:p>
            <a:r>
              <a:rPr sz="1100" b="0">
                <a:solidFill>
                  <a:srgbClr val="2E2E2E"/>
                </a:solidFill>
                <a:latin typeface="Calibri"/>
              </a:rPr>
              <a:t>in 2026</a:t>
            </a:r>
          </a:p>
        </p:txBody>
      </p:sp>
      <p:pic>
        <p:nvPicPr>
          <p:cNvPr id="71" name="Picture 70" descr="lock.png"/>
          <p:cNvPicPr>
            <a:picLocks noChangeAspect="1"/>
          </p:cNvPicPr>
          <p:nvPr/>
        </p:nvPicPr>
        <p:blipFill>
          <a:blip r:embed="rId13"/>
          <a:stretch>
            <a:fillRect/>
          </a:stretch>
        </p:blipFill>
        <p:spPr>
          <a:xfrm>
            <a:off x="931036" y="4387298"/>
            <a:ext cx="128699" cy="187198"/>
          </a:xfrm>
          <a:prstGeom prst="rect">
            <a:avLst/>
          </a:prstGeom>
        </p:spPr>
      </p:pic>
      <p:sp>
        <p:nvSpPr>
          <p:cNvPr id="72" name="TextBox 71"/>
          <p:cNvSpPr txBox="1"/>
          <p:nvPr/>
        </p:nvSpPr>
        <p:spPr>
          <a:xfrm>
            <a:off x="1098532"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3" name="TextBox 72"/>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'Additional claim mapping' is the fastest-growing</a:t>
            </a:r>
          </a:p>
        </p:txBody>
      </p:sp>
      <p:sp>
        <p:nvSpPr>
          <p:cNvPr id="74" name="TextBox 7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75" name="Picture 74" descr="lock.png"/>
          <p:cNvPicPr>
            <a:picLocks noChangeAspect="1"/>
          </p:cNvPicPr>
          <p:nvPr/>
        </p:nvPicPr>
        <p:blipFill>
          <a:blip r:embed="rId13"/>
          <a:stretch>
            <a:fillRect/>
          </a:stretch>
        </p:blipFill>
        <p:spPr>
          <a:xfrm>
            <a:off x="1391064" y="4772870"/>
            <a:ext cx="128699" cy="187198"/>
          </a:xfrm>
          <a:prstGeom prst="rect">
            <a:avLst/>
          </a:prstGeom>
        </p:spPr>
      </p:pic>
      <p:sp>
        <p:nvSpPr>
          <p:cNvPr id="76" name="TextBox 7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7" name="TextBox 7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8" name="Picture 77" descr="lock.png"/>
          <p:cNvPicPr>
            <a:picLocks noChangeAspect="1"/>
          </p:cNvPicPr>
          <p:nvPr/>
        </p:nvPicPr>
        <p:blipFill>
          <a:blip r:embed="rId13"/>
          <a:stretch>
            <a:fillRect/>
          </a:stretch>
        </p:blipFill>
        <p:spPr>
          <a:xfrm>
            <a:off x="2240451" y="4990801"/>
            <a:ext cx="128699" cy="187198"/>
          </a:xfrm>
          <a:prstGeom prst="rect">
            <a:avLst/>
          </a:prstGeom>
        </p:spPr>
      </p:pic>
      <p:sp>
        <p:nvSpPr>
          <p:cNvPr id="79" name="TextBox 7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0" name="Picture 79" descr="lock.png"/>
          <p:cNvPicPr>
            <a:picLocks noChangeAspect="1"/>
          </p:cNvPicPr>
          <p:nvPr/>
        </p:nvPicPr>
        <p:blipFill>
          <a:blip r:embed="rId13"/>
          <a:stretch>
            <a:fillRect/>
          </a:stretch>
        </p:blipFill>
        <p:spPr>
          <a:xfrm>
            <a:off x="2552799" y="4990801"/>
            <a:ext cx="128699" cy="187198"/>
          </a:xfrm>
          <a:prstGeom prst="rect">
            <a:avLst/>
          </a:prstGeom>
        </p:spPr>
      </p:pic>
      <p:sp>
        <p:nvSpPr>
          <p:cNvPr id="81" name="TextBox 8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2" name="TextBox 8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3" name="TextBox 82"/>
          <p:cNvSpPr txBox="1"/>
          <p:nvPr/>
        </p:nvSpPr>
        <p:spPr>
          <a:xfrm>
            <a:off x="485775" y="5386153"/>
            <a:ext cx="2422996" cy="186689"/>
          </a:xfrm>
          <a:prstGeom prst="rect">
            <a:avLst/>
          </a:prstGeom>
          <a:noFill/>
        </p:spPr>
        <p:txBody>
          <a:bodyPr wrap="none" lIns="0" rIns="0" tIns="0" bIns="0">
            <a:spAutoFit/>
          </a:bodyPr>
          <a:lstStyle/>
          <a:p>
            <a:r>
              <a:rPr sz="1100" b="0">
                <a:solidFill>
                  <a:srgbClr val="2E2E2E"/>
                </a:solidFill>
                <a:latin typeface="Calibri"/>
              </a:rPr>
              <a:t>▪ 3 sub-segments make up the recipe and</a:t>
            </a:r>
          </a:p>
        </p:txBody>
      </p:sp>
      <p:sp>
        <p:nvSpPr>
          <p:cNvPr id="84" name="TextBox 83"/>
          <p:cNvSpPr txBox="1"/>
          <p:nvPr/>
        </p:nvSpPr>
        <p:spPr>
          <a:xfrm>
            <a:off x="485775" y="5553793"/>
            <a:ext cx="1686024" cy="186689"/>
          </a:xfrm>
          <a:prstGeom prst="rect">
            <a:avLst/>
          </a:prstGeom>
          <a:noFill/>
        </p:spPr>
        <p:txBody>
          <a:bodyPr wrap="none" lIns="0" rIns="0" tIns="0" bIns="0">
            <a:spAutoFit/>
          </a:bodyPr>
          <a:lstStyle/>
          <a:p>
            <a:r>
              <a:rPr sz="1100" b="0">
                <a:solidFill>
                  <a:srgbClr val="2E2E2E"/>
                </a:solidFill>
                <a:latin typeface="Calibri"/>
              </a:rPr>
              <a:t>ingredient claims landscape.</a:t>
            </a:r>
          </a:p>
        </p:txBody>
      </p:sp>
      <p:sp>
        <p:nvSpPr>
          <p:cNvPr id="85" name="TextBox 84"/>
          <p:cNvSpPr txBox="1"/>
          <p:nvPr/>
        </p:nvSpPr>
        <p:spPr>
          <a:xfrm>
            <a:off x="3838575" y="4229437"/>
            <a:ext cx="1676474" cy="186689"/>
          </a:xfrm>
          <a:prstGeom prst="rect">
            <a:avLst/>
          </a:prstGeom>
          <a:noFill/>
        </p:spPr>
        <p:txBody>
          <a:bodyPr wrap="none" lIns="0" rIns="0" tIns="0" bIns="0">
            <a:spAutoFit/>
          </a:bodyPr>
          <a:lstStyle/>
          <a:p>
            <a:r>
              <a:rPr sz="1100" b="0">
                <a:solidFill>
                  <a:srgbClr val="2E2E2E"/>
                </a:solidFill>
                <a:latin typeface="Calibri"/>
              </a:rPr>
              <a:t>● Additional claim mapping:</a:t>
            </a:r>
          </a:p>
        </p:txBody>
      </p:sp>
      <p:pic>
        <p:nvPicPr>
          <p:cNvPr id="86" name="Picture 85" descr="lock.png"/>
          <p:cNvPicPr>
            <a:picLocks noChangeAspect="1"/>
          </p:cNvPicPr>
          <p:nvPr/>
        </p:nvPicPr>
        <p:blipFill>
          <a:blip r:embed="rId13"/>
          <a:stretch>
            <a:fillRect/>
          </a:stretch>
        </p:blipFill>
        <p:spPr>
          <a:xfrm>
            <a:off x="5463101" y="4219658"/>
            <a:ext cx="128699" cy="187198"/>
          </a:xfrm>
          <a:prstGeom prst="rect">
            <a:avLst/>
          </a:prstGeom>
        </p:spPr>
      </p:pic>
      <p:sp>
        <p:nvSpPr>
          <p:cNvPr id="87" name="TextBox 86"/>
          <p:cNvSpPr txBox="1"/>
          <p:nvPr/>
        </p:nvSpPr>
        <p:spPr>
          <a:xfrm>
            <a:off x="563059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8" name="Picture 87" descr="lock.png"/>
          <p:cNvPicPr>
            <a:picLocks noChangeAspect="1"/>
          </p:cNvPicPr>
          <p:nvPr/>
        </p:nvPicPr>
        <p:blipFill>
          <a:blip r:embed="rId13"/>
          <a:stretch>
            <a:fillRect/>
          </a:stretch>
        </p:blipFill>
        <p:spPr>
          <a:xfrm>
            <a:off x="6490047" y="4219658"/>
            <a:ext cx="128699" cy="187198"/>
          </a:xfrm>
          <a:prstGeom prst="rect">
            <a:avLst/>
          </a:prstGeom>
        </p:spPr>
      </p:pic>
      <p:sp>
        <p:nvSpPr>
          <p:cNvPr id="89" name="TextBox 88"/>
          <p:cNvSpPr txBox="1"/>
          <p:nvPr/>
        </p:nvSpPr>
        <p:spPr>
          <a:xfrm>
            <a:off x="665754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0" name="TextBox 89"/>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1" name="TextBox 90"/>
          <p:cNvSpPr txBox="1"/>
          <p:nvPr/>
        </p:nvSpPr>
        <p:spPr>
          <a:xfrm>
            <a:off x="3838575" y="4615009"/>
            <a:ext cx="1185614" cy="186689"/>
          </a:xfrm>
          <a:prstGeom prst="rect">
            <a:avLst/>
          </a:prstGeom>
          <a:noFill/>
        </p:spPr>
        <p:txBody>
          <a:bodyPr wrap="none" lIns="0" rIns="0" tIns="0" bIns="0">
            <a:spAutoFit/>
          </a:bodyPr>
          <a:lstStyle/>
          <a:p>
            <a:r>
              <a:rPr sz="1100" b="0">
                <a:solidFill>
                  <a:srgbClr val="2E2E2E"/>
                </a:solidFill>
                <a:latin typeface="Calibri"/>
              </a:rPr>
              <a:t>● Organic-certified:</a:t>
            </a:r>
          </a:p>
        </p:txBody>
      </p:sp>
      <p:pic>
        <p:nvPicPr>
          <p:cNvPr id="92" name="Picture 91" descr="lock.png"/>
          <p:cNvPicPr>
            <a:picLocks noChangeAspect="1"/>
          </p:cNvPicPr>
          <p:nvPr/>
        </p:nvPicPr>
        <p:blipFill>
          <a:blip r:embed="rId13"/>
          <a:stretch>
            <a:fillRect/>
          </a:stretch>
        </p:blipFill>
        <p:spPr>
          <a:xfrm>
            <a:off x="4972241" y="4605230"/>
            <a:ext cx="128699" cy="187198"/>
          </a:xfrm>
          <a:prstGeom prst="rect">
            <a:avLst/>
          </a:prstGeom>
        </p:spPr>
      </p:pic>
      <p:sp>
        <p:nvSpPr>
          <p:cNvPr id="93" name="TextBox 92"/>
          <p:cNvSpPr txBox="1"/>
          <p:nvPr/>
        </p:nvSpPr>
        <p:spPr>
          <a:xfrm>
            <a:off x="513973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999187" y="4605230"/>
            <a:ext cx="128699" cy="187198"/>
          </a:xfrm>
          <a:prstGeom prst="rect">
            <a:avLst/>
          </a:prstGeom>
        </p:spPr>
      </p:pic>
      <p:sp>
        <p:nvSpPr>
          <p:cNvPr id="95" name="TextBox 94"/>
          <p:cNvSpPr txBox="1"/>
          <p:nvPr/>
        </p:nvSpPr>
        <p:spPr>
          <a:xfrm>
            <a:off x="6166682"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6" name="TextBox 95"/>
          <p:cNvSpPr txBox="1"/>
          <p:nvPr/>
        </p:nvSpPr>
        <p:spPr>
          <a:xfrm>
            <a:off x="3838575" y="4832941"/>
            <a:ext cx="1782886" cy="186689"/>
          </a:xfrm>
          <a:prstGeom prst="rect">
            <a:avLst/>
          </a:prstGeom>
          <a:noFill/>
        </p:spPr>
        <p:txBody>
          <a:bodyPr wrap="none" lIns="0" rIns="0" tIns="0" bIns="0">
            <a:spAutoFit/>
          </a:bodyPr>
          <a:lstStyle/>
          <a:p>
            <a:r>
              <a:rPr sz="1100" b="0">
                <a:solidFill>
                  <a:srgbClr val="2E2E2E"/>
                </a:solidFill>
                <a:latin typeface="Calibri"/>
              </a:rPr>
              <a:t>● Conventional / non-organic:</a:t>
            </a:r>
          </a:p>
        </p:txBody>
      </p:sp>
      <p:pic>
        <p:nvPicPr>
          <p:cNvPr id="97" name="Picture 96" descr="lock.png"/>
          <p:cNvPicPr>
            <a:picLocks noChangeAspect="1"/>
          </p:cNvPicPr>
          <p:nvPr/>
        </p:nvPicPr>
        <p:blipFill>
          <a:blip r:embed="rId13"/>
          <a:stretch>
            <a:fillRect/>
          </a:stretch>
        </p:blipFill>
        <p:spPr>
          <a:xfrm>
            <a:off x="5569513" y="4823162"/>
            <a:ext cx="128699" cy="187198"/>
          </a:xfrm>
          <a:prstGeom prst="rect">
            <a:avLst/>
          </a:prstGeom>
        </p:spPr>
      </p:pic>
      <p:sp>
        <p:nvSpPr>
          <p:cNvPr id="98" name="TextBox 97"/>
          <p:cNvSpPr txBox="1"/>
          <p:nvPr/>
        </p:nvSpPr>
        <p:spPr>
          <a:xfrm>
            <a:off x="5737008"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596459" y="4823162"/>
            <a:ext cx="128699" cy="187198"/>
          </a:xfrm>
          <a:prstGeom prst="rect">
            <a:avLst/>
          </a:prstGeom>
        </p:spPr>
      </p:pic>
      <p:sp>
        <p:nvSpPr>
          <p:cNvPr id="100" name="TextBox 99"/>
          <p:cNvSpPr txBox="1"/>
          <p:nvPr/>
        </p:nvSpPr>
        <p:spPr>
          <a:xfrm>
            <a:off x="676395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1" name="TextBox 100"/>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2" name="TextBox 101"/>
          <p:cNvSpPr txBox="1"/>
          <p:nvPr/>
        </p:nvSpPr>
        <p:spPr>
          <a:xfrm>
            <a:off x="8524875" y="5856661"/>
            <a:ext cx="3129352" cy="180289"/>
          </a:xfrm>
          <a:prstGeom prst="rect">
            <a:avLst/>
          </a:prstGeom>
          <a:noFill/>
        </p:spPr>
        <p:txBody>
          <a:bodyPr wrap="none" lIns="0" rIns="0" tIns="0" bIns="0">
            <a:spAutoFit/>
          </a:bodyPr>
          <a:lstStyle/>
          <a:p>
            <a:r>
              <a:rPr sz="1057" b="1">
                <a:solidFill>
                  <a:srgbClr val="0B2E4A"/>
                </a:solidFill>
                <a:latin typeface="Calibri"/>
              </a:rPr>
              <a:t>The Recipe and Ingredient Claims segment is projected</a:t>
            </a:r>
          </a:p>
        </p:txBody>
      </p:sp>
      <p:sp>
        <p:nvSpPr>
          <p:cNvPr id="103" name="TextBox 102"/>
          <p:cNvSpPr txBox="1"/>
          <p:nvPr/>
        </p:nvSpPr>
        <p:spPr>
          <a:xfrm>
            <a:off x="8524875" y="6017901"/>
            <a:ext cx="1239018" cy="180289"/>
          </a:xfrm>
          <a:prstGeom prst="rect">
            <a:avLst/>
          </a:prstGeom>
          <a:noFill/>
        </p:spPr>
        <p:txBody>
          <a:bodyPr wrap="none" lIns="0" rIns="0" tIns="0" bIns="0">
            <a:spAutoFit/>
          </a:bodyPr>
          <a:lstStyle/>
          <a:p>
            <a:r>
              <a:rPr sz="1057" b="1">
                <a:solidFill>
                  <a:srgbClr val="0B2E4A"/>
                </a:solidFill>
                <a:latin typeface="Calibri"/>
              </a:rPr>
              <a:t>to grow at a CAGR of</a:t>
            </a:r>
          </a:p>
        </p:txBody>
      </p:sp>
      <p:pic>
        <p:nvPicPr>
          <p:cNvPr id="104" name="Picture 103" descr="lock.png"/>
          <p:cNvPicPr>
            <a:picLocks noChangeAspect="1"/>
          </p:cNvPicPr>
          <p:nvPr/>
        </p:nvPicPr>
        <p:blipFill>
          <a:blip r:embed="rId13"/>
          <a:stretch>
            <a:fillRect/>
          </a:stretch>
        </p:blipFill>
        <p:spPr>
          <a:xfrm>
            <a:off x="9711019" y="6008495"/>
            <a:ext cx="123784" cy="180050"/>
          </a:xfrm>
          <a:prstGeom prst="rect">
            <a:avLst/>
          </a:prstGeom>
        </p:spPr>
      </p:pic>
      <p:sp>
        <p:nvSpPr>
          <p:cNvPr id="105" name="TextBox 104"/>
          <p:cNvSpPr txBox="1"/>
          <p:nvPr/>
        </p:nvSpPr>
        <p:spPr>
          <a:xfrm>
            <a:off x="9872119" y="6017901"/>
            <a:ext cx="1140105" cy="180289"/>
          </a:xfrm>
          <a:prstGeom prst="rect">
            <a:avLst/>
          </a:prstGeom>
          <a:noFill/>
        </p:spPr>
        <p:txBody>
          <a:bodyPr wrap="none" lIns="0" rIns="0" tIns="0" bIns="0">
            <a:spAutoFit/>
          </a:bodyPr>
          <a:lstStyle/>
          <a:p>
            <a:r>
              <a:rPr sz="1057" b="1">
                <a:solidFill>
                  <a:srgbClr val="0B2E4A"/>
                </a:solidFill>
                <a:latin typeface="Calibri"/>
              </a:rPr>
              <a:t>from 2026 to 2036.</a:t>
            </a: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Recipe and Ingredient Claims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Recipe and Ingredient Claims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Recipe and Ingredient Claims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Recipe and Ingredient Claims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048647" cy="186689"/>
          </a:xfrm>
          <a:prstGeom prst="rect">
            <a:avLst/>
          </a:prstGeom>
          <a:noFill/>
        </p:spPr>
        <p:txBody>
          <a:bodyPr wrap="none" lIns="0" rIns="0" tIns="0" bIns="0">
            <a:spAutoFit/>
          </a:bodyPr>
          <a:lstStyle/>
          <a:p>
            <a:r>
              <a:rPr sz="1100" b="0">
                <a:solidFill>
                  <a:srgbClr val="2E2E2E"/>
                </a:solidFill>
                <a:latin typeface="Calibri"/>
              </a:rPr>
              <a:t>Between 2026 and 2036, 'Additional claim mapping' gains the most share in the North America market (+</a:t>
            </a:r>
          </a:p>
        </p:txBody>
      </p:sp>
      <p:pic>
        <p:nvPicPr>
          <p:cNvPr id="21" name="Picture 20" descr="lock.png"/>
          <p:cNvPicPr>
            <a:picLocks noChangeAspect="1"/>
          </p:cNvPicPr>
          <p:nvPr/>
        </p:nvPicPr>
        <p:blipFill>
          <a:blip r:embed="rId6"/>
          <a:stretch>
            <a:fillRect/>
          </a:stretch>
        </p:blipFill>
        <p:spPr>
          <a:xfrm>
            <a:off x="6253874" y="5851905"/>
            <a:ext cx="128699" cy="187198"/>
          </a:xfrm>
          <a:prstGeom prst="rect">
            <a:avLst/>
          </a:prstGeom>
        </p:spPr>
      </p:pic>
      <p:sp>
        <p:nvSpPr>
          <p:cNvPr id="22" name="TextBox 21"/>
          <p:cNvSpPr txBox="1"/>
          <p:nvPr/>
        </p:nvSpPr>
        <p:spPr>
          <a:xfrm>
            <a:off x="6421370" y="5861685"/>
            <a:ext cx="2077293" cy="186689"/>
          </a:xfrm>
          <a:prstGeom prst="rect">
            <a:avLst/>
          </a:prstGeom>
          <a:noFill/>
        </p:spPr>
        <p:txBody>
          <a:bodyPr wrap="none" lIns="0" rIns="0" tIns="0" bIns="0">
            <a:spAutoFit/>
          </a:bodyPr>
          <a:lstStyle/>
          <a:p>
            <a:r>
              <a:rPr sz="1100" b="0">
                <a:solidFill>
                  <a:srgbClr val="2E2E2E"/>
                </a:solidFill>
                <a:latin typeface="Calibri"/>
              </a:rPr>
              <a:t>BPS) while 'Organic-certified' cedes</a:t>
            </a:r>
          </a:p>
        </p:txBody>
      </p:sp>
      <p:pic>
        <p:nvPicPr>
          <p:cNvPr id="23" name="Picture 22" descr="lock.png"/>
          <p:cNvPicPr>
            <a:picLocks noChangeAspect="1"/>
          </p:cNvPicPr>
          <p:nvPr/>
        </p:nvPicPr>
        <p:blipFill>
          <a:blip r:embed="rId6"/>
          <a:stretch>
            <a:fillRect/>
          </a:stretch>
        </p:blipFill>
        <p:spPr>
          <a:xfrm>
            <a:off x="8446715" y="5851905"/>
            <a:ext cx="128699" cy="187198"/>
          </a:xfrm>
          <a:prstGeom prst="rect">
            <a:avLst/>
          </a:prstGeom>
        </p:spPr>
      </p:pic>
      <p:sp>
        <p:nvSpPr>
          <p:cNvPr id="24" name="TextBox 23"/>
          <p:cNvSpPr txBox="1"/>
          <p:nvPr/>
        </p:nvSpPr>
        <p:spPr>
          <a:xfrm>
            <a:off x="8614211" y="5861685"/>
            <a:ext cx="310210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a:t>
            </a:r>
          </a:p>
        </p:txBody>
      </p:sp>
      <p:sp>
        <p:nvSpPr>
          <p:cNvPr id="25" name="TextBox 24"/>
          <p:cNvSpPr txBox="1"/>
          <p:nvPr/>
        </p:nvSpPr>
        <p:spPr>
          <a:xfrm>
            <a:off x="257175" y="602932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Recipe and Ingredient Claims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Organic-certified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 / non-organic</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Additional claim mapping</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Recipe and Ingredient Claims</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923989" cy="194310"/>
          </a:xfrm>
          <a:prstGeom prst="rect">
            <a:avLst/>
          </a:prstGeom>
          <a:noFill/>
        </p:spPr>
        <p:txBody>
          <a:bodyPr wrap="none" lIns="0" rIns="0" tIns="0" bIns="0">
            <a:spAutoFit/>
          </a:bodyPr>
          <a:lstStyle/>
          <a:p>
            <a:r>
              <a:rPr sz="1150" b="0">
                <a:solidFill>
                  <a:srgbClr val="2E2E2E"/>
                </a:solidFill>
                <a:latin typeface="Calibri"/>
              </a:rPr>
              <a:t>▪ Across its 3 sub-segments, by recipe and ingredient claims adds</a:t>
            </a:r>
          </a:p>
        </p:txBody>
      </p:sp>
      <p:pic>
        <p:nvPicPr>
          <p:cNvPr id="29" name="Picture 28" descr="lock.png"/>
          <p:cNvPicPr>
            <a:picLocks noChangeAspect="1"/>
          </p:cNvPicPr>
          <p:nvPr/>
        </p:nvPicPr>
        <p:blipFill>
          <a:blip r:embed="rId7"/>
          <a:stretch>
            <a:fillRect/>
          </a:stretch>
        </p:blipFill>
        <p:spPr>
          <a:xfrm>
            <a:off x="10178693" y="4276026"/>
            <a:ext cx="134549" cy="195707"/>
          </a:xfrm>
          <a:prstGeom prst="rect">
            <a:avLst/>
          </a:prstGeom>
        </p:spPr>
      </p:pic>
      <p:sp>
        <p:nvSpPr>
          <p:cNvPr id="30" name="TextBox 29"/>
          <p:cNvSpPr txBox="1"/>
          <p:nvPr/>
        </p:nvSpPr>
        <p:spPr>
          <a:xfrm>
            <a:off x="10353803" y="4286250"/>
            <a:ext cx="1318195" cy="194310"/>
          </a:xfrm>
          <a:prstGeom prst="rect">
            <a:avLst/>
          </a:prstGeom>
          <a:noFill/>
        </p:spPr>
        <p:txBody>
          <a:bodyPr wrap="none" lIns="0" rIns="0" tIns="0" bIns="0">
            <a:spAutoFit/>
          </a:bodyPr>
          <a:lstStyle/>
          <a:p>
            <a:r>
              <a:rPr sz="1150" b="0">
                <a:solidFill>
                  <a:srgbClr val="2E2E2E"/>
                </a:solidFill>
                <a:latin typeface="Calibri"/>
              </a:rPr>
              <a:t>US$ Mn to the North</a:t>
            </a:r>
          </a:p>
        </p:txBody>
      </p:sp>
      <p:sp>
        <p:nvSpPr>
          <p:cNvPr id="31" name="TextBox 30"/>
          <p:cNvSpPr txBox="1"/>
          <p:nvPr/>
        </p:nvSpPr>
        <p:spPr>
          <a:xfrm>
            <a:off x="6305550" y="4461510"/>
            <a:ext cx="2536514" cy="194310"/>
          </a:xfrm>
          <a:prstGeom prst="rect">
            <a:avLst/>
          </a:prstGeom>
          <a:noFill/>
        </p:spPr>
        <p:txBody>
          <a:bodyPr wrap="none" lIns="0" rIns="0" tIns="0" bIns="0">
            <a:spAutoFit/>
          </a:bodyPr>
          <a:lstStyle/>
          <a:p>
            <a:r>
              <a:rPr sz="1150" b="0">
                <a:solidFill>
                  <a:srgbClr val="2E2E2E"/>
                </a:solidFill>
                <a:latin typeface="Calibri"/>
              </a:rPr>
              <a:t>America market between 2026 and 2036.</a:t>
            </a:r>
          </a:p>
        </p:txBody>
      </p:sp>
      <p:sp>
        <p:nvSpPr>
          <p:cNvPr id="32" name="TextBox 31"/>
          <p:cNvSpPr txBox="1"/>
          <p:nvPr/>
        </p:nvSpPr>
        <p:spPr>
          <a:xfrm>
            <a:off x="6305550" y="4689347"/>
            <a:ext cx="2051583" cy="194310"/>
          </a:xfrm>
          <a:prstGeom prst="rect">
            <a:avLst/>
          </a:prstGeom>
          <a:noFill/>
        </p:spPr>
        <p:txBody>
          <a:bodyPr wrap="none" lIns="0" rIns="0" tIns="0" bIns="0">
            <a:spAutoFit/>
          </a:bodyPr>
          <a:lstStyle/>
          <a:p>
            <a:r>
              <a:rPr sz="1150" b="0">
                <a:solidFill>
                  <a:srgbClr val="2E2E2E"/>
                </a:solidFill>
                <a:latin typeface="Calibri"/>
              </a:rPr>
              <a:t>▪ 'Additional claim mapping' adds</a:t>
            </a:r>
          </a:p>
        </p:txBody>
      </p:sp>
      <p:pic>
        <p:nvPicPr>
          <p:cNvPr id="33" name="Picture 32" descr="lock.png"/>
          <p:cNvPicPr>
            <a:picLocks noChangeAspect="1"/>
          </p:cNvPicPr>
          <p:nvPr/>
        </p:nvPicPr>
        <p:blipFill>
          <a:blip r:embed="rId7"/>
          <a:stretch>
            <a:fillRect/>
          </a:stretch>
        </p:blipFill>
        <p:spPr>
          <a:xfrm>
            <a:off x="8306287" y="4679124"/>
            <a:ext cx="134549" cy="195707"/>
          </a:xfrm>
          <a:prstGeom prst="rect">
            <a:avLst/>
          </a:prstGeom>
        </p:spPr>
      </p:pic>
      <p:sp>
        <p:nvSpPr>
          <p:cNvPr id="34" name="TextBox 33"/>
          <p:cNvSpPr txBox="1"/>
          <p:nvPr/>
        </p:nvSpPr>
        <p:spPr>
          <a:xfrm>
            <a:off x="8481396"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9053867" y="4679124"/>
            <a:ext cx="134549" cy="195707"/>
          </a:xfrm>
          <a:prstGeom prst="rect">
            <a:avLst/>
          </a:prstGeom>
        </p:spPr>
      </p:pic>
      <p:sp>
        <p:nvSpPr>
          <p:cNvPr id="36" name="TextBox 35"/>
          <p:cNvSpPr txBox="1"/>
          <p:nvPr/>
        </p:nvSpPr>
        <p:spPr>
          <a:xfrm>
            <a:off x="9228976"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538411" cy="194310"/>
          </a:xfrm>
          <a:prstGeom prst="rect">
            <a:avLst/>
          </a:prstGeom>
          <a:noFill/>
        </p:spPr>
        <p:txBody>
          <a:bodyPr wrap="none" lIns="0" rIns="0" tIns="0" bIns="0">
            <a:spAutoFit/>
          </a:bodyPr>
          <a:lstStyle/>
          <a:p>
            <a:r>
              <a:rPr sz="1150" b="0">
                <a:solidFill>
                  <a:srgbClr val="2E2E2E"/>
                </a:solidFill>
                <a:latin typeface="Calibri"/>
              </a:rPr>
              <a:t>▪ 'Organic-certified' adds</a:t>
            </a:r>
          </a:p>
        </p:txBody>
      </p:sp>
      <p:pic>
        <p:nvPicPr>
          <p:cNvPr id="38" name="Picture 37" descr="lock.png"/>
          <p:cNvPicPr>
            <a:picLocks noChangeAspect="1"/>
          </p:cNvPicPr>
          <p:nvPr/>
        </p:nvPicPr>
        <p:blipFill>
          <a:blip r:embed="rId7"/>
          <a:stretch>
            <a:fillRect/>
          </a:stretch>
        </p:blipFill>
        <p:spPr>
          <a:xfrm>
            <a:off x="7793115" y="4906962"/>
            <a:ext cx="134549" cy="195707"/>
          </a:xfrm>
          <a:prstGeom prst="rect">
            <a:avLst/>
          </a:prstGeom>
        </p:spPr>
      </p:pic>
      <p:sp>
        <p:nvSpPr>
          <p:cNvPr id="39" name="TextBox 38"/>
          <p:cNvSpPr txBox="1"/>
          <p:nvPr/>
        </p:nvSpPr>
        <p:spPr>
          <a:xfrm>
            <a:off x="7968224"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540695" y="4906962"/>
            <a:ext cx="134549" cy="195707"/>
          </a:xfrm>
          <a:prstGeom prst="rect">
            <a:avLst/>
          </a:prstGeom>
        </p:spPr>
      </p:pic>
      <p:sp>
        <p:nvSpPr>
          <p:cNvPr id="41" name="TextBox 40"/>
          <p:cNvSpPr txBox="1"/>
          <p:nvPr/>
        </p:nvSpPr>
        <p:spPr>
          <a:xfrm>
            <a:off x="8715804"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2162832" cy="194310"/>
          </a:xfrm>
          <a:prstGeom prst="rect">
            <a:avLst/>
          </a:prstGeom>
          <a:noFill/>
        </p:spPr>
        <p:txBody>
          <a:bodyPr wrap="none" lIns="0" rIns="0" tIns="0" bIns="0">
            <a:spAutoFit/>
          </a:bodyPr>
          <a:lstStyle/>
          <a:p>
            <a:r>
              <a:rPr sz="1150" b="0">
                <a:solidFill>
                  <a:srgbClr val="2E2E2E"/>
                </a:solidFill>
                <a:latin typeface="Calibri"/>
              </a:rPr>
              <a:t>▪ 'Conventional / non-organic' adds</a:t>
            </a:r>
          </a:p>
        </p:txBody>
      </p:sp>
      <p:pic>
        <p:nvPicPr>
          <p:cNvPr id="43" name="Picture 42" descr="lock.png"/>
          <p:cNvPicPr>
            <a:picLocks noChangeAspect="1"/>
          </p:cNvPicPr>
          <p:nvPr/>
        </p:nvPicPr>
        <p:blipFill>
          <a:blip r:embed="rId7"/>
          <a:stretch>
            <a:fillRect/>
          </a:stretch>
        </p:blipFill>
        <p:spPr>
          <a:xfrm>
            <a:off x="8417536" y="5134800"/>
            <a:ext cx="134549" cy="195707"/>
          </a:xfrm>
          <a:prstGeom prst="rect">
            <a:avLst/>
          </a:prstGeom>
        </p:spPr>
      </p:pic>
      <p:sp>
        <p:nvSpPr>
          <p:cNvPr id="44" name="TextBox 43"/>
          <p:cNvSpPr txBox="1"/>
          <p:nvPr/>
        </p:nvSpPr>
        <p:spPr>
          <a:xfrm>
            <a:off x="8592645"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9165116" y="5134800"/>
            <a:ext cx="134549" cy="195707"/>
          </a:xfrm>
          <a:prstGeom prst="rect">
            <a:avLst/>
          </a:prstGeom>
        </p:spPr>
      </p:pic>
      <p:sp>
        <p:nvSpPr>
          <p:cNvPr id="46" name="TextBox 45"/>
          <p:cNvSpPr txBox="1"/>
          <p:nvPr/>
        </p:nvSpPr>
        <p:spPr>
          <a:xfrm>
            <a:off x="9340225"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Recipe and Ingredient Claims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Recipe and Ingredient Claims,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Recipe and Ingredient Claims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1740272"/>
                <a:gridCol w="544949"/>
                <a:gridCol w="544949"/>
                <a:gridCol w="544949"/>
                <a:gridCol w="544949"/>
                <a:gridCol w="544949"/>
                <a:gridCol w="544949"/>
                <a:gridCol w="544949"/>
                <a:gridCol w="655320"/>
                <a:gridCol w="655320"/>
                <a:gridCol w="655320"/>
                <a:gridCol w="655320"/>
                <a:gridCol w="655320"/>
                <a:gridCol w="655320"/>
                <a:gridCol w="655320"/>
                <a:gridCol w="655320"/>
                <a:gridCol w="655320"/>
                <a:gridCol w="434405"/>
              </a:tblGrid>
              <a:tr h="438912">
                <a:tc>
                  <a:txBody>
                    <a:bodyPr wrap="none"/>
                    <a:lstStyle/>
                    <a:p>
                      <a:pPr algn="l"/>
                      <a:r>
                        <a:rPr sz="1100" b="1">
                          <a:solidFill>
                            <a:srgbClr val="0B2E4A"/>
                          </a:solidFill>
                          <a:latin typeface="Calibri"/>
                        </a:rPr>
                        <a:t>Recipe and Ingredient</a:t>
                      </a:r>
                      <a:endParaRPr sz="1100"/>
                    </a:p>
                    <a:p>
                      <a:pPr algn="l"/>
                      <a:r>
                        <a:rPr sz="1100" b="1">
                          <a:solidFill>
                            <a:srgbClr val="0B2E4A"/>
                          </a:solidFill>
                          <a:latin typeface="Calibri"/>
                        </a:rPr>
                        <a:t>Claims</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7460">
                <a:tc>
                  <a:txBody>
                    <a:bodyPr wrap="none"/>
                    <a:lstStyle/>
                    <a:p>
                      <a:pPr algn="l"/>
                      <a:r>
                        <a:rPr sz="1100" b="1">
                          <a:solidFill>
                            <a:srgbClr val="2E2E2E"/>
                          </a:solidFill>
                          <a:latin typeface="Calibri"/>
                        </a:rPr>
                        <a:t>Organic-certified</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60">
                <a:tc>
                  <a:txBody>
                    <a:bodyPr wrap="none"/>
                    <a:lstStyle/>
                    <a:p>
                      <a:pPr algn="l"/>
                      <a:r>
                        <a:rPr sz="1100" b="1">
                          <a:solidFill>
                            <a:srgbClr val="2E2E2E"/>
                          </a:solidFill>
                          <a:latin typeface="Calibri"/>
                        </a:rPr>
                        <a:t>Conventional / non-organic</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60">
                <a:tc>
                  <a:txBody>
                    <a:bodyPr wrap="none"/>
                    <a:lstStyle/>
                    <a:p>
                      <a:pPr algn="l"/>
                      <a:r>
                        <a:rPr sz="1100" b="1">
                          <a:solidFill>
                            <a:srgbClr val="2E2E2E"/>
                          </a:solidFill>
                          <a:latin typeface="Calibri"/>
                        </a:rPr>
                        <a:t>Additional claim mapping</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Recipe and Ingredient Claims</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79446" y="1905381"/>
            <a:ext cx="366712" cy="533400"/>
          </a:xfrm>
          <a:prstGeom prst="rect">
            <a:avLst/>
          </a:prstGeom>
        </p:spPr>
      </p:pic>
      <p:sp>
        <p:nvSpPr>
          <p:cNvPr id="21" name="TextBox 20"/>
          <p:cNvSpPr txBox="1"/>
          <p:nvPr/>
        </p:nvSpPr>
        <p:spPr>
          <a:xfrm>
            <a:off x="276225" y="3429000"/>
            <a:ext cx="4390094" cy="194310"/>
          </a:xfrm>
          <a:prstGeom prst="rect">
            <a:avLst/>
          </a:prstGeom>
          <a:noFill/>
        </p:spPr>
        <p:txBody>
          <a:bodyPr wrap="none" lIns="0" rIns="0" tIns="0" bIns="0">
            <a:spAutoFit/>
          </a:bodyPr>
          <a:lstStyle/>
          <a:p>
            <a:r>
              <a:rPr sz="1150" b="0">
                <a:solidFill>
                  <a:srgbClr val="2E2E2E"/>
                </a:solidFill>
                <a:latin typeface="Calibri"/>
              </a:rPr>
              <a:t>▪ 'Additional claim mapping' is the largest recipe and ingredient claims at</a:t>
            </a:r>
          </a:p>
        </p:txBody>
      </p:sp>
      <p:pic>
        <p:nvPicPr>
          <p:cNvPr id="22" name="Picture 21" descr="lock.png"/>
          <p:cNvPicPr>
            <a:picLocks noChangeAspect="1"/>
          </p:cNvPicPr>
          <p:nvPr/>
        </p:nvPicPr>
        <p:blipFill>
          <a:blip r:embed="rId4"/>
          <a:stretch>
            <a:fillRect/>
          </a:stretch>
        </p:blipFill>
        <p:spPr>
          <a:xfrm>
            <a:off x="4615473" y="3418776"/>
            <a:ext cx="134549" cy="195707"/>
          </a:xfrm>
          <a:prstGeom prst="rect">
            <a:avLst/>
          </a:prstGeom>
        </p:spPr>
      </p:pic>
      <p:sp>
        <p:nvSpPr>
          <p:cNvPr id="23" name="TextBox 22"/>
          <p:cNvSpPr txBox="1"/>
          <p:nvPr/>
        </p:nvSpPr>
        <p:spPr>
          <a:xfrm>
            <a:off x="4790583" y="3429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5820315" y="3418776"/>
            <a:ext cx="134549" cy="195707"/>
          </a:xfrm>
          <a:prstGeom prst="rect">
            <a:avLst/>
          </a:prstGeom>
        </p:spPr>
      </p:pic>
      <p:sp>
        <p:nvSpPr>
          <p:cNvPr id="25" name="TextBox 24"/>
          <p:cNvSpPr txBox="1"/>
          <p:nvPr/>
        </p:nvSpPr>
        <p:spPr>
          <a:xfrm>
            <a:off x="5995425" y="3429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656837"/>
            <a:ext cx="2561902" cy="194310"/>
          </a:xfrm>
          <a:prstGeom prst="rect">
            <a:avLst/>
          </a:prstGeom>
          <a:noFill/>
        </p:spPr>
        <p:txBody>
          <a:bodyPr wrap="none" lIns="0" rIns="0" tIns="0" bIns="0">
            <a:spAutoFit/>
          </a:bodyPr>
          <a:lstStyle/>
          <a:p>
            <a:r>
              <a:rPr sz="1150" b="0">
                <a:solidFill>
                  <a:srgbClr val="2E2E2E"/>
                </a:solidFill>
                <a:latin typeface="Calibri"/>
              </a:rPr>
              <a:t>▪ 'Additional claim mapping' grows fastest</a:t>
            </a:r>
          </a:p>
        </p:txBody>
      </p:sp>
      <p:pic>
        <p:nvPicPr>
          <p:cNvPr id="27" name="Picture 26" descr="lock.png"/>
          <p:cNvPicPr>
            <a:picLocks noChangeAspect="1"/>
          </p:cNvPicPr>
          <p:nvPr/>
        </p:nvPicPr>
        <p:blipFill>
          <a:blip r:embed="rId4"/>
          <a:stretch>
            <a:fillRect/>
          </a:stretch>
        </p:blipFill>
        <p:spPr>
          <a:xfrm>
            <a:off x="2787281" y="3646614"/>
            <a:ext cx="134549" cy="195707"/>
          </a:xfrm>
          <a:prstGeom prst="rect">
            <a:avLst/>
          </a:prstGeom>
        </p:spPr>
      </p:pic>
      <p:sp>
        <p:nvSpPr>
          <p:cNvPr id="28" name="TextBox 27"/>
          <p:cNvSpPr txBox="1"/>
          <p:nvPr/>
        </p:nvSpPr>
        <p:spPr>
          <a:xfrm>
            <a:off x="2962390" y="3656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884675"/>
            <a:ext cx="3071080" cy="194310"/>
          </a:xfrm>
          <a:prstGeom prst="rect">
            <a:avLst/>
          </a:prstGeom>
          <a:noFill/>
        </p:spPr>
        <p:txBody>
          <a:bodyPr wrap="none" lIns="0" rIns="0" tIns="0" bIns="0">
            <a:spAutoFit/>
          </a:bodyPr>
          <a:lstStyle/>
          <a:p>
            <a:r>
              <a:rPr sz="1150" b="0">
                <a:solidFill>
                  <a:srgbClr val="2E2E2E"/>
                </a:solidFill>
                <a:latin typeface="Calibri"/>
              </a:rPr>
              <a:t>▪ Share shifts toward 'Additional claim mapping' (+</a:t>
            </a:r>
          </a:p>
        </p:txBody>
      </p:sp>
      <p:pic>
        <p:nvPicPr>
          <p:cNvPr id="30" name="Picture 29" descr="lock.png"/>
          <p:cNvPicPr>
            <a:picLocks noChangeAspect="1"/>
          </p:cNvPicPr>
          <p:nvPr/>
        </p:nvPicPr>
        <p:blipFill>
          <a:blip r:embed="rId4"/>
          <a:stretch>
            <a:fillRect/>
          </a:stretch>
        </p:blipFill>
        <p:spPr>
          <a:xfrm>
            <a:off x="3296459" y="3874452"/>
            <a:ext cx="134549" cy="195707"/>
          </a:xfrm>
          <a:prstGeom prst="rect">
            <a:avLst/>
          </a:prstGeom>
        </p:spPr>
      </p:pic>
      <p:sp>
        <p:nvSpPr>
          <p:cNvPr id="31" name="TextBox 30"/>
          <p:cNvSpPr txBox="1"/>
          <p:nvPr/>
        </p:nvSpPr>
        <p:spPr>
          <a:xfrm>
            <a:off x="3471568" y="3884675"/>
            <a:ext cx="2484028" cy="194310"/>
          </a:xfrm>
          <a:prstGeom prst="rect">
            <a:avLst/>
          </a:prstGeom>
          <a:noFill/>
        </p:spPr>
        <p:txBody>
          <a:bodyPr wrap="none" lIns="0" rIns="0" tIns="0" bIns="0">
            <a:spAutoFit/>
          </a:bodyPr>
          <a:lstStyle/>
          <a:p>
            <a:r>
              <a:rPr sz="1150" b="0">
                <a:solidFill>
                  <a:srgbClr val="2E2E2E"/>
                </a:solidFill>
                <a:latin typeface="Calibri"/>
              </a:rPr>
              <a:t>BPS) and away from 'Organic-certified' (-</a:t>
            </a:r>
          </a:p>
        </p:txBody>
      </p:sp>
      <p:pic>
        <p:nvPicPr>
          <p:cNvPr id="32" name="Picture 31" descr="lock.png"/>
          <p:cNvPicPr>
            <a:picLocks noChangeAspect="1"/>
          </p:cNvPicPr>
          <p:nvPr/>
        </p:nvPicPr>
        <p:blipFill>
          <a:blip r:embed="rId4"/>
          <a:stretch>
            <a:fillRect/>
          </a:stretch>
        </p:blipFill>
        <p:spPr>
          <a:xfrm>
            <a:off x="5904751" y="3874452"/>
            <a:ext cx="134549" cy="195707"/>
          </a:xfrm>
          <a:prstGeom prst="rect">
            <a:avLst/>
          </a:prstGeom>
        </p:spPr>
      </p:pic>
      <p:sp>
        <p:nvSpPr>
          <p:cNvPr id="33" name="TextBox 32"/>
          <p:cNvSpPr txBox="1"/>
          <p:nvPr/>
        </p:nvSpPr>
        <p:spPr>
          <a:xfrm>
            <a:off x="6079860" y="3884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12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02290"/>
            <a:ext cx="134549" cy="195707"/>
          </a:xfrm>
          <a:prstGeom prst="rect">
            <a:avLst/>
          </a:prstGeom>
        </p:spPr>
      </p:pic>
      <p:sp>
        <p:nvSpPr>
          <p:cNvPr id="36" name="TextBox 35"/>
          <p:cNvSpPr txBox="1"/>
          <p:nvPr/>
        </p:nvSpPr>
        <p:spPr>
          <a:xfrm>
            <a:off x="1965143" y="4112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02290"/>
            <a:ext cx="134549" cy="195707"/>
          </a:xfrm>
          <a:prstGeom prst="rect">
            <a:avLst/>
          </a:prstGeom>
        </p:spPr>
      </p:pic>
      <p:sp>
        <p:nvSpPr>
          <p:cNvPr id="38" name="TextBox 37"/>
          <p:cNvSpPr txBox="1"/>
          <p:nvPr/>
        </p:nvSpPr>
        <p:spPr>
          <a:xfrm>
            <a:off x="2291688" y="4112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Recipe and Ingredient Claims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Recipe and Ingredient Claims,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Recipe and Ingredient Claims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51700"/>
                <a:gridCol w="584441"/>
                <a:gridCol w="584441"/>
                <a:gridCol w="584441"/>
                <a:gridCol w="584441"/>
                <a:gridCol w="584441"/>
                <a:gridCol w="584441"/>
                <a:gridCol w="584441"/>
                <a:gridCol w="584441"/>
                <a:gridCol w="584441"/>
                <a:gridCol w="584441"/>
                <a:gridCol w="584441"/>
                <a:gridCol w="584441"/>
                <a:gridCol w="584441"/>
                <a:gridCol w="584441"/>
                <a:gridCol w="584441"/>
                <a:gridCol w="584441"/>
                <a:gridCol w="584441"/>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Recipe and Ingredient Claims</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5158" y="1713738"/>
            <a:ext cx="366712" cy="533400"/>
          </a:xfrm>
          <a:prstGeom prst="rect">
            <a:avLst/>
          </a:prstGeom>
        </p:spPr>
      </p:pic>
      <p:sp>
        <p:nvSpPr>
          <p:cNvPr id="21" name="TextBox 20"/>
          <p:cNvSpPr txBox="1"/>
          <p:nvPr/>
        </p:nvSpPr>
        <p:spPr>
          <a:xfrm>
            <a:off x="276225" y="3238500"/>
            <a:ext cx="4390094" cy="194310"/>
          </a:xfrm>
          <a:prstGeom prst="rect">
            <a:avLst/>
          </a:prstGeom>
          <a:noFill/>
        </p:spPr>
        <p:txBody>
          <a:bodyPr wrap="none" lIns="0" rIns="0" tIns="0" bIns="0">
            <a:spAutoFit/>
          </a:bodyPr>
          <a:lstStyle/>
          <a:p>
            <a:r>
              <a:rPr sz="1150" b="0">
                <a:solidFill>
                  <a:srgbClr val="2E2E2E"/>
                </a:solidFill>
                <a:latin typeface="Calibri"/>
              </a:rPr>
              <a:t>▪ 'Additional claim mapping' is the largest recipe and ingredient claims at</a:t>
            </a:r>
          </a:p>
        </p:txBody>
      </p:sp>
      <p:pic>
        <p:nvPicPr>
          <p:cNvPr id="22" name="Picture 21" descr="lock.png"/>
          <p:cNvPicPr>
            <a:picLocks noChangeAspect="1"/>
          </p:cNvPicPr>
          <p:nvPr/>
        </p:nvPicPr>
        <p:blipFill>
          <a:blip r:embed="rId4"/>
          <a:stretch>
            <a:fillRect/>
          </a:stretch>
        </p:blipFill>
        <p:spPr>
          <a:xfrm>
            <a:off x="4615473" y="3228276"/>
            <a:ext cx="134549" cy="195707"/>
          </a:xfrm>
          <a:prstGeom prst="rect">
            <a:avLst/>
          </a:prstGeom>
        </p:spPr>
      </p:pic>
      <p:sp>
        <p:nvSpPr>
          <p:cNvPr id="23" name="TextBox 22"/>
          <p:cNvSpPr txBox="1"/>
          <p:nvPr/>
        </p:nvSpPr>
        <p:spPr>
          <a:xfrm>
            <a:off x="4790583"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5696515" y="3228276"/>
            <a:ext cx="134549" cy="195707"/>
          </a:xfrm>
          <a:prstGeom prst="rect">
            <a:avLst/>
          </a:prstGeom>
        </p:spPr>
      </p:pic>
      <p:sp>
        <p:nvSpPr>
          <p:cNvPr id="25" name="TextBox 24"/>
          <p:cNvSpPr txBox="1"/>
          <p:nvPr/>
        </p:nvSpPr>
        <p:spPr>
          <a:xfrm>
            <a:off x="5871625"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561902" cy="194310"/>
          </a:xfrm>
          <a:prstGeom prst="rect">
            <a:avLst/>
          </a:prstGeom>
          <a:noFill/>
        </p:spPr>
        <p:txBody>
          <a:bodyPr wrap="none" lIns="0" rIns="0" tIns="0" bIns="0">
            <a:spAutoFit/>
          </a:bodyPr>
          <a:lstStyle/>
          <a:p>
            <a:r>
              <a:rPr sz="1150" b="0">
                <a:solidFill>
                  <a:srgbClr val="2E2E2E"/>
                </a:solidFill>
                <a:latin typeface="Calibri"/>
              </a:rPr>
              <a:t>▪ 'Additional claim mapping' grows fastest</a:t>
            </a:r>
          </a:p>
        </p:txBody>
      </p:sp>
      <p:pic>
        <p:nvPicPr>
          <p:cNvPr id="27" name="Picture 26" descr="lock.png"/>
          <p:cNvPicPr>
            <a:picLocks noChangeAspect="1"/>
          </p:cNvPicPr>
          <p:nvPr/>
        </p:nvPicPr>
        <p:blipFill>
          <a:blip r:embed="rId4"/>
          <a:stretch>
            <a:fillRect/>
          </a:stretch>
        </p:blipFill>
        <p:spPr>
          <a:xfrm>
            <a:off x="2787281" y="3456114"/>
            <a:ext cx="134549" cy="195707"/>
          </a:xfrm>
          <a:prstGeom prst="rect">
            <a:avLst/>
          </a:prstGeom>
        </p:spPr>
      </p:pic>
      <p:sp>
        <p:nvSpPr>
          <p:cNvPr id="28" name="TextBox 27"/>
          <p:cNvSpPr txBox="1"/>
          <p:nvPr/>
        </p:nvSpPr>
        <p:spPr>
          <a:xfrm>
            <a:off x="2962390"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071080" cy="194310"/>
          </a:xfrm>
          <a:prstGeom prst="rect">
            <a:avLst/>
          </a:prstGeom>
          <a:noFill/>
        </p:spPr>
        <p:txBody>
          <a:bodyPr wrap="none" lIns="0" rIns="0" tIns="0" bIns="0">
            <a:spAutoFit/>
          </a:bodyPr>
          <a:lstStyle/>
          <a:p>
            <a:r>
              <a:rPr sz="1150" b="0">
                <a:solidFill>
                  <a:srgbClr val="2E2E2E"/>
                </a:solidFill>
                <a:latin typeface="Calibri"/>
              </a:rPr>
              <a:t>▪ Share shifts toward 'Additional claim mapping' (+</a:t>
            </a:r>
          </a:p>
        </p:txBody>
      </p:sp>
      <p:pic>
        <p:nvPicPr>
          <p:cNvPr id="30" name="Picture 29" descr="lock.png"/>
          <p:cNvPicPr>
            <a:picLocks noChangeAspect="1"/>
          </p:cNvPicPr>
          <p:nvPr/>
        </p:nvPicPr>
        <p:blipFill>
          <a:blip r:embed="rId4"/>
          <a:stretch>
            <a:fillRect/>
          </a:stretch>
        </p:blipFill>
        <p:spPr>
          <a:xfrm>
            <a:off x="3296459" y="3683952"/>
            <a:ext cx="134549" cy="195707"/>
          </a:xfrm>
          <a:prstGeom prst="rect">
            <a:avLst/>
          </a:prstGeom>
        </p:spPr>
      </p:pic>
      <p:sp>
        <p:nvSpPr>
          <p:cNvPr id="31" name="TextBox 30"/>
          <p:cNvSpPr txBox="1"/>
          <p:nvPr/>
        </p:nvSpPr>
        <p:spPr>
          <a:xfrm>
            <a:off x="3471568" y="3694175"/>
            <a:ext cx="2484028" cy="194310"/>
          </a:xfrm>
          <a:prstGeom prst="rect">
            <a:avLst/>
          </a:prstGeom>
          <a:noFill/>
        </p:spPr>
        <p:txBody>
          <a:bodyPr wrap="none" lIns="0" rIns="0" tIns="0" bIns="0">
            <a:spAutoFit/>
          </a:bodyPr>
          <a:lstStyle/>
          <a:p>
            <a:r>
              <a:rPr sz="1150" b="0">
                <a:solidFill>
                  <a:srgbClr val="2E2E2E"/>
                </a:solidFill>
                <a:latin typeface="Calibri"/>
              </a:rPr>
              <a:t>BPS) and away from 'Organic-certified' (-</a:t>
            </a:r>
          </a:p>
        </p:txBody>
      </p:sp>
      <p:pic>
        <p:nvPicPr>
          <p:cNvPr id="32" name="Picture 31" descr="lock.png"/>
          <p:cNvPicPr>
            <a:picLocks noChangeAspect="1"/>
          </p:cNvPicPr>
          <p:nvPr/>
        </p:nvPicPr>
        <p:blipFill>
          <a:blip r:embed="rId4"/>
          <a:stretch>
            <a:fillRect/>
          </a:stretch>
        </p:blipFill>
        <p:spPr>
          <a:xfrm>
            <a:off x="5904751" y="3683952"/>
            <a:ext cx="134549" cy="195707"/>
          </a:xfrm>
          <a:prstGeom prst="rect">
            <a:avLst/>
          </a:prstGeom>
        </p:spPr>
      </p:pic>
      <p:sp>
        <p:nvSpPr>
          <p:cNvPr id="33" name="TextBox 32"/>
          <p:cNvSpPr txBox="1"/>
          <p:nvPr/>
        </p:nvSpPr>
        <p:spPr>
          <a:xfrm>
            <a:off x="6079860"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Recipe and Ingredient Claims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Recipe and Ingredient Claims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0578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0102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248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 non-organic</a:t>
            </a:r>
          </a:p>
        </p:txBody>
      </p:sp>
      <p:sp>
        <p:nvSpPr>
          <p:cNvPr id="19" name="BPS Value 1"/>
          <p:cNvSpPr txBox="1"/>
          <p:nvPr/>
        </p:nvSpPr>
        <p:spPr>
          <a:xfrm>
            <a:off x="6896100" y="16867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05306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482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720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Organic-certified</a:t>
            </a:r>
          </a:p>
        </p:txBody>
      </p:sp>
      <p:sp>
        <p:nvSpPr>
          <p:cNvPr id="23" name="BPS Value 2"/>
          <p:cNvSpPr txBox="1"/>
          <p:nvPr/>
        </p:nvSpPr>
        <p:spPr>
          <a:xfrm>
            <a:off x="6896100" y="203401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30472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29995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2237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Additional claim mapping</a:t>
            </a:r>
          </a:p>
        </p:txBody>
      </p:sp>
      <p:sp>
        <p:nvSpPr>
          <p:cNvPr id="27" name="BPS Value 3"/>
          <p:cNvSpPr txBox="1"/>
          <p:nvPr/>
        </p:nvSpPr>
        <p:spPr>
          <a:xfrm>
            <a:off x="6896100" y="428567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Recipe and Ingredient Claims</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108163" cy="194310"/>
          </a:xfrm>
          <a:prstGeom prst="rect">
            <a:avLst/>
          </a:prstGeom>
          <a:noFill/>
        </p:spPr>
        <p:txBody>
          <a:bodyPr wrap="none" lIns="0" rIns="0" tIns="0" bIns="0">
            <a:spAutoFit/>
          </a:bodyPr>
          <a:lstStyle/>
          <a:p>
            <a:r>
              <a:rPr sz="1150" b="0">
                <a:solidFill>
                  <a:srgbClr val="2E2E2E"/>
                </a:solidFill>
                <a:latin typeface="Calibri"/>
              </a:rPr>
              <a:t>▪ 'Additional claim mapping' gains the most share +</a:t>
            </a:r>
          </a:p>
        </p:txBody>
      </p:sp>
      <p:pic>
        <p:nvPicPr>
          <p:cNvPr id="35" name="Picture 34" descr="lock.png"/>
          <p:cNvPicPr>
            <a:picLocks noChangeAspect="1"/>
          </p:cNvPicPr>
          <p:nvPr/>
        </p:nvPicPr>
        <p:blipFill>
          <a:blip r:embed="rId5"/>
          <a:stretch>
            <a:fillRect/>
          </a:stretch>
        </p:blipFill>
        <p:spPr>
          <a:xfrm>
            <a:off x="10886867" y="1389951"/>
            <a:ext cx="134549" cy="195707"/>
          </a:xfrm>
          <a:prstGeom prst="rect">
            <a:avLst/>
          </a:prstGeom>
        </p:spPr>
      </p:pic>
      <p:sp>
        <p:nvSpPr>
          <p:cNvPr id="36" name="TextBox 35"/>
          <p:cNvSpPr txBox="1"/>
          <p:nvPr/>
        </p:nvSpPr>
        <p:spPr>
          <a:xfrm>
            <a:off x="11061976"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7" name="TextBox 36"/>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241562" cy="194310"/>
          </a:xfrm>
          <a:prstGeom prst="rect">
            <a:avLst/>
          </a:prstGeom>
          <a:noFill/>
        </p:spPr>
        <p:txBody>
          <a:bodyPr wrap="none" lIns="0" rIns="0" tIns="0" bIns="0">
            <a:spAutoFit/>
          </a:bodyPr>
          <a:lstStyle/>
          <a:p>
            <a:r>
              <a:rPr sz="1150" b="0">
                <a:solidFill>
                  <a:srgbClr val="2E2E2E"/>
                </a:solidFill>
                <a:latin typeface="Calibri"/>
              </a:rPr>
              <a:t>▪ 'Organic-certified' cedes the most -</a:t>
            </a:r>
          </a:p>
        </p:txBody>
      </p:sp>
      <p:pic>
        <p:nvPicPr>
          <p:cNvPr id="39" name="Picture 38" descr="lock.png"/>
          <p:cNvPicPr>
            <a:picLocks noChangeAspect="1"/>
          </p:cNvPicPr>
          <p:nvPr/>
        </p:nvPicPr>
        <p:blipFill>
          <a:blip r:embed="rId5"/>
          <a:stretch>
            <a:fillRect/>
          </a:stretch>
        </p:blipFill>
        <p:spPr>
          <a:xfrm>
            <a:off x="10020266" y="1793049"/>
            <a:ext cx="134549" cy="195707"/>
          </a:xfrm>
          <a:prstGeom prst="rect">
            <a:avLst/>
          </a:prstGeom>
        </p:spPr>
      </p:pic>
      <p:sp>
        <p:nvSpPr>
          <p:cNvPr id="40" name="TextBox 39"/>
          <p:cNvSpPr txBox="1"/>
          <p:nvPr/>
        </p:nvSpPr>
        <p:spPr>
          <a:xfrm>
            <a:off x="10195375"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41" name="TextBox 40"/>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3709479" cy="194310"/>
          </a:xfrm>
          <a:prstGeom prst="rect">
            <a:avLst/>
          </a:prstGeom>
          <a:noFill/>
        </p:spPr>
        <p:txBody>
          <a:bodyPr wrap="none" lIns="0" rIns="0" tIns="0" bIns="0">
            <a:spAutoFit/>
          </a:bodyPr>
          <a:lstStyle/>
          <a:p>
            <a:r>
              <a:rPr sz="1150" b="0">
                <a:solidFill>
                  <a:srgbClr val="2E2E2E"/>
                </a:solidFill>
                <a:latin typeface="Calibri"/>
              </a:rPr>
              <a:t>▪ 'Additional claim mapping' is the fastest-growing recipe and</a:t>
            </a:r>
          </a:p>
        </p:txBody>
      </p:sp>
      <p:sp>
        <p:nvSpPr>
          <p:cNvPr id="43" name="TextBox 42"/>
          <p:cNvSpPr txBox="1"/>
          <p:nvPr/>
        </p:nvSpPr>
        <p:spPr>
          <a:xfrm>
            <a:off x="7829550" y="2381631"/>
            <a:ext cx="1246026" cy="194310"/>
          </a:xfrm>
          <a:prstGeom prst="rect">
            <a:avLst/>
          </a:prstGeom>
          <a:noFill/>
        </p:spPr>
        <p:txBody>
          <a:bodyPr wrap="none" lIns="0" rIns="0" tIns="0" bIns="0">
            <a:spAutoFit/>
          </a:bodyPr>
          <a:lstStyle/>
          <a:p>
            <a:r>
              <a:rPr sz="1150" b="0">
                <a:solidFill>
                  <a:srgbClr val="2E2E2E"/>
                </a:solidFill>
                <a:latin typeface="Calibri"/>
              </a:rPr>
              <a:t>ingredient claims at</a:t>
            </a:r>
          </a:p>
        </p:txBody>
      </p:sp>
      <p:pic>
        <p:nvPicPr>
          <p:cNvPr id="44" name="Picture 43" descr="lock.png"/>
          <p:cNvPicPr>
            <a:picLocks noChangeAspect="1"/>
          </p:cNvPicPr>
          <p:nvPr/>
        </p:nvPicPr>
        <p:blipFill>
          <a:blip r:embed="rId5"/>
          <a:stretch>
            <a:fillRect/>
          </a:stretch>
        </p:blipFill>
        <p:spPr>
          <a:xfrm>
            <a:off x="9024730" y="2371407"/>
            <a:ext cx="134549" cy="195707"/>
          </a:xfrm>
          <a:prstGeom prst="rect">
            <a:avLst/>
          </a:prstGeom>
        </p:spPr>
      </p:pic>
      <p:sp>
        <p:nvSpPr>
          <p:cNvPr id="45" name="TextBox 44"/>
          <p:cNvSpPr txBox="1"/>
          <p:nvPr/>
        </p:nvSpPr>
        <p:spPr>
          <a:xfrm>
            <a:off x="919983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6" name="TextBox 45"/>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7" name="Picture 46" descr="lock.png"/>
          <p:cNvPicPr>
            <a:picLocks noChangeAspect="1"/>
          </p:cNvPicPr>
          <p:nvPr/>
        </p:nvPicPr>
        <p:blipFill>
          <a:blip r:embed="rId5"/>
          <a:stretch>
            <a:fillRect/>
          </a:stretch>
        </p:blipFill>
        <p:spPr>
          <a:xfrm>
            <a:off x="9327669" y="2599245"/>
            <a:ext cx="134549" cy="195707"/>
          </a:xfrm>
          <a:prstGeom prst="rect">
            <a:avLst/>
          </a:prstGeom>
        </p:spPr>
      </p:pic>
      <p:sp>
        <p:nvSpPr>
          <p:cNvPr id="48" name="TextBox 47"/>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9" name="Picture 48" descr="lock.png"/>
          <p:cNvPicPr>
            <a:picLocks noChangeAspect="1"/>
          </p:cNvPicPr>
          <p:nvPr/>
        </p:nvPicPr>
        <p:blipFill>
          <a:blip r:embed="rId5"/>
          <a:stretch>
            <a:fillRect/>
          </a:stretch>
        </p:blipFill>
        <p:spPr>
          <a:xfrm>
            <a:off x="9654215" y="2599245"/>
            <a:ext cx="134549" cy="195707"/>
          </a:xfrm>
          <a:prstGeom prst="rect">
            <a:avLst/>
          </a:prstGeom>
        </p:spPr>
      </p:pic>
      <p:sp>
        <p:nvSpPr>
          <p:cNvPr id="50" name="TextBox 49"/>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1" name="TextBox 50"/>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2" name="TextBox 51"/>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3"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Recipe and Ingredient Claims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Recipe and Ingredient Claims,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Recipe and Ingredient Claims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Organic-certified</a:t>
            </a:r>
          </a:p>
        </p:txBody>
      </p:sp>
      <p:sp>
        <p:nvSpPr>
          <p:cNvPr id="33" name="Rectangle 32"/>
          <p:cNvSpPr/>
          <p:nvPr/>
        </p:nvSpPr>
        <p:spPr>
          <a:xfrm>
            <a:off x="1857375" y="300037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Conventional / non-organic</a:t>
            </a:r>
          </a:p>
        </p:txBody>
      </p:sp>
      <p:sp>
        <p:nvSpPr>
          <p:cNvPr id="49" name="Rectangle 48"/>
          <p:cNvSpPr/>
          <p:nvPr/>
        </p:nvSpPr>
        <p:spPr>
          <a:xfrm>
            <a:off x="185737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Additional claim mapping</a:t>
            </a:r>
          </a:p>
        </p:txBody>
      </p:sp>
      <p:sp>
        <p:nvSpPr>
          <p:cNvPr id="65" name="Rectangle 64"/>
          <p:cNvSpPr/>
          <p:nvPr/>
        </p:nvSpPr>
        <p:spPr>
          <a:xfrm>
            <a:off x="185737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7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Recipe and Ingredient Claims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Recipe and Ingredient Claims,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Recipe and Ingredient Claims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Organic-certified</a:t>
            </a:r>
          </a:p>
        </p:txBody>
      </p:sp>
      <p:sp>
        <p:nvSpPr>
          <p:cNvPr id="33" name="Rectangle 32"/>
          <p:cNvSpPr/>
          <p:nvPr/>
        </p:nvSpPr>
        <p:spPr>
          <a:xfrm>
            <a:off x="1857375" y="3000375"/>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Conventional / non-organic</a:t>
            </a:r>
          </a:p>
        </p:txBody>
      </p:sp>
      <p:sp>
        <p:nvSpPr>
          <p:cNvPr id="49" name="Rectangle 48"/>
          <p:cNvSpPr/>
          <p:nvPr/>
        </p:nvSpPr>
        <p:spPr>
          <a:xfrm>
            <a:off x="185737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Additional claim mapping</a:t>
            </a:r>
          </a:p>
        </p:txBody>
      </p:sp>
      <p:sp>
        <p:nvSpPr>
          <p:cNvPr id="65" name="Rectangle 64"/>
          <p:cNvSpPr/>
          <p:nvPr/>
        </p:nvSpPr>
        <p:spPr>
          <a:xfrm>
            <a:off x="185737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39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7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Structure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Structure segment categorizes the market by product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Filled muffins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Unfilled muffins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Structure split shows how demand is distributed across product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299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445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1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29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_909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9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58876" cy="186689"/>
          </a:xfrm>
          <a:prstGeom prst="rect">
            <a:avLst/>
          </a:prstGeom>
          <a:noFill/>
        </p:spPr>
        <p:txBody>
          <a:bodyPr wrap="none" lIns="0" rIns="0" tIns="0" bIns="0">
            <a:spAutoFit/>
          </a:bodyPr>
          <a:lstStyle/>
          <a:p>
            <a:r>
              <a:rPr sz="1100" b="0">
                <a:solidFill>
                  <a:srgbClr val="2E2E2E"/>
                </a:solidFill>
                <a:latin typeface="Calibri"/>
              </a:rPr>
              <a:t>▪ 'Filled muffins' holds the largest share in 2026</a:t>
            </a:r>
          </a:p>
        </p:txBody>
      </p:sp>
      <p:pic>
        <p:nvPicPr>
          <p:cNvPr id="59" name="Picture 58" descr="lock.png"/>
          <p:cNvPicPr>
            <a:picLocks noChangeAspect="1"/>
          </p:cNvPicPr>
          <p:nvPr/>
        </p:nvPicPr>
        <p:blipFill>
          <a:blip r:embed="rId10"/>
          <a:stretch>
            <a:fillRect/>
          </a:stretch>
        </p:blipFill>
        <p:spPr>
          <a:xfrm>
            <a:off x="472307" y="4387298"/>
            <a:ext cx="128699" cy="187198"/>
          </a:xfrm>
          <a:prstGeom prst="rect">
            <a:avLst/>
          </a:prstGeom>
        </p:spPr>
      </p:pic>
      <p:sp>
        <p:nvSpPr>
          <p:cNvPr id="60" name="TextBox 59"/>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1" name="TextBox 60"/>
          <p:cNvSpPr txBox="1"/>
          <p:nvPr/>
        </p:nvSpPr>
        <p:spPr>
          <a:xfrm>
            <a:off x="485775" y="4615009"/>
            <a:ext cx="2240458" cy="186689"/>
          </a:xfrm>
          <a:prstGeom prst="rect">
            <a:avLst/>
          </a:prstGeom>
          <a:noFill/>
        </p:spPr>
        <p:txBody>
          <a:bodyPr wrap="none" lIns="0" rIns="0" tIns="0" bIns="0">
            <a:spAutoFit/>
          </a:bodyPr>
          <a:lstStyle/>
          <a:p>
            <a:r>
              <a:rPr sz="1100" b="0">
                <a:solidFill>
                  <a:srgbClr val="2E2E2E"/>
                </a:solidFill>
                <a:latin typeface="Calibri"/>
              </a:rPr>
              <a:t>▪ 'Filled muffins' is the fastest-growing</a:t>
            </a:r>
          </a:p>
        </p:txBody>
      </p:sp>
      <p:sp>
        <p:nvSpPr>
          <p:cNvPr id="62" name="TextBox 61"/>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3" name="Picture 62" descr="lock.png"/>
          <p:cNvPicPr>
            <a:picLocks noChangeAspect="1"/>
          </p:cNvPicPr>
          <p:nvPr/>
        </p:nvPicPr>
        <p:blipFill>
          <a:blip r:embed="rId10"/>
          <a:stretch>
            <a:fillRect/>
          </a:stretch>
        </p:blipFill>
        <p:spPr>
          <a:xfrm>
            <a:off x="1391064" y="4772870"/>
            <a:ext cx="128699" cy="187198"/>
          </a:xfrm>
          <a:prstGeom prst="rect">
            <a:avLst/>
          </a:prstGeom>
        </p:spPr>
      </p:pic>
      <p:sp>
        <p:nvSpPr>
          <p:cNvPr id="64" name="TextBox 63"/>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6" name="Picture 65" descr="lock.png"/>
          <p:cNvPicPr>
            <a:picLocks noChangeAspect="1"/>
          </p:cNvPicPr>
          <p:nvPr/>
        </p:nvPicPr>
        <p:blipFill>
          <a:blip r:embed="rId10"/>
          <a:stretch>
            <a:fillRect/>
          </a:stretch>
        </p:blipFill>
        <p:spPr>
          <a:xfrm>
            <a:off x="2240451" y="4990801"/>
            <a:ext cx="128699" cy="187198"/>
          </a:xfrm>
          <a:prstGeom prst="rect">
            <a:avLst/>
          </a:prstGeom>
        </p:spPr>
      </p:pic>
      <p:sp>
        <p:nvSpPr>
          <p:cNvPr id="67" name="TextBox 66"/>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552799" y="4990801"/>
            <a:ext cx="128699" cy="187198"/>
          </a:xfrm>
          <a:prstGeom prst="rect">
            <a:avLst/>
          </a:prstGeom>
        </p:spPr>
      </p:pic>
      <p:sp>
        <p:nvSpPr>
          <p:cNvPr id="69" name="TextBox 68"/>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827089" cy="186689"/>
          </a:xfrm>
          <a:prstGeom prst="rect">
            <a:avLst/>
          </a:prstGeom>
          <a:noFill/>
        </p:spPr>
        <p:txBody>
          <a:bodyPr wrap="none" lIns="0" rIns="0" tIns="0" bIns="0">
            <a:spAutoFit/>
          </a:bodyPr>
          <a:lstStyle/>
          <a:p>
            <a:r>
              <a:rPr sz="1100" b="0">
                <a:solidFill>
                  <a:srgbClr val="2E2E2E"/>
                </a:solidFill>
                <a:latin typeface="Calibri"/>
              </a:rPr>
              <a:t>▪ 2 sub-segments make up the product structure</a:t>
            </a:r>
          </a:p>
        </p:txBody>
      </p:sp>
      <p:sp>
        <p:nvSpPr>
          <p:cNvPr id="72" name="TextBox 71"/>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3" name="TextBox 72"/>
          <p:cNvSpPr txBox="1"/>
          <p:nvPr/>
        </p:nvSpPr>
        <p:spPr>
          <a:xfrm>
            <a:off x="3838575" y="4229437"/>
            <a:ext cx="995164" cy="186689"/>
          </a:xfrm>
          <a:prstGeom prst="rect">
            <a:avLst/>
          </a:prstGeom>
          <a:noFill/>
        </p:spPr>
        <p:txBody>
          <a:bodyPr wrap="none" lIns="0" rIns="0" tIns="0" bIns="0">
            <a:spAutoFit/>
          </a:bodyPr>
          <a:lstStyle/>
          <a:p>
            <a:r>
              <a:rPr sz="1100" b="0">
                <a:solidFill>
                  <a:srgbClr val="2E2E2E"/>
                </a:solidFill>
                <a:latin typeface="Calibri"/>
              </a:rPr>
              <a:t>● Filled muffins:</a:t>
            </a:r>
          </a:p>
        </p:txBody>
      </p:sp>
      <p:pic>
        <p:nvPicPr>
          <p:cNvPr id="74" name="Picture 73" descr="lock.png"/>
          <p:cNvPicPr>
            <a:picLocks noChangeAspect="1"/>
          </p:cNvPicPr>
          <p:nvPr/>
        </p:nvPicPr>
        <p:blipFill>
          <a:blip r:embed="rId10"/>
          <a:stretch>
            <a:fillRect/>
          </a:stretch>
        </p:blipFill>
        <p:spPr>
          <a:xfrm>
            <a:off x="4781790" y="4219658"/>
            <a:ext cx="128699" cy="187198"/>
          </a:xfrm>
          <a:prstGeom prst="rect">
            <a:avLst/>
          </a:prstGeom>
        </p:spPr>
      </p:pic>
      <p:sp>
        <p:nvSpPr>
          <p:cNvPr id="75" name="TextBox 74"/>
          <p:cNvSpPr txBox="1"/>
          <p:nvPr/>
        </p:nvSpPr>
        <p:spPr>
          <a:xfrm>
            <a:off x="49492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808736" y="4219658"/>
            <a:ext cx="128699" cy="187198"/>
          </a:xfrm>
          <a:prstGeom prst="rect">
            <a:avLst/>
          </a:prstGeom>
        </p:spPr>
      </p:pic>
      <p:sp>
        <p:nvSpPr>
          <p:cNvPr id="77" name="TextBox 76"/>
          <p:cNvSpPr txBox="1"/>
          <p:nvPr/>
        </p:nvSpPr>
        <p:spPr>
          <a:xfrm>
            <a:off x="597623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1136774" cy="186689"/>
          </a:xfrm>
          <a:prstGeom prst="rect">
            <a:avLst/>
          </a:prstGeom>
          <a:noFill/>
        </p:spPr>
        <p:txBody>
          <a:bodyPr wrap="none" lIns="0" rIns="0" tIns="0" bIns="0">
            <a:spAutoFit/>
          </a:bodyPr>
          <a:lstStyle/>
          <a:p>
            <a:r>
              <a:rPr sz="1100" b="0">
                <a:solidFill>
                  <a:srgbClr val="2E2E2E"/>
                </a:solidFill>
                <a:latin typeface="Calibri"/>
              </a:rPr>
              <a:t>● Unfilled muffins:</a:t>
            </a:r>
          </a:p>
        </p:txBody>
      </p:sp>
      <p:pic>
        <p:nvPicPr>
          <p:cNvPr id="79" name="Picture 78" descr="lock.png"/>
          <p:cNvPicPr>
            <a:picLocks noChangeAspect="1"/>
          </p:cNvPicPr>
          <p:nvPr/>
        </p:nvPicPr>
        <p:blipFill>
          <a:blip r:embed="rId10"/>
          <a:stretch>
            <a:fillRect/>
          </a:stretch>
        </p:blipFill>
        <p:spPr>
          <a:xfrm>
            <a:off x="4923400" y="4437590"/>
            <a:ext cx="128699" cy="187198"/>
          </a:xfrm>
          <a:prstGeom prst="rect">
            <a:avLst/>
          </a:prstGeom>
        </p:spPr>
      </p:pic>
      <p:sp>
        <p:nvSpPr>
          <p:cNvPr id="80" name="TextBox 79"/>
          <p:cNvSpPr txBox="1"/>
          <p:nvPr/>
        </p:nvSpPr>
        <p:spPr>
          <a:xfrm>
            <a:off x="509089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950346" y="4437590"/>
            <a:ext cx="128699" cy="187198"/>
          </a:xfrm>
          <a:prstGeom prst="rect">
            <a:avLst/>
          </a:prstGeom>
        </p:spPr>
      </p:pic>
      <p:sp>
        <p:nvSpPr>
          <p:cNvPr id="82" name="TextBox 81"/>
          <p:cNvSpPr txBox="1"/>
          <p:nvPr/>
        </p:nvSpPr>
        <p:spPr>
          <a:xfrm>
            <a:off x="611784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Structure segment is projected to grow</a:t>
            </a:r>
          </a:p>
        </p:txBody>
      </p:sp>
      <p:sp>
        <p:nvSpPr>
          <p:cNvPr id="84" name="TextBox 83"/>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85" name="Picture 84" descr="lock.png"/>
          <p:cNvPicPr>
            <a:picLocks noChangeAspect="1"/>
          </p:cNvPicPr>
          <p:nvPr/>
        </p:nvPicPr>
        <p:blipFill>
          <a:blip r:embed="rId10"/>
          <a:stretch>
            <a:fillRect/>
          </a:stretch>
        </p:blipFill>
        <p:spPr>
          <a:xfrm>
            <a:off x="9310118" y="6007677"/>
            <a:ext cx="134549" cy="195707"/>
          </a:xfrm>
          <a:prstGeom prst="rect">
            <a:avLst/>
          </a:prstGeom>
        </p:spPr>
      </p:pic>
      <p:sp>
        <p:nvSpPr>
          <p:cNvPr id="86" name="TextBox 85"/>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Structure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Structure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Structure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67337" cy="186689"/>
          </a:xfrm>
          <a:prstGeom prst="rect">
            <a:avLst/>
          </a:prstGeom>
          <a:noFill/>
        </p:spPr>
        <p:txBody>
          <a:bodyPr wrap="none" lIns="0" rIns="0" tIns="0" bIns="0">
            <a:spAutoFit/>
          </a:bodyPr>
          <a:lstStyle/>
          <a:p>
            <a:r>
              <a:rPr sz="1100" b="0">
                <a:solidFill>
                  <a:srgbClr val="2E2E2E"/>
                </a:solidFill>
                <a:latin typeface="Calibri"/>
              </a:rPr>
              <a:t>Between 2026 and 2036, 'Filled muffins' gains the most share in the North America market (+</a:t>
            </a:r>
          </a:p>
        </p:txBody>
      </p:sp>
      <p:pic>
        <p:nvPicPr>
          <p:cNvPr id="21" name="Picture 20" descr="lock.png"/>
          <p:cNvPicPr>
            <a:picLocks noChangeAspect="1"/>
          </p:cNvPicPr>
          <p:nvPr/>
        </p:nvPicPr>
        <p:blipFill>
          <a:blip r:embed="rId6"/>
          <a:stretch>
            <a:fillRect/>
          </a:stretch>
        </p:blipFill>
        <p:spPr>
          <a:xfrm>
            <a:off x="5572564" y="5851905"/>
            <a:ext cx="128699" cy="187198"/>
          </a:xfrm>
          <a:prstGeom prst="rect">
            <a:avLst/>
          </a:prstGeom>
        </p:spPr>
      </p:pic>
      <p:sp>
        <p:nvSpPr>
          <p:cNvPr id="22" name="TextBox 21"/>
          <p:cNvSpPr txBox="1"/>
          <p:nvPr/>
        </p:nvSpPr>
        <p:spPr>
          <a:xfrm>
            <a:off x="5740059" y="5861685"/>
            <a:ext cx="2028452" cy="186689"/>
          </a:xfrm>
          <a:prstGeom prst="rect">
            <a:avLst/>
          </a:prstGeom>
          <a:noFill/>
        </p:spPr>
        <p:txBody>
          <a:bodyPr wrap="none" lIns="0" rIns="0" tIns="0" bIns="0">
            <a:spAutoFit/>
          </a:bodyPr>
          <a:lstStyle/>
          <a:p>
            <a:r>
              <a:rPr sz="1100" b="0">
                <a:solidFill>
                  <a:srgbClr val="2E2E2E"/>
                </a:solidFill>
                <a:latin typeface="Calibri"/>
              </a:rPr>
              <a:t>BPS) while 'Unfilled muffins' cedes</a:t>
            </a:r>
          </a:p>
        </p:txBody>
      </p:sp>
      <p:pic>
        <p:nvPicPr>
          <p:cNvPr id="23" name="Picture 22" descr="lock.png"/>
          <p:cNvPicPr>
            <a:picLocks noChangeAspect="1"/>
          </p:cNvPicPr>
          <p:nvPr/>
        </p:nvPicPr>
        <p:blipFill>
          <a:blip r:embed="rId6"/>
          <a:stretch>
            <a:fillRect/>
          </a:stretch>
        </p:blipFill>
        <p:spPr>
          <a:xfrm>
            <a:off x="7716564" y="5851905"/>
            <a:ext cx="128699" cy="187198"/>
          </a:xfrm>
          <a:prstGeom prst="rect">
            <a:avLst/>
          </a:prstGeom>
        </p:spPr>
      </p:pic>
      <p:sp>
        <p:nvSpPr>
          <p:cNvPr id="24" name="TextBox 23"/>
          <p:cNvSpPr txBox="1"/>
          <p:nvPr/>
        </p:nvSpPr>
        <p:spPr>
          <a:xfrm>
            <a:off x="7884060"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Unfilled muffins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Filled muffins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Structure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Structure (MT)</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096308"/>
                <a:gridCol w="583049"/>
                <a:gridCol w="583049"/>
                <a:gridCol w="583049"/>
                <a:gridCol w="583049"/>
                <a:gridCol w="583049"/>
                <a:gridCol w="583049"/>
                <a:gridCol w="583049"/>
                <a:gridCol w="693420"/>
                <a:gridCol w="693420"/>
                <a:gridCol w="693420"/>
                <a:gridCol w="693420"/>
                <a:gridCol w="693420"/>
                <a:gridCol w="693420"/>
                <a:gridCol w="693420"/>
                <a:gridCol w="693420"/>
                <a:gridCol w="693420"/>
                <a:gridCol w="468769"/>
              </a:tblGrid>
              <a:tr h="438912">
                <a:tc>
                  <a:txBody>
                    <a:bodyPr wrap="none"/>
                    <a:lstStyle/>
                    <a:p>
                      <a:pPr algn="l"/>
                      <a:r>
                        <a:rPr sz="1100" b="1">
                          <a:solidFill>
                            <a:srgbClr val="0B2E4A"/>
                          </a:solidFill>
                          <a:latin typeface="Calibri"/>
                        </a:rPr>
                        <a:t>Product</a:t>
                      </a:r>
                      <a:endParaRPr sz="1100"/>
                    </a:p>
                    <a:p>
                      <a:pPr algn="l"/>
                      <a:r>
                        <a:rPr sz="1100" b="1">
                          <a:solidFill>
                            <a:srgbClr val="0B2E4A"/>
                          </a:solidFill>
                          <a:latin typeface="Calibri"/>
                        </a:rPr>
                        <a:t>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7396">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396">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Structure</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57464" y="1781556"/>
            <a:ext cx="366712" cy="533400"/>
          </a:xfrm>
          <a:prstGeom prst="rect">
            <a:avLst/>
          </a:prstGeom>
        </p:spPr>
      </p:pic>
      <p:sp>
        <p:nvSpPr>
          <p:cNvPr id="21" name="TextBox 20"/>
          <p:cNvSpPr txBox="1"/>
          <p:nvPr/>
        </p:nvSpPr>
        <p:spPr>
          <a:xfrm>
            <a:off x="276225" y="3181350"/>
            <a:ext cx="3049401" cy="194310"/>
          </a:xfrm>
          <a:prstGeom prst="rect">
            <a:avLst/>
          </a:prstGeom>
          <a:noFill/>
        </p:spPr>
        <p:txBody>
          <a:bodyPr wrap="none" lIns="0" rIns="0" tIns="0" bIns="0">
            <a:spAutoFit/>
          </a:bodyPr>
          <a:lstStyle/>
          <a:p>
            <a:r>
              <a:rPr sz="1150" b="0">
                <a:solidFill>
                  <a:srgbClr val="2E2E2E"/>
                </a:solidFill>
                <a:latin typeface="Calibri"/>
              </a:rPr>
              <a:t>▪ 'Filled muffins' is the largest product structure at</a:t>
            </a:r>
          </a:p>
        </p:txBody>
      </p:sp>
      <p:pic>
        <p:nvPicPr>
          <p:cNvPr id="22" name="Picture 21" descr="lock.png"/>
          <p:cNvPicPr>
            <a:picLocks noChangeAspect="1"/>
          </p:cNvPicPr>
          <p:nvPr/>
        </p:nvPicPr>
        <p:blipFill>
          <a:blip r:embed="rId4"/>
          <a:stretch>
            <a:fillRect/>
          </a:stretch>
        </p:blipFill>
        <p:spPr>
          <a:xfrm>
            <a:off x="3274780" y="3171126"/>
            <a:ext cx="134549" cy="195707"/>
          </a:xfrm>
          <a:prstGeom prst="rect">
            <a:avLst/>
          </a:prstGeom>
        </p:spPr>
      </p:pic>
      <p:sp>
        <p:nvSpPr>
          <p:cNvPr id="23" name="TextBox 22"/>
          <p:cNvSpPr txBox="1"/>
          <p:nvPr/>
        </p:nvSpPr>
        <p:spPr>
          <a:xfrm>
            <a:off x="3449889" y="31813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79622" y="3171126"/>
            <a:ext cx="134549" cy="195707"/>
          </a:xfrm>
          <a:prstGeom prst="rect">
            <a:avLst/>
          </a:prstGeom>
        </p:spPr>
      </p:pic>
      <p:sp>
        <p:nvSpPr>
          <p:cNvPr id="25" name="TextBox 24"/>
          <p:cNvSpPr txBox="1"/>
          <p:nvPr/>
        </p:nvSpPr>
        <p:spPr>
          <a:xfrm>
            <a:off x="4654731" y="31813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09187"/>
            <a:ext cx="1849623" cy="194310"/>
          </a:xfrm>
          <a:prstGeom prst="rect">
            <a:avLst/>
          </a:prstGeom>
          <a:noFill/>
        </p:spPr>
        <p:txBody>
          <a:bodyPr wrap="none" lIns="0" rIns="0" tIns="0" bIns="0">
            <a:spAutoFit/>
          </a:bodyPr>
          <a:lstStyle/>
          <a:p>
            <a:r>
              <a:rPr sz="1150" b="0">
                <a:solidFill>
                  <a:srgbClr val="2E2E2E"/>
                </a:solidFill>
                <a:latin typeface="Calibri"/>
              </a:rPr>
              <a:t>▪ 'Filled muffins' grows fastest</a:t>
            </a:r>
          </a:p>
        </p:txBody>
      </p:sp>
      <p:pic>
        <p:nvPicPr>
          <p:cNvPr id="27" name="Picture 26" descr="lock.png"/>
          <p:cNvPicPr>
            <a:picLocks noChangeAspect="1"/>
          </p:cNvPicPr>
          <p:nvPr/>
        </p:nvPicPr>
        <p:blipFill>
          <a:blip r:embed="rId4"/>
          <a:stretch>
            <a:fillRect/>
          </a:stretch>
        </p:blipFill>
        <p:spPr>
          <a:xfrm>
            <a:off x="2075002" y="3398964"/>
            <a:ext cx="134549" cy="195707"/>
          </a:xfrm>
          <a:prstGeom prst="rect">
            <a:avLst/>
          </a:prstGeom>
        </p:spPr>
      </p:pic>
      <p:sp>
        <p:nvSpPr>
          <p:cNvPr id="28" name="TextBox 27"/>
          <p:cNvSpPr txBox="1"/>
          <p:nvPr/>
        </p:nvSpPr>
        <p:spPr>
          <a:xfrm>
            <a:off x="2250111" y="34091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37025"/>
            <a:ext cx="2358801" cy="194310"/>
          </a:xfrm>
          <a:prstGeom prst="rect">
            <a:avLst/>
          </a:prstGeom>
          <a:noFill/>
        </p:spPr>
        <p:txBody>
          <a:bodyPr wrap="none" lIns="0" rIns="0" tIns="0" bIns="0">
            <a:spAutoFit/>
          </a:bodyPr>
          <a:lstStyle/>
          <a:p>
            <a:r>
              <a:rPr sz="1150" b="0">
                <a:solidFill>
                  <a:srgbClr val="2E2E2E"/>
                </a:solidFill>
                <a:latin typeface="Calibri"/>
              </a:rPr>
              <a:t>▪ Share shifts toward 'Filled muffins' (+</a:t>
            </a:r>
          </a:p>
        </p:txBody>
      </p:sp>
      <p:pic>
        <p:nvPicPr>
          <p:cNvPr id="30" name="Picture 29" descr="lock.png"/>
          <p:cNvPicPr>
            <a:picLocks noChangeAspect="1"/>
          </p:cNvPicPr>
          <p:nvPr/>
        </p:nvPicPr>
        <p:blipFill>
          <a:blip r:embed="rId4"/>
          <a:stretch>
            <a:fillRect/>
          </a:stretch>
        </p:blipFill>
        <p:spPr>
          <a:xfrm>
            <a:off x="2584180" y="3626802"/>
            <a:ext cx="134549" cy="195707"/>
          </a:xfrm>
          <a:prstGeom prst="rect">
            <a:avLst/>
          </a:prstGeom>
        </p:spPr>
      </p:pic>
      <p:sp>
        <p:nvSpPr>
          <p:cNvPr id="31" name="TextBox 30"/>
          <p:cNvSpPr txBox="1"/>
          <p:nvPr/>
        </p:nvSpPr>
        <p:spPr>
          <a:xfrm>
            <a:off x="2759289" y="3637025"/>
            <a:ext cx="2432967" cy="194310"/>
          </a:xfrm>
          <a:prstGeom prst="rect">
            <a:avLst/>
          </a:prstGeom>
          <a:noFill/>
        </p:spPr>
        <p:txBody>
          <a:bodyPr wrap="none" lIns="0" rIns="0" tIns="0" bIns="0">
            <a:spAutoFit/>
          </a:bodyPr>
          <a:lstStyle/>
          <a:p>
            <a:r>
              <a:rPr sz="1150" b="0">
                <a:solidFill>
                  <a:srgbClr val="2E2E2E"/>
                </a:solidFill>
                <a:latin typeface="Calibri"/>
              </a:rPr>
              <a:t>BPS) and away from 'Unfilled muffins' (-</a:t>
            </a:r>
          </a:p>
        </p:txBody>
      </p:sp>
      <p:pic>
        <p:nvPicPr>
          <p:cNvPr id="32" name="Picture 31" descr="lock.png"/>
          <p:cNvPicPr>
            <a:picLocks noChangeAspect="1"/>
          </p:cNvPicPr>
          <p:nvPr/>
        </p:nvPicPr>
        <p:blipFill>
          <a:blip r:embed="rId4"/>
          <a:stretch>
            <a:fillRect/>
          </a:stretch>
        </p:blipFill>
        <p:spPr>
          <a:xfrm>
            <a:off x="5141411" y="3626802"/>
            <a:ext cx="134549" cy="195707"/>
          </a:xfrm>
          <a:prstGeom prst="rect">
            <a:avLst/>
          </a:prstGeom>
        </p:spPr>
      </p:pic>
      <p:sp>
        <p:nvSpPr>
          <p:cNvPr id="33" name="TextBox 32"/>
          <p:cNvSpPr txBox="1"/>
          <p:nvPr/>
        </p:nvSpPr>
        <p:spPr>
          <a:xfrm>
            <a:off x="5316520" y="36370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8648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854640"/>
            <a:ext cx="134549" cy="195707"/>
          </a:xfrm>
          <a:prstGeom prst="rect">
            <a:avLst/>
          </a:prstGeom>
        </p:spPr>
      </p:pic>
      <p:sp>
        <p:nvSpPr>
          <p:cNvPr id="36" name="TextBox 35"/>
          <p:cNvSpPr txBox="1"/>
          <p:nvPr/>
        </p:nvSpPr>
        <p:spPr>
          <a:xfrm>
            <a:off x="1965143" y="38648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854640"/>
            <a:ext cx="134549" cy="195707"/>
          </a:xfrm>
          <a:prstGeom prst="rect">
            <a:avLst/>
          </a:prstGeom>
        </p:spPr>
      </p:pic>
      <p:sp>
        <p:nvSpPr>
          <p:cNvPr id="38" name="TextBox 37"/>
          <p:cNvSpPr txBox="1"/>
          <p:nvPr/>
        </p:nvSpPr>
        <p:spPr>
          <a:xfrm>
            <a:off x="2291688" y="38648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Structure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Structure (US$ Mn)</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1316147"/>
                <a:gridCol w="621827"/>
                <a:gridCol w="621827"/>
                <a:gridCol w="621827"/>
                <a:gridCol w="621827"/>
                <a:gridCol w="621827"/>
                <a:gridCol w="621827"/>
                <a:gridCol w="621827"/>
                <a:gridCol w="621827"/>
                <a:gridCol w="621827"/>
                <a:gridCol w="621827"/>
                <a:gridCol w="621827"/>
                <a:gridCol w="621827"/>
                <a:gridCol w="621827"/>
                <a:gridCol w="621827"/>
                <a:gridCol w="621827"/>
                <a:gridCol w="621827"/>
                <a:gridCol w="621827"/>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Structure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67386" y="1589913"/>
            <a:ext cx="366712" cy="533400"/>
          </a:xfrm>
          <a:prstGeom prst="rect">
            <a:avLst/>
          </a:prstGeom>
        </p:spPr>
      </p:pic>
      <p:sp>
        <p:nvSpPr>
          <p:cNvPr id="21" name="TextBox 20"/>
          <p:cNvSpPr txBox="1"/>
          <p:nvPr/>
        </p:nvSpPr>
        <p:spPr>
          <a:xfrm>
            <a:off x="276225" y="2990850"/>
            <a:ext cx="3049401" cy="194310"/>
          </a:xfrm>
          <a:prstGeom prst="rect">
            <a:avLst/>
          </a:prstGeom>
          <a:noFill/>
        </p:spPr>
        <p:txBody>
          <a:bodyPr wrap="none" lIns="0" rIns="0" tIns="0" bIns="0">
            <a:spAutoFit/>
          </a:bodyPr>
          <a:lstStyle/>
          <a:p>
            <a:r>
              <a:rPr sz="1150" b="0">
                <a:solidFill>
                  <a:srgbClr val="2E2E2E"/>
                </a:solidFill>
                <a:latin typeface="Calibri"/>
              </a:rPr>
              <a:t>▪ 'Filled muffins' is the largest product structure at</a:t>
            </a:r>
          </a:p>
        </p:txBody>
      </p:sp>
      <p:pic>
        <p:nvPicPr>
          <p:cNvPr id="22" name="Picture 21" descr="lock.png"/>
          <p:cNvPicPr>
            <a:picLocks noChangeAspect="1"/>
          </p:cNvPicPr>
          <p:nvPr/>
        </p:nvPicPr>
        <p:blipFill>
          <a:blip r:embed="rId4"/>
          <a:stretch>
            <a:fillRect/>
          </a:stretch>
        </p:blipFill>
        <p:spPr>
          <a:xfrm>
            <a:off x="3274780" y="2980626"/>
            <a:ext cx="134549" cy="195707"/>
          </a:xfrm>
          <a:prstGeom prst="rect">
            <a:avLst/>
          </a:prstGeom>
        </p:spPr>
      </p:pic>
      <p:sp>
        <p:nvSpPr>
          <p:cNvPr id="23" name="TextBox 22"/>
          <p:cNvSpPr txBox="1"/>
          <p:nvPr/>
        </p:nvSpPr>
        <p:spPr>
          <a:xfrm>
            <a:off x="3449889"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55822" y="2980626"/>
            <a:ext cx="134549" cy="195707"/>
          </a:xfrm>
          <a:prstGeom prst="rect">
            <a:avLst/>
          </a:prstGeom>
        </p:spPr>
      </p:pic>
      <p:sp>
        <p:nvSpPr>
          <p:cNvPr id="25" name="TextBox 24"/>
          <p:cNvSpPr txBox="1"/>
          <p:nvPr/>
        </p:nvSpPr>
        <p:spPr>
          <a:xfrm>
            <a:off x="4530931"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849623" cy="194310"/>
          </a:xfrm>
          <a:prstGeom prst="rect">
            <a:avLst/>
          </a:prstGeom>
          <a:noFill/>
        </p:spPr>
        <p:txBody>
          <a:bodyPr wrap="none" lIns="0" rIns="0" tIns="0" bIns="0">
            <a:spAutoFit/>
          </a:bodyPr>
          <a:lstStyle/>
          <a:p>
            <a:r>
              <a:rPr sz="1150" b="0">
                <a:solidFill>
                  <a:srgbClr val="2E2E2E"/>
                </a:solidFill>
                <a:latin typeface="Calibri"/>
              </a:rPr>
              <a:t>▪ 'Filled muffins' grows fastest</a:t>
            </a:r>
          </a:p>
        </p:txBody>
      </p:sp>
      <p:pic>
        <p:nvPicPr>
          <p:cNvPr id="27" name="Picture 26" descr="lock.png"/>
          <p:cNvPicPr>
            <a:picLocks noChangeAspect="1"/>
          </p:cNvPicPr>
          <p:nvPr/>
        </p:nvPicPr>
        <p:blipFill>
          <a:blip r:embed="rId4"/>
          <a:stretch>
            <a:fillRect/>
          </a:stretch>
        </p:blipFill>
        <p:spPr>
          <a:xfrm>
            <a:off x="2075002" y="3208464"/>
            <a:ext cx="134549" cy="195707"/>
          </a:xfrm>
          <a:prstGeom prst="rect">
            <a:avLst/>
          </a:prstGeom>
        </p:spPr>
      </p:pic>
      <p:sp>
        <p:nvSpPr>
          <p:cNvPr id="28" name="TextBox 27"/>
          <p:cNvSpPr txBox="1"/>
          <p:nvPr/>
        </p:nvSpPr>
        <p:spPr>
          <a:xfrm>
            <a:off x="225011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358801" cy="194310"/>
          </a:xfrm>
          <a:prstGeom prst="rect">
            <a:avLst/>
          </a:prstGeom>
          <a:noFill/>
        </p:spPr>
        <p:txBody>
          <a:bodyPr wrap="none" lIns="0" rIns="0" tIns="0" bIns="0">
            <a:spAutoFit/>
          </a:bodyPr>
          <a:lstStyle/>
          <a:p>
            <a:r>
              <a:rPr sz="1150" b="0">
                <a:solidFill>
                  <a:srgbClr val="2E2E2E"/>
                </a:solidFill>
                <a:latin typeface="Calibri"/>
              </a:rPr>
              <a:t>▪ Share shifts toward 'Filled muffins' (+</a:t>
            </a:r>
          </a:p>
        </p:txBody>
      </p:sp>
      <p:pic>
        <p:nvPicPr>
          <p:cNvPr id="30" name="Picture 29" descr="lock.png"/>
          <p:cNvPicPr>
            <a:picLocks noChangeAspect="1"/>
          </p:cNvPicPr>
          <p:nvPr/>
        </p:nvPicPr>
        <p:blipFill>
          <a:blip r:embed="rId4"/>
          <a:stretch>
            <a:fillRect/>
          </a:stretch>
        </p:blipFill>
        <p:spPr>
          <a:xfrm>
            <a:off x="2584180" y="3436302"/>
            <a:ext cx="134549" cy="195707"/>
          </a:xfrm>
          <a:prstGeom prst="rect">
            <a:avLst/>
          </a:prstGeom>
        </p:spPr>
      </p:pic>
      <p:sp>
        <p:nvSpPr>
          <p:cNvPr id="31" name="TextBox 30"/>
          <p:cNvSpPr txBox="1"/>
          <p:nvPr/>
        </p:nvSpPr>
        <p:spPr>
          <a:xfrm>
            <a:off x="2759289" y="3446525"/>
            <a:ext cx="2432967" cy="194310"/>
          </a:xfrm>
          <a:prstGeom prst="rect">
            <a:avLst/>
          </a:prstGeom>
          <a:noFill/>
        </p:spPr>
        <p:txBody>
          <a:bodyPr wrap="none" lIns="0" rIns="0" tIns="0" bIns="0">
            <a:spAutoFit/>
          </a:bodyPr>
          <a:lstStyle/>
          <a:p>
            <a:r>
              <a:rPr sz="1150" b="0">
                <a:solidFill>
                  <a:srgbClr val="2E2E2E"/>
                </a:solidFill>
                <a:latin typeface="Calibri"/>
              </a:rPr>
              <a:t>BPS) and away from 'Unfilled muffins' (-</a:t>
            </a:r>
          </a:p>
        </p:txBody>
      </p:sp>
      <p:pic>
        <p:nvPicPr>
          <p:cNvPr id="32" name="Picture 31" descr="lock.png"/>
          <p:cNvPicPr>
            <a:picLocks noChangeAspect="1"/>
          </p:cNvPicPr>
          <p:nvPr/>
        </p:nvPicPr>
        <p:blipFill>
          <a:blip r:embed="rId4"/>
          <a:stretch>
            <a:fillRect/>
          </a:stretch>
        </p:blipFill>
        <p:spPr>
          <a:xfrm>
            <a:off x="5141411" y="3436302"/>
            <a:ext cx="134549" cy="195707"/>
          </a:xfrm>
          <a:prstGeom prst="rect">
            <a:avLst/>
          </a:prstGeom>
        </p:spPr>
      </p:pic>
      <p:sp>
        <p:nvSpPr>
          <p:cNvPr id="33" name="TextBox 32"/>
          <p:cNvSpPr txBox="1"/>
          <p:nvPr/>
        </p:nvSpPr>
        <p:spPr>
          <a:xfrm>
            <a:off x="5316520"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8640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816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4054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Unfilled muffins</a:t>
            </a:r>
          </a:p>
        </p:txBody>
      </p:sp>
      <p:sp>
        <p:nvSpPr>
          <p:cNvPr id="19" name="BPS Value 1"/>
          <p:cNvSpPr txBox="1"/>
          <p:nvPr/>
        </p:nvSpPr>
        <p:spPr>
          <a:xfrm>
            <a:off x="6896100" y="246735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77259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7678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6916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Filled muffins</a:t>
            </a:r>
          </a:p>
        </p:txBody>
      </p:sp>
      <p:sp>
        <p:nvSpPr>
          <p:cNvPr id="23" name="BPS Value 2"/>
          <p:cNvSpPr txBox="1"/>
          <p:nvPr/>
        </p:nvSpPr>
        <p:spPr>
          <a:xfrm>
            <a:off x="6896100" y="475354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Structure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2395884" cy="194310"/>
          </a:xfrm>
          <a:prstGeom prst="rect">
            <a:avLst/>
          </a:prstGeom>
          <a:noFill/>
        </p:spPr>
        <p:txBody>
          <a:bodyPr wrap="none" lIns="0" rIns="0" tIns="0" bIns="0">
            <a:spAutoFit/>
          </a:bodyPr>
          <a:lstStyle/>
          <a:p>
            <a:r>
              <a:rPr sz="1150" b="0">
                <a:solidFill>
                  <a:srgbClr val="2E2E2E"/>
                </a:solidFill>
                <a:latin typeface="Calibri"/>
              </a:rPr>
              <a:t>▪ 'Filled muffins' gains the most share +</a:t>
            </a:r>
          </a:p>
        </p:txBody>
      </p:sp>
      <p:pic>
        <p:nvPicPr>
          <p:cNvPr id="31" name="Picture 30" descr="lock.png"/>
          <p:cNvPicPr>
            <a:picLocks noChangeAspect="1"/>
          </p:cNvPicPr>
          <p:nvPr/>
        </p:nvPicPr>
        <p:blipFill>
          <a:blip r:embed="rId5"/>
          <a:stretch>
            <a:fillRect/>
          </a:stretch>
        </p:blipFill>
        <p:spPr>
          <a:xfrm>
            <a:off x="10174588" y="1389951"/>
            <a:ext cx="134549" cy="195707"/>
          </a:xfrm>
          <a:prstGeom prst="rect">
            <a:avLst/>
          </a:prstGeom>
        </p:spPr>
      </p:pic>
      <p:sp>
        <p:nvSpPr>
          <p:cNvPr id="32" name="TextBox 31"/>
          <p:cNvSpPr txBox="1"/>
          <p:nvPr/>
        </p:nvSpPr>
        <p:spPr>
          <a:xfrm>
            <a:off x="10349697"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3" name="TextBox 32"/>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190501" cy="194310"/>
          </a:xfrm>
          <a:prstGeom prst="rect">
            <a:avLst/>
          </a:prstGeom>
          <a:noFill/>
        </p:spPr>
        <p:txBody>
          <a:bodyPr wrap="none" lIns="0" rIns="0" tIns="0" bIns="0">
            <a:spAutoFit/>
          </a:bodyPr>
          <a:lstStyle/>
          <a:p>
            <a:r>
              <a:rPr sz="1150" b="0">
                <a:solidFill>
                  <a:srgbClr val="2E2E2E"/>
                </a:solidFill>
                <a:latin typeface="Calibri"/>
              </a:rPr>
              <a:t>▪ 'Unfilled muffins' cedes the most -</a:t>
            </a:r>
          </a:p>
        </p:txBody>
      </p:sp>
      <p:pic>
        <p:nvPicPr>
          <p:cNvPr id="35" name="Picture 34" descr="lock.png"/>
          <p:cNvPicPr>
            <a:picLocks noChangeAspect="1"/>
          </p:cNvPicPr>
          <p:nvPr/>
        </p:nvPicPr>
        <p:blipFill>
          <a:blip r:embed="rId5"/>
          <a:stretch>
            <a:fillRect/>
          </a:stretch>
        </p:blipFill>
        <p:spPr>
          <a:xfrm>
            <a:off x="9969205" y="1793049"/>
            <a:ext cx="134549" cy="195707"/>
          </a:xfrm>
          <a:prstGeom prst="rect">
            <a:avLst/>
          </a:prstGeom>
        </p:spPr>
      </p:pic>
      <p:sp>
        <p:nvSpPr>
          <p:cNvPr id="36" name="TextBox 35"/>
          <p:cNvSpPr txBox="1"/>
          <p:nvPr/>
        </p:nvSpPr>
        <p:spPr>
          <a:xfrm>
            <a:off x="10144315"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37" name="TextBox 36"/>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571701" cy="194310"/>
          </a:xfrm>
          <a:prstGeom prst="rect">
            <a:avLst/>
          </a:prstGeom>
          <a:noFill/>
        </p:spPr>
        <p:txBody>
          <a:bodyPr wrap="none" lIns="0" rIns="0" tIns="0" bIns="0">
            <a:spAutoFit/>
          </a:bodyPr>
          <a:lstStyle/>
          <a:p>
            <a:r>
              <a:rPr sz="1150" b="0">
                <a:solidFill>
                  <a:srgbClr val="2E2E2E"/>
                </a:solidFill>
                <a:latin typeface="Calibri"/>
              </a:rPr>
              <a:t>▪ 'Filled muffins' is the fastest-growing product structure at</a:t>
            </a:r>
          </a:p>
        </p:txBody>
      </p:sp>
      <p:pic>
        <p:nvPicPr>
          <p:cNvPr id="39" name="Picture 38" descr="lock.png"/>
          <p:cNvPicPr>
            <a:picLocks noChangeAspect="1"/>
          </p:cNvPicPr>
          <p:nvPr/>
        </p:nvPicPr>
        <p:blipFill>
          <a:blip r:embed="rId5"/>
          <a:stretch>
            <a:fillRect/>
          </a:stretch>
        </p:blipFill>
        <p:spPr>
          <a:xfrm>
            <a:off x="11350405" y="2196147"/>
            <a:ext cx="134549" cy="195707"/>
          </a:xfrm>
          <a:prstGeom prst="rect">
            <a:avLst/>
          </a:prstGeom>
        </p:spPr>
      </p:pic>
      <p:sp>
        <p:nvSpPr>
          <p:cNvPr id="40" name="TextBox 39"/>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Structure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Structure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Unfilled muffins</a:t>
            </a:r>
          </a:p>
        </p:txBody>
      </p:sp>
      <p:sp>
        <p:nvSpPr>
          <p:cNvPr id="33" name="Rectangle 32"/>
          <p:cNvSpPr/>
          <p:nvPr/>
        </p:nvSpPr>
        <p:spPr>
          <a:xfrm>
            <a:off x="185737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Filled muffins</a:t>
            </a:r>
          </a:p>
        </p:txBody>
      </p:sp>
      <p:sp>
        <p:nvSpPr>
          <p:cNvPr id="49" name="Rectangle 48"/>
          <p:cNvSpPr/>
          <p:nvPr/>
        </p:nvSpPr>
        <p:spPr>
          <a:xfrm>
            <a:off x="1857375" y="4662488"/>
            <a:ext cx="643890" cy="1909762"/>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49641" y="1482090"/>
            <a:ext cx="330041" cy="480060"/>
          </a:xfrm>
          <a:prstGeom prst="rect">
            <a:avLst/>
          </a:prstGeom>
        </p:spPr>
      </p:pic>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Structure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Structure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Unfilled muffins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Filled muffins</a:t>
            </a:r>
          </a:p>
        </p:txBody>
      </p:sp>
      <p:sp>
        <p:nvSpPr>
          <p:cNvPr id="49" name="Rectangle 48"/>
          <p:cNvSpPr/>
          <p:nvPr/>
        </p:nvSpPr>
        <p:spPr>
          <a:xfrm>
            <a:off x="1857375" y="4662488"/>
            <a:ext cx="643890" cy="1909762"/>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49641" y="1482090"/>
            <a:ext cx="330041" cy="480060"/>
          </a:xfrm>
          <a:prstGeom prst="rect">
            <a:avLst/>
          </a:prstGeom>
        </p:spPr>
      </p:pic>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Surface 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Surface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Surface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Surface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Surface Finish segment categorizes the market by surface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Nut and seed-topped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Glazed / drizzled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Sugar-topped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Untopped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toppings</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Crumb / streusel-topped</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Surface Finish split shows how demand is distributed across surface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1_166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1_972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5_4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1_129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1_720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4_3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406_9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476_0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1_6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334_4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374_3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1_1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305_2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514_5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5_4__605E5C.png"/>
          <p:cNvPicPr>
            <a:picLocks noChangeAspect="1"/>
          </p:cNvPicPr>
          <p:nvPr/>
        </p:nvPicPr>
        <p:blipFill>
          <a:blip r:embed="rId6"/>
          <a:stretch>
            <a:fillRect/>
          </a:stretch>
        </p:blipFill>
        <p:spPr>
          <a:xfrm>
            <a:off x="8905194" y="3272281"/>
            <a:ext cx="982436" cy="361950"/>
          </a:xfrm>
          <a:prstGeom prst="rect">
            <a:avLst/>
          </a:prstGeom>
        </p:spPr>
      </p:pic>
      <p:pic>
        <p:nvPicPr>
          <p:cNvPr id="93" name="Picture 92" descr="256_2_605E5C.png"/>
          <p:cNvPicPr>
            <a:picLocks noChangeAspect="1"/>
          </p:cNvPicPr>
          <p:nvPr/>
        </p:nvPicPr>
        <p:blipFill>
          <a:blip r:embed="rId18"/>
          <a:stretch>
            <a:fillRect/>
          </a:stretch>
        </p:blipFill>
        <p:spPr>
          <a:xfrm>
            <a:off x="10484473" y="2286582"/>
            <a:ext cx="1195728" cy="361950"/>
          </a:xfrm>
          <a:prstGeom prst="rect">
            <a:avLst/>
          </a:prstGeom>
        </p:spPr>
      </p:pic>
      <p:pic>
        <p:nvPicPr>
          <p:cNvPr id="94" name="Picture 93" descr="296_6_605E5C.png"/>
          <p:cNvPicPr>
            <a:picLocks noChangeAspect="1"/>
          </p:cNvPicPr>
          <p:nvPr/>
        </p:nvPicPr>
        <p:blipFill>
          <a:blip r:embed="rId19"/>
          <a:stretch>
            <a:fillRect/>
          </a:stretch>
        </p:blipFill>
        <p:spPr>
          <a:xfrm>
            <a:off x="10484473" y="2779432"/>
            <a:ext cx="1195728" cy="361950"/>
          </a:xfrm>
          <a:prstGeom prst="rect">
            <a:avLst/>
          </a:prstGeom>
        </p:spPr>
      </p:pic>
      <p:pic>
        <p:nvPicPr>
          <p:cNvPr id="95" name="Picture 94" descr="1_5__605E5C.png"/>
          <p:cNvPicPr>
            <a:picLocks noChangeAspect="1"/>
          </p:cNvPicPr>
          <p:nvPr/>
        </p:nvPicPr>
        <p:blipFill>
          <a:blip r:embed="rId20"/>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1"/>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1"/>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1"/>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1"/>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1"/>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1"/>
          <a:stretch>
            <a:fillRect/>
          </a:stretch>
        </p:blipFill>
        <p:spPr>
          <a:xfrm>
            <a:off x="10988992" y="2827057"/>
            <a:ext cx="183356" cy="266700"/>
          </a:xfrm>
          <a:prstGeom prst="rect">
            <a:avLst/>
          </a:prstGeom>
        </p:spPr>
      </p:pic>
      <p:sp>
        <p:nvSpPr>
          <p:cNvPr id="102" name="TextBox 101"/>
          <p:cNvSpPr txBox="1"/>
          <p:nvPr/>
        </p:nvSpPr>
        <p:spPr>
          <a:xfrm>
            <a:off x="485775" y="4229437"/>
            <a:ext cx="2885752" cy="186689"/>
          </a:xfrm>
          <a:prstGeom prst="rect">
            <a:avLst/>
          </a:prstGeom>
          <a:noFill/>
        </p:spPr>
        <p:txBody>
          <a:bodyPr wrap="none" lIns="0" rIns="0" tIns="0" bIns="0">
            <a:spAutoFit/>
          </a:bodyPr>
          <a:lstStyle/>
          <a:p>
            <a:r>
              <a:rPr sz="1100" b="0">
                <a:solidFill>
                  <a:srgbClr val="2E2E2E"/>
                </a:solidFill>
                <a:latin typeface="Calibri"/>
              </a:rPr>
              <a:t>▪ 'Nut and seed-topped' holds the largest share in</a:t>
            </a:r>
          </a:p>
        </p:txBody>
      </p:sp>
      <p:sp>
        <p:nvSpPr>
          <p:cNvPr id="103" name="TextBox 102"/>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104" name="Picture 103" descr="lock.png"/>
          <p:cNvPicPr>
            <a:picLocks noChangeAspect="1"/>
          </p:cNvPicPr>
          <p:nvPr/>
        </p:nvPicPr>
        <p:blipFill>
          <a:blip r:embed="rId21"/>
          <a:stretch>
            <a:fillRect/>
          </a:stretch>
        </p:blipFill>
        <p:spPr>
          <a:xfrm>
            <a:off x="793792" y="4387298"/>
            <a:ext cx="128699" cy="187198"/>
          </a:xfrm>
          <a:prstGeom prst="rect">
            <a:avLst/>
          </a:prstGeom>
        </p:spPr>
      </p:pic>
      <p:sp>
        <p:nvSpPr>
          <p:cNvPr id="105" name="TextBox 104"/>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106" name="TextBox 105"/>
          <p:cNvSpPr txBox="1"/>
          <p:nvPr/>
        </p:nvSpPr>
        <p:spPr>
          <a:xfrm>
            <a:off x="485775" y="4615009"/>
            <a:ext cx="2682750" cy="186689"/>
          </a:xfrm>
          <a:prstGeom prst="rect">
            <a:avLst/>
          </a:prstGeom>
          <a:noFill/>
        </p:spPr>
        <p:txBody>
          <a:bodyPr wrap="none" lIns="0" rIns="0" tIns="0" bIns="0">
            <a:spAutoFit/>
          </a:bodyPr>
          <a:lstStyle/>
          <a:p>
            <a:r>
              <a:rPr sz="1100" b="0">
                <a:solidFill>
                  <a:srgbClr val="2E2E2E"/>
                </a:solidFill>
                <a:latin typeface="Calibri"/>
              </a:rPr>
              <a:t>▪ 'Nut and seed-topped' is the fastest-growing</a:t>
            </a:r>
          </a:p>
        </p:txBody>
      </p:sp>
      <p:sp>
        <p:nvSpPr>
          <p:cNvPr id="107" name="TextBox 106"/>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108" name="Picture 107" descr="lock.png"/>
          <p:cNvPicPr>
            <a:picLocks noChangeAspect="1"/>
          </p:cNvPicPr>
          <p:nvPr/>
        </p:nvPicPr>
        <p:blipFill>
          <a:blip r:embed="rId21"/>
          <a:stretch>
            <a:fillRect/>
          </a:stretch>
        </p:blipFill>
        <p:spPr>
          <a:xfrm>
            <a:off x="1391064" y="4772870"/>
            <a:ext cx="128699" cy="187198"/>
          </a:xfrm>
          <a:prstGeom prst="rect">
            <a:avLst/>
          </a:prstGeom>
        </p:spPr>
      </p:pic>
      <p:sp>
        <p:nvSpPr>
          <p:cNvPr id="109" name="TextBox 108"/>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110" name="TextBox 109"/>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111" name="Picture 110" descr="lock.png"/>
          <p:cNvPicPr>
            <a:picLocks noChangeAspect="1"/>
          </p:cNvPicPr>
          <p:nvPr/>
        </p:nvPicPr>
        <p:blipFill>
          <a:blip r:embed="rId21"/>
          <a:stretch>
            <a:fillRect/>
          </a:stretch>
        </p:blipFill>
        <p:spPr>
          <a:xfrm>
            <a:off x="2240451" y="4990801"/>
            <a:ext cx="128699" cy="187198"/>
          </a:xfrm>
          <a:prstGeom prst="rect">
            <a:avLst/>
          </a:prstGeom>
        </p:spPr>
      </p:pic>
      <p:sp>
        <p:nvSpPr>
          <p:cNvPr id="112" name="TextBox 111"/>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113" name="Picture 112" descr="lock.png"/>
          <p:cNvPicPr>
            <a:picLocks noChangeAspect="1"/>
          </p:cNvPicPr>
          <p:nvPr/>
        </p:nvPicPr>
        <p:blipFill>
          <a:blip r:embed="rId21"/>
          <a:stretch>
            <a:fillRect/>
          </a:stretch>
        </p:blipFill>
        <p:spPr>
          <a:xfrm>
            <a:off x="2552799" y="4990801"/>
            <a:ext cx="128699" cy="187198"/>
          </a:xfrm>
          <a:prstGeom prst="rect">
            <a:avLst/>
          </a:prstGeom>
        </p:spPr>
      </p:pic>
      <p:sp>
        <p:nvSpPr>
          <p:cNvPr id="114" name="TextBox 113"/>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5" name="TextBox 114"/>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116" name="TextBox 115"/>
          <p:cNvSpPr txBox="1"/>
          <p:nvPr/>
        </p:nvSpPr>
        <p:spPr>
          <a:xfrm>
            <a:off x="485775" y="5386153"/>
            <a:ext cx="2579885" cy="186689"/>
          </a:xfrm>
          <a:prstGeom prst="rect">
            <a:avLst/>
          </a:prstGeom>
          <a:noFill/>
        </p:spPr>
        <p:txBody>
          <a:bodyPr wrap="none" lIns="0" rIns="0" tIns="0" bIns="0">
            <a:spAutoFit/>
          </a:bodyPr>
          <a:lstStyle/>
          <a:p>
            <a:r>
              <a:rPr sz="1100" b="0">
                <a:solidFill>
                  <a:srgbClr val="2E2E2E"/>
                </a:solidFill>
                <a:latin typeface="Calibri"/>
              </a:rPr>
              <a:t>▪ 6 sub-segments make up the surface finish</a:t>
            </a:r>
          </a:p>
        </p:txBody>
      </p:sp>
      <p:sp>
        <p:nvSpPr>
          <p:cNvPr id="117" name="TextBox 116"/>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118" name="TextBox 117"/>
          <p:cNvSpPr txBox="1"/>
          <p:nvPr/>
        </p:nvSpPr>
        <p:spPr>
          <a:xfrm>
            <a:off x="3838575" y="4229437"/>
            <a:ext cx="1437456" cy="186689"/>
          </a:xfrm>
          <a:prstGeom prst="rect">
            <a:avLst/>
          </a:prstGeom>
          <a:noFill/>
        </p:spPr>
        <p:txBody>
          <a:bodyPr wrap="none" lIns="0" rIns="0" tIns="0" bIns="0">
            <a:spAutoFit/>
          </a:bodyPr>
          <a:lstStyle/>
          <a:p>
            <a:r>
              <a:rPr sz="1100" b="0">
                <a:solidFill>
                  <a:srgbClr val="2E2E2E"/>
                </a:solidFill>
                <a:latin typeface="Calibri"/>
              </a:rPr>
              <a:t>● Nut and seed-topped:</a:t>
            </a:r>
          </a:p>
        </p:txBody>
      </p:sp>
      <p:pic>
        <p:nvPicPr>
          <p:cNvPr id="119" name="Picture 118" descr="lock.png"/>
          <p:cNvPicPr>
            <a:picLocks noChangeAspect="1"/>
          </p:cNvPicPr>
          <p:nvPr/>
        </p:nvPicPr>
        <p:blipFill>
          <a:blip r:embed="rId21"/>
          <a:stretch>
            <a:fillRect/>
          </a:stretch>
        </p:blipFill>
        <p:spPr>
          <a:xfrm>
            <a:off x="5224083" y="4219658"/>
            <a:ext cx="128699" cy="187198"/>
          </a:xfrm>
          <a:prstGeom prst="rect">
            <a:avLst/>
          </a:prstGeom>
        </p:spPr>
      </p:pic>
      <p:sp>
        <p:nvSpPr>
          <p:cNvPr id="120" name="TextBox 119"/>
          <p:cNvSpPr txBox="1"/>
          <p:nvPr/>
        </p:nvSpPr>
        <p:spPr>
          <a:xfrm>
            <a:off x="539157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1" name="Picture 120" descr="lock.png"/>
          <p:cNvPicPr>
            <a:picLocks noChangeAspect="1"/>
          </p:cNvPicPr>
          <p:nvPr/>
        </p:nvPicPr>
        <p:blipFill>
          <a:blip r:embed="rId21"/>
          <a:stretch>
            <a:fillRect/>
          </a:stretch>
        </p:blipFill>
        <p:spPr>
          <a:xfrm>
            <a:off x="6251029" y="4219658"/>
            <a:ext cx="128699" cy="187198"/>
          </a:xfrm>
          <a:prstGeom prst="rect">
            <a:avLst/>
          </a:prstGeom>
        </p:spPr>
      </p:pic>
      <p:sp>
        <p:nvSpPr>
          <p:cNvPr id="122" name="TextBox 121"/>
          <p:cNvSpPr txBox="1"/>
          <p:nvPr/>
        </p:nvSpPr>
        <p:spPr>
          <a:xfrm>
            <a:off x="6418524"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23" name="TextBox 122"/>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24" name="TextBox 123"/>
          <p:cNvSpPr txBox="1"/>
          <p:nvPr/>
        </p:nvSpPr>
        <p:spPr>
          <a:xfrm>
            <a:off x="3838575" y="4615009"/>
            <a:ext cx="1171971" cy="186689"/>
          </a:xfrm>
          <a:prstGeom prst="rect">
            <a:avLst/>
          </a:prstGeom>
          <a:noFill/>
        </p:spPr>
        <p:txBody>
          <a:bodyPr wrap="none" lIns="0" rIns="0" tIns="0" bIns="0">
            <a:spAutoFit/>
          </a:bodyPr>
          <a:lstStyle/>
          <a:p>
            <a:r>
              <a:rPr sz="1100" b="0">
                <a:solidFill>
                  <a:srgbClr val="2E2E2E"/>
                </a:solidFill>
                <a:latin typeface="Calibri"/>
              </a:rPr>
              <a:t>● Glazed / drizzled:</a:t>
            </a:r>
          </a:p>
        </p:txBody>
      </p:sp>
      <p:pic>
        <p:nvPicPr>
          <p:cNvPr id="125" name="Picture 124" descr="lock.png"/>
          <p:cNvPicPr>
            <a:picLocks noChangeAspect="1"/>
          </p:cNvPicPr>
          <p:nvPr/>
        </p:nvPicPr>
        <p:blipFill>
          <a:blip r:embed="rId21"/>
          <a:stretch>
            <a:fillRect/>
          </a:stretch>
        </p:blipFill>
        <p:spPr>
          <a:xfrm>
            <a:off x="4958598" y="4605230"/>
            <a:ext cx="128699" cy="187198"/>
          </a:xfrm>
          <a:prstGeom prst="rect">
            <a:avLst/>
          </a:prstGeom>
        </p:spPr>
      </p:pic>
      <p:sp>
        <p:nvSpPr>
          <p:cNvPr id="126" name="TextBox 125"/>
          <p:cNvSpPr txBox="1"/>
          <p:nvPr/>
        </p:nvSpPr>
        <p:spPr>
          <a:xfrm>
            <a:off x="5126094"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7" name="Picture 126" descr="lock.png"/>
          <p:cNvPicPr>
            <a:picLocks noChangeAspect="1"/>
          </p:cNvPicPr>
          <p:nvPr/>
        </p:nvPicPr>
        <p:blipFill>
          <a:blip r:embed="rId21"/>
          <a:stretch>
            <a:fillRect/>
          </a:stretch>
        </p:blipFill>
        <p:spPr>
          <a:xfrm>
            <a:off x="5985544" y="4605230"/>
            <a:ext cx="128699" cy="187198"/>
          </a:xfrm>
          <a:prstGeom prst="rect">
            <a:avLst/>
          </a:prstGeom>
        </p:spPr>
      </p:pic>
      <p:sp>
        <p:nvSpPr>
          <p:cNvPr id="128" name="TextBox 127"/>
          <p:cNvSpPr txBox="1"/>
          <p:nvPr/>
        </p:nvSpPr>
        <p:spPr>
          <a:xfrm>
            <a:off x="6153040"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9" name="TextBox 128"/>
          <p:cNvSpPr txBox="1"/>
          <p:nvPr/>
        </p:nvSpPr>
        <p:spPr>
          <a:xfrm>
            <a:off x="3838575" y="4832941"/>
            <a:ext cx="1001712" cy="186689"/>
          </a:xfrm>
          <a:prstGeom prst="rect">
            <a:avLst/>
          </a:prstGeom>
          <a:noFill/>
        </p:spPr>
        <p:txBody>
          <a:bodyPr wrap="none" lIns="0" rIns="0" tIns="0" bIns="0">
            <a:spAutoFit/>
          </a:bodyPr>
          <a:lstStyle/>
          <a:p>
            <a:r>
              <a:rPr sz="1100" b="0">
                <a:solidFill>
                  <a:srgbClr val="2E2E2E"/>
                </a:solidFill>
                <a:latin typeface="Calibri"/>
              </a:rPr>
              <a:t>● Sugar-topped:</a:t>
            </a:r>
          </a:p>
        </p:txBody>
      </p:sp>
      <p:pic>
        <p:nvPicPr>
          <p:cNvPr id="130" name="Picture 129" descr="lock.png"/>
          <p:cNvPicPr>
            <a:picLocks noChangeAspect="1"/>
          </p:cNvPicPr>
          <p:nvPr/>
        </p:nvPicPr>
        <p:blipFill>
          <a:blip r:embed="rId21"/>
          <a:stretch>
            <a:fillRect/>
          </a:stretch>
        </p:blipFill>
        <p:spPr>
          <a:xfrm>
            <a:off x="4788339" y="4823162"/>
            <a:ext cx="128699" cy="187198"/>
          </a:xfrm>
          <a:prstGeom prst="rect">
            <a:avLst/>
          </a:prstGeom>
        </p:spPr>
      </p:pic>
      <p:sp>
        <p:nvSpPr>
          <p:cNvPr id="131" name="TextBox 130"/>
          <p:cNvSpPr txBox="1"/>
          <p:nvPr/>
        </p:nvSpPr>
        <p:spPr>
          <a:xfrm>
            <a:off x="4955834"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2" name="Picture 131" descr="lock.png"/>
          <p:cNvPicPr>
            <a:picLocks noChangeAspect="1"/>
          </p:cNvPicPr>
          <p:nvPr/>
        </p:nvPicPr>
        <p:blipFill>
          <a:blip r:embed="rId21"/>
          <a:stretch>
            <a:fillRect/>
          </a:stretch>
        </p:blipFill>
        <p:spPr>
          <a:xfrm>
            <a:off x="5815285" y="4823162"/>
            <a:ext cx="128699" cy="187198"/>
          </a:xfrm>
          <a:prstGeom prst="rect">
            <a:avLst/>
          </a:prstGeom>
        </p:spPr>
      </p:pic>
      <p:sp>
        <p:nvSpPr>
          <p:cNvPr id="133" name="TextBox 132"/>
          <p:cNvSpPr txBox="1"/>
          <p:nvPr/>
        </p:nvSpPr>
        <p:spPr>
          <a:xfrm>
            <a:off x="5982780"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4" name="TextBox 133"/>
          <p:cNvSpPr txBox="1"/>
          <p:nvPr/>
        </p:nvSpPr>
        <p:spPr>
          <a:xfrm>
            <a:off x="3838575" y="5050872"/>
            <a:ext cx="803076" cy="186689"/>
          </a:xfrm>
          <a:prstGeom prst="rect">
            <a:avLst/>
          </a:prstGeom>
          <a:noFill/>
        </p:spPr>
        <p:txBody>
          <a:bodyPr wrap="none" lIns="0" rIns="0" tIns="0" bIns="0">
            <a:spAutoFit/>
          </a:bodyPr>
          <a:lstStyle/>
          <a:p>
            <a:r>
              <a:rPr sz="1100" b="0">
                <a:solidFill>
                  <a:srgbClr val="2E2E2E"/>
                </a:solidFill>
                <a:latin typeface="Calibri"/>
              </a:rPr>
              <a:t>● Untopped:</a:t>
            </a:r>
          </a:p>
        </p:txBody>
      </p:sp>
      <p:pic>
        <p:nvPicPr>
          <p:cNvPr id="135" name="Picture 134" descr="lock.png"/>
          <p:cNvPicPr>
            <a:picLocks noChangeAspect="1"/>
          </p:cNvPicPr>
          <p:nvPr/>
        </p:nvPicPr>
        <p:blipFill>
          <a:blip r:embed="rId21"/>
          <a:stretch>
            <a:fillRect/>
          </a:stretch>
        </p:blipFill>
        <p:spPr>
          <a:xfrm>
            <a:off x="4589703" y="5041093"/>
            <a:ext cx="128699" cy="187198"/>
          </a:xfrm>
          <a:prstGeom prst="rect">
            <a:avLst/>
          </a:prstGeom>
        </p:spPr>
      </p:pic>
      <p:sp>
        <p:nvSpPr>
          <p:cNvPr id="136" name="TextBox 135"/>
          <p:cNvSpPr txBox="1"/>
          <p:nvPr/>
        </p:nvSpPr>
        <p:spPr>
          <a:xfrm>
            <a:off x="4757198"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7" name="Picture 136" descr="lock.png"/>
          <p:cNvPicPr>
            <a:picLocks noChangeAspect="1"/>
          </p:cNvPicPr>
          <p:nvPr/>
        </p:nvPicPr>
        <p:blipFill>
          <a:blip r:embed="rId21"/>
          <a:stretch>
            <a:fillRect/>
          </a:stretch>
        </p:blipFill>
        <p:spPr>
          <a:xfrm>
            <a:off x="5616649" y="5041093"/>
            <a:ext cx="128699" cy="187198"/>
          </a:xfrm>
          <a:prstGeom prst="rect">
            <a:avLst/>
          </a:prstGeom>
        </p:spPr>
      </p:pic>
      <p:sp>
        <p:nvSpPr>
          <p:cNvPr id="138" name="TextBox 137"/>
          <p:cNvSpPr txBox="1"/>
          <p:nvPr/>
        </p:nvSpPr>
        <p:spPr>
          <a:xfrm>
            <a:off x="5784145" y="5050872"/>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9" name="TextBox 138"/>
          <p:cNvSpPr txBox="1"/>
          <p:nvPr/>
        </p:nvSpPr>
        <p:spPr>
          <a:xfrm>
            <a:off x="3838575" y="5268804"/>
            <a:ext cx="1085750" cy="186689"/>
          </a:xfrm>
          <a:prstGeom prst="rect">
            <a:avLst/>
          </a:prstGeom>
          <a:noFill/>
        </p:spPr>
        <p:txBody>
          <a:bodyPr wrap="none" lIns="0" rIns="0" tIns="0" bIns="0">
            <a:spAutoFit/>
          </a:bodyPr>
          <a:lstStyle/>
          <a:p>
            <a:r>
              <a:rPr sz="1100" b="0">
                <a:solidFill>
                  <a:srgbClr val="2E2E2E"/>
                </a:solidFill>
                <a:latin typeface="Calibri"/>
              </a:rPr>
              <a:t>● Other toppings:</a:t>
            </a:r>
          </a:p>
        </p:txBody>
      </p:sp>
      <p:pic>
        <p:nvPicPr>
          <p:cNvPr id="140" name="Picture 139" descr="lock.png"/>
          <p:cNvPicPr>
            <a:picLocks noChangeAspect="1"/>
          </p:cNvPicPr>
          <p:nvPr/>
        </p:nvPicPr>
        <p:blipFill>
          <a:blip r:embed="rId21"/>
          <a:stretch>
            <a:fillRect/>
          </a:stretch>
        </p:blipFill>
        <p:spPr>
          <a:xfrm>
            <a:off x="4872377" y="5259025"/>
            <a:ext cx="128699" cy="187198"/>
          </a:xfrm>
          <a:prstGeom prst="rect">
            <a:avLst/>
          </a:prstGeom>
        </p:spPr>
      </p:pic>
      <p:sp>
        <p:nvSpPr>
          <p:cNvPr id="141" name="TextBox 140"/>
          <p:cNvSpPr txBox="1"/>
          <p:nvPr/>
        </p:nvSpPr>
        <p:spPr>
          <a:xfrm>
            <a:off x="5039873" y="5268804"/>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2" name="Picture 141" descr="lock.png"/>
          <p:cNvPicPr>
            <a:picLocks noChangeAspect="1"/>
          </p:cNvPicPr>
          <p:nvPr/>
        </p:nvPicPr>
        <p:blipFill>
          <a:blip r:embed="rId21"/>
          <a:stretch>
            <a:fillRect/>
          </a:stretch>
        </p:blipFill>
        <p:spPr>
          <a:xfrm>
            <a:off x="5899323" y="5259025"/>
            <a:ext cx="128699" cy="187198"/>
          </a:xfrm>
          <a:prstGeom prst="rect">
            <a:avLst/>
          </a:prstGeom>
        </p:spPr>
      </p:pic>
      <p:sp>
        <p:nvSpPr>
          <p:cNvPr id="143" name="TextBox 142"/>
          <p:cNvSpPr txBox="1"/>
          <p:nvPr/>
        </p:nvSpPr>
        <p:spPr>
          <a:xfrm>
            <a:off x="6066819" y="5268804"/>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44" name="TextBox 143"/>
          <p:cNvSpPr txBox="1"/>
          <p:nvPr/>
        </p:nvSpPr>
        <p:spPr>
          <a:xfrm>
            <a:off x="3838575" y="5486736"/>
            <a:ext cx="1631453" cy="186689"/>
          </a:xfrm>
          <a:prstGeom prst="rect">
            <a:avLst/>
          </a:prstGeom>
          <a:noFill/>
        </p:spPr>
        <p:txBody>
          <a:bodyPr wrap="none" lIns="0" rIns="0" tIns="0" bIns="0">
            <a:spAutoFit/>
          </a:bodyPr>
          <a:lstStyle/>
          <a:p>
            <a:r>
              <a:rPr sz="1100" b="0">
                <a:solidFill>
                  <a:srgbClr val="2E2E2E"/>
                </a:solidFill>
                <a:latin typeface="Calibri"/>
              </a:rPr>
              <a:t>● Crumb / streusel-topped:</a:t>
            </a:r>
          </a:p>
        </p:txBody>
      </p:sp>
      <p:pic>
        <p:nvPicPr>
          <p:cNvPr id="145" name="Picture 144" descr="lock.png"/>
          <p:cNvPicPr>
            <a:picLocks noChangeAspect="1"/>
          </p:cNvPicPr>
          <p:nvPr/>
        </p:nvPicPr>
        <p:blipFill>
          <a:blip r:embed="rId21"/>
          <a:stretch>
            <a:fillRect/>
          </a:stretch>
        </p:blipFill>
        <p:spPr>
          <a:xfrm>
            <a:off x="5418080" y="5476957"/>
            <a:ext cx="128699" cy="187198"/>
          </a:xfrm>
          <a:prstGeom prst="rect">
            <a:avLst/>
          </a:prstGeom>
        </p:spPr>
      </p:pic>
      <p:sp>
        <p:nvSpPr>
          <p:cNvPr id="146" name="TextBox 145"/>
          <p:cNvSpPr txBox="1"/>
          <p:nvPr/>
        </p:nvSpPr>
        <p:spPr>
          <a:xfrm>
            <a:off x="5585576" y="5486736"/>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7" name="Picture 146" descr="lock.png"/>
          <p:cNvPicPr>
            <a:picLocks noChangeAspect="1"/>
          </p:cNvPicPr>
          <p:nvPr/>
        </p:nvPicPr>
        <p:blipFill>
          <a:blip r:embed="rId21"/>
          <a:stretch>
            <a:fillRect/>
          </a:stretch>
        </p:blipFill>
        <p:spPr>
          <a:xfrm>
            <a:off x="6445026" y="5476957"/>
            <a:ext cx="128699" cy="187198"/>
          </a:xfrm>
          <a:prstGeom prst="rect">
            <a:avLst/>
          </a:prstGeom>
        </p:spPr>
      </p:pic>
      <p:sp>
        <p:nvSpPr>
          <p:cNvPr id="148" name="TextBox 147"/>
          <p:cNvSpPr txBox="1"/>
          <p:nvPr/>
        </p:nvSpPr>
        <p:spPr>
          <a:xfrm>
            <a:off x="6612522" y="5486736"/>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49" name="TextBox 148"/>
          <p:cNvSpPr txBox="1"/>
          <p:nvPr/>
        </p:nvSpPr>
        <p:spPr>
          <a:xfrm>
            <a:off x="3838575" y="5654377"/>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50" name="TextBox 149"/>
          <p:cNvSpPr txBox="1"/>
          <p:nvPr/>
        </p:nvSpPr>
        <p:spPr>
          <a:xfrm>
            <a:off x="8524875" y="5842641"/>
            <a:ext cx="3133266" cy="194310"/>
          </a:xfrm>
          <a:prstGeom prst="rect">
            <a:avLst/>
          </a:prstGeom>
          <a:noFill/>
        </p:spPr>
        <p:txBody>
          <a:bodyPr wrap="none" lIns="0" rIns="0" tIns="0" bIns="0">
            <a:spAutoFit/>
          </a:bodyPr>
          <a:lstStyle/>
          <a:p>
            <a:r>
              <a:rPr sz="1150" b="1">
                <a:solidFill>
                  <a:srgbClr val="0B2E4A"/>
                </a:solidFill>
                <a:latin typeface="Calibri"/>
              </a:rPr>
              <a:t>The Surface Finish segment is projected to grow at</a:t>
            </a:r>
          </a:p>
        </p:txBody>
      </p:sp>
      <p:sp>
        <p:nvSpPr>
          <p:cNvPr id="151" name="TextBox 150"/>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52" name="Picture 151" descr="lock.png"/>
          <p:cNvPicPr>
            <a:picLocks noChangeAspect="1"/>
          </p:cNvPicPr>
          <p:nvPr/>
        </p:nvPicPr>
        <p:blipFill>
          <a:blip r:embed="rId21"/>
          <a:stretch>
            <a:fillRect/>
          </a:stretch>
        </p:blipFill>
        <p:spPr>
          <a:xfrm>
            <a:off x="9154084" y="6007677"/>
            <a:ext cx="134549" cy="195707"/>
          </a:xfrm>
          <a:prstGeom prst="rect">
            <a:avLst/>
          </a:prstGeom>
        </p:spPr>
      </p:pic>
      <p:sp>
        <p:nvSpPr>
          <p:cNvPr id="153" name="TextBox 152"/>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Surface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Surface 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Surface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Surface Finish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809629" cy="186689"/>
          </a:xfrm>
          <a:prstGeom prst="rect">
            <a:avLst/>
          </a:prstGeom>
          <a:noFill/>
        </p:spPr>
        <p:txBody>
          <a:bodyPr wrap="none" lIns="0" rIns="0" tIns="0" bIns="0">
            <a:spAutoFit/>
          </a:bodyPr>
          <a:lstStyle/>
          <a:p>
            <a:r>
              <a:rPr sz="1100" b="0">
                <a:solidFill>
                  <a:srgbClr val="2E2E2E"/>
                </a:solidFill>
                <a:latin typeface="Calibri"/>
              </a:rPr>
              <a:t>Between 2026 and 2036, 'Nut and seed-topped' gains the most share in the North America market (+</a:t>
            </a:r>
          </a:p>
        </p:txBody>
      </p:sp>
      <p:pic>
        <p:nvPicPr>
          <p:cNvPr id="21" name="Picture 20" descr="lock.png"/>
          <p:cNvPicPr>
            <a:picLocks noChangeAspect="1"/>
          </p:cNvPicPr>
          <p:nvPr/>
        </p:nvPicPr>
        <p:blipFill>
          <a:blip r:embed="rId6"/>
          <a:stretch>
            <a:fillRect/>
          </a:stretch>
        </p:blipFill>
        <p:spPr>
          <a:xfrm>
            <a:off x="6014856" y="5851905"/>
            <a:ext cx="128699" cy="187198"/>
          </a:xfrm>
          <a:prstGeom prst="rect">
            <a:avLst/>
          </a:prstGeom>
        </p:spPr>
      </p:pic>
      <p:sp>
        <p:nvSpPr>
          <p:cNvPr id="22" name="TextBox 21"/>
          <p:cNvSpPr txBox="1"/>
          <p:nvPr/>
        </p:nvSpPr>
        <p:spPr>
          <a:xfrm>
            <a:off x="6182352" y="5861685"/>
            <a:ext cx="1893391" cy="186689"/>
          </a:xfrm>
          <a:prstGeom prst="rect">
            <a:avLst/>
          </a:prstGeom>
          <a:noFill/>
        </p:spPr>
        <p:txBody>
          <a:bodyPr wrap="none" lIns="0" rIns="0" tIns="0" bIns="0">
            <a:spAutoFit/>
          </a:bodyPr>
          <a:lstStyle/>
          <a:p>
            <a:r>
              <a:rPr sz="1100" b="0">
                <a:solidFill>
                  <a:srgbClr val="2E2E2E"/>
                </a:solidFill>
                <a:latin typeface="Calibri"/>
              </a:rPr>
              <a:t>BPS) while 'Sugar-topped' cedes</a:t>
            </a:r>
          </a:p>
        </p:txBody>
      </p:sp>
      <p:pic>
        <p:nvPicPr>
          <p:cNvPr id="23" name="Picture 22" descr="lock.png"/>
          <p:cNvPicPr>
            <a:picLocks noChangeAspect="1"/>
          </p:cNvPicPr>
          <p:nvPr/>
        </p:nvPicPr>
        <p:blipFill>
          <a:blip r:embed="rId6"/>
          <a:stretch>
            <a:fillRect/>
          </a:stretch>
        </p:blipFill>
        <p:spPr>
          <a:xfrm>
            <a:off x="8023795" y="5851905"/>
            <a:ext cx="128699" cy="187198"/>
          </a:xfrm>
          <a:prstGeom prst="rect">
            <a:avLst/>
          </a:prstGeom>
        </p:spPr>
      </p:pic>
      <p:sp>
        <p:nvSpPr>
          <p:cNvPr id="24" name="TextBox 23"/>
          <p:cNvSpPr txBox="1"/>
          <p:nvPr/>
        </p:nvSpPr>
        <p:spPr>
          <a:xfrm>
            <a:off x="8191291"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Surface Finish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Surface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Untopped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Crumb / streusel-topped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Sugar-topped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Nut and seed-topped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Surface Finish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Surface Finish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Glazed / drizzled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toppings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Surface Finish</a:t>
            </a:r>
          </a:p>
        </p:txBody>
      </p:sp>
      <p:sp>
        <p:nvSpPr>
          <p:cNvPr id="18" name="Rectangle 17"/>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6"/>
          <a:stretch>
            <a:fillRect/>
          </a:stretch>
        </p:blipFill>
        <p:spPr>
          <a:xfrm>
            <a:off x="3100230" y="2330679"/>
            <a:ext cx="252890" cy="367840"/>
          </a:xfrm>
          <a:prstGeom prst="rect">
            <a:avLst/>
          </a:prstGeom>
        </p:spPr>
      </p:pic>
      <p:pic>
        <p:nvPicPr>
          <p:cNvPr id="22" name="Picture 21" descr="lock.png"/>
          <p:cNvPicPr>
            <a:picLocks noChangeAspect="1"/>
          </p:cNvPicPr>
          <p:nvPr/>
        </p:nvPicPr>
        <p:blipFill>
          <a:blip r:embed="rId6"/>
          <a:stretch>
            <a:fillRect/>
          </a:stretch>
        </p:blipFill>
        <p:spPr>
          <a:xfrm>
            <a:off x="3100230" y="5216754"/>
            <a:ext cx="252890" cy="367840"/>
          </a:xfrm>
          <a:prstGeom prst="rect">
            <a:avLst/>
          </a:prstGeom>
        </p:spPr>
      </p:pic>
      <p:sp>
        <p:nvSpPr>
          <p:cNvPr id="23" name="TextBox 22"/>
          <p:cNvSpPr txBox="1"/>
          <p:nvPr/>
        </p:nvSpPr>
        <p:spPr>
          <a:xfrm>
            <a:off x="6305550" y="1400175"/>
            <a:ext cx="3037135" cy="194310"/>
          </a:xfrm>
          <a:prstGeom prst="rect">
            <a:avLst/>
          </a:prstGeom>
          <a:noFill/>
        </p:spPr>
        <p:txBody>
          <a:bodyPr wrap="none" lIns="0" rIns="0" tIns="0" bIns="0">
            <a:spAutoFit/>
          </a:bodyPr>
          <a:lstStyle/>
          <a:p>
            <a:r>
              <a:rPr sz="1150" b="0">
                <a:solidFill>
                  <a:srgbClr val="2E2E2E"/>
                </a:solidFill>
                <a:latin typeface="Calibri"/>
              </a:rPr>
              <a:t>▪ Across its 6 sub-segments, by surface finish adds</a:t>
            </a:r>
          </a:p>
        </p:txBody>
      </p:sp>
      <p:pic>
        <p:nvPicPr>
          <p:cNvPr id="24" name="Picture 23" descr="lock.png"/>
          <p:cNvPicPr>
            <a:picLocks noChangeAspect="1"/>
          </p:cNvPicPr>
          <p:nvPr/>
        </p:nvPicPr>
        <p:blipFill>
          <a:blip r:embed="rId6"/>
          <a:stretch>
            <a:fillRect/>
          </a:stretch>
        </p:blipFill>
        <p:spPr>
          <a:xfrm>
            <a:off x="9291839" y="1389951"/>
            <a:ext cx="134549" cy="195707"/>
          </a:xfrm>
          <a:prstGeom prst="rect">
            <a:avLst/>
          </a:prstGeom>
        </p:spPr>
      </p:pic>
      <p:sp>
        <p:nvSpPr>
          <p:cNvPr id="25" name="TextBox 24"/>
          <p:cNvSpPr txBox="1"/>
          <p:nvPr/>
        </p:nvSpPr>
        <p:spPr>
          <a:xfrm>
            <a:off x="9466948" y="1400175"/>
            <a:ext cx="2300609" cy="194310"/>
          </a:xfrm>
          <a:prstGeom prst="rect">
            <a:avLst/>
          </a:prstGeom>
          <a:noFill/>
        </p:spPr>
        <p:txBody>
          <a:bodyPr wrap="none" lIns="0" rIns="0" tIns="0" bIns="0">
            <a:spAutoFit/>
          </a:bodyPr>
          <a:lstStyle/>
          <a:p>
            <a:r>
              <a:rPr sz="1150" b="0">
                <a:solidFill>
                  <a:srgbClr val="2E2E2E"/>
                </a:solidFill>
                <a:latin typeface="Calibri"/>
              </a:rPr>
              <a:t>US$ Mn to the North America market</a:t>
            </a:r>
          </a:p>
        </p:txBody>
      </p:sp>
      <p:sp>
        <p:nvSpPr>
          <p:cNvPr id="26" name="TextBox 25"/>
          <p:cNvSpPr txBox="1"/>
          <p:nvPr/>
        </p:nvSpPr>
        <p:spPr>
          <a:xfrm>
            <a:off x="6305550" y="1575435"/>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27" name="TextBox 26"/>
          <p:cNvSpPr txBox="1"/>
          <p:nvPr/>
        </p:nvSpPr>
        <p:spPr>
          <a:xfrm>
            <a:off x="6305550" y="1803273"/>
            <a:ext cx="1801700" cy="194310"/>
          </a:xfrm>
          <a:prstGeom prst="rect">
            <a:avLst/>
          </a:prstGeom>
          <a:noFill/>
        </p:spPr>
        <p:txBody>
          <a:bodyPr wrap="none" lIns="0" rIns="0" tIns="0" bIns="0">
            <a:spAutoFit/>
          </a:bodyPr>
          <a:lstStyle/>
          <a:p>
            <a:r>
              <a:rPr sz="1150" b="0">
                <a:solidFill>
                  <a:srgbClr val="2E2E2E"/>
                </a:solidFill>
                <a:latin typeface="Calibri"/>
              </a:rPr>
              <a:t>▪ 'Nut and seed-topped' adds</a:t>
            </a:r>
          </a:p>
        </p:txBody>
      </p:sp>
      <p:pic>
        <p:nvPicPr>
          <p:cNvPr id="28" name="Picture 27" descr="lock.png"/>
          <p:cNvPicPr>
            <a:picLocks noChangeAspect="1"/>
          </p:cNvPicPr>
          <p:nvPr/>
        </p:nvPicPr>
        <p:blipFill>
          <a:blip r:embed="rId6"/>
          <a:stretch>
            <a:fillRect/>
          </a:stretch>
        </p:blipFill>
        <p:spPr>
          <a:xfrm>
            <a:off x="8056404" y="1793049"/>
            <a:ext cx="134549" cy="195707"/>
          </a:xfrm>
          <a:prstGeom prst="rect">
            <a:avLst/>
          </a:prstGeom>
        </p:spPr>
      </p:pic>
      <p:sp>
        <p:nvSpPr>
          <p:cNvPr id="29" name="TextBox 28"/>
          <p:cNvSpPr txBox="1"/>
          <p:nvPr/>
        </p:nvSpPr>
        <p:spPr>
          <a:xfrm>
            <a:off x="8231514" y="180327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0" name="Picture 29" descr="lock.png"/>
          <p:cNvPicPr>
            <a:picLocks noChangeAspect="1"/>
          </p:cNvPicPr>
          <p:nvPr/>
        </p:nvPicPr>
        <p:blipFill>
          <a:blip r:embed="rId6"/>
          <a:stretch>
            <a:fillRect/>
          </a:stretch>
        </p:blipFill>
        <p:spPr>
          <a:xfrm>
            <a:off x="8803985" y="1793049"/>
            <a:ext cx="134549" cy="195707"/>
          </a:xfrm>
          <a:prstGeom prst="rect">
            <a:avLst/>
          </a:prstGeom>
        </p:spPr>
      </p:pic>
      <p:sp>
        <p:nvSpPr>
          <p:cNvPr id="31" name="TextBox 30"/>
          <p:cNvSpPr txBox="1"/>
          <p:nvPr/>
        </p:nvSpPr>
        <p:spPr>
          <a:xfrm>
            <a:off x="8979094" y="180327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2" name="TextBox 31"/>
          <p:cNvSpPr txBox="1"/>
          <p:nvPr/>
        </p:nvSpPr>
        <p:spPr>
          <a:xfrm>
            <a:off x="6305550" y="2031111"/>
            <a:ext cx="1524148" cy="194310"/>
          </a:xfrm>
          <a:prstGeom prst="rect">
            <a:avLst/>
          </a:prstGeom>
          <a:noFill/>
        </p:spPr>
        <p:txBody>
          <a:bodyPr wrap="none" lIns="0" rIns="0" tIns="0" bIns="0">
            <a:spAutoFit/>
          </a:bodyPr>
          <a:lstStyle/>
          <a:p>
            <a:r>
              <a:rPr sz="1150" b="0">
                <a:solidFill>
                  <a:srgbClr val="2E2E2E"/>
                </a:solidFill>
                <a:latin typeface="Calibri"/>
              </a:rPr>
              <a:t>▪ 'Glazed / drizzled' adds</a:t>
            </a:r>
          </a:p>
        </p:txBody>
      </p:sp>
      <p:pic>
        <p:nvPicPr>
          <p:cNvPr id="33" name="Picture 32" descr="lock.png"/>
          <p:cNvPicPr>
            <a:picLocks noChangeAspect="1"/>
          </p:cNvPicPr>
          <p:nvPr/>
        </p:nvPicPr>
        <p:blipFill>
          <a:blip r:embed="rId6"/>
          <a:stretch>
            <a:fillRect/>
          </a:stretch>
        </p:blipFill>
        <p:spPr>
          <a:xfrm>
            <a:off x="7778852" y="2020887"/>
            <a:ext cx="134549" cy="195707"/>
          </a:xfrm>
          <a:prstGeom prst="rect">
            <a:avLst/>
          </a:prstGeom>
        </p:spPr>
      </p:pic>
      <p:sp>
        <p:nvSpPr>
          <p:cNvPr id="34" name="TextBox 33"/>
          <p:cNvSpPr txBox="1"/>
          <p:nvPr/>
        </p:nvSpPr>
        <p:spPr>
          <a:xfrm>
            <a:off x="7953962" y="2031111"/>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6"/>
          <a:stretch>
            <a:fillRect/>
          </a:stretch>
        </p:blipFill>
        <p:spPr>
          <a:xfrm>
            <a:off x="8526432" y="2020887"/>
            <a:ext cx="134549" cy="195707"/>
          </a:xfrm>
          <a:prstGeom prst="rect">
            <a:avLst/>
          </a:prstGeom>
        </p:spPr>
      </p:pic>
      <p:sp>
        <p:nvSpPr>
          <p:cNvPr id="36" name="TextBox 35"/>
          <p:cNvSpPr txBox="1"/>
          <p:nvPr/>
        </p:nvSpPr>
        <p:spPr>
          <a:xfrm>
            <a:off x="8701542" y="2031111"/>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2258949"/>
            <a:ext cx="1434008" cy="194310"/>
          </a:xfrm>
          <a:prstGeom prst="rect">
            <a:avLst/>
          </a:prstGeom>
          <a:noFill/>
        </p:spPr>
        <p:txBody>
          <a:bodyPr wrap="none" lIns="0" rIns="0" tIns="0" bIns="0">
            <a:spAutoFit/>
          </a:bodyPr>
          <a:lstStyle/>
          <a:p>
            <a:r>
              <a:rPr sz="1150" b="0">
                <a:solidFill>
                  <a:srgbClr val="2E2E2E"/>
                </a:solidFill>
                <a:latin typeface="Calibri"/>
              </a:rPr>
              <a:t>▪ 'Other toppings' adds</a:t>
            </a:r>
          </a:p>
        </p:txBody>
      </p:sp>
      <p:pic>
        <p:nvPicPr>
          <p:cNvPr id="38" name="Picture 37" descr="lock.png"/>
          <p:cNvPicPr>
            <a:picLocks noChangeAspect="1"/>
          </p:cNvPicPr>
          <p:nvPr/>
        </p:nvPicPr>
        <p:blipFill>
          <a:blip r:embed="rId6"/>
          <a:stretch>
            <a:fillRect/>
          </a:stretch>
        </p:blipFill>
        <p:spPr>
          <a:xfrm>
            <a:off x="7688712" y="2248725"/>
            <a:ext cx="134549" cy="195707"/>
          </a:xfrm>
          <a:prstGeom prst="rect">
            <a:avLst/>
          </a:prstGeom>
        </p:spPr>
      </p:pic>
      <p:sp>
        <p:nvSpPr>
          <p:cNvPr id="39" name="TextBox 38"/>
          <p:cNvSpPr txBox="1"/>
          <p:nvPr/>
        </p:nvSpPr>
        <p:spPr>
          <a:xfrm>
            <a:off x="7863821" y="2258949"/>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6"/>
          <a:stretch>
            <a:fillRect/>
          </a:stretch>
        </p:blipFill>
        <p:spPr>
          <a:xfrm>
            <a:off x="8436292" y="2248725"/>
            <a:ext cx="134549" cy="195707"/>
          </a:xfrm>
          <a:prstGeom prst="rect">
            <a:avLst/>
          </a:prstGeom>
        </p:spPr>
      </p:pic>
      <p:sp>
        <p:nvSpPr>
          <p:cNvPr id="41" name="TextBox 40"/>
          <p:cNvSpPr txBox="1"/>
          <p:nvPr/>
        </p:nvSpPr>
        <p:spPr>
          <a:xfrm>
            <a:off x="8611402" y="2258949"/>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2486787"/>
            <a:ext cx="1724682" cy="194310"/>
          </a:xfrm>
          <a:prstGeom prst="rect">
            <a:avLst/>
          </a:prstGeom>
          <a:noFill/>
        </p:spPr>
        <p:txBody>
          <a:bodyPr wrap="none" lIns="0" rIns="0" tIns="0" bIns="0">
            <a:spAutoFit/>
          </a:bodyPr>
          <a:lstStyle/>
          <a:p>
            <a:r>
              <a:rPr sz="1150" b="0">
                <a:solidFill>
                  <a:srgbClr val="2E2E2E"/>
                </a:solidFill>
                <a:latin typeface="Calibri"/>
              </a:rPr>
              <a:t>▪ 'Untopped' adds the least:</a:t>
            </a:r>
          </a:p>
        </p:txBody>
      </p:sp>
      <p:pic>
        <p:nvPicPr>
          <p:cNvPr id="43" name="Picture 42" descr="lock.png"/>
          <p:cNvPicPr>
            <a:picLocks noChangeAspect="1"/>
          </p:cNvPicPr>
          <p:nvPr/>
        </p:nvPicPr>
        <p:blipFill>
          <a:blip r:embed="rId6"/>
          <a:stretch>
            <a:fillRect/>
          </a:stretch>
        </p:blipFill>
        <p:spPr>
          <a:xfrm>
            <a:off x="7979386" y="2476563"/>
            <a:ext cx="134549" cy="195707"/>
          </a:xfrm>
          <a:prstGeom prst="rect">
            <a:avLst/>
          </a:prstGeom>
        </p:spPr>
      </p:pic>
      <p:sp>
        <p:nvSpPr>
          <p:cNvPr id="44" name="TextBox 43"/>
          <p:cNvSpPr txBox="1"/>
          <p:nvPr/>
        </p:nvSpPr>
        <p:spPr>
          <a:xfrm>
            <a:off x="8154495" y="248678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6"/>
          <a:stretch>
            <a:fillRect/>
          </a:stretch>
        </p:blipFill>
        <p:spPr>
          <a:xfrm>
            <a:off x="8726966" y="2476563"/>
            <a:ext cx="134549" cy="195707"/>
          </a:xfrm>
          <a:prstGeom prst="rect">
            <a:avLst/>
          </a:prstGeom>
        </p:spPr>
      </p:pic>
      <p:sp>
        <p:nvSpPr>
          <p:cNvPr id="46" name="TextBox 45"/>
          <p:cNvSpPr txBox="1"/>
          <p:nvPr/>
        </p:nvSpPr>
        <p:spPr>
          <a:xfrm>
            <a:off x="8902075" y="2486787"/>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7"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5"/>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Surface Finish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Surface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Surface Finish (MT)</a:t>
            </a:r>
          </a:p>
        </p:txBody>
      </p:sp>
      <p:graphicFrame>
        <p:nvGraphicFramePr>
          <p:cNvPr id="13" name="Table 12"/>
          <p:cNvGraphicFramePr>
            <a:graphicFrameLocks noGrp="1"/>
          </p:cNvGraphicFramePr>
          <p:nvPr/>
        </p:nvGraphicFramePr>
        <p:xfrm>
          <a:off x="152400" y="1238250"/>
          <a:ext cx="11887197" cy="1971675"/>
        </p:xfrm>
        <a:graphic>
          <a:graphicData uri="http://schemas.openxmlformats.org/drawingml/2006/table">
            <a:tbl>
              <a:tblPr>
                <a:tableStyleId>{5C22544A-7EE6-4342-B048-85BDC9FD1C3A}</a:tableStyleId>
              </a:tblPr>
              <a:tblGrid>
                <a:gridCol w="1567002"/>
                <a:gridCol w="549861"/>
                <a:gridCol w="549861"/>
                <a:gridCol w="549861"/>
                <a:gridCol w="549861"/>
                <a:gridCol w="549861"/>
                <a:gridCol w="549861"/>
                <a:gridCol w="549861"/>
                <a:gridCol w="661227"/>
                <a:gridCol w="661227"/>
                <a:gridCol w="661227"/>
                <a:gridCol w="661227"/>
                <a:gridCol w="661227"/>
                <a:gridCol w="661227"/>
                <a:gridCol w="661227"/>
                <a:gridCol w="661227"/>
                <a:gridCol w="661227"/>
                <a:gridCol w="520125"/>
              </a:tblGrid>
              <a:tr h="246126">
                <a:tc>
                  <a:txBody>
                    <a:bodyPr wrap="none"/>
                    <a:lstStyle/>
                    <a:p>
                      <a:pPr algn="l"/>
                      <a:r>
                        <a:rPr sz="1100" b="1">
                          <a:solidFill>
                            <a:srgbClr val="0B2E4A"/>
                          </a:solidFill>
                          <a:latin typeface="Calibri"/>
                        </a:rPr>
                        <a:t>Surface Finish</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6507">
                <a:tc>
                  <a:txBody>
                    <a:bodyPr wrap="none"/>
                    <a:lstStyle/>
                    <a:p>
                      <a:pPr algn="l"/>
                      <a:r>
                        <a:rPr sz="1100" b="1">
                          <a:solidFill>
                            <a:srgbClr val="2E2E2E"/>
                          </a:solidFill>
                          <a:latin typeface="Calibri"/>
                        </a:rPr>
                        <a:t>Untopped</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Crumb / streusel-topped</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Sugar-topped</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Nut and seed-topped</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Glazed / drizzled</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Other toppings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Surface Finish</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2809" y="2080450"/>
            <a:ext cx="366712" cy="533400"/>
          </a:xfrm>
          <a:prstGeom prst="rect">
            <a:avLst/>
          </a:prstGeom>
        </p:spPr>
      </p:pic>
      <p:sp>
        <p:nvSpPr>
          <p:cNvPr id="21" name="TextBox 20"/>
          <p:cNvSpPr txBox="1"/>
          <p:nvPr/>
        </p:nvSpPr>
        <p:spPr>
          <a:xfrm>
            <a:off x="276225" y="3971925"/>
            <a:ext cx="2975805" cy="194310"/>
          </a:xfrm>
          <a:prstGeom prst="rect">
            <a:avLst/>
          </a:prstGeom>
          <a:noFill/>
        </p:spPr>
        <p:txBody>
          <a:bodyPr wrap="none" lIns="0" rIns="0" tIns="0" bIns="0">
            <a:spAutoFit/>
          </a:bodyPr>
          <a:lstStyle/>
          <a:p>
            <a:r>
              <a:rPr sz="1150" b="0">
                <a:solidFill>
                  <a:srgbClr val="2E2E2E"/>
                </a:solidFill>
                <a:latin typeface="Calibri"/>
              </a:rPr>
              <a:t>▪ 'Glazed / drizzled' is the largest surface finish at</a:t>
            </a:r>
          </a:p>
        </p:txBody>
      </p:sp>
      <p:pic>
        <p:nvPicPr>
          <p:cNvPr id="22" name="Picture 21" descr="lock.png"/>
          <p:cNvPicPr>
            <a:picLocks noChangeAspect="1"/>
          </p:cNvPicPr>
          <p:nvPr/>
        </p:nvPicPr>
        <p:blipFill>
          <a:blip r:embed="rId4"/>
          <a:stretch>
            <a:fillRect/>
          </a:stretch>
        </p:blipFill>
        <p:spPr>
          <a:xfrm>
            <a:off x="3201184" y="3961701"/>
            <a:ext cx="134549" cy="195707"/>
          </a:xfrm>
          <a:prstGeom prst="rect">
            <a:avLst/>
          </a:prstGeom>
        </p:spPr>
      </p:pic>
      <p:sp>
        <p:nvSpPr>
          <p:cNvPr id="23" name="TextBox 22"/>
          <p:cNvSpPr txBox="1"/>
          <p:nvPr/>
        </p:nvSpPr>
        <p:spPr>
          <a:xfrm>
            <a:off x="3376294" y="397192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06027" y="3961701"/>
            <a:ext cx="134549" cy="195707"/>
          </a:xfrm>
          <a:prstGeom prst="rect">
            <a:avLst/>
          </a:prstGeom>
        </p:spPr>
      </p:pic>
      <p:sp>
        <p:nvSpPr>
          <p:cNvPr id="25" name="TextBox 24"/>
          <p:cNvSpPr txBox="1"/>
          <p:nvPr/>
        </p:nvSpPr>
        <p:spPr>
          <a:xfrm>
            <a:off x="4581136" y="397192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199763"/>
            <a:ext cx="2312020" cy="194310"/>
          </a:xfrm>
          <a:prstGeom prst="rect">
            <a:avLst/>
          </a:prstGeom>
          <a:noFill/>
        </p:spPr>
        <p:txBody>
          <a:bodyPr wrap="none" lIns="0" rIns="0" tIns="0" bIns="0">
            <a:spAutoFit/>
          </a:bodyPr>
          <a:lstStyle/>
          <a:p>
            <a:r>
              <a:rPr sz="1150" b="0">
                <a:solidFill>
                  <a:srgbClr val="2E2E2E"/>
                </a:solidFill>
                <a:latin typeface="Calibri"/>
              </a:rPr>
              <a:t>▪ 'Nut and seed-topped' grows fastest</a:t>
            </a:r>
          </a:p>
        </p:txBody>
      </p:sp>
      <p:pic>
        <p:nvPicPr>
          <p:cNvPr id="27" name="Picture 26" descr="lock.png"/>
          <p:cNvPicPr>
            <a:picLocks noChangeAspect="1"/>
          </p:cNvPicPr>
          <p:nvPr/>
        </p:nvPicPr>
        <p:blipFill>
          <a:blip r:embed="rId4"/>
          <a:stretch>
            <a:fillRect/>
          </a:stretch>
        </p:blipFill>
        <p:spPr>
          <a:xfrm>
            <a:off x="2537399" y="4189539"/>
            <a:ext cx="134549" cy="195707"/>
          </a:xfrm>
          <a:prstGeom prst="rect">
            <a:avLst/>
          </a:prstGeom>
        </p:spPr>
      </p:pic>
      <p:sp>
        <p:nvSpPr>
          <p:cNvPr id="28" name="TextBox 27"/>
          <p:cNvSpPr txBox="1"/>
          <p:nvPr/>
        </p:nvSpPr>
        <p:spPr>
          <a:xfrm>
            <a:off x="2712508" y="41997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27600"/>
            <a:ext cx="2821198" cy="194310"/>
          </a:xfrm>
          <a:prstGeom prst="rect">
            <a:avLst/>
          </a:prstGeom>
          <a:noFill/>
        </p:spPr>
        <p:txBody>
          <a:bodyPr wrap="none" lIns="0" rIns="0" tIns="0" bIns="0">
            <a:spAutoFit/>
          </a:bodyPr>
          <a:lstStyle/>
          <a:p>
            <a:r>
              <a:rPr sz="1150" b="0">
                <a:solidFill>
                  <a:srgbClr val="2E2E2E"/>
                </a:solidFill>
                <a:latin typeface="Calibri"/>
              </a:rPr>
              <a:t>▪ Share shifts toward 'Nut and seed-topped' (+</a:t>
            </a:r>
          </a:p>
        </p:txBody>
      </p:sp>
      <p:pic>
        <p:nvPicPr>
          <p:cNvPr id="30" name="Picture 29" descr="lock.png"/>
          <p:cNvPicPr>
            <a:picLocks noChangeAspect="1"/>
          </p:cNvPicPr>
          <p:nvPr/>
        </p:nvPicPr>
        <p:blipFill>
          <a:blip r:embed="rId4"/>
          <a:stretch>
            <a:fillRect/>
          </a:stretch>
        </p:blipFill>
        <p:spPr>
          <a:xfrm>
            <a:off x="3046577" y="4417377"/>
            <a:ext cx="134549" cy="195707"/>
          </a:xfrm>
          <a:prstGeom prst="rect">
            <a:avLst/>
          </a:prstGeom>
        </p:spPr>
      </p:pic>
      <p:sp>
        <p:nvSpPr>
          <p:cNvPr id="31" name="TextBox 30"/>
          <p:cNvSpPr txBox="1"/>
          <p:nvPr/>
        </p:nvSpPr>
        <p:spPr>
          <a:xfrm>
            <a:off x="3221686" y="4427600"/>
            <a:ext cx="2291767" cy="194310"/>
          </a:xfrm>
          <a:prstGeom prst="rect">
            <a:avLst/>
          </a:prstGeom>
          <a:noFill/>
        </p:spPr>
        <p:txBody>
          <a:bodyPr wrap="none" lIns="0" rIns="0" tIns="0" bIns="0">
            <a:spAutoFit/>
          </a:bodyPr>
          <a:lstStyle/>
          <a:p>
            <a:r>
              <a:rPr sz="1150" b="0">
                <a:solidFill>
                  <a:srgbClr val="2E2E2E"/>
                </a:solidFill>
                <a:latin typeface="Calibri"/>
              </a:rPr>
              <a:t>BPS) and away from 'Sugar-topped' (-</a:t>
            </a:r>
          </a:p>
        </p:txBody>
      </p:sp>
      <p:pic>
        <p:nvPicPr>
          <p:cNvPr id="32" name="Picture 31" descr="lock.png"/>
          <p:cNvPicPr>
            <a:picLocks noChangeAspect="1"/>
          </p:cNvPicPr>
          <p:nvPr/>
        </p:nvPicPr>
        <p:blipFill>
          <a:blip r:embed="rId4"/>
          <a:stretch>
            <a:fillRect/>
          </a:stretch>
        </p:blipFill>
        <p:spPr>
          <a:xfrm>
            <a:off x="5462607" y="4417377"/>
            <a:ext cx="134549" cy="195707"/>
          </a:xfrm>
          <a:prstGeom prst="rect">
            <a:avLst/>
          </a:prstGeom>
        </p:spPr>
      </p:pic>
      <p:sp>
        <p:nvSpPr>
          <p:cNvPr id="33" name="TextBox 32"/>
          <p:cNvSpPr txBox="1"/>
          <p:nvPr/>
        </p:nvSpPr>
        <p:spPr>
          <a:xfrm>
            <a:off x="5637716" y="44276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5543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645215"/>
            <a:ext cx="134549" cy="195707"/>
          </a:xfrm>
          <a:prstGeom prst="rect">
            <a:avLst/>
          </a:prstGeom>
        </p:spPr>
      </p:pic>
      <p:sp>
        <p:nvSpPr>
          <p:cNvPr id="36" name="TextBox 35"/>
          <p:cNvSpPr txBox="1"/>
          <p:nvPr/>
        </p:nvSpPr>
        <p:spPr>
          <a:xfrm>
            <a:off x="1965143" y="46554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645215"/>
            <a:ext cx="134549" cy="195707"/>
          </a:xfrm>
          <a:prstGeom prst="rect">
            <a:avLst/>
          </a:prstGeom>
        </p:spPr>
      </p:pic>
      <p:sp>
        <p:nvSpPr>
          <p:cNvPr id="38" name="TextBox 37"/>
          <p:cNvSpPr txBox="1"/>
          <p:nvPr/>
        </p:nvSpPr>
        <p:spPr>
          <a:xfrm>
            <a:off x="2291688" y="4655438"/>
            <a:ext cx="1470521" cy="194310"/>
          </a:xfrm>
          <a:prstGeom prst="rect">
            <a:avLst/>
          </a:prstGeom>
          <a:noFill/>
        </p:spPr>
        <p:txBody>
          <a:bodyPr wrap="none" lIns="0" rIns="0" tIns="0" bIns="0">
            <a:spAutoFit/>
          </a:bodyPr>
          <a:lstStyle/>
          <a:p>
            <a:r>
              <a:rPr sz="1150" b="0">
                <a:solidFill>
                  <a:srgbClr val="2E2E2E"/>
                </a:solidFill>
                <a:latin typeface="Calibri"/>
              </a:rPr>
              <a:t>MT across 6 categories.</a:t>
            </a:r>
          </a:p>
        </p:txBody>
      </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Surface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Surface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Surface Finish (US$ Mn)</a:t>
            </a:r>
          </a:p>
        </p:txBody>
      </p:sp>
      <p:graphicFrame>
        <p:nvGraphicFramePr>
          <p:cNvPr id="13" name="Table 12"/>
          <p:cNvGraphicFramePr>
            <a:graphicFrameLocks noGrp="1"/>
          </p:cNvGraphicFramePr>
          <p:nvPr/>
        </p:nvGraphicFramePr>
        <p:xfrm>
          <a:off x="152400" y="1238250"/>
          <a:ext cx="11887204" cy="1971675"/>
        </p:xfrm>
        <a:graphic>
          <a:graphicData uri="http://schemas.openxmlformats.org/drawingml/2006/table">
            <a:tbl>
              <a:tblPr>
                <a:tableStyleId>{5C22544A-7EE6-4342-B048-85BDC9FD1C3A}</a:tableStyleId>
              </a:tblPr>
              <a:tblGrid>
                <a:gridCol w="1719130"/>
                <a:gridCol w="598122"/>
                <a:gridCol w="598122"/>
                <a:gridCol w="598122"/>
                <a:gridCol w="598122"/>
                <a:gridCol w="598122"/>
                <a:gridCol w="598122"/>
                <a:gridCol w="598122"/>
                <a:gridCol w="598122"/>
                <a:gridCol w="598122"/>
                <a:gridCol w="598122"/>
                <a:gridCol w="598122"/>
                <a:gridCol w="598122"/>
                <a:gridCol w="598122"/>
                <a:gridCol w="598122"/>
                <a:gridCol w="598122"/>
                <a:gridCol w="598122"/>
                <a:gridCol w="598122"/>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Surface Finish</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68877" y="2080450"/>
            <a:ext cx="366712" cy="533400"/>
          </a:xfrm>
          <a:prstGeom prst="rect">
            <a:avLst/>
          </a:prstGeom>
        </p:spPr>
      </p:pic>
      <p:sp>
        <p:nvSpPr>
          <p:cNvPr id="21" name="TextBox 20"/>
          <p:cNvSpPr txBox="1"/>
          <p:nvPr/>
        </p:nvSpPr>
        <p:spPr>
          <a:xfrm>
            <a:off x="276225" y="3971925"/>
            <a:ext cx="3253358" cy="194310"/>
          </a:xfrm>
          <a:prstGeom prst="rect">
            <a:avLst/>
          </a:prstGeom>
          <a:noFill/>
        </p:spPr>
        <p:txBody>
          <a:bodyPr wrap="none" lIns="0" rIns="0" tIns="0" bIns="0">
            <a:spAutoFit/>
          </a:bodyPr>
          <a:lstStyle/>
          <a:p>
            <a:r>
              <a:rPr sz="1150" b="0">
                <a:solidFill>
                  <a:srgbClr val="2E2E2E"/>
                </a:solidFill>
                <a:latin typeface="Calibri"/>
              </a:rPr>
              <a:t>▪ 'Nut and seed-topped' is the largest surface finish at</a:t>
            </a:r>
          </a:p>
        </p:txBody>
      </p:sp>
      <p:pic>
        <p:nvPicPr>
          <p:cNvPr id="22" name="Picture 21" descr="lock.png"/>
          <p:cNvPicPr>
            <a:picLocks noChangeAspect="1"/>
          </p:cNvPicPr>
          <p:nvPr/>
        </p:nvPicPr>
        <p:blipFill>
          <a:blip r:embed="rId4"/>
          <a:stretch>
            <a:fillRect/>
          </a:stretch>
        </p:blipFill>
        <p:spPr>
          <a:xfrm>
            <a:off x="3478736" y="3961701"/>
            <a:ext cx="134549" cy="195707"/>
          </a:xfrm>
          <a:prstGeom prst="rect">
            <a:avLst/>
          </a:prstGeom>
        </p:spPr>
      </p:pic>
      <p:sp>
        <p:nvSpPr>
          <p:cNvPr id="23" name="TextBox 22"/>
          <p:cNvSpPr txBox="1"/>
          <p:nvPr/>
        </p:nvSpPr>
        <p:spPr>
          <a:xfrm>
            <a:off x="3653846" y="39719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559778" y="3961701"/>
            <a:ext cx="134549" cy="195707"/>
          </a:xfrm>
          <a:prstGeom prst="rect">
            <a:avLst/>
          </a:prstGeom>
        </p:spPr>
      </p:pic>
      <p:sp>
        <p:nvSpPr>
          <p:cNvPr id="25" name="TextBox 24"/>
          <p:cNvSpPr txBox="1"/>
          <p:nvPr/>
        </p:nvSpPr>
        <p:spPr>
          <a:xfrm>
            <a:off x="4734888" y="39719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199763"/>
            <a:ext cx="2312020" cy="194310"/>
          </a:xfrm>
          <a:prstGeom prst="rect">
            <a:avLst/>
          </a:prstGeom>
          <a:noFill/>
        </p:spPr>
        <p:txBody>
          <a:bodyPr wrap="none" lIns="0" rIns="0" tIns="0" bIns="0">
            <a:spAutoFit/>
          </a:bodyPr>
          <a:lstStyle/>
          <a:p>
            <a:r>
              <a:rPr sz="1150" b="0">
                <a:solidFill>
                  <a:srgbClr val="2E2E2E"/>
                </a:solidFill>
                <a:latin typeface="Calibri"/>
              </a:rPr>
              <a:t>▪ 'Nut and seed-topped' grows fastest</a:t>
            </a:r>
          </a:p>
        </p:txBody>
      </p:sp>
      <p:pic>
        <p:nvPicPr>
          <p:cNvPr id="27" name="Picture 26" descr="lock.png"/>
          <p:cNvPicPr>
            <a:picLocks noChangeAspect="1"/>
          </p:cNvPicPr>
          <p:nvPr/>
        </p:nvPicPr>
        <p:blipFill>
          <a:blip r:embed="rId4"/>
          <a:stretch>
            <a:fillRect/>
          </a:stretch>
        </p:blipFill>
        <p:spPr>
          <a:xfrm>
            <a:off x="2537399" y="4189539"/>
            <a:ext cx="134549" cy="195707"/>
          </a:xfrm>
          <a:prstGeom prst="rect">
            <a:avLst/>
          </a:prstGeom>
        </p:spPr>
      </p:pic>
      <p:sp>
        <p:nvSpPr>
          <p:cNvPr id="28" name="TextBox 27"/>
          <p:cNvSpPr txBox="1"/>
          <p:nvPr/>
        </p:nvSpPr>
        <p:spPr>
          <a:xfrm>
            <a:off x="2712508" y="41997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27600"/>
            <a:ext cx="2821198" cy="194310"/>
          </a:xfrm>
          <a:prstGeom prst="rect">
            <a:avLst/>
          </a:prstGeom>
          <a:noFill/>
        </p:spPr>
        <p:txBody>
          <a:bodyPr wrap="none" lIns="0" rIns="0" tIns="0" bIns="0">
            <a:spAutoFit/>
          </a:bodyPr>
          <a:lstStyle/>
          <a:p>
            <a:r>
              <a:rPr sz="1150" b="0">
                <a:solidFill>
                  <a:srgbClr val="2E2E2E"/>
                </a:solidFill>
                <a:latin typeface="Calibri"/>
              </a:rPr>
              <a:t>▪ Share shifts toward 'Nut and seed-topped' (+</a:t>
            </a:r>
          </a:p>
        </p:txBody>
      </p:sp>
      <p:pic>
        <p:nvPicPr>
          <p:cNvPr id="30" name="Picture 29" descr="lock.png"/>
          <p:cNvPicPr>
            <a:picLocks noChangeAspect="1"/>
          </p:cNvPicPr>
          <p:nvPr/>
        </p:nvPicPr>
        <p:blipFill>
          <a:blip r:embed="rId4"/>
          <a:stretch>
            <a:fillRect/>
          </a:stretch>
        </p:blipFill>
        <p:spPr>
          <a:xfrm>
            <a:off x="3046577" y="4417377"/>
            <a:ext cx="134549" cy="195707"/>
          </a:xfrm>
          <a:prstGeom prst="rect">
            <a:avLst/>
          </a:prstGeom>
        </p:spPr>
      </p:pic>
      <p:sp>
        <p:nvSpPr>
          <p:cNvPr id="31" name="TextBox 30"/>
          <p:cNvSpPr txBox="1"/>
          <p:nvPr/>
        </p:nvSpPr>
        <p:spPr>
          <a:xfrm>
            <a:off x="3221686" y="4427600"/>
            <a:ext cx="2291767" cy="194310"/>
          </a:xfrm>
          <a:prstGeom prst="rect">
            <a:avLst/>
          </a:prstGeom>
          <a:noFill/>
        </p:spPr>
        <p:txBody>
          <a:bodyPr wrap="none" lIns="0" rIns="0" tIns="0" bIns="0">
            <a:spAutoFit/>
          </a:bodyPr>
          <a:lstStyle/>
          <a:p>
            <a:r>
              <a:rPr sz="1150" b="0">
                <a:solidFill>
                  <a:srgbClr val="2E2E2E"/>
                </a:solidFill>
                <a:latin typeface="Calibri"/>
              </a:rPr>
              <a:t>BPS) and away from 'Sugar-topped' (-</a:t>
            </a:r>
          </a:p>
        </p:txBody>
      </p:sp>
      <p:pic>
        <p:nvPicPr>
          <p:cNvPr id="32" name="Picture 31" descr="lock.png"/>
          <p:cNvPicPr>
            <a:picLocks noChangeAspect="1"/>
          </p:cNvPicPr>
          <p:nvPr/>
        </p:nvPicPr>
        <p:blipFill>
          <a:blip r:embed="rId4"/>
          <a:stretch>
            <a:fillRect/>
          </a:stretch>
        </p:blipFill>
        <p:spPr>
          <a:xfrm>
            <a:off x="5462607" y="4417377"/>
            <a:ext cx="134549" cy="195707"/>
          </a:xfrm>
          <a:prstGeom prst="rect">
            <a:avLst/>
          </a:prstGeom>
        </p:spPr>
      </p:pic>
      <p:sp>
        <p:nvSpPr>
          <p:cNvPr id="33" name="TextBox 32"/>
          <p:cNvSpPr txBox="1"/>
          <p:nvPr/>
        </p:nvSpPr>
        <p:spPr>
          <a:xfrm>
            <a:off x="5637716" y="44276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554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645215"/>
            <a:ext cx="134549" cy="195707"/>
          </a:xfrm>
          <a:prstGeom prst="rect">
            <a:avLst/>
          </a:prstGeom>
        </p:spPr>
      </p:pic>
      <p:sp>
        <p:nvSpPr>
          <p:cNvPr id="36" name="TextBox 35"/>
          <p:cNvSpPr txBox="1"/>
          <p:nvPr/>
        </p:nvSpPr>
        <p:spPr>
          <a:xfrm>
            <a:off x="1841342" y="46554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645215"/>
            <a:ext cx="134549" cy="195707"/>
          </a:xfrm>
          <a:prstGeom prst="rect">
            <a:avLst/>
          </a:prstGeom>
        </p:spPr>
      </p:pic>
      <p:sp>
        <p:nvSpPr>
          <p:cNvPr id="38" name="TextBox 37"/>
          <p:cNvSpPr txBox="1"/>
          <p:nvPr/>
        </p:nvSpPr>
        <p:spPr>
          <a:xfrm>
            <a:off x="2167888" y="4655438"/>
            <a:ext cx="1744079" cy="194310"/>
          </a:xfrm>
          <a:prstGeom prst="rect">
            <a:avLst/>
          </a:prstGeom>
          <a:noFill/>
        </p:spPr>
        <p:txBody>
          <a:bodyPr wrap="none" lIns="0" rIns="0" tIns="0" bIns="0">
            <a:spAutoFit/>
          </a:bodyPr>
          <a:lstStyle/>
          <a:p>
            <a:r>
              <a:rPr sz="1150" b="0">
                <a:solidFill>
                  <a:srgbClr val="2E2E2E"/>
                </a:solidFill>
                <a:latin typeface="Calibri"/>
              </a:rPr>
              <a:t>US$ Mn across 6 categories.</a:t>
            </a: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Surface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Surface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Surface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9794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931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169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Crumb / streusel-topped</a:t>
            </a:r>
          </a:p>
        </p:txBody>
      </p:sp>
      <p:sp>
        <p:nvSpPr>
          <p:cNvPr id="19" name="BPS Value 1"/>
          <p:cNvSpPr txBox="1"/>
          <p:nvPr/>
        </p:nvSpPr>
        <p:spPr>
          <a:xfrm>
            <a:off x="6896100" y="177889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08449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797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035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Untopped</a:t>
            </a:r>
          </a:p>
        </p:txBody>
      </p:sp>
      <p:sp>
        <p:nvSpPr>
          <p:cNvPr id="23" name="BPS Value 2"/>
          <p:cNvSpPr txBox="1"/>
          <p:nvPr/>
        </p:nvSpPr>
        <p:spPr>
          <a:xfrm>
            <a:off x="6896100" y="20654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4476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4428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666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Sugar-topped</a:t>
            </a:r>
          </a:p>
        </p:txBody>
      </p:sp>
      <p:sp>
        <p:nvSpPr>
          <p:cNvPr id="27" name="BPS Value 3"/>
          <p:cNvSpPr txBox="1"/>
          <p:nvPr/>
        </p:nvSpPr>
        <p:spPr>
          <a:xfrm>
            <a:off x="6896100" y="242858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287063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6587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896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toppings</a:t>
            </a:r>
          </a:p>
        </p:txBody>
      </p:sp>
      <p:sp>
        <p:nvSpPr>
          <p:cNvPr id="31" name="BPS Value 4"/>
          <p:cNvSpPr txBox="1"/>
          <p:nvPr/>
        </p:nvSpPr>
        <p:spPr>
          <a:xfrm>
            <a:off x="6896100" y="285158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382489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8201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7439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Glazed / drizzled</a:t>
            </a:r>
          </a:p>
        </p:txBody>
      </p:sp>
      <p:sp>
        <p:nvSpPr>
          <p:cNvPr id="35" name="BPS Value 5"/>
          <p:cNvSpPr txBox="1"/>
          <p:nvPr/>
        </p:nvSpPr>
        <p:spPr>
          <a:xfrm>
            <a:off x="6896100" y="380584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928997" y="540153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3967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3205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Nut and seed-topped</a:t>
            </a:r>
          </a:p>
        </p:txBody>
      </p:sp>
      <p:sp>
        <p:nvSpPr>
          <p:cNvPr id="39" name="BPS Value 6"/>
          <p:cNvSpPr txBox="1"/>
          <p:nvPr/>
        </p:nvSpPr>
        <p:spPr>
          <a:xfrm>
            <a:off x="6896100" y="538248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Surface Finish</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5" name="Picture 44" descr="lock.png"/>
          <p:cNvPicPr>
            <a:picLocks noChangeAspect="1"/>
          </p:cNvPicPr>
          <p:nvPr/>
        </p:nvPicPr>
        <p:blipFill>
          <a:blip r:embed="rId5"/>
          <a:stretch>
            <a:fillRect/>
          </a:stretch>
        </p:blipFill>
        <p:spPr>
          <a:xfrm>
            <a:off x="2557843" y="3833622"/>
            <a:ext cx="275034" cy="400050"/>
          </a:xfrm>
          <a:prstGeom prst="rect">
            <a:avLst/>
          </a:prstGeom>
        </p:spPr>
      </p:pic>
      <p:sp>
        <p:nvSpPr>
          <p:cNvPr id="46" name="TextBox 45"/>
          <p:cNvSpPr txBox="1"/>
          <p:nvPr/>
        </p:nvSpPr>
        <p:spPr>
          <a:xfrm>
            <a:off x="7829550" y="1400175"/>
            <a:ext cx="2858281" cy="194310"/>
          </a:xfrm>
          <a:prstGeom prst="rect">
            <a:avLst/>
          </a:prstGeom>
          <a:noFill/>
        </p:spPr>
        <p:txBody>
          <a:bodyPr wrap="none" lIns="0" rIns="0" tIns="0" bIns="0">
            <a:spAutoFit/>
          </a:bodyPr>
          <a:lstStyle/>
          <a:p>
            <a:r>
              <a:rPr sz="1150" b="0">
                <a:solidFill>
                  <a:srgbClr val="2E2E2E"/>
                </a:solidFill>
                <a:latin typeface="Calibri"/>
              </a:rPr>
              <a:t>▪ 'Nut and seed-topped' gains the most share +</a:t>
            </a:r>
          </a:p>
        </p:txBody>
      </p:sp>
      <p:pic>
        <p:nvPicPr>
          <p:cNvPr id="47" name="Picture 46" descr="lock.png"/>
          <p:cNvPicPr>
            <a:picLocks noChangeAspect="1"/>
          </p:cNvPicPr>
          <p:nvPr/>
        </p:nvPicPr>
        <p:blipFill>
          <a:blip r:embed="rId5"/>
          <a:stretch>
            <a:fillRect/>
          </a:stretch>
        </p:blipFill>
        <p:spPr>
          <a:xfrm>
            <a:off x="10636985" y="1389951"/>
            <a:ext cx="134549" cy="195707"/>
          </a:xfrm>
          <a:prstGeom prst="rect">
            <a:avLst/>
          </a:prstGeom>
        </p:spPr>
      </p:pic>
      <p:sp>
        <p:nvSpPr>
          <p:cNvPr id="48" name="TextBox 47"/>
          <p:cNvSpPr txBox="1"/>
          <p:nvPr/>
        </p:nvSpPr>
        <p:spPr>
          <a:xfrm>
            <a:off x="10812094"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49" name="TextBox 48"/>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50" name="TextBox 49"/>
          <p:cNvSpPr txBox="1"/>
          <p:nvPr/>
        </p:nvSpPr>
        <p:spPr>
          <a:xfrm>
            <a:off x="7829550" y="1803273"/>
            <a:ext cx="2049301" cy="194310"/>
          </a:xfrm>
          <a:prstGeom prst="rect">
            <a:avLst/>
          </a:prstGeom>
          <a:noFill/>
        </p:spPr>
        <p:txBody>
          <a:bodyPr wrap="none" lIns="0" rIns="0" tIns="0" bIns="0">
            <a:spAutoFit/>
          </a:bodyPr>
          <a:lstStyle/>
          <a:p>
            <a:r>
              <a:rPr sz="1150" b="0">
                <a:solidFill>
                  <a:srgbClr val="2E2E2E"/>
                </a:solidFill>
                <a:latin typeface="Calibri"/>
              </a:rPr>
              <a:t>▪ 'Sugar-topped' cedes the most -</a:t>
            </a:r>
          </a:p>
        </p:txBody>
      </p:sp>
      <p:pic>
        <p:nvPicPr>
          <p:cNvPr id="51" name="Picture 50" descr="lock.png"/>
          <p:cNvPicPr>
            <a:picLocks noChangeAspect="1"/>
          </p:cNvPicPr>
          <p:nvPr/>
        </p:nvPicPr>
        <p:blipFill>
          <a:blip r:embed="rId5"/>
          <a:stretch>
            <a:fillRect/>
          </a:stretch>
        </p:blipFill>
        <p:spPr>
          <a:xfrm>
            <a:off x="9828005" y="1793049"/>
            <a:ext cx="134549" cy="195707"/>
          </a:xfrm>
          <a:prstGeom prst="rect">
            <a:avLst/>
          </a:prstGeom>
        </p:spPr>
      </p:pic>
      <p:sp>
        <p:nvSpPr>
          <p:cNvPr id="52" name="TextBox 51"/>
          <p:cNvSpPr txBox="1"/>
          <p:nvPr/>
        </p:nvSpPr>
        <p:spPr>
          <a:xfrm>
            <a:off x="10003114"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53" name="TextBox 52"/>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54" name="TextBox 53"/>
          <p:cNvSpPr txBox="1"/>
          <p:nvPr/>
        </p:nvSpPr>
        <p:spPr>
          <a:xfrm>
            <a:off x="7829550" y="2206371"/>
            <a:ext cx="3775657" cy="194310"/>
          </a:xfrm>
          <a:prstGeom prst="rect">
            <a:avLst/>
          </a:prstGeom>
          <a:noFill/>
        </p:spPr>
        <p:txBody>
          <a:bodyPr wrap="none" lIns="0" rIns="0" tIns="0" bIns="0">
            <a:spAutoFit/>
          </a:bodyPr>
          <a:lstStyle/>
          <a:p>
            <a:r>
              <a:rPr sz="1150" b="0">
                <a:solidFill>
                  <a:srgbClr val="2E2E2E"/>
                </a:solidFill>
                <a:latin typeface="Calibri"/>
              </a:rPr>
              <a:t>▪ 'Nut and seed-topped' is the fastest-growing surface finish at</a:t>
            </a:r>
          </a:p>
        </p:txBody>
      </p:sp>
      <p:pic>
        <p:nvPicPr>
          <p:cNvPr id="55" name="Picture 54" descr="lock.png"/>
          <p:cNvPicPr>
            <a:picLocks noChangeAspect="1"/>
          </p:cNvPicPr>
          <p:nvPr/>
        </p:nvPicPr>
        <p:blipFill>
          <a:blip r:embed="rId5"/>
          <a:stretch>
            <a:fillRect/>
          </a:stretch>
        </p:blipFill>
        <p:spPr>
          <a:xfrm>
            <a:off x="11554361" y="2196147"/>
            <a:ext cx="134549" cy="195707"/>
          </a:xfrm>
          <a:prstGeom prst="rect">
            <a:avLst/>
          </a:prstGeom>
        </p:spPr>
      </p:pic>
      <p:sp>
        <p:nvSpPr>
          <p:cNvPr id="56" name="TextBox 55"/>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7" name="TextBox 56"/>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8" name="Picture 57" descr="lock.png"/>
          <p:cNvPicPr>
            <a:picLocks noChangeAspect="1"/>
          </p:cNvPicPr>
          <p:nvPr/>
        </p:nvPicPr>
        <p:blipFill>
          <a:blip r:embed="rId5"/>
          <a:stretch>
            <a:fillRect/>
          </a:stretch>
        </p:blipFill>
        <p:spPr>
          <a:xfrm>
            <a:off x="9327669" y="2599245"/>
            <a:ext cx="134549" cy="195707"/>
          </a:xfrm>
          <a:prstGeom prst="rect">
            <a:avLst/>
          </a:prstGeom>
        </p:spPr>
      </p:pic>
      <p:sp>
        <p:nvSpPr>
          <p:cNvPr id="59" name="TextBox 58"/>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0" name="Picture 59" descr="lock.png"/>
          <p:cNvPicPr>
            <a:picLocks noChangeAspect="1"/>
          </p:cNvPicPr>
          <p:nvPr/>
        </p:nvPicPr>
        <p:blipFill>
          <a:blip r:embed="rId5"/>
          <a:stretch>
            <a:fillRect/>
          </a:stretch>
        </p:blipFill>
        <p:spPr>
          <a:xfrm>
            <a:off x="9654215" y="2599245"/>
            <a:ext cx="134549" cy="195707"/>
          </a:xfrm>
          <a:prstGeom prst="rect">
            <a:avLst/>
          </a:prstGeom>
        </p:spPr>
      </p:pic>
      <p:sp>
        <p:nvSpPr>
          <p:cNvPr id="61" name="TextBox 60"/>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62" name="TextBox 61"/>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63" name="TextBox 62"/>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64"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Surface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Surface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724028"/>
        </p:xfrm>
        <a:graphic>
          <a:graphicData uri="http://schemas.openxmlformats.org/drawingml/2006/table">
            <a:tbl>
              <a:tblPr>
                <a:tableStyleId>{5C22544A-7EE6-4342-B048-85BDC9FD1C3A}</a:tableStyleId>
              </a:tblPr>
              <a:tblGrid>
                <a:gridCol w="1762417"/>
                <a:gridCol w="674986"/>
                <a:gridCol w="674986"/>
                <a:gridCol w="674986"/>
                <a:gridCol w="674986"/>
                <a:gridCol w="674986"/>
                <a:gridCol w="674986"/>
                <a:gridCol w="674986"/>
                <a:gridCol w="674986"/>
                <a:gridCol w="674986"/>
                <a:gridCol w="674986"/>
                <a:gridCol w="674986"/>
                <a:gridCol w="674986"/>
                <a:gridCol w="674986"/>
                <a:gridCol w="674986"/>
                <a:gridCol w="674986"/>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Surface Finish (%)  ·  light = lower, dark = higher growth</a:t>
            </a:r>
          </a:p>
        </p:txBody>
      </p:sp>
      <p:sp>
        <p:nvSpPr>
          <p:cNvPr id="17" name="TextBox 16"/>
          <p:cNvSpPr txBox="1"/>
          <p:nvPr/>
        </p:nvSpPr>
        <p:spPr>
          <a:xfrm>
            <a:off x="18573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sp>
        <p:nvSpPr>
          <p:cNvPr id="33" name="Rectangle 32"/>
          <p:cNvSpPr/>
          <p:nvPr/>
        </p:nvSpPr>
        <p:spPr>
          <a:xfrm>
            <a:off x="1857375" y="3733800"/>
            <a:ext cx="643890"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733800"/>
            <a:ext cx="643890" cy="47307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733800"/>
            <a:ext cx="643890"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733800"/>
            <a:ext cx="643890" cy="47307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733800"/>
            <a:ext cx="643890"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733800"/>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73380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733800"/>
            <a:ext cx="643890"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733800"/>
            <a:ext cx="643890"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733800"/>
            <a:ext cx="643890" cy="47307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733800"/>
            <a:ext cx="643890" cy="47307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73380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733800"/>
            <a:ext cx="643890" cy="47307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733800"/>
            <a:ext cx="643890"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733800"/>
            <a:ext cx="643890"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sp>
        <p:nvSpPr>
          <p:cNvPr id="49" name="Rectangle 48"/>
          <p:cNvSpPr/>
          <p:nvPr/>
        </p:nvSpPr>
        <p:spPr>
          <a:xfrm>
            <a:off x="1857375" y="4206875"/>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06875"/>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06875"/>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06875"/>
            <a:ext cx="643890"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06875"/>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06875"/>
            <a:ext cx="643890" cy="47307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06875"/>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06875"/>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06875"/>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06875"/>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06875"/>
            <a:ext cx="643890" cy="47307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06875"/>
            <a:ext cx="643890" cy="47307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06875"/>
            <a:ext cx="643890" cy="47307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06875"/>
            <a:ext cx="643890"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06875"/>
            <a:ext cx="643890"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sp>
        <p:nvSpPr>
          <p:cNvPr id="65" name="Rectangle 64"/>
          <p:cNvSpPr/>
          <p:nvPr/>
        </p:nvSpPr>
        <p:spPr>
          <a:xfrm>
            <a:off x="1857375" y="4679950"/>
            <a:ext cx="643890" cy="47307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7995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79950"/>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7995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7995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79950"/>
            <a:ext cx="643890"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79950"/>
            <a:ext cx="643890"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79950"/>
            <a:ext cx="643890" cy="47307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79950"/>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79950"/>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79950"/>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79950"/>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79950"/>
            <a:ext cx="643890" cy="473075"/>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79950"/>
            <a:ext cx="643890" cy="47307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7995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sp>
        <p:nvSpPr>
          <p:cNvPr id="81" name="Rectangle 80"/>
          <p:cNvSpPr/>
          <p:nvPr/>
        </p:nvSpPr>
        <p:spPr>
          <a:xfrm>
            <a:off x="1857375" y="5153025"/>
            <a:ext cx="643890" cy="473075"/>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53025"/>
            <a:ext cx="643890" cy="473075"/>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53025"/>
            <a:ext cx="643890" cy="47307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53025"/>
            <a:ext cx="643890" cy="473075"/>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5302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53025"/>
            <a:ext cx="643890"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53025"/>
            <a:ext cx="643890" cy="47307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53025"/>
            <a:ext cx="643890" cy="47307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53025"/>
            <a:ext cx="643890" cy="47307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53025"/>
            <a:ext cx="643890" cy="47307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53025"/>
            <a:ext cx="643890" cy="47307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53025"/>
            <a:ext cx="643890" cy="47307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53025"/>
            <a:ext cx="643890" cy="47307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53025"/>
            <a:ext cx="643890" cy="47307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53025"/>
            <a:ext cx="643890" cy="47307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sp>
        <p:nvSpPr>
          <p:cNvPr id="97" name="Rectangle 96"/>
          <p:cNvSpPr/>
          <p:nvPr/>
        </p:nvSpPr>
        <p:spPr>
          <a:xfrm>
            <a:off x="185737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626100"/>
            <a:ext cx="643890" cy="47307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626100"/>
            <a:ext cx="643890" cy="47307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113" name="Rectangle 112"/>
          <p:cNvSpPr/>
          <p:nvPr/>
        </p:nvSpPr>
        <p:spPr>
          <a:xfrm>
            <a:off x="1857375" y="6099175"/>
            <a:ext cx="643890" cy="473075"/>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6099175"/>
            <a:ext cx="643890" cy="473075"/>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609917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6099175"/>
            <a:ext cx="643890" cy="473075"/>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6099175"/>
            <a:ext cx="643890" cy="473075"/>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6099175"/>
            <a:ext cx="643890" cy="47307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6099175"/>
            <a:ext cx="643890" cy="47307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609917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609917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6099175"/>
            <a:ext cx="643890"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6099175"/>
            <a:ext cx="643890" cy="47307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6099175"/>
            <a:ext cx="643890" cy="473075"/>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6099175"/>
            <a:ext cx="643890" cy="473075"/>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6099175"/>
            <a:ext cx="643890" cy="473075"/>
          </a:xfrm>
          <a:prstGeom prst="rect">
            <a:avLst/>
          </a:prstGeom>
          <a:solidFill>
            <a:srgbClr val="0C43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6099175"/>
            <a:ext cx="643890" cy="47307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6790522" y="1956627"/>
            <a:ext cx="366712" cy="533400"/>
          </a:xfrm>
          <a:prstGeom prst="rect">
            <a:avLst/>
          </a:prstGeom>
        </p:spPr>
      </p:pic>
      <p:pic>
        <p:nvPicPr>
          <p:cNvPr id="174" name="Picture 173" descr="lock.png"/>
          <p:cNvPicPr>
            <a:picLocks noChangeAspect="1"/>
          </p:cNvPicPr>
          <p:nvPr/>
        </p:nvPicPr>
        <p:blipFill>
          <a:blip r:embed="rId4"/>
          <a:stretch>
            <a:fillRect/>
          </a:stretch>
        </p:blipFill>
        <p:spPr>
          <a:xfrm>
            <a:off x="11760938" y="3678301"/>
            <a:ext cx="128699" cy="187198"/>
          </a:xfrm>
          <a:prstGeom prst="rect">
            <a:avLst/>
          </a:prstGeom>
        </p:spPr>
      </p:pic>
      <p:pic>
        <p:nvPicPr>
          <p:cNvPr id="175" name="Picture 174" descr="lock.png"/>
          <p:cNvPicPr>
            <a:picLocks noChangeAspect="1"/>
          </p:cNvPicPr>
          <p:nvPr/>
        </p:nvPicPr>
        <p:blipFill>
          <a:blip r:embed="rId4"/>
          <a:stretch>
            <a:fillRect/>
          </a:stretch>
        </p:blipFill>
        <p:spPr>
          <a:xfrm>
            <a:off x="11760938" y="5059426"/>
            <a:ext cx="128699" cy="187198"/>
          </a:xfrm>
          <a:prstGeom prst="rect">
            <a:avLst/>
          </a:prstGeom>
        </p:spPr>
      </p:pic>
      <p:pic>
        <p:nvPicPr>
          <p:cNvPr id="176" name="Picture 17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Surface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Surface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8"/>
        </p:xfrm>
        <a:graphic>
          <a:graphicData uri="http://schemas.openxmlformats.org/drawingml/2006/table">
            <a:tbl>
              <a:tblPr>
                <a:tableStyleId>{5C22544A-7EE6-4342-B048-85BDC9FD1C3A}</a:tableStyleId>
              </a:tblPr>
              <a:tblGrid>
                <a:gridCol w="1878323"/>
                <a:gridCol w="667258"/>
                <a:gridCol w="667258"/>
                <a:gridCol w="667258"/>
                <a:gridCol w="667258"/>
                <a:gridCol w="667258"/>
                <a:gridCol w="667258"/>
                <a:gridCol w="667258"/>
                <a:gridCol w="667258"/>
                <a:gridCol w="667258"/>
                <a:gridCol w="667258"/>
                <a:gridCol w="667258"/>
                <a:gridCol w="667258"/>
                <a:gridCol w="667258"/>
                <a:gridCol w="667258"/>
                <a:gridCol w="66725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Surface Finish (%)  ·  light = lower, dark = higher growth</a:t>
            </a:r>
          </a:p>
        </p:txBody>
      </p:sp>
      <p:sp>
        <p:nvSpPr>
          <p:cNvPr id="17" name="TextBox 16"/>
          <p:cNvSpPr txBox="1"/>
          <p:nvPr/>
        </p:nvSpPr>
        <p:spPr>
          <a:xfrm>
            <a:off x="18573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sp>
        <p:nvSpPr>
          <p:cNvPr id="33" name="Rectangle 32"/>
          <p:cNvSpPr/>
          <p:nvPr/>
        </p:nvSpPr>
        <p:spPr>
          <a:xfrm>
            <a:off x="1857375" y="3733800"/>
            <a:ext cx="643890"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733800"/>
            <a:ext cx="643890" cy="47307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733800"/>
            <a:ext cx="643890"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733800"/>
            <a:ext cx="643890" cy="47307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733800"/>
            <a:ext cx="643890"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733800"/>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73380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733800"/>
            <a:ext cx="643890"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733800"/>
            <a:ext cx="643890"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733800"/>
            <a:ext cx="643890" cy="47307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733800"/>
            <a:ext cx="643890" cy="47307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73380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733800"/>
            <a:ext cx="643890" cy="47307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733800"/>
            <a:ext cx="643890"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733800"/>
            <a:ext cx="643890"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sp>
        <p:nvSpPr>
          <p:cNvPr id="49" name="Rectangle 48"/>
          <p:cNvSpPr/>
          <p:nvPr/>
        </p:nvSpPr>
        <p:spPr>
          <a:xfrm>
            <a:off x="1857375" y="4206875"/>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06875"/>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06875"/>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06875"/>
            <a:ext cx="643890"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06875"/>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06875"/>
            <a:ext cx="643890" cy="47307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06875"/>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06875"/>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06875"/>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06875"/>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06875"/>
            <a:ext cx="643890" cy="47307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06875"/>
            <a:ext cx="643890" cy="47307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06875"/>
            <a:ext cx="643890" cy="47307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06875"/>
            <a:ext cx="643890"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06875"/>
            <a:ext cx="643890"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sp>
        <p:nvSpPr>
          <p:cNvPr id="65" name="Rectangle 64"/>
          <p:cNvSpPr/>
          <p:nvPr/>
        </p:nvSpPr>
        <p:spPr>
          <a:xfrm>
            <a:off x="1857375" y="467995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7995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7995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7995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7995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79950"/>
            <a:ext cx="643890"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79950"/>
            <a:ext cx="643890"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79950"/>
            <a:ext cx="643890" cy="47307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79950"/>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79950"/>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79950"/>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79950"/>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79950"/>
            <a:ext cx="643890" cy="473075"/>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79950"/>
            <a:ext cx="643890" cy="47307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7995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sp>
        <p:nvSpPr>
          <p:cNvPr id="81" name="Rectangle 80"/>
          <p:cNvSpPr/>
          <p:nvPr/>
        </p:nvSpPr>
        <p:spPr>
          <a:xfrm>
            <a:off x="1857375" y="5153025"/>
            <a:ext cx="643890" cy="473075"/>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53025"/>
            <a:ext cx="643890" cy="473075"/>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53025"/>
            <a:ext cx="643890" cy="47307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53025"/>
            <a:ext cx="643890" cy="473075"/>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5302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53025"/>
            <a:ext cx="643890"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53025"/>
            <a:ext cx="643890" cy="47307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53025"/>
            <a:ext cx="643890" cy="47307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53025"/>
            <a:ext cx="643890" cy="47307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53025"/>
            <a:ext cx="643890" cy="47307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53025"/>
            <a:ext cx="643890" cy="47307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53025"/>
            <a:ext cx="643890" cy="47307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53025"/>
            <a:ext cx="643890" cy="47307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53025"/>
            <a:ext cx="643890" cy="47307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53025"/>
            <a:ext cx="643890" cy="47307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sp>
        <p:nvSpPr>
          <p:cNvPr id="97" name="Rectangle 96"/>
          <p:cNvSpPr/>
          <p:nvPr/>
        </p:nvSpPr>
        <p:spPr>
          <a:xfrm>
            <a:off x="185737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626100"/>
            <a:ext cx="643890" cy="47307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626100"/>
            <a:ext cx="643890" cy="47307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113" name="Rectangle 112"/>
          <p:cNvSpPr/>
          <p:nvPr/>
        </p:nvSpPr>
        <p:spPr>
          <a:xfrm>
            <a:off x="1857375" y="6099175"/>
            <a:ext cx="643890" cy="473075"/>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6099175"/>
            <a:ext cx="643890" cy="473075"/>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609917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6099175"/>
            <a:ext cx="643890" cy="473075"/>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6099175"/>
            <a:ext cx="643890" cy="473075"/>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6099175"/>
            <a:ext cx="643890" cy="47307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6099175"/>
            <a:ext cx="643890" cy="47307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609917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609917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6099175"/>
            <a:ext cx="643890"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6099175"/>
            <a:ext cx="643890" cy="47307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6099175"/>
            <a:ext cx="643890" cy="473075"/>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6099175"/>
            <a:ext cx="643890" cy="473075"/>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6099175"/>
            <a:ext cx="643890" cy="473075"/>
          </a:xfrm>
          <a:prstGeom prst="rect">
            <a:avLst/>
          </a:prstGeom>
          <a:solidFill>
            <a:srgbClr val="0C43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6099175"/>
            <a:ext cx="643890" cy="47307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6848467" y="1956627"/>
            <a:ext cx="366712" cy="533400"/>
          </a:xfrm>
          <a:prstGeom prst="rect">
            <a:avLst/>
          </a:prstGeom>
        </p:spPr>
      </p:pic>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Individual Muffin Size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Individual Muffin Size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Individual Muffin Size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Individual Muffin Size,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Individual Muffin Size segment categorizes the market by individual muffin size.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- 60 g to below 100 g</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Small - 30 g to below 60 g</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Large / jumbo - 100 g and above</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Mini / bite-sized - below 30 g</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Individual Muffin Size split shows how demand is distributed across individual muffin size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594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_371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979_2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190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0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843_2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1_475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8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80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316_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5_8__605E5C.png"/>
          <p:cNvPicPr>
            <a:picLocks noChangeAspect="1"/>
          </p:cNvPicPr>
          <p:nvPr/>
        </p:nvPicPr>
        <p:blipFill>
          <a:blip r:embed="rId12"/>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5"/>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5"/>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5"/>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5"/>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'Standard - 60 g to below 100 g' holds the largest</a:t>
            </a:r>
          </a:p>
        </p:txBody>
      </p:sp>
      <p:sp>
        <p:nvSpPr>
          <p:cNvPr id="81" name="TextBox 80"/>
          <p:cNvSpPr txBox="1"/>
          <p:nvPr/>
        </p:nvSpPr>
        <p:spPr>
          <a:xfrm>
            <a:off x="485775" y="4397077"/>
            <a:ext cx="842094" cy="186689"/>
          </a:xfrm>
          <a:prstGeom prst="rect">
            <a:avLst/>
          </a:prstGeom>
          <a:noFill/>
        </p:spPr>
        <p:txBody>
          <a:bodyPr wrap="none" lIns="0" rIns="0" tIns="0" bIns="0">
            <a:spAutoFit/>
          </a:bodyPr>
          <a:lstStyle/>
          <a:p>
            <a:r>
              <a:rPr sz="1100" b="0">
                <a:solidFill>
                  <a:srgbClr val="2E2E2E"/>
                </a:solidFill>
                <a:latin typeface="Calibri"/>
              </a:rPr>
              <a:t>share in 2026</a:t>
            </a:r>
          </a:p>
        </p:txBody>
      </p:sp>
      <p:pic>
        <p:nvPicPr>
          <p:cNvPr id="82" name="Picture 81" descr="lock.png"/>
          <p:cNvPicPr>
            <a:picLocks noChangeAspect="1"/>
          </p:cNvPicPr>
          <p:nvPr/>
        </p:nvPicPr>
        <p:blipFill>
          <a:blip r:embed="rId15"/>
          <a:stretch>
            <a:fillRect/>
          </a:stretch>
        </p:blipFill>
        <p:spPr>
          <a:xfrm>
            <a:off x="1275920" y="4387298"/>
            <a:ext cx="128699" cy="187198"/>
          </a:xfrm>
          <a:prstGeom prst="rect">
            <a:avLst/>
          </a:prstGeom>
        </p:spPr>
      </p:pic>
      <p:sp>
        <p:nvSpPr>
          <p:cNvPr id="83" name="TextBox 82"/>
          <p:cNvSpPr txBox="1"/>
          <p:nvPr/>
        </p:nvSpPr>
        <p:spPr>
          <a:xfrm>
            <a:off x="1443416"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4" name="TextBox 83"/>
          <p:cNvSpPr txBox="1"/>
          <p:nvPr/>
        </p:nvSpPr>
        <p:spPr>
          <a:xfrm>
            <a:off x="485775" y="4615009"/>
            <a:ext cx="2209080" cy="186689"/>
          </a:xfrm>
          <a:prstGeom prst="rect">
            <a:avLst/>
          </a:prstGeom>
          <a:noFill/>
        </p:spPr>
        <p:txBody>
          <a:bodyPr wrap="none" lIns="0" rIns="0" tIns="0" bIns="0">
            <a:spAutoFit/>
          </a:bodyPr>
          <a:lstStyle/>
          <a:p>
            <a:r>
              <a:rPr sz="1100" b="0">
                <a:solidFill>
                  <a:srgbClr val="2E2E2E"/>
                </a:solidFill>
                <a:latin typeface="Calibri"/>
              </a:rPr>
              <a:t>▪ 'Mini / bite-sized - below 30 g' is the</a:t>
            </a:r>
          </a:p>
        </p:txBody>
      </p:sp>
      <p:sp>
        <p:nvSpPr>
          <p:cNvPr id="85" name="TextBox 84"/>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86" name="Picture 85" descr="lock.png"/>
          <p:cNvPicPr>
            <a:picLocks noChangeAspect="1"/>
          </p:cNvPicPr>
          <p:nvPr/>
        </p:nvPicPr>
        <p:blipFill>
          <a:blip r:embed="rId15"/>
          <a:stretch>
            <a:fillRect/>
          </a:stretch>
        </p:blipFill>
        <p:spPr>
          <a:xfrm>
            <a:off x="2307026" y="4772870"/>
            <a:ext cx="128699" cy="187198"/>
          </a:xfrm>
          <a:prstGeom prst="rect">
            <a:avLst/>
          </a:prstGeom>
        </p:spPr>
      </p:pic>
      <p:sp>
        <p:nvSpPr>
          <p:cNvPr id="87" name="TextBox 86"/>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88" name="TextBox 87"/>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9" name="TextBox 88"/>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90" name="Picture 89" descr="lock.png"/>
          <p:cNvPicPr>
            <a:picLocks noChangeAspect="1"/>
          </p:cNvPicPr>
          <p:nvPr/>
        </p:nvPicPr>
        <p:blipFill>
          <a:blip r:embed="rId15"/>
          <a:stretch>
            <a:fillRect/>
          </a:stretch>
        </p:blipFill>
        <p:spPr>
          <a:xfrm>
            <a:off x="2240451" y="5158441"/>
            <a:ext cx="128699" cy="187198"/>
          </a:xfrm>
          <a:prstGeom prst="rect">
            <a:avLst/>
          </a:prstGeom>
        </p:spPr>
      </p:pic>
      <p:sp>
        <p:nvSpPr>
          <p:cNvPr id="91" name="TextBox 90"/>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2" name="Picture 91" descr="lock.png"/>
          <p:cNvPicPr>
            <a:picLocks noChangeAspect="1"/>
          </p:cNvPicPr>
          <p:nvPr/>
        </p:nvPicPr>
        <p:blipFill>
          <a:blip r:embed="rId15"/>
          <a:stretch>
            <a:fillRect/>
          </a:stretch>
        </p:blipFill>
        <p:spPr>
          <a:xfrm>
            <a:off x="2552799" y="5158441"/>
            <a:ext cx="128699" cy="187198"/>
          </a:xfrm>
          <a:prstGeom prst="rect">
            <a:avLst/>
          </a:prstGeom>
        </p:spPr>
      </p:pic>
      <p:sp>
        <p:nvSpPr>
          <p:cNvPr id="93" name="TextBox 92"/>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4" name="TextBox 93"/>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5" name="TextBox 94"/>
          <p:cNvSpPr txBox="1"/>
          <p:nvPr/>
        </p:nvSpPr>
        <p:spPr>
          <a:xfrm>
            <a:off x="485775" y="5553793"/>
            <a:ext cx="2784524" cy="186689"/>
          </a:xfrm>
          <a:prstGeom prst="rect">
            <a:avLst/>
          </a:prstGeom>
          <a:noFill/>
        </p:spPr>
        <p:txBody>
          <a:bodyPr wrap="none" lIns="0" rIns="0" tIns="0" bIns="0">
            <a:spAutoFit/>
          </a:bodyPr>
          <a:lstStyle/>
          <a:p>
            <a:r>
              <a:rPr sz="1100" b="0">
                <a:solidFill>
                  <a:srgbClr val="2E2E2E"/>
                </a:solidFill>
                <a:latin typeface="Calibri"/>
              </a:rPr>
              <a:t>▪ 4 sub-segments make up the individual muffin</a:t>
            </a:r>
          </a:p>
        </p:txBody>
      </p:sp>
      <p:sp>
        <p:nvSpPr>
          <p:cNvPr id="96" name="TextBox 95"/>
          <p:cNvSpPr txBox="1"/>
          <p:nvPr/>
        </p:nvSpPr>
        <p:spPr>
          <a:xfrm>
            <a:off x="485775" y="5721433"/>
            <a:ext cx="923949" cy="186689"/>
          </a:xfrm>
          <a:prstGeom prst="rect">
            <a:avLst/>
          </a:prstGeom>
          <a:noFill/>
        </p:spPr>
        <p:txBody>
          <a:bodyPr wrap="none" lIns="0" rIns="0" tIns="0" bIns="0">
            <a:spAutoFit/>
          </a:bodyPr>
          <a:lstStyle/>
          <a:p>
            <a:r>
              <a:rPr sz="1100" b="0">
                <a:solidFill>
                  <a:srgbClr val="2E2E2E"/>
                </a:solidFill>
                <a:latin typeface="Calibri"/>
              </a:rPr>
              <a:t>size landscape.</a:t>
            </a:r>
          </a:p>
        </p:txBody>
      </p:sp>
      <p:sp>
        <p:nvSpPr>
          <p:cNvPr id="97" name="TextBox 96"/>
          <p:cNvSpPr txBox="1"/>
          <p:nvPr/>
        </p:nvSpPr>
        <p:spPr>
          <a:xfrm>
            <a:off x="3838575" y="4229437"/>
            <a:ext cx="1963241" cy="186689"/>
          </a:xfrm>
          <a:prstGeom prst="rect">
            <a:avLst/>
          </a:prstGeom>
          <a:noFill/>
        </p:spPr>
        <p:txBody>
          <a:bodyPr wrap="none" lIns="0" rIns="0" tIns="0" bIns="0">
            <a:spAutoFit/>
          </a:bodyPr>
          <a:lstStyle/>
          <a:p>
            <a:r>
              <a:rPr sz="1100" b="0">
                <a:solidFill>
                  <a:srgbClr val="2E2E2E"/>
                </a:solidFill>
                <a:latin typeface="Calibri"/>
              </a:rPr>
              <a:t>● Standard - 60 g to below 100 g:</a:t>
            </a:r>
          </a:p>
        </p:txBody>
      </p:sp>
      <p:pic>
        <p:nvPicPr>
          <p:cNvPr id="98" name="Picture 97" descr="lock.png"/>
          <p:cNvPicPr>
            <a:picLocks noChangeAspect="1"/>
          </p:cNvPicPr>
          <p:nvPr/>
        </p:nvPicPr>
        <p:blipFill>
          <a:blip r:embed="rId15"/>
          <a:stretch>
            <a:fillRect/>
          </a:stretch>
        </p:blipFill>
        <p:spPr>
          <a:xfrm>
            <a:off x="5749868" y="4219658"/>
            <a:ext cx="128699" cy="187198"/>
          </a:xfrm>
          <a:prstGeom prst="rect">
            <a:avLst/>
          </a:prstGeom>
        </p:spPr>
      </p:pic>
      <p:sp>
        <p:nvSpPr>
          <p:cNvPr id="99" name="TextBox 98"/>
          <p:cNvSpPr txBox="1"/>
          <p:nvPr/>
        </p:nvSpPr>
        <p:spPr>
          <a:xfrm>
            <a:off x="591736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5"/>
          <a:stretch>
            <a:fillRect/>
          </a:stretch>
        </p:blipFill>
        <p:spPr>
          <a:xfrm>
            <a:off x="6776814" y="4219658"/>
            <a:ext cx="128699" cy="187198"/>
          </a:xfrm>
          <a:prstGeom prst="rect">
            <a:avLst/>
          </a:prstGeom>
        </p:spPr>
      </p:pic>
      <p:sp>
        <p:nvSpPr>
          <p:cNvPr id="101" name="TextBox 100"/>
          <p:cNvSpPr txBox="1"/>
          <p:nvPr/>
        </p:nvSpPr>
        <p:spPr>
          <a:xfrm>
            <a:off x="6944309"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102" name="TextBox 101"/>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103" name="TextBox 102"/>
          <p:cNvSpPr txBox="1"/>
          <p:nvPr/>
        </p:nvSpPr>
        <p:spPr>
          <a:xfrm>
            <a:off x="3838575" y="4615009"/>
            <a:ext cx="1685478" cy="186689"/>
          </a:xfrm>
          <a:prstGeom prst="rect">
            <a:avLst/>
          </a:prstGeom>
          <a:noFill/>
        </p:spPr>
        <p:txBody>
          <a:bodyPr wrap="none" lIns="0" rIns="0" tIns="0" bIns="0">
            <a:spAutoFit/>
          </a:bodyPr>
          <a:lstStyle/>
          <a:p>
            <a:r>
              <a:rPr sz="1100" b="0">
                <a:solidFill>
                  <a:srgbClr val="2E2E2E"/>
                </a:solidFill>
                <a:latin typeface="Calibri"/>
              </a:rPr>
              <a:t>● Small - 30 g to below 60 g:</a:t>
            </a:r>
          </a:p>
        </p:txBody>
      </p:sp>
      <p:pic>
        <p:nvPicPr>
          <p:cNvPr id="104" name="Picture 103" descr="lock.png"/>
          <p:cNvPicPr>
            <a:picLocks noChangeAspect="1"/>
          </p:cNvPicPr>
          <p:nvPr/>
        </p:nvPicPr>
        <p:blipFill>
          <a:blip r:embed="rId15"/>
          <a:stretch>
            <a:fillRect/>
          </a:stretch>
        </p:blipFill>
        <p:spPr>
          <a:xfrm>
            <a:off x="5472105" y="4605230"/>
            <a:ext cx="128699" cy="187198"/>
          </a:xfrm>
          <a:prstGeom prst="rect">
            <a:avLst/>
          </a:prstGeom>
        </p:spPr>
      </p:pic>
      <p:sp>
        <p:nvSpPr>
          <p:cNvPr id="105" name="TextBox 104"/>
          <p:cNvSpPr txBox="1"/>
          <p:nvPr/>
        </p:nvSpPr>
        <p:spPr>
          <a:xfrm>
            <a:off x="563960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5"/>
          <a:stretch>
            <a:fillRect/>
          </a:stretch>
        </p:blipFill>
        <p:spPr>
          <a:xfrm>
            <a:off x="6499051" y="4605230"/>
            <a:ext cx="128699" cy="187198"/>
          </a:xfrm>
          <a:prstGeom prst="rect">
            <a:avLst/>
          </a:prstGeom>
        </p:spPr>
      </p:pic>
      <p:sp>
        <p:nvSpPr>
          <p:cNvPr id="107" name="TextBox 106"/>
          <p:cNvSpPr txBox="1"/>
          <p:nvPr/>
        </p:nvSpPr>
        <p:spPr>
          <a:xfrm>
            <a:off x="6666546" y="4615009"/>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8" name="TextBox 107"/>
          <p:cNvSpPr txBox="1"/>
          <p:nvPr/>
        </p:nvSpPr>
        <p:spPr>
          <a:xfrm>
            <a:off x="3838575" y="4782649"/>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9" name="TextBox 108"/>
          <p:cNvSpPr txBox="1"/>
          <p:nvPr/>
        </p:nvSpPr>
        <p:spPr>
          <a:xfrm>
            <a:off x="3838575" y="5000581"/>
            <a:ext cx="2062013" cy="186689"/>
          </a:xfrm>
          <a:prstGeom prst="rect">
            <a:avLst/>
          </a:prstGeom>
          <a:noFill/>
        </p:spPr>
        <p:txBody>
          <a:bodyPr wrap="none" lIns="0" rIns="0" tIns="0" bIns="0">
            <a:spAutoFit/>
          </a:bodyPr>
          <a:lstStyle/>
          <a:p>
            <a:r>
              <a:rPr sz="1100" b="0">
                <a:solidFill>
                  <a:srgbClr val="2E2E2E"/>
                </a:solidFill>
                <a:latin typeface="Calibri"/>
              </a:rPr>
              <a:t>● Large / jumbo - 100 g and above:</a:t>
            </a:r>
          </a:p>
        </p:txBody>
      </p:sp>
      <p:pic>
        <p:nvPicPr>
          <p:cNvPr id="110" name="Picture 109" descr="lock.png"/>
          <p:cNvPicPr>
            <a:picLocks noChangeAspect="1"/>
          </p:cNvPicPr>
          <p:nvPr/>
        </p:nvPicPr>
        <p:blipFill>
          <a:blip r:embed="rId15"/>
          <a:stretch>
            <a:fillRect/>
          </a:stretch>
        </p:blipFill>
        <p:spPr>
          <a:xfrm>
            <a:off x="5848640" y="4990801"/>
            <a:ext cx="128699" cy="187198"/>
          </a:xfrm>
          <a:prstGeom prst="rect">
            <a:avLst/>
          </a:prstGeom>
        </p:spPr>
      </p:pic>
      <p:sp>
        <p:nvSpPr>
          <p:cNvPr id="111" name="TextBox 110"/>
          <p:cNvSpPr txBox="1"/>
          <p:nvPr/>
        </p:nvSpPr>
        <p:spPr>
          <a:xfrm>
            <a:off x="6016136"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5"/>
          <a:stretch>
            <a:fillRect/>
          </a:stretch>
        </p:blipFill>
        <p:spPr>
          <a:xfrm>
            <a:off x="6875586" y="4990801"/>
            <a:ext cx="128699" cy="187198"/>
          </a:xfrm>
          <a:prstGeom prst="rect">
            <a:avLst/>
          </a:prstGeom>
        </p:spPr>
      </p:pic>
      <p:sp>
        <p:nvSpPr>
          <p:cNvPr id="113" name="TextBox 112"/>
          <p:cNvSpPr txBox="1"/>
          <p:nvPr/>
        </p:nvSpPr>
        <p:spPr>
          <a:xfrm>
            <a:off x="7043082" y="5000581"/>
            <a:ext cx="787234" cy="186689"/>
          </a:xfrm>
          <a:prstGeom prst="rect">
            <a:avLst/>
          </a:prstGeom>
          <a:noFill/>
        </p:spPr>
        <p:txBody>
          <a:bodyPr wrap="none" lIns="0" rIns="0" tIns="0" bIns="0">
            <a:spAutoFit/>
          </a:bodyPr>
          <a:lstStyle/>
          <a:p>
            <a:r>
              <a:rPr sz="1100" b="0">
                <a:solidFill>
                  <a:srgbClr val="2E2E2E"/>
                </a:solidFill>
                <a:latin typeface="Calibri"/>
              </a:rPr>
              <a:t>CAGR serves</a:t>
            </a:r>
          </a:p>
        </p:txBody>
      </p:sp>
      <p:sp>
        <p:nvSpPr>
          <p:cNvPr id="114" name="TextBox 113"/>
          <p:cNvSpPr txBox="1"/>
          <p:nvPr/>
        </p:nvSpPr>
        <p:spPr>
          <a:xfrm>
            <a:off x="3838575" y="5168221"/>
            <a:ext cx="517673" cy="186689"/>
          </a:xfrm>
          <a:prstGeom prst="rect">
            <a:avLst/>
          </a:prstGeom>
          <a:noFill/>
        </p:spPr>
        <p:txBody>
          <a:bodyPr wrap="none" lIns="0" rIns="0" tIns="0" bIns="0">
            <a:spAutoFit/>
          </a:bodyPr>
          <a:lstStyle/>
          <a:p>
            <a:r>
              <a:rPr sz="1100" b="0">
                <a:solidFill>
                  <a:srgbClr val="2E2E2E"/>
                </a:solidFill>
                <a:latin typeface="Calibri"/>
              </a:rPr>
              <a:t>a niche.</a:t>
            </a:r>
          </a:p>
        </p:txBody>
      </p:sp>
      <p:sp>
        <p:nvSpPr>
          <p:cNvPr id="115" name="TextBox 114"/>
          <p:cNvSpPr txBox="1"/>
          <p:nvPr/>
        </p:nvSpPr>
        <p:spPr>
          <a:xfrm>
            <a:off x="3838575" y="5386153"/>
            <a:ext cx="1879748" cy="186689"/>
          </a:xfrm>
          <a:prstGeom prst="rect">
            <a:avLst/>
          </a:prstGeom>
          <a:noFill/>
        </p:spPr>
        <p:txBody>
          <a:bodyPr wrap="none" lIns="0" rIns="0" tIns="0" bIns="0">
            <a:spAutoFit/>
          </a:bodyPr>
          <a:lstStyle/>
          <a:p>
            <a:r>
              <a:rPr sz="1100" b="0">
                <a:solidFill>
                  <a:srgbClr val="2E2E2E"/>
                </a:solidFill>
                <a:latin typeface="Calibri"/>
              </a:rPr>
              <a:t>● Mini / bite-sized - below 30 g:</a:t>
            </a:r>
          </a:p>
        </p:txBody>
      </p:sp>
      <p:pic>
        <p:nvPicPr>
          <p:cNvPr id="116" name="Picture 115" descr="lock.png"/>
          <p:cNvPicPr>
            <a:picLocks noChangeAspect="1"/>
          </p:cNvPicPr>
          <p:nvPr/>
        </p:nvPicPr>
        <p:blipFill>
          <a:blip r:embed="rId15"/>
          <a:stretch>
            <a:fillRect/>
          </a:stretch>
        </p:blipFill>
        <p:spPr>
          <a:xfrm>
            <a:off x="5666375" y="5376373"/>
            <a:ext cx="128699" cy="187198"/>
          </a:xfrm>
          <a:prstGeom prst="rect">
            <a:avLst/>
          </a:prstGeom>
        </p:spPr>
      </p:pic>
      <p:sp>
        <p:nvSpPr>
          <p:cNvPr id="117" name="TextBox 116"/>
          <p:cNvSpPr txBox="1"/>
          <p:nvPr/>
        </p:nvSpPr>
        <p:spPr>
          <a:xfrm>
            <a:off x="5833871"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5"/>
          <a:stretch>
            <a:fillRect/>
          </a:stretch>
        </p:blipFill>
        <p:spPr>
          <a:xfrm>
            <a:off x="6693321" y="5376373"/>
            <a:ext cx="128699" cy="187198"/>
          </a:xfrm>
          <a:prstGeom prst="rect">
            <a:avLst/>
          </a:prstGeom>
        </p:spPr>
      </p:pic>
      <p:sp>
        <p:nvSpPr>
          <p:cNvPr id="119" name="TextBox 118"/>
          <p:cNvSpPr txBox="1"/>
          <p:nvPr/>
        </p:nvSpPr>
        <p:spPr>
          <a:xfrm>
            <a:off x="6860817" y="538615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20" name="TextBox 119"/>
          <p:cNvSpPr txBox="1"/>
          <p:nvPr/>
        </p:nvSpPr>
        <p:spPr>
          <a:xfrm>
            <a:off x="3838575" y="555379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21" name="TextBox 120"/>
          <p:cNvSpPr txBox="1"/>
          <p:nvPr/>
        </p:nvSpPr>
        <p:spPr>
          <a:xfrm>
            <a:off x="8524875" y="5842641"/>
            <a:ext cx="3113868" cy="194310"/>
          </a:xfrm>
          <a:prstGeom prst="rect">
            <a:avLst/>
          </a:prstGeom>
          <a:noFill/>
        </p:spPr>
        <p:txBody>
          <a:bodyPr wrap="none" lIns="0" rIns="0" tIns="0" bIns="0">
            <a:spAutoFit/>
          </a:bodyPr>
          <a:lstStyle/>
          <a:p>
            <a:r>
              <a:rPr sz="1150" b="1">
                <a:solidFill>
                  <a:srgbClr val="0B2E4A"/>
                </a:solidFill>
                <a:latin typeface="Calibri"/>
              </a:rPr>
              <a:t>The Individual Muffin Size segment is projected to</a:t>
            </a:r>
          </a:p>
        </p:txBody>
      </p:sp>
      <p:sp>
        <p:nvSpPr>
          <p:cNvPr id="122" name="TextBox 121"/>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23" name="Picture 122" descr="lock.png"/>
          <p:cNvPicPr>
            <a:picLocks noChangeAspect="1"/>
          </p:cNvPicPr>
          <p:nvPr/>
        </p:nvPicPr>
        <p:blipFill>
          <a:blip r:embed="rId15"/>
          <a:stretch>
            <a:fillRect/>
          </a:stretch>
        </p:blipFill>
        <p:spPr>
          <a:xfrm>
            <a:off x="9651852" y="6007677"/>
            <a:ext cx="134549" cy="195707"/>
          </a:xfrm>
          <a:prstGeom prst="rect">
            <a:avLst/>
          </a:prstGeom>
        </p:spPr>
      </p:pic>
      <p:sp>
        <p:nvSpPr>
          <p:cNvPr id="124" name="TextBox 123"/>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Individual Muffin Size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Individual Muffin Size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Individual Muffin Size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Individual Muffin Size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434187" cy="186689"/>
          </a:xfrm>
          <a:prstGeom prst="rect">
            <a:avLst/>
          </a:prstGeom>
          <a:noFill/>
        </p:spPr>
        <p:txBody>
          <a:bodyPr wrap="none" lIns="0" rIns="0" tIns="0" bIns="0">
            <a:spAutoFit/>
          </a:bodyPr>
          <a:lstStyle/>
          <a:p>
            <a:r>
              <a:rPr sz="1100" b="0">
                <a:solidFill>
                  <a:srgbClr val="2E2E2E"/>
                </a:solidFill>
                <a:latin typeface="Calibri"/>
              </a:rPr>
              <a:t>Between 2026 and 2036, 'Large / jumbo - 100 g and above' gains the most share in the North America market (+</a:t>
            </a:r>
          </a:p>
        </p:txBody>
      </p:sp>
      <p:pic>
        <p:nvPicPr>
          <p:cNvPr id="21" name="Picture 20" descr="lock.png"/>
          <p:cNvPicPr>
            <a:picLocks noChangeAspect="1"/>
          </p:cNvPicPr>
          <p:nvPr/>
        </p:nvPicPr>
        <p:blipFill>
          <a:blip r:embed="rId6"/>
          <a:stretch>
            <a:fillRect/>
          </a:stretch>
        </p:blipFill>
        <p:spPr>
          <a:xfrm>
            <a:off x="6639413" y="5851905"/>
            <a:ext cx="128699" cy="187198"/>
          </a:xfrm>
          <a:prstGeom prst="rect">
            <a:avLst/>
          </a:prstGeom>
        </p:spPr>
      </p:pic>
      <p:sp>
        <p:nvSpPr>
          <p:cNvPr id="22" name="TextBox 21"/>
          <p:cNvSpPr txBox="1"/>
          <p:nvPr/>
        </p:nvSpPr>
        <p:spPr>
          <a:xfrm>
            <a:off x="6806909" y="5861685"/>
            <a:ext cx="2577157" cy="186689"/>
          </a:xfrm>
          <a:prstGeom prst="rect">
            <a:avLst/>
          </a:prstGeom>
          <a:noFill/>
        </p:spPr>
        <p:txBody>
          <a:bodyPr wrap="none" lIns="0" rIns="0" tIns="0" bIns="0">
            <a:spAutoFit/>
          </a:bodyPr>
          <a:lstStyle/>
          <a:p>
            <a:r>
              <a:rPr sz="1100" b="0">
                <a:solidFill>
                  <a:srgbClr val="2E2E2E"/>
                </a:solidFill>
                <a:latin typeface="Calibri"/>
              </a:rPr>
              <a:t>BPS) while 'Small - 30 g to below 60 g' cedes</a:t>
            </a:r>
          </a:p>
        </p:txBody>
      </p:sp>
      <p:pic>
        <p:nvPicPr>
          <p:cNvPr id="23" name="Picture 22" descr="lock.png"/>
          <p:cNvPicPr>
            <a:picLocks noChangeAspect="1"/>
          </p:cNvPicPr>
          <p:nvPr/>
        </p:nvPicPr>
        <p:blipFill>
          <a:blip r:embed="rId6"/>
          <a:stretch>
            <a:fillRect/>
          </a:stretch>
        </p:blipFill>
        <p:spPr>
          <a:xfrm>
            <a:off x="9332118" y="5851905"/>
            <a:ext cx="128699" cy="187198"/>
          </a:xfrm>
          <a:prstGeom prst="rect">
            <a:avLst/>
          </a:prstGeom>
        </p:spPr>
      </p:pic>
      <p:sp>
        <p:nvSpPr>
          <p:cNvPr id="24" name="TextBox 23"/>
          <p:cNvSpPr txBox="1"/>
          <p:nvPr/>
        </p:nvSpPr>
        <p:spPr>
          <a:xfrm>
            <a:off x="9499614" y="5861685"/>
            <a:ext cx="2182324" cy="186689"/>
          </a:xfrm>
          <a:prstGeom prst="rect">
            <a:avLst/>
          </a:prstGeom>
          <a:noFill/>
        </p:spPr>
        <p:txBody>
          <a:bodyPr wrap="none" lIns="0" rIns="0" tIns="0" bIns="0">
            <a:spAutoFit/>
          </a:bodyPr>
          <a:lstStyle/>
          <a:p>
            <a:r>
              <a:rPr sz="1100" b="0">
                <a:solidFill>
                  <a:srgbClr val="2E2E2E"/>
                </a:solidFill>
                <a:latin typeface="Calibri"/>
              </a:rPr>
              <a:t>BPS. Bubbles right of the CAGR-Index</a:t>
            </a:r>
          </a:p>
        </p:txBody>
      </p:sp>
      <p:sp>
        <p:nvSpPr>
          <p:cNvPr id="25" name="TextBox 24"/>
          <p:cNvSpPr txBox="1"/>
          <p:nvPr/>
        </p:nvSpPr>
        <p:spPr>
          <a:xfrm>
            <a:off x="257175" y="6029325"/>
            <a:ext cx="2518494" cy="186689"/>
          </a:xfrm>
          <a:prstGeom prst="rect">
            <a:avLst/>
          </a:prstGeom>
          <a:noFill/>
        </p:spPr>
        <p:txBody>
          <a:bodyPr wrap="none" lIns="0" rIns="0" tIns="0" bIns="0">
            <a:spAutoFit/>
          </a:bodyPr>
          <a:lstStyle/>
          <a:p>
            <a:r>
              <a:rPr sz="1100" b="0">
                <a:solidFill>
                  <a:srgbClr val="2E2E2E"/>
                </a:solidFill>
                <a:latin typeface="Calibri"/>
              </a:rPr>
              <a:t>line grow 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Individual Muffin Size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Mini / bite-sized - below 30 g</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Small - 30 g to below 60 g</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Standard - 60 g to below 100 g</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Large / jumbo - 100 g and above</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Individual Muffin Size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Individual Muffin Size,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Individual Muffin Size (MT)</a:t>
            </a:r>
          </a:p>
        </p:txBody>
      </p:sp>
      <p:graphicFrame>
        <p:nvGraphicFramePr>
          <p:cNvPr id="13" name="Table 12"/>
          <p:cNvGraphicFramePr>
            <a:graphicFrameLocks noGrp="1"/>
          </p:cNvGraphicFramePr>
          <p:nvPr/>
        </p:nvGraphicFramePr>
        <p:xfrm>
          <a:off x="152400" y="1238250"/>
          <a:ext cx="11887207" cy="1676402"/>
        </p:xfrm>
        <a:graphic>
          <a:graphicData uri="http://schemas.openxmlformats.org/drawingml/2006/table">
            <a:tbl>
              <a:tblPr>
                <a:tableStyleId>{5C22544A-7EE6-4342-B048-85BDC9FD1C3A}</a:tableStyleId>
              </a:tblPr>
              <a:tblGrid>
                <a:gridCol w="1985105"/>
                <a:gridCol w="530662"/>
                <a:gridCol w="530662"/>
                <a:gridCol w="530662"/>
                <a:gridCol w="530662"/>
                <a:gridCol w="530662"/>
                <a:gridCol w="530662"/>
                <a:gridCol w="530662"/>
                <a:gridCol w="641033"/>
                <a:gridCol w="641033"/>
                <a:gridCol w="641033"/>
                <a:gridCol w="641033"/>
                <a:gridCol w="641033"/>
                <a:gridCol w="641033"/>
                <a:gridCol w="641033"/>
                <a:gridCol w="641033"/>
                <a:gridCol w="641033"/>
                <a:gridCol w="418171"/>
              </a:tblGrid>
              <a:tr h="438912">
                <a:tc>
                  <a:txBody>
                    <a:bodyPr wrap="none"/>
                    <a:lstStyle/>
                    <a:p>
                      <a:pPr algn="l"/>
                      <a:r>
                        <a:rPr sz="1100" b="1">
                          <a:solidFill>
                            <a:srgbClr val="0B2E4A"/>
                          </a:solidFill>
                          <a:latin typeface="Calibri"/>
                        </a:rPr>
                        <a:t>Individual Muffin Size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498">
                <a:tc>
                  <a:txBody>
                    <a:bodyPr wrap="none"/>
                    <a:lstStyle/>
                    <a:p>
                      <a:pPr algn="l"/>
                      <a:r>
                        <a:rPr sz="1100" b="1">
                          <a:solidFill>
                            <a:srgbClr val="2E2E2E"/>
                          </a:solidFill>
                          <a:latin typeface="Calibri"/>
                        </a:rPr>
                        <a:t>Mini / bite-sized - below 30 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498">
                <a:tc>
                  <a:txBody>
                    <a:bodyPr wrap="none"/>
                    <a:lstStyle/>
                    <a:p>
                      <a:pPr algn="l"/>
                      <a:r>
                        <a:rPr sz="1100" b="1">
                          <a:solidFill>
                            <a:srgbClr val="2E2E2E"/>
                          </a:solidFill>
                          <a:latin typeface="Calibri"/>
                        </a:rPr>
                        <a:t>Small - 30 g to below 60 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498">
                <a:tc>
                  <a:txBody>
                    <a:bodyPr wrap="none"/>
                    <a:lstStyle/>
                    <a:p>
                      <a:pPr algn="l"/>
                      <a:r>
                        <a:rPr sz="1100" b="1">
                          <a:solidFill>
                            <a:srgbClr val="2E2E2E"/>
                          </a:solidFill>
                          <a:latin typeface="Calibri"/>
                        </a:rPr>
                        <a:t>Standard - 60 g to below 100 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498">
                <a:tc>
                  <a:txBody>
                    <a:bodyPr wrap="none"/>
                    <a:lstStyle/>
                    <a:p>
                      <a:pPr algn="l"/>
                      <a:r>
                        <a:rPr sz="1100" b="1">
                          <a:solidFill>
                            <a:srgbClr val="2E2E2E"/>
                          </a:solidFill>
                          <a:latin typeface="Calibri"/>
                        </a:rPr>
                        <a:t>Large / jumbo - 100 g and above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Individual Muffin Size</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01865" y="2029206"/>
            <a:ext cx="366712" cy="533400"/>
          </a:xfrm>
          <a:prstGeom prst="rect">
            <a:avLst/>
          </a:prstGeom>
        </p:spPr>
      </p:pic>
      <p:sp>
        <p:nvSpPr>
          <p:cNvPr id="21" name="TextBox 20"/>
          <p:cNvSpPr txBox="1"/>
          <p:nvPr/>
        </p:nvSpPr>
        <p:spPr>
          <a:xfrm>
            <a:off x="276225" y="3676650"/>
            <a:ext cx="4271143" cy="194310"/>
          </a:xfrm>
          <a:prstGeom prst="rect">
            <a:avLst/>
          </a:prstGeom>
          <a:noFill/>
        </p:spPr>
        <p:txBody>
          <a:bodyPr wrap="none" lIns="0" rIns="0" tIns="0" bIns="0">
            <a:spAutoFit/>
          </a:bodyPr>
          <a:lstStyle/>
          <a:p>
            <a:r>
              <a:rPr sz="1150" b="0">
                <a:solidFill>
                  <a:srgbClr val="2E2E2E"/>
                </a:solidFill>
                <a:latin typeface="Calibri"/>
              </a:rPr>
              <a:t>▪ 'Standard - 60 g to below 100 g' is the largest individual muffin size at</a:t>
            </a:r>
          </a:p>
        </p:txBody>
      </p:sp>
      <p:pic>
        <p:nvPicPr>
          <p:cNvPr id="22" name="Picture 21" descr="lock.png"/>
          <p:cNvPicPr>
            <a:picLocks noChangeAspect="1"/>
          </p:cNvPicPr>
          <p:nvPr/>
        </p:nvPicPr>
        <p:blipFill>
          <a:blip r:embed="rId4"/>
          <a:stretch>
            <a:fillRect/>
          </a:stretch>
        </p:blipFill>
        <p:spPr>
          <a:xfrm>
            <a:off x="4496522" y="3666426"/>
            <a:ext cx="134549" cy="195707"/>
          </a:xfrm>
          <a:prstGeom prst="rect">
            <a:avLst/>
          </a:prstGeom>
        </p:spPr>
      </p:pic>
      <p:sp>
        <p:nvSpPr>
          <p:cNvPr id="23" name="TextBox 22"/>
          <p:cNvSpPr txBox="1"/>
          <p:nvPr/>
        </p:nvSpPr>
        <p:spPr>
          <a:xfrm>
            <a:off x="4671632" y="36766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5701365" y="3666426"/>
            <a:ext cx="134549" cy="195707"/>
          </a:xfrm>
          <a:prstGeom prst="rect">
            <a:avLst/>
          </a:prstGeom>
        </p:spPr>
      </p:pic>
      <p:sp>
        <p:nvSpPr>
          <p:cNvPr id="25" name="TextBox 24"/>
          <p:cNvSpPr txBox="1"/>
          <p:nvPr/>
        </p:nvSpPr>
        <p:spPr>
          <a:xfrm>
            <a:off x="5876474" y="36766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904487"/>
            <a:ext cx="2774416" cy="194310"/>
          </a:xfrm>
          <a:prstGeom prst="rect">
            <a:avLst/>
          </a:prstGeom>
          <a:noFill/>
        </p:spPr>
        <p:txBody>
          <a:bodyPr wrap="none" lIns="0" rIns="0" tIns="0" bIns="0">
            <a:spAutoFit/>
          </a:bodyPr>
          <a:lstStyle/>
          <a:p>
            <a:r>
              <a:rPr sz="1150" b="0">
                <a:solidFill>
                  <a:srgbClr val="2E2E2E"/>
                </a:solidFill>
                <a:latin typeface="Calibri"/>
              </a:rPr>
              <a:t>▪ 'Mini / bite-sized - below 30 g' grows fastest</a:t>
            </a:r>
          </a:p>
        </p:txBody>
      </p:sp>
      <p:pic>
        <p:nvPicPr>
          <p:cNvPr id="27" name="Picture 26" descr="lock.png"/>
          <p:cNvPicPr>
            <a:picLocks noChangeAspect="1"/>
          </p:cNvPicPr>
          <p:nvPr/>
        </p:nvPicPr>
        <p:blipFill>
          <a:blip r:embed="rId4"/>
          <a:stretch>
            <a:fillRect/>
          </a:stretch>
        </p:blipFill>
        <p:spPr>
          <a:xfrm>
            <a:off x="2999795" y="3894264"/>
            <a:ext cx="134549" cy="195707"/>
          </a:xfrm>
          <a:prstGeom prst="rect">
            <a:avLst/>
          </a:prstGeom>
        </p:spPr>
      </p:pic>
      <p:sp>
        <p:nvSpPr>
          <p:cNvPr id="28" name="TextBox 27"/>
          <p:cNvSpPr txBox="1"/>
          <p:nvPr/>
        </p:nvSpPr>
        <p:spPr>
          <a:xfrm>
            <a:off x="3174904" y="39044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132325"/>
            <a:ext cx="3474144" cy="194310"/>
          </a:xfrm>
          <a:prstGeom prst="rect">
            <a:avLst/>
          </a:prstGeom>
          <a:noFill/>
        </p:spPr>
        <p:txBody>
          <a:bodyPr wrap="none" lIns="0" rIns="0" tIns="0" bIns="0">
            <a:spAutoFit/>
          </a:bodyPr>
          <a:lstStyle/>
          <a:p>
            <a:r>
              <a:rPr sz="1150" b="0">
                <a:solidFill>
                  <a:srgbClr val="2E2E2E"/>
                </a:solidFill>
                <a:latin typeface="Calibri"/>
              </a:rPr>
              <a:t>▪ Share shifts toward 'Large / jumbo - 100 g and above' (+</a:t>
            </a:r>
          </a:p>
        </p:txBody>
      </p:sp>
      <p:pic>
        <p:nvPicPr>
          <p:cNvPr id="30" name="Picture 29" descr="lock.png"/>
          <p:cNvPicPr>
            <a:picLocks noChangeAspect="1"/>
          </p:cNvPicPr>
          <p:nvPr/>
        </p:nvPicPr>
        <p:blipFill>
          <a:blip r:embed="rId4"/>
          <a:stretch>
            <a:fillRect/>
          </a:stretch>
        </p:blipFill>
        <p:spPr>
          <a:xfrm>
            <a:off x="3699523" y="4122102"/>
            <a:ext cx="134549" cy="195707"/>
          </a:xfrm>
          <a:prstGeom prst="rect">
            <a:avLst/>
          </a:prstGeom>
        </p:spPr>
      </p:pic>
      <p:sp>
        <p:nvSpPr>
          <p:cNvPr id="31" name="TextBox 30"/>
          <p:cNvSpPr txBox="1"/>
          <p:nvPr/>
        </p:nvSpPr>
        <p:spPr>
          <a:xfrm>
            <a:off x="3874632" y="4132325"/>
            <a:ext cx="3006613" cy="194310"/>
          </a:xfrm>
          <a:prstGeom prst="rect">
            <a:avLst/>
          </a:prstGeom>
          <a:noFill/>
        </p:spPr>
        <p:txBody>
          <a:bodyPr wrap="none" lIns="0" rIns="0" tIns="0" bIns="0">
            <a:spAutoFit/>
          </a:bodyPr>
          <a:lstStyle/>
          <a:p>
            <a:r>
              <a:rPr sz="1150" b="0">
                <a:solidFill>
                  <a:srgbClr val="2E2E2E"/>
                </a:solidFill>
                <a:latin typeface="Calibri"/>
              </a:rPr>
              <a:t>BPS) and away from 'Small - 30 g to below 60 g' (-</a:t>
            </a:r>
          </a:p>
        </p:txBody>
      </p:sp>
      <p:pic>
        <p:nvPicPr>
          <p:cNvPr id="32" name="Picture 31" descr="lock.png"/>
          <p:cNvPicPr>
            <a:picLocks noChangeAspect="1"/>
          </p:cNvPicPr>
          <p:nvPr/>
        </p:nvPicPr>
        <p:blipFill>
          <a:blip r:embed="rId4"/>
          <a:stretch>
            <a:fillRect/>
          </a:stretch>
        </p:blipFill>
        <p:spPr>
          <a:xfrm>
            <a:off x="6830400" y="4122102"/>
            <a:ext cx="134549" cy="195707"/>
          </a:xfrm>
          <a:prstGeom prst="rect">
            <a:avLst/>
          </a:prstGeom>
        </p:spPr>
      </p:pic>
      <p:sp>
        <p:nvSpPr>
          <p:cNvPr id="33" name="TextBox 32"/>
          <p:cNvSpPr txBox="1"/>
          <p:nvPr/>
        </p:nvSpPr>
        <p:spPr>
          <a:xfrm>
            <a:off x="7005509" y="41323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601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349940"/>
            <a:ext cx="134549" cy="195707"/>
          </a:xfrm>
          <a:prstGeom prst="rect">
            <a:avLst/>
          </a:prstGeom>
        </p:spPr>
      </p:pic>
      <p:sp>
        <p:nvSpPr>
          <p:cNvPr id="36" name="TextBox 35"/>
          <p:cNvSpPr txBox="1"/>
          <p:nvPr/>
        </p:nvSpPr>
        <p:spPr>
          <a:xfrm>
            <a:off x="1965143" y="43601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349940"/>
            <a:ext cx="134549" cy="195707"/>
          </a:xfrm>
          <a:prstGeom prst="rect">
            <a:avLst/>
          </a:prstGeom>
        </p:spPr>
      </p:pic>
      <p:sp>
        <p:nvSpPr>
          <p:cNvPr id="38" name="TextBox 37"/>
          <p:cNvSpPr txBox="1"/>
          <p:nvPr/>
        </p:nvSpPr>
        <p:spPr>
          <a:xfrm>
            <a:off x="2291688" y="43601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Individual Muffin Size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Individual Muffin Size,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Individual Muffin Size (US$ Mn)</a:t>
            </a:r>
          </a:p>
        </p:txBody>
      </p:sp>
      <p:graphicFrame>
        <p:nvGraphicFramePr>
          <p:cNvPr id="13" name="Table 12"/>
          <p:cNvGraphicFramePr>
            <a:graphicFrameLocks noGrp="1"/>
          </p:cNvGraphicFramePr>
          <p:nvPr/>
        </p:nvGraphicFramePr>
        <p:xfrm>
          <a:off x="152400" y="1238250"/>
          <a:ext cx="11887200" cy="1485896"/>
        </p:xfrm>
        <a:graphic>
          <a:graphicData uri="http://schemas.openxmlformats.org/drawingml/2006/table">
            <a:tbl>
              <a:tblPr>
                <a:tableStyleId>{5C22544A-7EE6-4342-B048-85BDC9FD1C3A}</a:tableStyleId>
              </a:tblPr>
              <a:tblGrid>
                <a:gridCol w="2115600"/>
                <a:gridCol w="574800"/>
                <a:gridCol w="574800"/>
                <a:gridCol w="574800"/>
                <a:gridCol w="574800"/>
                <a:gridCol w="574800"/>
                <a:gridCol w="574800"/>
                <a:gridCol w="574800"/>
                <a:gridCol w="574800"/>
                <a:gridCol w="574800"/>
                <a:gridCol w="574800"/>
                <a:gridCol w="574800"/>
                <a:gridCol w="574800"/>
                <a:gridCol w="574800"/>
                <a:gridCol w="574800"/>
                <a:gridCol w="574800"/>
                <a:gridCol w="574800"/>
                <a:gridCol w="574800"/>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Individual Muffin Size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67110" y="1837563"/>
            <a:ext cx="366712" cy="533400"/>
          </a:xfrm>
          <a:prstGeom prst="rect">
            <a:avLst/>
          </a:prstGeom>
        </p:spPr>
      </p:pic>
      <p:sp>
        <p:nvSpPr>
          <p:cNvPr id="21" name="TextBox 20"/>
          <p:cNvSpPr txBox="1"/>
          <p:nvPr/>
        </p:nvSpPr>
        <p:spPr>
          <a:xfrm>
            <a:off x="276225" y="3486150"/>
            <a:ext cx="4271143" cy="194310"/>
          </a:xfrm>
          <a:prstGeom prst="rect">
            <a:avLst/>
          </a:prstGeom>
          <a:noFill/>
        </p:spPr>
        <p:txBody>
          <a:bodyPr wrap="none" lIns="0" rIns="0" tIns="0" bIns="0">
            <a:spAutoFit/>
          </a:bodyPr>
          <a:lstStyle/>
          <a:p>
            <a:r>
              <a:rPr sz="1150" b="0">
                <a:solidFill>
                  <a:srgbClr val="2E2E2E"/>
                </a:solidFill>
                <a:latin typeface="Calibri"/>
              </a:rPr>
              <a:t>▪ 'Standard - 60 g to below 100 g' is the largest individual muffin size at</a:t>
            </a:r>
          </a:p>
        </p:txBody>
      </p:sp>
      <p:pic>
        <p:nvPicPr>
          <p:cNvPr id="22" name="Picture 21" descr="lock.png"/>
          <p:cNvPicPr>
            <a:picLocks noChangeAspect="1"/>
          </p:cNvPicPr>
          <p:nvPr/>
        </p:nvPicPr>
        <p:blipFill>
          <a:blip r:embed="rId4"/>
          <a:stretch>
            <a:fillRect/>
          </a:stretch>
        </p:blipFill>
        <p:spPr>
          <a:xfrm>
            <a:off x="4496522" y="3475926"/>
            <a:ext cx="134549" cy="195707"/>
          </a:xfrm>
          <a:prstGeom prst="rect">
            <a:avLst/>
          </a:prstGeom>
        </p:spPr>
      </p:pic>
      <p:sp>
        <p:nvSpPr>
          <p:cNvPr id="23" name="TextBox 22"/>
          <p:cNvSpPr txBox="1"/>
          <p:nvPr/>
        </p:nvSpPr>
        <p:spPr>
          <a:xfrm>
            <a:off x="4671632"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5577564" y="3475926"/>
            <a:ext cx="134549" cy="195707"/>
          </a:xfrm>
          <a:prstGeom prst="rect">
            <a:avLst/>
          </a:prstGeom>
        </p:spPr>
      </p:pic>
      <p:sp>
        <p:nvSpPr>
          <p:cNvPr id="25" name="TextBox 24"/>
          <p:cNvSpPr txBox="1"/>
          <p:nvPr/>
        </p:nvSpPr>
        <p:spPr>
          <a:xfrm>
            <a:off x="5752674"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774416" cy="194310"/>
          </a:xfrm>
          <a:prstGeom prst="rect">
            <a:avLst/>
          </a:prstGeom>
          <a:noFill/>
        </p:spPr>
        <p:txBody>
          <a:bodyPr wrap="none" lIns="0" rIns="0" tIns="0" bIns="0">
            <a:spAutoFit/>
          </a:bodyPr>
          <a:lstStyle/>
          <a:p>
            <a:r>
              <a:rPr sz="1150" b="0">
                <a:solidFill>
                  <a:srgbClr val="2E2E2E"/>
                </a:solidFill>
                <a:latin typeface="Calibri"/>
              </a:rPr>
              <a:t>▪ 'Mini / bite-sized - below 30 g' grows fastest</a:t>
            </a:r>
          </a:p>
        </p:txBody>
      </p:sp>
      <p:pic>
        <p:nvPicPr>
          <p:cNvPr id="27" name="Picture 26" descr="lock.png"/>
          <p:cNvPicPr>
            <a:picLocks noChangeAspect="1"/>
          </p:cNvPicPr>
          <p:nvPr/>
        </p:nvPicPr>
        <p:blipFill>
          <a:blip r:embed="rId4"/>
          <a:stretch>
            <a:fillRect/>
          </a:stretch>
        </p:blipFill>
        <p:spPr>
          <a:xfrm>
            <a:off x="2999795" y="3703764"/>
            <a:ext cx="134549" cy="195707"/>
          </a:xfrm>
          <a:prstGeom prst="rect">
            <a:avLst/>
          </a:prstGeom>
        </p:spPr>
      </p:pic>
      <p:sp>
        <p:nvSpPr>
          <p:cNvPr id="28" name="TextBox 27"/>
          <p:cNvSpPr txBox="1"/>
          <p:nvPr/>
        </p:nvSpPr>
        <p:spPr>
          <a:xfrm>
            <a:off x="3174904"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3474144" cy="194310"/>
          </a:xfrm>
          <a:prstGeom prst="rect">
            <a:avLst/>
          </a:prstGeom>
          <a:noFill/>
        </p:spPr>
        <p:txBody>
          <a:bodyPr wrap="none" lIns="0" rIns="0" tIns="0" bIns="0">
            <a:spAutoFit/>
          </a:bodyPr>
          <a:lstStyle/>
          <a:p>
            <a:r>
              <a:rPr sz="1150" b="0">
                <a:solidFill>
                  <a:srgbClr val="2E2E2E"/>
                </a:solidFill>
                <a:latin typeface="Calibri"/>
              </a:rPr>
              <a:t>▪ Share shifts toward 'Large / jumbo - 100 g and above' (+</a:t>
            </a:r>
          </a:p>
        </p:txBody>
      </p:sp>
      <p:pic>
        <p:nvPicPr>
          <p:cNvPr id="30" name="Picture 29" descr="lock.png"/>
          <p:cNvPicPr>
            <a:picLocks noChangeAspect="1"/>
          </p:cNvPicPr>
          <p:nvPr/>
        </p:nvPicPr>
        <p:blipFill>
          <a:blip r:embed="rId4"/>
          <a:stretch>
            <a:fillRect/>
          </a:stretch>
        </p:blipFill>
        <p:spPr>
          <a:xfrm>
            <a:off x="3699523" y="3931602"/>
            <a:ext cx="134549" cy="195707"/>
          </a:xfrm>
          <a:prstGeom prst="rect">
            <a:avLst/>
          </a:prstGeom>
        </p:spPr>
      </p:pic>
      <p:sp>
        <p:nvSpPr>
          <p:cNvPr id="31" name="TextBox 30"/>
          <p:cNvSpPr txBox="1"/>
          <p:nvPr/>
        </p:nvSpPr>
        <p:spPr>
          <a:xfrm>
            <a:off x="3874632" y="3941825"/>
            <a:ext cx="3006613" cy="194310"/>
          </a:xfrm>
          <a:prstGeom prst="rect">
            <a:avLst/>
          </a:prstGeom>
          <a:noFill/>
        </p:spPr>
        <p:txBody>
          <a:bodyPr wrap="none" lIns="0" rIns="0" tIns="0" bIns="0">
            <a:spAutoFit/>
          </a:bodyPr>
          <a:lstStyle/>
          <a:p>
            <a:r>
              <a:rPr sz="1150" b="0">
                <a:solidFill>
                  <a:srgbClr val="2E2E2E"/>
                </a:solidFill>
                <a:latin typeface="Calibri"/>
              </a:rPr>
              <a:t>BPS) and away from 'Small - 30 g to below 60 g' (-</a:t>
            </a:r>
          </a:p>
        </p:txBody>
      </p:sp>
      <p:pic>
        <p:nvPicPr>
          <p:cNvPr id="32" name="Picture 31" descr="lock.png"/>
          <p:cNvPicPr>
            <a:picLocks noChangeAspect="1"/>
          </p:cNvPicPr>
          <p:nvPr/>
        </p:nvPicPr>
        <p:blipFill>
          <a:blip r:embed="rId4"/>
          <a:stretch>
            <a:fillRect/>
          </a:stretch>
        </p:blipFill>
        <p:spPr>
          <a:xfrm>
            <a:off x="6830400" y="3931602"/>
            <a:ext cx="134549" cy="195707"/>
          </a:xfrm>
          <a:prstGeom prst="rect">
            <a:avLst/>
          </a:prstGeom>
        </p:spPr>
      </p:pic>
      <p:sp>
        <p:nvSpPr>
          <p:cNvPr id="33" name="TextBox 32"/>
          <p:cNvSpPr txBox="1"/>
          <p:nvPr/>
        </p:nvSpPr>
        <p:spPr>
          <a:xfrm>
            <a:off x="7005509"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Individual Muffin Size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Individual Muffin Size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660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0184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564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Mini / bite-sized - below 30 g</a:t>
            </a:r>
          </a:p>
        </p:txBody>
      </p:sp>
      <p:sp>
        <p:nvSpPr>
          <p:cNvPr id="19" name="BPS Value 1"/>
          <p:cNvSpPr txBox="1"/>
          <p:nvPr/>
        </p:nvSpPr>
        <p:spPr>
          <a:xfrm>
            <a:off x="6896100" y="178755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45034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455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93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Small - 30 g to below 60 g</a:t>
            </a:r>
          </a:p>
        </p:txBody>
      </p:sp>
      <p:sp>
        <p:nvSpPr>
          <p:cNvPr id="23" name="BPS Value 2"/>
          <p:cNvSpPr txBox="1"/>
          <p:nvPr/>
        </p:nvSpPr>
        <p:spPr>
          <a:xfrm>
            <a:off x="6896100" y="243129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58857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5838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5076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Large / jumbo - 100 g and above</a:t>
            </a:r>
          </a:p>
        </p:txBody>
      </p:sp>
      <p:sp>
        <p:nvSpPr>
          <p:cNvPr id="27" name="BPS Value 3"/>
          <p:cNvSpPr txBox="1"/>
          <p:nvPr/>
        </p:nvSpPr>
        <p:spPr>
          <a:xfrm>
            <a:off x="6896100" y="35695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2310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2262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500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- 60 g to below 100 g</a:t>
            </a:r>
          </a:p>
        </p:txBody>
      </p:sp>
      <p:sp>
        <p:nvSpPr>
          <p:cNvPr id="31" name="BPS Value 4"/>
          <p:cNvSpPr txBox="1"/>
          <p:nvPr/>
        </p:nvSpPr>
        <p:spPr>
          <a:xfrm>
            <a:off x="6896100" y="52119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Individual Muffin Size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511227" cy="194310"/>
          </a:xfrm>
          <a:prstGeom prst="rect">
            <a:avLst/>
          </a:prstGeom>
          <a:noFill/>
        </p:spPr>
        <p:txBody>
          <a:bodyPr wrap="none" lIns="0" rIns="0" tIns="0" bIns="0">
            <a:spAutoFit/>
          </a:bodyPr>
          <a:lstStyle/>
          <a:p>
            <a:r>
              <a:rPr sz="1150" b="0">
                <a:solidFill>
                  <a:srgbClr val="2E2E2E"/>
                </a:solidFill>
                <a:latin typeface="Calibri"/>
              </a:rPr>
              <a:t>▪ 'Large / jumbo - 100 g and above' gains the most share +</a:t>
            </a:r>
          </a:p>
        </p:txBody>
      </p:sp>
      <p:pic>
        <p:nvPicPr>
          <p:cNvPr id="39" name="Picture 38" descr="lock.png"/>
          <p:cNvPicPr>
            <a:picLocks noChangeAspect="1"/>
          </p:cNvPicPr>
          <p:nvPr/>
        </p:nvPicPr>
        <p:blipFill>
          <a:blip r:embed="rId5"/>
          <a:stretch>
            <a:fillRect/>
          </a:stretch>
        </p:blipFill>
        <p:spPr>
          <a:xfrm>
            <a:off x="11289931" y="1389951"/>
            <a:ext cx="134549" cy="195707"/>
          </a:xfrm>
          <a:prstGeom prst="rect">
            <a:avLst/>
          </a:prstGeom>
        </p:spPr>
      </p:pic>
      <p:sp>
        <p:nvSpPr>
          <p:cNvPr id="40" name="TextBox 39"/>
          <p:cNvSpPr txBox="1"/>
          <p:nvPr/>
        </p:nvSpPr>
        <p:spPr>
          <a:xfrm>
            <a:off x="11465040"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41" name="TextBox 40"/>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764147" cy="194310"/>
          </a:xfrm>
          <a:prstGeom prst="rect">
            <a:avLst/>
          </a:prstGeom>
          <a:noFill/>
        </p:spPr>
        <p:txBody>
          <a:bodyPr wrap="none" lIns="0" rIns="0" tIns="0" bIns="0">
            <a:spAutoFit/>
          </a:bodyPr>
          <a:lstStyle/>
          <a:p>
            <a:r>
              <a:rPr sz="1150" b="0">
                <a:solidFill>
                  <a:srgbClr val="2E2E2E"/>
                </a:solidFill>
                <a:latin typeface="Calibri"/>
              </a:rPr>
              <a:t>▪ 'Small - 30 g to below 60 g' cedes the most -</a:t>
            </a:r>
          </a:p>
        </p:txBody>
      </p:sp>
      <p:pic>
        <p:nvPicPr>
          <p:cNvPr id="43" name="Picture 42" descr="lock.png"/>
          <p:cNvPicPr>
            <a:picLocks noChangeAspect="1"/>
          </p:cNvPicPr>
          <p:nvPr/>
        </p:nvPicPr>
        <p:blipFill>
          <a:blip r:embed="rId5"/>
          <a:stretch>
            <a:fillRect/>
          </a:stretch>
        </p:blipFill>
        <p:spPr>
          <a:xfrm>
            <a:off x="10542851" y="1793049"/>
            <a:ext cx="134549" cy="195707"/>
          </a:xfrm>
          <a:prstGeom prst="rect">
            <a:avLst/>
          </a:prstGeom>
        </p:spPr>
      </p:pic>
      <p:sp>
        <p:nvSpPr>
          <p:cNvPr id="44" name="TextBox 43"/>
          <p:cNvSpPr txBox="1"/>
          <p:nvPr/>
        </p:nvSpPr>
        <p:spPr>
          <a:xfrm>
            <a:off x="10717960" y="180327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45" name="TextBox 44"/>
          <p:cNvSpPr txBox="1"/>
          <p:nvPr/>
        </p:nvSpPr>
        <p:spPr>
          <a:xfrm>
            <a:off x="7829550" y="1978533"/>
            <a:ext cx="1364691" cy="194310"/>
          </a:xfrm>
          <a:prstGeom prst="rect">
            <a:avLst/>
          </a:prstGeom>
          <a:noFill/>
        </p:spPr>
        <p:txBody>
          <a:bodyPr wrap="none" lIns="0" rIns="0" tIns="0" bIns="0">
            <a:spAutoFit/>
          </a:bodyPr>
          <a:lstStyle/>
          <a:p>
            <a:r>
              <a:rPr sz="1150" b="0">
                <a:solidFill>
                  <a:srgbClr val="2E2E2E"/>
                </a:solidFill>
                <a:latin typeface="Calibri"/>
              </a:rPr>
              <a:t>same 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3874070" cy="194310"/>
          </a:xfrm>
          <a:prstGeom prst="rect">
            <a:avLst/>
          </a:prstGeom>
          <a:noFill/>
        </p:spPr>
        <p:txBody>
          <a:bodyPr wrap="none" lIns="0" rIns="0" tIns="0" bIns="0">
            <a:spAutoFit/>
          </a:bodyPr>
          <a:lstStyle/>
          <a:p>
            <a:r>
              <a:rPr sz="1150" b="0">
                <a:solidFill>
                  <a:srgbClr val="2E2E2E"/>
                </a:solidFill>
                <a:latin typeface="Calibri"/>
              </a:rPr>
              <a:t>▪ 'Mini / bite-sized - below 30 g' is the fastest-growing individual</a:t>
            </a:r>
          </a:p>
        </p:txBody>
      </p:sp>
      <p:sp>
        <p:nvSpPr>
          <p:cNvPr id="47" name="TextBox 46"/>
          <p:cNvSpPr txBox="1"/>
          <p:nvPr/>
        </p:nvSpPr>
        <p:spPr>
          <a:xfrm>
            <a:off x="7829550" y="2381631"/>
            <a:ext cx="875196" cy="194310"/>
          </a:xfrm>
          <a:prstGeom prst="rect">
            <a:avLst/>
          </a:prstGeom>
          <a:noFill/>
        </p:spPr>
        <p:txBody>
          <a:bodyPr wrap="none" lIns="0" rIns="0" tIns="0" bIns="0">
            <a:spAutoFit/>
          </a:bodyPr>
          <a:lstStyle/>
          <a:p>
            <a:r>
              <a:rPr sz="1150" b="0">
                <a:solidFill>
                  <a:srgbClr val="2E2E2E"/>
                </a:solidFill>
                <a:latin typeface="Calibri"/>
              </a:rPr>
              <a:t>muffin size at</a:t>
            </a:r>
          </a:p>
        </p:txBody>
      </p:sp>
      <p:pic>
        <p:nvPicPr>
          <p:cNvPr id="48" name="Picture 47" descr="lock.png"/>
          <p:cNvPicPr>
            <a:picLocks noChangeAspect="1"/>
          </p:cNvPicPr>
          <p:nvPr/>
        </p:nvPicPr>
        <p:blipFill>
          <a:blip r:embed="rId5"/>
          <a:stretch>
            <a:fillRect/>
          </a:stretch>
        </p:blipFill>
        <p:spPr>
          <a:xfrm>
            <a:off x="8653900" y="2371407"/>
            <a:ext cx="134549" cy="195707"/>
          </a:xfrm>
          <a:prstGeom prst="rect">
            <a:avLst/>
          </a:prstGeom>
        </p:spPr>
      </p:pic>
      <p:sp>
        <p:nvSpPr>
          <p:cNvPr id="49" name="TextBox 48"/>
          <p:cNvSpPr txBox="1"/>
          <p:nvPr/>
        </p:nvSpPr>
        <p:spPr>
          <a:xfrm>
            <a:off x="882900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Individual Muffin Size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Individual Muffin Size,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Individual Muffin Size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sp>
        <p:nvSpPr>
          <p:cNvPr id="33" name="Rectangle 32"/>
          <p:cNvSpPr/>
          <p:nvPr/>
        </p:nvSpPr>
        <p:spPr>
          <a:xfrm>
            <a:off x="1857375" y="3248025"/>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sp>
        <p:nvSpPr>
          <p:cNvPr id="65" name="Rectangle 64"/>
          <p:cNvSpPr/>
          <p:nvPr/>
        </p:nvSpPr>
        <p:spPr>
          <a:xfrm>
            <a:off x="185737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81" name="Rectangle 80"/>
          <p:cNvSpPr/>
          <p:nvPr/>
        </p:nvSpPr>
        <p:spPr>
          <a:xfrm>
            <a:off x="1857375" y="5741194"/>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060904" y="1713738"/>
            <a:ext cx="366712" cy="533400"/>
          </a:xfrm>
          <a:prstGeom prst="rect">
            <a:avLst/>
          </a:prstGeom>
        </p:spPr>
      </p:pic>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Individual Muffin Size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Individual Muffin Size,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Individual Muffin Size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sp>
        <p:nvSpPr>
          <p:cNvPr id="33" name="Rectangle 32"/>
          <p:cNvSpPr/>
          <p:nvPr/>
        </p:nvSpPr>
        <p:spPr>
          <a:xfrm>
            <a:off x="1857375" y="3248025"/>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sp>
        <p:nvSpPr>
          <p:cNvPr id="65" name="Rectangle 64"/>
          <p:cNvSpPr/>
          <p:nvPr/>
        </p:nvSpPr>
        <p:spPr>
          <a:xfrm>
            <a:off x="185737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81" name="Rectangle 80"/>
          <p:cNvSpPr/>
          <p:nvPr/>
        </p:nvSpPr>
        <p:spPr>
          <a:xfrm>
            <a:off x="1857375" y="5741194"/>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060904"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Storage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Storage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Storage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Storage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Storage Format segment categorizes the market by storage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Frozen</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Chilled</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Ambient</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Storage Format split shows how demand is distributed across storage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_047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_72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2_9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194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017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5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355_8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609_6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5_5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77975" cy="186689"/>
          </a:xfrm>
          <a:prstGeom prst="rect">
            <a:avLst/>
          </a:prstGeom>
          <a:noFill/>
        </p:spPr>
        <p:txBody>
          <a:bodyPr wrap="none" lIns="0" rIns="0" tIns="0" bIns="0">
            <a:spAutoFit/>
          </a:bodyPr>
          <a:lstStyle/>
          <a:p>
            <a:r>
              <a:rPr sz="1100" b="0">
                <a:solidFill>
                  <a:srgbClr val="2E2E2E"/>
                </a:solidFill>
                <a:latin typeface="Calibri"/>
              </a:rPr>
              <a:t>▪ 'Frozen' holds the largest share in 2026</a:t>
            </a:r>
          </a:p>
        </p:txBody>
      </p:sp>
      <p:pic>
        <p:nvPicPr>
          <p:cNvPr id="70" name="Picture 69" descr="lock.png"/>
          <p:cNvPicPr>
            <a:picLocks noChangeAspect="1"/>
          </p:cNvPicPr>
          <p:nvPr/>
        </p:nvPicPr>
        <p:blipFill>
          <a:blip r:embed="rId13"/>
          <a:stretch>
            <a:fillRect/>
          </a:stretch>
        </p:blipFill>
        <p:spPr>
          <a:xfrm>
            <a:off x="2811802" y="4219658"/>
            <a:ext cx="128699" cy="187198"/>
          </a:xfrm>
          <a:prstGeom prst="rect">
            <a:avLst/>
          </a:prstGeom>
        </p:spPr>
      </p:pic>
      <p:sp>
        <p:nvSpPr>
          <p:cNvPr id="71" name="TextBox 70"/>
          <p:cNvSpPr txBox="1"/>
          <p:nvPr/>
        </p:nvSpPr>
        <p:spPr>
          <a:xfrm>
            <a:off x="2979298"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72" name="TextBox 71"/>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73" name="TextBox 72"/>
          <p:cNvSpPr txBox="1"/>
          <p:nvPr/>
        </p:nvSpPr>
        <p:spPr>
          <a:xfrm>
            <a:off x="485775" y="4615009"/>
            <a:ext cx="2875384" cy="186689"/>
          </a:xfrm>
          <a:prstGeom prst="rect">
            <a:avLst/>
          </a:prstGeom>
          <a:noFill/>
        </p:spPr>
        <p:txBody>
          <a:bodyPr wrap="none" lIns="0" rIns="0" tIns="0" bIns="0">
            <a:spAutoFit/>
          </a:bodyPr>
          <a:lstStyle/>
          <a:p>
            <a:r>
              <a:rPr sz="1100" b="0">
                <a:solidFill>
                  <a:srgbClr val="2E2E2E"/>
                </a:solidFill>
                <a:latin typeface="Calibri"/>
              </a:rPr>
              <a:t>▪ 'Ambient' is the fastest-growing sub-segment at</a:t>
            </a:r>
          </a:p>
        </p:txBody>
      </p:sp>
      <p:pic>
        <p:nvPicPr>
          <p:cNvPr id="74" name="Picture 73" descr="lock.png"/>
          <p:cNvPicPr>
            <a:picLocks noChangeAspect="1"/>
          </p:cNvPicPr>
          <p:nvPr/>
        </p:nvPicPr>
        <p:blipFill>
          <a:blip r:embed="rId13"/>
          <a:stretch>
            <a:fillRect/>
          </a:stretch>
        </p:blipFill>
        <p:spPr>
          <a:xfrm>
            <a:off x="472307" y="4772870"/>
            <a:ext cx="128699" cy="187198"/>
          </a:xfrm>
          <a:prstGeom prst="rect">
            <a:avLst/>
          </a:prstGeom>
        </p:spPr>
      </p:pic>
      <p:sp>
        <p:nvSpPr>
          <p:cNvPr id="75" name="TextBox 74"/>
          <p:cNvSpPr txBox="1"/>
          <p:nvPr/>
        </p:nvSpPr>
        <p:spPr>
          <a:xfrm>
            <a:off x="639803"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6" name="TextBox 7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7" name="Picture 76" descr="lock.png"/>
          <p:cNvPicPr>
            <a:picLocks noChangeAspect="1"/>
          </p:cNvPicPr>
          <p:nvPr/>
        </p:nvPicPr>
        <p:blipFill>
          <a:blip r:embed="rId13"/>
          <a:stretch>
            <a:fillRect/>
          </a:stretch>
        </p:blipFill>
        <p:spPr>
          <a:xfrm>
            <a:off x="2240451" y="4990801"/>
            <a:ext cx="128699" cy="187198"/>
          </a:xfrm>
          <a:prstGeom prst="rect">
            <a:avLst/>
          </a:prstGeom>
        </p:spPr>
      </p:pic>
      <p:sp>
        <p:nvSpPr>
          <p:cNvPr id="78" name="TextBox 7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9" name="Picture 78" descr="lock.png"/>
          <p:cNvPicPr>
            <a:picLocks noChangeAspect="1"/>
          </p:cNvPicPr>
          <p:nvPr/>
        </p:nvPicPr>
        <p:blipFill>
          <a:blip r:embed="rId13"/>
          <a:stretch>
            <a:fillRect/>
          </a:stretch>
        </p:blipFill>
        <p:spPr>
          <a:xfrm>
            <a:off x="2552799" y="4990801"/>
            <a:ext cx="128699" cy="187198"/>
          </a:xfrm>
          <a:prstGeom prst="rect">
            <a:avLst/>
          </a:prstGeom>
        </p:spPr>
      </p:pic>
      <p:sp>
        <p:nvSpPr>
          <p:cNvPr id="80" name="TextBox 7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2" name="TextBox 81"/>
          <p:cNvSpPr txBox="1"/>
          <p:nvPr/>
        </p:nvSpPr>
        <p:spPr>
          <a:xfrm>
            <a:off x="485775" y="5386153"/>
            <a:ext cx="2673201" cy="186689"/>
          </a:xfrm>
          <a:prstGeom prst="rect">
            <a:avLst/>
          </a:prstGeom>
          <a:noFill/>
        </p:spPr>
        <p:txBody>
          <a:bodyPr wrap="none" lIns="0" rIns="0" tIns="0" bIns="0">
            <a:spAutoFit/>
          </a:bodyPr>
          <a:lstStyle/>
          <a:p>
            <a:r>
              <a:rPr sz="1100" b="0">
                <a:solidFill>
                  <a:srgbClr val="2E2E2E"/>
                </a:solidFill>
                <a:latin typeface="Calibri"/>
              </a:rPr>
              <a:t>▪ 3 sub-segments make up the storage format</a:t>
            </a:r>
          </a:p>
        </p:txBody>
      </p:sp>
      <p:sp>
        <p:nvSpPr>
          <p:cNvPr id="83" name="TextBox 82"/>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4" name="TextBox 83"/>
          <p:cNvSpPr txBox="1"/>
          <p:nvPr/>
        </p:nvSpPr>
        <p:spPr>
          <a:xfrm>
            <a:off x="3838575" y="4229437"/>
            <a:ext cx="614263" cy="186689"/>
          </a:xfrm>
          <a:prstGeom prst="rect">
            <a:avLst/>
          </a:prstGeom>
          <a:noFill/>
        </p:spPr>
        <p:txBody>
          <a:bodyPr wrap="none" lIns="0" rIns="0" tIns="0" bIns="0">
            <a:spAutoFit/>
          </a:bodyPr>
          <a:lstStyle/>
          <a:p>
            <a:r>
              <a:rPr sz="1100" b="0">
                <a:solidFill>
                  <a:srgbClr val="2E2E2E"/>
                </a:solidFill>
                <a:latin typeface="Calibri"/>
              </a:rPr>
              <a:t>● Frozen:</a:t>
            </a:r>
          </a:p>
        </p:txBody>
      </p:sp>
      <p:pic>
        <p:nvPicPr>
          <p:cNvPr id="85" name="Picture 84" descr="lock.png"/>
          <p:cNvPicPr>
            <a:picLocks noChangeAspect="1"/>
          </p:cNvPicPr>
          <p:nvPr/>
        </p:nvPicPr>
        <p:blipFill>
          <a:blip r:embed="rId13"/>
          <a:stretch>
            <a:fillRect/>
          </a:stretch>
        </p:blipFill>
        <p:spPr>
          <a:xfrm>
            <a:off x="4400889" y="4219658"/>
            <a:ext cx="128699" cy="187198"/>
          </a:xfrm>
          <a:prstGeom prst="rect">
            <a:avLst/>
          </a:prstGeom>
        </p:spPr>
      </p:pic>
      <p:sp>
        <p:nvSpPr>
          <p:cNvPr id="86" name="TextBox 85"/>
          <p:cNvSpPr txBox="1"/>
          <p:nvPr/>
        </p:nvSpPr>
        <p:spPr>
          <a:xfrm>
            <a:off x="456838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3"/>
          <a:stretch>
            <a:fillRect/>
          </a:stretch>
        </p:blipFill>
        <p:spPr>
          <a:xfrm>
            <a:off x="5427835" y="4219658"/>
            <a:ext cx="128699" cy="187198"/>
          </a:xfrm>
          <a:prstGeom prst="rect">
            <a:avLst/>
          </a:prstGeom>
        </p:spPr>
      </p:pic>
      <p:sp>
        <p:nvSpPr>
          <p:cNvPr id="88" name="TextBox 87"/>
          <p:cNvSpPr txBox="1"/>
          <p:nvPr/>
        </p:nvSpPr>
        <p:spPr>
          <a:xfrm>
            <a:off x="5595331"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9" name="TextBox 88"/>
          <p:cNvSpPr txBox="1"/>
          <p:nvPr/>
        </p:nvSpPr>
        <p:spPr>
          <a:xfrm>
            <a:off x="3838575" y="4447369"/>
            <a:ext cx="616991" cy="186689"/>
          </a:xfrm>
          <a:prstGeom prst="rect">
            <a:avLst/>
          </a:prstGeom>
          <a:noFill/>
        </p:spPr>
        <p:txBody>
          <a:bodyPr wrap="none" lIns="0" rIns="0" tIns="0" bIns="0">
            <a:spAutoFit/>
          </a:bodyPr>
          <a:lstStyle/>
          <a:p>
            <a:r>
              <a:rPr sz="1100" b="0">
                <a:solidFill>
                  <a:srgbClr val="2E2E2E"/>
                </a:solidFill>
                <a:latin typeface="Calibri"/>
              </a:rPr>
              <a:t>● Chilled:</a:t>
            </a:r>
          </a:p>
        </p:txBody>
      </p:sp>
      <p:pic>
        <p:nvPicPr>
          <p:cNvPr id="90" name="Picture 89" descr="lock.png"/>
          <p:cNvPicPr>
            <a:picLocks noChangeAspect="1"/>
          </p:cNvPicPr>
          <p:nvPr/>
        </p:nvPicPr>
        <p:blipFill>
          <a:blip r:embed="rId13"/>
          <a:stretch>
            <a:fillRect/>
          </a:stretch>
        </p:blipFill>
        <p:spPr>
          <a:xfrm>
            <a:off x="4403618" y="4437590"/>
            <a:ext cx="128699" cy="187198"/>
          </a:xfrm>
          <a:prstGeom prst="rect">
            <a:avLst/>
          </a:prstGeom>
        </p:spPr>
      </p:pic>
      <p:sp>
        <p:nvSpPr>
          <p:cNvPr id="91" name="TextBox 90"/>
          <p:cNvSpPr txBox="1"/>
          <p:nvPr/>
        </p:nvSpPr>
        <p:spPr>
          <a:xfrm>
            <a:off x="457111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2" name="Picture 91" descr="lock.png"/>
          <p:cNvPicPr>
            <a:picLocks noChangeAspect="1"/>
          </p:cNvPicPr>
          <p:nvPr/>
        </p:nvPicPr>
        <p:blipFill>
          <a:blip r:embed="rId13"/>
          <a:stretch>
            <a:fillRect/>
          </a:stretch>
        </p:blipFill>
        <p:spPr>
          <a:xfrm>
            <a:off x="5430564" y="4437590"/>
            <a:ext cx="128699" cy="187198"/>
          </a:xfrm>
          <a:prstGeom prst="rect">
            <a:avLst/>
          </a:prstGeom>
        </p:spPr>
      </p:pic>
      <p:sp>
        <p:nvSpPr>
          <p:cNvPr id="93" name="TextBox 92"/>
          <p:cNvSpPr txBox="1"/>
          <p:nvPr/>
        </p:nvSpPr>
        <p:spPr>
          <a:xfrm>
            <a:off x="559806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4" name="TextBox 93"/>
          <p:cNvSpPr txBox="1"/>
          <p:nvPr/>
        </p:nvSpPr>
        <p:spPr>
          <a:xfrm>
            <a:off x="3838575" y="4665301"/>
            <a:ext cx="717401" cy="186689"/>
          </a:xfrm>
          <a:prstGeom prst="rect">
            <a:avLst/>
          </a:prstGeom>
          <a:noFill/>
        </p:spPr>
        <p:txBody>
          <a:bodyPr wrap="none" lIns="0" rIns="0" tIns="0" bIns="0">
            <a:spAutoFit/>
          </a:bodyPr>
          <a:lstStyle/>
          <a:p>
            <a:r>
              <a:rPr sz="1100" b="0">
                <a:solidFill>
                  <a:srgbClr val="2E2E2E"/>
                </a:solidFill>
                <a:latin typeface="Calibri"/>
              </a:rPr>
              <a:t>● Ambient:</a:t>
            </a:r>
          </a:p>
        </p:txBody>
      </p:sp>
      <p:pic>
        <p:nvPicPr>
          <p:cNvPr id="95" name="Picture 94" descr="lock.png"/>
          <p:cNvPicPr>
            <a:picLocks noChangeAspect="1"/>
          </p:cNvPicPr>
          <p:nvPr/>
        </p:nvPicPr>
        <p:blipFill>
          <a:blip r:embed="rId13"/>
          <a:stretch>
            <a:fillRect/>
          </a:stretch>
        </p:blipFill>
        <p:spPr>
          <a:xfrm>
            <a:off x="4504027" y="4655522"/>
            <a:ext cx="128699" cy="187198"/>
          </a:xfrm>
          <a:prstGeom prst="rect">
            <a:avLst/>
          </a:prstGeom>
        </p:spPr>
      </p:pic>
      <p:sp>
        <p:nvSpPr>
          <p:cNvPr id="96" name="TextBox 95"/>
          <p:cNvSpPr txBox="1"/>
          <p:nvPr/>
        </p:nvSpPr>
        <p:spPr>
          <a:xfrm>
            <a:off x="46715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5530973" y="4655522"/>
            <a:ext cx="128699" cy="187198"/>
          </a:xfrm>
          <a:prstGeom prst="rect">
            <a:avLst/>
          </a:prstGeom>
        </p:spPr>
      </p:pic>
      <p:sp>
        <p:nvSpPr>
          <p:cNvPr id="98" name="TextBox 97"/>
          <p:cNvSpPr txBox="1"/>
          <p:nvPr/>
        </p:nvSpPr>
        <p:spPr>
          <a:xfrm>
            <a:off x="5698469"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9" name="TextBox 98"/>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Storage Format segment is projected to grow at</a:t>
            </a:r>
          </a:p>
        </p:txBody>
      </p:sp>
      <p:sp>
        <p:nvSpPr>
          <p:cNvPr id="100" name="TextBox 99"/>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01" name="Picture 100" descr="lock.png"/>
          <p:cNvPicPr>
            <a:picLocks noChangeAspect="1"/>
          </p:cNvPicPr>
          <p:nvPr/>
        </p:nvPicPr>
        <p:blipFill>
          <a:blip r:embed="rId13"/>
          <a:stretch>
            <a:fillRect/>
          </a:stretch>
        </p:blipFill>
        <p:spPr>
          <a:xfrm>
            <a:off x="9154084" y="6007677"/>
            <a:ext cx="134549" cy="195707"/>
          </a:xfrm>
          <a:prstGeom prst="rect">
            <a:avLst/>
          </a:prstGeom>
        </p:spPr>
      </p:pic>
      <p:sp>
        <p:nvSpPr>
          <p:cNvPr id="102" name="TextBox 101"/>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Storage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Storage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Storage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Storage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989165" cy="186689"/>
          </a:xfrm>
          <a:prstGeom prst="rect">
            <a:avLst/>
          </a:prstGeom>
          <a:noFill/>
        </p:spPr>
        <p:txBody>
          <a:bodyPr wrap="none" lIns="0" rIns="0" tIns="0" bIns="0">
            <a:spAutoFit/>
          </a:bodyPr>
          <a:lstStyle/>
          <a:p>
            <a:r>
              <a:rPr sz="1100" b="0">
                <a:solidFill>
                  <a:srgbClr val="2E2E2E"/>
                </a:solidFill>
                <a:latin typeface="Calibri"/>
              </a:rPr>
              <a:t>Between 2026 and 2036, 'Chilled' gains the most share in the North America market (+</a:t>
            </a:r>
          </a:p>
        </p:txBody>
      </p:sp>
      <p:pic>
        <p:nvPicPr>
          <p:cNvPr id="21" name="Picture 20" descr="lock.png"/>
          <p:cNvPicPr>
            <a:picLocks noChangeAspect="1"/>
          </p:cNvPicPr>
          <p:nvPr/>
        </p:nvPicPr>
        <p:blipFill>
          <a:blip r:embed="rId6"/>
          <a:stretch>
            <a:fillRect/>
          </a:stretch>
        </p:blipFill>
        <p:spPr>
          <a:xfrm>
            <a:off x="5194391" y="5935726"/>
            <a:ext cx="128699" cy="187198"/>
          </a:xfrm>
          <a:prstGeom prst="rect">
            <a:avLst/>
          </a:prstGeom>
        </p:spPr>
      </p:pic>
      <p:sp>
        <p:nvSpPr>
          <p:cNvPr id="22" name="TextBox 21"/>
          <p:cNvSpPr txBox="1"/>
          <p:nvPr/>
        </p:nvSpPr>
        <p:spPr>
          <a:xfrm>
            <a:off x="5361887" y="5945505"/>
            <a:ext cx="1505942" cy="186689"/>
          </a:xfrm>
          <a:prstGeom prst="rect">
            <a:avLst/>
          </a:prstGeom>
          <a:noFill/>
        </p:spPr>
        <p:txBody>
          <a:bodyPr wrap="none" lIns="0" rIns="0" tIns="0" bIns="0">
            <a:spAutoFit/>
          </a:bodyPr>
          <a:lstStyle/>
          <a:p>
            <a:r>
              <a:rPr sz="1100" b="0">
                <a:solidFill>
                  <a:srgbClr val="2E2E2E"/>
                </a:solidFill>
                <a:latin typeface="Calibri"/>
              </a:rPr>
              <a:t>BPS) while 'Frozen' cedes</a:t>
            </a:r>
          </a:p>
        </p:txBody>
      </p:sp>
      <p:pic>
        <p:nvPicPr>
          <p:cNvPr id="23" name="Picture 22" descr="lock.png"/>
          <p:cNvPicPr>
            <a:picLocks noChangeAspect="1"/>
          </p:cNvPicPr>
          <p:nvPr/>
        </p:nvPicPr>
        <p:blipFill>
          <a:blip r:embed="rId6"/>
          <a:stretch>
            <a:fillRect/>
          </a:stretch>
        </p:blipFill>
        <p:spPr>
          <a:xfrm>
            <a:off x="6815881" y="5935726"/>
            <a:ext cx="128699" cy="187198"/>
          </a:xfrm>
          <a:prstGeom prst="rect">
            <a:avLst/>
          </a:prstGeom>
        </p:spPr>
      </p:pic>
      <p:sp>
        <p:nvSpPr>
          <p:cNvPr id="24" name="TextBox 23"/>
          <p:cNvSpPr txBox="1"/>
          <p:nvPr/>
        </p:nvSpPr>
        <p:spPr>
          <a:xfrm>
            <a:off x="6983377"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Storage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Ambient</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Chilled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Frozen</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Storage Format</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3134692" cy="194310"/>
          </a:xfrm>
          <a:prstGeom prst="rect">
            <a:avLst/>
          </a:prstGeom>
          <a:noFill/>
        </p:spPr>
        <p:txBody>
          <a:bodyPr wrap="none" lIns="0" rIns="0" tIns="0" bIns="0">
            <a:spAutoFit/>
          </a:bodyPr>
          <a:lstStyle/>
          <a:p>
            <a:r>
              <a:rPr sz="1150" b="0">
                <a:solidFill>
                  <a:srgbClr val="2E2E2E"/>
                </a:solidFill>
                <a:latin typeface="Calibri"/>
              </a:rPr>
              <a:t>▪ Across its 3 sub-segments, by storage format adds</a:t>
            </a:r>
          </a:p>
        </p:txBody>
      </p:sp>
      <p:pic>
        <p:nvPicPr>
          <p:cNvPr id="29" name="Picture 28" descr="lock.png"/>
          <p:cNvPicPr>
            <a:picLocks noChangeAspect="1"/>
          </p:cNvPicPr>
          <p:nvPr/>
        </p:nvPicPr>
        <p:blipFill>
          <a:blip r:embed="rId7"/>
          <a:stretch>
            <a:fillRect/>
          </a:stretch>
        </p:blipFill>
        <p:spPr>
          <a:xfrm>
            <a:off x="9389396" y="4276026"/>
            <a:ext cx="134549" cy="195707"/>
          </a:xfrm>
          <a:prstGeom prst="rect">
            <a:avLst/>
          </a:prstGeom>
        </p:spPr>
      </p:pic>
      <p:sp>
        <p:nvSpPr>
          <p:cNvPr id="30" name="TextBox 29"/>
          <p:cNvSpPr txBox="1"/>
          <p:nvPr/>
        </p:nvSpPr>
        <p:spPr>
          <a:xfrm>
            <a:off x="9564505" y="4286250"/>
            <a:ext cx="1841636" cy="194310"/>
          </a:xfrm>
          <a:prstGeom prst="rect">
            <a:avLst/>
          </a:prstGeom>
          <a:noFill/>
        </p:spPr>
        <p:txBody>
          <a:bodyPr wrap="none" lIns="0" rIns="0" tIns="0" bIns="0">
            <a:spAutoFit/>
          </a:bodyPr>
          <a:lstStyle/>
          <a:p>
            <a:r>
              <a:rPr sz="1150" b="0">
                <a:solidFill>
                  <a:srgbClr val="2E2E2E"/>
                </a:solidFill>
                <a:latin typeface="Calibri"/>
              </a:rPr>
              <a:t>US$ Mn to the North America</a:t>
            </a:r>
          </a:p>
        </p:txBody>
      </p:sp>
      <p:sp>
        <p:nvSpPr>
          <p:cNvPr id="31" name="TextBox 30"/>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2" name="TextBox 31"/>
          <p:cNvSpPr txBox="1"/>
          <p:nvPr/>
        </p:nvSpPr>
        <p:spPr>
          <a:xfrm>
            <a:off x="6305550" y="4689347"/>
            <a:ext cx="943942" cy="194310"/>
          </a:xfrm>
          <a:prstGeom prst="rect">
            <a:avLst/>
          </a:prstGeom>
          <a:noFill/>
        </p:spPr>
        <p:txBody>
          <a:bodyPr wrap="none" lIns="0" rIns="0" tIns="0" bIns="0">
            <a:spAutoFit/>
          </a:bodyPr>
          <a:lstStyle/>
          <a:p>
            <a:r>
              <a:rPr sz="1150" b="0">
                <a:solidFill>
                  <a:srgbClr val="2E2E2E"/>
                </a:solidFill>
                <a:latin typeface="Calibri"/>
              </a:rPr>
              <a:t>▪ 'Chilled' adds</a:t>
            </a:r>
          </a:p>
        </p:txBody>
      </p:sp>
      <p:pic>
        <p:nvPicPr>
          <p:cNvPr id="33" name="Picture 32" descr="lock.png"/>
          <p:cNvPicPr>
            <a:picLocks noChangeAspect="1"/>
          </p:cNvPicPr>
          <p:nvPr/>
        </p:nvPicPr>
        <p:blipFill>
          <a:blip r:embed="rId7"/>
          <a:stretch>
            <a:fillRect/>
          </a:stretch>
        </p:blipFill>
        <p:spPr>
          <a:xfrm>
            <a:off x="7198646" y="4679124"/>
            <a:ext cx="134549" cy="195707"/>
          </a:xfrm>
          <a:prstGeom prst="rect">
            <a:avLst/>
          </a:prstGeom>
        </p:spPr>
      </p:pic>
      <p:sp>
        <p:nvSpPr>
          <p:cNvPr id="34" name="TextBox 33"/>
          <p:cNvSpPr txBox="1"/>
          <p:nvPr/>
        </p:nvSpPr>
        <p:spPr>
          <a:xfrm>
            <a:off x="7373755"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7946226" y="4679124"/>
            <a:ext cx="134549" cy="195707"/>
          </a:xfrm>
          <a:prstGeom prst="rect">
            <a:avLst/>
          </a:prstGeom>
        </p:spPr>
      </p:pic>
      <p:sp>
        <p:nvSpPr>
          <p:cNvPr id="36" name="TextBox 35"/>
          <p:cNvSpPr txBox="1"/>
          <p:nvPr/>
        </p:nvSpPr>
        <p:spPr>
          <a:xfrm>
            <a:off x="8121335"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941089" cy="194310"/>
          </a:xfrm>
          <a:prstGeom prst="rect">
            <a:avLst/>
          </a:prstGeom>
          <a:noFill/>
        </p:spPr>
        <p:txBody>
          <a:bodyPr wrap="none" lIns="0" rIns="0" tIns="0" bIns="0">
            <a:spAutoFit/>
          </a:bodyPr>
          <a:lstStyle/>
          <a:p>
            <a:r>
              <a:rPr sz="1150" b="0">
                <a:solidFill>
                  <a:srgbClr val="2E2E2E"/>
                </a:solidFill>
                <a:latin typeface="Calibri"/>
              </a:rPr>
              <a:t>▪ 'Frozen' adds</a:t>
            </a:r>
          </a:p>
        </p:txBody>
      </p:sp>
      <p:pic>
        <p:nvPicPr>
          <p:cNvPr id="38" name="Picture 37" descr="lock.png"/>
          <p:cNvPicPr>
            <a:picLocks noChangeAspect="1"/>
          </p:cNvPicPr>
          <p:nvPr/>
        </p:nvPicPr>
        <p:blipFill>
          <a:blip r:embed="rId7"/>
          <a:stretch>
            <a:fillRect/>
          </a:stretch>
        </p:blipFill>
        <p:spPr>
          <a:xfrm>
            <a:off x="7195793" y="4906962"/>
            <a:ext cx="134549" cy="195707"/>
          </a:xfrm>
          <a:prstGeom prst="rect">
            <a:avLst/>
          </a:prstGeom>
        </p:spPr>
      </p:pic>
      <p:sp>
        <p:nvSpPr>
          <p:cNvPr id="39" name="TextBox 38"/>
          <p:cNvSpPr txBox="1"/>
          <p:nvPr/>
        </p:nvSpPr>
        <p:spPr>
          <a:xfrm>
            <a:off x="737090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7943373" y="4906962"/>
            <a:ext cx="134549" cy="195707"/>
          </a:xfrm>
          <a:prstGeom prst="rect">
            <a:avLst/>
          </a:prstGeom>
        </p:spPr>
      </p:pic>
      <p:sp>
        <p:nvSpPr>
          <p:cNvPr id="41" name="TextBox 40"/>
          <p:cNvSpPr txBox="1"/>
          <p:nvPr/>
        </p:nvSpPr>
        <p:spPr>
          <a:xfrm>
            <a:off x="811848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048915" cy="194310"/>
          </a:xfrm>
          <a:prstGeom prst="rect">
            <a:avLst/>
          </a:prstGeom>
          <a:noFill/>
        </p:spPr>
        <p:txBody>
          <a:bodyPr wrap="none" lIns="0" rIns="0" tIns="0" bIns="0">
            <a:spAutoFit/>
          </a:bodyPr>
          <a:lstStyle/>
          <a:p>
            <a:r>
              <a:rPr sz="1150" b="0">
                <a:solidFill>
                  <a:srgbClr val="2E2E2E"/>
                </a:solidFill>
                <a:latin typeface="Calibri"/>
              </a:rPr>
              <a:t>▪ 'Ambient' adds</a:t>
            </a:r>
          </a:p>
        </p:txBody>
      </p:sp>
      <p:pic>
        <p:nvPicPr>
          <p:cNvPr id="43" name="Picture 42" descr="lock.png"/>
          <p:cNvPicPr>
            <a:picLocks noChangeAspect="1"/>
          </p:cNvPicPr>
          <p:nvPr/>
        </p:nvPicPr>
        <p:blipFill>
          <a:blip r:embed="rId7"/>
          <a:stretch>
            <a:fillRect/>
          </a:stretch>
        </p:blipFill>
        <p:spPr>
          <a:xfrm>
            <a:off x="7303619" y="5134800"/>
            <a:ext cx="134549" cy="195707"/>
          </a:xfrm>
          <a:prstGeom prst="rect">
            <a:avLst/>
          </a:prstGeom>
        </p:spPr>
      </p:pic>
      <p:sp>
        <p:nvSpPr>
          <p:cNvPr id="44" name="TextBox 43"/>
          <p:cNvSpPr txBox="1"/>
          <p:nvPr/>
        </p:nvSpPr>
        <p:spPr>
          <a:xfrm>
            <a:off x="7478729"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051199" y="5134800"/>
            <a:ext cx="134549" cy="195707"/>
          </a:xfrm>
          <a:prstGeom prst="rect">
            <a:avLst/>
          </a:prstGeom>
        </p:spPr>
      </p:pic>
      <p:sp>
        <p:nvSpPr>
          <p:cNvPr id="46" name="TextBox 45"/>
          <p:cNvSpPr txBox="1"/>
          <p:nvPr/>
        </p:nvSpPr>
        <p:spPr>
          <a:xfrm>
            <a:off x="8226309"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Storage Format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Storage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Storage Format (MT)</a:t>
            </a:r>
          </a:p>
        </p:txBody>
      </p:sp>
      <p:graphicFrame>
        <p:nvGraphicFramePr>
          <p:cNvPr id="13" name="Table 12"/>
          <p:cNvGraphicFramePr>
            <a:graphicFrameLocks noGrp="1"/>
          </p:cNvGraphicFramePr>
          <p:nvPr/>
        </p:nvGraphicFramePr>
        <p:xfrm>
          <a:off x="152400" y="1238250"/>
          <a:ext cx="11887199" cy="1428752"/>
        </p:xfrm>
        <a:graphic>
          <a:graphicData uri="http://schemas.openxmlformats.org/drawingml/2006/table">
            <a:tbl>
              <a:tblPr>
                <a:tableStyleId>{5C22544A-7EE6-4342-B048-85BDC9FD1C3A}</a:tableStyleId>
              </a:tblPr>
              <a:tblGrid>
                <a:gridCol w="1015839"/>
                <a:gridCol w="583049"/>
                <a:gridCol w="583049"/>
                <a:gridCol w="583049"/>
                <a:gridCol w="583049"/>
                <a:gridCol w="583049"/>
                <a:gridCol w="583049"/>
                <a:gridCol w="583049"/>
                <a:gridCol w="693420"/>
                <a:gridCol w="693420"/>
                <a:gridCol w="693420"/>
                <a:gridCol w="693420"/>
                <a:gridCol w="693420"/>
                <a:gridCol w="693420"/>
                <a:gridCol w="693420"/>
                <a:gridCol w="693420"/>
                <a:gridCol w="693420"/>
                <a:gridCol w="549237"/>
              </a:tblGrid>
              <a:tr h="438912">
                <a:tc>
                  <a:txBody>
                    <a:bodyPr wrap="none"/>
                    <a:lstStyle/>
                    <a:p>
                      <a:pPr algn="l"/>
                      <a:r>
                        <a:rPr sz="1100" b="1">
                          <a:solidFill>
                            <a:srgbClr val="0B2E4A"/>
                          </a:solidFill>
                          <a:latin typeface="Calibri"/>
                        </a:rPr>
                        <a:t>Storage</a:t>
                      </a:r>
                      <a:endParaRPr sz="1100"/>
                    </a:p>
                    <a:p>
                      <a:pPr algn="l"/>
                      <a:r>
                        <a:rPr sz="1100" b="1">
                          <a:solidFill>
                            <a:srgbClr val="0B2E4A"/>
                          </a:solidFill>
                          <a:latin typeface="Calibri"/>
                        </a:rPr>
                        <a:t>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Storage Format</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17228" y="1905381"/>
            <a:ext cx="366712" cy="533400"/>
          </a:xfrm>
          <a:prstGeom prst="rect">
            <a:avLst/>
          </a:prstGeom>
        </p:spPr>
      </p:pic>
      <p:sp>
        <p:nvSpPr>
          <p:cNvPr id="21" name="TextBox 20"/>
          <p:cNvSpPr txBox="1"/>
          <p:nvPr/>
        </p:nvSpPr>
        <p:spPr>
          <a:xfrm>
            <a:off x="276225" y="3429000"/>
            <a:ext cx="2490303" cy="194310"/>
          </a:xfrm>
          <a:prstGeom prst="rect">
            <a:avLst/>
          </a:prstGeom>
          <a:noFill/>
        </p:spPr>
        <p:txBody>
          <a:bodyPr wrap="none" lIns="0" rIns="0" tIns="0" bIns="0">
            <a:spAutoFit/>
          </a:bodyPr>
          <a:lstStyle/>
          <a:p>
            <a:r>
              <a:rPr sz="1150" b="0">
                <a:solidFill>
                  <a:srgbClr val="2E2E2E"/>
                </a:solidFill>
                <a:latin typeface="Calibri"/>
              </a:rPr>
              <a:t>▪ 'Frozen' is the largest storage format at</a:t>
            </a:r>
          </a:p>
        </p:txBody>
      </p:sp>
      <p:pic>
        <p:nvPicPr>
          <p:cNvPr id="22" name="Picture 21" descr="lock.png"/>
          <p:cNvPicPr>
            <a:picLocks noChangeAspect="1"/>
          </p:cNvPicPr>
          <p:nvPr/>
        </p:nvPicPr>
        <p:blipFill>
          <a:blip r:embed="rId4"/>
          <a:stretch>
            <a:fillRect/>
          </a:stretch>
        </p:blipFill>
        <p:spPr>
          <a:xfrm>
            <a:off x="2715682" y="3418776"/>
            <a:ext cx="134549" cy="195707"/>
          </a:xfrm>
          <a:prstGeom prst="rect">
            <a:avLst/>
          </a:prstGeom>
        </p:spPr>
      </p:pic>
      <p:sp>
        <p:nvSpPr>
          <p:cNvPr id="23" name="TextBox 22"/>
          <p:cNvSpPr txBox="1"/>
          <p:nvPr/>
        </p:nvSpPr>
        <p:spPr>
          <a:xfrm>
            <a:off x="2890792" y="3429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920524" y="3418776"/>
            <a:ext cx="134549" cy="195707"/>
          </a:xfrm>
          <a:prstGeom prst="rect">
            <a:avLst/>
          </a:prstGeom>
        </p:spPr>
      </p:pic>
      <p:sp>
        <p:nvSpPr>
          <p:cNvPr id="25" name="TextBox 24"/>
          <p:cNvSpPr txBox="1"/>
          <p:nvPr/>
        </p:nvSpPr>
        <p:spPr>
          <a:xfrm>
            <a:off x="4095634" y="3429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656837"/>
            <a:ext cx="1559235" cy="194310"/>
          </a:xfrm>
          <a:prstGeom prst="rect">
            <a:avLst/>
          </a:prstGeom>
          <a:noFill/>
        </p:spPr>
        <p:txBody>
          <a:bodyPr wrap="none" lIns="0" rIns="0" tIns="0" bIns="0">
            <a:spAutoFit/>
          </a:bodyPr>
          <a:lstStyle/>
          <a:p>
            <a:r>
              <a:rPr sz="1150" b="0">
                <a:solidFill>
                  <a:srgbClr val="2E2E2E"/>
                </a:solidFill>
                <a:latin typeface="Calibri"/>
              </a:rPr>
              <a:t>▪ 'Ambient' grows fastest</a:t>
            </a:r>
          </a:p>
        </p:txBody>
      </p:sp>
      <p:pic>
        <p:nvPicPr>
          <p:cNvPr id="27" name="Picture 26" descr="lock.png"/>
          <p:cNvPicPr>
            <a:picLocks noChangeAspect="1"/>
          </p:cNvPicPr>
          <p:nvPr/>
        </p:nvPicPr>
        <p:blipFill>
          <a:blip r:embed="rId4"/>
          <a:stretch>
            <a:fillRect/>
          </a:stretch>
        </p:blipFill>
        <p:spPr>
          <a:xfrm>
            <a:off x="1784613" y="3646614"/>
            <a:ext cx="134549" cy="195707"/>
          </a:xfrm>
          <a:prstGeom prst="rect">
            <a:avLst/>
          </a:prstGeom>
        </p:spPr>
      </p:pic>
      <p:sp>
        <p:nvSpPr>
          <p:cNvPr id="28" name="TextBox 27"/>
          <p:cNvSpPr txBox="1"/>
          <p:nvPr/>
        </p:nvSpPr>
        <p:spPr>
          <a:xfrm>
            <a:off x="1959723" y="3656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884675"/>
            <a:ext cx="1963439" cy="194310"/>
          </a:xfrm>
          <a:prstGeom prst="rect">
            <a:avLst/>
          </a:prstGeom>
          <a:noFill/>
        </p:spPr>
        <p:txBody>
          <a:bodyPr wrap="none" lIns="0" rIns="0" tIns="0" bIns="0">
            <a:spAutoFit/>
          </a:bodyPr>
          <a:lstStyle/>
          <a:p>
            <a:r>
              <a:rPr sz="1150" b="0">
                <a:solidFill>
                  <a:srgbClr val="2E2E2E"/>
                </a:solidFill>
                <a:latin typeface="Calibri"/>
              </a:rPr>
              <a:t>▪ Share shifts toward 'Chilled' (+</a:t>
            </a:r>
          </a:p>
        </p:txBody>
      </p:sp>
      <p:pic>
        <p:nvPicPr>
          <p:cNvPr id="30" name="Picture 29" descr="lock.png"/>
          <p:cNvPicPr>
            <a:picLocks noChangeAspect="1"/>
          </p:cNvPicPr>
          <p:nvPr/>
        </p:nvPicPr>
        <p:blipFill>
          <a:blip r:embed="rId4"/>
          <a:stretch>
            <a:fillRect/>
          </a:stretch>
        </p:blipFill>
        <p:spPr>
          <a:xfrm>
            <a:off x="2188818" y="3874452"/>
            <a:ext cx="134549" cy="195707"/>
          </a:xfrm>
          <a:prstGeom prst="rect">
            <a:avLst/>
          </a:prstGeom>
        </p:spPr>
      </p:pic>
      <p:sp>
        <p:nvSpPr>
          <p:cNvPr id="31" name="TextBox 30"/>
          <p:cNvSpPr txBox="1"/>
          <p:nvPr/>
        </p:nvSpPr>
        <p:spPr>
          <a:xfrm>
            <a:off x="2363928" y="3884675"/>
            <a:ext cx="1886706" cy="194310"/>
          </a:xfrm>
          <a:prstGeom prst="rect">
            <a:avLst/>
          </a:prstGeom>
          <a:noFill/>
        </p:spPr>
        <p:txBody>
          <a:bodyPr wrap="none" lIns="0" rIns="0" tIns="0" bIns="0">
            <a:spAutoFit/>
          </a:bodyPr>
          <a:lstStyle/>
          <a:p>
            <a:r>
              <a:rPr sz="1150" b="0">
                <a:solidFill>
                  <a:srgbClr val="2E2E2E"/>
                </a:solidFill>
                <a:latin typeface="Calibri"/>
              </a:rPr>
              <a:t>BPS) and away from 'Frozen' (-</a:t>
            </a:r>
          </a:p>
        </p:txBody>
      </p:sp>
      <p:pic>
        <p:nvPicPr>
          <p:cNvPr id="32" name="Picture 31" descr="lock.png"/>
          <p:cNvPicPr>
            <a:picLocks noChangeAspect="1"/>
          </p:cNvPicPr>
          <p:nvPr/>
        </p:nvPicPr>
        <p:blipFill>
          <a:blip r:embed="rId4"/>
          <a:stretch>
            <a:fillRect/>
          </a:stretch>
        </p:blipFill>
        <p:spPr>
          <a:xfrm>
            <a:off x="4199788" y="3874452"/>
            <a:ext cx="134549" cy="195707"/>
          </a:xfrm>
          <a:prstGeom prst="rect">
            <a:avLst/>
          </a:prstGeom>
        </p:spPr>
      </p:pic>
      <p:sp>
        <p:nvSpPr>
          <p:cNvPr id="33" name="TextBox 32"/>
          <p:cNvSpPr txBox="1"/>
          <p:nvPr/>
        </p:nvSpPr>
        <p:spPr>
          <a:xfrm>
            <a:off x="4374897" y="3884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12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02290"/>
            <a:ext cx="134549" cy="195707"/>
          </a:xfrm>
          <a:prstGeom prst="rect">
            <a:avLst/>
          </a:prstGeom>
        </p:spPr>
      </p:pic>
      <p:sp>
        <p:nvSpPr>
          <p:cNvPr id="36" name="TextBox 35"/>
          <p:cNvSpPr txBox="1"/>
          <p:nvPr/>
        </p:nvSpPr>
        <p:spPr>
          <a:xfrm>
            <a:off x="1965143" y="4112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02290"/>
            <a:ext cx="134549" cy="195707"/>
          </a:xfrm>
          <a:prstGeom prst="rect">
            <a:avLst/>
          </a:prstGeom>
        </p:spPr>
      </p:pic>
      <p:sp>
        <p:nvSpPr>
          <p:cNvPr id="38" name="TextBox 37"/>
          <p:cNvSpPr txBox="1"/>
          <p:nvPr/>
        </p:nvSpPr>
        <p:spPr>
          <a:xfrm>
            <a:off x="2291688" y="4112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Storage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Storage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Storage Format (US$ Mn)</a:t>
            </a:r>
          </a:p>
        </p:txBody>
      </p:sp>
      <p:graphicFrame>
        <p:nvGraphicFramePr>
          <p:cNvPr id="13" name="Table 12"/>
          <p:cNvGraphicFramePr>
            <a:graphicFrameLocks noGrp="1"/>
          </p:cNvGraphicFramePr>
          <p:nvPr/>
        </p:nvGraphicFramePr>
        <p:xfrm>
          <a:off x="152400" y="1238250"/>
          <a:ext cx="11887204" cy="1238250"/>
        </p:xfrm>
        <a:graphic>
          <a:graphicData uri="http://schemas.openxmlformats.org/drawingml/2006/table">
            <a:tbl>
              <a:tblPr>
                <a:tableStyleId>{5C22544A-7EE6-4342-B048-85BDC9FD1C3A}</a:tableStyleId>
              </a:tblPr>
              <a:tblGrid>
                <a:gridCol w="1174586"/>
                <a:gridCol w="630154"/>
                <a:gridCol w="630154"/>
                <a:gridCol w="630154"/>
                <a:gridCol w="630154"/>
                <a:gridCol w="630154"/>
                <a:gridCol w="630154"/>
                <a:gridCol w="630154"/>
                <a:gridCol w="630154"/>
                <a:gridCol w="630154"/>
                <a:gridCol w="630154"/>
                <a:gridCol w="630154"/>
                <a:gridCol w="630154"/>
                <a:gridCol w="630154"/>
                <a:gridCol w="630154"/>
                <a:gridCol w="630154"/>
                <a:gridCol w="630154"/>
                <a:gridCol w="630154"/>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Storage Format</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96605" y="1713738"/>
            <a:ext cx="366712" cy="533399"/>
          </a:xfrm>
          <a:prstGeom prst="rect">
            <a:avLst/>
          </a:prstGeom>
        </p:spPr>
      </p:pic>
      <p:sp>
        <p:nvSpPr>
          <p:cNvPr id="21" name="TextBox 20"/>
          <p:cNvSpPr txBox="1"/>
          <p:nvPr/>
        </p:nvSpPr>
        <p:spPr>
          <a:xfrm>
            <a:off x="276225" y="3238500"/>
            <a:ext cx="2490303" cy="194310"/>
          </a:xfrm>
          <a:prstGeom prst="rect">
            <a:avLst/>
          </a:prstGeom>
          <a:noFill/>
        </p:spPr>
        <p:txBody>
          <a:bodyPr wrap="none" lIns="0" rIns="0" tIns="0" bIns="0">
            <a:spAutoFit/>
          </a:bodyPr>
          <a:lstStyle/>
          <a:p>
            <a:r>
              <a:rPr sz="1150" b="0">
                <a:solidFill>
                  <a:srgbClr val="2E2E2E"/>
                </a:solidFill>
                <a:latin typeface="Calibri"/>
              </a:rPr>
              <a:t>▪ 'Frozen' is the largest storage format at</a:t>
            </a:r>
          </a:p>
        </p:txBody>
      </p:sp>
      <p:pic>
        <p:nvPicPr>
          <p:cNvPr id="22" name="Picture 21" descr="lock.png"/>
          <p:cNvPicPr>
            <a:picLocks noChangeAspect="1"/>
          </p:cNvPicPr>
          <p:nvPr/>
        </p:nvPicPr>
        <p:blipFill>
          <a:blip r:embed="rId4"/>
          <a:stretch>
            <a:fillRect/>
          </a:stretch>
        </p:blipFill>
        <p:spPr>
          <a:xfrm>
            <a:off x="2715682" y="3228276"/>
            <a:ext cx="134549" cy="195707"/>
          </a:xfrm>
          <a:prstGeom prst="rect">
            <a:avLst/>
          </a:prstGeom>
        </p:spPr>
      </p:pic>
      <p:sp>
        <p:nvSpPr>
          <p:cNvPr id="23" name="TextBox 22"/>
          <p:cNvSpPr txBox="1"/>
          <p:nvPr/>
        </p:nvSpPr>
        <p:spPr>
          <a:xfrm>
            <a:off x="2890792"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796724" y="3228276"/>
            <a:ext cx="134549" cy="195707"/>
          </a:xfrm>
          <a:prstGeom prst="rect">
            <a:avLst/>
          </a:prstGeom>
        </p:spPr>
      </p:pic>
      <p:sp>
        <p:nvSpPr>
          <p:cNvPr id="25" name="TextBox 24"/>
          <p:cNvSpPr txBox="1"/>
          <p:nvPr/>
        </p:nvSpPr>
        <p:spPr>
          <a:xfrm>
            <a:off x="3971834"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1559235" cy="194310"/>
          </a:xfrm>
          <a:prstGeom prst="rect">
            <a:avLst/>
          </a:prstGeom>
          <a:noFill/>
        </p:spPr>
        <p:txBody>
          <a:bodyPr wrap="none" lIns="0" rIns="0" tIns="0" bIns="0">
            <a:spAutoFit/>
          </a:bodyPr>
          <a:lstStyle/>
          <a:p>
            <a:r>
              <a:rPr sz="1150" b="0">
                <a:solidFill>
                  <a:srgbClr val="2E2E2E"/>
                </a:solidFill>
                <a:latin typeface="Calibri"/>
              </a:rPr>
              <a:t>▪ 'Ambient' grows fastest</a:t>
            </a:r>
          </a:p>
        </p:txBody>
      </p:sp>
      <p:pic>
        <p:nvPicPr>
          <p:cNvPr id="27" name="Picture 26" descr="lock.png"/>
          <p:cNvPicPr>
            <a:picLocks noChangeAspect="1"/>
          </p:cNvPicPr>
          <p:nvPr/>
        </p:nvPicPr>
        <p:blipFill>
          <a:blip r:embed="rId4"/>
          <a:stretch>
            <a:fillRect/>
          </a:stretch>
        </p:blipFill>
        <p:spPr>
          <a:xfrm>
            <a:off x="1784613" y="3456114"/>
            <a:ext cx="134549" cy="195707"/>
          </a:xfrm>
          <a:prstGeom prst="rect">
            <a:avLst/>
          </a:prstGeom>
        </p:spPr>
      </p:pic>
      <p:sp>
        <p:nvSpPr>
          <p:cNvPr id="28" name="TextBox 27"/>
          <p:cNvSpPr txBox="1"/>
          <p:nvPr/>
        </p:nvSpPr>
        <p:spPr>
          <a:xfrm>
            <a:off x="1959723"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1963439" cy="194310"/>
          </a:xfrm>
          <a:prstGeom prst="rect">
            <a:avLst/>
          </a:prstGeom>
          <a:noFill/>
        </p:spPr>
        <p:txBody>
          <a:bodyPr wrap="none" lIns="0" rIns="0" tIns="0" bIns="0">
            <a:spAutoFit/>
          </a:bodyPr>
          <a:lstStyle/>
          <a:p>
            <a:r>
              <a:rPr sz="1150" b="0">
                <a:solidFill>
                  <a:srgbClr val="2E2E2E"/>
                </a:solidFill>
                <a:latin typeface="Calibri"/>
              </a:rPr>
              <a:t>▪ Share shifts toward 'Chilled' (+</a:t>
            </a:r>
          </a:p>
        </p:txBody>
      </p:sp>
      <p:pic>
        <p:nvPicPr>
          <p:cNvPr id="30" name="Picture 29" descr="lock.png"/>
          <p:cNvPicPr>
            <a:picLocks noChangeAspect="1"/>
          </p:cNvPicPr>
          <p:nvPr/>
        </p:nvPicPr>
        <p:blipFill>
          <a:blip r:embed="rId4"/>
          <a:stretch>
            <a:fillRect/>
          </a:stretch>
        </p:blipFill>
        <p:spPr>
          <a:xfrm>
            <a:off x="2188818" y="3683952"/>
            <a:ext cx="134549" cy="195707"/>
          </a:xfrm>
          <a:prstGeom prst="rect">
            <a:avLst/>
          </a:prstGeom>
        </p:spPr>
      </p:pic>
      <p:sp>
        <p:nvSpPr>
          <p:cNvPr id="31" name="TextBox 30"/>
          <p:cNvSpPr txBox="1"/>
          <p:nvPr/>
        </p:nvSpPr>
        <p:spPr>
          <a:xfrm>
            <a:off x="2363928" y="3694175"/>
            <a:ext cx="1886706" cy="194310"/>
          </a:xfrm>
          <a:prstGeom prst="rect">
            <a:avLst/>
          </a:prstGeom>
          <a:noFill/>
        </p:spPr>
        <p:txBody>
          <a:bodyPr wrap="none" lIns="0" rIns="0" tIns="0" bIns="0">
            <a:spAutoFit/>
          </a:bodyPr>
          <a:lstStyle/>
          <a:p>
            <a:r>
              <a:rPr sz="1150" b="0">
                <a:solidFill>
                  <a:srgbClr val="2E2E2E"/>
                </a:solidFill>
                <a:latin typeface="Calibri"/>
              </a:rPr>
              <a:t>BPS) and away from 'Frozen' (-</a:t>
            </a:r>
          </a:p>
        </p:txBody>
      </p:sp>
      <p:pic>
        <p:nvPicPr>
          <p:cNvPr id="32" name="Picture 31" descr="lock.png"/>
          <p:cNvPicPr>
            <a:picLocks noChangeAspect="1"/>
          </p:cNvPicPr>
          <p:nvPr/>
        </p:nvPicPr>
        <p:blipFill>
          <a:blip r:embed="rId4"/>
          <a:stretch>
            <a:fillRect/>
          </a:stretch>
        </p:blipFill>
        <p:spPr>
          <a:xfrm>
            <a:off x="4199788" y="3683952"/>
            <a:ext cx="134549" cy="195707"/>
          </a:xfrm>
          <a:prstGeom prst="rect">
            <a:avLst/>
          </a:prstGeom>
        </p:spPr>
      </p:pic>
      <p:sp>
        <p:nvSpPr>
          <p:cNvPr id="33" name="TextBox 32"/>
          <p:cNvSpPr txBox="1"/>
          <p:nvPr/>
        </p:nvSpPr>
        <p:spPr>
          <a:xfrm>
            <a:off x="4374897"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Storage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Storage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3159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268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506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Ambient</a:t>
            </a:r>
          </a:p>
        </p:txBody>
      </p:sp>
      <p:sp>
        <p:nvSpPr>
          <p:cNvPr id="19" name="BPS Value 1"/>
          <p:cNvSpPr txBox="1"/>
          <p:nvPr/>
        </p:nvSpPr>
        <p:spPr>
          <a:xfrm>
            <a:off x="6896100" y="191254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305348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04872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7252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Chilled</a:t>
            </a:r>
          </a:p>
        </p:txBody>
      </p:sp>
      <p:sp>
        <p:nvSpPr>
          <p:cNvPr id="23" name="BPS Value 2"/>
          <p:cNvSpPr txBox="1"/>
          <p:nvPr/>
        </p:nvSpPr>
        <p:spPr>
          <a:xfrm>
            <a:off x="6896100" y="303443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07933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07457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99837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Frozen</a:t>
            </a:r>
          </a:p>
        </p:txBody>
      </p:sp>
      <p:sp>
        <p:nvSpPr>
          <p:cNvPr id="27" name="BPS Value 3"/>
          <p:cNvSpPr txBox="1"/>
          <p:nvPr/>
        </p:nvSpPr>
        <p:spPr>
          <a:xfrm>
            <a:off x="6896100" y="506028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Storage Format</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000522" cy="194310"/>
          </a:xfrm>
          <a:prstGeom prst="rect">
            <a:avLst/>
          </a:prstGeom>
          <a:noFill/>
        </p:spPr>
        <p:txBody>
          <a:bodyPr wrap="none" lIns="0" rIns="0" tIns="0" bIns="0">
            <a:spAutoFit/>
          </a:bodyPr>
          <a:lstStyle/>
          <a:p>
            <a:r>
              <a:rPr sz="1150" b="0">
                <a:solidFill>
                  <a:srgbClr val="2E2E2E"/>
                </a:solidFill>
                <a:latin typeface="Calibri"/>
              </a:rPr>
              <a:t>▪ 'Chilled' gains the most share +</a:t>
            </a:r>
          </a:p>
        </p:txBody>
      </p:sp>
      <p:pic>
        <p:nvPicPr>
          <p:cNvPr id="35" name="Picture 34" descr="lock.png"/>
          <p:cNvPicPr>
            <a:picLocks noChangeAspect="1"/>
          </p:cNvPicPr>
          <p:nvPr/>
        </p:nvPicPr>
        <p:blipFill>
          <a:blip r:embed="rId5"/>
          <a:stretch>
            <a:fillRect/>
          </a:stretch>
        </p:blipFill>
        <p:spPr>
          <a:xfrm>
            <a:off x="9779226" y="1389951"/>
            <a:ext cx="134549" cy="195707"/>
          </a:xfrm>
          <a:prstGeom prst="rect">
            <a:avLst/>
          </a:prstGeom>
        </p:spPr>
      </p:pic>
      <p:sp>
        <p:nvSpPr>
          <p:cNvPr id="36" name="TextBox 35"/>
          <p:cNvSpPr txBox="1"/>
          <p:nvPr/>
        </p:nvSpPr>
        <p:spPr>
          <a:xfrm>
            <a:off x="9954336" y="1400175"/>
            <a:ext cx="1772604"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7" name="TextBox 36"/>
          <p:cNvSpPr txBox="1"/>
          <p:nvPr/>
        </p:nvSpPr>
        <p:spPr>
          <a:xfrm>
            <a:off x="7829550" y="1575435"/>
            <a:ext cx="1397496"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1644240" cy="194310"/>
          </a:xfrm>
          <a:prstGeom prst="rect">
            <a:avLst/>
          </a:prstGeom>
          <a:noFill/>
        </p:spPr>
        <p:txBody>
          <a:bodyPr wrap="none" lIns="0" rIns="0" tIns="0" bIns="0">
            <a:spAutoFit/>
          </a:bodyPr>
          <a:lstStyle/>
          <a:p>
            <a:r>
              <a:rPr sz="1150" b="0">
                <a:solidFill>
                  <a:srgbClr val="2E2E2E"/>
                </a:solidFill>
                <a:latin typeface="Calibri"/>
              </a:rPr>
              <a:t>▪ 'Frozen' cedes the most -</a:t>
            </a:r>
          </a:p>
        </p:txBody>
      </p:sp>
      <p:pic>
        <p:nvPicPr>
          <p:cNvPr id="39" name="Picture 38" descr="lock.png"/>
          <p:cNvPicPr>
            <a:picLocks noChangeAspect="1"/>
          </p:cNvPicPr>
          <p:nvPr/>
        </p:nvPicPr>
        <p:blipFill>
          <a:blip r:embed="rId5"/>
          <a:stretch>
            <a:fillRect/>
          </a:stretch>
        </p:blipFill>
        <p:spPr>
          <a:xfrm>
            <a:off x="9422944" y="1793049"/>
            <a:ext cx="134549" cy="195707"/>
          </a:xfrm>
          <a:prstGeom prst="rect">
            <a:avLst/>
          </a:prstGeom>
        </p:spPr>
      </p:pic>
      <p:sp>
        <p:nvSpPr>
          <p:cNvPr id="40" name="TextBox 39"/>
          <p:cNvSpPr txBox="1"/>
          <p:nvPr/>
        </p:nvSpPr>
        <p:spPr>
          <a:xfrm>
            <a:off x="9598053" y="180327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41" name="TextBox 40"/>
          <p:cNvSpPr txBox="1"/>
          <p:nvPr/>
        </p:nvSpPr>
        <p:spPr>
          <a:xfrm>
            <a:off x="7829550" y="2031111"/>
            <a:ext cx="3120429" cy="194310"/>
          </a:xfrm>
          <a:prstGeom prst="rect">
            <a:avLst/>
          </a:prstGeom>
          <a:noFill/>
        </p:spPr>
        <p:txBody>
          <a:bodyPr wrap="none" lIns="0" rIns="0" tIns="0" bIns="0">
            <a:spAutoFit/>
          </a:bodyPr>
          <a:lstStyle/>
          <a:p>
            <a:r>
              <a:rPr sz="1150" b="0">
                <a:solidFill>
                  <a:srgbClr val="2E2E2E"/>
                </a:solidFill>
                <a:latin typeface="Calibri"/>
              </a:rPr>
              <a:t>▪ 'Ambient' is the fastest-growing storage format at</a:t>
            </a:r>
          </a:p>
        </p:txBody>
      </p:sp>
      <p:pic>
        <p:nvPicPr>
          <p:cNvPr id="42" name="Picture 41" descr="lock.png"/>
          <p:cNvPicPr>
            <a:picLocks noChangeAspect="1"/>
          </p:cNvPicPr>
          <p:nvPr/>
        </p:nvPicPr>
        <p:blipFill>
          <a:blip r:embed="rId5"/>
          <a:stretch>
            <a:fillRect/>
          </a:stretch>
        </p:blipFill>
        <p:spPr>
          <a:xfrm>
            <a:off x="10899133" y="2020887"/>
            <a:ext cx="134549" cy="195707"/>
          </a:xfrm>
          <a:prstGeom prst="rect">
            <a:avLst/>
          </a:prstGeom>
        </p:spPr>
      </p:pic>
      <p:sp>
        <p:nvSpPr>
          <p:cNvPr id="43" name="TextBox 42"/>
          <p:cNvSpPr txBox="1"/>
          <p:nvPr/>
        </p:nvSpPr>
        <p:spPr>
          <a:xfrm>
            <a:off x="11074242" y="203111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4" name="TextBox 43"/>
          <p:cNvSpPr txBox="1"/>
          <p:nvPr/>
        </p:nvSpPr>
        <p:spPr>
          <a:xfrm>
            <a:off x="7829550" y="220637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5" name="TextBox 44"/>
          <p:cNvSpPr txBox="1"/>
          <p:nvPr/>
        </p:nvSpPr>
        <p:spPr>
          <a:xfrm>
            <a:off x="7829550" y="243420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423985"/>
            <a:ext cx="134549" cy="195707"/>
          </a:xfrm>
          <a:prstGeom prst="rect">
            <a:avLst/>
          </a:prstGeom>
        </p:spPr>
      </p:pic>
      <p:sp>
        <p:nvSpPr>
          <p:cNvPr id="47" name="TextBox 46"/>
          <p:cNvSpPr txBox="1"/>
          <p:nvPr/>
        </p:nvSpPr>
        <p:spPr>
          <a:xfrm>
            <a:off x="9502779" y="243420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423985"/>
            <a:ext cx="134549" cy="195707"/>
          </a:xfrm>
          <a:prstGeom prst="rect">
            <a:avLst/>
          </a:prstGeom>
        </p:spPr>
      </p:pic>
      <p:sp>
        <p:nvSpPr>
          <p:cNvPr id="49" name="TextBox 48"/>
          <p:cNvSpPr txBox="1"/>
          <p:nvPr/>
        </p:nvSpPr>
        <p:spPr>
          <a:xfrm>
            <a:off x="9829324" y="243420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66204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2837307"/>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Storage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Storage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Storage Format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sp>
        <p:nvSpPr>
          <p:cNvPr id="33" name="Rectangle 32"/>
          <p:cNvSpPr/>
          <p:nvPr/>
        </p:nvSpPr>
        <p:spPr>
          <a:xfrm>
            <a:off x="1857375" y="3000375"/>
            <a:ext cx="643890" cy="1190625"/>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sp>
        <p:nvSpPr>
          <p:cNvPr id="49" name="Rectangle 48"/>
          <p:cNvSpPr/>
          <p:nvPr/>
        </p:nvSpPr>
        <p:spPr>
          <a:xfrm>
            <a:off x="185737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65" name="Rectangle 64"/>
          <p:cNvSpPr/>
          <p:nvPr/>
        </p:nvSpPr>
        <p:spPr>
          <a:xfrm>
            <a:off x="185737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554187"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Storage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Storage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Storage Format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sp>
        <p:nvSpPr>
          <p:cNvPr id="33" name="Rectangle 32"/>
          <p:cNvSpPr/>
          <p:nvPr/>
        </p:nvSpPr>
        <p:spPr>
          <a:xfrm>
            <a:off x="1857375" y="3000375"/>
            <a:ext cx="643890" cy="119062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sp>
        <p:nvSpPr>
          <p:cNvPr id="49" name="Rectangle 48"/>
          <p:cNvSpPr/>
          <p:nvPr/>
        </p:nvSpPr>
        <p:spPr>
          <a:xfrm>
            <a:off x="185737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65" name="Rectangle 64"/>
          <p:cNvSpPr/>
          <p:nvPr/>
        </p:nvSpPr>
        <p:spPr>
          <a:xfrm>
            <a:off x="185737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554187" y="1589913"/>
            <a:ext cx="366712" cy="533400"/>
          </a:xfrm>
          <a:prstGeom prst="rect">
            <a:avLst/>
          </a:prstGeom>
        </p:spPr>
      </p:pic>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Shelf Life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Shelf Life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Shelf Life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Shelf Life,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Shelf Life segment categorizes the market by shelf life.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Up to 7 days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8-30 days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31-90 days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More than 90 days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Shelf Life split shows how demand is distributed across shelf life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2_011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3_099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4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667_5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799_3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1_8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480_6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816_8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4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438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638_2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701032" cy="186689"/>
          </a:xfrm>
          <a:prstGeom prst="rect">
            <a:avLst/>
          </a:prstGeom>
          <a:noFill/>
        </p:spPr>
        <p:txBody>
          <a:bodyPr wrap="none" lIns="0" rIns="0" tIns="0" bIns="0">
            <a:spAutoFit/>
          </a:bodyPr>
          <a:lstStyle/>
          <a:p>
            <a:r>
              <a:rPr sz="1100" b="0">
                <a:solidFill>
                  <a:srgbClr val="2E2E2E"/>
                </a:solidFill>
                <a:latin typeface="Calibri"/>
              </a:rPr>
              <a:t>▪ 'Up to 7 days' holds the largest share in 2026</a:t>
            </a:r>
          </a:p>
        </p:txBody>
      </p:sp>
      <p:pic>
        <p:nvPicPr>
          <p:cNvPr id="81" name="Picture 80" descr="lock.png"/>
          <p:cNvPicPr>
            <a:picLocks noChangeAspect="1"/>
          </p:cNvPicPr>
          <p:nvPr/>
        </p:nvPicPr>
        <p:blipFill>
          <a:blip r:embed="rId16"/>
          <a:stretch>
            <a:fillRect/>
          </a:stretch>
        </p:blipFill>
        <p:spPr>
          <a:xfrm>
            <a:off x="3134858"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858467" cy="186689"/>
          </a:xfrm>
          <a:prstGeom prst="rect">
            <a:avLst/>
          </a:prstGeom>
          <a:noFill/>
        </p:spPr>
        <p:txBody>
          <a:bodyPr wrap="none" lIns="0" rIns="0" tIns="0" bIns="0">
            <a:spAutoFit/>
          </a:bodyPr>
          <a:lstStyle/>
          <a:p>
            <a:r>
              <a:rPr sz="1100" b="0">
                <a:solidFill>
                  <a:srgbClr val="2E2E2E"/>
                </a:solidFill>
                <a:latin typeface="Calibri"/>
              </a:rPr>
              <a:t>▪ '31-90 days' is the fastest-growing sub-segment</a:t>
            </a:r>
          </a:p>
        </p:txBody>
      </p:sp>
      <p:sp>
        <p:nvSpPr>
          <p:cNvPr id="84" name="TextBox 83"/>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85" name="Picture 84" descr="lock.png"/>
          <p:cNvPicPr>
            <a:picLocks noChangeAspect="1"/>
          </p:cNvPicPr>
          <p:nvPr/>
        </p:nvPicPr>
        <p:blipFill>
          <a:blip r:embed="rId16"/>
          <a:stretch>
            <a:fillRect/>
          </a:stretch>
        </p:blipFill>
        <p:spPr>
          <a:xfrm>
            <a:off x="623805" y="4772870"/>
            <a:ext cx="128699" cy="187198"/>
          </a:xfrm>
          <a:prstGeom prst="rect">
            <a:avLst/>
          </a:prstGeom>
        </p:spPr>
      </p:pic>
      <p:sp>
        <p:nvSpPr>
          <p:cNvPr id="86" name="TextBox 85"/>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914650" cy="186689"/>
          </a:xfrm>
          <a:prstGeom prst="rect">
            <a:avLst/>
          </a:prstGeom>
          <a:noFill/>
        </p:spPr>
        <p:txBody>
          <a:bodyPr wrap="none" lIns="0" rIns="0" tIns="0" bIns="0">
            <a:spAutoFit/>
          </a:bodyPr>
          <a:lstStyle/>
          <a:p>
            <a:r>
              <a:rPr sz="1100" b="0">
                <a:solidFill>
                  <a:srgbClr val="2E2E2E"/>
                </a:solidFill>
                <a:latin typeface="Calibri"/>
              </a:rPr>
              <a:t>▪ 4 sub-segments make up the shelf life landscape.</a:t>
            </a:r>
          </a:p>
        </p:txBody>
      </p:sp>
      <p:sp>
        <p:nvSpPr>
          <p:cNvPr id="94" name="TextBox 93"/>
          <p:cNvSpPr txBox="1"/>
          <p:nvPr/>
        </p:nvSpPr>
        <p:spPr>
          <a:xfrm>
            <a:off x="3838575" y="4229437"/>
            <a:ext cx="937319" cy="186689"/>
          </a:xfrm>
          <a:prstGeom prst="rect">
            <a:avLst/>
          </a:prstGeom>
          <a:noFill/>
        </p:spPr>
        <p:txBody>
          <a:bodyPr wrap="none" lIns="0" rIns="0" tIns="0" bIns="0">
            <a:spAutoFit/>
          </a:bodyPr>
          <a:lstStyle/>
          <a:p>
            <a:r>
              <a:rPr sz="1100" b="0">
                <a:solidFill>
                  <a:srgbClr val="2E2E2E"/>
                </a:solidFill>
                <a:latin typeface="Calibri"/>
              </a:rPr>
              <a:t>● Up to 7 days:</a:t>
            </a:r>
          </a:p>
        </p:txBody>
      </p:sp>
      <p:pic>
        <p:nvPicPr>
          <p:cNvPr id="95" name="Picture 94" descr="lock.png"/>
          <p:cNvPicPr>
            <a:picLocks noChangeAspect="1"/>
          </p:cNvPicPr>
          <p:nvPr/>
        </p:nvPicPr>
        <p:blipFill>
          <a:blip r:embed="rId16"/>
          <a:stretch>
            <a:fillRect/>
          </a:stretch>
        </p:blipFill>
        <p:spPr>
          <a:xfrm>
            <a:off x="4723946" y="4219658"/>
            <a:ext cx="128699" cy="187198"/>
          </a:xfrm>
          <a:prstGeom prst="rect">
            <a:avLst/>
          </a:prstGeom>
        </p:spPr>
      </p:pic>
      <p:sp>
        <p:nvSpPr>
          <p:cNvPr id="96" name="TextBox 95"/>
          <p:cNvSpPr txBox="1"/>
          <p:nvPr/>
        </p:nvSpPr>
        <p:spPr>
          <a:xfrm>
            <a:off x="48914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6"/>
          <a:stretch>
            <a:fillRect/>
          </a:stretch>
        </p:blipFill>
        <p:spPr>
          <a:xfrm>
            <a:off x="5750892" y="4219658"/>
            <a:ext cx="128699" cy="187198"/>
          </a:xfrm>
          <a:prstGeom prst="rect">
            <a:avLst/>
          </a:prstGeom>
        </p:spPr>
      </p:pic>
      <p:sp>
        <p:nvSpPr>
          <p:cNvPr id="98" name="TextBox 97"/>
          <p:cNvSpPr txBox="1"/>
          <p:nvPr/>
        </p:nvSpPr>
        <p:spPr>
          <a:xfrm>
            <a:off x="59183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9" name="TextBox 98"/>
          <p:cNvSpPr txBox="1"/>
          <p:nvPr/>
        </p:nvSpPr>
        <p:spPr>
          <a:xfrm>
            <a:off x="3838575" y="4447369"/>
            <a:ext cx="774972" cy="186689"/>
          </a:xfrm>
          <a:prstGeom prst="rect">
            <a:avLst/>
          </a:prstGeom>
          <a:noFill/>
        </p:spPr>
        <p:txBody>
          <a:bodyPr wrap="none" lIns="0" rIns="0" tIns="0" bIns="0">
            <a:spAutoFit/>
          </a:bodyPr>
          <a:lstStyle/>
          <a:p>
            <a:r>
              <a:rPr sz="1100" b="0">
                <a:solidFill>
                  <a:srgbClr val="2E2E2E"/>
                </a:solidFill>
                <a:latin typeface="Calibri"/>
              </a:rPr>
              <a:t>● 8-30 days:</a:t>
            </a:r>
          </a:p>
        </p:txBody>
      </p:sp>
      <p:pic>
        <p:nvPicPr>
          <p:cNvPr id="100" name="Picture 99" descr="lock.png"/>
          <p:cNvPicPr>
            <a:picLocks noChangeAspect="1"/>
          </p:cNvPicPr>
          <p:nvPr/>
        </p:nvPicPr>
        <p:blipFill>
          <a:blip r:embed="rId16"/>
          <a:stretch>
            <a:fillRect/>
          </a:stretch>
        </p:blipFill>
        <p:spPr>
          <a:xfrm>
            <a:off x="4561599" y="4437590"/>
            <a:ext cx="128699" cy="187198"/>
          </a:xfrm>
          <a:prstGeom prst="rect">
            <a:avLst/>
          </a:prstGeom>
        </p:spPr>
      </p:pic>
      <p:sp>
        <p:nvSpPr>
          <p:cNvPr id="101" name="TextBox 100"/>
          <p:cNvSpPr txBox="1"/>
          <p:nvPr/>
        </p:nvSpPr>
        <p:spPr>
          <a:xfrm>
            <a:off x="472909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6"/>
          <a:stretch>
            <a:fillRect/>
          </a:stretch>
        </p:blipFill>
        <p:spPr>
          <a:xfrm>
            <a:off x="5588545" y="4437590"/>
            <a:ext cx="128699" cy="187198"/>
          </a:xfrm>
          <a:prstGeom prst="rect">
            <a:avLst/>
          </a:prstGeom>
        </p:spPr>
      </p:pic>
      <p:sp>
        <p:nvSpPr>
          <p:cNvPr id="103" name="TextBox 102"/>
          <p:cNvSpPr txBox="1"/>
          <p:nvPr/>
        </p:nvSpPr>
        <p:spPr>
          <a:xfrm>
            <a:off x="5756041"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4" name="TextBox 103"/>
          <p:cNvSpPr txBox="1"/>
          <p:nvPr/>
        </p:nvSpPr>
        <p:spPr>
          <a:xfrm>
            <a:off x="3838575" y="4665301"/>
            <a:ext cx="845914" cy="186689"/>
          </a:xfrm>
          <a:prstGeom prst="rect">
            <a:avLst/>
          </a:prstGeom>
          <a:noFill/>
        </p:spPr>
        <p:txBody>
          <a:bodyPr wrap="none" lIns="0" rIns="0" tIns="0" bIns="0">
            <a:spAutoFit/>
          </a:bodyPr>
          <a:lstStyle/>
          <a:p>
            <a:r>
              <a:rPr sz="1100" b="0">
                <a:solidFill>
                  <a:srgbClr val="2E2E2E"/>
                </a:solidFill>
                <a:latin typeface="Calibri"/>
              </a:rPr>
              <a:t>● 31-90 days:</a:t>
            </a:r>
          </a:p>
        </p:txBody>
      </p:sp>
      <p:pic>
        <p:nvPicPr>
          <p:cNvPr id="105" name="Picture 104" descr="lock.png"/>
          <p:cNvPicPr>
            <a:picLocks noChangeAspect="1"/>
          </p:cNvPicPr>
          <p:nvPr/>
        </p:nvPicPr>
        <p:blipFill>
          <a:blip r:embed="rId16"/>
          <a:stretch>
            <a:fillRect/>
          </a:stretch>
        </p:blipFill>
        <p:spPr>
          <a:xfrm>
            <a:off x="4632540" y="4655522"/>
            <a:ext cx="128699" cy="187198"/>
          </a:xfrm>
          <a:prstGeom prst="rect">
            <a:avLst/>
          </a:prstGeom>
        </p:spPr>
      </p:pic>
      <p:sp>
        <p:nvSpPr>
          <p:cNvPr id="106" name="TextBox 105"/>
          <p:cNvSpPr txBox="1"/>
          <p:nvPr/>
        </p:nvSpPr>
        <p:spPr>
          <a:xfrm>
            <a:off x="480003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7" name="Picture 106" descr="lock.png"/>
          <p:cNvPicPr>
            <a:picLocks noChangeAspect="1"/>
          </p:cNvPicPr>
          <p:nvPr/>
        </p:nvPicPr>
        <p:blipFill>
          <a:blip r:embed="rId16"/>
          <a:stretch>
            <a:fillRect/>
          </a:stretch>
        </p:blipFill>
        <p:spPr>
          <a:xfrm>
            <a:off x="5659486" y="4655522"/>
            <a:ext cx="128699" cy="187198"/>
          </a:xfrm>
          <a:prstGeom prst="rect">
            <a:avLst/>
          </a:prstGeom>
        </p:spPr>
      </p:pic>
      <p:sp>
        <p:nvSpPr>
          <p:cNvPr id="108" name="TextBox 107"/>
          <p:cNvSpPr txBox="1"/>
          <p:nvPr/>
        </p:nvSpPr>
        <p:spPr>
          <a:xfrm>
            <a:off x="5826982"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09" name="TextBox 108"/>
          <p:cNvSpPr txBox="1"/>
          <p:nvPr/>
        </p:nvSpPr>
        <p:spPr>
          <a:xfrm>
            <a:off x="3838575" y="4883233"/>
            <a:ext cx="1296665" cy="186689"/>
          </a:xfrm>
          <a:prstGeom prst="rect">
            <a:avLst/>
          </a:prstGeom>
          <a:noFill/>
        </p:spPr>
        <p:txBody>
          <a:bodyPr wrap="none" lIns="0" rIns="0" tIns="0" bIns="0">
            <a:spAutoFit/>
          </a:bodyPr>
          <a:lstStyle/>
          <a:p>
            <a:r>
              <a:rPr sz="1100" b="0">
                <a:solidFill>
                  <a:srgbClr val="2E2E2E"/>
                </a:solidFill>
                <a:latin typeface="Calibri"/>
              </a:rPr>
              <a:t>● More than 90 days:</a:t>
            </a:r>
          </a:p>
        </p:txBody>
      </p:sp>
      <p:pic>
        <p:nvPicPr>
          <p:cNvPr id="110" name="Picture 109" descr="lock.png"/>
          <p:cNvPicPr>
            <a:picLocks noChangeAspect="1"/>
          </p:cNvPicPr>
          <p:nvPr/>
        </p:nvPicPr>
        <p:blipFill>
          <a:blip r:embed="rId16"/>
          <a:stretch>
            <a:fillRect/>
          </a:stretch>
        </p:blipFill>
        <p:spPr>
          <a:xfrm>
            <a:off x="5083291" y="4873454"/>
            <a:ext cx="128699" cy="187198"/>
          </a:xfrm>
          <a:prstGeom prst="rect">
            <a:avLst/>
          </a:prstGeom>
        </p:spPr>
      </p:pic>
      <p:sp>
        <p:nvSpPr>
          <p:cNvPr id="111" name="TextBox 110"/>
          <p:cNvSpPr txBox="1"/>
          <p:nvPr/>
        </p:nvSpPr>
        <p:spPr>
          <a:xfrm>
            <a:off x="5250787"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6110237" y="4873454"/>
            <a:ext cx="128699" cy="187198"/>
          </a:xfrm>
          <a:prstGeom prst="rect">
            <a:avLst/>
          </a:prstGeom>
        </p:spPr>
      </p:pic>
      <p:sp>
        <p:nvSpPr>
          <p:cNvPr id="113" name="TextBox 112"/>
          <p:cNvSpPr txBox="1"/>
          <p:nvPr/>
        </p:nvSpPr>
        <p:spPr>
          <a:xfrm>
            <a:off x="6277733"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4" name="TextBox 113"/>
          <p:cNvSpPr txBox="1"/>
          <p:nvPr/>
        </p:nvSpPr>
        <p:spPr>
          <a:xfrm>
            <a:off x="8524875" y="5842641"/>
            <a:ext cx="2952985" cy="194310"/>
          </a:xfrm>
          <a:prstGeom prst="rect">
            <a:avLst/>
          </a:prstGeom>
          <a:noFill/>
        </p:spPr>
        <p:txBody>
          <a:bodyPr wrap="none" lIns="0" rIns="0" tIns="0" bIns="0">
            <a:spAutoFit/>
          </a:bodyPr>
          <a:lstStyle/>
          <a:p>
            <a:r>
              <a:rPr sz="1150" b="1">
                <a:solidFill>
                  <a:srgbClr val="0B2E4A"/>
                </a:solidFill>
                <a:latin typeface="Calibri"/>
              </a:rPr>
              <a:t>The Shelf Life segment is projected to grow at a</a:t>
            </a:r>
          </a:p>
        </p:txBody>
      </p:sp>
      <p:sp>
        <p:nvSpPr>
          <p:cNvPr id="115" name="TextBox 114"/>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16" name="Picture 115" descr="lock.png"/>
          <p:cNvPicPr>
            <a:picLocks noChangeAspect="1"/>
          </p:cNvPicPr>
          <p:nvPr/>
        </p:nvPicPr>
        <p:blipFill>
          <a:blip r:embed="rId16"/>
          <a:stretch>
            <a:fillRect/>
          </a:stretch>
        </p:blipFill>
        <p:spPr>
          <a:xfrm>
            <a:off x="9048826" y="6007677"/>
            <a:ext cx="134549" cy="195707"/>
          </a:xfrm>
          <a:prstGeom prst="rect">
            <a:avLst/>
          </a:prstGeom>
        </p:spPr>
      </p:pic>
      <p:sp>
        <p:nvSpPr>
          <p:cNvPr id="117" name="TextBox 116"/>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Shelf Life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Shelf Life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Shelf Life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Shelf Life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09492" cy="186689"/>
          </a:xfrm>
          <a:prstGeom prst="rect">
            <a:avLst/>
          </a:prstGeom>
          <a:noFill/>
        </p:spPr>
        <p:txBody>
          <a:bodyPr wrap="none" lIns="0" rIns="0" tIns="0" bIns="0">
            <a:spAutoFit/>
          </a:bodyPr>
          <a:lstStyle/>
          <a:p>
            <a:r>
              <a:rPr sz="1100" b="0">
                <a:solidFill>
                  <a:srgbClr val="2E2E2E"/>
                </a:solidFill>
                <a:latin typeface="Calibri"/>
              </a:rPr>
              <a:t>Between 2026 and 2036, 'Up to 7 days' gains the most share in the North America market (+</a:t>
            </a:r>
          </a:p>
        </p:txBody>
      </p:sp>
      <p:pic>
        <p:nvPicPr>
          <p:cNvPr id="21" name="Picture 20" descr="lock.png"/>
          <p:cNvPicPr>
            <a:picLocks noChangeAspect="1"/>
          </p:cNvPicPr>
          <p:nvPr/>
        </p:nvPicPr>
        <p:blipFill>
          <a:blip r:embed="rId6"/>
          <a:stretch>
            <a:fillRect/>
          </a:stretch>
        </p:blipFill>
        <p:spPr>
          <a:xfrm>
            <a:off x="5514719" y="5851905"/>
            <a:ext cx="128699" cy="187198"/>
          </a:xfrm>
          <a:prstGeom prst="rect">
            <a:avLst/>
          </a:prstGeom>
        </p:spPr>
      </p:pic>
      <p:sp>
        <p:nvSpPr>
          <p:cNvPr id="22" name="TextBox 21"/>
          <p:cNvSpPr txBox="1"/>
          <p:nvPr/>
        </p:nvSpPr>
        <p:spPr>
          <a:xfrm>
            <a:off x="5682215" y="5861685"/>
            <a:ext cx="1666651" cy="186689"/>
          </a:xfrm>
          <a:prstGeom prst="rect">
            <a:avLst/>
          </a:prstGeom>
          <a:noFill/>
        </p:spPr>
        <p:txBody>
          <a:bodyPr wrap="none" lIns="0" rIns="0" tIns="0" bIns="0">
            <a:spAutoFit/>
          </a:bodyPr>
          <a:lstStyle/>
          <a:p>
            <a:r>
              <a:rPr sz="1100" b="0">
                <a:solidFill>
                  <a:srgbClr val="2E2E2E"/>
                </a:solidFill>
                <a:latin typeface="Calibri"/>
              </a:rPr>
              <a:t>BPS) while '8-30 days' cedes</a:t>
            </a:r>
          </a:p>
        </p:txBody>
      </p:sp>
      <p:pic>
        <p:nvPicPr>
          <p:cNvPr id="23" name="Picture 22" descr="lock.png"/>
          <p:cNvPicPr>
            <a:picLocks noChangeAspect="1"/>
          </p:cNvPicPr>
          <p:nvPr/>
        </p:nvPicPr>
        <p:blipFill>
          <a:blip r:embed="rId6"/>
          <a:stretch>
            <a:fillRect/>
          </a:stretch>
        </p:blipFill>
        <p:spPr>
          <a:xfrm>
            <a:off x="7296918" y="5851905"/>
            <a:ext cx="128699" cy="187198"/>
          </a:xfrm>
          <a:prstGeom prst="rect">
            <a:avLst/>
          </a:prstGeom>
        </p:spPr>
      </p:pic>
      <p:sp>
        <p:nvSpPr>
          <p:cNvPr id="24" name="TextBox 23"/>
          <p:cNvSpPr txBox="1"/>
          <p:nvPr/>
        </p:nvSpPr>
        <p:spPr>
          <a:xfrm>
            <a:off x="7464414"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Shelf Life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Up to 7 days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8-30 days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31-90 days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More than 90 days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Shelf Life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Shelf Life,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Shelf Life (MT)</a:t>
            </a:r>
          </a:p>
        </p:txBody>
      </p:sp>
      <p:graphicFrame>
        <p:nvGraphicFramePr>
          <p:cNvPr id="13" name="Table 12"/>
          <p:cNvGraphicFramePr>
            <a:graphicFrameLocks noGrp="1"/>
          </p:cNvGraphicFramePr>
          <p:nvPr/>
        </p:nvGraphicFramePr>
        <p:xfrm>
          <a:off x="152400" y="1238250"/>
          <a:ext cx="11887198" cy="1485896"/>
        </p:xfrm>
        <a:graphic>
          <a:graphicData uri="http://schemas.openxmlformats.org/drawingml/2006/table">
            <a:tbl>
              <a:tblPr>
                <a:tableStyleId>{5C22544A-7EE6-4342-B048-85BDC9FD1C3A}</a:tableStyleId>
              </a:tblPr>
              <a:tblGrid>
                <a:gridCol w="1226486"/>
                <a:gridCol w="569818"/>
                <a:gridCol w="569818"/>
                <a:gridCol w="569818"/>
                <a:gridCol w="569818"/>
                <a:gridCol w="569818"/>
                <a:gridCol w="569818"/>
                <a:gridCol w="569818"/>
                <a:gridCol w="681327"/>
                <a:gridCol w="681327"/>
                <a:gridCol w="681327"/>
                <a:gridCol w="681327"/>
                <a:gridCol w="681327"/>
                <a:gridCol w="681327"/>
                <a:gridCol w="681327"/>
                <a:gridCol w="681327"/>
                <a:gridCol w="681327"/>
                <a:gridCol w="540043"/>
              </a:tblGrid>
              <a:tr h="246126">
                <a:tc>
                  <a:txBody>
                    <a:bodyPr wrap="none"/>
                    <a:lstStyle/>
                    <a:p>
                      <a:pPr algn="l"/>
                      <a:r>
                        <a:rPr sz="1100" b="1">
                          <a:solidFill>
                            <a:srgbClr val="0B2E4A"/>
                          </a:solidFill>
                          <a:latin typeface="Calibri"/>
                        </a:rPr>
                        <a:t>Shelf Life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F-CAGR</a:t>
                      </a:r>
                      <a:endParaRPr sz="1100"/>
                    </a:p>
                  </a:txBody>
                  <a:tcPr marL="38100" marR="28575" marT="19050" marB="19050" anchor="ctr">
                    <a:solidFill>
                      <a:srgbClr val="E0E8EF"/>
                    </a:solidFill>
                  </a:tcPr>
                </a:tc>
              </a:tr>
              <a:tr h="247954">
                <a:tc>
                  <a:txBody>
                    <a:bodyPr wrap="none"/>
                    <a:lstStyle/>
                    <a:p>
                      <a:pPr algn="l"/>
                      <a:r>
                        <a:rPr sz="1100" b="1">
                          <a:solidFill>
                            <a:srgbClr val="2E2E2E"/>
                          </a:solidFill>
                          <a:latin typeface="Calibri"/>
                        </a:rPr>
                        <a:t>Up to 7 days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954">
                <a:tc>
                  <a:txBody>
                    <a:bodyPr wrap="none"/>
                    <a:lstStyle/>
                    <a:p>
                      <a:pPr algn="l"/>
                      <a:r>
                        <a:rPr sz="1100" b="1">
                          <a:solidFill>
                            <a:srgbClr val="2E2E2E"/>
                          </a:solidFill>
                          <a:latin typeface="Calibri"/>
                        </a:rPr>
                        <a:t>8-30 days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954">
                <a:tc>
                  <a:txBody>
                    <a:bodyPr wrap="none"/>
                    <a:lstStyle/>
                    <a:p>
                      <a:pPr algn="l"/>
                      <a:r>
                        <a:rPr sz="1100" b="1">
                          <a:solidFill>
                            <a:srgbClr val="2E2E2E"/>
                          </a:solidFill>
                          <a:latin typeface="Calibri"/>
                        </a:rPr>
                        <a:t>31-90 days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954">
                <a:tc>
                  <a:txBody>
                    <a:bodyPr wrap="none"/>
                    <a:lstStyle/>
                    <a:p>
                      <a:pPr algn="l"/>
                      <a:r>
                        <a:rPr sz="1100" b="1">
                          <a:solidFill>
                            <a:srgbClr val="2E2E2E"/>
                          </a:solidFill>
                          <a:latin typeface="Calibri"/>
                        </a:rPr>
                        <a:t>More than 90 days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Shelf Life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2552" y="1837563"/>
            <a:ext cx="366712" cy="533400"/>
          </a:xfrm>
          <a:prstGeom prst="rect">
            <a:avLst/>
          </a:prstGeom>
        </p:spPr>
      </p:pic>
      <p:sp>
        <p:nvSpPr>
          <p:cNvPr id="21" name="TextBox 20"/>
          <p:cNvSpPr txBox="1"/>
          <p:nvPr/>
        </p:nvSpPr>
        <p:spPr>
          <a:xfrm>
            <a:off x="276225" y="3486150"/>
            <a:ext cx="2443522" cy="194310"/>
          </a:xfrm>
          <a:prstGeom prst="rect">
            <a:avLst/>
          </a:prstGeom>
          <a:noFill/>
        </p:spPr>
        <p:txBody>
          <a:bodyPr wrap="none" lIns="0" rIns="0" tIns="0" bIns="0">
            <a:spAutoFit/>
          </a:bodyPr>
          <a:lstStyle/>
          <a:p>
            <a:r>
              <a:rPr sz="1150" b="0">
                <a:solidFill>
                  <a:srgbClr val="2E2E2E"/>
                </a:solidFill>
                <a:latin typeface="Calibri"/>
              </a:rPr>
              <a:t>▪ 'Up to 7 days' is the largest shelf life at</a:t>
            </a:r>
          </a:p>
        </p:txBody>
      </p:sp>
      <p:pic>
        <p:nvPicPr>
          <p:cNvPr id="22" name="Picture 21" descr="lock.png"/>
          <p:cNvPicPr>
            <a:picLocks noChangeAspect="1"/>
          </p:cNvPicPr>
          <p:nvPr/>
        </p:nvPicPr>
        <p:blipFill>
          <a:blip r:embed="rId4"/>
          <a:stretch>
            <a:fillRect/>
          </a:stretch>
        </p:blipFill>
        <p:spPr>
          <a:xfrm>
            <a:off x="2668901" y="3475926"/>
            <a:ext cx="134549" cy="195707"/>
          </a:xfrm>
          <a:prstGeom prst="rect">
            <a:avLst/>
          </a:prstGeom>
        </p:spPr>
      </p:pic>
      <p:sp>
        <p:nvSpPr>
          <p:cNvPr id="23" name="TextBox 22"/>
          <p:cNvSpPr txBox="1"/>
          <p:nvPr/>
        </p:nvSpPr>
        <p:spPr>
          <a:xfrm>
            <a:off x="2844010" y="3486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873743" y="3475926"/>
            <a:ext cx="134549" cy="195707"/>
          </a:xfrm>
          <a:prstGeom prst="rect">
            <a:avLst/>
          </a:prstGeom>
        </p:spPr>
      </p:pic>
      <p:sp>
        <p:nvSpPr>
          <p:cNvPr id="25" name="TextBox 24"/>
          <p:cNvSpPr txBox="1"/>
          <p:nvPr/>
        </p:nvSpPr>
        <p:spPr>
          <a:xfrm>
            <a:off x="4048852" y="3486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713987"/>
            <a:ext cx="1693589" cy="194310"/>
          </a:xfrm>
          <a:prstGeom prst="rect">
            <a:avLst/>
          </a:prstGeom>
          <a:noFill/>
        </p:spPr>
        <p:txBody>
          <a:bodyPr wrap="none" lIns="0" rIns="0" tIns="0" bIns="0">
            <a:spAutoFit/>
          </a:bodyPr>
          <a:lstStyle/>
          <a:p>
            <a:r>
              <a:rPr sz="1150" b="0">
                <a:solidFill>
                  <a:srgbClr val="2E2E2E"/>
                </a:solidFill>
                <a:latin typeface="Calibri"/>
              </a:rPr>
              <a:t>▪ '31-90 days' grows fastest</a:t>
            </a:r>
          </a:p>
        </p:txBody>
      </p:sp>
      <p:pic>
        <p:nvPicPr>
          <p:cNvPr id="27" name="Picture 26" descr="lock.png"/>
          <p:cNvPicPr>
            <a:picLocks noChangeAspect="1"/>
          </p:cNvPicPr>
          <p:nvPr/>
        </p:nvPicPr>
        <p:blipFill>
          <a:blip r:embed="rId4"/>
          <a:stretch>
            <a:fillRect/>
          </a:stretch>
        </p:blipFill>
        <p:spPr>
          <a:xfrm>
            <a:off x="1918968" y="3703764"/>
            <a:ext cx="134549" cy="195707"/>
          </a:xfrm>
          <a:prstGeom prst="rect">
            <a:avLst/>
          </a:prstGeom>
        </p:spPr>
      </p:pic>
      <p:sp>
        <p:nvSpPr>
          <p:cNvPr id="28" name="TextBox 27"/>
          <p:cNvSpPr txBox="1"/>
          <p:nvPr/>
        </p:nvSpPr>
        <p:spPr>
          <a:xfrm>
            <a:off x="2094077"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98327" cy="194310"/>
          </a:xfrm>
          <a:prstGeom prst="rect">
            <a:avLst/>
          </a:prstGeom>
          <a:noFill/>
        </p:spPr>
        <p:txBody>
          <a:bodyPr wrap="none" lIns="0" rIns="0" tIns="0" bIns="0">
            <a:spAutoFit/>
          </a:bodyPr>
          <a:lstStyle/>
          <a:p>
            <a:r>
              <a:rPr sz="1150" b="0">
                <a:solidFill>
                  <a:srgbClr val="2E2E2E"/>
                </a:solidFill>
                <a:latin typeface="Calibri"/>
              </a:rPr>
              <a:t>▪ Share shifts toward 'Up to 7 days' (+</a:t>
            </a:r>
          </a:p>
        </p:txBody>
      </p:sp>
      <p:pic>
        <p:nvPicPr>
          <p:cNvPr id="30" name="Picture 29" descr="lock.png"/>
          <p:cNvPicPr>
            <a:picLocks noChangeAspect="1"/>
          </p:cNvPicPr>
          <p:nvPr/>
        </p:nvPicPr>
        <p:blipFill>
          <a:blip r:embed="rId4"/>
          <a:stretch>
            <a:fillRect/>
          </a:stretch>
        </p:blipFill>
        <p:spPr>
          <a:xfrm>
            <a:off x="2523706" y="3931602"/>
            <a:ext cx="134549" cy="195707"/>
          </a:xfrm>
          <a:prstGeom prst="rect">
            <a:avLst/>
          </a:prstGeom>
        </p:spPr>
      </p:pic>
      <p:sp>
        <p:nvSpPr>
          <p:cNvPr id="31" name="TextBox 30"/>
          <p:cNvSpPr txBox="1"/>
          <p:nvPr/>
        </p:nvSpPr>
        <p:spPr>
          <a:xfrm>
            <a:off x="2698816" y="3941825"/>
            <a:ext cx="2054721" cy="194310"/>
          </a:xfrm>
          <a:prstGeom prst="rect">
            <a:avLst/>
          </a:prstGeom>
          <a:noFill/>
        </p:spPr>
        <p:txBody>
          <a:bodyPr wrap="none" lIns="0" rIns="0" tIns="0" bIns="0">
            <a:spAutoFit/>
          </a:bodyPr>
          <a:lstStyle/>
          <a:p>
            <a:r>
              <a:rPr sz="1150" b="0">
                <a:solidFill>
                  <a:srgbClr val="2E2E2E"/>
                </a:solidFill>
                <a:latin typeface="Calibri"/>
              </a:rPr>
              <a:t>BPS) and away from '8-30 days' (-</a:t>
            </a:r>
          </a:p>
        </p:txBody>
      </p:sp>
      <p:pic>
        <p:nvPicPr>
          <p:cNvPr id="32" name="Picture 31" descr="lock.png"/>
          <p:cNvPicPr>
            <a:picLocks noChangeAspect="1"/>
          </p:cNvPicPr>
          <p:nvPr/>
        </p:nvPicPr>
        <p:blipFill>
          <a:blip r:embed="rId4"/>
          <a:stretch>
            <a:fillRect/>
          </a:stretch>
        </p:blipFill>
        <p:spPr>
          <a:xfrm>
            <a:off x="4702691" y="3931602"/>
            <a:ext cx="134549" cy="195707"/>
          </a:xfrm>
          <a:prstGeom prst="rect">
            <a:avLst/>
          </a:prstGeom>
        </p:spPr>
      </p:pic>
      <p:sp>
        <p:nvSpPr>
          <p:cNvPr id="33" name="TextBox 32"/>
          <p:cNvSpPr txBox="1"/>
          <p:nvPr/>
        </p:nvSpPr>
        <p:spPr>
          <a:xfrm>
            <a:off x="4877800"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59440"/>
            <a:ext cx="134549" cy="195707"/>
          </a:xfrm>
          <a:prstGeom prst="rect">
            <a:avLst/>
          </a:prstGeom>
        </p:spPr>
      </p:pic>
      <p:sp>
        <p:nvSpPr>
          <p:cNvPr id="36" name="TextBox 35"/>
          <p:cNvSpPr txBox="1"/>
          <p:nvPr/>
        </p:nvSpPr>
        <p:spPr>
          <a:xfrm>
            <a:off x="1965143"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59440"/>
            <a:ext cx="134549" cy="195707"/>
          </a:xfrm>
          <a:prstGeom prst="rect">
            <a:avLst/>
          </a:prstGeom>
        </p:spPr>
      </p:pic>
      <p:sp>
        <p:nvSpPr>
          <p:cNvPr id="38" name="TextBox 37"/>
          <p:cNvSpPr txBox="1"/>
          <p:nvPr/>
        </p:nvSpPr>
        <p:spPr>
          <a:xfrm>
            <a:off x="2291688" y="4169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Shelf Life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Shelf Life,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Shelf Life (US$ Mn)</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1377045"/>
                <a:gridCol w="618244"/>
                <a:gridCol w="618244"/>
                <a:gridCol w="618244"/>
                <a:gridCol w="618244"/>
                <a:gridCol w="618244"/>
                <a:gridCol w="618244"/>
                <a:gridCol w="618244"/>
                <a:gridCol w="618244"/>
                <a:gridCol w="618244"/>
                <a:gridCol w="618244"/>
                <a:gridCol w="618244"/>
                <a:gridCol w="618244"/>
                <a:gridCol w="618244"/>
                <a:gridCol w="618244"/>
                <a:gridCol w="618244"/>
                <a:gridCol w="618244"/>
                <a:gridCol w="618244"/>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Shelf Life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7829" y="1837563"/>
            <a:ext cx="366712" cy="533400"/>
          </a:xfrm>
          <a:prstGeom prst="rect">
            <a:avLst/>
          </a:prstGeom>
        </p:spPr>
      </p:pic>
      <p:sp>
        <p:nvSpPr>
          <p:cNvPr id="21" name="TextBox 20"/>
          <p:cNvSpPr txBox="1"/>
          <p:nvPr/>
        </p:nvSpPr>
        <p:spPr>
          <a:xfrm>
            <a:off x="276225" y="3486150"/>
            <a:ext cx="2443522" cy="194310"/>
          </a:xfrm>
          <a:prstGeom prst="rect">
            <a:avLst/>
          </a:prstGeom>
          <a:noFill/>
        </p:spPr>
        <p:txBody>
          <a:bodyPr wrap="none" lIns="0" rIns="0" tIns="0" bIns="0">
            <a:spAutoFit/>
          </a:bodyPr>
          <a:lstStyle/>
          <a:p>
            <a:r>
              <a:rPr sz="1150" b="0">
                <a:solidFill>
                  <a:srgbClr val="2E2E2E"/>
                </a:solidFill>
                <a:latin typeface="Calibri"/>
              </a:rPr>
              <a:t>▪ 'Up to 7 days' is the largest shelf life at</a:t>
            </a:r>
          </a:p>
        </p:txBody>
      </p:sp>
      <p:pic>
        <p:nvPicPr>
          <p:cNvPr id="22" name="Picture 21" descr="lock.png"/>
          <p:cNvPicPr>
            <a:picLocks noChangeAspect="1"/>
          </p:cNvPicPr>
          <p:nvPr/>
        </p:nvPicPr>
        <p:blipFill>
          <a:blip r:embed="rId4"/>
          <a:stretch>
            <a:fillRect/>
          </a:stretch>
        </p:blipFill>
        <p:spPr>
          <a:xfrm>
            <a:off x="2668901" y="3475926"/>
            <a:ext cx="134549" cy="195707"/>
          </a:xfrm>
          <a:prstGeom prst="rect">
            <a:avLst/>
          </a:prstGeom>
        </p:spPr>
      </p:pic>
      <p:sp>
        <p:nvSpPr>
          <p:cNvPr id="23" name="TextBox 22"/>
          <p:cNvSpPr txBox="1"/>
          <p:nvPr/>
        </p:nvSpPr>
        <p:spPr>
          <a:xfrm>
            <a:off x="2844010"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749943" y="3475926"/>
            <a:ext cx="134549" cy="195707"/>
          </a:xfrm>
          <a:prstGeom prst="rect">
            <a:avLst/>
          </a:prstGeom>
        </p:spPr>
      </p:pic>
      <p:sp>
        <p:nvSpPr>
          <p:cNvPr id="25" name="TextBox 24"/>
          <p:cNvSpPr txBox="1"/>
          <p:nvPr/>
        </p:nvSpPr>
        <p:spPr>
          <a:xfrm>
            <a:off x="3925052"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1693589" cy="194310"/>
          </a:xfrm>
          <a:prstGeom prst="rect">
            <a:avLst/>
          </a:prstGeom>
          <a:noFill/>
        </p:spPr>
        <p:txBody>
          <a:bodyPr wrap="none" lIns="0" rIns="0" tIns="0" bIns="0">
            <a:spAutoFit/>
          </a:bodyPr>
          <a:lstStyle/>
          <a:p>
            <a:r>
              <a:rPr sz="1150" b="0">
                <a:solidFill>
                  <a:srgbClr val="2E2E2E"/>
                </a:solidFill>
                <a:latin typeface="Calibri"/>
              </a:rPr>
              <a:t>▪ '31-90 days' grows fastest</a:t>
            </a:r>
          </a:p>
        </p:txBody>
      </p:sp>
      <p:pic>
        <p:nvPicPr>
          <p:cNvPr id="27" name="Picture 26" descr="lock.png"/>
          <p:cNvPicPr>
            <a:picLocks noChangeAspect="1"/>
          </p:cNvPicPr>
          <p:nvPr/>
        </p:nvPicPr>
        <p:blipFill>
          <a:blip r:embed="rId4"/>
          <a:stretch>
            <a:fillRect/>
          </a:stretch>
        </p:blipFill>
        <p:spPr>
          <a:xfrm>
            <a:off x="1918968" y="3703764"/>
            <a:ext cx="134549" cy="195707"/>
          </a:xfrm>
          <a:prstGeom prst="rect">
            <a:avLst/>
          </a:prstGeom>
        </p:spPr>
      </p:pic>
      <p:sp>
        <p:nvSpPr>
          <p:cNvPr id="28" name="TextBox 27"/>
          <p:cNvSpPr txBox="1"/>
          <p:nvPr/>
        </p:nvSpPr>
        <p:spPr>
          <a:xfrm>
            <a:off x="2094077"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98327" cy="194310"/>
          </a:xfrm>
          <a:prstGeom prst="rect">
            <a:avLst/>
          </a:prstGeom>
          <a:noFill/>
        </p:spPr>
        <p:txBody>
          <a:bodyPr wrap="none" lIns="0" rIns="0" tIns="0" bIns="0">
            <a:spAutoFit/>
          </a:bodyPr>
          <a:lstStyle/>
          <a:p>
            <a:r>
              <a:rPr sz="1150" b="0">
                <a:solidFill>
                  <a:srgbClr val="2E2E2E"/>
                </a:solidFill>
                <a:latin typeface="Calibri"/>
              </a:rPr>
              <a:t>▪ Share shifts toward 'Up to 7 days' (+</a:t>
            </a:r>
          </a:p>
        </p:txBody>
      </p:sp>
      <p:pic>
        <p:nvPicPr>
          <p:cNvPr id="30" name="Picture 29" descr="lock.png"/>
          <p:cNvPicPr>
            <a:picLocks noChangeAspect="1"/>
          </p:cNvPicPr>
          <p:nvPr/>
        </p:nvPicPr>
        <p:blipFill>
          <a:blip r:embed="rId4"/>
          <a:stretch>
            <a:fillRect/>
          </a:stretch>
        </p:blipFill>
        <p:spPr>
          <a:xfrm>
            <a:off x="2523706" y="3931602"/>
            <a:ext cx="134549" cy="195707"/>
          </a:xfrm>
          <a:prstGeom prst="rect">
            <a:avLst/>
          </a:prstGeom>
        </p:spPr>
      </p:pic>
      <p:sp>
        <p:nvSpPr>
          <p:cNvPr id="31" name="TextBox 30"/>
          <p:cNvSpPr txBox="1"/>
          <p:nvPr/>
        </p:nvSpPr>
        <p:spPr>
          <a:xfrm>
            <a:off x="2698816" y="3941825"/>
            <a:ext cx="2054721" cy="194310"/>
          </a:xfrm>
          <a:prstGeom prst="rect">
            <a:avLst/>
          </a:prstGeom>
          <a:noFill/>
        </p:spPr>
        <p:txBody>
          <a:bodyPr wrap="none" lIns="0" rIns="0" tIns="0" bIns="0">
            <a:spAutoFit/>
          </a:bodyPr>
          <a:lstStyle/>
          <a:p>
            <a:r>
              <a:rPr sz="1150" b="0">
                <a:solidFill>
                  <a:srgbClr val="2E2E2E"/>
                </a:solidFill>
                <a:latin typeface="Calibri"/>
              </a:rPr>
              <a:t>BPS) and away from '8-30 days' (-</a:t>
            </a:r>
          </a:p>
        </p:txBody>
      </p:sp>
      <p:pic>
        <p:nvPicPr>
          <p:cNvPr id="32" name="Picture 31" descr="lock.png"/>
          <p:cNvPicPr>
            <a:picLocks noChangeAspect="1"/>
          </p:cNvPicPr>
          <p:nvPr/>
        </p:nvPicPr>
        <p:blipFill>
          <a:blip r:embed="rId4"/>
          <a:stretch>
            <a:fillRect/>
          </a:stretch>
        </p:blipFill>
        <p:spPr>
          <a:xfrm>
            <a:off x="4702691" y="3931602"/>
            <a:ext cx="134549" cy="195707"/>
          </a:xfrm>
          <a:prstGeom prst="rect">
            <a:avLst/>
          </a:prstGeom>
        </p:spPr>
      </p:pic>
      <p:sp>
        <p:nvSpPr>
          <p:cNvPr id="33" name="TextBox 32"/>
          <p:cNvSpPr txBox="1"/>
          <p:nvPr/>
        </p:nvSpPr>
        <p:spPr>
          <a:xfrm>
            <a:off x="4877800"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Shelf Life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Shelf Life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4382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390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628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More than 90 days</a:t>
            </a:r>
          </a:p>
        </p:txBody>
      </p:sp>
      <p:sp>
        <p:nvSpPr>
          <p:cNvPr id="19" name="BPS Value 1"/>
          <p:cNvSpPr txBox="1"/>
          <p:nvPr/>
        </p:nvSpPr>
        <p:spPr>
          <a:xfrm>
            <a:off x="6896100" y="192477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5577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529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767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8-30 days</a:t>
            </a:r>
          </a:p>
        </p:txBody>
      </p:sp>
      <p:sp>
        <p:nvSpPr>
          <p:cNvPr id="23" name="BPS Value 2"/>
          <p:cNvSpPr txBox="1"/>
          <p:nvPr/>
        </p:nvSpPr>
        <p:spPr>
          <a:xfrm>
            <a:off x="6896100" y="253871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2479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432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1670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31-90 days</a:t>
            </a:r>
          </a:p>
        </p:txBody>
      </p:sp>
      <p:sp>
        <p:nvSpPr>
          <p:cNvPr id="27" name="BPS Value 3"/>
          <p:cNvSpPr txBox="1"/>
          <p:nvPr/>
        </p:nvSpPr>
        <p:spPr>
          <a:xfrm>
            <a:off x="6896100" y="32289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492021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9154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8392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Up to 7 days</a:t>
            </a:r>
          </a:p>
        </p:txBody>
      </p:sp>
      <p:sp>
        <p:nvSpPr>
          <p:cNvPr id="31" name="BPS Value 4"/>
          <p:cNvSpPr txBox="1"/>
          <p:nvPr/>
        </p:nvSpPr>
        <p:spPr>
          <a:xfrm>
            <a:off x="6896100" y="490116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Shelf Life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335410" cy="194310"/>
          </a:xfrm>
          <a:prstGeom prst="rect">
            <a:avLst/>
          </a:prstGeom>
          <a:noFill/>
        </p:spPr>
        <p:txBody>
          <a:bodyPr wrap="none" lIns="0" rIns="0" tIns="0" bIns="0">
            <a:spAutoFit/>
          </a:bodyPr>
          <a:lstStyle/>
          <a:p>
            <a:r>
              <a:rPr sz="1150" b="0">
                <a:solidFill>
                  <a:srgbClr val="2E2E2E"/>
                </a:solidFill>
                <a:latin typeface="Calibri"/>
              </a:rPr>
              <a:t>▪ 'Up to 7 days' gains the most share +</a:t>
            </a:r>
          </a:p>
        </p:txBody>
      </p:sp>
      <p:pic>
        <p:nvPicPr>
          <p:cNvPr id="39" name="Picture 38" descr="lock.png"/>
          <p:cNvPicPr>
            <a:picLocks noChangeAspect="1"/>
          </p:cNvPicPr>
          <p:nvPr/>
        </p:nvPicPr>
        <p:blipFill>
          <a:blip r:embed="rId5"/>
          <a:stretch>
            <a:fillRect/>
          </a:stretch>
        </p:blipFill>
        <p:spPr>
          <a:xfrm>
            <a:off x="10114114" y="1389951"/>
            <a:ext cx="134549" cy="195707"/>
          </a:xfrm>
          <a:prstGeom prst="rect">
            <a:avLst/>
          </a:prstGeom>
        </p:spPr>
      </p:pic>
      <p:sp>
        <p:nvSpPr>
          <p:cNvPr id="40" name="TextBox 39"/>
          <p:cNvSpPr txBox="1"/>
          <p:nvPr/>
        </p:nvSpPr>
        <p:spPr>
          <a:xfrm>
            <a:off x="10289224"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1812255" cy="194310"/>
          </a:xfrm>
          <a:prstGeom prst="rect">
            <a:avLst/>
          </a:prstGeom>
          <a:noFill/>
        </p:spPr>
        <p:txBody>
          <a:bodyPr wrap="none" lIns="0" rIns="0" tIns="0" bIns="0">
            <a:spAutoFit/>
          </a:bodyPr>
          <a:lstStyle/>
          <a:p>
            <a:r>
              <a:rPr sz="1150" b="0">
                <a:solidFill>
                  <a:srgbClr val="2E2E2E"/>
                </a:solidFill>
                <a:latin typeface="Calibri"/>
              </a:rPr>
              <a:t>▪ '8-30 days' cedes the most -</a:t>
            </a:r>
          </a:p>
        </p:txBody>
      </p:sp>
      <p:pic>
        <p:nvPicPr>
          <p:cNvPr id="43" name="Picture 42" descr="lock.png"/>
          <p:cNvPicPr>
            <a:picLocks noChangeAspect="1"/>
          </p:cNvPicPr>
          <p:nvPr/>
        </p:nvPicPr>
        <p:blipFill>
          <a:blip r:embed="rId5"/>
          <a:stretch>
            <a:fillRect/>
          </a:stretch>
        </p:blipFill>
        <p:spPr>
          <a:xfrm>
            <a:off x="9590959" y="1793049"/>
            <a:ext cx="134549" cy="195707"/>
          </a:xfrm>
          <a:prstGeom prst="rect">
            <a:avLst/>
          </a:prstGeom>
        </p:spPr>
      </p:pic>
      <p:sp>
        <p:nvSpPr>
          <p:cNvPr id="44" name="TextBox 43"/>
          <p:cNvSpPr txBox="1"/>
          <p:nvPr/>
        </p:nvSpPr>
        <p:spPr>
          <a:xfrm>
            <a:off x="9766068"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45" name="TextBox 44"/>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829550" y="2206371"/>
            <a:ext cx="2870262" cy="194310"/>
          </a:xfrm>
          <a:prstGeom prst="rect">
            <a:avLst/>
          </a:prstGeom>
          <a:noFill/>
        </p:spPr>
        <p:txBody>
          <a:bodyPr wrap="none" lIns="0" rIns="0" tIns="0" bIns="0">
            <a:spAutoFit/>
          </a:bodyPr>
          <a:lstStyle/>
          <a:p>
            <a:r>
              <a:rPr sz="1150" b="0">
                <a:solidFill>
                  <a:srgbClr val="2E2E2E"/>
                </a:solidFill>
                <a:latin typeface="Calibri"/>
              </a:rPr>
              <a:t>▪ '31-90 days' is the fastest-growing shelf life at</a:t>
            </a:r>
          </a:p>
        </p:txBody>
      </p:sp>
      <p:pic>
        <p:nvPicPr>
          <p:cNvPr id="47" name="Picture 46" descr="lock.png"/>
          <p:cNvPicPr>
            <a:picLocks noChangeAspect="1"/>
          </p:cNvPicPr>
          <p:nvPr/>
        </p:nvPicPr>
        <p:blipFill>
          <a:blip r:embed="rId5"/>
          <a:stretch>
            <a:fillRect/>
          </a:stretch>
        </p:blipFill>
        <p:spPr>
          <a:xfrm>
            <a:off x="10648965" y="2196147"/>
            <a:ext cx="134549" cy="195707"/>
          </a:xfrm>
          <a:prstGeom prst="rect">
            <a:avLst/>
          </a:prstGeom>
        </p:spPr>
      </p:pic>
      <p:sp>
        <p:nvSpPr>
          <p:cNvPr id="48" name="TextBox 47"/>
          <p:cNvSpPr txBox="1"/>
          <p:nvPr/>
        </p:nvSpPr>
        <p:spPr>
          <a:xfrm>
            <a:off x="10824075"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9" name="TextBox 48"/>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Shelf Life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Shelf Life,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Shelf Life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sp>
        <p:nvSpPr>
          <p:cNvPr id="33" name="Rectangle 32"/>
          <p:cNvSpPr/>
          <p:nvPr/>
        </p:nvSpPr>
        <p:spPr>
          <a:xfrm>
            <a:off x="1857375" y="3248025"/>
            <a:ext cx="643890" cy="831056"/>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sp>
        <p:nvSpPr>
          <p:cNvPr id="65" name="Rectangle 64"/>
          <p:cNvSpPr/>
          <p:nvPr/>
        </p:nvSpPr>
        <p:spPr>
          <a:xfrm>
            <a:off x="1857375" y="4910138"/>
            <a:ext cx="643890" cy="831056"/>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81" name="Rectangle 80"/>
          <p:cNvSpPr/>
          <p:nvPr/>
        </p:nvSpPr>
        <p:spPr>
          <a:xfrm>
            <a:off x="185737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63944" y="1713738"/>
            <a:ext cx="366712" cy="533400"/>
          </a:xfrm>
          <a:prstGeom prst="rect">
            <a:avLst/>
          </a:prstGeom>
        </p:spPr>
      </p:pic>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Shelf Life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Shelf Life,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Shelf Life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sp>
        <p:nvSpPr>
          <p:cNvPr id="33" name="Rectangle 32"/>
          <p:cNvSpPr/>
          <p:nvPr/>
        </p:nvSpPr>
        <p:spPr>
          <a:xfrm>
            <a:off x="1857375" y="3248025"/>
            <a:ext cx="643890" cy="831056"/>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sp>
        <p:nvSpPr>
          <p:cNvPr id="49" name="Rectangle 48"/>
          <p:cNvSpPr/>
          <p:nvPr/>
        </p:nvSpPr>
        <p:spPr>
          <a:xfrm>
            <a:off x="1857375" y="4079081"/>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sp>
        <p:nvSpPr>
          <p:cNvPr id="65" name="Rectangle 64"/>
          <p:cNvSpPr/>
          <p:nvPr/>
        </p:nvSpPr>
        <p:spPr>
          <a:xfrm>
            <a:off x="1857375" y="4910138"/>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81" name="Rectangle 80"/>
          <p:cNvSpPr/>
          <p:nvPr/>
        </p:nvSpPr>
        <p:spPr>
          <a:xfrm>
            <a:off x="185737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63944" y="1713738"/>
            <a:ext cx="366712" cy="533400"/>
          </a:xfrm>
          <a:prstGeom prst="rect">
            <a:avLst/>
          </a:prstGeom>
        </p:spPr>
      </p:pic>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Packaging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Packaging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Packaging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Packaging Format segment categorizes the market by packaging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Rigid plastic packs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Paperboard packs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packs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packaging formats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Packaging Format split shows how demand is distributed across packaging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713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_610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3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_302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713_605E5C.png"/>
          <p:cNvPicPr>
            <a:picLocks noChangeAspect="1"/>
          </p:cNvPicPr>
          <p:nvPr/>
        </p:nvPicPr>
        <p:blipFill>
          <a:blip r:embed="rId4"/>
          <a:stretch>
            <a:fillRect/>
          </a:stretch>
        </p:blipFill>
        <p:spPr>
          <a:xfrm>
            <a:off x="5005218" y="2779432"/>
            <a:ext cx="1195728" cy="361950"/>
          </a:xfrm>
          <a:prstGeom prst="rect">
            <a:avLst/>
          </a:prstGeom>
        </p:spPr>
      </p:pic>
      <p:pic>
        <p:nvPicPr>
          <p:cNvPr id="69" name="Picture 68" descr="2_8__605E5C.png"/>
          <p:cNvPicPr>
            <a:picLocks noChangeAspect="1"/>
          </p:cNvPicPr>
          <p:nvPr/>
        </p:nvPicPr>
        <p:blipFill>
          <a:blip r:embed="rId8"/>
          <a:stretch>
            <a:fillRect/>
          </a:stretch>
        </p:blipFill>
        <p:spPr>
          <a:xfrm>
            <a:off x="5111864" y="3272281"/>
            <a:ext cx="982436" cy="361950"/>
          </a:xfrm>
          <a:prstGeom prst="rect">
            <a:avLst/>
          </a:prstGeom>
        </p:spPr>
      </p:pic>
      <p:pic>
        <p:nvPicPr>
          <p:cNvPr id="70" name="Picture 69" descr="434_7_605E5C.png"/>
          <p:cNvPicPr>
            <a:picLocks noChangeAspect="1"/>
          </p:cNvPicPr>
          <p:nvPr/>
        </p:nvPicPr>
        <p:blipFill>
          <a:blip r:embed="rId9"/>
          <a:stretch>
            <a:fillRect/>
          </a:stretch>
        </p:blipFill>
        <p:spPr>
          <a:xfrm>
            <a:off x="7534105" y="2286582"/>
            <a:ext cx="1195728" cy="361950"/>
          </a:xfrm>
          <a:prstGeom prst="rect">
            <a:avLst/>
          </a:prstGeom>
        </p:spPr>
      </p:pic>
      <p:pic>
        <p:nvPicPr>
          <p:cNvPr id="71" name="Picture 70" descr="729_2_605E5C.png"/>
          <p:cNvPicPr>
            <a:picLocks noChangeAspect="1"/>
          </p:cNvPicPr>
          <p:nvPr/>
        </p:nvPicPr>
        <p:blipFill>
          <a:blip r:embed="rId10"/>
          <a:stretch>
            <a:fillRect/>
          </a:stretch>
        </p:blipFill>
        <p:spPr>
          <a:xfrm>
            <a:off x="7534105" y="2779432"/>
            <a:ext cx="1195728" cy="361950"/>
          </a:xfrm>
          <a:prstGeom prst="rect">
            <a:avLst/>
          </a:prstGeom>
        </p:spPr>
      </p:pic>
      <p:pic>
        <p:nvPicPr>
          <p:cNvPr id="72" name="Picture 71" descr="5_3__605E5C.png"/>
          <p:cNvPicPr>
            <a:picLocks noChangeAspect="1"/>
          </p:cNvPicPr>
          <p:nvPr/>
        </p:nvPicPr>
        <p:blipFill>
          <a:blip r:embed="rId11"/>
          <a:stretch>
            <a:fillRect/>
          </a:stretch>
        </p:blipFill>
        <p:spPr>
          <a:xfrm>
            <a:off x="7640751" y="3272281"/>
            <a:ext cx="982436" cy="361950"/>
          </a:xfrm>
          <a:prstGeom prst="rect">
            <a:avLst/>
          </a:prstGeom>
        </p:spPr>
      </p:pic>
      <p:pic>
        <p:nvPicPr>
          <p:cNvPr id="73" name="Picture 72" descr="147_9_605E5C.png"/>
          <p:cNvPicPr>
            <a:picLocks noChangeAspect="1"/>
          </p:cNvPicPr>
          <p:nvPr/>
        </p:nvPicPr>
        <p:blipFill>
          <a:blip r:embed="rId12"/>
          <a:stretch>
            <a:fillRect/>
          </a:stretch>
        </p:blipFill>
        <p:spPr>
          <a:xfrm>
            <a:off x="10062992" y="2286582"/>
            <a:ext cx="1195728" cy="361950"/>
          </a:xfrm>
          <a:prstGeom prst="rect">
            <a:avLst/>
          </a:prstGeom>
        </p:spPr>
      </p:pic>
      <p:pic>
        <p:nvPicPr>
          <p:cNvPr id="74" name="Picture 73" descr="301_7_605E5C.png"/>
          <p:cNvPicPr>
            <a:picLocks noChangeAspect="1"/>
          </p:cNvPicPr>
          <p:nvPr/>
        </p:nvPicPr>
        <p:blipFill>
          <a:blip r:embed="rId13"/>
          <a:stretch>
            <a:fillRect/>
          </a:stretch>
        </p:blipFill>
        <p:spPr>
          <a:xfrm>
            <a:off x="10062992" y="2779432"/>
            <a:ext cx="1195728" cy="361950"/>
          </a:xfrm>
          <a:prstGeom prst="rect">
            <a:avLst/>
          </a:prstGeom>
        </p:spPr>
      </p:pic>
      <p:pic>
        <p:nvPicPr>
          <p:cNvPr id="75" name="Picture 74" descr="7_4__605E5C.png"/>
          <p:cNvPicPr>
            <a:picLocks noChangeAspect="1"/>
          </p:cNvPicPr>
          <p:nvPr/>
        </p:nvPicPr>
        <p:blipFill>
          <a:blip r:embed="rId14"/>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5"/>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5"/>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5"/>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5"/>
          <a:stretch>
            <a:fillRect/>
          </a:stretch>
        </p:blipFill>
        <p:spPr>
          <a:xfrm>
            <a:off x="10567511" y="2827057"/>
            <a:ext cx="183356" cy="266700"/>
          </a:xfrm>
          <a:prstGeom prst="rect">
            <a:avLst/>
          </a:prstGeom>
        </p:spPr>
      </p:pic>
      <p:sp>
        <p:nvSpPr>
          <p:cNvPr id="80" name="TextBox 79"/>
          <p:cNvSpPr txBox="1"/>
          <p:nvPr/>
        </p:nvSpPr>
        <p:spPr>
          <a:xfrm>
            <a:off x="485775" y="4229437"/>
            <a:ext cx="2703487" cy="186689"/>
          </a:xfrm>
          <a:prstGeom prst="rect">
            <a:avLst/>
          </a:prstGeom>
          <a:noFill/>
        </p:spPr>
        <p:txBody>
          <a:bodyPr wrap="none" lIns="0" rIns="0" tIns="0" bIns="0">
            <a:spAutoFit/>
          </a:bodyPr>
          <a:lstStyle/>
          <a:p>
            <a:r>
              <a:rPr sz="1100" b="0">
                <a:solidFill>
                  <a:srgbClr val="2E2E2E"/>
                </a:solidFill>
                <a:latin typeface="Calibri"/>
              </a:rPr>
              <a:t>▪ 'Rigid plastic packs' holds the largest share in</a:t>
            </a:r>
          </a:p>
        </p:txBody>
      </p:sp>
      <p:sp>
        <p:nvSpPr>
          <p:cNvPr id="81" name="TextBox 80"/>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82" name="Picture 81" descr="lock.png"/>
          <p:cNvPicPr>
            <a:picLocks noChangeAspect="1"/>
          </p:cNvPicPr>
          <p:nvPr/>
        </p:nvPicPr>
        <p:blipFill>
          <a:blip r:embed="rId15"/>
          <a:stretch>
            <a:fillRect/>
          </a:stretch>
        </p:blipFill>
        <p:spPr>
          <a:xfrm>
            <a:off x="793792" y="4387298"/>
            <a:ext cx="128699" cy="187198"/>
          </a:xfrm>
          <a:prstGeom prst="rect">
            <a:avLst/>
          </a:prstGeom>
        </p:spPr>
      </p:pic>
      <p:sp>
        <p:nvSpPr>
          <p:cNvPr id="83" name="TextBox 82"/>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4" name="TextBox 83"/>
          <p:cNvSpPr txBox="1"/>
          <p:nvPr/>
        </p:nvSpPr>
        <p:spPr>
          <a:xfrm>
            <a:off x="485775" y="4615009"/>
            <a:ext cx="2881386" cy="186689"/>
          </a:xfrm>
          <a:prstGeom prst="rect">
            <a:avLst/>
          </a:prstGeom>
          <a:noFill/>
        </p:spPr>
        <p:txBody>
          <a:bodyPr wrap="none" lIns="0" rIns="0" tIns="0" bIns="0">
            <a:spAutoFit/>
          </a:bodyPr>
          <a:lstStyle/>
          <a:p>
            <a:r>
              <a:rPr sz="1100" b="0">
                <a:solidFill>
                  <a:srgbClr val="2E2E2E"/>
                </a:solidFill>
                <a:latin typeface="Calibri"/>
              </a:rPr>
              <a:t>▪ 'Other packaging formats' is the fastest-growing</a:t>
            </a:r>
          </a:p>
        </p:txBody>
      </p:sp>
      <p:sp>
        <p:nvSpPr>
          <p:cNvPr id="85" name="TextBox 84"/>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6" name="Picture 85" descr="lock.png"/>
          <p:cNvPicPr>
            <a:picLocks noChangeAspect="1"/>
          </p:cNvPicPr>
          <p:nvPr/>
        </p:nvPicPr>
        <p:blipFill>
          <a:blip r:embed="rId15"/>
          <a:stretch>
            <a:fillRect/>
          </a:stretch>
        </p:blipFill>
        <p:spPr>
          <a:xfrm>
            <a:off x="1391064" y="4772870"/>
            <a:ext cx="128699" cy="187198"/>
          </a:xfrm>
          <a:prstGeom prst="rect">
            <a:avLst/>
          </a:prstGeom>
        </p:spPr>
      </p:pic>
      <p:sp>
        <p:nvSpPr>
          <p:cNvPr id="87" name="TextBox 86"/>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8" name="TextBox 87"/>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9" name="Picture 88" descr="lock.png"/>
          <p:cNvPicPr>
            <a:picLocks noChangeAspect="1"/>
          </p:cNvPicPr>
          <p:nvPr/>
        </p:nvPicPr>
        <p:blipFill>
          <a:blip r:embed="rId15"/>
          <a:stretch>
            <a:fillRect/>
          </a:stretch>
        </p:blipFill>
        <p:spPr>
          <a:xfrm>
            <a:off x="2240451" y="4990801"/>
            <a:ext cx="128699" cy="187198"/>
          </a:xfrm>
          <a:prstGeom prst="rect">
            <a:avLst/>
          </a:prstGeom>
        </p:spPr>
      </p:pic>
      <p:sp>
        <p:nvSpPr>
          <p:cNvPr id="90" name="TextBox 89"/>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1" name="Picture 90" descr="lock.png"/>
          <p:cNvPicPr>
            <a:picLocks noChangeAspect="1"/>
          </p:cNvPicPr>
          <p:nvPr/>
        </p:nvPicPr>
        <p:blipFill>
          <a:blip r:embed="rId15"/>
          <a:stretch>
            <a:fillRect/>
          </a:stretch>
        </p:blipFill>
        <p:spPr>
          <a:xfrm>
            <a:off x="2552799" y="4990801"/>
            <a:ext cx="128699" cy="187198"/>
          </a:xfrm>
          <a:prstGeom prst="rect">
            <a:avLst/>
          </a:prstGeom>
        </p:spPr>
      </p:pic>
      <p:sp>
        <p:nvSpPr>
          <p:cNvPr id="92" name="TextBox 91"/>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3" name="TextBox 92"/>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4" name="TextBox 93"/>
          <p:cNvSpPr txBox="1"/>
          <p:nvPr/>
        </p:nvSpPr>
        <p:spPr>
          <a:xfrm>
            <a:off x="485775" y="5386153"/>
            <a:ext cx="2813992" cy="186689"/>
          </a:xfrm>
          <a:prstGeom prst="rect">
            <a:avLst/>
          </a:prstGeom>
          <a:noFill/>
        </p:spPr>
        <p:txBody>
          <a:bodyPr wrap="none" lIns="0" rIns="0" tIns="0" bIns="0">
            <a:spAutoFit/>
          </a:bodyPr>
          <a:lstStyle/>
          <a:p>
            <a:r>
              <a:rPr sz="1100" b="0">
                <a:solidFill>
                  <a:srgbClr val="2E2E2E"/>
                </a:solidFill>
                <a:latin typeface="Calibri"/>
              </a:rPr>
              <a:t>▪ 4 sub-segments make up the packaging format</a:t>
            </a:r>
          </a:p>
        </p:txBody>
      </p:sp>
      <p:sp>
        <p:nvSpPr>
          <p:cNvPr id="95" name="TextBox 94"/>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6" name="TextBox 95"/>
          <p:cNvSpPr txBox="1"/>
          <p:nvPr/>
        </p:nvSpPr>
        <p:spPr>
          <a:xfrm>
            <a:off x="3838575" y="4229437"/>
            <a:ext cx="1255191" cy="186689"/>
          </a:xfrm>
          <a:prstGeom prst="rect">
            <a:avLst/>
          </a:prstGeom>
          <a:noFill/>
        </p:spPr>
        <p:txBody>
          <a:bodyPr wrap="none" lIns="0" rIns="0" tIns="0" bIns="0">
            <a:spAutoFit/>
          </a:bodyPr>
          <a:lstStyle/>
          <a:p>
            <a:r>
              <a:rPr sz="1100" b="0">
                <a:solidFill>
                  <a:srgbClr val="2E2E2E"/>
                </a:solidFill>
                <a:latin typeface="Calibri"/>
              </a:rPr>
              <a:t>● Rigid plastic packs:</a:t>
            </a:r>
          </a:p>
        </p:txBody>
      </p:sp>
      <p:pic>
        <p:nvPicPr>
          <p:cNvPr id="97" name="Picture 96" descr="lock.png"/>
          <p:cNvPicPr>
            <a:picLocks noChangeAspect="1"/>
          </p:cNvPicPr>
          <p:nvPr/>
        </p:nvPicPr>
        <p:blipFill>
          <a:blip r:embed="rId15"/>
          <a:stretch>
            <a:fillRect/>
          </a:stretch>
        </p:blipFill>
        <p:spPr>
          <a:xfrm>
            <a:off x="5041818" y="4219658"/>
            <a:ext cx="128699" cy="187198"/>
          </a:xfrm>
          <a:prstGeom prst="rect">
            <a:avLst/>
          </a:prstGeom>
        </p:spPr>
      </p:pic>
      <p:sp>
        <p:nvSpPr>
          <p:cNvPr id="98" name="TextBox 97"/>
          <p:cNvSpPr txBox="1"/>
          <p:nvPr/>
        </p:nvSpPr>
        <p:spPr>
          <a:xfrm>
            <a:off x="520931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5"/>
          <a:stretch>
            <a:fillRect/>
          </a:stretch>
        </p:blipFill>
        <p:spPr>
          <a:xfrm>
            <a:off x="6068764" y="4219658"/>
            <a:ext cx="128699" cy="187198"/>
          </a:xfrm>
          <a:prstGeom prst="rect">
            <a:avLst/>
          </a:prstGeom>
        </p:spPr>
      </p:pic>
      <p:sp>
        <p:nvSpPr>
          <p:cNvPr id="100" name="TextBox 99"/>
          <p:cNvSpPr txBox="1"/>
          <p:nvPr/>
        </p:nvSpPr>
        <p:spPr>
          <a:xfrm>
            <a:off x="623626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1" name="TextBox 100"/>
          <p:cNvSpPr txBox="1"/>
          <p:nvPr/>
        </p:nvSpPr>
        <p:spPr>
          <a:xfrm>
            <a:off x="3838575" y="4447369"/>
            <a:ext cx="1245914" cy="186689"/>
          </a:xfrm>
          <a:prstGeom prst="rect">
            <a:avLst/>
          </a:prstGeom>
          <a:noFill/>
        </p:spPr>
        <p:txBody>
          <a:bodyPr wrap="none" lIns="0" rIns="0" tIns="0" bIns="0">
            <a:spAutoFit/>
          </a:bodyPr>
          <a:lstStyle/>
          <a:p>
            <a:r>
              <a:rPr sz="1100" b="0">
                <a:solidFill>
                  <a:srgbClr val="2E2E2E"/>
                </a:solidFill>
                <a:latin typeface="Calibri"/>
              </a:rPr>
              <a:t>● Paperboard packs:</a:t>
            </a:r>
          </a:p>
        </p:txBody>
      </p:sp>
      <p:pic>
        <p:nvPicPr>
          <p:cNvPr id="102" name="Picture 101" descr="lock.png"/>
          <p:cNvPicPr>
            <a:picLocks noChangeAspect="1"/>
          </p:cNvPicPr>
          <p:nvPr/>
        </p:nvPicPr>
        <p:blipFill>
          <a:blip r:embed="rId15"/>
          <a:stretch>
            <a:fillRect/>
          </a:stretch>
        </p:blipFill>
        <p:spPr>
          <a:xfrm>
            <a:off x="5032541" y="4437590"/>
            <a:ext cx="128699" cy="187198"/>
          </a:xfrm>
          <a:prstGeom prst="rect">
            <a:avLst/>
          </a:prstGeom>
        </p:spPr>
      </p:pic>
      <p:sp>
        <p:nvSpPr>
          <p:cNvPr id="103" name="TextBox 102"/>
          <p:cNvSpPr txBox="1"/>
          <p:nvPr/>
        </p:nvSpPr>
        <p:spPr>
          <a:xfrm>
            <a:off x="520003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4" name="Picture 103" descr="lock.png"/>
          <p:cNvPicPr>
            <a:picLocks noChangeAspect="1"/>
          </p:cNvPicPr>
          <p:nvPr/>
        </p:nvPicPr>
        <p:blipFill>
          <a:blip r:embed="rId15"/>
          <a:stretch>
            <a:fillRect/>
          </a:stretch>
        </p:blipFill>
        <p:spPr>
          <a:xfrm>
            <a:off x="6059487" y="4437590"/>
            <a:ext cx="128699" cy="187198"/>
          </a:xfrm>
          <a:prstGeom prst="rect">
            <a:avLst/>
          </a:prstGeom>
        </p:spPr>
      </p:pic>
      <p:sp>
        <p:nvSpPr>
          <p:cNvPr id="105" name="TextBox 104"/>
          <p:cNvSpPr txBox="1"/>
          <p:nvPr/>
        </p:nvSpPr>
        <p:spPr>
          <a:xfrm>
            <a:off x="6226983"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6" name="TextBox 105"/>
          <p:cNvSpPr txBox="1"/>
          <p:nvPr/>
        </p:nvSpPr>
        <p:spPr>
          <a:xfrm>
            <a:off x="3838575" y="4665301"/>
            <a:ext cx="1012626" cy="186689"/>
          </a:xfrm>
          <a:prstGeom prst="rect">
            <a:avLst/>
          </a:prstGeom>
          <a:noFill/>
        </p:spPr>
        <p:txBody>
          <a:bodyPr wrap="none" lIns="0" rIns="0" tIns="0" bIns="0">
            <a:spAutoFit/>
          </a:bodyPr>
          <a:lstStyle/>
          <a:p>
            <a:r>
              <a:rPr sz="1100" b="0">
                <a:solidFill>
                  <a:srgbClr val="2E2E2E"/>
                </a:solidFill>
                <a:latin typeface="Calibri"/>
              </a:rPr>
              <a:t>● Flexible packs:</a:t>
            </a:r>
          </a:p>
        </p:txBody>
      </p:sp>
      <p:pic>
        <p:nvPicPr>
          <p:cNvPr id="107" name="Picture 106" descr="lock.png"/>
          <p:cNvPicPr>
            <a:picLocks noChangeAspect="1"/>
          </p:cNvPicPr>
          <p:nvPr/>
        </p:nvPicPr>
        <p:blipFill>
          <a:blip r:embed="rId15"/>
          <a:stretch>
            <a:fillRect/>
          </a:stretch>
        </p:blipFill>
        <p:spPr>
          <a:xfrm>
            <a:off x="4799253" y="4655522"/>
            <a:ext cx="128699" cy="187198"/>
          </a:xfrm>
          <a:prstGeom prst="rect">
            <a:avLst/>
          </a:prstGeom>
        </p:spPr>
      </p:pic>
      <p:sp>
        <p:nvSpPr>
          <p:cNvPr id="108" name="TextBox 107"/>
          <p:cNvSpPr txBox="1"/>
          <p:nvPr/>
        </p:nvSpPr>
        <p:spPr>
          <a:xfrm>
            <a:off x="496674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9" name="Picture 108" descr="lock.png"/>
          <p:cNvPicPr>
            <a:picLocks noChangeAspect="1"/>
          </p:cNvPicPr>
          <p:nvPr/>
        </p:nvPicPr>
        <p:blipFill>
          <a:blip r:embed="rId15"/>
          <a:stretch>
            <a:fillRect/>
          </a:stretch>
        </p:blipFill>
        <p:spPr>
          <a:xfrm>
            <a:off x="5826199" y="4655522"/>
            <a:ext cx="128699" cy="187198"/>
          </a:xfrm>
          <a:prstGeom prst="rect">
            <a:avLst/>
          </a:prstGeom>
        </p:spPr>
      </p:pic>
      <p:sp>
        <p:nvSpPr>
          <p:cNvPr id="110" name="TextBox 109"/>
          <p:cNvSpPr txBox="1"/>
          <p:nvPr/>
        </p:nvSpPr>
        <p:spPr>
          <a:xfrm>
            <a:off x="5993695"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1" name="TextBox 110"/>
          <p:cNvSpPr txBox="1"/>
          <p:nvPr/>
        </p:nvSpPr>
        <p:spPr>
          <a:xfrm>
            <a:off x="3838575" y="4883233"/>
            <a:ext cx="1636092" cy="186689"/>
          </a:xfrm>
          <a:prstGeom prst="rect">
            <a:avLst/>
          </a:prstGeom>
          <a:noFill/>
        </p:spPr>
        <p:txBody>
          <a:bodyPr wrap="none" lIns="0" rIns="0" tIns="0" bIns="0">
            <a:spAutoFit/>
          </a:bodyPr>
          <a:lstStyle/>
          <a:p>
            <a:r>
              <a:rPr sz="1100" b="0">
                <a:solidFill>
                  <a:srgbClr val="2E2E2E"/>
                </a:solidFill>
                <a:latin typeface="Calibri"/>
              </a:rPr>
              <a:t>● Other packaging formats:</a:t>
            </a:r>
          </a:p>
        </p:txBody>
      </p:sp>
      <p:pic>
        <p:nvPicPr>
          <p:cNvPr id="112" name="Picture 111" descr="lock.png"/>
          <p:cNvPicPr>
            <a:picLocks noChangeAspect="1"/>
          </p:cNvPicPr>
          <p:nvPr/>
        </p:nvPicPr>
        <p:blipFill>
          <a:blip r:embed="rId15"/>
          <a:stretch>
            <a:fillRect/>
          </a:stretch>
        </p:blipFill>
        <p:spPr>
          <a:xfrm>
            <a:off x="5422718" y="4873454"/>
            <a:ext cx="128699" cy="187198"/>
          </a:xfrm>
          <a:prstGeom prst="rect">
            <a:avLst/>
          </a:prstGeom>
        </p:spPr>
      </p:pic>
      <p:sp>
        <p:nvSpPr>
          <p:cNvPr id="113" name="TextBox 112"/>
          <p:cNvSpPr txBox="1"/>
          <p:nvPr/>
        </p:nvSpPr>
        <p:spPr>
          <a:xfrm>
            <a:off x="559021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4" name="Picture 113" descr="lock.png"/>
          <p:cNvPicPr>
            <a:picLocks noChangeAspect="1"/>
          </p:cNvPicPr>
          <p:nvPr/>
        </p:nvPicPr>
        <p:blipFill>
          <a:blip r:embed="rId15"/>
          <a:stretch>
            <a:fillRect/>
          </a:stretch>
        </p:blipFill>
        <p:spPr>
          <a:xfrm>
            <a:off x="6449665" y="4873454"/>
            <a:ext cx="128699" cy="187198"/>
          </a:xfrm>
          <a:prstGeom prst="rect">
            <a:avLst/>
          </a:prstGeom>
        </p:spPr>
      </p:pic>
      <p:sp>
        <p:nvSpPr>
          <p:cNvPr id="115" name="TextBox 114"/>
          <p:cNvSpPr txBox="1"/>
          <p:nvPr/>
        </p:nvSpPr>
        <p:spPr>
          <a:xfrm>
            <a:off x="6617160"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6" name="TextBox 11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Packaging Format segment is projected to grow</a:t>
            </a:r>
          </a:p>
        </p:txBody>
      </p:sp>
      <p:sp>
        <p:nvSpPr>
          <p:cNvPr id="117" name="TextBox 116"/>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18" name="Picture 117" descr="lock.png"/>
          <p:cNvPicPr>
            <a:picLocks noChangeAspect="1"/>
          </p:cNvPicPr>
          <p:nvPr/>
        </p:nvPicPr>
        <p:blipFill>
          <a:blip r:embed="rId15"/>
          <a:stretch>
            <a:fillRect/>
          </a:stretch>
        </p:blipFill>
        <p:spPr>
          <a:xfrm>
            <a:off x="9310118" y="6007677"/>
            <a:ext cx="134549" cy="195707"/>
          </a:xfrm>
          <a:prstGeom prst="rect">
            <a:avLst/>
          </a:prstGeom>
        </p:spPr>
      </p:pic>
      <p:sp>
        <p:nvSpPr>
          <p:cNvPr id="119" name="TextBox 118"/>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Packaging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Packaging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Packaging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Packaging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84799" cy="186689"/>
          </a:xfrm>
          <a:prstGeom prst="rect">
            <a:avLst/>
          </a:prstGeom>
          <a:noFill/>
        </p:spPr>
        <p:txBody>
          <a:bodyPr wrap="none" lIns="0" rIns="0" tIns="0" bIns="0">
            <a:spAutoFit/>
          </a:bodyPr>
          <a:lstStyle/>
          <a:p>
            <a:r>
              <a:rPr sz="1100" b="0">
                <a:solidFill>
                  <a:srgbClr val="2E2E2E"/>
                </a:solidFill>
                <a:latin typeface="Calibri"/>
              </a:rPr>
              <a:t>Between 2026 and 2036, 'Flexible packs' gains the most share in the North America market (+</a:t>
            </a:r>
          </a:p>
        </p:txBody>
      </p:sp>
      <p:pic>
        <p:nvPicPr>
          <p:cNvPr id="21" name="Picture 20" descr="lock.png"/>
          <p:cNvPicPr>
            <a:picLocks noChangeAspect="1"/>
          </p:cNvPicPr>
          <p:nvPr/>
        </p:nvPicPr>
        <p:blipFill>
          <a:blip r:embed="rId6"/>
          <a:stretch>
            <a:fillRect/>
          </a:stretch>
        </p:blipFill>
        <p:spPr>
          <a:xfrm>
            <a:off x="5590026" y="5851905"/>
            <a:ext cx="128699" cy="187198"/>
          </a:xfrm>
          <a:prstGeom prst="rect">
            <a:avLst/>
          </a:prstGeom>
        </p:spPr>
      </p:pic>
      <p:sp>
        <p:nvSpPr>
          <p:cNvPr id="22" name="TextBox 21"/>
          <p:cNvSpPr txBox="1"/>
          <p:nvPr/>
        </p:nvSpPr>
        <p:spPr>
          <a:xfrm>
            <a:off x="5757522" y="5861685"/>
            <a:ext cx="2137593" cy="186689"/>
          </a:xfrm>
          <a:prstGeom prst="rect">
            <a:avLst/>
          </a:prstGeom>
          <a:noFill/>
        </p:spPr>
        <p:txBody>
          <a:bodyPr wrap="none" lIns="0" rIns="0" tIns="0" bIns="0">
            <a:spAutoFit/>
          </a:bodyPr>
          <a:lstStyle/>
          <a:p>
            <a:r>
              <a:rPr sz="1100" b="0">
                <a:solidFill>
                  <a:srgbClr val="2E2E2E"/>
                </a:solidFill>
                <a:latin typeface="Calibri"/>
              </a:rPr>
              <a:t>BPS) while 'Paperboard packs' cedes</a:t>
            </a:r>
          </a:p>
        </p:txBody>
      </p:sp>
      <p:pic>
        <p:nvPicPr>
          <p:cNvPr id="23" name="Picture 22" descr="lock.png"/>
          <p:cNvPicPr>
            <a:picLocks noChangeAspect="1"/>
          </p:cNvPicPr>
          <p:nvPr/>
        </p:nvPicPr>
        <p:blipFill>
          <a:blip r:embed="rId6"/>
          <a:stretch>
            <a:fillRect/>
          </a:stretch>
        </p:blipFill>
        <p:spPr>
          <a:xfrm>
            <a:off x="7843167" y="5851905"/>
            <a:ext cx="128699" cy="187198"/>
          </a:xfrm>
          <a:prstGeom prst="rect">
            <a:avLst/>
          </a:prstGeom>
        </p:spPr>
      </p:pic>
      <p:sp>
        <p:nvSpPr>
          <p:cNvPr id="24" name="TextBox 23"/>
          <p:cNvSpPr txBox="1"/>
          <p:nvPr/>
        </p:nvSpPr>
        <p:spPr>
          <a:xfrm>
            <a:off x="8010663"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packs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Rigid plastic packs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Paperboard packs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packaging formats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Packaging Format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Packaging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Packaging Format (MT)</a:t>
            </a:r>
          </a:p>
        </p:txBody>
      </p:sp>
      <p:graphicFrame>
        <p:nvGraphicFramePr>
          <p:cNvPr id="13" name="Table 12"/>
          <p:cNvGraphicFramePr>
            <a:graphicFrameLocks noGrp="1"/>
          </p:cNvGraphicFramePr>
          <p:nvPr/>
        </p:nvGraphicFramePr>
        <p:xfrm>
          <a:off x="152400" y="1238250"/>
          <a:ext cx="11887198" cy="1485896"/>
        </p:xfrm>
        <a:graphic>
          <a:graphicData uri="http://schemas.openxmlformats.org/drawingml/2006/table">
            <a:tbl>
              <a:tblPr>
                <a:tableStyleId>{5C22544A-7EE6-4342-B048-85BDC9FD1C3A}</a:tableStyleId>
              </a:tblPr>
              <a:tblGrid>
                <a:gridCol w="1569151"/>
                <a:gridCol w="549747"/>
                <a:gridCol w="549747"/>
                <a:gridCol w="549747"/>
                <a:gridCol w="549747"/>
                <a:gridCol w="549747"/>
                <a:gridCol w="549747"/>
                <a:gridCol w="549747"/>
                <a:gridCol w="661089"/>
                <a:gridCol w="661089"/>
                <a:gridCol w="661089"/>
                <a:gridCol w="661089"/>
                <a:gridCol w="661089"/>
                <a:gridCol w="661089"/>
                <a:gridCol w="661089"/>
                <a:gridCol w="661089"/>
                <a:gridCol w="661089"/>
                <a:gridCol w="520017"/>
              </a:tblGrid>
              <a:tr h="246126">
                <a:tc>
                  <a:txBody>
                    <a:bodyPr wrap="none"/>
                    <a:lstStyle/>
                    <a:p>
                      <a:pPr algn="l"/>
                      <a:r>
                        <a:rPr sz="1100" b="1">
                          <a:solidFill>
                            <a:srgbClr val="0B2E4A"/>
                          </a:solidFill>
                          <a:latin typeface="Calibri"/>
                        </a:rPr>
                        <a:t>Packaging Format</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7954">
                <a:tc>
                  <a:txBody>
                    <a:bodyPr wrap="none"/>
                    <a:lstStyle/>
                    <a:p>
                      <a:pPr algn="l"/>
                      <a:r>
                        <a:rPr sz="1100" b="1">
                          <a:solidFill>
                            <a:srgbClr val="2E2E2E"/>
                          </a:solidFill>
                          <a:latin typeface="Calibri"/>
                        </a:rPr>
                        <a:t>Flexible packs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Rigid plastic packs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Paperboard packs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Other packaging formats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Packaging Format</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3884" y="1837563"/>
            <a:ext cx="366712" cy="533400"/>
          </a:xfrm>
          <a:prstGeom prst="rect">
            <a:avLst/>
          </a:prstGeom>
        </p:spPr>
      </p:pic>
      <p:sp>
        <p:nvSpPr>
          <p:cNvPr id="21" name="TextBox 20"/>
          <p:cNvSpPr txBox="1"/>
          <p:nvPr/>
        </p:nvSpPr>
        <p:spPr>
          <a:xfrm>
            <a:off x="276225" y="3486150"/>
            <a:ext cx="3307556" cy="194310"/>
          </a:xfrm>
          <a:prstGeom prst="rect">
            <a:avLst/>
          </a:prstGeom>
          <a:noFill/>
        </p:spPr>
        <p:txBody>
          <a:bodyPr wrap="none" lIns="0" rIns="0" tIns="0" bIns="0">
            <a:spAutoFit/>
          </a:bodyPr>
          <a:lstStyle/>
          <a:p>
            <a:r>
              <a:rPr sz="1150" b="0">
                <a:solidFill>
                  <a:srgbClr val="2E2E2E"/>
                </a:solidFill>
                <a:latin typeface="Calibri"/>
              </a:rPr>
              <a:t>▪ 'Rigid plastic packs' is the largest packaging format at</a:t>
            </a:r>
          </a:p>
        </p:txBody>
      </p:sp>
      <p:pic>
        <p:nvPicPr>
          <p:cNvPr id="22" name="Picture 21" descr="lock.png"/>
          <p:cNvPicPr>
            <a:picLocks noChangeAspect="1"/>
          </p:cNvPicPr>
          <p:nvPr/>
        </p:nvPicPr>
        <p:blipFill>
          <a:blip r:embed="rId4"/>
          <a:stretch>
            <a:fillRect/>
          </a:stretch>
        </p:blipFill>
        <p:spPr>
          <a:xfrm>
            <a:off x="3532935" y="3475926"/>
            <a:ext cx="134549" cy="195707"/>
          </a:xfrm>
          <a:prstGeom prst="rect">
            <a:avLst/>
          </a:prstGeom>
        </p:spPr>
      </p:pic>
      <p:sp>
        <p:nvSpPr>
          <p:cNvPr id="23" name="TextBox 22"/>
          <p:cNvSpPr txBox="1"/>
          <p:nvPr/>
        </p:nvSpPr>
        <p:spPr>
          <a:xfrm>
            <a:off x="3708044" y="3486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737777" y="3475926"/>
            <a:ext cx="134549" cy="195707"/>
          </a:xfrm>
          <a:prstGeom prst="rect">
            <a:avLst/>
          </a:prstGeom>
        </p:spPr>
      </p:pic>
      <p:sp>
        <p:nvSpPr>
          <p:cNvPr id="25" name="TextBox 24"/>
          <p:cNvSpPr txBox="1"/>
          <p:nvPr/>
        </p:nvSpPr>
        <p:spPr>
          <a:xfrm>
            <a:off x="4912886" y="3486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713987"/>
            <a:ext cx="2519684" cy="194310"/>
          </a:xfrm>
          <a:prstGeom prst="rect">
            <a:avLst/>
          </a:prstGeom>
          <a:noFill/>
        </p:spPr>
        <p:txBody>
          <a:bodyPr wrap="none" lIns="0" rIns="0" tIns="0" bIns="0">
            <a:spAutoFit/>
          </a:bodyPr>
          <a:lstStyle/>
          <a:p>
            <a:r>
              <a:rPr sz="1150" b="0">
                <a:solidFill>
                  <a:srgbClr val="2E2E2E"/>
                </a:solidFill>
                <a:latin typeface="Calibri"/>
              </a:rPr>
              <a:t>▪ 'Other packaging formats' grows fastest</a:t>
            </a:r>
          </a:p>
        </p:txBody>
      </p:sp>
      <p:pic>
        <p:nvPicPr>
          <p:cNvPr id="27" name="Picture 26" descr="lock.png"/>
          <p:cNvPicPr>
            <a:picLocks noChangeAspect="1"/>
          </p:cNvPicPr>
          <p:nvPr/>
        </p:nvPicPr>
        <p:blipFill>
          <a:blip r:embed="rId4"/>
          <a:stretch>
            <a:fillRect/>
          </a:stretch>
        </p:blipFill>
        <p:spPr>
          <a:xfrm>
            <a:off x="2745063" y="3703764"/>
            <a:ext cx="134549" cy="195707"/>
          </a:xfrm>
          <a:prstGeom prst="rect">
            <a:avLst/>
          </a:prstGeom>
        </p:spPr>
      </p:pic>
      <p:sp>
        <p:nvSpPr>
          <p:cNvPr id="28" name="TextBox 27"/>
          <p:cNvSpPr txBox="1"/>
          <p:nvPr/>
        </p:nvSpPr>
        <p:spPr>
          <a:xfrm>
            <a:off x="2920173"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3028863" cy="194310"/>
          </a:xfrm>
          <a:prstGeom prst="rect">
            <a:avLst/>
          </a:prstGeom>
          <a:noFill/>
        </p:spPr>
        <p:txBody>
          <a:bodyPr wrap="none" lIns="0" rIns="0" tIns="0" bIns="0">
            <a:spAutoFit/>
          </a:bodyPr>
          <a:lstStyle/>
          <a:p>
            <a:r>
              <a:rPr sz="1150" b="0">
                <a:solidFill>
                  <a:srgbClr val="2E2E2E"/>
                </a:solidFill>
                <a:latin typeface="Calibri"/>
              </a:rPr>
              <a:t>▪ Share shifts toward 'Other packaging formats' (+</a:t>
            </a:r>
          </a:p>
        </p:txBody>
      </p:sp>
      <p:pic>
        <p:nvPicPr>
          <p:cNvPr id="30" name="Picture 29" descr="lock.png"/>
          <p:cNvPicPr>
            <a:picLocks noChangeAspect="1"/>
          </p:cNvPicPr>
          <p:nvPr/>
        </p:nvPicPr>
        <p:blipFill>
          <a:blip r:embed="rId4"/>
          <a:stretch>
            <a:fillRect/>
          </a:stretch>
        </p:blipFill>
        <p:spPr>
          <a:xfrm>
            <a:off x="3254242" y="3931602"/>
            <a:ext cx="134549" cy="195707"/>
          </a:xfrm>
          <a:prstGeom prst="rect">
            <a:avLst/>
          </a:prstGeom>
        </p:spPr>
      </p:pic>
      <p:sp>
        <p:nvSpPr>
          <p:cNvPr id="31" name="TextBox 30"/>
          <p:cNvSpPr txBox="1"/>
          <p:nvPr/>
        </p:nvSpPr>
        <p:spPr>
          <a:xfrm>
            <a:off x="3429351" y="3941825"/>
            <a:ext cx="2547069" cy="194310"/>
          </a:xfrm>
          <a:prstGeom prst="rect">
            <a:avLst/>
          </a:prstGeom>
          <a:noFill/>
        </p:spPr>
        <p:txBody>
          <a:bodyPr wrap="none" lIns="0" rIns="0" tIns="0" bIns="0">
            <a:spAutoFit/>
          </a:bodyPr>
          <a:lstStyle/>
          <a:p>
            <a:r>
              <a:rPr sz="1150" b="0">
                <a:solidFill>
                  <a:srgbClr val="2E2E2E"/>
                </a:solidFill>
                <a:latin typeface="Calibri"/>
              </a:rPr>
              <a:t>BPS) and away from 'Paperboard packs' (-</a:t>
            </a:r>
          </a:p>
        </p:txBody>
      </p:sp>
      <p:pic>
        <p:nvPicPr>
          <p:cNvPr id="32" name="Picture 31" descr="lock.png"/>
          <p:cNvPicPr>
            <a:picLocks noChangeAspect="1"/>
          </p:cNvPicPr>
          <p:nvPr/>
        </p:nvPicPr>
        <p:blipFill>
          <a:blip r:embed="rId4"/>
          <a:stretch>
            <a:fillRect/>
          </a:stretch>
        </p:blipFill>
        <p:spPr>
          <a:xfrm>
            <a:off x="5925574" y="3931602"/>
            <a:ext cx="134549" cy="195707"/>
          </a:xfrm>
          <a:prstGeom prst="rect">
            <a:avLst/>
          </a:prstGeom>
        </p:spPr>
      </p:pic>
      <p:sp>
        <p:nvSpPr>
          <p:cNvPr id="33" name="TextBox 32"/>
          <p:cNvSpPr txBox="1"/>
          <p:nvPr/>
        </p:nvSpPr>
        <p:spPr>
          <a:xfrm>
            <a:off x="6100683"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59440"/>
            <a:ext cx="134549" cy="195707"/>
          </a:xfrm>
          <a:prstGeom prst="rect">
            <a:avLst/>
          </a:prstGeom>
        </p:spPr>
      </p:pic>
      <p:sp>
        <p:nvSpPr>
          <p:cNvPr id="36" name="TextBox 35"/>
          <p:cNvSpPr txBox="1"/>
          <p:nvPr/>
        </p:nvSpPr>
        <p:spPr>
          <a:xfrm>
            <a:off x="1965143"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59440"/>
            <a:ext cx="134549" cy="195707"/>
          </a:xfrm>
          <a:prstGeom prst="rect">
            <a:avLst/>
          </a:prstGeom>
        </p:spPr>
      </p:pic>
      <p:sp>
        <p:nvSpPr>
          <p:cNvPr id="38" name="TextBox 37"/>
          <p:cNvSpPr txBox="1"/>
          <p:nvPr/>
        </p:nvSpPr>
        <p:spPr>
          <a:xfrm>
            <a:off x="2291688" y="4169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Packaging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Packaging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Packaging Format (US$ Mn)</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1721397"/>
                <a:gridCol w="597988"/>
                <a:gridCol w="597988"/>
                <a:gridCol w="597988"/>
                <a:gridCol w="597988"/>
                <a:gridCol w="597988"/>
                <a:gridCol w="597988"/>
                <a:gridCol w="597988"/>
                <a:gridCol w="597988"/>
                <a:gridCol w="597988"/>
                <a:gridCol w="597988"/>
                <a:gridCol w="597988"/>
                <a:gridCol w="597988"/>
                <a:gridCol w="597988"/>
                <a:gridCol w="597988"/>
                <a:gridCol w="597988"/>
                <a:gridCol w="597988"/>
                <a:gridCol w="597988"/>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Packaging Format</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70004" y="1837563"/>
            <a:ext cx="366712" cy="533400"/>
          </a:xfrm>
          <a:prstGeom prst="rect">
            <a:avLst/>
          </a:prstGeom>
        </p:spPr>
      </p:pic>
      <p:sp>
        <p:nvSpPr>
          <p:cNvPr id="21" name="TextBox 20"/>
          <p:cNvSpPr txBox="1"/>
          <p:nvPr/>
        </p:nvSpPr>
        <p:spPr>
          <a:xfrm>
            <a:off x="276225" y="3486150"/>
            <a:ext cx="3307556" cy="194310"/>
          </a:xfrm>
          <a:prstGeom prst="rect">
            <a:avLst/>
          </a:prstGeom>
          <a:noFill/>
        </p:spPr>
        <p:txBody>
          <a:bodyPr wrap="none" lIns="0" rIns="0" tIns="0" bIns="0">
            <a:spAutoFit/>
          </a:bodyPr>
          <a:lstStyle/>
          <a:p>
            <a:r>
              <a:rPr sz="1150" b="0">
                <a:solidFill>
                  <a:srgbClr val="2E2E2E"/>
                </a:solidFill>
                <a:latin typeface="Calibri"/>
              </a:rPr>
              <a:t>▪ 'Rigid plastic packs' is the largest packaging format at</a:t>
            </a:r>
          </a:p>
        </p:txBody>
      </p:sp>
      <p:pic>
        <p:nvPicPr>
          <p:cNvPr id="22" name="Picture 21" descr="lock.png"/>
          <p:cNvPicPr>
            <a:picLocks noChangeAspect="1"/>
          </p:cNvPicPr>
          <p:nvPr/>
        </p:nvPicPr>
        <p:blipFill>
          <a:blip r:embed="rId4"/>
          <a:stretch>
            <a:fillRect/>
          </a:stretch>
        </p:blipFill>
        <p:spPr>
          <a:xfrm>
            <a:off x="3532935" y="3475926"/>
            <a:ext cx="134549" cy="195707"/>
          </a:xfrm>
          <a:prstGeom prst="rect">
            <a:avLst/>
          </a:prstGeom>
        </p:spPr>
      </p:pic>
      <p:sp>
        <p:nvSpPr>
          <p:cNvPr id="23" name="TextBox 22"/>
          <p:cNvSpPr txBox="1"/>
          <p:nvPr/>
        </p:nvSpPr>
        <p:spPr>
          <a:xfrm>
            <a:off x="3708044"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613977" y="3475926"/>
            <a:ext cx="134549" cy="195707"/>
          </a:xfrm>
          <a:prstGeom prst="rect">
            <a:avLst/>
          </a:prstGeom>
        </p:spPr>
      </p:pic>
      <p:sp>
        <p:nvSpPr>
          <p:cNvPr id="25" name="TextBox 24"/>
          <p:cNvSpPr txBox="1"/>
          <p:nvPr/>
        </p:nvSpPr>
        <p:spPr>
          <a:xfrm>
            <a:off x="4789086"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519684" cy="194310"/>
          </a:xfrm>
          <a:prstGeom prst="rect">
            <a:avLst/>
          </a:prstGeom>
          <a:noFill/>
        </p:spPr>
        <p:txBody>
          <a:bodyPr wrap="none" lIns="0" rIns="0" tIns="0" bIns="0">
            <a:spAutoFit/>
          </a:bodyPr>
          <a:lstStyle/>
          <a:p>
            <a:r>
              <a:rPr sz="1150" b="0">
                <a:solidFill>
                  <a:srgbClr val="2E2E2E"/>
                </a:solidFill>
                <a:latin typeface="Calibri"/>
              </a:rPr>
              <a:t>▪ 'Other packaging formats' grows fastest</a:t>
            </a:r>
          </a:p>
        </p:txBody>
      </p:sp>
      <p:pic>
        <p:nvPicPr>
          <p:cNvPr id="27" name="Picture 26" descr="lock.png"/>
          <p:cNvPicPr>
            <a:picLocks noChangeAspect="1"/>
          </p:cNvPicPr>
          <p:nvPr/>
        </p:nvPicPr>
        <p:blipFill>
          <a:blip r:embed="rId4"/>
          <a:stretch>
            <a:fillRect/>
          </a:stretch>
        </p:blipFill>
        <p:spPr>
          <a:xfrm>
            <a:off x="2745063" y="3703764"/>
            <a:ext cx="134549" cy="195707"/>
          </a:xfrm>
          <a:prstGeom prst="rect">
            <a:avLst/>
          </a:prstGeom>
        </p:spPr>
      </p:pic>
      <p:sp>
        <p:nvSpPr>
          <p:cNvPr id="28" name="TextBox 27"/>
          <p:cNvSpPr txBox="1"/>
          <p:nvPr/>
        </p:nvSpPr>
        <p:spPr>
          <a:xfrm>
            <a:off x="2920173"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377058" cy="194310"/>
          </a:xfrm>
          <a:prstGeom prst="rect">
            <a:avLst/>
          </a:prstGeom>
          <a:noFill/>
        </p:spPr>
        <p:txBody>
          <a:bodyPr wrap="none" lIns="0" rIns="0" tIns="0" bIns="0">
            <a:spAutoFit/>
          </a:bodyPr>
          <a:lstStyle/>
          <a:p>
            <a:r>
              <a:rPr sz="1150" b="0">
                <a:solidFill>
                  <a:srgbClr val="2E2E2E"/>
                </a:solidFill>
                <a:latin typeface="Calibri"/>
              </a:rPr>
              <a:t>▪ Share shifts toward 'Flexible packs' (+</a:t>
            </a:r>
          </a:p>
        </p:txBody>
      </p:sp>
      <p:pic>
        <p:nvPicPr>
          <p:cNvPr id="30" name="Picture 29" descr="lock.png"/>
          <p:cNvPicPr>
            <a:picLocks noChangeAspect="1"/>
          </p:cNvPicPr>
          <p:nvPr/>
        </p:nvPicPr>
        <p:blipFill>
          <a:blip r:embed="rId4"/>
          <a:stretch>
            <a:fillRect/>
          </a:stretch>
        </p:blipFill>
        <p:spPr>
          <a:xfrm>
            <a:off x="2602436" y="3931602"/>
            <a:ext cx="134549" cy="195707"/>
          </a:xfrm>
          <a:prstGeom prst="rect">
            <a:avLst/>
          </a:prstGeom>
        </p:spPr>
      </p:pic>
      <p:sp>
        <p:nvSpPr>
          <p:cNvPr id="31" name="TextBox 30"/>
          <p:cNvSpPr txBox="1"/>
          <p:nvPr/>
        </p:nvSpPr>
        <p:spPr>
          <a:xfrm>
            <a:off x="2777546" y="3941825"/>
            <a:ext cx="2547069" cy="194310"/>
          </a:xfrm>
          <a:prstGeom prst="rect">
            <a:avLst/>
          </a:prstGeom>
          <a:noFill/>
        </p:spPr>
        <p:txBody>
          <a:bodyPr wrap="none" lIns="0" rIns="0" tIns="0" bIns="0">
            <a:spAutoFit/>
          </a:bodyPr>
          <a:lstStyle/>
          <a:p>
            <a:r>
              <a:rPr sz="1150" b="0">
                <a:solidFill>
                  <a:srgbClr val="2E2E2E"/>
                </a:solidFill>
                <a:latin typeface="Calibri"/>
              </a:rPr>
              <a:t>BPS) and away from 'Paperboard packs' (-</a:t>
            </a:r>
          </a:p>
        </p:txBody>
      </p:sp>
      <p:pic>
        <p:nvPicPr>
          <p:cNvPr id="32" name="Picture 31" descr="lock.png"/>
          <p:cNvPicPr>
            <a:picLocks noChangeAspect="1"/>
          </p:cNvPicPr>
          <p:nvPr/>
        </p:nvPicPr>
        <p:blipFill>
          <a:blip r:embed="rId4"/>
          <a:stretch>
            <a:fillRect/>
          </a:stretch>
        </p:blipFill>
        <p:spPr>
          <a:xfrm>
            <a:off x="5273769" y="3931602"/>
            <a:ext cx="134549" cy="195707"/>
          </a:xfrm>
          <a:prstGeom prst="rect">
            <a:avLst/>
          </a:prstGeom>
        </p:spPr>
      </p:pic>
      <p:sp>
        <p:nvSpPr>
          <p:cNvPr id="33" name="TextBox 32"/>
          <p:cNvSpPr txBox="1"/>
          <p:nvPr/>
        </p:nvSpPr>
        <p:spPr>
          <a:xfrm>
            <a:off x="5448878"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Packaging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Packaging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008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953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191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packaging formats</a:t>
            </a:r>
          </a:p>
        </p:txBody>
      </p:sp>
      <p:sp>
        <p:nvSpPr>
          <p:cNvPr id="19" name="BPS Value 1"/>
          <p:cNvSpPr txBox="1"/>
          <p:nvPr/>
        </p:nvSpPr>
        <p:spPr>
          <a:xfrm>
            <a:off x="6896100" y="178103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24033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355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593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packs</a:t>
            </a:r>
          </a:p>
        </p:txBody>
      </p:sp>
      <p:sp>
        <p:nvSpPr>
          <p:cNvPr id="23" name="BPS Value 2"/>
          <p:cNvSpPr txBox="1"/>
          <p:nvPr/>
        </p:nvSpPr>
        <p:spPr>
          <a:xfrm>
            <a:off x="6896100" y="222128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28316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2784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022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Paperboard packs</a:t>
            </a:r>
          </a:p>
        </p:txBody>
      </p:sp>
      <p:sp>
        <p:nvSpPr>
          <p:cNvPr id="27" name="BPS Value 3"/>
          <p:cNvSpPr txBox="1"/>
          <p:nvPr/>
        </p:nvSpPr>
        <p:spPr>
          <a:xfrm>
            <a:off x="6896100" y="326411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12909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1243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0481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Rigid plastic packs</a:t>
            </a:r>
          </a:p>
        </p:txBody>
      </p:sp>
      <p:sp>
        <p:nvSpPr>
          <p:cNvPr id="31" name="BPS Value 4"/>
          <p:cNvSpPr txBox="1"/>
          <p:nvPr/>
        </p:nvSpPr>
        <p:spPr>
          <a:xfrm>
            <a:off x="6896100" y="511004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Packaging Format</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414141" cy="194310"/>
          </a:xfrm>
          <a:prstGeom prst="rect">
            <a:avLst/>
          </a:prstGeom>
          <a:noFill/>
        </p:spPr>
        <p:txBody>
          <a:bodyPr wrap="none" lIns="0" rIns="0" tIns="0" bIns="0">
            <a:spAutoFit/>
          </a:bodyPr>
          <a:lstStyle/>
          <a:p>
            <a:r>
              <a:rPr sz="1150" b="0">
                <a:solidFill>
                  <a:srgbClr val="2E2E2E"/>
                </a:solidFill>
                <a:latin typeface="Calibri"/>
              </a:rPr>
              <a:t>▪ 'Flexible packs' gains the most share +</a:t>
            </a:r>
          </a:p>
        </p:txBody>
      </p:sp>
      <p:pic>
        <p:nvPicPr>
          <p:cNvPr id="39" name="Picture 38" descr="lock.png"/>
          <p:cNvPicPr>
            <a:picLocks noChangeAspect="1"/>
          </p:cNvPicPr>
          <p:nvPr/>
        </p:nvPicPr>
        <p:blipFill>
          <a:blip r:embed="rId5"/>
          <a:stretch>
            <a:fillRect/>
          </a:stretch>
        </p:blipFill>
        <p:spPr>
          <a:xfrm>
            <a:off x="10192844" y="1389951"/>
            <a:ext cx="134549" cy="195707"/>
          </a:xfrm>
          <a:prstGeom prst="rect">
            <a:avLst/>
          </a:prstGeom>
        </p:spPr>
      </p:pic>
      <p:sp>
        <p:nvSpPr>
          <p:cNvPr id="40" name="TextBox 39"/>
          <p:cNvSpPr txBox="1"/>
          <p:nvPr/>
        </p:nvSpPr>
        <p:spPr>
          <a:xfrm>
            <a:off x="10367954"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304603" cy="194310"/>
          </a:xfrm>
          <a:prstGeom prst="rect">
            <a:avLst/>
          </a:prstGeom>
          <a:noFill/>
        </p:spPr>
        <p:txBody>
          <a:bodyPr wrap="none" lIns="0" rIns="0" tIns="0" bIns="0">
            <a:spAutoFit/>
          </a:bodyPr>
          <a:lstStyle/>
          <a:p>
            <a:r>
              <a:rPr sz="1150" b="0">
                <a:solidFill>
                  <a:srgbClr val="2E2E2E"/>
                </a:solidFill>
                <a:latin typeface="Calibri"/>
              </a:rPr>
              <a:t>▪ 'Paperboard packs' cedes the most -</a:t>
            </a:r>
          </a:p>
        </p:txBody>
      </p:sp>
      <p:pic>
        <p:nvPicPr>
          <p:cNvPr id="43" name="Picture 42" descr="lock.png"/>
          <p:cNvPicPr>
            <a:picLocks noChangeAspect="1"/>
          </p:cNvPicPr>
          <p:nvPr/>
        </p:nvPicPr>
        <p:blipFill>
          <a:blip r:embed="rId5"/>
          <a:stretch>
            <a:fillRect/>
          </a:stretch>
        </p:blipFill>
        <p:spPr>
          <a:xfrm>
            <a:off x="10083307" y="1793049"/>
            <a:ext cx="134549" cy="195707"/>
          </a:xfrm>
          <a:prstGeom prst="rect">
            <a:avLst/>
          </a:prstGeom>
        </p:spPr>
      </p:pic>
      <p:sp>
        <p:nvSpPr>
          <p:cNvPr id="44" name="TextBox 43"/>
          <p:cNvSpPr txBox="1"/>
          <p:nvPr/>
        </p:nvSpPr>
        <p:spPr>
          <a:xfrm>
            <a:off x="10258416"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5" name="TextBox 44"/>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4057650" cy="194310"/>
          </a:xfrm>
          <a:prstGeom prst="rect">
            <a:avLst/>
          </a:prstGeom>
          <a:noFill/>
        </p:spPr>
        <p:txBody>
          <a:bodyPr wrap="none" lIns="0" rIns="0" tIns="0" bIns="0">
            <a:spAutoFit/>
          </a:bodyPr>
          <a:lstStyle/>
          <a:p>
            <a:r>
              <a:rPr sz="1150" b="0">
                <a:solidFill>
                  <a:srgbClr val="2E2E2E"/>
                </a:solidFill>
                <a:latin typeface="Calibri"/>
              </a:rPr>
              <a:t>▪ 'Other packaging formats' is the fastest-growing packaging format</a:t>
            </a:r>
          </a:p>
        </p:txBody>
      </p:sp>
      <p:sp>
        <p:nvSpPr>
          <p:cNvPr id="47" name="TextBox 46"/>
          <p:cNvSpPr txBox="1"/>
          <p:nvPr/>
        </p:nvSpPr>
        <p:spPr>
          <a:xfrm>
            <a:off x="7829550" y="2381631"/>
            <a:ext cx="195150" cy="194310"/>
          </a:xfrm>
          <a:prstGeom prst="rect">
            <a:avLst/>
          </a:prstGeom>
          <a:noFill/>
        </p:spPr>
        <p:txBody>
          <a:bodyPr wrap="none" lIns="0" rIns="0" tIns="0" bIns="0">
            <a:spAutoFit/>
          </a:bodyPr>
          <a:lstStyle/>
          <a:p>
            <a:r>
              <a:rPr sz="1150" b="0">
                <a:solidFill>
                  <a:srgbClr val="2E2E2E"/>
                </a:solidFill>
                <a:latin typeface="Calibri"/>
              </a:rPr>
              <a:t>at</a:t>
            </a:r>
          </a:p>
        </p:txBody>
      </p:sp>
      <p:pic>
        <p:nvPicPr>
          <p:cNvPr id="48" name="Picture 47" descr="lock.png"/>
          <p:cNvPicPr>
            <a:picLocks noChangeAspect="1"/>
          </p:cNvPicPr>
          <p:nvPr/>
        </p:nvPicPr>
        <p:blipFill>
          <a:blip r:embed="rId5"/>
          <a:stretch>
            <a:fillRect/>
          </a:stretch>
        </p:blipFill>
        <p:spPr>
          <a:xfrm>
            <a:off x="7973854" y="2371407"/>
            <a:ext cx="134549" cy="195707"/>
          </a:xfrm>
          <a:prstGeom prst="rect">
            <a:avLst/>
          </a:prstGeom>
        </p:spPr>
      </p:pic>
      <p:sp>
        <p:nvSpPr>
          <p:cNvPr id="49" name="TextBox 48"/>
          <p:cNvSpPr txBox="1"/>
          <p:nvPr/>
        </p:nvSpPr>
        <p:spPr>
          <a:xfrm>
            <a:off x="8148964"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Packaging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Packaging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Packaging Format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packs</a:t>
            </a:r>
          </a:p>
        </p:txBody>
      </p:sp>
      <p:sp>
        <p:nvSpPr>
          <p:cNvPr id="33" name="Rectangle 32"/>
          <p:cNvSpPr/>
          <p:nvPr/>
        </p:nvSpPr>
        <p:spPr>
          <a:xfrm>
            <a:off x="1857375" y="3248025"/>
            <a:ext cx="643890" cy="831056"/>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Rigid plastic packs</a:t>
            </a:r>
          </a:p>
        </p:txBody>
      </p:sp>
      <p:sp>
        <p:nvSpPr>
          <p:cNvPr id="49" name="Rectangle 48"/>
          <p:cNvSpPr/>
          <p:nvPr/>
        </p:nvSpPr>
        <p:spPr>
          <a:xfrm>
            <a:off x="185737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Paperboard packs</a:t>
            </a:r>
          </a:p>
        </p:txBody>
      </p:sp>
      <p:sp>
        <p:nvSpPr>
          <p:cNvPr id="65" name="Rectangle 64"/>
          <p:cNvSpPr/>
          <p:nvPr/>
        </p:nvSpPr>
        <p:spPr>
          <a:xfrm>
            <a:off x="1857375" y="4910138"/>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formats</a:t>
            </a:r>
          </a:p>
        </p:txBody>
      </p:sp>
      <p:sp>
        <p:nvSpPr>
          <p:cNvPr id="81" name="Rectangle 80"/>
          <p:cNvSpPr/>
          <p:nvPr/>
        </p:nvSpPr>
        <p:spPr>
          <a:xfrm>
            <a:off x="1857375" y="5741194"/>
            <a:ext cx="643890" cy="831056"/>
          </a:xfrm>
          <a:prstGeom prst="rect">
            <a:avLst/>
          </a:prstGeom>
          <a:solidFill>
            <a:srgbClr val="0D5B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49689"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Packaging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Packaging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Packaging Format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packs</a:t>
            </a:r>
          </a:p>
        </p:txBody>
      </p:sp>
      <p:sp>
        <p:nvSpPr>
          <p:cNvPr id="33" name="Rectangle 32"/>
          <p:cNvSpPr/>
          <p:nvPr/>
        </p:nvSpPr>
        <p:spPr>
          <a:xfrm>
            <a:off x="1857375" y="3248025"/>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Rigid plastic packs</a:t>
            </a:r>
          </a:p>
        </p:txBody>
      </p:sp>
      <p:sp>
        <p:nvSpPr>
          <p:cNvPr id="49" name="Rectangle 48"/>
          <p:cNvSpPr/>
          <p:nvPr/>
        </p:nvSpPr>
        <p:spPr>
          <a:xfrm>
            <a:off x="1857375" y="4079081"/>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Paperboard packs</a:t>
            </a:r>
          </a:p>
        </p:txBody>
      </p:sp>
      <p:sp>
        <p:nvSpPr>
          <p:cNvPr id="65" name="Rectangle 64"/>
          <p:cNvSpPr/>
          <p:nvPr/>
        </p:nvSpPr>
        <p:spPr>
          <a:xfrm>
            <a:off x="1857375" y="4910138"/>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formats</a:t>
            </a:r>
          </a:p>
        </p:txBody>
      </p:sp>
      <p:sp>
        <p:nvSpPr>
          <p:cNvPr id="81" name="Rectangle 80"/>
          <p:cNvSpPr/>
          <p:nvPr/>
        </p:nvSpPr>
        <p:spPr>
          <a:xfrm>
            <a:off x="1857375" y="5741194"/>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49689" y="1713738"/>
            <a:ext cx="366712" cy="533400"/>
          </a:xfrm>
          <a:prstGeom prst="rect">
            <a:avLst/>
          </a:prstGeom>
        </p:spPr>
      </p:pic>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 Configuration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 Configuration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 Configuration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Pack Configuration,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 Configuration segment categorizes the market by pack configuration.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Multipacks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Single-muffin packs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Bulk foodservice packs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 Configuration split shows how demand is distributed across pack configuration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921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3_12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5_0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121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1_561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3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555_2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666_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1_8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615083" cy="186689"/>
          </a:xfrm>
          <a:prstGeom prst="rect">
            <a:avLst/>
          </a:prstGeom>
          <a:noFill/>
        </p:spPr>
        <p:txBody>
          <a:bodyPr wrap="none" lIns="0" rIns="0" tIns="0" bIns="0">
            <a:spAutoFit/>
          </a:bodyPr>
          <a:lstStyle/>
          <a:p>
            <a:r>
              <a:rPr sz="1100" b="0">
                <a:solidFill>
                  <a:srgbClr val="2E2E2E"/>
                </a:solidFill>
                <a:latin typeface="Calibri"/>
              </a:rPr>
              <a:t>▪ 'Multipacks' holds the largest share in 2026</a:t>
            </a:r>
          </a:p>
        </p:txBody>
      </p:sp>
      <p:pic>
        <p:nvPicPr>
          <p:cNvPr id="70" name="Picture 69" descr="lock.png"/>
          <p:cNvPicPr>
            <a:picLocks noChangeAspect="1"/>
          </p:cNvPicPr>
          <p:nvPr/>
        </p:nvPicPr>
        <p:blipFill>
          <a:blip r:embed="rId13"/>
          <a:stretch>
            <a:fillRect/>
          </a:stretch>
        </p:blipFill>
        <p:spPr>
          <a:xfrm>
            <a:off x="3048910" y="4219658"/>
            <a:ext cx="128699" cy="187198"/>
          </a:xfrm>
          <a:prstGeom prst="rect">
            <a:avLst/>
          </a:prstGeom>
        </p:spPr>
      </p:pic>
      <p:sp>
        <p:nvSpPr>
          <p:cNvPr id="71" name="TextBox 70"/>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2" name="TextBox 71"/>
          <p:cNvSpPr txBox="1"/>
          <p:nvPr/>
        </p:nvSpPr>
        <p:spPr>
          <a:xfrm>
            <a:off x="485775" y="4615009"/>
            <a:ext cx="2863924" cy="186689"/>
          </a:xfrm>
          <a:prstGeom prst="rect">
            <a:avLst/>
          </a:prstGeom>
          <a:noFill/>
        </p:spPr>
        <p:txBody>
          <a:bodyPr wrap="none" lIns="0" rIns="0" tIns="0" bIns="0">
            <a:spAutoFit/>
          </a:bodyPr>
          <a:lstStyle/>
          <a:p>
            <a:r>
              <a:rPr sz="1100" b="0">
                <a:solidFill>
                  <a:srgbClr val="2E2E2E"/>
                </a:solidFill>
                <a:latin typeface="Calibri"/>
              </a:rPr>
              <a:t>▪ 'Multipacks' is the fastest-growing sub-segment</a:t>
            </a:r>
          </a:p>
        </p:txBody>
      </p:sp>
      <p:sp>
        <p:nvSpPr>
          <p:cNvPr id="73" name="TextBox 72"/>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74" name="Picture 73" descr="lock.png"/>
          <p:cNvPicPr>
            <a:picLocks noChangeAspect="1"/>
          </p:cNvPicPr>
          <p:nvPr/>
        </p:nvPicPr>
        <p:blipFill>
          <a:blip r:embed="rId13"/>
          <a:stretch>
            <a:fillRect/>
          </a:stretch>
        </p:blipFill>
        <p:spPr>
          <a:xfrm>
            <a:off x="623805" y="4772870"/>
            <a:ext cx="128699" cy="187198"/>
          </a:xfrm>
          <a:prstGeom prst="rect">
            <a:avLst/>
          </a:prstGeom>
        </p:spPr>
      </p:pic>
      <p:sp>
        <p:nvSpPr>
          <p:cNvPr id="75" name="TextBox 74"/>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6" name="TextBox 7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7" name="Picture 76" descr="lock.png"/>
          <p:cNvPicPr>
            <a:picLocks noChangeAspect="1"/>
          </p:cNvPicPr>
          <p:nvPr/>
        </p:nvPicPr>
        <p:blipFill>
          <a:blip r:embed="rId13"/>
          <a:stretch>
            <a:fillRect/>
          </a:stretch>
        </p:blipFill>
        <p:spPr>
          <a:xfrm>
            <a:off x="2240451" y="4990801"/>
            <a:ext cx="128699" cy="187198"/>
          </a:xfrm>
          <a:prstGeom prst="rect">
            <a:avLst/>
          </a:prstGeom>
        </p:spPr>
      </p:pic>
      <p:sp>
        <p:nvSpPr>
          <p:cNvPr id="78" name="TextBox 7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9" name="Picture 78" descr="lock.png"/>
          <p:cNvPicPr>
            <a:picLocks noChangeAspect="1"/>
          </p:cNvPicPr>
          <p:nvPr/>
        </p:nvPicPr>
        <p:blipFill>
          <a:blip r:embed="rId13"/>
          <a:stretch>
            <a:fillRect/>
          </a:stretch>
        </p:blipFill>
        <p:spPr>
          <a:xfrm>
            <a:off x="2552799" y="4990801"/>
            <a:ext cx="128699" cy="187198"/>
          </a:xfrm>
          <a:prstGeom prst="rect">
            <a:avLst/>
          </a:prstGeom>
        </p:spPr>
      </p:pic>
      <p:sp>
        <p:nvSpPr>
          <p:cNvPr id="80" name="TextBox 7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2" name="TextBox 81"/>
          <p:cNvSpPr txBox="1"/>
          <p:nvPr/>
        </p:nvSpPr>
        <p:spPr>
          <a:xfrm>
            <a:off x="485775" y="5386153"/>
            <a:ext cx="2881659" cy="186689"/>
          </a:xfrm>
          <a:prstGeom prst="rect">
            <a:avLst/>
          </a:prstGeom>
          <a:noFill/>
        </p:spPr>
        <p:txBody>
          <a:bodyPr wrap="none" lIns="0" rIns="0" tIns="0" bIns="0">
            <a:spAutoFit/>
          </a:bodyPr>
          <a:lstStyle/>
          <a:p>
            <a:r>
              <a:rPr sz="1100" b="0">
                <a:solidFill>
                  <a:srgbClr val="2E2E2E"/>
                </a:solidFill>
                <a:latin typeface="Calibri"/>
              </a:rPr>
              <a:t>▪ 3 sub-segments make up the pack configuration</a:t>
            </a:r>
          </a:p>
        </p:txBody>
      </p:sp>
      <p:sp>
        <p:nvSpPr>
          <p:cNvPr id="83" name="TextBox 82"/>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4" name="TextBox 83"/>
          <p:cNvSpPr txBox="1"/>
          <p:nvPr/>
        </p:nvSpPr>
        <p:spPr>
          <a:xfrm>
            <a:off x="3838575" y="4229437"/>
            <a:ext cx="851371" cy="186689"/>
          </a:xfrm>
          <a:prstGeom prst="rect">
            <a:avLst/>
          </a:prstGeom>
          <a:noFill/>
        </p:spPr>
        <p:txBody>
          <a:bodyPr wrap="none" lIns="0" rIns="0" tIns="0" bIns="0">
            <a:spAutoFit/>
          </a:bodyPr>
          <a:lstStyle/>
          <a:p>
            <a:r>
              <a:rPr sz="1100" b="0">
                <a:solidFill>
                  <a:srgbClr val="2E2E2E"/>
                </a:solidFill>
                <a:latin typeface="Calibri"/>
              </a:rPr>
              <a:t>● Multipacks:</a:t>
            </a:r>
          </a:p>
        </p:txBody>
      </p:sp>
      <p:pic>
        <p:nvPicPr>
          <p:cNvPr id="85" name="Picture 84" descr="lock.png"/>
          <p:cNvPicPr>
            <a:picLocks noChangeAspect="1"/>
          </p:cNvPicPr>
          <p:nvPr/>
        </p:nvPicPr>
        <p:blipFill>
          <a:blip r:embed="rId13"/>
          <a:stretch>
            <a:fillRect/>
          </a:stretch>
        </p:blipFill>
        <p:spPr>
          <a:xfrm>
            <a:off x="4637997" y="4219658"/>
            <a:ext cx="128699" cy="187198"/>
          </a:xfrm>
          <a:prstGeom prst="rect">
            <a:avLst/>
          </a:prstGeom>
        </p:spPr>
      </p:pic>
      <p:sp>
        <p:nvSpPr>
          <p:cNvPr id="86" name="TextBox 85"/>
          <p:cNvSpPr txBox="1"/>
          <p:nvPr/>
        </p:nvSpPr>
        <p:spPr>
          <a:xfrm>
            <a:off x="480549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3"/>
          <a:stretch>
            <a:fillRect/>
          </a:stretch>
        </p:blipFill>
        <p:spPr>
          <a:xfrm>
            <a:off x="5664943" y="4219658"/>
            <a:ext cx="128699" cy="187198"/>
          </a:xfrm>
          <a:prstGeom prst="rect">
            <a:avLst/>
          </a:prstGeom>
        </p:spPr>
      </p:pic>
      <p:sp>
        <p:nvSpPr>
          <p:cNvPr id="88" name="TextBox 87"/>
          <p:cNvSpPr txBox="1"/>
          <p:nvPr/>
        </p:nvSpPr>
        <p:spPr>
          <a:xfrm>
            <a:off x="5832439"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9" name="TextBox 88"/>
          <p:cNvSpPr txBox="1"/>
          <p:nvPr/>
        </p:nvSpPr>
        <p:spPr>
          <a:xfrm>
            <a:off x="3838575" y="4447369"/>
            <a:ext cx="1334591" cy="186689"/>
          </a:xfrm>
          <a:prstGeom prst="rect">
            <a:avLst/>
          </a:prstGeom>
          <a:noFill/>
        </p:spPr>
        <p:txBody>
          <a:bodyPr wrap="none" lIns="0" rIns="0" tIns="0" bIns="0">
            <a:spAutoFit/>
          </a:bodyPr>
          <a:lstStyle/>
          <a:p>
            <a:r>
              <a:rPr sz="1100" b="0">
                <a:solidFill>
                  <a:srgbClr val="2E2E2E"/>
                </a:solidFill>
                <a:latin typeface="Calibri"/>
              </a:rPr>
              <a:t>● Single-muffin packs:</a:t>
            </a:r>
          </a:p>
        </p:txBody>
      </p:sp>
      <p:pic>
        <p:nvPicPr>
          <p:cNvPr id="90" name="Picture 89" descr="lock.png"/>
          <p:cNvPicPr>
            <a:picLocks noChangeAspect="1"/>
          </p:cNvPicPr>
          <p:nvPr/>
        </p:nvPicPr>
        <p:blipFill>
          <a:blip r:embed="rId13"/>
          <a:stretch>
            <a:fillRect/>
          </a:stretch>
        </p:blipFill>
        <p:spPr>
          <a:xfrm>
            <a:off x="5121218" y="4437590"/>
            <a:ext cx="128699" cy="187198"/>
          </a:xfrm>
          <a:prstGeom prst="rect">
            <a:avLst/>
          </a:prstGeom>
        </p:spPr>
      </p:pic>
      <p:sp>
        <p:nvSpPr>
          <p:cNvPr id="91" name="TextBox 90"/>
          <p:cNvSpPr txBox="1"/>
          <p:nvPr/>
        </p:nvSpPr>
        <p:spPr>
          <a:xfrm>
            <a:off x="528871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2" name="Picture 91" descr="lock.png"/>
          <p:cNvPicPr>
            <a:picLocks noChangeAspect="1"/>
          </p:cNvPicPr>
          <p:nvPr/>
        </p:nvPicPr>
        <p:blipFill>
          <a:blip r:embed="rId13"/>
          <a:stretch>
            <a:fillRect/>
          </a:stretch>
        </p:blipFill>
        <p:spPr>
          <a:xfrm>
            <a:off x="6148164" y="4437590"/>
            <a:ext cx="128699" cy="187198"/>
          </a:xfrm>
          <a:prstGeom prst="rect">
            <a:avLst/>
          </a:prstGeom>
        </p:spPr>
      </p:pic>
      <p:sp>
        <p:nvSpPr>
          <p:cNvPr id="93" name="TextBox 92"/>
          <p:cNvSpPr txBox="1"/>
          <p:nvPr/>
        </p:nvSpPr>
        <p:spPr>
          <a:xfrm>
            <a:off x="6315659"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4" name="TextBox 93"/>
          <p:cNvSpPr txBox="1"/>
          <p:nvPr/>
        </p:nvSpPr>
        <p:spPr>
          <a:xfrm>
            <a:off x="3838575" y="4665301"/>
            <a:ext cx="1516037" cy="186689"/>
          </a:xfrm>
          <a:prstGeom prst="rect">
            <a:avLst/>
          </a:prstGeom>
          <a:noFill/>
        </p:spPr>
        <p:txBody>
          <a:bodyPr wrap="none" lIns="0" rIns="0" tIns="0" bIns="0">
            <a:spAutoFit/>
          </a:bodyPr>
          <a:lstStyle/>
          <a:p>
            <a:r>
              <a:rPr sz="1100" b="0">
                <a:solidFill>
                  <a:srgbClr val="2E2E2E"/>
                </a:solidFill>
                <a:latin typeface="Calibri"/>
              </a:rPr>
              <a:t>● Bulk foodservice packs:</a:t>
            </a:r>
          </a:p>
        </p:txBody>
      </p:sp>
      <p:pic>
        <p:nvPicPr>
          <p:cNvPr id="95" name="Picture 94" descr="lock.png"/>
          <p:cNvPicPr>
            <a:picLocks noChangeAspect="1"/>
          </p:cNvPicPr>
          <p:nvPr/>
        </p:nvPicPr>
        <p:blipFill>
          <a:blip r:embed="rId13"/>
          <a:stretch>
            <a:fillRect/>
          </a:stretch>
        </p:blipFill>
        <p:spPr>
          <a:xfrm>
            <a:off x="5302664" y="4655522"/>
            <a:ext cx="128699" cy="187198"/>
          </a:xfrm>
          <a:prstGeom prst="rect">
            <a:avLst/>
          </a:prstGeom>
        </p:spPr>
      </p:pic>
      <p:sp>
        <p:nvSpPr>
          <p:cNvPr id="96" name="TextBox 95"/>
          <p:cNvSpPr txBox="1"/>
          <p:nvPr/>
        </p:nvSpPr>
        <p:spPr>
          <a:xfrm>
            <a:off x="5470160"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6329610" y="4655522"/>
            <a:ext cx="128699" cy="187198"/>
          </a:xfrm>
          <a:prstGeom prst="rect">
            <a:avLst/>
          </a:prstGeom>
        </p:spPr>
      </p:pic>
      <p:sp>
        <p:nvSpPr>
          <p:cNvPr id="98" name="TextBox 97"/>
          <p:cNvSpPr txBox="1"/>
          <p:nvPr/>
        </p:nvSpPr>
        <p:spPr>
          <a:xfrm>
            <a:off x="6497106"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9" name="TextBox 98"/>
          <p:cNvSpPr txBox="1"/>
          <p:nvPr/>
        </p:nvSpPr>
        <p:spPr>
          <a:xfrm>
            <a:off x="8524875" y="5842641"/>
            <a:ext cx="2942145" cy="194310"/>
          </a:xfrm>
          <a:prstGeom prst="rect">
            <a:avLst/>
          </a:prstGeom>
          <a:noFill/>
        </p:spPr>
        <p:txBody>
          <a:bodyPr wrap="none" lIns="0" rIns="0" tIns="0" bIns="0">
            <a:spAutoFit/>
          </a:bodyPr>
          <a:lstStyle/>
          <a:p>
            <a:r>
              <a:rPr sz="1150" b="1">
                <a:solidFill>
                  <a:srgbClr val="0B2E4A"/>
                </a:solidFill>
                <a:latin typeface="Calibri"/>
              </a:rPr>
              <a:t>The Pack Configuration segment is projected to</a:t>
            </a:r>
          </a:p>
        </p:txBody>
      </p:sp>
      <p:sp>
        <p:nvSpPr>
          <p:cNvPr id="100" name="TextBox 99"/>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1" name="Picture 100" descr="lock.png"/>
          <p:cNvPicPr>
            <a:picLocks noChangeAspect="1"/>
          </p:cNvPicPr>
          <p:nvPr/>
        </p:nvPicPr>
        <p:blipFill>
          <a:blip r:embed="rId13"/>
          <a:stretch>
            <a:fillRect/>
          </a:stretch>
        </p:blipFill>
        <p:spPr>
          <a:xfrm>
            <a:off x="9651852" y="6007677"/>
            <a:ext cx="134549" cy="195707"/>
          </a:xfrm>
          <a:prstGeom prst="rect">
            <a:avLst/>
          </a:prstGeom>
        </p:spPr>
      </p:pic>
      <p:sp>
        <p:nvSpPr>
          <p:cNvPr id="102" name="TextBox 101"/>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Pack Configuration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 Configuration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 Configuration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 Configuration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223544" cy="186689"/>
          </a:xfrm>
          <a:prstGeom prst="rect">
            <a:avLst/>
          </a:prstGeom>
          <a:noFill/>
        </p:spPr>
        <p:txBody>
          <a:bodyPr wrap="none" lIns="0" rIns="0" tIns="0" bIns="0">
            <a:spAutoFit/>
          </a:bodyPr>
          <a:lstStyle/>
          <a:p>
            <a:r>
              <a:rPr sz="1100" b="0">
                <a:solidFill>
                  <a:srgbClr val="2E2E2E"/>
                </a:solidFill>
                <a:latin typeface="Calibri"/>
              </a:rPr>
              <a:t>Between 2026 and 2036, 'Multipacks' gains the most share in the North America market (+</a:t>
            </a:r>
          </a:p>
        </p:txBody>
      </p:sp>
      <p:pic>
        <p:nvPicPr>
          <p:cNvPr id="21" name="Picture 20" descr="lock.png"/>
          <p:cNvPicPr>
            <a:picLocks noChangeAspect="1"/>
          </p:cNvPicPr>
          <p:nvPr/>
        </p:nvPicPr>
        <p:blipFill>
          <a:blip r:embed="rId6"/>
          <a:stretch>
            <a:fillRect/>
          </a:stretch>
        </p:blipFill>
        <p:spPr>
          <a:xfrm>
            <a:off x="5428771" y="5851905"/>
            <a:ext cx="128699" cy="187198"/>
          </a:xfrm>
          <a:prstGeom prst="rect">
            <a:avLst/>
          </a:prstGeom>
        </p:spPr>
      </p:pic>
      <p:sp>
        <p:nvSpPr>
          <p:cNvPr id="22" name="TextBox 21"/>
          <p:cNvSpPr txBox="1"/>
          <p:nvPr/>
        </p:nvSpPr>
        <p:spPr>
          <a:xfrm>
            <a:off x="5596267" y="5861685"/>
            <a:ext cx="2407716" cy="186689"/>
          </a:xfrm>
          <a:prstGeom prst="rect">
            <a:avLst/>
          </a:prstGeom>
          <a:noFill/>
        </p:spPr>
        <p:txBody>
          <a:bodyPr wrap="none" lIns="0" rIns="0" tIns="0" bIns="0">
            <a:spAutoFit/>
          </a:bodyPr>
          <a:lstStyle/>
          <a:p>
            <a:r>
              <a:rPr sz="1100" b="0">
                <a:solidFill>
                  <a:srgbClr val="2E2E2E"/>
                </a:solidFill>
                <a:latin typeface="Calibri"/>
              </a:rPr>
              <a:t>BPS) while 'Bulk foodservice packs' cedes</a:t>
            </a:r>
          </a:p>
        </p:txBody>
      </p:sp>
      <p:pic>
        <p:nvPicPr>
          <p:cNvPr id="23" name="Picture 22" descr="lock.png"/>
          <p:cNvPicPr>
            <a:picLocks noChangeAspect="1"/>
          </p:cNvPicPr>
          <p:nvPr/>
        </p:nvPicPr>
        <p:blipFill>
          <a:blip r:embed="rId6"/>
          <a:stretch>
            <a:fillRect/>
          </a:stretch>
        </p:blipFill>
        <p:spPr>
          <a:xfrm>
            <a:off x="7952035" y="5851905"/>
            <a:ext cx="128699" cy="187198"/>
          </a:xfrm>
          <a:prstGeom prst="rect">
            <a:avLst/>
          </a:prstGeom>
        </p:spPr>
      </p:pic>
      <p:sp>
        <p:nvSpPr>
          <p:cNvPr id="24" name="TextBox 23"/>
          <p:cNvSpPr txBox="1"/>
          <p:nvPr/>
        </p:nvSpPr>
        <p:spPr>
          <a:xfrm>
            <a:off x="8119531"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 Configuration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Single-muffin packs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Multipacks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Bulk foodservice packs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Pack Configuration</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352626" cy="194310"/>
          </a:xfrm>
          <a:prstGeom prst="rect">
            <a:avLst/>
          </a:prstGeom>
          <a:noFill/>
        </p:spPr>
        <p:txBody>
          <a:bodyPr wrap="none" lIns="0" rIns="0" tIns="0" bIns="0">
            <a:spAutoFit/>
          </a:bodyPr>
          <a:lstStyle/>
          <a:p>
            <a:r>
              <a:rPr sz="1150" b="0">
                <a:solidFill>
                  <a:srgbClr val="2E2E2E"/>
                </a:solidFill>
                <a:latin typeface="Calibri"/>
              </a:rPr>
              <a:t>▪ Across its 3 sub-segments, by pack configuration adds</a:t>
            </a:r>
          </a:p>
        </p:txBody>
      </p:sp>
      <p:pic>
        <p:nvPicPr>
          <p:cNvPr id="29" name="Picture 28" descr="lock.png"/>
          <p:cNvPicPr>
            <a:picLocks noChangeAspect="1"/>
          </p:cNvPicPr>
          <p:nvPr/>
        </p:nvPicPr>
        <p:blipFill>
          <a:blip r:embed="rId7"/>
          <a:stretch>
            <a:fillRect/>
          </a:stretch>
        </p:blipFill>
        <p:spPr>
          <a:xfrm>
            <a:off x="9607330" y="4276026"/>
            <a:ext cx="134549" cy="195707"/>
          </a:xfrm>
          <a:prstGeom prst="rect">
            <a:avLst/>
          </a:prstGeom>
        </p:spPr>
      </p:pic>
      <p:sp>
        <p:nvSpPr>
          <p:cNvPr id="30" name="TextBox 29"/>
          <p:cNvSpPr txBox="1"/>
          <p:nvPr/>
        </p:nvSpPr>
        <p:spPr>
          <a:xfrm>
            <a:off x="9782439" y="4286250"/>
            <a:ext cx="1841636" cy="194310"/>
          </a:xfrm>
          <a:prstGeom prst="rect">
            <a:avLst/>
          </a:prstGeom>
          <a:noFill/>
        </p:spPr>
        <p:txBody>
          <a:bodyPr wrap="none" lIns="0" rIns="0" tIns="0" bIns="0">
            <a:spAutoFit/>
          </a:bodyPr>
          <a:lstStyle/>
          <a:p>
            <a:r>
              <a:rPr sz="1150" b="0">
                <a:solidFill>
                  <a:srgbClr val="2E2E2E"/>
                </a:solidFill>
                <a:latin typeface="Calibri"/>
              </a:rPr>
              <a:t>US$ Mn to the North America</a:t>
            </a:r>
          </a:p>
        </p:txBody>
      </p:sp>
      <p:sp>
        <p:nvSpPr>
          <p:cNvPr id="31" name="TextBox 30"/>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2" name="TextBox 31"/>
          <p:cNvSpPr txBox="1"/>
          <p:nvPr/>
        </p:nvSpPr>
        <p:spPr>
          <a:xfrm>
            <a:off x="6305550" y="4689347"/>
            <a:ext cx="1188975" cy="194310"/>
          </a:xfrm>
          <a:prstGeom prst="rect">
            <a:avLst/>
          </a:prstGeom>
          <a:noFill/>
        </p:spPr>
        <p:txBody>
          <a:bodyPr wrap="none" lIns="0" rIns="0" tIns="0" bIns="0">
            <a:spAutoFit/>
          </a:bodyPr>
          <a:lstStyle/>
          <a:p>
            <a:r>
              <a:rPr sz="1150" b="0">
                <a:solidFill>
                  <a:srgbClr val="2E2E2E"/>
                </a:solidFill>
                <a:latin typeface="Calibri"/>
              </a:rPr>
              <a:t>▪ 'Multipacks' adds</a:t>
            </a:r>
          </a:p>
        </p:txBody>
      </p:sp>
      <p:pic>
        <p:nvPicPr>
          <p:cNvPr id="33" name="Picture 32" descr="lock.png"/>
          <p:cNvPicPr>
            <a:picLocks noChangeAspect="1"/>
          </p:cNvPicPr>
          <p:nvPr/>
        </p:nvPicPr>
        <p:blipFill>
          <a:blip r:embed="rId7"/>
          <a:stretch>
            <a:fillRect/>
          </a:stretch>
        </p:blipFill>
        <p:spPr>
          <a:xfrm>
            <a:off x="7443679" y="4679124"/>
            <a:ext cx="134549" cy="195707"/>
          </a:xfrm>
          <a:prstGeom prst="rect">
            <a:avLst/>
          </a:prstGeom>
        </p:spPr>
      </p:pic>
      <p:sp>
        <p:nvSpPr>
          <p:cNvPr id="34" name="TextBox 33"/>
          <p:cNvSpPr txBox="1"/>
          <p:nvPr/>
        </p:nvSpPr>
        <p:spPr>
          <a:xfrm>
            <a:off x="7618788"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8191259" y="4679124"/>
            <a:ext cx="134549" cy="195707"/>
          </a:xfrm>
          <a:prstGeom prst="rect">
            <a:avLst/>
          </a:prstGeom>
        </p:spPr>
      </p:pic>
      <p:sp>
        <p:nvSpPr>
          <p:cNvPr id="36" name="TextBox 35"/>
          <p:cNvSpPr txBox="1"/>
          <p:nvPr/>
        </p:nvSpPr>
        <p:spPr>
          <a:xfrm>
            <a:off x="8366368"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694160" cy="194310"/>
          </a:xfrm>
          <a:prstGeom prst="rect">
            <a:avLst/>
          </a:prstGeom>
          <a:noFill/>
        </p:spPr>
        <p:txBody>
          <a:bodyPr wrap="none" lIns="0" rIns="0" tIns="0" bIns="0">
            <a:spAutoFit/>
          </a:bodyPr>
          <a:lstStyle/>
          <a:p>
            <a:r>
              <a:rPr sz="1150" b="0">
                <a:solidFill>
                  <a:srgbClr val="2E2E2E"/>
                </a:solidFill>
                <a:latin typeface="Calibri"/>
              </a:rPr>
              <a:t>▪ 'Single-muffin packs' adds</a:t>
            </a:r>
          </a:p>
        </p:txBody>
      </p:sp>
      <p:pic>
        <p:nvPicPr>
          <p:cNvPr id="38" name="Picture 37" descr="lock.png"/>
          <p:cNvPicPr>
            <a:picLocks noChangeAspect="1"/>
          </p:cNvPicPr>
          <p:nvPr/>
        </p:nvPicPr>
        <p:blipFill>
          <a:blip r:embed="rId7"/>
          <a:stretch>
            <a:fillRect/>
          </a:stretch>
        </p:blipFill>
        <p:spPr>
          <a:xfrm>
            <a:off x="7948864" y="4906962"/>
            <a:ext cx="134549" cy="195707"/>
          </a:xfrm>
          <a:prstGeom prst="rect">
            <a:avLst/>
          </a:prstGeom>
        </p:spPr>
      </p:pic>
      <p:sp>
        <p:nvSpPr>
          <p:cNvPr id="39" name="TextBox 38"/>
          <p:cNvSpPr txBox="1"/>
          <p:nvPr/>
        </p:nvSpPr>
        <p:spPr>
          <a:xfrm>
            <a:off x="812397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696444" y="4906962"/>
            <a:ext cx="134549" cy="195707"/>
          </a:xfrm>
          <a:prstGeom prst="rect">
            <a:avLst/>
          </a:prstGeom>
        </p:spPr>
      </p:pic>
      <p:sp>
        <p:nvSpPr>
          <p:cNvPr id="41" name="TextBox 40"/>
          <p:cNvSpPr txBox="1"/>
          <p:nvPr/>
        </p:nvSpPr>
        <p:spPr>
          <a:xfrm>
            <a:off x="887155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883854" cy="194310"/>
          </a:xfrm>
          <a:prstGeom prst="rect">
            <a:avLst/>
          </a:prstGeom>
          <a:noFill/>
        </p:spPr>
        <p:txBody>
          <a:bodyPr wrap="none" lIns="0" rIns="0" tIns="0" bIns="0">
            <a:spAutoFit/>
          </a:bodyPr>
          <a:lstStyle/>
          <a:p>
            <a:r>
              <a:rPr sz="1150" b="0">
                <a:solidFill>
                  <a:srgbClr val="2E2E2E"/>
                </a:solidFill>
                <a:latin typeface="Calibri"/>
              </a:rPr>
              <a:t>▪ 'Bulk foodservice packs' adds</a:t>
            </a:r>
          </a:p>
        </p:txBody>
      </p:sp>
      <p:pic>
        <p:nvPicPr>
          <p:cNvPr id="43" name="Picture 42" descr="lock.png"/>
          <p:cNvPicPr>
            <a:picLocks noChangeAspect="1"/>
          </p:cNvPicPr>
          <p:nvPr/>
        </p:nvPicPr>
        <p:blipFill>
          <a:blip r:embed="rId7"/>
          <a:stretch>
            <a:fillRect/>
          </a:stretch>
        </p:blipFill>
        <p:spPr>
          <a:xfrm>
            <a:off x="8138557" y="5134800"/>
            <a:ext cx="134549" cy="195707"/>
          </a:xfrm>
          <a:prstGeom prst="rect">
            <a:avLst/>
          </a:prstGeom>
        </p:spPr>
      </p:pic>
      <p:sp>
        <p:nvSpPr>
          <p:cNvPr id="44" name="TextBox 43"/>
          <p:cNvSpPr txBox="1"/>
          <p:nvPr/>
        </p:nvSpPr>
        <p:spPr>
          <a:xfrm>
            <a:off x="8313667"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886138" y="5134800"/>
            <a:ext cx="134549" cy="195707"/>
          </a:xfrm>
          <a:prstGeom prst="rect">
            <a:avLst/>
          </a:prstGeom>
        </p:spPr>
      </p:pic>
      <p:sp>
        <p:nvSpPr>
          <p:cNvPr id="46" name="TextBox 45"/>
          <p:cNvSpPr txBox="1"/>
          <p:nvPr/>
        </p:nvSpPr>
        <p:spPr>
          <a:xfrm>
            <a:off x="9061247"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Pack Configuration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Pack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Pack Configuration (MT)</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462830"/>
                <a:gridCol w="555412"/>
                <a:gridCol w="555412"/>
                <a:gridCol w="555412"/>
                <a:gridCol w="555412"/>
                <a:gridCol w="555412"/>
                <a:gridCol w="555412"/>
                <a:gridCol w="555412"/>
                <a:gridCol w="667902"/>
                <a:gridCol w="667902"/>
                <a:gridCol w="667902"/>
                <a:gridCol w="667902"/>
                <a:gridCol w="667902"/>
                <a:gridCol w="667902"/>
                <a:gridCol w="667902"/>
                <a:gridCol w="667902"/>
                <a:gridCol w="667902"/>
                <a:gridCol w="525375"/>
              </a:tblGrid>
              <a:tr h="246126">
                <a:tc>
                  <a:txBody>
                    <a:bodyPr wrap="none"/>
                    <a:lstStyle/>
                    <a:p>
                      <a:pPr algn="l"/>
                      <a:r>
                        <a:rPr sz="1100" b="1">
                          <a:solidFill>
                            <a:srgbClr val="0B2E4A"/>
                          </a:solidFill>
                          <a:latin typeface="Calibri"/>
                        </a:rPr>
                        <a:t>Pack Configuration</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8031">
                <a:tc>
                  <a:txBody>
                    <a:bodyPr wrap="none"/>
                    <a:lstStyle/>
                    <a:p>
                      <a:pPr algn="l"/>
                      <a:r>
                        <a:rPr sz="1100" b="1">
                          <a:solidFill>
                            <a:srgbClr val="2E2E2E"/>
                          </a:solidFill>
                          <a:latin typeface="Calibri"/>
                        </a:rPr>
                        <a:t>Single-muffin packs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Multipacks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8031">
                <a:tc>
                  <a:txBody>
                    <a:bodyPr wrap="none"/>
                    <a:lstStyle/>
                    <a:p>
                      <a:pPr algn="l"/>
                      <a:r>
                        <a:rPr sz="1100" b="1">
                          <a:solidFill>
                            <a:srgbClr val="2E2E2E"/>
                          </a:solidFill>
                          <a:latin typeface="Calibri"/>
                        </a:rPr>
                        <a:t>Bulk foodservice packs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Pack Configuration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0728" y="1713738"/>
            <a:ext cx="366712" cy="533400"/>
          </a:xfrm>
          <a:prstGeom prst="rect">
            <a:avLst/>
          </a:prstGeom>
        </p:spPr>
      </p:pic>
      <p:sp>
        <p:nvSpPr>
          <p:cNvPr id="21" name="TextBox 20"/>
          <p:cNvSpPr txBox="1"/>
          <p:nvPr/>
        </p:nvSpPr>
        <p:spPr>
          <a:xfrm>
            <a:off x="276225" y="3238500"/>
            <a:ext cx="2956123" cy="194310"/>
          </a:xfrm>
          <a:prstGeom prst="rect">
            <a:avLst/>
          </a:prstGeom>
          <a:noFill/>
        </p:spPr>
        <p:txBody>
          <a:bodyPr wrap="none" lIns="0" rIns="0" tIns="0" bIns="0">
            <a:spAutoFit/>
          </a:bodyPr>
          <a:lstStyle/>
          <a:p>
            <a:r>
              <a:rPr sz="1150" b="0">
                <a:solidFill>
                  <a:srgbClr val="2E2E2E"/>
                </a:solidFill>
                <a:latin typeface="Calibri"/>
              </a:rPr>
              <a:t>▪ 'Multipacks' is the largest pack configuration at</a:t>
            </a:r>
          </a:p>
        </p:txBody>
      </p:sp>
      <p:pic>
        <p:nvPicPr>
          <p:cNvPr id="22" name="Picture 21" descr="lock.png"/>
          <p:cNvPicPr>
            <a:picLocks noChangeAspect="1"/>
          </p:cNvPicPr>
          <p:nvPr/>
        </p:nvPicPr>
        <p:blipFill>
          <a:blip r:embed="rId4"/>
          <a:stretch>
            <a:fillRect/>
          </a:stretch>
        </p:blipFill>
        <p:spPr>
          <a:xfrm>
            <a:off x="3181502" y="3228276"/>
            <a:ext cx="134549" cy="195707"/>
          </a:xfrm>
          <a:prstGeom prst="rect">
            <a:avLst/>
          </a:prstGeom>
        </p:spPr>
      </p:pic>
      <p:sp>
        <p:nvSpPr>
          <p:cNvPr id="23" name="TextBox 22"/>
          <p:cNvSpPr txBox="1"/>
          <p:nvPr/>
        </p:nvSpPr>
        <p:spPr>
          <a:xfrm>
            <a:off x="3356611" y="32385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386344" y="3228276"/>
            <a:ext cx="134549" cy="195707"/>
          </a:xfrm>
          <a:prstGeom prst="rect">
            <a:avLst/>
          </a:prstGeom>
        </p:spPr>
      </p:pic>
      <p:sp>
        <p:nvSpPr>
          <p:cNvPr id="25" name="TextBox 24"/>
          <p:cNvSpPr txBox="1"/>
          <p:nvPr/>
        </p:nvSpPr>
        <p:spPr>
          <a:xfrm>
            <a:off x="4561453" y="32385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66337"/>
            <a:ext cx="1699294" cy="194310"/>
          </a:xfrm>
          <a:prstGeom prst="rect">
            <a:avLst/>
          </a:prstGeom>
          <a:noFill/>
        </p:spPr>
        <p:txBody>
          <a:bodyPr wrap="none" lIns="0" rIns="0" tIns="0" bIns="0">
            <a:spAutoFit/>
          </a:bodyPr>
          <a:lstStyle/>
          <a:p>
            <a:r>
              <a:rPr sz="1150" b="0">
                <a:solidFill>
                  <a:srgbClr val="2E2E2E"/>
                </a:solidFill>
                <a:latin typeface="Calibri"/>
              </a:rPr>
              <a:t>▪ 'Multipacks' grows fastest</a:t>
            </a:r>
          </a:p>
        </p:txBody>
      </p:sp>
      <p:pic>
        <p:nvPicPr>
          <p:cNvPr id="27" name="Picture 26" descr="lock.png"/>
          <p:cNvPicPr>
            <a:picLocks noChangeAspect="1"/>
          </p:cNvPicPr>
          <p:nvPr/>
        </p:nvPicPr>
        <p:blipFill>
          <a:blip r:embed="rId4"/>
          <a:stretch>
            <a:fillRect/>
          </a:stretch>
        </p:blipFill>
        <p:spPr>
          <a:xfrm>
            <a:off x="1924673" y="3456114"/>
            <a:ext cx="134549" cy="195707"/>
          </a:xfrm>
          <a:prstGeom prst="rect">
            <a:avLst/>
          </a:prstGeom>
        </p:spPr>
      </p:pic>
      <p:sp>
        <p:nvSpPr>
          <p:cNvPr id="28" name="TextBox 27"/>
          <p:cNvSpPr txBox="1"/>
          <p:nvPr/>
        </p:nvSpPr>
        <p:spPr>
          <a:xfrm>
            <a:off x="2099782"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208472" cy="194310"/>
          </a:xfrm>
          <a:prstGeom prst="rect">
            <a:avLst/>
          </a:prstGeom>
          <a:noFill/>
        </p:spPr>
        <p:txBody>
          <a:bodyPr wrap="none" lIns="0" rIns="0" tIns="0" bIns="0">
            <a:spAutoFit/>
          </a:bodyPr>
          <a:lstStyle/>
          <a:p>
            <a:r>
              <a:rPr sz="1150" b="0">
                <a:solidFill>
                  <a:srgbClr val="2E2E2E"/>
                </a:solidFill>
                <a:latin typeface="Calibri"/>
              </a:rPr>
              <a:t>▪ Share shifts toward 'Multipacks' (+</a:t>
            </a:r>
          </a:p>
        </p:txBody>
      </p:sp>
      <p:pic>
        <p:nvPicPr>
          <p:cNvPr id="30" name="Picture 29" descr="lock.png"/>
          <p:cNvPicPr>
            <a:picLocks noChangeAspect="1"/>
          </p:cNvPicPr>
          <p:nvPr/>
        </p:nvPicPr>
        <p:blipFill>
          <a:blip r:embed="rId4"/>
          <a:stretch>
            <a:fillRect/>
          </a:stretch>
        </p:blipFill>
        <p:spPr>
          <a:xfrm>
            <a:off x="2433851" y="3683952"/>
            <a:ext cx="134549" cy="195707"/>
          </a:xfrm>
          <a:prstGeom prst="rect">
            <a:avLst/>
          </a:prstGeom>
        </p:spPr>
      </p:pic>
      <p:sp>
        <p:nvSpPr>
          <p:cNvPr id="31" name="TextBox 30"/>
          <p:cNvSpPr txBox="1"/>
          <p:nvPr/>
        </p:nvSpPr>
        <p:spPr>
          <a:xfrm>
            <a:off x="2608961" y="3694175"/>
            <a:ext cx="2829470" cy="194310"/>
          </a:xfrm>
          <a:prstGeom prst="rect">
            <a:avLst/>
          </a:prstGeom>
          <a:noFill/>
        </p:spPr>
        <p:txBody>
          <a:bodyPr wrap="none" lIns="0" rIns="0" tIns="0" bIns="0">
            <a:spAutoFit/>
          </a:bodyPr>
          <a:lstStyle/>
          <a:p>
            <a:r>
              <a:rPr sz="1150" b="0">
                <a:solidFill>
                  <a:srgbClr val="2E2E2E"/>
                </a:solidFill>
                <a:latin typeface="Calibri"/>
              </a:rPr>
              <a:t>BPS) and away from 'Bulk foodservice packs' (-</a:t>
            </a:r>
          </a:p>
        </p:txBody>
      </p:sp>
      <p:pic>
        <p:nvPicPr>
          <p:cNvPr id="32" name="Picture 31" descr="lock.png"/>
          <p:cNvPicPr>
            <a:picLocks noChangeAspect="1"/>
          </p:cNvPicPr>
          <p:nvPr/>
        </p:nvPicPr>
        <p:blipFill>
          <a:blip r:embed="rId4"/>
          <a:stretch>
            <a:fillRect/>
          </a:stretch>
        </p:blipFill>
        <p:spPr>
          <a:xfrm>
            <a:off x="5387585" y="3683952"/>
            <a:ext cx="134549" cy="195707"/>
          </a:xfrm>
          <a:prstGeom prst="rect">
            <a:avLst/>
          </a:prstGeom>
        </p:spPr>
      </p:pic>
      <p:sp>
        <p:nvSpPr>
          <p:cNvPr id="33" name="TextBox 32"/>
          <p:cNvSpPr txBox="1"/>
          <p:nvPr/>
        </p:nvSpPr>
        <p:spPr>
          <a:xfrm>
            <a:off x="556269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911790"/>
            <a:ext cx="134549" cy="195707"/>
          </a:xfrm>
          <a:prstGeom prst="rect">
            <a:avLst/>
          </a:prstGeom>
        </p:spPr>
      </p:pic>
      <p:sp>
        <p:nvSpPr>
          <p:cNvPr id="36" name="TextBox 35"/>
          <p:cNvSpPr txBox="1"/>
          <p:nvPr/>
        </p:nvSpPr>
        <p:spPr>
          <a:xfrm>
            <a:off x="1965143"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911790"/>
            <a:ext cx="134549" cy="195707"/>
          </a:xfrm>
          <a:prstGeom prst="rect">
            <a:avLst/>
          </a:prstGeom>
        </p:spPr>
      </p:pic>
      <p:sp>
        <p:nvSpPr>
          <p:cNvPr id="38" name="TextBox 37"/>
          <p:cNvSpPr txBox="1"/>
          <p:nvPr/>
        </p:nvSpPr>
        <p:spPr>
          <a:xfrm>
            <a:off x="2291688" y="39220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Pack Configuration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Pack Configuration (US$ Mn)</a:t>
            </a:r>
          </a:p>
        </p:txBody>
      </p:sp>
      <p:graphicFrame>
        <p:nvGraphicFramePr>
          <p:cNvPr id="13" name="Table 12"/>
          <p:cNvGraphicFramePr>
            <a:graphicFrameLocks noGrp="1"/>
          </p:cNvGraphicFramePr>
          <p:nvPr/>
        </p:nvGraphicFramePr>
        <p:xfrm>
          <a:off x="152400" y="1238250"/>
          <a:ext cx="11887195" cy="1238250"/>
        </p:xfrm>
        <a:graphic>
          <a:graphicData uri="http://schemas.openxmlformats.org/drawingml/2006/table">
            <a:tbl>
              <a:tblPr>
                <a:tableStyleId>{5C22544A-7EE6-4342-B048-85BDC9FD1C3A}</a:tableStyleId>
              </a:tblPr>
              <a:tblGrid>
                <a:gridCol w="1609148"/>
                <a:gridCol w="604591"/>
                <a:gridCol w="604591"/>
                <a:gridCol w="604591"/>
                <a:gridCol w="604591"/>
                <a:gridCol w="604591"/>
                <a:gridCol w="604591"/>
                <a:gridCol w="604591"/>
                <a:gridCol w="604591"/>
                <a:gridCol w="604591"/>
                <a:gridCol w="604591"/>
                <a:gridCol w="604591"/>
                <a:gridCol w="604591"/>
                <a:gridCol w="604591"/>
                <a:gridCol w="604591"/>
                <a:gridCol w="604591"/>
                <a:gridCol w="604591"/>
                <a:gridCol w="604591"/>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Pack Configuration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13881" y="1713738"/>
            <a:ext cx="366712" cy="533400"/>
          </a:xfrm>
          <a:prstGeom prst="rect">
            <a:avLst/>
          </a:prstGeom>
        </p:spPr>
      </p:pic>
      <p:sp>
        <p:nvSpPr>
          <p:cNvPr id="21" name="TextBox 20"/>
          <p:cNvSpPr txBox="1"/>
          <p:nvPr/>
        </p:nvSpPr>
        <p:spPr>
          <a:xfrm>
            <a:off x="276225" y="3238500"/>
            <a:ext cx="2956123" cy="194310"/>
          </a:xfrm>
          <a:prstGeom prst="rect">
            <a:avLst/>
          </a:prstGeom>
          <a:noFill/>
        </p:spPr>
        <p:txBody>
          <a:bodyPr wrap="none" lIns="0" rIns="0" tIns="0" bIns="0">
            <a:spAutoFit/>
          </a:bodyPr>
          <a:lstStyle/>
          <a:p>
            <a:r>
              <a:rPr sz="1150" b="0">
                <a:solidFill>
                  <a:srgbClr val="2E2E2E"/>
                </a:solidFill>
                <a:latin typeface="Calibri"/>
              </a:rPr>
              <a:t>▪ 'Multipacks' is the largest pack configuration at</a:t>
            </a:r>
          </a:p>
        </p:txBody>
      </p:sp>
      <p:pic>
        <p:nvPicPr>
          <p:cNvPr id="22" name="Picture 21" descr="lock.png"/>
          <p:cNvPicPr>
            <a:picLocks noChangeAspect="1"/>
          </p:cNvPicPr>
          <p:nvPr/>
        </p:nvPicPr>
        <p:blipFill>
          <a:blip r:embed="rId4"/>
          <a:stretch>
            <a:fillRect/>
          </a:stretch>
        </p:blipFill>
        <p:spPr>
          <a:xfrm>
            <a:off x="3181502" y="3228276"/>
            <a:ext cx="134549" cy="195707"/>
          </a:xfrm>
          <a:prstGeom prst="rect">
            <a:avLst/>
          </a:prstGeom>
        </p:spPr>
      </p:pic>
      <p:sp>
        <p:nvSpPr>
          <p:cNvPr id="23" name="TextBox 22"/>
          <p:cNvSpPr txBox="1"/>
          <p:nvPr/>
        </p:nvSpPr>
        <p:spPr>
          <a:xfrm>
            <a:off x="3356611"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262544" y="3228276"/>
            <a:ext cx="134549" cy="195707"/>
          </a:xfrm>
          <a:prstGeom prst="rect">
            <a:avLst/>
          </a:prstGeom>
        </p:spPr>
      </p:pic>
      <p:sp>
        <p:nvSpPr>
          <p:cNvPr id="25" name="TextBox 24"/>
          <p:cNvSpPr txBox="1"/>
          <p:nvPr/>
        </p:nvSpPr>
        <p:spPr>
          <a:xfrm>
            <a:off x="4437653"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1699294" cy="194310"/>
          </a:xfrm>
          <a:prstGeom prst="rect">
            <a:avLst/>
          </a:prstGeom>
          <a:noFill/>
        </p:spPr>
        <p:txBody>
          <a:bodyPr wrap="none" lIns="0" rIns="0" tIns="0" bIns="0">
            <a:spAutoFit/>
          </a:bodyPr>
          <a:lstStyle/>
          <a:p>
            <a:r>
              <a:rPr sz="1150" b="0">
                <a:solidFill>
                  <a:srgbClr val="2E2E2E"/>
                </a:solidFill>
                <a:latin typeface="Calibri"/>
              </a:rPr>
              <a:t>▪ 'Multipacks' grows fastest</a:t>
            </a:r>
          </a:p>
        </p:txBody>
      </p:sp>
      <p:pic>
        <p:nvPicPr>
          <p:cNvPr id="27" name="Picture 26" descr="lock.png"/>
          <p:cNvPicPr>
            <a:picLocks noChangeAspect="1"/>
          </p:cNvPicPr>
          <p:nvPr/>
        </p:nvPicPr>
        <p:blipFill>
          <a:blip r:embed="rId4"/>
          <a:stretch>
            <a:fillRect/>
          </a:stretch>
        </p:blipFill>
        <p:spPr>
          <a:xfrm>
            <a:off x="1924673" y="3456114"/>
            <a:ext cx="134549" cy="195707"/>
          </a:xfrm>
          <a:prstGeom prst="rect">
            <a:avLst/>
          </a:prstGeom>
        </p:spPr>
      </p:pic>
      <p:sp>
        <p:nvSpPr>
          <p:cNvPr id="28" name="TextBox 27"/>
          <p:cNvSpPr txBox="1"/>
          <p:nvPr/>
        </p:nvSpPr>
        <p:spPr>
          <a:xfrm>
            <a:off x="2099782"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208472" cy="194310"/>
          </a:xfrm>
          <a:prstGeom prst="rect">
            <a:avLst/>
          </a:prstGeom>
          <a:noFill/>
        </p:spPr>
        <p:txBody>
          <a:bodyPr wrap="none" lIns="0" rIns="0" tIns="0" bIns="0">
            <a:spAutoFit/>
          </a:bodyPr>
          <a:lstStyle/>
          <a:p>
            <a:r>
              <a:rPr sz="1150" b="0">
                <a:solidFill>
                  <a:srgbClr val="2E2E2E"/>
                </a:solidFill>
                <a:latin typeface="Calibri"/>
              </a:rPr>
              <a:t>▪ Share shifts toward 'Multipacks' (+</a:t>
            </a:r>
          </a:p>
        </p:txBody>
      </p:sp>
      <p:pic>
        <p:nvPicPr>
          <p:cNvPr id="30" name="Picture 29" descr="lock.png"/>
          <p:cNvPicPr>
            <a:picLocks noChangeAspect="1"/>
          </p:cNvPicPr>
          <p:nvPr/>
        </p:nvPicPr>
        <p:blipFill>
          <a:blip r:embed="rId4"/>
          <a:stretch>
            <a:fillRect/>
          </a:stretch>
        </p:blipFill>
        <p:spPr>
          <a:xfrm>
            <a:off x="2433851" y="3683952"/>
            <a:ext cx="134549" cy="195707"/>
          </a:xfrm>
          <a:prstGeom prst="rect">
            <a:avLst/>
          </a:prstGeom>
        </p:spPr>
      </p:pic>
      <p:sp>
        <p:nvSpPr>
          <p:cNvPr id="31" name="TextBox 30"/>
          <p:cNvSpPr txBox="1"/>
          <p:nvPr/>
        </p:nvSpPr>
        <p:spPr>
          <a:xfrm>
            <a:off x="2608961" y="3694175"/>
            <a:ext cx="2829470" cy="194310"/>
          </a:xfrm>
          <a:prstGeom prst="rect">
            <a:avLst/>
          </a:prstGeom>
          <a:noFill/>
        </p:spPr>
        <p:txBody>
          <a:bodyPr wrap="none" lIns="0" rIns="0" tIns="0" bIns="0">
            <a:spAutoFit/>
          </a:bodyPr>
          <a:lstStyle/>
          <a:p>
            <a:r>
              <a:rPr sz="1150" b="0">
                <a:solidFill>
                  <a:srgbClr val="2E2E2E"/>
                </a:solidFill>
                <a:latin typeface="Calibri"/>
              </a:rPr>
              <a:t>BPS) and away from 'Bulk foodservice packs' (-</a:t>
            </a:r>
          </a:p>
        </p:txBody>
      </p:sp>
      <p:pic>
        <p:nvPicPr>
          <p:cNvPr id="32" name="Picture 31" descr="lock.png"/>
          <p:cNvPicPr>
            <a:picLocks noChangeAspect="1"/>
          </p:cNvPicPr>
          <p:nvPr/>
        </p:nvPicPr>
        <p:blipFill>
          <a:blip r:embed="rId4"/>
          <a:stretch>
            <a:fillRect/>
          </a:stretch>
        </p:blipFill>
        <p:spPr>
          <a:xfrm>
            <a:off x="5387585" y="3683952"/>
            <a:ext cx="134549" cy="195707"/>
          </a:xfrm>
          <a:prstGeom prst="rect">
            <a:avLst/>
          </a:prstGeom>
        </p:spPr>
      </p:pic>
      <p:sp>
        <p:nvSpPr>
          <p:cNvPr id="33" name="TextBox 32"/>
          <p:cNvSpPr txBox="1"/>
          <p:nvPr/>
        </p:nvSpPr>
        <p:spPr>
          <a:xfrm>
            <a:off x="556269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 Configuration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Pack Configuration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5596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5120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750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Bulk foodservice packs</a:t>
            </a:r>
          </a:p>
        </p:txBody>
      </p:sp>
      <p:sp>
        <p:nvSpPr>
          <p:cNvPr id="19" name="BPS Value 1"/>
          <p:cNvSpPr txBox="1"/>
          <p:nvPr/>
        </p:nvSpPr>
        <p:spPr>
          <a:xfrm>
            <a:off x="6896100" y="193691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0720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90244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2624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Single-muffin packs</a:t>
            </a:r>
          </a:p>
        </p:txBody>
      </p:sp>
      <p:sp>
        <p:nvSpPr>
          <p:cNvPr id="23" name="BPS Value 2"/>
          <p:cNvSpPr txBox="1"/>
          <p:nvPr/>
        </p:nvSpPr>
        <p:spPr>
          <a:xfrm>
            <a:off x="6896100" y="288815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90868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90391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2771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Multipacks</a:t>
            </a:r>
          </a:p>
        </p:txBody>
      </p:sp>
      <p:sp>
        <p:nvSpPr>
          <p:cNvPr id="27" name="BPS Value 3"/>
          <p:cNvSpPr txBox="1"/>
          <p:nvPr/>
        </p:nvSpPr>
        <p:spPr>
          <a:xfrm>
            <a:off x="6896100" y="488963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Pack Configuration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245555" cy="194310"/>
          </a:xfrm>
          <a:prstGeom prst="rect">
            <a:avLst/>
          </a:prstGeom>
          <a:noFill/>
        </p:spPr>
        <p:txBody>
          <a:bodyPr wrap="none" lIns="0" rIns="0" tIns="0" bIns="0">
            <a:spAutoFit/>
          </a:bodyPr>
          <a:lstStyle/>
          <a:p>
            <a:r>
              <a:rPr sz="1150" b="0">
                <a:solidFill>
                  <a:srgbClr val="2E2E2E"/>
                </a:solidFill>
                <a:latin typeface="Calibri"/>
              </a:rPr>
              <a:t>▪ 'Multipacks' gains the most share +</a:t>
            </a:r>
          </a:p>
        </p:txBody>
      </p:sp>
      <p:pic>
        <p:nvPicPr>
          <p:cNvPr id="35" name="Picture 34" descr="lock.png"/>
          <p:cNvPicPr>
            <a:picLocks noChangeAspect="1"/>
          </p:cNvPicPr>
          <p:nvPr/>
        </p:nvPicPr>
        <p:blipFill>
          <a:blip r:embed="rId5"/>
          <a:stretch>
            <a:fillRect/>
          </a:stretch>
        </p:blipFill>
        <p:spPr>
          <a:xfrm>
            <a:off x="10024259" y="1389951"/>
            <a:ext cx="134549" cy="195707"/>
          </a:xfrm>
          <a:prstGeom prst="rect">
            <a:avLst/>
          </a:prstGeom>
        </p:spPr>
      </p:pic>
      <p:sp>
        <p:nvSpPr>
          <p:cNvPr id="36" name="TextBox 35"/>
          <p:cNvSpPr txBox="1"/>
          <p:nvPr/>
        </p:nvSpPr>
        <p:spPr>
          <a:xfrm>
            <a:off x="10199369"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7" name="TextBox 36"/>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587004" cy="194310"/>
          </a:xfrm>
          <a:prstGeom prst="rect">
            <a:avLst/>
          </a:prstGeom>
          <a:noFill/>
        </p:spPr>
        <p:txBody>
          <a:bodyPr wrap="none" lIns="0" rIns="0" tIns="0" bIns="0">
            <a:spAutoFit/>
          </a:bodyPr>
          <a:lstStyle/>
          <a:p>
            <a:r>
              <a:rPr sz="1150" b="0">
                <a:solidFill>
                  <a:srgbClr val="2E2E2E"/>
                </a:solidFill>
                <a:latin typeface="Calibri"/>
              </a:rPr>
              <a:t>▪ 'Bulk foodservice packs' cedes the most -</a:t>
            </a:r>
          </a:p>
        </p:txBody>
      </p:sp>
      <p:pic>
        <p:nvPicPr>
          <p:cNvPr id="39" name="Picture 38" descr="lock.png"/>
          <p:cNvPicPr>
            <a:picLocks noChangeAspect="1"/>
          </p:cNvPicPr>
          <p:nvPr/>
        </p:nvPicPr>
        <p:blipFill>
          <a:blip r:embed="rId5"/>
          <a:stretch>
            <a:fillRect/>
          </a:stretch>
        </p:blipFill>
        <p:spPr>
          <a:xfrm>
            <a:off x="10365708" y="1793049"/>
            <a:ext cx="134549" cy="195707"/>
          </a:xfrm>
          <a:prstGeom prst="rect">
            <a:avLst/>
          </a:prstGeom>
        </p:spPr>
      </p:pic>
      <p:sp>
        <p:nvSpPr>
          <p:cNvPr id="40" name="TextBox 39"/>
          <p:cNvSpPr txBox="1"/>
          <p:nvPr/>
        </p:nvSpPr>
        <p:spPr>
          <a:xfrm>
            <a:off x="10540818"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1" name="TextBox 40"/>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3478423" cy="194310"/>
          </a:xfrm>
          <a:prstGeom prst="rect">
            <a:avLst/>
          </a:prstGeom>
          <a:noFill/>
        </p:spPr>
        <p:txBody>
          <a:bodyPr wrap="none" lIns="0" rIns="0" tIns="0" bIns="0">
            <a:spAutoFit/>
          </a:bodyPr>
          <a:lstStyle/>
          <a:p>
            <a:r>
              <a:rPr sz="1150" b="0">
                <a:solidFill>
                  <a:srgbClr val="2E2E2E"/>
                </a:solidFill>
                <a:latin typeface="Calibri"/>
              </a:rPr>
              <a:t>▪ 'Multipacks' is the fastest-growing pack configuration at</a:t>
            </a:r>
          </a:p>
        </p:txBody>
      </p:sp>
      <p:pic>
        <p:nvPicPr>
          <p:cNvPr id="43" name="Picture 42" descr="lock.png"/>
          <p:cNvPicPr>
            <a:picLocks noChangeAspect="1"/>
          </p:cNvPicPr>
          <p:nvPr/>
        </p:nvPicPr>
        <p:blipFill>
          <a:blip r:embed="rId5"/>
          <a:stretch>
            <a:fillRect/>
          </a:stretch>
        </p:blipFill>
        <p:spPr>
          <a:xfrm>
            <a:off x="11257127" y="2196147"/>
            <a:ext cx="134549" cy="195707"/>
          </a:xfrm>
          <a:prstGeom prst="rect">
            <a:avLst/>
          </a:prstGeom>
        </p:spPr>
      </p:pic>
      <p:sp>
        <p:nvSpPr>
          <p:cNvPr id="44" name="TextBox 43"/>
          <p:cNvSpPr txBox="1"/>
          <p:nvPr/>
        </p:nvSpPr>
        <p:spPr>
          <a:xfrm>
            <a:off x="11432236"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5" name="TextBox 44"/>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6" name="TextBox 45"/>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7" name="Picture 46" descr="lock.png"/>
          <p:cNvPicPr>
            <a:picLocks noChangeAspect="1"/>
          </p:cNvPicPr>
          <p:nvPr/>
        </p:nvPicPr>
        <p:blipFill>
          <a:blip r:embed="rId5"/>
          <a:stretch>
            <a:fillRect/>
          </a:stretch>
        </p:blipFill>
        <p:spPr>
          <a:xfrm>
            <a:off x="9327669" y="2599245"/>
            <a:ext cx="134549" cy="195707"/>
          </a:xfrm>
          <a:prstGeom prst="rect">
            <a:avLst/>
          </a:prstGeom>
        </p:spPr>
      </p:pic>
      <p:sp>
        <p:nvSpPr>
          <p:cNvPr id="48" name="TextBox 47"/>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9" name="Picture 48" descr="lock.png"/>
          <p:cNvPicPr>
            <a:picLocks noChangeAspect="1"/>
          </p:cNvPicPr>
          <p:nvPr/>
        </p:nvPicPr>
        <p:blipFill>
          <a:blip r:embed="rId5"/>
          <a:stretch>
            <a:fillRect/>
          </a:stretch>
        </p:blipFill>
        <p:spPr>
          <a:xfrm>
            <a:off x="9654215" y="2599245"/>
            <a:ext cx="134549" cy="195707"/>
          </a:xfrm>
          <a:prstGeom prst="rect">
            <a:avLst/>
          </a:prstGeom>
        </p:spPr>
      </p:pic>
      <p:sp>
        <p:nvSpPr>
          <p:cNvPr id="50" name="TextBox 49"/>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1" name="TextBox 50"/>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2" name="TextBox 51"/>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3"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Pack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Pack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Pack Configuration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Single-muffin packs</a:t>
            </a:r>
          </a:p>
        </p:txBody>
      </p:sp>
      <p:sp>
        <p:nvSpPr>
          <p:cNvPr id="33" name="Rectangle 32"/>
          <p:cNvSpPr/>
          <p:nvPr/>
        </p:nvSpPr>
        <p:spPr>
          <a:xfrm>
            <a:off x="185737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Multipacks</a:t>
            </a:r>
          </a:p>
        </p:txBody>
      </p:sp>
      <p:sp>
        <p:nvSpPr>
          <p:cNvPr id="49" name="Rectangle 48"/>
          <p:cNvSpPr/>
          <p:nvPr/>
        </p:nvSpPr>
        <p:spPr>
          <a:xfrm>
            <a:off x="185737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Bulk foodservice packs</a:t>
            </a:r>
          </a:p>
        </p:txBody>
      </p:sp>
      <p:sp>
        <p:nvSpPr>
          <p:cNvPr id="65" name="Rectangle 64"/>
          <p:cNvSpPr/>
          <p:nvPr/>
        </p:nvSpPr>
        <p:spPr>
          <a:xfrm>
            <a:off x="1857375" y="538162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789268"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Pack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Pack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Pack Configuration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Single-muffin packs</a:t>
            </a:r>
          </a:p>
        </p:txBody>
      </p:sp>
      <p:sp>
        <p:nvSpPr>
          <p:cNvPr id="33" name="Rectangle 32"/>
          <p:cNvSpPr/>
          <p:nvPr/>
        </p:nvSpPr>
        <p:spPr>
          <a:xfrm>
            <a:off x="185737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Multipacks</a:t>
            </a:r>
          </a:p>
        </p:txBody>
      </p:sp>
      <p:sp>
        <p:nvSpPr>
          <p:cNvPr id="49" name="Rectangle 48"/>
          <p:cNvSpPr/>
          <p:nvPr/>
        </p:nvSpPr>
        <p:spPr>
          <a:xfrm>
            <a:off x="185737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Bulk foodservice packs</a:t>
            </a:r>
          </a:p>
        </p:txBody>
      </p:sp>
      <p:sp>
        <p:nvSpPr>
          <p:cNvPr id="65" name="Rectangle 64"/>
          <p:cNvSpPr/>
          <p:nvPr/>
        </p:nvSpPr>
        <p:spPr>
          <a:xfrm>
            <a:off x="185737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789268" y="1589913"/>
            <a:ext cx="366712" cy="533400"/>
          </a:xfrm>
          <a:prstGeom prst="rect">
            <a:avLst/>
          </a:prstGeom>
        </p:spPr>
      </p:pic>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Multipack Wrapping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Multipack Wrapping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Multipack Wrapping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Multipack Wrapping,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Multipack Wrapping segment categorizes the market by multipack wrapping.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Individually wrapped muffins with…</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Shared pack without individual wr…</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Multipack Wrapping split shows how demand is distributed across multipack wrapping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1_959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2_970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2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63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_383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43324" cy="186689"/>
          </a:xfrm>
          <a:prstGeom prst="rect">
            <a:avLst/>
          </a:prstGeom>
          <a:noFill/>
        </p:spPr>
        <p:txBody>
          <a:bodyPr wrap="none" lIns="0" rIns="0" tIns="0" bIns="0">
            <a:spAutoFit/>
          </a:bodyPr>
          <a:lstStyle/>
          <a:p>
            <a:r>
              <a:rPr sz="1100" b="0">
                <a:solidFill>
                  <a:srgbClr val="2E2E2E"/>
                </a:solidFill>
                <a:latin typeface="Calibri"/>
              </a:rPr>
              <a:t>▪ 'Individually wrapped muffins within an outer</a:t>
            </a:r>
          </a:p>
        </p:txBody>
      </p:sp>
      <p:sp>
        <p:nvSpPr>
          <p:cNvPr id="59" name="TextBox 58"/>
          <p:cNvSpPr txBox="1"/>
          <p:nvPr/>
        </p:nvSpPr>
        <p:spPr>
          <a:xfrm>
            <a:off x="485775" y="4397077"/>
            <a:ext cx="2144414" cy="186689"/>
          </a:xfrm>
          <a:prstGeom prst="rect">
            <a:avLst/>
          </a:prstGeom>
          <a:noFill/>
        </p:spPr>
        <p:txBody>
          <a:bodyPr wrap="none" lIns="0" rIns="0" tIns="0" bIns="0">
            <a:spAutoFit/>
          </a:bodyPr>
          <a:lstStyle/>
          <a:p>
            <a:r>
              <a:rPr sz="1100" b="0">
                <a:solidFill>
                  <a:srgbClr val="2E2E2E"/>
                </a:solidFill>
                <a:latin typeface="Calibri"/>
              </a:rPr>
              <a:t>pack' holds the largest share in 2026</a:t>
            </a:r>
          </a:p>
        </p:txBody>
      </p:sp>
      <p:pic>
        <p:nvPicPr>
          <p:cNvPr id="60" name="Picture 59" descr="lock.png"/>
          <p:cNvPicPr>
            <a:picLocks noChangeAspect="1"/>
          </p:cNvPicPr>
          <p:nvPr/>
        </p:nvPicPr>
        <p:blipFill>
          <a:blip r:embed="rId10"/>
          <a:stretch>
            <a:fillRect/>
          </a:stretch>
        </p:blipFill>
        <p:spPr>
          <a:xfrm>
            <a:off x="2578241" y="4387298"/>
            <a:ext cx="128699" cy="187198"/>
          </a:xfrm>
          <a:prstGeom prst="rect">
            <a:avLst/>
          </a:prstGeom>
        </p:spPr>
      </p:pic>
      <p:sp>
        <p:nvSpPr>
          <p:cNvPr id="61" name="TextBox 60"/>
          <p:cNvSpPr txBox="1"/>
          <p:nvPr/>
        </p:nvSpPr>
        <p:spPr>
          <a:xfrm>
            <a:off x="2745737" y="439707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62" name="TextBox 61"/>
          <p:cNvSpPr txBox="1"/>
          <p:nvPr/>
        </p:nvSpPr>
        <p:spPr>
          <a:xfrm>
            <a:off x="485775" y="456471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63" name="TextBox 62"/>
          <p:cNvSpPr txBox="1"/>
          <p:nvPr/>
        </p:nvSpPr>
        <p:spPr>
          <a:xfrm>
            <a:off x="485775" y="4782649"/>
            <a:ext cx="2743324" cy="186689"/>
          </a:xfrm>
          <a:prstGeom prst="rect">
            <a:avLst/>
          </a:prstGeom>
          <a:noFill/>
        </p:spPr>
        <p:txBody>
          <a:bodyPr wrap="none" lIns="0" rIns="0" tIns="0" bIns="0">
            <a:spAutoFit/>
          </a:bodyPr>
          <a:lstStyle/>
          <a:p>
            <a:r>
              <a:rPr sz="1100" b="0">
                <a:solidFill>
                  <a:srgbClr val="2E2E2E"/>
                </a:solidFill>
                <a:latin typeface="Calibri"/>
              </a:rPr>
              <a:t>▪ 'Individually wrapped muffins within an outer</a:t>
            </a:r>
          </a:p>
        </p:txBody>
      </p:sp>
      <p:sp>
        <p:nvSpPr>
          <p:cNvPr id="64" name="TextBox 63"/>
          <p:cNvSpPr txBox="1"/>
          <p:nvPr/>
        </p:nvSpPr>
        <p:spPr>
          <a:xfrm>
            <a:off x="485775" y="4950289"/>
            <a:ext cx="2538685" cy="186689"/>
          </a:xfrm>
          <a:prstGeom prst="rect">
            <a:avLst/>
          </a:prstGeom>
          <a:noFill/>
        </p:spPr>
        <p:txBody>
          <a:bodyPr wrap="none" lIns="0" rIns="0" tIns="0" bIns="0">
            <a:spAutoFit/>
          </a:bodyPr>
          <a:lstStyle/>
          <a:p>
            <a:r>
              <a:rPr sz="1100" b="0">
                <a:solidFill>
                  <a:srgbClr val="2E2E2E"/>
                </a:solidFill>
                <a:latin typeface="Calibri"/>
              </a:rPr>
              <a:t>pack' is the fastest-growing sub-segment at</a:t>
            </a:r>
          </a:p>
        </p:txBody>
      </p:sp>
      <p:pic>
        <p:nvPicPr>
          <p:cNvPr id="65" name="Picture 64" descr="lock.png"/>
          <p:cNvPicPr>
            <a:picLocks noChangeAspect="1"/>
          </p:cNvPicPr>
          <p:nvPr/>
        </p:nvPicPr>
        <p:blipFill>
          <a:blip r:embed="rId10"/>
          <a:stretch>
            <a:fillRect/>
          </a:stretch>
        </p:blipFill>
        <p:spPr>
          <a:xfrm>
            <a:off x="2972511" y="4940509"/>
            <a:ext cx="128699" cy="187198"/>
          </a:xfrm>
          <a:prstGeom prst="rect">
            <a:avLst/>
          </a:prstGeom>
        </p:spPr>
      </p:pic>
      <p:sp>
        <p:nvSpPr>
          <p:cNvPr id="66" name="TextBox 65"/>
          <p:cNvSpPr txBox="1"/>
          <p:nvPr/>
        </p:nvSpPr>
        <p:spPr>
          <a:xfrm>
            <a:off x="485775" y="511792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7" name="TextBox 66"/>
          <p:cNvSpPr txBox="1"/>
          <p:nvPr/>
        </p:nvSpPr>
        <p:spPr>
          <a:xfrm>
            <a:off x="485775" y="533586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8" name="Picture 67" descr="lock.png"/>
          <p:cNvPicPr>
            <a:picLocks noChangeAspect="1"/>
          </p:cNvPicPr>
          <p:nvPr/>
        </p:nvPicPr>
        <p:blipFill>
          <a:blip r:embed="rId10"/>
          <a:stretch>
            <a:fillRect/>
          </a:stretch>
        </p:blipFill>
        <p:spPr>
          <a:xfrm>
            <a:off x="2240451" y="5326081"/>
            <a:ext cx="128699" cy="187198"/>
          </a:xfrm>
          <a:prstGeom prst="rect">
            <a:avLst/>
          </a:prstGeom>
        </p:spPr>
      </p:pic>
      <p:sp>
        <p:nvSpPr>
          <p:cNvPr id="69" name="TextBox 68"/>
          <p:cNvSpPr txBox="1"/>
          <p:nvPr/>
        </p:nvSpPr>
        <p:spPr>
          <a:xfrm>
            <a:off x="2407947" y="533586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0" name="Picture 69" descr="lock.png"/>
          <p:cNvPicPr>
            <a:picLocks noChangeAspect="1"/>
          </p:cNvPicPr>
          <p:nvPr/>
        </p:nvPicPr>
        <p:blipFill>
          <a:blip r:embed="rId10"/>
          <a:stretch>
            <a:fillRect/>
          </a:stretch>
        </p:blipFill>
        <p:spPr>
          <a:xfrm>
            <a:off x="2552799" y="5326081"/>
            <a:ext cx="128699" cy="187198"/>
          </a:xfrm>
          <a:prstGeom prst="rect">
            <a:avLst/>
          </a:prstGeom>
        </p:spPr>
      </p:pic>
      <p:sp>
        <p:nvSpPr>
          <p:cNvPr id="71" name="TextBox 70"/>
          <p:cNvSpPr txBox="1"/>
          <p:nvPr/>
        </p:nvSpPr>
        <p:spPr>
          <a:xfrm>
            <a:off x="2720294" y="533586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2" name="TextBox 71"/>
          <p:cNvSpPr txBox="1"/>
          <p:nvPr/>
        </p:nvSpPr>
        <p:spPr>
          <a:xfrm>
            <a:off x="485775" y="550350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3" name="TextBox 72"/>
          <p:cNvSpPr txBox="1"/>
          <p:nvPr/>
        </p:nvSpPr>
        <p:spPr>
          <a:xfrm>
            <a:off x="485775" y="5721433"/>
            <a:ext cx="2914650" cy="186689"/>
          </a:xfrm>
          <a:prstGeom prst="rect">
            <a:avLst/>
          </a:prstGeom>
          <a:noFill/>
        </p:spPr>
        <p:txBody>
          <a:bodyPr wrap="none" lIns="0" rIns="0" tIns="0" bIns="0">
            <a:spAutoFit/>
          </a:bodyPr>
          <a:lstStyle/>
          <a:p>
            <a:r>
              <a:rPr sz="1100" b="0">
                <a:solidFill>
                  <a:srgbClr val="2E2E2E"/>
                </a:solidFill>
                <a:latin typeface="Calibri"/>
              </a:rPr>
              <a:t>▪ 2 sub-segments make up the multipack wrapping</a:t>
            </a:r>
          </a:p>
        </p:txBody>
      </p:sp>
      <p:sp>
        <p:nvSpPr>
          <p:cNvPr id="74" name="TextBox 73"/>
          <p:cNvSpPr txBox="1"/>
          <p:nvPr/>
        </p:nvSpPr>
        <p:spPr>
          <a:xfrm>
            <a:off x="485775" y="588907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5" name="TextBox 74"/>
          <p:cNvSpPr txBox="1"/>
          <p:nvPr/>
        </p:nvSpPr>
        <p:spPr>
          <a:xfrm>
            <a:off x="3838575" y="4229437"/>
            <a:ext cx="3161605" cy="186689"/>
          </a:xfrm>
          <a:prstGeom prst="rect">
            <a:avLst/>
          </a:prstGeom>
          <a:noFill/>
        </p:spPr>
        <p:txBody>
          <a:bodyPr wrap="none" lIns="0" rIns="0" tIns="0" bIns="0">
            <a:spAutoFit/>
          </a:bodyPr>
          <a:lstStyle/>
          <a:p>
            <a:r>
              <a:rPr sz="1100" b="1">
                <a:solidFill>
                  <a:srgbClr val="0B2E4A"/>
                </a:solidFill>
                <a:latin typeface="Calibri"/>
              </a:rPr>
              <a:t>● Individually wrapped muffins within an outer pack:</a:t>
            </a:r>
          </a:p>
        </p:txBody>
      </p:sp>
      <p:pic>
        <p:nvPicPr>
          <p:cNvPr id="76" name="Picture 75" descr="lock.png"/>
          <p:cNvPicPr>
            <a:picLocks noChangeAspect="1"/>
          </p:cNvPicPr>
          <p:nvPr/>
        </p:nvPicPr>
        <p:blipFill>
          <a:blip r:embed="rId10"/>
          <a:stretch>
            <a:fillRect/>
          </a:stretch>
        </p:blipFill>
        <p:spPr>
          <a:xfrm>
            <a:off x="6948232" y="4219658"/>
            <a:ext cx="128699" cy="187198"/>
          </a:xfrm>
          <a:prstGeom prst="rect">
            <a:avLst/>
          </a:prstGeom>
        </p:spPr>
      </p:pic>
      <p:sp>
        <p:nvSpPr>
          <p:cNvPr id="77" name="TextBox 76"/>
          <p:cNvSpPr txBox="1"/>
          <p:nvPr/>
        </p:nvSpPr>
        <p:spPr>
          <a:xfrm>
            <a:off x="7115727" y="4229437"/>
            <a:ext cx="510852" cy="186689"/>
          </a:xfrm>
          <a:prstGeom prst="rect">
            <a:avLst/>
          </a:prstGeom>
          <a:noFill/>
        </p:spPr>
        <p:txBody>
          <a:bodyPr wrap="none" lIns="0" rIns="0" tIns="0" bIns="0">
            <a:spAutoFit/>
          </a:bodyPr>
          <a:lstStyle/>
          <a:p>
            <a:r>
              <a:rPr sz="1100" b="1">
                <a:solidFill>
                  <a:srgbClr val="0B2E4A"/>
                </a:solidFill>
                <a:latin typeface="Calibri"/>
              </a:rPr>
              <a:t>of 2026</a:t>
            </a:r>
          </a:p>
        </p:txBody>
      </p:sp>
      <p:sp>
        <p:nvSpPr>
          <p:cNvPr id="78" name="TextBox 77"/>
          <p:cNvSpPr txBox="1"/>
          <p:nvPr/>
        </p:nvSpPr>
        <p:spPr>
          <a:xfrm>
            <a:off x="3838575" y="4397077"/>
            <a:ext cx="460102" cy="186689"/>
          </a:xfrm>
          <a:prstGeom prst="rect">
            <a:avLst/>
          </a:prstGeom>
          <a:noFill/>
        </p:spPr>
        <p:txBody>
          <a:bodyPr wrap="none" lIns="0" rIns="0" tIns="0" bIns="0">
            <a:spAutoFit/>
          </a:bodyPr>
          <a:lstStyle/>
          <a:p>
            <a:r>
              <a:rPr sz="1100" b="1">
                <a:solidFill>
                  <a:srgbClr val="0B2E4A"/>
                </a:solidFill>
                <a:latin typeface="Calibri"/>
              </a:rPr>
              <a:t>value ·</a:t>
            </a:r>
          </a:p>
        </p:txBody>
      </p:sp>
      <p:pic>
        <p:nvPicPr>
          <p:cNvPr id="79" name="Picture 78" descr="lock.png"/>
          <p:cNvPicPr>
            <a:picLocks noChangeAspect="1"/>
          </p:cNvPicPr>
          <p:nvPr/>
        </p:nvPicPr>
        <p:blipFill>
          <a:blip r:embed="rId10"/>
          <a:stretch>
            <a:fillRect/>
          </a:stretch>
        </p:blipFill>
        <p:spPr>
          <a:xfrm>
            <a:off x="4246728" y="4387298"/>
            <a:ext cx="128699" cy="187198"/>
          </a:xfrm>
          <a:prstGeom prst="rect">
            <a:avLst/>
          </a:prstGeom>
        </p:spPr>
      </p:pic>
      <p:sp>
        <p:nvSpPr>
          <p:cNvPr id="80" name="TextBox 79"/>
          <p:cNvSpPr txBox="1"/>
          <p:nvPr/>
        </p:nvSpPr>
        <p:spPr>
          <a:xfrm>
            <a:off x="4414224" y="4397077"/>
            <a:ext cx="1533201" cy="186689"/>
          </a:xfrm>
          <a:prstGeom prst="rect">
            <a:avLst/>
          </a:prstGeom>
          <a:noFill/>
        </p:spPr>
        <p:txBody>
          <a:bodyPr wrap="none" lIns="0" rIns="0" tIns="0" bIns="0">
            <a:spAutoFit/>
          </a:bodyPr>
          <a:lstStyle/>
          <a:p>
            <a:r>
              <a:rPr sz="1100" b="1">
                <a:solidFill>
                  <a:srgbClr val="0B2E4A"/>
                </a:solidFill>
                <a:latin typeface="Calibri"/>
              </a:rPr>
              <a:t>CAGR leads the segment.</a:t>
            </a:r>
          </a:p>
        </p:txBody>
      </p:sp>
      <p:sp>
        <p:nvSpPr>
          <p:cNvPr id="81" name="TextBox 80"/>
          <p:cNvSpPr txBox="1"/>
          <p:nvPr/>
        </p:nvSpPr>
        <p:spPr>
          <a:xfrm>
            <a:off x="3838575" y="4615009"/>
            <a:ext cx="2547689" cy="186689"/>
          </a:xfrm>
          <a:prstGeom prst="rect">
            <a:avLst/>
          </a:prstGeom>
          <a:noFill/>
        </p:spPr>
        <p:txBody>
          <a:bodyPr wrap="none" lIns="0" rIns="0" tIns="0" bIns="0">
            <a:spAutoFit/>
          </a:bodyPr>
          <a:lstStyle/>
          <a:p>
            <a:r>
              <a:rPr sz="1100" b="0">
                <a:solidFill>
                  <a:srgbClr val="2E2E2E"/>
                </a:solidFill>
                <a:latin typeface="Calibri"/>
              </a:rPr>
              <a:t>● Shared pack without individual wrapping:</a:t>
            </a:r>
          </a:p>
        </p:txBody>
      </p:sp>
      <p:pic>
        <p:nvPicPr>
          <p:cNvPr id="82" name="Picture 81" descr="lock.png"/>
          <p:cNvPicPr>
            <a:picLocks noChangeAspect="1"/>
          </p:cNvPicPr>
          <p:nvPr/>
        </p:nvPicPr>
        <p:blipFill>
          <a:blip r:embed="rId10"/>
          <a:stretch>
            <a:fillRect/>
          </a:stretch>
        </p:blipFill>
        <p:spPr>
          <a:xfrm>
            <a:off x="6334316" y="4605230"/>
            <a:ext cx="128699" cy="187198"/>
          </a:xfrm>
          <a:prstGeom prst="rect">
            <a:avLst/>
          </a:prstGeom>
        </p:spPr>
      </p:pic>
      <p:sp>
        <p:nvSpPr>
          <p:cNvPr id="83" name="TextBox 82"/>
          <p:cNvSpPr txBox="1"/>
          <p:nvPr/>
        </p:nvSpPr>
        <p:spPr>
          <a:xfrm>
            <a:off x="6501811"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7361262" y="4605230"/>
            <a:ext cx="128699" cy="187198"/>
          </a:xfrm>
          <a:prstGeom prst="rect">
            <a:avLst/>
          </a:prstGeom>
        </p:spPr>
      </p:pic>
      <p:sp>
        <p:nvSpPr>
          <p:cNvPr id="85" name="TextBox 84"/>
          <p:cNvSpPr txBox="1"/>
          <p:nvPr/>
        </p:nvSpPr>
        <p:spPr>
          <a:xfrm>
            <a:off x="3838575" y="478264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6" name="TextBox 85"/>
          <p:cNvSpPr txBox="1"/>
          <p:nvPr/>
        </p:nvSpPr>
        <p:spPr>
          <a:xfrm>
            <a:off x="8524875" y="5842641"/>
            <a:ext cx="3036850" cy="194310"/>
          </a:xfrm>
          <a:prstGeom prst="rect">
            <a:avLst/>
          </a:prstGeom>
          <a:noFill/>
        </p:spPr>
        <p:txBody>
          <a:bodyPr wrap="none" lIns="0" rIns="0" tIns="0" bIns="0">
            <a:spAutoFit/>
          </a:bodyPr>
          <a:lstStyle/>
          <a:p>
            <a:r>
              <a:rPr sz="1150" b="1">
                <a:solidFill>
                  <a:srgbClr val="0B2E4A"/>
                </a:solidFill>
                <a:latin typeface="Calibri"/>
              </a:rPr>
              <a:t>The Multipack Wrapping segment is projected to</a:t>
            </a:r>
          </a:p>
        </p:txBody>
      </p:sp>
      <p:sp>
        <p:nvSpPr>
          <p:cNvPr id="87" name="TextBox 8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88" name="Picture 87" descr="lock.png"/>
          <p:cNvPicPr>
            <a:picLocks noChangeAspect="1"/>
          </p:cNvPicPr>
          <p:nvPr/>
        </p:nvPicPr>
        <p:blipFill>
          <a:blip r:embed="rId10"/>
          <a:stretch>
            <a:fillRect/>
          </a:stretch>
        </p:blipFill>
        <p:spPr>
          <a:xfrm>
            <a:off x="9651852" y="6007677"/>
            <a:ext cx="134549" cy="195707"/>
          </a:xfrm>
          <a:prstGeom prst="rect">
            <a:avLst/>
          </a:prstGeom>
        </p:spPr>
      </p:pic>
      <p:sp>
        <p:nvSpPr>
          <p:cNvPr id="89" name="TextBox 8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Multipack Wrapping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Multipack Wrapping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Multipack Wrapping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Multipack Wrapping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7451650" cy="186689"/>
          </a:xfrm>
          <a:prstGeom prst="rect">
            <a:avLst/>
          </a:prstGeom>
          <a:noFill/>
        </p:spPr>
        <p:txBody>
          <a:bodyPr wrap="none" lIns="0" rIns="0" tIns="0" bIns="0">
            <a:spAutoFit/>
          </a:bodyPr>
          <a:lstStyle/>
          <a:p>
            <a:r>
              <a:rPr sz="1100" b="0">
                <a:solidFill>
                  <a:srgbClr val="2E2E2E"/>
                </a:solidFill>
                <a:latin typeface="Calibri"/>
              </a:rPr>
              <a:t>Between 2026 and 2036, 'Individually wrapped muffins within an outer pack' gains the most share in the North America market (+</a:t>
            </a:r>
          </a:p>
        </p:txBody>
      </p:sp>
      <p:pic>
        <p:nvPicPr>
          <p:cNvPr id="21" name="Picture 20" descr="lock.png"/>
          <p:cNvPicPr>
            <a:picLocks noChangeAspect="1"/>
          </p:cNvPicPr>
          <p:nvPr/>
        </p:nvPicPr>
        <p:blipFill>
          <a:blip r:embed="rId6"/>
          <a:stretch>
            <a:fillRect/>
          </a:stretch>
        </p:blipFill>
        <p:spPr>
          <a:xfrm>
            <a:off x="7656877" y="5851905"/>
            <a:ext cx="128699" cy="187198"/>
          </a:xfrm>
          <a:prstGeom prst="rect">
            <a:avLst/>
          </a:prstGeom>
        </p:spPr>
      </p:pic>
      <p:sp>
        <p:nvSpPr>
          <p:cNvPr id="22" name="TextBox 21"/>
          <p:cNvSpPr txBox="1"/>
          <p:nvPr/>
        </p:nvSpPr>
        <p:spPr>
          <a:xfrm>
            <a:off x="7824373" y="5861685"/>
            <a:ext cx="3439368" cy="186689"/>
          </a:xfrm>
          <a:prstGeom prst="rect">
            <a:avLst/>
          </a:prstGeom>
          <a:noFill/>
        </p:spPr>
        <p:txBody>
          <a:bodyPr wrap="none" lIns="0" rIns="0" tIns="0" bIns="0">
            <a:spAutoFit/>
          </a:bodyPr>
          <a:lstStyle/>
          <a:p>
            <a:r>
              <a:rPr sz="1100" b="0">
                <a:solidFill>
                  <a:srgbClr val="2E2E2E"/>
                </a:solidFill>
                <a:latin typeface="Calibri"/>
              </a:rPr>
              <a:t>BPS) while 'Shared pack without individual wrapping' cedes</a:t>
            </a:r>
          </a:p>
        </p:txBody>
      </p:sp>
      <p:pic>
        <p:nvPicPr>
          <p:cNvPr id="23" name="Picture 22" descr="lock.png"/>
          <p:cNvPicPr>
            <a:picLocks noChangeAspect="1"/>
          </p:cNvPicPr>
          <p:nvPr/>
        </p:nvPicPr>
        <p:blipFill>
          <a:blip r:embed="rId6"/>
          <a:stretch>
            <a:fillRect/>
          </a:stretch>
        </p:blipFill>
        <p:spPr>
          <a:xfrm>
            <a:off x="11211792" y="5851905"/>
            <a:ext cx="128699" cy="187198"/>
          </a:xfrm>
          <a:prstGeom prst="rect">
            <a:avLst/>
          </a:prstGeom>
        </p:spPr>
      </p:pic>
      <p:sp>
        <p:nvSpPr>
          <p:cNvPr id="24" name="TextBox 23"/>
          <p:cNvSpPr txBox="1"/>
          <p:nvPr/>
        </p:nvSpPr>
        <p:spPr>
          <a:xfrm>
            <a:off x="11379288" y="5861685"/>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25" name="TextBox 24"/>
          <p:cNvSpPr txBox="1"/>
          <p:nvPr/>
        </p:nvSpPr>
        <p:spPr>
          <a:xfrm>
            <a:off x="257175" y="6029325"/>
            <a:ext cx="4376869" cy="186689"/>
          </a:xfrm>
          <a:prstGeom prst="rect">
            <a:avLst/>
          </a:prstGeom>
          <a:noFill/>
        </p:spPr>
        <p:txBody>
          <a:bodyPr wrap="none" lIns="0" rIns="0" tIns="0" bIns="0">
            <a:spAutoFit/>
          </a:bodyPr>
          <a:lstStyle/>
          <a:p>
            <a:r>
              <a:rPr sz="1100" b="0">
                <a:solidFill>
                  <a:srgbClr val="2E2E2E"/>
                </a:solidFill>
                <a:latin typeface="Calibri"/>
              </a:rPr>
              <a:t>Bubbles right of the CAGR-Index line grow 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Multipack Wrapping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Individually wrapped muffins within an outer pack</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Shared pack without individual wrapping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Multipack Wrapping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Multipack Wrapping,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038350"/>
          </a:xfrm>
          <a:prstGeom prst="roundRect">
            <a:avLst>
              <a:gd name="adj" fmla="val 37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Multipack Wrapping (MT)</a:t>
            </a:r>
          </a:p>
        </p:txBody>
      </p:sp>
      <p:graphicFrame>
        <p:nvGraphicFramePr>
          <p:cNvPr id="13" name="Table 12"/>
          <p:cNvGraphicFramePr>
            <a:graphicFrameLocks noGrp="1"/>
          </p:cNvGraphicFramePr>
          <p:nvPr/>
        </p:nvGraphicFramePr>
        <p:xfrm>
          <a:off x="152400" y="1238250"/>
          <a:ext cx="11887208" cy="1571623"/>
        </p:xfrm>
        <a:graphic>
          <a:graphicData uri="http://schemas.openxmlformats.org/drawingml/2006/table">
            <a:tbl>
              <a:tblPr>
                <a:tableStyleId>{5C22544A-7EE6-4342-B048-85BDC9FD1C3A}</a:tableStyleId>
              </a:tblPr>
              <a:tblGrid>
                <a:gridCol w="2012457"/>
                <a:gridCol w="530662"/>
                <a:gridCol w="530662"/>
                <a:gridCol w="530662"/>
                <a:gridCol w="530662"/>
                <a:gridCol w="530662"/>
                <a:gridCol w="530662"/>
                <a:gridCol w="530662"/>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Multipack Wrapping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41832">
                <a:tc>
                  <a:txBody>
                    <a:bodyPr wrap="none"/>
                    <a:lstStyle/>
                    <a:p>
                      <a:pPr algn="l"/>
                      <a:r>
                        <a:rPr sz="1100" b="1">
                          <a:solidFill>
                            <a:srgbClr val="2E2E2E"/>
                          </a:solidFill>
                          <a:latin typeface="Calibri"/>
                        </a:rPr>
                        <a:t>Individually wrapped muffins</a:t>
                      </a:r>
                      <a:endParaRPr sz="1100"/>
                    </a:p>
                    <a:p>
                      <a:pPr algn="l"/>
                      <a:r>
                        <a:rPr sz="1100" b="1">
                          <a:solidFill>
                            <a:srgbClr val="2E2E2E"/>
                          </a:solidFill>
                          <a:latin typeface="Calibri"/>
                        </a:rPr>
                        <a:t>within an outer pack</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1832">
                <a:tc>
                  <a:txBody>
                    <a:bodyPr wrap="none"/>
                    <a:lstStyle/>
                    <a:p>
                      <a:pPr algn="l"/>
                      <a:r>
                        <a:rPr sz="1100" b="1">
                          <a:solidFill>
                            <a:srgbClr val="2E2E2E"/>
                          </a:solidFill>
                          <a:latin typeface="Calibri"/>
                        </a:rPr>
                        <a:t>Shared pack without individual</a:t>
                      </a:r>
                      <a:endParaRPr sz="1100"/>
                    </a:p>
                    <a:p>
                      <a:pPr algn="l"/>
                      <a:r>
                        <a:rPr sz="1100" b="1">
                          <a:solidFill>
                            <a:srgbClr val="2E2E2E"/>
                          </a:solidFill>
                          <a:latin typeface="Calibri"/>
                        </a:rPr>
                        <a:t>wrapping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904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19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152775"/>
            <a:ext cx="11906250" cy="3476625"/>
          </a:xfrm>
          <a:prstGeom prst="roundRect">
            <a:avLst>
              <a:gd name="adj" fmla="val 219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38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Multipack Wrapping</a:t>
            </a:r>
          </a:p>
        </p:txBody>
      </p:sp>
      <p:sp>
        <p:nvSpPr>
          <p:cNvPr id="17" name="Rectangle 16"/>
          <p:cNvSpPr/>
          <p:nvPr/>
        </p:nvSpPr>
        <p:spPr>
          <a:xfrm>
            <a:off x="276225" y="3476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62350"/>
            <a:ext cx="11639550" cy="2990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15542" y="1976818"/>
            <a:ext cx="366712" cy="533400"/>
          </a:xfrm>
          <a:prstGeom prst="rect">
            <a:avLst/>
          </a:prstGeom>
        </p:spPr>
      </p:pic>
      <p:sp>
        <p:nvSpPr>
          <p:cNvPr id="21" name="TextBox 20"/>
          <p:cNvSpPr txBox="1"/>
          <p:nvPr/>
        </p:nvSpPr>
        <p:spPr>
          <a:xfrm>
            <a:off x="276225" y="3571875"/>
            <a:ext cx="4800575" cy="194310"/>
          </a:xfrm>
          <a:prstGeom prst="rect">
            <a:avLst/>
          </a:prstGeom>
          <a:noFill/>
        </p:spPr>
        <p:txBody>
          <a:bodyPr wrap="none" lIns="0" rIns="0" tIns="0" bIns="0">
            <a:spAutoFit/>
          </a:bodyPr>
          <a:lstStyle/>
          <a:p>
            <a:r>
              <a:rPr sz="1150" b="0">
                <a:solidFill>
                  <a:srgbClr val="2E2E2E"/>
                </a:solidFill>
                <a:latin typeface="Calibri"/>
              </a:rPr>
              <a:t>▪ 'Shared pack without individual wrapping' is the largest multipack wrapping at</a:t>
            </a:r>
          </a:p>
        </p:txBody>
      </p:sp>
      <p:pic>
        <p:nvPicPr>
          <p:cNvPr id="22" name="Picture 21" descr="lock.png"/>
          <p:cNvPicPr>
            <a:picLocks noChangeAspect="1"/>
          </p:cNvPicPr>
          <p:nvPr/>
        </p:nvPicPr>
        <p:blipFill>
          <a:blip r:embed="rId4"/>
          <a:stretch>
            <a:fillRect/>
          </a:stretch>
        </p:blipFill>
        <p:spPr>
          <a:xfrm>
            <a:off x="5025954" y="3561651"/>
            <a:ext cx="134549" cy="195707"/>
          </a:xfrm>
          <a:prstGeom prst="rect">
            <a:avLst/>
          </a:prstGeom>
        </p:spPr>
      </p:pic>
      <p:sp>
        <p:nvSpPr>
          <p:cNvPr id="23" name="TextBox 22"/>
          <p:cNvSpPr txBox="1"/>
          <p:nvPr/>
        </p:nvSpPr>
        <p:spPr>
          <a:xfrm>
            <a:off x="5201063" y="357187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6230796" y="3561651"/>
            <a:ext cx="134549" cy="195707"/>
          </a:xfrm>
          <a:prstGeom prst="rect">
            <a:avLst/>
          </a:prstGeom>
        </p:spPr>
      </p:pic>
      <p:sp>
        <p:nvSpPr>
          <p:cNvPr id="25" name="TextBox 24"/>
          <p:cNvSpPr txBox="1"/>
          <p:nvPr/>
        </p:nvSpPr>
        <p:spPr>
          <a:xfrm>
            <a:off x="6405905" y="357187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799712"/>
            <a:ext cx="4028678"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grows fastest</a:t>
            </a:r>
          </a:p>
        </p:txBody>
      </p:sp>
      <p:pic>
        <p:nvPicPr>
          <p:cNvPr id="27" name="Picture 26" descr="lock.png"/>
          <p:cNvPicPr>
            <a:picLocks noChangeAspect="1"/>
          </p:cNvPicPr>
          <p:nvPr/>
        </p:nvPicPr>
        <p:blipFill>
          <a:blip r:embed="rId4"/>
          <a:stretch>
            <a:fillRect/>
          </a:stretch>
        </p:blipFill>
        <p:spPr>
          <a:xfrm>
            <a:off x="4254057" y="3789489"/>
            <a:ext cx="134549" cy="195707"/>
          </a:xfrm>
          <a:prstGeom prst="rect">
            <a:avLst/>
          </a:prstGeom>
        </p:spPr>
      </p:pic>
      <p:sp>
        <p:nvSpPr>
          <p:cNvPr id="28" name="TextBox 27"/>
          <p:cNvSpPr txBox="1"/>
          <p:nvPr/>
        </p:nvSpPr>
        <p:spPr>
          <a:xfrm>
            <a:off x="4429166" y="3799712"/>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027550"/>
            <a:ext cx="4537856" cy="194310"/>
          </a:xfrm>
          <a:prstGeom prst="rect">
            <a:avLst/>
          </a:prstGeom>
          <a:noFill/>
        </p:spPr>
        <p:txBody>
          <a:bodyPr wrap="none" lIns="0" rIns="0" tIns="0" bIns="0">
            <a:spAutoFit/>
          </a:bodyPr>
          <a:lstStyle/>
          <a:p>
            <a:r>
              <a:rPr sz="1150" b="0">
                <a:solidFill>
                  <a:srgbClr val="2E2E2E"/>
                </a:solidFill>
                <a:latin typeface="Calibri"/>
              </a:rPr>
              <a:t>▪ Share shifts toward 'Individually wrapped muffins within an outer pack' (+</a:t>
            </a:r>
          </a:p>
        </p:txBody>
      </p:sp>
      <p:pic>
        <p:nvPicPr>
          <p:cNvPr id="30" name="Picture 29" descr="lock.png"/>
          <p:cNvPicPr>
            <a:picLocks noChangeAspect="1"/>
          </p:cNvPicPr>
          <p:nvPr/>
        </p:nvPicPr>
        <p:blipFill>
          <a:blip r:embed="rId4"/>
          <a:stretch>
            <a:fillRect/>
          </a:stretch>
        </p:blipFill>
        <p:spPr>
          <a:xfrm>
            <a:off x="4763235" y="4017327"/>
            <a:ext cx="134549" cy="195707"/>
          </a:xfrm>
          <a:prstGeom prst="rect">
            <a:avLst/>
          </a:prstGeom>
        </p:spPr>
      </p:pic>
      <p:sp>
        <p:nvSpPr>
          <p:cNvPr id="31" name="TextBox 30"/>
          <p:cNvSpPr txBox="1"/>
          <p:nvPr/>
        </p:nvSpPr>
        <p:spPr>
          <a:xfrm>
            <a:off x="4938344" y="4027550"/>
            <a:ext cx="3908015" cy="194310"/>
          </a:xfrm>
          <a:prstGeom prst="rect">
            <a:avLst/>
          </a:prstGeom>
          <a:noFill/>
        </p:spPr>
        <p:txBody>
          <a:bodyPr wrap="none" lIns="0" rIns="0" tIns="0" bIns="0">
            <a:spAutoFit/>
          </a:bodyPr>
          <a:lstStyle/>
          <a:p>
            <a:r>
              <a:rPr sz="1150" b="0">
                <a:solidFill>
                  <a:srgbClr val="2E2E2E"/>
                </a:solidFill>
                <a:latin typeface="Calibri"/>
              </a:rPr>
              <a:t>BPS) and away from 'Shared pack without individual wrapping' (-</a:t>
            </a:r>
          </a:p>
        </p:txBody>
      </p:sp>
      <p:pic>
        <p:nvPicPr>
          <p:cNvPr id="32" name="Picture 31" descr="lock.png"/>
          <p:cNvPicPr>
            <a:picLocks noChangeAspect="1"/>
          </p:cNvPicPr>
          <p:nvPr/>
        </p:nvPicPr>
        <p:blipFill>
          <a:blip r:embed="rId4"/>
          <a:stretch>
            <a:fillRect/>
          </a:stretch>
        </p:blipFill>
        <p:spPr>
          <a:xfrm>
            <a:off x="8795514" y="4017327"/>
            <a:ext cx="134549" cy="195707"/>
          </a:xfrm>
          <a:prstGeom prst="rect">
            <a:avLst/>
          </a:prstGeom>
        </p:spPr>
      </p:pic>
      <p:sp>
        <p:nvSpPr>
          <p:cNvPr id="33" name="TextBox 32"/>
          <p:cNvSpPr txBox="1"/>
          <p:nvPr/>
        </p:nvSpPr>
        <p:spPr>
          <a:xfrm>
            <a:off x="8970623" y="40275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25538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245165"/>
            <a:ext cx="134549" cy="195707"/>
          </a:xfrm>
          <a:prstGeom prst="rect">
            <a:avLst/>
          </a:prstGeom>
        </p:spPr>
      </p:pic>
      <p:sp>
        <p:nvSpPr>
          <p:cNvPr id="36" name="TextBox 35"/>
          <p:cNvSpPr txBox="1"/>
          <p:nvPr/>
        </p:nvSpPr>
        <p:spPr>
          <a:xfrm>
            <a:off x="1965143" y="42553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245165"/>
            <a:ext cx="134549" cy="195707"/>
          </a:xfrm>
          <a:prstGeom prst="rect">
            <a:avLst/>
          </a:prstGeom>
        </p:spPr>
      </p:pic>
      <p:sp>
        <p:nvSpPr>
          <p:cNvPr id="38" name="TextBox 37"/>
          <p:cNvSpPr txBox="1"/>
          <p:nvPr/>
        </p:nvSpPr>
        <p:spPr>
          <a:xfrm>
            <a:off x="2291688" y="4255388"/>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Multipack Wrapping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Multipack Wrapping,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Multipack Wrapping (US$ Mn)</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3315725"/>
                <a:gridCol w="514876"/>
                <a:gridCol w="514876"/>
                <a:gridCol w="514876"/>
                <a:gridCol w="514876"/>
                <a:gridCol w="514876"/>
                <a:gridCol w="496739"/>
                <a:gridCol w="491557"/>
                <a:gridCol w="491557"/>
                <a:gridCol w="491557"/>
                <a:gridCol w="491557"/>
                <a:gridCol w="491557"/>
                <a:gridCol w="491557"/>
                <a:gridCol w="491557"/>
                <a:gridCol w="491557"/>
                <a:gridCol w="491557"/>
                <a:gridCol w="491557"/>
                <a:gridCol w="584792"/>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Multipack Wrapping</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570848" y="1595160"/>
            <a:ext cx="359497" cy="522905"/>
          </a:xfrm>
          <a:prstGeom prst="rect">
            <a:avLst/>
          </a:prstGeom>
        </p:spPr>
      </p:pic>
      <p:sp>
        <p:nvSpPr>
          <p:cNvPr id="21" name="TextBox 20"/>
          <p:cNvSpPr txBox="1"/>
          <p:nvPr/>
        </p:nvSpPr>
        <p:spPr>
          <a:xfrm>
            <a:off x="276225" y="2990850"/>
            <a:ext cx="5356535"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is the largest multipack wrapping at</a:t>
            </a:r>
          </a:p>
        </p:txBody>
      </p:sp>
      <p:pic>
        <p:nvPicPr>
          <p:cNvPr id="22" name="Picture 21" descr="lock.png"/>
          <p:cNvPicPr>
            <a:picLocks noChangeAspect="1"/>
          </p:cNvPicPr>
          <p:nvPr/>
        </p:nvPicPr>
        <p:blipFill>
          <a:blip r:embed="rId4"/>
          <a:stretch>
            <a:fillRect/>
          </a:stretch>
        </p:blipFill>
        <p:spPr>
          <a:xfrm>
            <a:off x="5581913" y="2980626"/>
            <a:ext cx="134549" cy="195707"/>
          </a:xfrm>
          <a:prstGeom prst="rect">
            <a:avLst/>
          </a:prstGeom>
        </p:spPr>
      </p:pic>
      <p:sp>
        <p:nvSpPr>
          <p:cNvPr id="23" name="TextBox 22"/>
          <p:cNvSpPr txBox="1"/>
          <p:nvPr/>
        </p:nvSpPr>
        <p:spPr>
          <a:xfrm>
            <a:off x="5757023"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6662956" y="2980626"/>
            <a:ext cx="134549" cy="195707"/>
          </a:xfrm>
          <a:prstGeom prst="rect">
            <a:avLst/>
          </a:prstGeom>
        </p:spPr>
      </p:pic>
      <p:sp>
        <p:nvSpPr>
          <p:cNvPr id="25" name="TextBox 24"/>
          <p:cNvSpPr txBox="1"/>
          <p:nvPr/>
        </p:nvSpPr>
        <p:spPr>
          <a:xfrm>
            <a:off x="6838065"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4028678"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grows fastest</a:t>
            </a:r>
          </a:p>
        </p:txBody>
      </p:sp>
      <p:pic>
        <p:nvPicPr>
          <p:cNvPr id="27" name="Picture 26" descr="lock.png"/>
          <p:cNvPicPr>
            <a:picLocks noChangeAspect="1"/>
          </p:cNvPicPr>
          <p:nvPr/>
        </p:nvPicPr>
        <p:blipFill>
          <a:blip r:embed="rId4"/>
          <a:stretch>
            <a:fillRect/>
          </a:stretch>
        </p:blipFill>
        <p:spPr>
          <a:xfrm>
            <a:off x="4254057" y="3208464"/>
            <a:ext cx="134549" cy="195707"/>
          </a:xfrm>
          <a:prstGeom prst="rect">
            <a:avLst/>
          </a:prstGeom>
        </p:spPr>
      </p:pic>
      <p:sp>
        <p:nvSpPr>
          <p:cNvPr id="28" name="TextBox 27"/>
          <p:cNvSpPr txBox="1"/>
          <p:nvPr/>
        </p:nvSpPr>
        <p:spPr>
          <a:xfrm>
            <a:off x="4429166"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4537856" cy="194310"/>
          </a:xfrm>
          <a:prstGeom prst="rect">
            <a:avLst/>
          </a:prstGeom>
          <a:noFill/>
        </p:spPr>
        <p:txBody>
          <a:bodyPr wrap="none" lIns="0" rIns="0" tIns="0" bIns="0">
            <a:spAutoFit/>
          </a:bodyPr>
          <a:lstStyle/>
          <a:p>
            <a:r>
              <a:rPr sz="1150" b="0">
                <a:solidFill>
                  <a:srgbClr val="2E2E2E"/>
                </a:solidFill>
                <a:latin typeface="Calibri"/>
              </a:rPr>
              <a:t>▪ Share shifts toward 'Individually wrapped muffins within an outer pack' (+</a:t>
            </a:r>
          </a:p>
        </p:txBody>
      </p:sp>
      <p:pic>
        <p:nvPicPr>
          <p:cNvPr id="30" name="Picture 29" descr="lock.png"/>
          <p:cNvPicPr>
            <a:picLocks noChangeAspect="1"/>
          </p:cNvPicPr>
          <p:nvPr/>
        </p:nvPicPr>
        <p:blipFill>
          <a:blip r:embed="rId4"/>
          <a:stretch>
            <a:fillRect/>
          </a:stretch>
        </p:blipFill>
        <p:spPr>
          <a:xfrm>
            <a:off x="4763235" y="3436302"/>
            <a:ext cx="134549" cy="195707"/>
          </a:xfrm>
          <a:prstGeom prst="rect">
            <a:avLst/>
          </a:prstGeom>
        </p:spPr>
      </p:pic>
      <p:sp>
        <p:nvSpPr>
          <p:cNvPr id="31" name="TextBox 30"/>
          <p:cNvSpPr txBox="1"/>
          <p:nvPr/>
        </p:nvSpPr>
        <p:spPr>
          <a:xfrm>
            <a:off x="4938344" y="3446525"/>
            <a:ext cx="3908015" cy="194310"/>
          </a:xfrm>
          <a:prstGeom prst="rect">
            <a:avLst/>
          </a:prstGeom>
          <a:noFill/>
        </p:spPr>
        <p:txBody>
          <a:bodyPr wrap="none" lIns="0" rIns="0" tIns="0" bIns="0">
            <a:spAutoFit/>
          </a:bodyPr>
          <a:lstStyle/>
          <a:p>
            <a:r>
              <a:rPr sz="1150" b="0">
                <a:solidFill>
                  <a:srgbClr val="2E2E2E"/>
                </a:solidFill>
                <a:latin typeface="Calibri"/>
              </a:rPr>
              <a:t>BPS) and away from 'Shared pack without individual wrapping' (-</a:t>
            </a:r>
          </a:p>
        </p:txBody>
      </p:sp>
      <p:pic>
        <p:nvPicPr>
          <p:cNvPr id="32" name="Picture 31" descr="lock.png"/>
          <p:cNvPicPr>
            <a:picLocks noChangeAspect="1"/>
          </p:cNvPicPr>
          <p:nvPr/>
        </p:nvPicPr>
        <p:blipFill>
          <a:blip r:embed="rId4"/>
          <a:stretch>
            <a:fillRect/>
          </a:stretch>
        </p:blipFill>
        <p:spPr>
          <a:xfrm>
            <a:off x="8795514" y="3436302"/>
            <a:ext cx="134549" cy="195707"/>
          </a:xfrm>
          <a:prstGeom prst="rect">
            <a:avLst/>
          </a:prstGeom>
        </p:spPr>
      </p:pic>
      <p:sp>
        <p:nvSpPr>
          <p:cNvPr id="33" name="TextBox 32"/>
          <p:cNvSpPr txBox="1"/>
          <p:nvPr/>
        </p:nvSpPr>
        <p:spPr>
          <a:xfrm>
            <a:off x="8970623"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Multipack Wrapping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Multipack Wrapping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8913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68437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6081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Shared pack without individual wrapping</a:t>
            </a:r>
          </a:p>
        </p:txBody>
      </p:sp>
      <p:sp>
        <p:nvSpPr>
          <p:cNvPr id="19" name="BPS Value 1"/>
          <p:cNvSpPr txBox="1"/>
          <p:nvPr/>
        </p:nvSpPr>
        <p:spPr>
          <a:xfrm>
            <a:off x="6896100" y="267008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9753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97056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943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Individually wrapped muffins within an outer pack</a:t>
            </a:r>
          </a:p>
        </p:txBody>
      </p:sp>
      <p:sp>
        <p:nvSpPr>
          <p:cNvPr id="23" name="BPS Value 2"/>
          <p:cNvSpPr txBox="1"/>
          <p:nvPr/>
        </p:nvSpPr>
        <p:spPr>
          <a:xfrm>
            <a:off x="6896100" y="495627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Multipack Wrapping</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57650"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gains the most</a:t>
            </a:r>
          </a:p>
        </p:txBody>
      </p:sp>
      <p:sp>
        <p:nvSpPr>
          <p:cNvPr id="31" name="TextBox 30"/>
          <p:cNvSpPr txBox="1"/>
          <p:nvPr/>
        </p:nvSpPr>
        <p:spPr>
          <a:xfrm>
            <a:off x="7829550" y="1575435"/>
            <a:ext cx="509500" cy="194310"/>
          </a:xfrm>
          <a:prstGeom prst="rect">
            <a:avLst/>
          </a:prstGeom>
          <a:noFill/>
        </p:spPr>
        <p:txBody>
          <a:bodyPr wrap="none" lIns="0" rIns="0" tIns="0" bIns="0">
            <a:spAutoFit/>
          </a:bodyPr>
          <a:lstStyle/>
          <a:p>
            <a:r>
              <a:rPr sz="1150" b="0">
                <a:solidFill>
                  <a:srgbClr val="2E2E2E"/>
                </a:solidFill>
                <a:latin typeface="Calibri"/>
              </a:rPr>
              <a:t>share +</a:t>
            </a:r>
          </a:p>
        </p:txBody>
      </p:sp>
      <p:pic>
        <p:nvPicPr>
          <p:cNvPr id="32" name="Picture 31" descr="lock.png"/>
          <p:cNvPicPr>
            <a:picLocks noChangeAspect="1"/>
          </p:cNvPicPr>
          <p:nvPr/>
        </p:nvPicPr>
        <p:blipFill>
          <a:blip r:embed="rId5"/>
          <a:stretch>
            <a:fillRect/>
          </a:stretch>
        </p:blipFill>
        <p:spPr>
          <a:xfrm>
            <a:off x="8288204" y="1565211"/>
            <a:ext cx="134549" cy="195707"/>
          </a:xfrm>
          <a:prstGeom prst="rect">
            <a:avLst/>
          </a:prstGeom>
        </p:spPr>
      </p:pic>
      <p:sp>
        <p:nvSpPr>
          <p:cNvPr id="33" name="TextBox 32"/>
          <p:cNvSpPr txBox="1"/>
          <p:nvPr/>
        </p:nvSpPr>
        <p:spPr>
          <a:xfrm>
            <a:off x="8463313" y="1575435"/>
            <a:ext cx="3126990"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3665549" cy="194310"/>
          </a:xfrm>
          <a:prstGeom prst="rect">
            <a:avLst/>
          </a:prstGeom>
          <a:noFill/>
        </p:spPr>
        <p:txBody>
          <a:bodyPr wrap="none" lIns="0" rIns="0" tIns="0" bIns="0">
            <a:spAutoFit/>
          </a:bodyPr>
          <a:lstStyle/>
          <a:p>
            <a:r>
              <a:rPr sz="1150" b="0">
                <a:solidFill>
                  <a:srgbClr val="2E2E2E"/>
                </a:solidFill>
                <a:latin typeface="Calibri"/>
              </a:rPr>
              <a:t>▪ 'Shared pack without individual wrapping' cedes the most -</a:t>
            </a:r>
          </a:p>
        </p:txBody>
      </p:sp>
      <p:pic>
        <p:nvPicPr>
          <p:cNvPr id="35" name="Picture 34" descr="lock.png"/>
          <p:cNvPicPr>
            <a:picLocks noChangeAspect="1"/>
          </p:cNvPicPr>
          <p:nvPr/>
        </p:nvPicPr>
        <p:blipFill>
          <a:blip r:embed="rId5"/>
          <a:stretch>
            <a:fillRect/>
          </a:stretch>
        </p:blipFill>
        <p:spPr>
          <a:xfrm>
            <a:off x="11444253" y="1793049"/>
            <a:ext cx="134549" cy="195707"/>
          </a:xfrm>
          <a:prstGeom prst="rect">
            <a:avLst/>
          </a:prstGeom>
        </p:spPr>
      </p:pic>
      <p:sp>
        <p:nvSpPr>
          <p:cNvPr id="36" name="TextBox 35"/>
          <p:cNvSpPr txBox="1"/>
          <p:nvPr/>
        </p:nvSpPr>
        <p:spPr>
          <a:xfrm>
            <a:off x="7829550" y="197853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37" name="TextBox 36"/>
          <p:cNvSpPr txBox="1"/>
          <p:nvPr/>
        </p:nvSpPr>
        <p:spPr>
          <a:xfrm>
            <a:off x="7829550" y="2206371"/>
            <a:ext cx="3560291"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is the</a:t>
            </a:r>
          </a:p>
        </p:txBody>
      </p:sp>
      <p:sp>
        <p:nvSpPr>
          <p:cNvPr id="38" name="TextBox 37"/>
          <p:cNvSpPr txBox="1"/>
          <p:nvPr/>
        </p:nvSpPr>
        <p:spPr>
          <a:xfrm>
            <a:off x="7829550" y="2381631"/>
            <a:ext cx="2361654" cy="194310"/>
          </a:xfrm>
          <a:prstGeom prst="rect">
            <a:avLst/>
          </a:prstGeom>
          <a:noFill/>
        </p:spPr>
        <p:txBody>
          <a:bodyPr wrap="none" lIns="0" rIns="0" tIns="0" bIns="0">
            <a:spAutoFit/>
          </a:bodyPr>
          <a:lstStyle/>
          <a:p>
            <a:r>
              <a:rPr sz="1150" b="0">
                <a:solidFill>
                  <a:srgbClr val="2E2E2E"/>
                </a:solidFill>
                <a:latin typeface="Calibri"/>
              </a:rPr>
              <a:t>fastest-growing multipack wrapping at</a:t>
            </a:r>
          </a:p>
        </p:txBody>
      </p:sp>
      <p:pic>
        <p:nvPicPr>
          <p:cNvPr id="39" name="Picture 38" descr="lock.png"/>
          <p:cNvPicPr>
            <a:picLocks noChangeAspect="1"/>
          </p:cNvPicPr>
          <p:nvPr/>
        </p:nvPicPr>
        <p:blipFill>
          <a:blip r:embed="rId5"/>
          <a:stretch>
            <a:fillRect/>
          </a:stretch>
        </p:blipFill>
        <p:spPr>
          <a:xfrm>
            <a:off x="10140358" y="2371407"/>
            <a:ext cx="134549" cy="195707"/>
          </a:xfrm>
          <a:prstGeom prst="rect">
            <a:avLst/>
          </a:prstGeom>
        </p:spPr>
      </p:pic>
      <p:sp>
        <p:nvSpPr>
          <p:cNvPr id="40" name="TextBox 39"/>
          <p:cNvSpPr txBox="1"/>
          <p:nvPr/>
        </p:nvSpPr>
        <p:spPr>
          <a:xfrm>
            <a:off x="10315467"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Multipack Wrapping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Multipack Wrapping,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Multipack Wrapping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Individually wrapped muffins within an outer pack</a:t>
            </a:r>
          </a:p>
        </p:txBody>
      </p:sp>
      <p:sp>
        <p:nvSpPr>
          <p:cNvPr id="33" name="Rectangle 32"/>
          <p:cNvSpPr/>
          <p:nvPr/>
        </p:nvSpPr>
        <p:spPr>
          <a:xfrm>
            <a:off x="1857375" y="2752725"/>
            <a:ext cx="643890" cy="190976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7533838" y="1482090"/>
            <a:ext cx="330041" cy="480060"/>
          </a:xfrm>
          <a:prstGeom prst="rect">
            <a:avLst/>
          </a:prstGeom>
        </p:spPr>
      </p:pic>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Multipack Wrapping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Multipack Wrapping,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Multipack Wrapping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Individually wrapped muffins within an outer pack</a:t>
            </a:r>
          </a:p>
        </p:txBody>
      </p:sp>
      <p:sp>
        <p:nvSpPr>
          <p:cNvPr id="33" name="Rectangle 32"/>
          <p:cNvSpPr/>
          <p:nvPr/>
        </p:nvSpPr>
        <p:spPr>
          <a:xfrm>
            <a:off x="1857375" y="2752725"/>
            <a:ext cx="643890" cy="190976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7533838" y="1482090"/>
            <a:ext cx="330041" cy="480060"/>
          </a:xfrm>
          <a:prstGeom prst="rect">
            <a:avLst/>
          </a:prstGeom>
        </p:spPr>
      </p:pic>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Price Positioning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Price Positioning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Price Positioning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Price Positioning,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Price Positioning segment categorizes the market by price positioning.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Premium</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Mid-range</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Economy / value</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Super-premium / speciality</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Price Positioning split shows how demand is distributed across price positioning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375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_69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2_1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920_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747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6_6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760_4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849_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1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540_9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_058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9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12764" cy="186689"/>
          </a:xfrm>
          <a:prstGeom prst="rect">
            <a:avLst/>
          </a:prstGeom>
          <a:noFill/>
        </p:spPr>
        <p:txBody>
          <a:bodyPr wrap="none" lIns="0" rIns="0" tIns="0" bIns="0">
            <a:spAutoFit/>
          </a:bodyPr>
          <a:lstStyle/>
          <a:p>
            <a:r>
              <a:rPr sz="1100" b="0">
                <a:solidFill>
                  <a:srgbClr val="2E2E2E"/>
                </a:solidFill>
                <a:latin typeface="Calibri"/>
              </a:rPr>
              <a:t>▪ 'Premium' holds the largest share in 2026</a:t>
            </a:r>
          </a:p>
        </p:txBody>
      </p:sp>
      <p:pic>
        <p:nvPicPr>
          <p:cNvPr id="81" name="Picture 80" descr="lock.png"/>
          <p:cNvPicPr>
            <a:picLocks noChangeAspect="1"/>
          </p:cNvPicPr>
          <p:nvPr/>
        </p:nvPicPr>
        <p:blipFill>
          <a:blip r:embed="rId16"/>
          <a:stretch>
            <a:fillRect/>
          </a:stretch>
        </p:blipFill>
        <p:spPr>
          <a:xfrm>
            <a:off x="2946591" y="4219658"/>
            <a:ext cx="128699" cy="187198"/>
          </a:xfrm>
          <a:prstGeom prst="rect">
            <a:avLst/>
          </a:prstGeom>
        </p:spPr>
      </p:pic>
      <p:sp>
        <p:nvSpPr>
          <p:cNvPr id="82" name="TextBox 81"/>
          <p:cNvSpPr txBox="1"/>
          <p:nvPr/>
        </p:nvSpPr>
        <p:spPr>
          <a:xfrm>
            <a:off x="3114086"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83" name="TextBox 82"/>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84" name="TextBox 83"/>
          <p:cNvSpPr txBox="1"/>
          <p:nvPr/>
        </p:nvSpPr>
        <p:spPr>
          <a:xfrm>
            <a:off x="485775" y="4615009"/>
            <a:ext cx="2099394" cy="186689"/>
          </a:xfrm>
          <a:prstGeom prst="rect">
            <a:avLst/>
          </a:prstGeom>
          <a:noFill/>
        </p:spPr>
        <p:txBody>
          <a:bodyPr wrap="none" lIns="0" rIns="0" tIns="0" bIns="0">
            <a:spAutoFit/>
          </a:bodyPr>
          <a:lstStyle/>
          <a:p>
            <a:r>
              <a:rPr sz="1100" b="0">
                <a:solidFill>
                  <a:srgbClr val="2E2E2E"/>
                </a:solidFill>
                <a:latin typeface="Calibri"/>
              </a:rPr>
              <a:t>▪ 'Super-premium / speciality' is the</a:t>
            </a:r>
          </a:p>
        </p:txBody>
      </p:sp>
      <p:sp>
        <p:nvSpPr>
          <p:cNvPr id="85" name="TextBox 84"/>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86" name="Picture 85" descr="lock.png"/>
          <p:cNvPicPr>
            <a:picLocks noChangeAspect="1"/>
          </p:cNvPicPr>
          <p:nvPr/>
        </p:nvPicPr>
        <p:blipFill>
          <a:blip r:embed="rId16"/>
          <a:stretch>
            <a:fillRect/>
          </a:stretch>
        </p:blipFill>
        <p:spPr>
          <a:xfrm>
            <a:off x="2307026" y="4772870"/>
            <a:ext cx="128699" cy="187198"/>
          </a:xfrm>
          <a:prstGeom prst="rect">
            <a:avLst/>
          </a:prstGeom>
        </p:spPr>
      </p:pic>
      <p:sp>
        <p:nvSpPr>
          <p:cNvPr id="87" name="TextBox 86"/>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88" name="TextBox 87"/>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9" name="TextBox 88"/>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90" name="Picture 89" descr="lock.png"/>
          <p:cNvPicPr>
            <a:picLocks noChangeAspect="1"/>
          </p:cNvPicPr>
          <p:nvPr/>
        </p:nvPicPr>
        <p:blipFill>
          <a:blip r:embed="rId16"/>
          <a:stretch>
            <a:fillRect/>
          </a:stretch>
        </p:blipFill>
        <p:spPr>
          <a:xfrm>
            <a:off x="2240451" y="5158441"/>
            <a:ext cx="128699" cy="187198"/>
          </a:xfrm>
          <a:prstGeom prst="rect">
            <a:avLst/>
          </a:prstGeom>
        </p:spPr>
      </p:pic>
      <p:sp>
        <p:nvSpPr>
          <p:cNvPr id="91" name="TextBox 90"/>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2" name="Picture 91" descr="lock.png"/>
          <p:cNvPicPr>
            <a:picLocks noChangeAspect="1"/>
          </p:cNvPicPr>
          <p:nvPr/>
        </p:nvPicPr>
        <p:blipFill>
          <a:blip r:embed="rId16"/>
          <a:stretch>
            <a:fillRect/>
          </a:stretch>
        </p:blipFill>
        <p:spPr>
          <a:xfrm>
            <a:off x="2552799" y="5158441"/>
            <a:ext cx="128699" cy="187198"/>
          </a:xfrm>
          <a:prstGeom prst="rect">
            <a:avLst/>
          </a:prstGeom>
        </p:spPr>
      </p:pic>
      <p:sp>
        <p:nvSpPr>
          <p:cNvPr id="93" name="TextBox 92"/>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4" name="TextBox 93"/>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5" name="TextBox 94"/>
          <p:cNvSpPr txBox="1"/>
          <p:nvPr/>
        </p:nvSpPr>
        <p:spPr>
          <a:xfrm>
            <a:off x="485775" y="5553793"/>
            <a:ext cx="2771154" cy="186689"/>
          </a:xfrm>
          <a:prstGeom prst="rect">
            <a:avLst/>
          </a:prstGeom>
          <a:noFill/>
        </p:spPr>
        <p:txBody>
          <a:bodyPr wrap="none" lIns="0" rIns="0" tIns="0" bIns="0">
            <a:spAutoFit/>
          </a:bodyPr>
          <a:lstStyle/>
          <a:p>
            <a:r>
              <a:rPr sz="1100" b="0">
                <a:solidFill>
                  <a:srgbClr val="2E2E2E"/>
                </a:solidFill>
                <a:latin typeface="Calibri"/>
              </a:rPr>
              <a:t>▪ 4 sub-segments make up the price positioning</a:t>
            </a:r>
          </a:p>
        </p:txBody>
      </p:sp>
      <p:sp>
        <p:nvSpPr>
          <p:cNvPr id="96" name="TextBox 95"/>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7" name="TextBox 96"/>
          <p:cNvSpPr txBox="1"/>
          <p:nvPr/>
        </p:nvSpPr>
        <p:spPr>
          <a:xfrm>
            <a:off x="3838575" y="4229437"/>
            <a:ext cx="749051" cy="186689"/>
          </a:xfrm>
          <a:prstGeom prst="rect">
            <a:avLst/>
          </a:prstGeom>
          <a:noFill/>
        </p:spPr>
        <p:txBody>
          <a:bodyPr wrap="none" lIns="0" rIns="0" tIns="0" bIns="0">
            <a:spAutoFit/>
          </a:bodyPr>
          <a:lstStyle/>
          <a:p>
            <a:r>
              <a:rPr sz="1100" b="0">
                <a:solidFill>
                  <a:srgbClr val="2E2E2E"/>
                </a:solidFill>
                <a:latin typeface="Calibri"/>
              </a:rPr>
              <a:t>● Premium:</a:t>
            </a:r>
          </a:p>
        </p:txBody>
      </p:sp>
      <p:pic>
        <p:nvPicPr>
          <p:cNvPr id="98" name="Picture 97" descr="lock.png"/>
          <p:cNvPicPr>
            <a:picLocks noChangeAspect="1"/>
          </p:cNvPicPr>
          <p:nvPr/>
        </p:nvPicPr>
        <p:blipFill>
          <a:blip r:embed="rId16"/>
          <a:stretch>
            <a:fillRect/>
          </a:stretch>
        </p:blipFill>
        <p:spPr>
          <a:xfrm>
            <a:off x="4535678" y="4219658"/>
            <a:ext cx="128699" cy="187198"/>
          </a:xfrm>
          <a:prstGeom prst="rect">
            <a:avLst/>
          </a:prstGeom>
        </p:spPr>
      </p:pic>
      <p:sp>
        <p:nvSpPr>
          <p:cNvPr id="99" name="TextBox 98"/>
          <p:cNvSpPr txBox="1"/>
          <p:nvPr/>
        </p:nvSpPr>
        <p:spPr>
          <a:xfrm>
            <a:off x="470317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562624" y="4219658"/>
            <a:ext cx="128699" cy="187198"/>
          </a:xfrm>
          <a:prstGeom prst="rect">
            <a:avLst/>
          </a:prstGeom>
        </p:spPr>
      </p:pic>
      <p:sp>
        <p:nvSpPr>
          <p:cNvPr id="101" name="TextBox 100"/>
          <p:cNvSpPr txBox="1"/>
          <p:nvPr/>
        </p:nvSpPr>
        <p:spPr>
          <a:xfrm>
            <a:off x="573012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821903" cy="186689"/>
          </a:xfrm>
          <a:prstGeom prst="rect">
            <a:avLst/>
          </a:prstGeom>
          <a:noFill/>
        </p:spPr>
        <p:txBody>
          <a:bodyPr wrap="none" lIns="0" rIns="0" tIns="0" bIns="0">
            <a:spAutoFit/>
          </a:bodyPr>
          <a:lstStyle/>
          <a:p>
            <a:r>
              <a:rPr sz="1100" b="0">
                <a:solidFill>
                  <a:srgbClr val="2E2E2E"/>
                </a:solidFill>
                <a:latin typeface="Calibri"/>
              </a:rPr>
              <a:t>● Mid-range:</a:t>
            </a:r>
          </a:p>
        </p:txBody>
      </p:sp>
      <p:pic>
        <p:nvPicPr>
          <p:cNvPr id="103" name="Picture 102" descr="lock.png"/>
          <p:cNvPicPr>
            <a:picLocks noChangeAspect="1"/>
          </p:cNvPicPr>
          <p:nvPr/>
        </p:nvPicPr>
        <p:blipFill>
          <a:blip r:embed="rId16"/>
          <a:stretch>
            <a:fillRect/>
          </a:stretch>
        </p:blipFill>
        <p:spPr>
          <a:xfrm>
            <a:off x="4608529" y="4437590"/>
            <a:ext cx="128699" cy="187198"/>
          </a:xfrm>
          <a:prstGeom prst="rect">
            <a:avLst/>
          </a:prstGeom>
        </p:spPr>
      </p:pic>
      <p:sp>
        <p:nvSpPr>
          <p:cNvPr id="104" name="TextBox 103"/>
          <p:cNvSpPr txBox="1"/>
          <p:nvPr/>
        </p:nvSpPr>
        <p:spPr>
          <a:xfrm>
            <a:off x="477602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635475" y="4437590"/>
            <a:ext cx="128699" cy="187198"/>
          </a:xfrm>
          <a:prstGeom prst="rect">
            <a:avLst/>
          </a:prstGeom>
        </p:spPr>
      </p:pic>
      <p:sp>
        <p:nvSpPr>
          <p:cNvPr id="106" name="TextBox 105"/>
          <p:cNvSpPr txBox="1"/>
          <p:nvPr/>
        </p:nvSpPr>
        <p:spPr>
          <a:xfrm>
            <a:off x="5802971"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174943" cy="186689"/>
          </a:xfrm>
          <a:prstGeom prst="rect">
            <a:avLst/>
          </a:prstGeom>
          <a:noFill/>
        </p:spPr>
        <p:txBody>
          <a:bodyPr wrap="none" lIns="0" rIns="0" tIns="0" bIns="0">
            <a:spAutoFit/>
          </a:bodyPr>
          <a:lstStyle/>
          <a:p>
            <a:r>
              <a:rPr sz="1100" b="0">
                <a:solidFill>
                  <a:srgbClr val="2E2E2E"/>
                </a:solidFill>
                <a:latin typeface="Calibri"/>
              </a:rPr>
              <a:t>● Economy / value:</a:t>
            </a:r>
          </a:p>
        </p:txBody>
      </p:sp>
      <p:pic>
        <p:nvPicPr>
          <p:cNvPr id="108" name="Picture 107" descr="lock.png"/>
          <p:cNvPicPr>
            <a:picLocks noChangeAspect="1"/>
          </p:cNvPicPr>
          <p:nvPr/>
        </p:nvPicPr>
        <p:blipFill>
          <a:blip r:embed="rId16"/>
          <a:stretch>
            <a:fillRect/>
          </a:stretch>
        </p:blipFill>
        <p:spPr>
          <a:xfrm>
            <a:off x="4961569" y="4655522"/>
            <a:ext cx="128699" cy="187198"/>
          </a:xfrm>
          <a:prstGeom prst="rect">
            <a:avLst/>
          </a:prstGeom>
        </p:spPr>
      </p:pic>
      <p:sp>
        <p:nvSpPr>
          <p:cNvPr id="109" name="TextBox 108"/>
          <p:cNvSpPr txBox="1"/>
          <p:nvPr/>
        </p:nvSpPr>
        <p:spPr>
          <a:xfrm>
            <a:off x="5129065"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5988516" y="4655522"/>
            <a:ext cx="128699" cy="187198"/>
          </a:xfrm>
          <a:prstGeom prst="rect">
            <a:avLst/>
          </a:prstGeom>
        </p:spPr>
      </p:pic>
      <p:sp>
        <p:nvSpPr>
          <p:cNvPr id="111" name="TextBox 110"/>
          <p:cNvSpPr txBox="1"/>
          <p:nvPr/>
        </p:nvSpPr>
        <p:spPr>
          <a:xfrm>
            <a:off x="6156011"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770062" cy="186689"/>
          </a:xfrm>
          <a:prstGeom prst="rect">
            <a:avLst/>
          </a:prstGeom>
          <a:noFill/>
        </p:spPr>
        <p:txBody>
          <a:bodyPr wrap="none" lIns="0" rIns="0" tIns="0" bIns="0">
            <a:spAutoFit/>
          </a:bodyPr>
          <a:lstStyle/>
          <a:p>
            <a:r>
              <a:rPr sz="1100" b="0">
                <a:solidFill>
                  <a:srgbClr val="2E2E2E"/>
                </a:solidFill>
                <a:latin typeface="Calibri"/>
              </a:rPr>
              <a:t>● Super-premium / speciality:</a:t>
            </a:r>
          </a:p>
        </p:txBody>
      </p:sp>
      <p:pic>
        <p:nvPicPr>
          <p:cNvPr id="113" name="Picture 112" descr="lock.png"/>
          <p:cNvPicPr>
            <a:picLocks noChangeAspect="1"/>
          </p:cNvPicPr>
          <p:nvPr/>
        </p:nvPicPr>
        <p:blipFill>
          <a:blip r:embed="rId16"/>
          <a:stretch>
            <a:fillRect/>
          </a:stretch>
        </p:blipFill>
        <p:spPr>
          <a:xfrm>
            <a:off x="5556689" y="4873454"/>
            <a:ext cx="128699" cy="187198"/>
          </a:xfrm>
          <a:prstGeom prst="rect">
            <a:avLst/>
          </a:prstGeom>
        </p:spPr>
      </p:pic>
      <p:sp>
        <p:nvSpPr>
          <p:cNvPr id="114" name="TextBox 113"/>
          <p:cNvSpPr txBox="1"/>
          <p:nvPr/>
        </p:nvSpPr>
        <p:spPr>
          <a:xfrm>
            <a:off x="572418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583635" y="4873454"/>
            <a:ext cx="128699" cy="187198"/>
          </a:xfrm>
          <a:prstGeom prst="rect">
            <a:avLst/>
          </a:prstGeom>
        </p:spPr>
      </p:pic>
      <p:sp>
        <p:nvSpPr>
          <p:cNvPr id="116" name="TextBox 115"/>
          <p:cNvSpPr txBox="1"/>
          <p:nvPr/>
        </p:nvSpPr>
        <p:spPr>
          <a:xfrm>
            <a:off x="6751130"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8" name="TextBox 117"/>
          <p:cNvSpPr txBox="1"/>
          <p:nvPr/>
        </p:nvSpPr>
        <p:spPr>
          <a:xfrm>
            <a:off x="8524875" y="5842641"/>
            <a:ext cx="3148955" cy="194310"/>
          </a:xfrm>
          <a:prstGeom prst="rect">
            <a:avLst/>
          </a:prstGeom>
          <a:noFill/>
        </p:spPr>
        <p:txBody>
          <a:bodyPr wrap="none" lIns="0" rIns="0" tIns="0" bIns="0">
            <a:spAutoFit/>
          </a:bodyPr>
          <a:lstStyle/>
          <a:p>
            <a:r>
              <a:rPr sz="1150" b="1">
                <a:solidFill>
                  <a:srgbClr val="0B2E4A"/>
                </a:solidFill>
                <a:latin typeface="Calibri"/>
              </a:rPr>
              <a:t>The Price Positioning segment is projected to grow</a:t>
            </a:r>
          </a:p>
        </p:txBody>
      </p:sp>
      <p:sp>
        <p:nvSpPr>
          <p:cNvPr id="119" name="TextBox 118"/>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20" name="Picture 119" descr="lock.png"/>
          <p:cNvPicPr>
            <a:picLocks noChangeAspect="1"/>
          </p:cNvPicPr>
          <p:nvPr/>
        </p:nvPicPr>
        <p:blipFill>
          <a:blip r:embed="rId16"/>
          <a:stretch>
            <a:fillRect/>
          </a:stretch>
        </p:blipFill>
        <p:spPr>
          <a:xfrm>
            <a:off x="9310118" y="6007677"/>
            <a:ext cx="134549" cy="195707"/>
          </a:xfrm>
          <a:prstGeom prst="rect">
            <a:avLst/>
          </a:prstGeom>
        </p:spPr>
      </p:pic>
      <p:sp>
        <p:nvSpPr>
          <p:cNvPr id="121" name="TextBox 120"/>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Price Positioning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Price Positioning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Price Positioning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194076" cy="186689"/>
          </a:xfrm>
          <a:prstGeom prst="rect">
            <a:avLst/>
          </a:prstGeom>
          <a:noFill/>
        </p:spPr>
        <p:txBody>
          <a:bodyPr wrap="none" lIns="0" rIns="0" tIns="0" bIns="0">
            <a:spAutoFit/>
          </a:bodyPr>
          <a:lstStyle/>
          <a:p>
            <a:r>
              <a:rPr sz="1100" b="0">
                <a:solidFill>
                  <a:srgbClr val="2E2E2E"/>
                </a:solidFill>
                <a:latin typeface="Calibri"/>
              </a:rPr>
              <a:t>Between 2026 and 2036, 'Mid-range' gains the most share in the North America market (+</a:t>
            </a:r>
          </a:p>
        </p:txBody>
      </p:sp>
      <p:pic>
        <p:nvPicPr>
          <p:cNvPr id="21" name="Picture 20" descr="lock.png"/>
          <p:cNvPicPr>
            <a:picLocks noChangeAspect="1"/>
          </p:cNvPicPr>
          <p:nvPr/>
        </p:nvPicPr>
        <p:blipFill>
          <a:blip r:embed="rId6"/>
          <a:stretch>
            <a:fillRect/>
          </a:stretch>
        </p:blipFill>
        <p:spPr>
          <a:xfrm>
            <a:off x="5399303" y="5851905"/>
            <a:ext cx="128699" cy="187198"/>
          </a:xfrm>
          <a:prstGeom prst="rect">
            <a:avLst/>
          </a:prstGeom>
        </p:spPr>
      </p:pic>
      <p:sp>
        <p:nvSpPr>
          <p:cNvPr id="22" name="TextBox 21"/>
          <p:cNvSpPr txBox="1"/>
          <p:nvPr/>
        </p:nvSpPr>
        <p:spPr>
          <a:xfrm>
            <a:off x="5566799" y="5861685"/>
            <a:ext cx="1640730" cy="186689"/>
          </a:xfrm>
          <a:prstGeom prst="rect">
            <a:avLst/>
          </a:prstGeom>
          <a:noFill/>
        </p:spPr>
        <p:txBody>
          <a:bodyPr wrap="none" lIns="0" rIns="0" tIns="0" bIns="0">
            <a:spAutoFit/>
          </a:bodyPr>
          <a:lstStyle/>
          <a:p>
            <a:r>
              <a:rPr sz="1100" b="0">
                <a:solidFill>
                  <a:srgbClr val="2E2E2E"/>
                </a:solidFill>
                <a:latin typeface="Calibri"/>
              </a:rPr>
              <a:t>BPS) while 'Premium' cedes</a:t>
            </a:r>
          </a:p>
        </p:txBody>
      </p:sp>
      <p:pic>
        <p:nvPicPr>
          <p:cNvPr id="23" name="Picture 22" descr="lock.png"/>
          <p:cNvPicPr>
            <a:picLocks noChangeAspect="1"/>
          </p:cNvPicPr>
          <p:nvPr/>
        </p:nvPicPr>
        <p:blipFill>
          <a:blip r:embed="rId6"/>
          <a:stretch>
            <a:fillRect/>
          </a:stretch>
        </p:blipFill>
        <p:spPr>
          <a:xfrm>
            <a:off x="7155581" y="5851905"/>
            <a:ext cx="128699" cy="187198"/>
          </a:xfrm>
          <a:prstGeom prst="rect">
            <a:avLst/>
          </a:prstGeom>
        </p:spPr>
      </p:pic>
      <p:sp>
        <p:nvSpPr>
          <p:cNvPr id="24" name="TextBox 23"/>
          <p:cNvSpPr txBox="1"/>
          <p:nvPr/>
        </p:nvSpPr>
        <p:spPr>
          <a:xfrm>
            <a:off x="7323077"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Price Positioning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Economy / value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Mid-range</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Premium</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Super-premium / speciality</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Price Positioning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Price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Price Positioning (MT)</a:t>
            </a:r>
          </a:p>
        </p:txBody>
      </p:sp>
      <p:graphicFrame>
        <p:nvGraphicFramePr>
          <p:cNvPr id="13" name="Table 12"/>
          <p:cNvGraphicFramePr>
            <a:graphicFrameLocks noGrp="1"/>
          </p:cNvGraphicFramePr>
          <p:nvPr/>
        </p:nvGraphicFramePr>
        <p:xfrm>
          <a:off x="152400" y="1238250"/>
          <a:ext cx="11887200" cy="1676402"/>
        </p:xfrm>
        <a:graphic>
          <a:graphicData uri="http://schemas.openxmlformats.org/drawingml/2006/table">
            <a:tbl>
              <a:tblPr>
                <a:tableStyleId>{5C22544A-7EE6-4342-B048-85BDC9FD1C3A}</a:tableStyleId>
              </a:tblPr>
              <a:tblGrid>
                <a:gridCol w="1702618"/>
                <a:gridCol w="544949"/>
                <a:gridCol w="544949"/>
                <a:gridCol w="544949"/>
                <a:gridCol w="544949"/>
                <a:gridCol w="544949"/>
                <a:gridCol w="544949"/>
                <a:gridCol w="544949"/>
                <a:gridCol w="655320"/>
                <a:gridCol w="655320"/>
                <a:gridCol w="655320"/>
                <a:gridCol w="655320"/>
                <a:gridCol w="655320"/>
                <a:gridCol w="655320"/>
                <a:gridCol w="655320"/>
                <a:gridCol w="655320"/>
                <a:gridCol w="655320"/>
                <a:gridCol w="472059"/>
              </a:tblGrid>
              <a:tr h="438912">
                <a:tc>
                  <a:txBody>
                    <a:bodyPr wrap="none"/>
                    <a:lstStyle/>
                    <a:p>
                      <a:pPr algn="l"/>
                      <a:r>
                        <a:rPr sz="1100" b="1">
                          <a:solidFill>
                            <a:srgbClr val="0B2E4A"/>
                          </a:solidFill>
                          <a:latin typeface="Calibri"/>
                        </a:rPr>
                        <a:t>Price Positioning</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7498">
                <a:tc>
                  <a:txBody>
                    <a:bodyPr wrap="none"/>
                    <a:lstStyle/>
                    <a:p>
                      <a:pPr algn="l"/>
                      <a:r>
                        <a:rPr sz="1100" b="1">
                          <a:solidFill>
                            <a:srgbClr val="2E2E2E"/>
                          </a:solidFill>
                          <a:latin typeface="Calibri"/>
                        </a:rPr>
                        <a:t>Economy / value</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98">
                <a:tc>
                  <a:txBody>
                    <a:bodyPr wrap="none"/>
                    <a:lstStyle/>
                    <a:p>
                      <a:pPr algn="l"/>
                      <a:r>
                        <a:rPr sz="1100" b="1">
                          <a:solidFill>
                            <a:srgbClr val="2E2E2E"/>
                          </a:solidFill>
                          <a:latin typeface="Calibri"/>
                        </a:rPr>
                        <a:t>Mid-range</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98">
                <a:tc>
                  <a:txBody>
                    <a:bodyPr wrap="none"/>
                    <a:lstStyle/>
                    <a:p>
                      <a:pPr algn="l"/>
                      <a:r>
                        <a:rPr sz="1100" b="1">
                          <a:solidFill>
                            <a:srgbClr val="2E2E2E"/>
                          </a:solidFill>
                          <a:latin typeface="Calibri"/>
                        </a:rPr>
                        <a:t>Premium</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98">
                <a:tc>
                  <a:txBody>
                    <a:bodyPr wrap="none"/>
                    <a:lstStyle/>
                    <a:p>
                      <a:pPr algn="l"/>
                      <a:r>
                        <a:rPr sz="1100" b="1">
                          <a:solidFill>
                            <a:srgbClr val="2E2E2E"/>
                          </a:solidFill>
                          <a:latin typeface="Calibri"/>
                        </a:rPr>
                        <a:t>Super-premium / speciality</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Price Positioning</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60619" y="2029206"/>
            <a:ext cx="366712" cy="533400"/>
          </a:xfrm>
          <a:prstGeom prst="rect">
            <a:avLst/>
          </a:prstGeom>
        </p:spPr>
      </p:pic>
      <p:sp>
        <p:nvSpPr>
          <p:cNvPr id="21" name="TextBox 20"/>
          <p:cNvSpPr txBox="1"/>
          <p:nvPr/>
        </p:nvSpPr>
        <p:spPr>
          <a:xfrm>
            <a:off x="276225" y="3676650"/>
            <a:ext cx="2809788" cy="194310"/>
          </a:xfrm>
          <a:prstGeom prst="rect">
            <a:avLst/>
          </a:prstGeom>
          <a:noFill/>
        </p:spPr>
        <p:txBody>
          <a:bodyPr wrap="none" lIns="0" rIns="0" tIns="0" bIns="0">
            <a:spAutoFit/>
          </a:bodyPr>
          <a:lstStyle/>
          <a:p>
            <a:r>
              <a:rPr sz="1150" b="0">
                <a:solidFill>
                  <a:srgbClr val="2E2E2E"/>
                </a:solidFill>
                <a:latin typeface="Calibri"/>
              </a:rPr>
              <a:t>▪ 'Mid-range' is the largest price positioning at</a:t>
            </a:r>
          </a:p>
        </p:txBody>
      </p:sp>
      <p:pic>
        <p:nvPicPr>
          <p:cNvPr id="22" name="Picture 21" descr="lock.png"/>
          <p:cNvPicPr>
            <a:picLocks noChangeAspect="1"/>
          </p:cNvPicPr>
          <p:nvPr/>
        </p:nvPicPr>
        <p:blipFill>
          <a:blip r:embed="rId4"/>
          <a:stretch>
            <a:fillRect/>
          </a:stretch>
        </p:blipFill>
        <p:spPr>
          <a:xfrm>
            <a:off x="3035167" y="3666426"/>
            <a:ext cx="134549" cy="195707"/>
          </a:xfrm>
          <a:prstGeom prst="rect">
            <a:avLst/>
          </a:prstGeom>
        </p:spPr>
      </p:pic>
      <p:sp>
        <p:nvSpPr>
          <p:cNvPr id="23" name="TextBox 22"/>
          <p:cNvSpPr txBox="1"/>
          <p:nvPr/>
        </p:nvSpPr>
        <p:spPr>
          <a:xfrm>
            <a:off x="3210276" y="36766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240009" y="3666426"/>
            <a:ext cx="134549" cy="195707"/>
          </a:xfrm>
          <a:prstGeom prst="rect">
            <a:avLst/>
          </a:prstGeom>
        </p:spPr>
      </p:pic>
      <p:sp>
        <p:nvSpPr>
          <p:cNvPr id="25" name="TextBox 24"/>
          <p:cNvSpPr txBox="1"/>
          <p:nvPr/>
        </p:nvSpPr>
        <p:spPr>
          <a:xfrm>
            <a:off x="4415118" y="36766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904487"/>
            <a:ext cx="2659744" cy="194310"/>
          </a:xfrm>
          <a:prstGeom prst="rect">
            <a:avLst/>
          </a:prstGeom>
          <a:noFill/>
        </p:spPr>
        <p:txBody>
          <a:bodyPr wrap="none" lIns="0" rIns="0" tIns="0" bIns="0">
            <a:spAutoFit/>
          </a:bodyPr>
          <a:lstStyle/>
          <a:p>
            <a:r>
              <a:rPr sz="1150" b="0">
                <a:solidFill>
                  <a:srgbClr val="2E2E2E"/>
                </a:solidFill>
                <a:latin typeface="Calibri"/>
              </a:rPr>
              <a:t>▪ 'Super-premium / speciality' grows fastest</a:t>
            </a:r>
          </a:p>
        </p:txBody>
      </p:sp>
      <p:pic>
        <p:nvPicPr>
          <p:cNvPr id="27" name="Picture 26" descr="lock.png"/>
          <p:cNvPicPr>
            <a:picLocks noChangeAspect="1"/>
          </p:cNvPicPr>
          <p:nvPr/>
        </p:nvPicPr>
        <p:blipFill>
          <a:blip r:embed="rId4"/>
          <a:stretch>
            <a:fillRect/>
          </a:stretch>
        </p:blipFill>
        <p:spPr>
          <a:xfrm>
            <a:off x="2885123" y="3894264"/>
            <a:ext cx="134549" cy="195707"/>
          </a:xfrm>
          <a:prstGeom prst="rect">
            <a:avLst/>
          </a:prstGeom>
        </p:spPr>
      </p:pic>
      <p:sp>
        <p:nvSpPr>
          <p:cNvPr id="28" name="TextBox 27"/>
          <p:cNvSpPr txBox="1"/>
          <p:nvPr/>
        </p:nvSpPr>
        <p:spPr>
          <a:xfrm>
            <a:off x="3060232" y="39044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132325"/>
            <a:ext cx="2177665" cy="194310"/>
          </a:xfrm>
          <a:prstGeom prst="rect">
            <a:avLst/>
          </a:prstGeom>
          <a:noFill/>
        </p:spPr>
        <p:txBody>
          <a:bodyPr wrap="none" lIns="0" rIns="0" tIns="0" bIns="0">
            <a:spAutoFit/>
          </a:bodyPr>
          <a:lstStyle/>
          <a:p>
            <a:r>
              <a:rPr sz="1150" b="0">
                <a:solidFill>
                  <a:srgbClr val="2E2E2E"/>
                </a:solidFill>
                <a:latin typeface="Calibri"/>
              </a:rPr>
              <a:t>▪ Share shifts toward 'Mid-range' (+</a:t>
            </a:r>
          </a:p>
        </p:txBody>
      </p:sp>
      <p:pic>
        <p:nvPicPr>
          <p:cNvPr id="30" name="Picture 29" descr="lock.png"/>
          <p:cNvPicPr>
            <a:picLocks noChangeAspect="1"/>
          </p:cNvPicPr>
          <p:nvPr/>
        </p:nvPicPr>
        <p:blipFill>
          <a:blip r:embed="rId4"/>
          <a:stretch>
            <a:fillRect/>
          </a:stretch>
        </p:blipFill>
        <p:spPr>
          <a:xfrm>
            <a:off x="2403044" y="4122102"/>
            <a:ext cx="134549" cy="195707"/>
          </a:xfrm>
          <a:prstGeom prst="rect">
            <a:avLst/>
          </a:prstGeom>
        </p:spPr>
      </p:pic>
      <p:sp>
        <p:nvSpPr>
          <p:cNvPr id="31" name="TextBox 30"/>
          <p:cNvSpPr txBox="1"/>
          <p:nvPr/>
        </p:nvSpPr>
        <p:spPr>
          <a:xfrm>
            <a:off x="2578153" y="4132325"/>
            <a:ext cx="2027621" cy="194310"/>
          </a:xfrm>
          <a:prstGeom prst="rect">
            <a:avLst/>
          </a:prstGeom>
          <a:noFill/>
        </p:spPr>
        <p:txBody>
          <a:bodyPr wrap="none" lIns="0" rIns="0" tIns="0" bIns="0">
            <a:spAutoFit/>
          </a:bodyPr>
          <a:lstStyle/>
          <a:p>
            <a:r>
              <a:rPr sz="1150" b="0">
                <a:solidFill>
                  <a:srgbClr val="2E2E2E"/>
                </a:solidFill>
                <a:latin typeface="Calibri"/>
              </a:rPr>
              <a:t>BPS) and away from 'Premium' (-</a:t>
            </a:r>
          </a:p>
        </p:txBody>
      </p:sp>
      <p:pic>
        <p:nvPicPr>
          <p:cNvPr id="32" name="Picture 31" descr="lock.png"/>
          <p:cNvPicPr>
            <a:picLocks noChangeAspect="1"/>
          </p:cNvPicPr>
          <p:nvPr/>
        </p:nvPicPr>
        <p:blipFill>
          <a:blip r:embed="rId4"/>
          <a:stretch>
            <a:fillRect/>
          </a:stretch>
        </p:blipFill>
        <p:spPr>
          <a:xfrm>
            <a:off x="4554929" y="4122102"/>
            <a:ext cx="134549" cy="195707"/>
          </a:xfrm>
          <a:prstGeom prst="rect">
            <a:avLst/>
          </a:prstGeom>
        </p:spPr>
      </p:pic>
      <p:sp>
        <p:nvSpPr>
          <p:cNvPr id="33" name="TextBox 32"/>
          <p:cNvSpPr txBox="1"/>
          <p:nvPr/>
        </p:nvSpPr>
        <p:spPr>
          <a:xfrm>
            <a:off x="4730038" y="41323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601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349940"/>
            <a:ext cx="134549" cy="195707"/>
          </a:xfrm>
          <a:prstGeom prst="rect">
            <a:avLst/>
          </a:prstGeom>
        </p:spPr>
      </p:pic>
      <p:sp>
        <p:nvSpPr>
          <p:cNvPr id="36" name="TextBox 35"/>
          <p:cNvSpPr txBox="1"/>
          <p:nvPr/>
        </p:nvSpPr>
        <p:spPr>
          <a:xfrm>
            <a:off x="1965143" y="43601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349940"/>
            <a:ext cx="134549" cy="195707"/>
          </a:xfrm>
          <a:prstGeom prst="rect">
            <a:avLst/>
          </a:prstGeom>
        </p:spPr>
      </p:pic>
      <p:sp>
        <p:nvSpPr>
          <p:cNvPr id="38" name="TextBox 37"/>
          <p:cNvSpPr txBox="1"/>
          <p:nvPr/>
        </p:nvSpPr>
        <p:spPr>
          <a:xfrm>
            <a:off x="2291688" y="43601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Price Positioning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Price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Price Positioning (US$ Mn)</a:t>
            </a:r>
          </a:p>
        </p:txBody>
      </p:sp>
      <p:graphicFrame>
        <p:nvGraphicFramePr>
          <p:cNvPr id="13" name="Table 12"/>
          <p:cNvGraphicFramePr>
            <a:graphicFrameLocks noGrp="1"/>
          </p:cNvGraphicFramePr>
          <p:nvPr/>
        </p:nvGraphicFramePr>
        <p:xfrm>
          <a:off x="152400" y="1238250"/>
          <a:ext cx="11887199" cy="1485896"/>
        </p:xfrm>
        <a:graphic>
          <a:graphicData uri="http://schemas.openxmlformats.org/drawingml/2006/table">
            <a:tbl>
              <a:tblPr>
                <a:tableStyleId>{5C22544A-7EE6-4342-B048-85BDC9FD1C3A}</a:tableStyleId>
              </a:tblPr>
              <a:tblGrid>
                <a:gridCol w="1855550"/>
                <a:gridCol w="590097"/>
                <a:gridCol w="590097"/>
                <a:gridCol w="590097"/>
                <a:gridCol w="590097"/>
                <a:gridCol w="590097"/>
                <a:gridCol w="590097"/>
                <a:gridCol w="590097"/>
                <a:gridCol w="590097"/>
                <a:gridCol w="590097"/>
                <a:gridCol w="590097"/>
                <a:gridCol w="590097"/>
                <a:gridCol w="590097"/>
                <a:gridCol w="590097"/>
                <a:gridCol w="590097"/>
                <a:gridCol w="590097"/>
                <a:gridCol w="590097"/>
                <a:gridCol w="590097"/>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Price Positioning</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37084" y="1837563"/>
            <a:ext cx="366712" cy="533400"/>
          </a:xfrm>
          <a:prstGeom prst="rect">
            <a:avLst/>
          </a:prstGeom>
        </p:spPr>
      </p:pic>
      <p:sp>
        <p:nvSpPr>
          <p:cNvPr id="21" name="TextBox 20"/>
          <p:cNvSpPr txBox="1"/>
          <p:nvPr/>
        </p:nvSpPr>
        <p:spPr>
          <a:xfrm>
            <a:off x="276225" y="3486150"/>
            <a:ext cx="2809788" cy="194310"/>
          </a:xfrm>
          <a:prstGeom prst="rect">
            <a:avLst/>
          </a:prstGeom>
          <a:noFill/>
        </p:spPr>
        <p:txBody>
          <a:bodyPr wrap="none" lIns="0" rIns="0" tIns="0" bIns="0">
            <a:spAutoFit/>
          </a:bodyPr>
          <a:lstStyle/>
          <a:p>
            <a:r>
              <a:rPr sz="1150" b="0">
                <a:solidFill>
                  <a:srgbClr val="2E2E2E"/>
                </a:solidFill>
                <a:latin typeface="Calibri"/>
              </a:rPr>
              <a:t>▪ 'Mid-range' is the largest price positioning at</a:t>
            </a:r>
          </a:p>
        </p:txBody>
      </p:sp>
      <p:pic>
        <p:nvPicPr>
          <p:cNvPr id="22" name="Picture 21" descr="lock.png"/>
          <p:cNvPicPr>
            <a:picLocks noChangeAspect="1"/>
          </p:cNvPicPr>
          <p:nvPr/>
        </p:nvPicPr>
        <p:blipFill>
          <a:blip r:embed="rId4"/>
          <a:stretch>
            <a:fillRect/>
          </a:stretch>
        </p:blipFill>
        <p:spPr>
          <a:xfrm>
            <a:off x="3035167" y="3475926"/>
            <a:ext cx="134549" cy="195707"/>
          </a:xfrm>
          <a:prstGeom prst="rect">
            <a:avLst/>
          </a:prstGeom>
        </p:spPr>
      </p:pic>
      <p:sp>
        <p:nvSpPr>
          <p:cNvPr id="23" name="TextBox 22"/>
          <p:cNvSpPr txBox="1"/>
          <p:nvPr/>
        </p:nvSpPr>
        <p:spPr>
          <a:xfrm>
            <a:off x="3210276"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116209" y="3475926"/>
            <a:ext cx="134549" cy="195707"/>
          </a:xfrm>
          <a:prstGeom prst="rect">
            <a:avLst/>
          </a:prstGeom>
        </p:spPr>
      </p:pic>
      <p:sp>
        <p:nvSpPr>
          <p:cNvPr id="25" name="TextBox 24"/>
          <p:cNvSpPr txBox="1"/>
          <p:nvPr/>
        </p:nvSpPr>
        <p:spPr>
          <a:xfrm>
            <a:off x="4291318"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659744" cy="194310"/>
          </a:xfrm>
          <a:prstGeom prst="rect">
            <a:avLst/>
          </a:prstGeom>
          <a:noFill/>
        </p:spPr>
        <p:txBody>
          <a:bodyPr wrap="none" lIns="0" rIns="0" tIns="0" bIns="0">
            <a:spAutoFit/>
          </a:bodyPr>
          <a:lstStyle/>
          <a:p>
            <a:r>
              <a:rPr sz="1150" b="0">
                <a:solidFill>
                  <a:srgbClr val="2E2E2E"/>
                </a:solidFill>
                <a:latin typeface="Calibri"/>
              </a:rPr>
              <a:t>▪ 'Super-premium / speciality' grows fastest</a:t>
            </a:r>
          </a:p>
        </p:txBody>
      </p:sp>
      <p:pic>
        <p:nvPicPr>
          <p:cNvPr id="27" name="Picture 26" descr="lock.png"/>
          <p:cNvPicPr>
            <a:picLocks noChangeAspect="1"/>
          </p:cNvPicPr>
          <p:nvPr/>
        </p:nvPicPr>
        <p:blipFill>
          <a:blip r:embed="rId4"/>
          <a:stretch>
            <a:fillRect/>
          </a:stretch>
        </p:blipFill>
        <p:spPr>
          <a:xfrm>
            <a:off x="2885123" y="3703764"/>
            <a:ext cx="134549" cy="195707"/>
          </a:xfrm>
          <a:prstGeom prst="rect">
            <a:avLst/>
          </a:prstGeom>
        </p:spPr>
      </p:pic>
      <p:sp>
        <p:nvSpPr>
          <p:cNvPr id="28" name="TextBox 27"/>
          <p:cNvSpPr txBox="1"/>
          <p:nvPr/>
        </p:nvSpPr>
        <p:spPr>
          <a:xfrm>
            <a:off x="3060232"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177665" cy="194310"/>
          </a:xfrm>
          <a:prstGeom prst="rect">
            <a:avLst/>
          </a:prstGeom>
          <a:noFill/>
        </p:spPr>
        <p:txBody>
          <a:bodyPr wrap="none" lIns="0" rIns="0" tIns="0" bIns="0">
            <a:spAutoFit/>
          </a:bodyPr>
          <a:lstStyle/>
          <a:p>
            <a:r>
              <a:rPr sz="1150" b="0">
                <a:solidFill>
                  <a:srgbClr val="2E2E2E"/>
                </a:solidFill>
                <a:latin typeface="Calibri"/>
              </a:rPr>
              <a:t>▪ Share shifts toward 'Mid-range' (+</a:t>
            </a:r>
          </a:p>
        </p:txBody>
      </p:sp>
      <p:pic>
        <p:nvPicPr>
          <p:cNvPr id="30" name="Picture 29" descr="lock.png"/>
          <p:cNvPicPr>
            <a:picLocks noChangeAspect="1"/>
          </p:cNvPicPr>
          <p:nvPr/>
        </p:nvPicPr>
        <p:blipFill>
          <a:blip r:embed="rId4"/>
          <a:stretch>
            <a:fillRect/>
          </a:stretch>
        </p:blipFill>
        <p:spPr>
          <a:xfrm>
            <a:off x="2403044" y="3931602"/>
            <a:ext cx="134549" cy="195707"/>
          </a:xfrm>
          <a:prstGeom prst="rect">
            <a:avLst/>
          </a:prstGeom>
        </p:spPr>
      </p:pic>
      <p:sp>
        <p:nvSpPr>
          <p:cNvPr id="31" name="TextBox 30"/>
          <p:cNvSpPr txBox="1"/>
          <p:nvPr/>
        </p:nvSpPr>
        <p:spPr>
          <a:xfrm>
            <a:off x="2578153" y="3941825"/>
            <a:ext cx="2027621" cy="194310"/>
          </a:xfrm>
          <a:prstGeom prst="rect">
            <a:avLst/>
          </a:prstGeom>
          <a:noFill/>
        </p:spPr>
        <p:txBody>
          <a:bodyPr wrap="none" lIns="0" rIns="0" tIns="0" bIns="0">
            <a:spAutoFit/>
          </a:bodyPr>
          <a:lstStyle/>
          <a:p>
            <a:r>
              <a:rPr sz="1150" b="0">
                <a:solidFill>
                  <a:srgbClr val="2E2E2E"/>
                </a:solidFill>
                <a:latin typeface="Calibri"/>
              </a:rPr>
              <a:t>BPS) and away from 'Premium' (-</a:t>
            </a:r>
          </a:p>
        </p:txBody>
      </p:sp>
      <p:pic>
        <p:nvPicPr>
          <p:cNvPr id="32" name="Picture 31" descr="lock.png"/>
          <p:cNvPicPr>
            <a:picLocks noChangeAspect="1"/>
          </p:cNvPicPr>
          <p:nvPr/>
        </p:nvPicPr>
        <p:blipFill>
          <a:blip r:embed="rId4"/>
          <a:stretch>
            <a:fillRect/>
          </a:stretch>
        </p:blipFill>
        <p:spPr>
          <a:xfrm>
            <a:off x="4554929" y="3931602"/>
            <a:ext cx="134549" cy="195707"/>
          </a:xfrm>
          <a:prstGeom prst="rect">
            <a:avLst/>
          </a:prstGeom>
        </p:spPr>
      </p:pic>
      <p:sp>
        <p:nvSpPr>
          <p:cNvPr id="33" name="TextBox 32"/>
          <p:cNvSpPr txBox="1"/>
          <p:nvPr/>
        </p:nvSpPr>
        <p:spPr>
          <a:xfrm>
            <a:off x="4730038"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Price Positioning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Price Positioning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401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2925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305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Economy / value</a:t>
            </a:r>
          </a:p>
        </p:txBody>
      </p:sp>
      <p:sp>
        <p:nvSpPr>
          <p:cNvPr id="19" name="BPS Value 1"/>
          <p:cNvSpPr txBox="1"/>
          <p:nvPr/>
        </p:nvSpPr>
        <p:spPr>
          <a:xfrm>
            <a:off x="6896100" y="201496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4882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4406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6786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Super-premium / speciality</a:t>
            </a:r>
          </a:p>
        </p:txBody>
      </p:sp>
      <p:sp>
        <p:nvSpPr>
          <p:cNvPr id="23" name="BPS Value 2"/>
          <p:cNvSpPr txBox="1"/>
          <p:nvPr/>
        </p:nvSpPr>
        <p:spPr>
          <a:xfrm>
            <a:off x="6896100" y="282977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02599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0212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450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Premium</a:t>
            </a:r>
          </a:p>
        </p:txBody>
      </p:sp>
      <p:sp>
        <p:nvSpPr>
          <p:cNvPr id="27" name="BPS Value 3"/>
          <p:cNvSpPr txBox="1"/>
          <p:nvPr/>
        </p:nvSpPr>
        <p:spPr>
          <a:xfrm>
            <a:off x="6896100" y="400694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49737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9261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164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Mid-range</a:t>
            </a:r>
          </a:p>
        </p:txBody>
      </p:sp>
      <p:sp>
        <p:nvSpPr>
          <p:cNvPr id="31" name="BPS Value 4"/>
          <p:cNvSpPr txBox="1"/>
          <p:nvPr/>
        </p:nvSpPr>
        <p:spPr>
          <a:xfrm>
            <a:off x="6896100" y="547832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Price Positioning</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214748" cy="194310"/>
          </a:xfrm>
          <a:prstGeom prst="rect">
            <a:avLst/>
          </a:prstGeom>
          <a:noFill/>
        </p:spPr>
        <p:txBody>
          <a:bodyPr wrap="none" lIns="0" rIns="0" tIns="0" bIns="0">
            <a:spAutoFit/>
          </a:bodyPr>
          <a:lstStyle/>
          <a:p>
            <a:r>
              <a:rPr sz="1150" b="0">
                <a:solidFill>
                  <a:srgbClr val="2E2E2E"/>
                </a:solidFill>
                <a:latin typeface="Calibri"/>
              </a:rPr>
              <a:t>▪ 'Mid-range' gains the most share +</a:t>
            </a:r>
          </a:p>
        </p:txBody>
      </p:sp>
      <p:pic>
        <p:nvPicPr>
          <p:cNvPr id="39" name="Picture 38" descr="lock.png"/>
          <p:cNvPicPr>
            <a:picLocks noChangeAspect="1"/>
          </p:cNvPicPr>
          <p:nvPr/>
        </p:nvPicPr>
        <p:blipFill>
          <a:blip r:embed="rId5"/>
          <a:stretch>
            <a:fillRect/>
          </a:stretch>
        </p:blipFill>
        <p:spPr>
          <a:xfrm>
            <a:off x="9993452" y="1389951"/>
            <a:ext cx="134549" cy="195707"/>
          </a:xfrm>
          <a:prstGeom prst="rect">
            <a:avLst/>
          </a:prstGeom>
        </p:spPr>
      </p:pic>
      <p:sp>
        <p:nvSpPr>
          <p:cNvPr id="40" name="TextBox 39"/>
          <p:cNvSpPr txBox="1"/>
          <p:nvPr/>
        </p:nvSpPr>
        <p:spPr>
          <a:xfrm>
            <a:off x="10168561"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1785156" cy="194310"/>
          </a:xfrm>
          <a:prstGeom prst="rect">
            <a:avLst/>
          </a:prstGeom>
          <a:noFill/>
        </p:spPr>
        <p:txBody>
          <a:bodyPr wrap="none" lIns="0" rIns="0" tIns="0" bIns="0">
            <a:spAutoFit/>
          </a:bodyPr>
          <a:lstStyle/>
          <a:p>
            <a:r>
              <a:rPr sz="1150" b="0">
                <a:solidFill>
                  <a:srgbClr val="2E2E2E"/>
                </a:solidFill>
                <a:latin typeface="Calibri"/>
              </a:rPr>
              <a:t>▪ 'Premium' cedes the most -</a:t>
            </a:r>
          </a:p>
        </p:txBody>
      </p:sp>
      <p:pic>
        <p:nvPicPr>
          <p:cNvPr id="43" name="Picture 42" descr="lock.png"/>
          <p:cNvPicPr>
            <a:picLocks noChangeAspect="1"/>
          </p:cNvPicPr>
          <p:nvPr/>
        </p:nvPicPr>
        <p:blipFill>
          <a:blip r:embed="rId5"/>
          <a:stretch>
            <a:fillRect/>
          </a:stretch>
        </p:blipFill>
        <p:spPr>
          <a:xfrm>
            <a:off x="9563860" y="1793049"/>
            <a:ext cx="134549" cy="195707"/>
          </a:xfrm>
          <a:prstGeom prst="rect">
            <a:avLst/>
          </a:prstGeom>
        </p:spPr>
      </p:pic>
      <p:sp>
        <p:nvSpPr>
          <p:cNvPr id="44" name="TextBox 43"/>
          <p:cNvSpPr txBox="1"/>
          <p:nvPr/>
        </p:nvSpPr>
        <p:spPr>
          <a:xfrm>
            <a:off x="9738969"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45" name="TextBox 44"/>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829550" y="2206371"/>
            <a:ext cx="3478138" cy="194310"/>
          </a:xfrm>
          <a:prstGeom prst="rect">
            <a:avLst/>
          </a:prstGeom>
          <a:noFill/>
        </p:spPr>
        <p:txBody>
          <a:bodyPr wrap="none" lIns="0" rIns="0" tIns="0" bIns="0">
            <a:spAutoFit/>
          </a:bodyPr>
          <a:lstStyle/>
          <a:p>
            <a:r>
              <a:rPr sz="1150" b="0">
                <a:solidFill>
                  <a:srgbClr val="2E2E2E"/>
                </a:solidFill>
                <a:latin typeface="Calibri"/>
              </a:rPr>
              <a:t>▪ 'Super-premium / speciality' is the fastest-growing price</a:t>
            </a:r>
          </a:p>
        </p:txBody>
      </p:sp>
      <p:sp>
        <p:nvSpPr>
          <p:cNvPr id="47" name="TextBox 46"/>
          <p:cNvSpPr txBox="1"/>
          <p:nvPr/>
        </p:nvSpPr>
        <p:spPr>
          <a:xfrm>
            <a:off x="7829550" y="2381631"/>
            <a:ext cx="888317" cy="194310"/>
          </a:xfrm>
          <a:prstGeom prst="rect">
            <a:avLst/>
          </a:prstGeom>
          <a:noFill/>
        </p:spPr>
        <p:txBody>
          <a:bodyPr wrap="none" lIns="0" rIns="0" tIns="0" bIns="0">
            <a:spAutoFit/>
          </a:bodyPr>
          <a:lstStyle/>
          <a:p>
            <a:r>
              <a:rPr sz="1150" b="0">
                <a:solidFill>
                  <a:srgbClr val="2E2E2E"/>
                </a:solidFill>
                <a:latin typeface="Calibri"/>
              </a:rPr>
              <a:t>positioning at</a:t>
            </a:r>
          </a:p>
        </p:txBody>
      </p:sp>
      <p:pic>
        <p:nvPicPr>
          <p:cNvPr id="48" name="Picture 47" descr="lock.png"/>
          <p:cNvPicPr>
            <a:picLocks noChangeAspect="1"/>
          </p:cNvPicPr>
          <p:nvPr/>
        </p:nvPicPr>
        <p:blipFill>
          <a:blip r:embed="rId5"/>
          <a:stretch>
            <a:fillRect/>
          </a:stretch>
        </p:blipFill>
        <p:spPr>
          <a:xfrm>
            <a:off x="8667021" y="2371407"/>
            <a:ext cx="134549" cy="195707"/>
          </a:xfrm>
          <a:prstGeom prst="rect">
            <a:avLst/>
          </a:prstGeom>
        </p:spPr>
      </p:pic>
      <p:sp>
        <p:nvSpPr>
          <p:cNvPr id="49" name="TextBox 48"/>
          <p:cNvSpPr txBox="1"/>
          <p:nvPr/>
        </p:nvSpPr>
        <p:spPr>
          <a:xfrm>
            <a:off x="8842131"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Price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Price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901628"/>
                <a:gridCol w="665705"/>
                <a:gridCol w="665705"/>
                <a:gridCol w="665705"/>
                <a:gridCol w="665705"/>
                <a:gridCol w="665705"/>
                <a:gridCol w="665705"/>
                <a:gridCol w="665705"/>
                <a:gridCol w="665705"/>
                <a:gridCol w="665705"/>
                <a:gridCol w="665705"/>
                <a:gridCol w="665705"/>
                <a:gridCol w="665705"/>
                <a:gridCol w="665705"/>
                <a:gridCol w="665705"/>
                <a:gridCol w="665705"/>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Price Positioning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sp>
        <p:nvSpPr>
          <p:cNvPr id="33" name="Rectangle 32"/>
          <p:cNvSpPr/>
          <p:nvPr/>
        </p:nvSpPr>
        <p:spPr>
          <a:xfrm>
            <a:off x="1857375" y="3248025"/>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sp>
        <p:nvSpPr>
          <p:cNvPr id="49" name="Rectangle 48"/>
          <p:cNvSpPr/>
          <p:nvPr/>
        </p:nvSpPr>
        <p:spPr>
          <a:xfrm>
            <a:off x="1857375" y="4079081"/>
            <a:ext cx="643890" cy="831056"/>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sp>
        <p:nvSpPr>
          <p:cNvPr id="65" name="Rectangle 64"/>
          <p:cNvSpPr/>
          <p:nvPr/>
        </p:nvSpPr>
        <p:spPr>
          <a:xfrm>
            <a:off x="1857375" y="4910138"/>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81" name="Rectangle 80"/>
          <p:cNvSpPr/>
          <p:nvPr/>
        </p:nvSpPr>
        <p:spPr>
          <a:xfrm>
            <a:off x="1857375" y="5741194"/>
            <a:ext cx="643890" cy="831056"/>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60125" y="1713738"/>
            <a:ext cx="366712" cy="533400"/>
          </a:xfrm>
          <a:prstGeom prst="rect">
            <a:avLst/>
          </a:prstGeom>
        </p:spPr>
      </p:pic>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Price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Price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2024859"/>
                <a:gridCol w="657489"/>
                <a:gridCol w="657489"/>
                <a:gridCol w="657489"/>
                <a:gridCol w="657489"/>
                <a:gridCol w="657489"/>
                <a:gridCol w="657489"/>
                <a:gridCol w="657489"/>
                <a:gridCol w="657489"/>
                <a:gridCol w="657489"/>
                <a:gridCol w="657489"/>
                <a:gridCol w="657489"/>
                <a:gridCol w="657489"/>
                <a:gridCol w="657489"/>
                <a:gridCol w="657489"/>
                <a:gridCol w="657489"/>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Price Positioning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sp>
        <p:nvSpPr>
          <p:cNvPr id="33" name="Rectangle 32"/>
          <p:cNvSpPr/>
          <p:nvPr/>
        </p:nvSpPr>
        <p:spPr>
          <a:xfrm>
            <a:off x="1857375" y="3248025"/>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sp>
        <p:nvSpPr>
          <p:cNvPr id="49" name="Rectangle 48"/>
          <p:cNvSpPr/>
          <p:nvPr/>
        </p:nvSpPr>
        <p:spPr>
          <a:xfrm>
            <a:off x="1857375" y="4079081"/>
            <a:ext cx="643890" cy="831056"/>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D5F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sp>
        <p:nvSpPr>
          <p:cNvPr id="65" name="Rectangle 64"/>
          <p:cNvSpPr/>
          <p:nvPr/>
        </p:nvSpPr>
        <p:spPr>
          <a:xfrm>
            <a:off x="1857375" y="4910138"/>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81" name="Rectangle 80"/>
          <p:cNvSpPr/>
          <p:nvPr/>
        </p:nvSpPr>
        <p:spPr>
          <a:xfrm>
            <a:off x="1857375" y="5741194"/>
            <a:ext cx="643890" cy="831056"/>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921736" y="1713738"/>
            <a:ext cx="366712" cy="533400"/>
          </a:xfrm>
          <a:prstGeom prst="rect">
            <a:avLst/>
          </a:prstGeom>
        </p:spPr>
      </p:pic>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Brand Ownership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Brand Ownership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Brand Ownership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Brand Ownership,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Brand Ownership segment categorizes the market by brand ownership.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Retailer private labels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Manufacturer brands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 operator brands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Brand Ownership split shows how demand is distributed across brand ownership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549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_375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4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450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09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3_8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598_9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883_0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0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912764" cy="186689"/>
          </a:xfrm>
          <a:prstGeom prst="rect">
            <a:avLst/>
          </a:prstGeom>
          <a:noFill/>
        </p:spPr>
        <p:txBody>
          <a:bodyPr wrap="none" lIns="0" rIns="0" tIns="0" bIns="0">
            <a:spAutoFit/>
          </a:bodyPr>
          <a:lstStyle/>
          <a:p>
            <a:r>
              <a:rPr sz="1100" b="0">
                <a:solidFill>
                  <a:srgbClr val="2E2E2E"/>
                </a:solidFill>
                <a:latin typeface="Calibri"/>
              </a:rPr>
              <a:t>▪ 'Retailer private labels' holds the largest share in</a:t>
            </a:r>
          </a:p>
        </p:txBody>
      </p:sp>
      <p:sp>
        <p:nvSpPr>
          <p:cNvPr id="70" name="TextBox 69"/>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71" name="Picture 70" descr="lock.png"/>
          <p:cNvPicPr>
            <a:picLocks noChangeAspect="1"/>
          </p:cNvPicPr>
          <p:nvPr/>
        </p:nvPicPr>
        <p:blipFill>
          <a:blip r:embed="rId13"/>
          <a:stretch>
            <a:fillRect/>
          </a:stretch>
        </p:blipFill>
        <p:spPr>
          <a:xfrm>
            <a:off x="793792" y="4387298"/>
            <a:ext cx="128699" cy="187198"/>
          </a:xfrm>
          <a:prstGeom prst="rect">
            <a:avLst/>
          </a:prstGeom>
        </p:spPr>
      </p:pic>
      <p:sp>
        <p:nvSpPr>
          <p:cNvPr id="72" name="TextBox 71"/>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3" name="TextBox 72"/>
          <p:cNvSpPr txBox="1"/>
          <p:nvPr/>
        </p:nvSpPr>
        <p:spPr>
          <a:xfrm>
            <a:off x="485775" y="4615009"/>
            <a:ext cx="2709763" cy="186689"/>
          </a:xfrm>
          <a:prstGeom prst="rect">
            <a:avLst/>
          </a:prstGeom>
          <a:noFill/>
        </p:spPr>
        <p:txBody>
          <a:bodyPr wrap="none" lIns="0" rIns="0" tIns="0" bIns="0">
            <a:spAutoFit/>
          </a:bodyPr>
          <a:lstStyle/>
          <a:p>
            <a:r>
              <a:rPr sz="1100" b="0">
                <a:solidFill>
                  <a:srgbClr val="2E2E2E"/>
                </a:solidFill>
                <a:latin typeface="Calibri"/>
              </a:rPr>
              <a:t>▪ 'Retailer private labels' is the fastest-growing</a:t>
            </a:r>
          </a:p>
        </p:txBody>
      </p:sp>
      <p:sp>
        <p:nvSpPr>
          <p:cNvPr id="74" name="TextBox 7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75" name="Picture 74" descr="lock.png"/>
          <p:cNvPicPr>
            <a:picLocks noChangeAspect="1"/>
          </p:cNvPicPr>
          <p:nvPr/>
        </p:nvPicPr>
        <p:blipFill>
          <a:blip r:embed="rId13"/>
          <a:stretch>
            <a:fillRect/>
          </a:stretch>
        </p:blipFill>
        <p:spPr>
          <a:xfrm>
            <a:off x="1391064" y="4772870"/>
            <a:ext cx="128699" cy="187198"/>
          </a:xfrm>
          <a:prstGeom prst="rect">
            <a:avLst/>
          </a:prstGeom>
        </p:spPr>
      </p:pic>
      <p:sp>
        <p:nvSpPr>
          <p:cNvPr id="76" name="TextBox 7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7" name="TextBox 7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8" name="Picture 77" descr="lock.png"/>
          <p:cNvPicPr>
            <a:picLocks noChangeAspect="1"/>
          </p:cNvPicPr>
          <p:nvPr/>
        </p:nvPicPr>
        <p:blipFill>
          <a:blip r:embed="rId13"/>
          <a:stretch>
            <a:fillRect/>
          </a:stretch>
        </p:blipFill>
        <p:spPr>
          <a:xfrm>
            <a:off x="2240451" y="4990801"/>
            <a:ext cx="128699" cy="187198"/>
          </a:xfrm>
          <a:prstGeom prst="rect">
            <a:avLst/>
          </a:prstGeom>
        </p:spPr>
      </p:pic>
      <p:sp>
        <p:nvSpPr>
          <p:cNvPr id="79" name="TextBox 7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0" name="Picture 79" descr="lock.png"/>
          <p:cNvPicPr>
            <a:picLocks noChangeAspect="1"/>
          </p:cNvPicPr>
          <p:nvPr/>
        </p:nvPicPr>
        <p:blipFill>
          <a:blip r:embed="rId13"/>
          <a:stretch>
            <a:fillRect/>
          </a:stretch>
        </p:blipFill>
        <p:spPr>
          <a:xfrm>
            <a:off x="2552799" y="4990801"/>
            <a:ext cx="128699" cy="187198"/>
          </a:xfrm>
          <a:prstGeom prst="rect">
            <a:avLst/>
          </a:prstGeom>
        </p:spPr>
      </p:pic>
      <p:sp>
        <p:nvSpPr>
          <p:cNvPr id="81" name="TextBox 8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2" name="TextBox 8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3" name="TextBox 82"/>
          <p:cNvSpPr txBox="1"/>
          <p:nvPr/>
        </p:nvSpPr>
        <p:spPr>
          <a:xfrm>
            <a:off x="485775" y="5386153"/>
            <a:ext cx="2791345" cy="186689"/>
          </a:xfrm>
          <a:prstGeom prst="rect">
            <a:avLst/>
          </a:prstGeom>
          <a:noFill/>
        </p:spPr>
        <p:txBody>
          <a:bodyPr wrap="none" lIns="0" rIns="0" tIns="0" bIns="0">
            <a:spAutoFit/>
          </a:bodyPr>
          <a:lstStyle/>
          <a:p>
            <a:r>
              <a:rPr sz="1100" b="0">
                <a:solidFill>
                  <a:srgbClr val="2E2E2E"/>
                </a:solidFill>
                <a:latin typeface="Calibri"/>
              </a:rPr>
              <a:t>▪ 3 sub-segments make up the brand ownership</a:t>
            </a:r>
          </a:p>
        </p:txBody>
      </p:sp>
      <p:sp>
        <p:nvSpPr>
          <p:cNvPr id="84" name="TextBox 8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5" name="TextBox 84"/>
          <p:cNvSpPr txBox="1"/>
          <p:nvPr/>
        </p:nvSpPr>
        <p:spPr>
          <a:xfrm>
            <a:off x="3838575" y="4229437"/>
            <a:ext cx="1464468" cy="186689"/>
          </a:xfrm>
          <a:prstGeom prst="rect">
            <a:avLst/>
          </a:prstGeom>
          <a:noFill/>
        </p:spPr>
        <p:txBody>
          <a:bodyPr wrap="none" lIns="0" rIns="0" tIns="0" bIns="0">
            <a:spAutoFit/>
          </a:bodyPr>
          <a:lstStyle/>
          <a:p>
            <a:r>
              <a:rPr sz="1100" b="0">
                <a:solidFill>
                  <a:srgbClr val="2E2E2E"/>
                </a:solidFill>
                <a:latin typeface="Calibri"/>
              </a:rPr>
              <a:t>● Retailer private labels:</a:t>
            </a:r>
          </a:p>
        </p:txBody>
      </p:sp>
      <p:pic>
        <p:nvPicPr>
          <p:cNvPr id="86" name="Picture 85" descr="lock.png"/>
          <p:cNvPicPr>
            <a:picLocks noChangeAspect="1"/>
          </p:cNvPicPr>
          <p:nvPr/>
        </p:nvPicPr>
        <p:blipFill>
          <a:blip r:embed="rId13"/>
          <a:stretch>
            <a:fillRect/>
          </a:stretch>
        </p:blipFill>
        <p:spPr>
          <a:xfrm>
            <a:off x="5251095" y="4219658"/>
            <a:ext cx="128699" cy="187198"/>
          </a:xfrm>
          <a:prstGeom prst="rect">
            <a:avLst/>
          </a:prstGeom>
        </p:spPr>
      </p:pic>
      <p:sp>
        <p:nvSpPr>
          <p:cNvPr id="87" name="TextBox 86"/>
          <p:cNvSpPr txBox="1"/>
          <p:nvPr/>
        </p:nvSpPr>
        <p:spPr>
          <a:xfrm>
            <a:off x="541859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8" name="Picture 87" descr="lock.png"/>
          <p:cNvPicPr>
            <a:picLocks noChangeAspect="1"/>
          </p:cNvPicPr>
          <p:nvPr/>
        </p:nvPicPr>
        <p:blipFill>
          <a:blip r:embed="rId13"/>
          <a:stretch>
            <a:fillRect/>
          </a:stretch>
        </p:blipFill>
        <p:spPr>
          <a:xfrm>
            <a:off x="6278041" y="4219658"/>
            <a:ext cx="128699" cy="187198"/>
          </a:xfrm>
          <a:prstGeom prst="rect">
            <a:avLst/>
          </a:prstGeom>
        </p:spPr>
      </p:pic>
      <p:sp>
        <p:nvSpPr>
          <p:cNvPr id="89" name="TextBox 88"/>
          <p:cNvSpPr txBox="1"/>
          <p:nvPr/>
        </p:nvSpPr>
        <p:spPr>
          <a:xfrm>
            <a:off x="6445537"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0" name="TextBox 89"/>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1" name="TextBox 90"/>
          <p:cNvSpPr txBox="1"/>
          <p:nvPr/>
        </p:nvSpPr>
        <p:spPr>
          <a:xfrm>
            <a:off x="3838575" y="4615009"/>
            <a:ext cx="1441003" cy="186689"/>
          </a:xfrm>
          <a:prstGeom prst="rect">
            <a:avLst/>
          </a:prstGeom>
          <a:noFill/>
        </p:spPr>
        <p:txBody>
          <a:bodyPr wrap="none" lIns="0" rIns="0" tIns="0" bIns="0">
            <a:spAutoFit/>
          </a:bodyPr>
          <a:lstStyle/>
          <a:p>
            <a:r>
              <a:rPr sz="1100" b="0">
                <a:solidFill>
                  <a:srgbClr val="2E2E2E"/>
                </a:solidFill>
                <a:latin typeface="Calibri"/>
              </a:rPr>
              <a:t>● Manufacturer brands:</a:t>
            </a:r>
          </a:p>
        </p:txBody>
      </p:sp>
      <p:pic>
        <p:nvPicPr>
          <p:cNvPr id="92" name="Picture 91" descr="lock.png"/>
          <p:cNvPicPr>
            <a:picLocks noChangeAspect="1"/>
          </p:cNvPicPr>
          <p:nvPr/>
        </p:nvPicPr>
        <p:blipFill>
          <a:blip r:embed="rId13"/>
          <a:stretch>
            <a:fillRect/>
          </a:stretch>
        </p:blipFill>
        <p:spPr>
          <a:xfrm>
            <a:off x="5227630" y="4605230"/>
            <a:ext cx="128699" cy="187198"/>
          </a:xfrm>
          <a:prstGeom prst="rect">
            <a:avLst/>
          </a:prstGeom>
        </p:spPr>
      </p:pic>
      <p:sp>
        <p:nvSpPr>
          <p:cNvPr id="93" name="TextBox 92"/>
          <p:cNvSpPr txBox="1"/>
          <p:nvPr/>
        </p:nvSpPr>
        <p:spPr>
          <a:xfrm>
            <a:off x="5395125"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6254576" y="4605230"/>
            <a:ext cx="128699" cy="187198"/>
          </a:xfrm>
          <a:prstGeom prst="rect">
            <a:avLst/>
          </a:prstGeom>
        </p:spPr>
      </p:pic>
      <p:sp>
        <p:nvSpPr>
          <p:cNvPr id="95" name="TextBox 94"/>
          <p:cNvSpPr txBox="1"/>
          <p:nvPr/>
        </p:nvSpPr>
        <p:spPr>
          <a:xfrm>
            <a:off x="6422071"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6" name="TextBox 95"/>
          <p:cNvSpPr txBox="1"/>
          <p:nvPr/>
        </p:nvSpPr>
        <p:spPr>
          <a:xfrm>
            <a:off x="3838575" y="4832941"/>
            <a:ext cx="1952570" cy="186689"/>
          </a:xfrm>
          <a:prstGeom prst="rect">
            <a:avLst/>
          </a:prstGeom>
          <a:noFill/>
        </p:spPr>
        <p:txBody>
          <a:bodyPr wrap="none" lIns="0" rIns="0" tIns="0" bIns="0">
            <a:spAutoFit/>
          </a:bodyPr>
          <a:lstStyle/>
          <a:p>
            <a:r>
              <a:rPr sz="1100" b="0">
                <a:solidFill>
                  <a:srgbClr val="2E2E2E"/>
                </a:solidFill>
                <a:latin typeface="Calibri"/>
              </a:rPr>
              <a:t>● Foodservice / operator brands:</a:t>
            </a:r>
          </a:p>
        </p:txBody>
      </p:sp>
      <p:pic>
        <p:nvPicPr>
          <p:cNvPr id="97" name="Picture 96" descr="lock.png"/>
          <p:cNvPicPr>
            <a:picLocks noChangeAspect="1"/>
          </p:cNvPicPr>
          <p:nvPr/>
        </p:nvPicPr>
        <p:blipFill>
          <a:blip r:embed="rId13"/>
          <a:stretch>
            <a:fillRect/>
          </a:stretch>
        </p:blipFill>
        <p:spPr>
          <a:xfrm>
            <a:off x="5739196" y="4823162"/>
            <a:ext cx="128699" cy="187198"/>
          </a:xfrm>
          <a:prstGeom prst="rect">
            <a:avLst/>
          </a:prstGeom>
        </p:spPr>
      </p:pic>
      <p:sp>
        <p:nvSpPr>
          <p:cNvPr id="98" name="TextBox 97"/>
          <p:cNvSpPr txBox="1"/>
          <p:nvPr/>
        </p:nvSpPr>
        <p:spPr>
          <a:xfrm>
            <a:off x="5906692"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766142" y="4823162"/>
            <a:ext cx="128699" cy="187198"/>
          </a:xfrm>
          <a:prstGeom prst="rect">
            <a:avLst/>
          </a:prstGeom>
        </p:spPr>
      </p:pic>
      <p:sp>
        <p:nvSpPr>
          <p:cNvPr id="100" name="TextBox 99"/>
          <p:cNvSpPr txBox="1"/>
          <p:nvPr/>
        </p:nvSpPr>
        <p:spPr>
          <a:xfrm>
            <a:off x="6933638"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1" name="TextBox 100"/>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2" name="TextBox 10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Brand Ownership segment is projected to grow</a:t>
            </a:r>
          </a:p>
        </p:txBody>
      </p:sp>
      <p:sp>
        <p:nvSpPr>
          <p:cNvPr id="103" name="TextBox 102"/>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04" name="Picture 103" descr="lock.png"/>
          <p:cNvPicPr>
            <a:picLocks noChangeAspect="1"/>
          </p:cNvPicPr>
          <p:nvPr/>
        </p:nvPicPr>
        <p:blipFill>
          <a:blip r:embed="rId13"/>
          <a:stretch>
            <a:fillRect/>
          </a:stretch>
        </p:blipFill>
        <p:spPr>
          <a:xfrm>
            <a:off x="9310118" y="6007677"/>
            <a:ext cx="134549" cy="195707"/>
          </a:xfrm>
          <a:prstGeom prst="rect">
            <a:avLst/>
          </a:prstGeom>
        </p:spPr>
      </p:pic>
      <p:sp>
        <p:nvSpPr>
          <p:cNvPr id="105" name="TextBox 104"/>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Brand Ownership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Brand Ownership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Brand Ownership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Brand Ownership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836642" cy="186689"/>
          </a:xfrm>
          <a:prstGeom prst="rect">
            <a:avLst/>
          </a:prstGeom>
          <a:noFill/>
        </p:spPr>
        <p:txBody>
          <a:bodyPr wrap="none" lIns="0" rIns="0" tIns="0" bIns="0">
            <a:spAutoFit/>
          </a:bodyPr>
          <a:lstStyle/>
          <a:p>
            <a:r>
              <a:rPr sz="1100" b="0">
                <a:solidFill>
                  <a:srgbClr val="2E2E2E"/>
                </a:solidFill>
                <a:latin typeface="Calibri"/>
              </a:rPr>
              <a:t>Between 2026 and 2036, 'Retailer private labels' gains the most share in the North America market (+</a:t>
            </a:r>
          </a:p>
        </p:txBody>
      </p:sp>
      <p:pic>
        <p:nvPicPr>
          <p:cNvPr id="21" name="Picture 20" descr="lock.png"/>
          <p:cNvPicPr>
            <a:picLocks noChangeAspect="1"/>
          </p:cNvPicPr>
          <p:nvPr/>
        </p:nvPicPr>
        <p:blipFill>
          <a:blip r:embed="rId6"/>
          <a:stretch>
            <a:fillRect/>
          </a:stretch>
        </p:blipFill>
        <p:spPr>
          <a:xfrm>
            <a:off x="6041868" y="5851905"/>
            <a:ext cx="128699" cy="187198"/>
          </a:xfrm>
          <a:prstGeom prst="rect">
            <a:avLst/>
          </a:prstGeom>
        </p:spPr>
      </p:pic>
      <p:sp>
        <p:nvSpPr>
          <p:cNvPr id="22" name="TextBox 21"/>
          <p:cNvSpPr txBox="1"/>
          <p:nvPr/>
        </p:nvSpPr>
        <p:spPr>
          <a:xfrm>
            <a:off x="6209364" y="5861685"/>
            <a:ext cx="2332682" cy="186689"/>
          </a:xfrm>
          <a:prstGeom prst="rect">
            <a:avLst/>
          </a:prstGeom>
          <a:noFill/>
        </p:spPr>
        <p:txBody>
          <a:bodyPr wrap="none" lIns="0" rIns="0" tIns="0" bIns="0">
            <a:spAutoFit/>
          </a:bodyPr>
          <a:lstStyle/>
          <a:p>
            <a:r>
              <a:rPr sz="1100" b="0">
                <a:solidFill>
                  <a:srgbClr val="2E2E2E"/>
                </a:solidFill>
                <a:latin typeface="Calibri"/>
              </a:rPr>
              <a:t>BPS) while 'Manufacturer brands' cedes</a:t>
            </a:r>
          </a:p>
        </p:txBody>
      </p:sp>
      <p:pic>
        <p:nvPicPr>
          <p:cNvPr id="23" name="Picture 22" descr="lock.png"/>
          <p:cNvPicPr>
            <a:picLocks noChangeAspect="1"/>
          </p:cNvPicPr>
          <p:nvPr/>
        </p:nvPicPr>
        <p:blipFill>
          <a:blip r:embed="rId6"/>
          <a:stretch>
            <a:fillRect/>
          </a:stretch>
        </p:blipFill>
        <p:spPr>
          <a:xfrm>
            <a:off x="8490098" y="5851905"/>
            <a:ext cx="128699" cy="187198"/>
          </a:xfrm>
          <a:prstGeom prst="rect">
            <a:avLst/>
          </a:prstGeom>
        </p:spPr>
      </p:pic>
      <p:sp>
        <p:nvSpPr>
          <p:cNvPr id="24" name="TextBox 23"/>
          <p:cNvSpPr txBox="1"/>
          <p:nvPr/>
        </p:nvSpPr>
        <p:spPr>
          <a:xfrm>
            <a:off x="8657594" y="5861685"/>
            <a:ext cx="310210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a:t>
            </a:r>
          </a:p>
        </p:txBody>
      </p:sp>
      <p:sp>
        <p:nvSpPr>
          <p:cNvPr id="25" name="TextBox 24"/>
          <p:cNvSpPr txBox="1"/>
          <p:nvPr/>
        </p:nvSpPr>
        <p:spPr>
          <a:xfrm>
            <a:off x="257175" y="602932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Brand Ownership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Manufacturer brands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Retailer private labels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Foodservice / operator brands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Brand Ownership</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258207" cy="194310"/>
          </a:xfrm>
          <a:prstGeom prst="rect">
            <a:avLst/>
          </a:prstGeom>
          <a:noFill/>
        </p:spPr>
        <p:txBody>
          <a:bodyPr wrap="none" lIns="0" rIns="0" tIns="0" bIns="0">
            <a:spAutoFit/>
          </a:bodyPr>
          <a:lstStyle/>
          <a:p>
            <a:r>
              <a:rPr sz="1150" b="0">
                <a:solidFill>
                  <a:srgbClr val="2E2E2E"/>
                </a:solidFill>
                <a:latin typeface="Calibri"/>
              </a:rPr>
              <a:t>▪ Across its 3 sub-segments, by brand ownership adds</a:t>
            </a:r>
          </a:p>
        </p:txBody>
      </p:sp>
      <p:pic>
        <p:nvPicPr>
          <p:cNvPr id="29" name="Picture 28" descr="lock.png"/>
          <p:cNvPicPr>
            <a:picLocks noChangeAspect="1"/>
          </p:cNvPicPr>
          <p:nvPr/>
        </p:nvPicPr>
        <p:blipFill>
          <a:blip r:embed="rId7"/>
          <a:stretch>
            <a:fillRect/>
          </a:stretch>
        </p:blipFill>
        <p:spPr>
          <a:xfrm>
            <a:off x="9512911" y="4276026"/>
            <a:ext cx="134549" cy="195707"/>
          </a:xfrm>
          <a:prstGeom prst="rect">
            <a:avLst/>
          </a:prstGeom>
        </p:spPr>
      </p:pic>
      <p:sp>
        <p:nvSpPr>
          <p:cNvPr id="30" name="TextBox 29"/>
          <p:cNvSpPr txBox="1"/>
          <p:nvPr/>
        </p:nvSpPr>
        <p:spPr>
          <a:xfrm>
            <a:off x="9688020" y="4286250"/>
            <a:ext cx="1841636" cy="194310"/>
          </a:xfrm>
          <a:prstGeom prst="rect">
            <a:avLst/>
          </a:prstGeom>
          <a:noFill/>
        </p:spPr>
        <p:txBody>
          <a:bodyPr wrap="none" lIns="0" rIns="0" tIns="0" bIns="0">
            <a:spAutoFit/>
          </a:bodyPr>
          <a:lstStyle/>
          <a:p>
            <a:r>
              <a:rPr sz="1150" b="0">
                <a:solidFill>
                  <a:srgbClr val="2E2E2E"/>
                </a:solidFill>
                <a:latin typeface="Calibri"/>
              </a:rPr>
              <a:t>US$ Mn to the North America</a:t>
            </a:r>
          </a:p>
        </p:txBody>
      </p:sp>
      <p:sp>
        <p:nvSpPr>
          <p:cNvPr id="31" name="TextBox 30"/>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2" name="TextBox 31"/>
          <p:cNvSpPr txBox="1"/>
          <p:nvPr/>
        </p:nvSpPr>
        <p:spPr>
          <a:xfrm>
            <a:off x="6305550" y="4689347"/>
            <a:ext cx="1829941" cy="194310"/>
          </a:xfrm>
          <a:prstGeom prst="rect">
            <a:avLst/>
          </a:prstGeom>
          <a:noFill/>
        </p:spPr>
        <p:txBody>
          <a:bodyPr wrap="none" lIns="0" rIns="0" tIns="0" bIns="0">
            <a:spAutoFit/>
          </a:bodyPr>
          <a:lstStyle/>
          <a:p>
            <a:r>
              <a:rPr sz="1150" b="0">
                <a:solidFill>
                  <a:srgbClr val="2E2E2E"/>
                </a:solidFill>
                <a:latin typeface="Calibri"/>
              </a:rPr>
              <a:t>▪ 'Retailer private labels' adds</a:t>
            </a:r>
          </a:p>
        </p:txBody>
      </p:sp>
      <p:pic>
        <p:nvPicPr>
          <p:cNvPr id="33" name="Picture 32" descr="lock.png"/>
          <p:cNvPicPr>
            <a:picLocks noChangeAspect="1"/>
          </p:cNvPicPr>
          <p:nvPr/>
        </p:nvPicPr>
        <p:blipFill>
          <a:blip r:embed="rId7"/>
          <a:stretch>
            <a:fillRect/>
          </a:stretch>
        </p:blipFill>
        <p:spPr>
          <a:xfrm>
            <a:off x="8084644" y="4679124"/>
            <a:ext cx="134549" cy="195707"/>
          </a:xfrm>
          <a:prstGeom prst="rect">
            <a:avLst/>
          </a:prstGeom>
        </p:spPr>
      </p:pic>
      <p:sp>
        <p:nvSpPr>
          <p:cNvPr id="34" name="TextBox 33"/>
          <p:cNvSpPr txBox="1"/>
          <p:nvPr/>
        </p:nvSpPr>
        <p:spPr>
          <a:xfrm>
            <a:off x="8259754"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8832225" y="4679124"/>
            <a:ext cx="134549" cy="195707"/>
          </a:xfrm>
          <a:prstGeom prst="rect">
            <a:avLst/>
          </a:prstGeom>
        </p:spPr>
      </p:pic>
      <p:sp>
        <p:nvSpPr>
          <p:cNvPr id="36" name="TextBox 35"/>
          <p:cNvSpPr txBox="1"/>
          <p:nvPr/>
        </p:nvSpPr>
        <p:spPr>
          <a:xfrm>
            <a:off x="9007334"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805409" cy="194310"/>
          </a:xfrm>
          <a:prstGeom prst="rect">
            <a:avLst/>
          </a:prstGeom>
          <a:noFill/>
        </p:spPr>
        <p:txBody>
          <a:bodyPr wrap="none" lIns="0" rIns="0" tIns="0" bIns="0">
            <a:spAutoFit/>
          </a:bodyPr>
          <a:lstStyle/>
          <a:p>
            <a:r>
              <a:rPr sz="1150" b="0">
                <a:solidFill>
                  <a:srgbClr val="2E2E2E"/>
                </a:solidFill>
                <a:latin typeface="Calibri"/>
              </a:rPr>
              <a:t>▪ 'Manufacturer brands' adds</a:t>
            </a:r>
          </a:p>
        </p:txBody>
      </p:sp>
      <p:pic>
        <p:nvPicPr>
          <p:cNvPr id="38" name="Picture 37" descr="lock.png"/>
          <p:cNvPicPr>
            <a:picLocks noChangeAspect="1"/>
          </p:cNvPicPr>
          <p:nvPr/>
        </p:nvPicPr>
        <p:blipFill>
          <a:blip r:embed="rId7"/>
          <a:stretch>
            <a:fillRect/>
          </a:stretch>
        </p:blipFill>
        <p:spPr>
          <a:xfrm>
            <a:off x="8060113" y="4906962"/>
            <a:ext cx="134549" cy="195707"/>
          </a:xfrm>
          <a:prstGeom prst="rect">
            <a:avLst/>
          </a:prstGeom>
        </p:spPr>
      </p:pic>
      <p:sp>
        <p:nvSpPr>
          <p:cNvPr id="39" name="TextBox 38"/>
          <p:cNvSpPr txBox="1"/>
          <p:nvPr/>
        </p:nvSpPr>
        <p:spPr>
          <a:xfrm>
            <a:off x="8235222"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807693" y="4906962"/>
            <a:ext cx="134549" cy="195707"/>
          </a:xfrm>
          <a:prstGeom prst="rect">
            <a:avLst/>
          </a:prstGeom>
        </p:spPr>
      </p:pic>
      <p:sp>
        <p:nvSpPr>
          <p:cNvPr id="41" name="TextBox 40"/>
          <p:cNvSpPr txBox="1"/>
          <p:nvPr/>
        </p:nvSpPr>
        <p:spPr>
          <a:xfrm>
            <a:off x="8982802"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2340229" cy="194310"/>
          </a:xfrm>
          <a:prstGeom prst="rect">
            <a:avLst/>
          </a:prstGeom>
          <a:noFill/>
        </p:spPr>
        <p:txBody>
          <a:bodyPr wrap="none" lIns="0" rIns="0" tIns="0" bIns="0">
            <a:spAutoFit/>
          </a:bodyPr>
          <a:lstStyle/>
          <a:p>
            <a:r>
              <a:rPr sz="1150" b="0">
                <a:solidFill>
                  <a:srgbClr val="2E2E2E"/>
                </a:solidFill>
                <a:latin typeface="Calibri"/>
              </a:rPr>
              <a:t>▪ 'Foodservice / operator brands' adds</a:t>
            </a:r>
          </a:p>
        </p:txBody>
      </p:sp>
      <p:pic>
        <p:nvPicPr>
          <p:cNvPr id="43" name="Picture 42" descr="lock.png"/>
          <p:cNvPicPr>
            <a:picLocks noChangeAspect="1"/>
          </p:cNvPicPr>
          <p:nvPr/>
        </p:nvPicPr>
        <p:blipFill>
          <a:blip r:embed="rId7"/>
          <a:stretch>
            <a:fillRect/>
          </a:stretch>
        </p:blipFill>
        <p:spPr>
          <a:xfrm>
            <a:off x="8594932" y="5134800"/>
            <a:ext cx="134549" cy="195707"/>
          </a:xfrm>
          <a:prstGeom prst="rect">
            <a:avLst/>
          </a:prstGeom>
        </p:spPr>
      </p:pic>
      <p:sp>
        <p:nvSpPr>
          <p:cNvPr id="44" name="TextBox 43"/>
          <p:cNvSpPr txBox="1"/>
          <p:nvPr/>
        </p:nvSpPr>
        <p:spPr>
          <a:xfrm>
            <a:off x="8770042"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9342513" y="5134800"/>
            <a:ext cx="134549" cy="195707"/>
          </a:xfrm>
          <a:prstGeom prst="rect">
            <a:avLst/>
          </a:prstGeom>
        </p:spPr>
      </p:pic>
      <p:sp>
        <p:nvSpPr>
          <p:cNvPr id="46" name="TextBox 45"/>
          <p:cNvSpPr txBox="1"/>
          <p:nvPr/>
        </p:nvSpPr>
        <p:spPr>
          <a:xfrm>
            <a:off x="9517622"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Brand Ownership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Brand Ownership,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Brand Ownership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1886817"/>
                <a:gridCol w="535424"/>
                <a:gridCol w="535424"/>
                <a:gridCol w="535424"/>
                <a:gridCol w="535424"/>
                <a:gridCol w="535424"/>
                <a:gridCol w="535424"/>
                <a:gridCol w="535424"/>
                <a:gridCol w="645795"/>
                <a:gridCol w="645795"/>
                <a:gridCol w="645795"/>
                <a:gridCol w="645795"/>
                <a:gridCol w="645795"/>
                <a:gridCol w="645795"/>
                <a:gridCol w="645795"/>
                <a:gridCol w="645795"/>
                <a:gridCol w="645795"/>
                <a:gridCol w="440260"/>
              </a:tblGrid>
              <a:tr h="438912">
                <a:tc>
                  <a:txBody>
                    <a:bodyPr wrap="none"/>
                    <a:lstStyle/>
                    <a:p>
                      <a:pPr algn="l"/>
                      <a:r>
                        <a:rPr sz="1100" b="1">
                          <a:solidFill>
                            <a:srgbClr val="0B2E4A"/>
                          </a:solidFill>
                          <a:latin typeface="Calibri"/>
                        </a:rPr>
                        <a:t>Brand Ownership</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7460">
                <a:tc>
                  <a:txBody>
                    <a:bodyPr wrap="none"/>
                    <a:lstStyle/>
                    <a:p>
                      <a:pPr algn="l"/>
                      <a:r>
                        <a:rPr sz="1100" b="1">
                          <a:solidFill>
                            <a:srgbClr val="2E2E2E"/>
                          </a:solidFill>
                          <a:latin typeface="Calibri"/>
                        </a:rPr>
                        <a:t>Manufacturer brands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460">
                <a:tc>
                  <a:txBody>
                    <a:bodyPr wrap="none"/>
                    <a:lstStyle/>
                    <a:p>
                      <a:pPr algn="l"/>
                      <a:r>
                        <a:rPr sz="1100" b="1">
                          <a:solidFill>
                            <a:srgbClr val="2E2E2E"/>
                          </a:solidFill>
                          <a:latin typeface="Calibri"/>
                        </a:rPr>
                        <a:t>Retailer private labels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7460">
                <a:tc>
                  <a:txBody>
                    <a:bodyPr wrap="none"/>
                    <a:lstStyle/>
                    <a:p>
                      <a:pPr algn="l"/>
                      <a:r>
                        <a:rPr sz="1100" b="1">
                          <a:solidFill>
                            <a:srgbClr val="2E2E2E"/>
                          </a:solidFill>
                          <a:latin typeface="Calibri"/>
                        </a:rPr>
                        <a:t>Foodservice / operator brands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Brand Ownership</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52718" y="1905381"/>
            <a:ext cx="366712" cy="533400"/>
          </a:xfrm>
          <a:prstGeom prst="rect">
            <a:avLst/>
          </a:prstGeom>
        </p:spPr>
      </p:pic>
      <p:sp>
        <p:nvSpPr>
          <p:cNvPr id="21" name="TextBox 20"/>
          <p:cNvSpPr txBox="1"/>
          <p:nvPr/>
        </p:nvSpPr>
        <p:spPr>
          <a:xfrm>
            <a:off x="276225" y="3429000"/>
            <a:ext cx="3478138" cy="194310"/>
          </a:xfrm>
          <a:prstGeom prst="rect">
            <a:avLst/>
          </a:prstGeom>
          <a:noFill/>
        </p:spPr>
        <p:txBody>
          <a:bodyPr wrap="none" lIns="0" rIns="0" tIns="0" bIns="0">
            <a:spAutoFit/>
          </a:bodyPr>
          <a:lstStyle/>
          <a:p>
            <a:r>
              <a:rPr sz="1150" b="0">
                <a:solidFill>
                  <a:srgbClr val="2E2E2E"/>
                </a:solidFill>
                <a:latin typeface="Calibri"/>
              </a:rPr>
              <a:t>▪ 'Manufacturer brands' is the largest brand ownership at</a:t>
            </a:r>
          </a:p>
        </p:txBody>
      </p:sp>
      <p:pic>
        <p:nvPicPr>
          <p:cNvPr id="22" name="Picture 21" descr="lock.png"/>
          <p:cNvPicPr>
            <a:picLocks noChangeAspect="1"/>
          </p:cNvPicPr>
          <p:nvPr/>
        </p:nvPicPr>
        <p:blipFill>
          <a:blip r:embed="rId4"/>
          <a:stretch>
            <a:fillRect/>
          </a:stretch>
        </p:blipFill>
        <p:spPr>
          <a:xfrm>
            <a:off x="3703517" y="3418776"/>
            <a:ext cx="134549" cy="195707"/>
          </a:xfrm>
          <a:prstGeom prst="rect">
            <a:avLst/>
          </a:prstGeom>
        </p:spPr>
      </p:pic>
      <p:sp>
        <p:nvSpPr>
          <p:cNvPr id="23" name="TextBox 22"/>
          <p:cNvSpPr txBox="1"/>
          <p:nvPr/>
        </p:nvSpPr>
        <p:spPr>
          <a:xfrm>
            <a:off x="3878626" y="3429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908359" y="3418776"/>
            <a:ext cx="134549" cy="195707"/>
          </a:xfrm>
          <a:prstGeom prst="rect">
            <a:avLst/>
          </a:prstGeom>
        </p:spPr>
      </p:pic>
      <p:sp>
        <p:nvSpPr>
          <p:cNvPr id="25" name="TextBox 24"/>
          <p:cNvSpPr txBox="1"/>
          <p:nvPr/>
        </p:nvSpPr>
        <p:spPr>
          <a:xfrm>
            <a:off x="5083468" y="3429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656837"/>
            <a:ext cx="2340260" cy="194310"/>
          </a:xfrm>
          <a:prstGeom prst="rect">
            <a:avLst/>
          </a:prstGeom>
          <a:noFill/>
        </p:spPr>
        <p:txBody>
          <a:bodyPr wrap="none" lIns="0" rIns="0" tIns="0" bIns="0">
            <a:spAutoFit/>
          </a:bodyPr>
          <a:lstStyle/>
          <a:p>
            <a:r>
              <a:rPr sz="1150" b="0">
                <a:solidFill>
                  <a:srgbClr val="2E2E2E"/>
                </a:solidFill>
                <a:latin typeface="Calibri"/>
              </a:rPr>
              <a:t>▪ 'Retailer private labels' grows fastest</a:t>
            </a:r>
          </a:p>
        </p:txBody>
      </p:sp>
      <p:pic>
        <p:nvPicPr>
          <p:cNvPr id="27" name="Picture 26" descr="lock.png"/>
          <p:cNvPicPr>
            <a:picLocks noChangeAspect="1"/>
          </p:cNvPicPr>
          <p:nvPr/>
        </p:nvPicPr>
        <p:blipFill>
          <a:blip r:embed="rId4"/>
          <a:stretch>
            <a:fillRect/>
          </a:stretch>
        </p:blipFill>
        <p:spPr>
          <a:xfrm>
            <a:off x="2565639" y="3646614"/>
            <a:ext cx="134549" cy="195707"/>
          </a:xfrm>
          <a:prstGeom prst="rect">
            <a:avLst/>
          </a:prstGeom>
        </p:spPr>
      </p:pic>
      <p:sp>
        <p:nvSpPr>
          <p:cNvPr id="28" name="TextBox 27"/>
          <p:cNvSpPr txBox="1"/>
          <p:nvPr/>
        </p:nvSpPr>
        <p:spPr>
          <a:xfrm>
            <a:off x="2740748" y="3656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884675"/>
            <a:ext cx="2849438" cy="194310"/>
          </a:xfrm>
          <a:prstGeom prst="rect">
            <a:avLst/>
          </a:prstGeom>
          <a:noFill/>
        </p:spPr>
        <p:txBody>
          <a:bodyPr wrap="none" lIns="0" rIns="0" tIns="0" bIns="0">
            <a:spAutoFit/>
          </a:bodyPr>
          <a:lstStyle/>
          <a:p>
            <a:r>
              <a:rPr sz="1150" b="0">
                <a:solidFill>
                  <a:srgbClr val="2E2E2E"/>
                </a:solidFill>
                <a:latin typeface="Calibri"/>
              </a:rPr>
              <a:t>▪ Share shifts toward 'Retailer private labels' (+</a:t>
            </a:r>
          </a:p>
        </p:txBody>
      </p:sp>
      <p:pic>
        <p:nvPicPr>
          <p:cNvPr id="30" name="Picture 29" descr="lock.png"/>
          <p:cNvPicPr>
            <a:picLocks noChangeAspect="1"/>
          </p:cNvPicPr>
          <p:nvPr/>
        </p:nvPicPr>
        <p:blipFill>
          <a:blip r:embed="rId4"/>
          <a:stretch>
            <a:fillRect/>
          </a:stretch>
        </p:blipFill>
        <p:spPr>
          <a:xfrm>
            <a:off x="3074817" y="3874452"/>
            <a:ext cx="134549" cy="195707"/>
          </a:xfrm>
          <a:prstGeom prst="rect">
            <a:avLst/>
          </a:prstGeom>
        </p:spPr>
      </p:pic>
      <p:sp>
        <p:nvSpPr>
          <p:cNvPr id="31" name="TextBox 30"/>
          <p:cNvSpPr txBox="1"/>
          <p:nvPr/>
        </p:nvSpPr>
        <p:spPr>
          <a:xfrm>
            <a:off x="3249926" y="3884675"/>
            <a:ext cx="2751025" cy="194310"/>
          </a:xfrm>
          <a:prstGeom prst="rect">
            <a:avLst/>
          </a:prstGeom>
          <a:noFill/>
        </p:spPr>
        <p:txBody>
          <a:bodyPr wrap="none" lIns="0" rIns="0" tIns="0" bIns="0">
            <a:spAutoFit/>
          </a:bodyPr>
          <a:lstStyle/>
          <a:p>
            <a:r>
              <a:rPr sz="1150" b="0">
                <a:solidFill>
                  <a:srgbClr val="2E2E2E"/>
                </a:solidFill>
                <a:latin typeface="Calibri"/>
              </a:rPr>
              <a:t>BPS) and away from 'Manufacturer brands' (-</a:t>
            </a:r>
          </a:p>
        </p:txBody>
      </p:sp>
      <p:pic>
        <p:nvPicPr>
          <p:cNvPr id="32" name="Picture 31" descr="lock.png"/>
          <p:cNvPicPr>
            <a:picLocks noChangeAspect="1"/>
          </p:cNvPicPr>
          <p:nvPr/>
        </p:nvPicPr>
        <p:blipFill>
          <a:blip r:embed="rId4"/>
          <a:stretch>
            <a:fillRect/>
          </a:stretch>
        </p:blipFill>
        <p:spPr>
          <a:xfrm>
            <a:off x="5950106" y="3874452"/>
            <a:ext cx="134549" cy="195707"/>
          </a:xfrm>
          <a:prstGeom prst="rect">
            <a:avLst/>
          </a:prstGeom>
        </p:spPr>
      </p:pic>
      <p:sp>
        <p:nvSpPr>
          <p:cNvPr id="33" name="TextBox 32"/>
          <p:cNvSpPr txBox="1"/>
          <p:nvPr/>
        </p:nvSpPr>
        <p:spPr>
          <a:xfrm>
            <a:off x="6125215" y="3884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12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02290"/>
            <a:ext cx="134549" cy="195707"/>
          </a:xfrm>
          <a:prstGeom prst="rect">
            <a:avLst/>
          </a:prstGeom>
        </p:spPr>
      </p:pic>
      <p:sp>
        <p:nvSpPr>
          <p:cNvPr id="36" name="TextBox 35"/>
          <p:cNvSpPr txBox="1"/>
          <p:nvPr/>
        </p:nvSpPr>
        <p:spPr>
          <a:xfrm>
            <a:off x="1965143" y="4112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02290"/>
            <a:ext cx="134549" cy="195707"/>
          </a:xfrm>
          <a:prstGeom prst="rect">
            <a:avLst/>
          </a:prstGeom>
        </p:spPr>
      </p:pic>
      <p:sp>
        <p:nvSpPr>
          <p:cNvPr id="38" name="TextBox 37"/>
          <p:cNvSpPr txBox="1"/>
          <p:nvPr/>
        </p:nvSpPr>
        <p:spPr>
          <a:xfrm>
            <a:off x="2291688" y="4112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Brand Ownership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Brand Ownership,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Brand Ownership (US$ Mn)</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026843"/>
                <a:gridCol w="580021"/>
                <a:gridCol w="580021"/>
                <a:gridCol w="580021"/>
                <a:gridCol w="580021"/>
                <a:gridCol w="580021"/>
                <a:gridCol w="580021"/>
                <a:gridCol w="580021"/>
                <a:gridCol w="580021"/>
                <a:gridCol w="580021"/>
                <a:gridCol w="580021"/>
                <a:gridCol w="580021"/>
                <a:gridCol w="580021"/>
                <a:gridCol w="580021"/>
                <a:gridCol w="580021"/>
                <a:gridCol w="580021"/>
                <a:gridCol w="580021"/>
                <a:gridCol w="580021"/>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Brand Ownership</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22731" y="1713738"/>
            <a:ext cx="366712" cy="533400"/>
          </a:xfrm>
          <a:prstGeom prst="rect">
            <a:avLst/>
          </a:prstGeom>
        </p:spPr>
      </p:pic>
      <p:sp>
        <p:nvSpPr>
          <p:cNvPr id="21" name="TextBox 20"/>
          <p:cNvSpPr txBox="1"/>
          <p:nvPr/>
        </p:nvSpPr>
        <p:spPr>
          <a:xfrm>
            <a:off x="276225" y="3238500"/>
            <a:ext cx="3502669" cy="194310"/>
          </a:xfrm>
          <a:prstGeom prst="rect">
            <a:avLst/>
          </a:prstGeom>
          <a:noFill/>
        </p:spPr>
        <p:txBody>
          <a:bodyPr wrap="none" lIns="0" rIns="0" tIns="0" bIns="0">
            <a:spAutoFit/>
          </a:bodyPr>
          <a:lstStyle/>
          <a:p>
            <a:r>
              <a:rPr sz="1150" b="0">
                <a:solidFill>
                  <a:srgbClr val="2E2E2E"/>
                </a:solidFill>
                <a:latin typeface="Calibri"/>
              </a:rPr>
              <a:t>▪ 'Retailer private labels' is the largest brand ownership at</a:t>
            </a:r>
          </a:p>
        </p:txBody>
      </p:sp>
      <p:pic>
        <p:nvPicPr>
          <p:cNvPr id="22" name="Picture 21" descr="lock.png"/>
          <p:cNvPicPr>
            <a:picLocks noChangeAspect="1"/>
          </p:cNvPicPr>
          <p:nvPr/>
        </p:nvPicPr>
        <p:blipFill>
          <a:blip r:embed="rId4"/>
          <a:stretch>
            <a:fillRect/>
          </a:stretch>
        </p:blipFill>
        <p:spPr>
          <a:xfrm>
            <a:off x="3728048" y="3228276"/>
            <a:ext cx="134549" cy="195707"/>
          </a:xfrm>
          <a:prstGeom prst="rect">
            <a:avLst/>
          </a:prstGeom>
        </p:spPr>
      </p:pic>
      <p:sp>
        <p:nvSpPr>
          <p:cNvPr id="23" name="TextBox 22"/>
          <p:cNvSpPr txBox="1"/>
          <p:nvPr/>
        </p:nvSpPr>
        <p:spPr>
          <a:xfrm>
            <a:off x="3903158"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809090" y="3228276"/>
            <a:ext cx="134549" cy="195707"/>
          </a:xfrm>
          <a:prstGeom prst="rect">
            <a:avLst/>
          </a:prstGeom>
        </p:spPr>
      </p:pic>
      <p:sp>
        <p:nvSpPr>
          <p:cNvPr id="25" name="TextBox 24"/>
          <p:cNvSpPr txBox="1"/>
          <p:nvPr/>
        </p:nvSpPr>
        <p:spPr>
          <a:xfrm>
            <a:off x="4984200"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340260" cy="194310"/>
          </a:xfrm>
          <a:prstGeom prst="rect">
            <a:avLst/>
          </a:prstGeom>
          <a:noFill/>
        </p:spPr>
        <p:txBody>
          <a:bodyPr wrap="none" lIns="0" rIns="0" tIns="0" bIns="0">
            <a:spAutoFit/>
          </a:bodyPr>
          <a:lstStyle/>
          <a:p>
            <a:r>
              <a:rPr sz="1150" b="0">
                <a:solidFill>
                  <a:srgbClr val="2E2E2E"/>
                </a:solidFill>
                <a:latin typeface="Calibri"/>
              </a:rPr>
              <a:t>▪ 'Retailer private labels' grows fastest</a:t>
            </a:r>
          </a:p>
        </p:txBody>
      </p:sp>
      <p:pic>
        <p:nvPicPr>
          <p:cNvPr id="27" name="Picture 26" descr="lock.png"/>
          <p:cNvPicPr>
            <a:picLocks noChangeAspect="1"/>
          </p:cNvPicPr>
          <p:nvPr/>
        </p:nvPicPr>
        <p:blipFill>
          <a:blip r:embed="rId4"/>
          <a:stretch>
            <a:fillRect/>
          </a:stretch>
        </p:blipFill>
        <p:spPr>
          <a:xfrm>
            <a:off x="2565639" y="3456114"/>
            <a:ext cx="134549" cy="195707"/>
          </a:xfrm>
          <a:prstGeom prst="rect">
            <a:avLst/>
          </a:prstGeom>
        </p:spPr>
      </p:pic>
      <p:sp>
        <p:nvSpPr>
          <p:cNvPr id="28" name="TextBox 27"/>
          <p:cNvSpPr txBox="1"/>
          <p:nvPr/>
        </p:nvSpPr>
        <p:spPr>
          <a:xfrm>
            <a:off x="2740748"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849438" cy="194310"/>
          </a:xfrm>
          <a:prstGeom prst="rect">
            <a:avLst/>
          </a:prstGeom>
          <a:noFill/>
        </p:spPr>
        <p:txBody>
          <a:bodyPr wrap="none" lIns="0" rIns="0" tIns="0" bIns="0">
            <a:spAutoFit/>
          </a:bodyPr>
          <a:lstStyle/>
          <a:p>
            <a:r>
              <a:rPr sz="1150" b="0">
                <a:solidFill>
                  <a:srgbClr val="2E2E2E"/>
                </a:solidFill>
                <a:latin typeface="Calibri"/>
              </a:rPr>
              <a:t>▪ Share shifts toward 'Retailer private labels' (+</a:t>
            </a:r>
          </a:p>
        </p:txBody>
      </p:sp>
      <p:pic>
        <p:nvPicPr>
          <p:cNvPr id="30" name="Picture 29" descr="lock.png"/>
          <p:cNvPicPr>
            <a:picLocks noChangeAspect="1"/>
          </p:cNvPicPr>
          <p:nvPr/>
        </p:nvPicPr>
        <p:blipFill>
          <a:blip r:embed="rId4"/>
          <a:stretch>
            <a:fillRect/>
          </a:stretch>
        </p:blipFill>
        <p:spPr>
          <a:xfrm>
            <a:off x="3074817" y="3683952"/>
            <a:ext cx="134549" cy="195707"/>
          </a:xfrm>
          <a:prstGeom prst="rect">
            <a:avLst/>
          </a:prstGeom>
        </p:spPr>
      </p:pic>
      <p:sp>
        <p:nvSpPr>
          <p:cNvPr id="31" name="TextBox 30"/>
          <p:cNvSpPr txBox="1"/>
          <p:nvPr/>
        </p:nvSpPr>
        <p:spPr>
          <a:xfrm>
            <a:off x="3249926" y="3694175"/>
            <a:ext cx="2751025" cy="194310"/>
          </a:xfrm>
          <a:prstGeom prst="rect">
            <a:avLst/>
          </a:prstGeom>
          <a:noFill/>
        </p:spPr>
        <p:txBody>
          <a:bodyPr wrap="none" lIns="0" rIns="0" tIns="0" bIns="0">
            <a:spAutoFit/>
          </a:bodyPr>
          <a:lstStyle/>
          <a:p>
            <a:r>
              <a:rPr sz="1150" b="0">
                <a:solidFill>
                  <a:srgbClr val="2E2E2E"/>
                </a:solidFill>
                <a:latin typeface="Calibri"/>
              </a:rPr>
              <a:t>BPS) and away from 'Manufacturer brands' (-</a:t>
            </a:r>
          </a:p>
        </p:txBody>
      </p:sp>
      <p:pic>
        <p:nvPicPr>
          <p:cNvPr id="32" name="Picture 31" descr="lock.png"/>
          <p:cNvPicPr>
            <a:picLocks noChangeAspect="1"/>
          </p:cNvPicPr>
          <p:nvPr/>
        </p:nvPicPr>
        <p:blipFill>
          <a:blip r:embed="rId4"/>
          <a:stretch>
            <a:fillRect/>
          </a:stretch>
        </p:blipFill>
        <p:spPr>
          <a:xfrm>
            <a:off x="5950106" y="3683952"/>
            <a:ext cx="134549" cy="195707"/>
          </a:xfrm>
          <a:prstGeom prst="rect">
            <a:avLst/>
          </a:prstGeom>
        </p:spPr>
      </p:pic>
      <p:sp>
        <p:nvSpPr>
          <p:cNvPr id="33" name="TextBox 32"/>
          <p:cNvSpPr txBox="1"/>
          <p:nvPr/>
        </p:nvSpPr>
        <p:spPr>
          <a:xfrm>
            <a:off x="612521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Brand Ownership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Brand Ownership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835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358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73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 operator brands</a:t>
            </a:r>
          </a:p>
        </p:txBody>
      </p:sp>
      <p:sp>
        <p:nvSpPr>
          <p:cNvPr id="19" name="BPS Value 1"/>
          <p:cNvSpPr txBox="1"/>
          <p:nvPr/>
        </p:nvSpPr>
        <p:spPr>
          <a:xfrm>
            <a:off x="6896100" y="202930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32008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53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391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Manufacturer brands</a:t>
            </a:r>
          </a:p>
        </p:txBody>
      </p:sp>
      <p:sp>
        <p:nvSpPr>
          <p:cNvPr id="23" name="BPS Value 2"/>
          <p:cNvSpPr txBox="1"/>
          <p:nvPr/>
        </p:nvSpPr>
        <p:spPr>
          <a:xfrm>
            <a:off x="6896100" y="330103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52291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22442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1482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Retailer private labels</a:t>
            </a:r>
          </a:p>
        </p:txBody>
      </p:sp>
      <p:sp>
        <p:nvSpPr>
          <p:cNvPr id="27" name="BPS Value 3"/>
          <p:cNvSpPr txBox="1"/>
          <p:nvPr/>
        </p:nvSpPr>
        <p:spPr>
          <a:xfrm>
            <a:off x="6896100" y="521013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Brand Ownership</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886521" cy="194310"/>
          </a:xfrm>
          <a:prstGeom prst="rect">
            <a:avLst/>
          </a:prstGeom>
          <a:noFill/>
        </p:spPr>
        <p:txBody>
          <a:bodyPr wrap="none" lIns="0" rIns="0" tIns="0" bIns="0">
            <a:spAutoFit/>
          </a:bodyPr>
          <a:lstStyle/>
          <a:p>
            <a:r>
              <a:rPr sz="1150" b="0">
                <a:solidFill>
                  <a:srgbClr val="2E2E2E"/>
                </a:solidFill>
                <a:latin typeface="Calibri"/>
              </a:rPr>
              <a:t>▪ 'Retailer private labels' gains the most share +</a:t>
            </a:r>
          </a:p>
        </p:txBody>
      </p:sp>
      <p:pic>
        <p:nvPicPr>
          <p:cNvPr id="35" name="Picture 34" descr="lock.png"/>
          <p:cNvPicPr>
            <a:picLocks noChangeAspect="1"/>
          </p:cNvPicPr>
          <p:nvPr/>
        </p:nvPicPr>
        <p:blipFill>
          <a:blip r:embed="rId5"/>
          <a:stretch>
            <a:fillRect/>
          </a:stretch>
        </p:blipFill>
        <p:spPr>
          <a:xfrm>
            <a:off x="10665225" y="1389951"/>
            <a:ext cx="134549" cy="195707"/>
          </a:xfrm>
          <a:prstGeom prst="rect">
            <a:avLst/>
          </a:prstGeom>
        </p:spPr>
      </p:pic>
      <p:sp>
        <p:nvSpPr>
          <p:cNvPr id="36" name="TextBox 35"/>
          <p:cNvSpPr txBox="1"/>
          <p:nvPr/>
        </p:nvSpPr>
        <p:spPr>
          <a:xfrm>
            <a:off x="10840334"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37" name="TextBox 36"/>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508560" cy="194310"/>
          </a:xfrm>
          <a:prstGeom prst="rect">
            <a:avLst/>
          </a:prstGeom>
          <a:noFill/>
        </p:spPr>
        <p:txBody>
          <a:bodyPr wrap="none" lIns="0" rIns="0" tIns="0" bIns="0">
            <a:spAutoFit/>
          </a:bodyPr>
          <a:lstStyle/>
          <a:p>
            <a:r>
              <a:rPr sz="1150" b="0">
                <a:solidFill>
                  <a:srgbClr val="2E2E2E"/>
                </a:solidFill>
                <a:latin typeface="Calibri"/>
              </a:rPr>
              <a:t>▪ 'Manufacturer brands' cedes the most -</a:t>
            </a:r>
          </a:p>
        </p:txBody>
      </p:sp>
      <p:pic>
        <p:nvPicPr>
          <p:cNvPr id="39" name="Picture 38" descr="lock.png"/>
          <p:cNvPicPr>
            <a:picLocks noChangeAspect="1"/>
          </p:cNvPicPr>
          <p:nvPr/>
        </p:nvPicPr>
        <p:blipFill>
          <a:blip r:embed="rId5"/>
          <a:stretch>
            <a:fillRect/>
          </a:stretch>
        </p:blipFill>
        <p:spPr>
          <a:xfrm>
            <a:off x="10287263" y="1793049"/>
            <a:ext cx="134549" cy="195707"/>
          </a:xfrm>
          <a:prstGeom prst="rect">
            <a:avLst/>
          </a:prstGeom>
        </p:spPr>
      </p:pic>
      <p:sp>
        <p:nvSpPr>
          <p:cNvPr id="40" name="TextBox 39"/>
          <p:cNvSpPr txBox="1"/>
          <p:nvPr/>
        </p:nvSpPr>
        <p:spPr>
          <a:xfrm>
            <a:off x="10462373"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1" name="TextBox 40"/>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4024969" cy="194310"/>
          </a:xfrm>
          <a:prstGeom prst="rect">
            <a:avLst/>
          </a:prstGeom>
          <a:noFill/>
        </p:spPr>
        <p:txBody>
          <a:bodyPr wrap="none" lIns="0" rIns="0" tIns="0" bIns="0">
            <a:spAutoFit/>
          </a:bodyPr>
          <a:lstStyle/>
          <a:p>
            <a:r>
              <a:rPr sz="1150" b="0">
                <a:solidFill>
                  <a:srgbClr val="2E2E2E"/>
                </a:solidFill>
                <a:latin typeface="Calibri"/>
              </a:rPr>
              <a:t>▪ 'Retailer private labels' is the fastest-growing brand ownership at</a:t>
            </a:r>
          </a:p>
        </p:txBody>
      </p:sp>
      <p:pic>
        <p:nvPicPr>
          <p:cNvPr id="43" name="Picture 42" descr="lock.png"/>
          <p:cNvPicPr>
            <a:picLocks noChangeAspect="1"/>
          </p:cNvPicPr>
          <p:nvPr/>
        </p:nvPicPr>
        <p:blipFill>
          <a:blip r:embed="rId5"/>
          <a:stretch>
            <a:fillRect/>
          </a:stretch>
        </p:blipFill>
        <p:spPr>
          <a:xfrm>
            <a:off x="7815470" y="2371407"/>
            <a:ext cx="134549" cy="195707"/>
          </a:xfrm>
          <a:prstGeom prst="rect">
            <a:avLst/>
          </a:prstGeom>
        </p:spPr>
      </p:pic>
      <p:sp>
        <p:nvSpPr>
          <p:cNvPr id="44" name="TextBox 43"/>
          <p:cNvSpPr txBox="1"/>
          <p:nvPr/>
        </p:nvSpPr>
        <p:spPr>
          <a:xfrm>
            <a:off x="799057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5" name="TextBox 44"/>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599245"/>
            <a:ext cx="134549" cy="195707"/>
          </a:xfrm>
          <a:prstGeom prst="rect">
            <a:avLst/>
          </a:prstGeom>
        </p:spPr>
      </p:pic>
      <p:sp>
        <p:nvSpPr>
          <p:cNvPr id="47" name="TextBox 46"/>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599245"/>
            <a:ext cx="134549" cy="195707"/>
          </a:xfrm>
          <a:prstGeom prst="rect">
            <a:avLst/>
          </a:prstGeom>
        </p:spPr>
      </p:pic>
      <p:sp>
        <p:nvSpPr>
          <p:cNvPr id="49" name="TextBox 48"/>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Brand Ownership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Brand Ownership,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Brand Ownership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Manufacturer brands</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Retailer private labels</a:t>
            </a:r>
          </a:p>
        </p:txBody>
      </p:sp>
      <p:sp>
        <p:nvSpPr>
          <p:cNvPr id="49" name="Rectangle 48"/>
          <p:cNvSpPr/>
          <p:nvPr/>
        </p:nvSpPr>
        <p:spPr>
          <a:xfrm>
            <a:off x="1857375" y="4191000"/>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 operator brands</a:t>
            </a:r>
          </a:p>
        </p:txBody>
      </p:sp>
      <p:sp>
        <p:nvSpPr>
          <p:cNvPr id="65" name="Rectangle 64"/>
          <p:cNvSpPr/>
          <p:nvPr/>
        </p:nvSpPr>
        <p:spPr>
          <a:xfrm>
            <a:off x="1857375" y="5381625"/>
            <a:ext cx="643890" cy="119062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13478" y="1589913"/>
            <a:ext cx="366712" cy="533400"/>
          </a:xfrm>
          <a:prstGeom prst="rect">
            <a:avLst/>
          </a:prstGeom>
        </p:spPr>
      </p:pic>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Brand Ownership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Brand Ownership,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Brand Ownership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Manufacturer brands</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Retailer private labels</a:t>
            </a:r>
          </a:p>
        </p:txBody>
      </p:sp>
      <p:sp>
        <p:nvSpPr>
          <p:cNvPr id="49" name="Rectangle 48"/>
          <p:cNvSpPr/>
          <p:nvPr/>
        </p:nvSpPr>
        <p:spPr>
          <a:xfrm>
            <a:off x="1857375" y="4191000"/>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4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 operator brands</a:t>
            </a:r>
          </a:p>
        </p:txBody>
      </p:sp>
      <p:sp>
        <p:nvSpPr>
          <p:cNvPr id="65" name="Rectangle 64"/>
          <p:cNvSpPr/>
          <p:nvPr/>
        </p:nvSpPr>
        <p:spPr>
          <a:xfrm>
            <a:off x="185737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13478" y="1589913"/>
            <a:ext cx="366712" cy="533400"/>
          </a:xfrm>
          <a:prstGeom prst="rect">
            <a:avLst/>
          </a:prstGeom>
        </p:spPr>
      </p:pic>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Sales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Sales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Sales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Sales Channel segment categorizes the market by sales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and institutional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Vending</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Channel split shows how demand is distributed across sales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_214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3_092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3_4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224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028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5_2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58_9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33_0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3_9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16857" cy="186689"/>
          </a:xfrm>
          <a:prstGeom prst="rect">
            <a:avLst/>
          </a:prstGeom>
          <a:noFill/>
        </p:spPr>
        <p:txBody>
          <a:bodyPr wrap="none" lIns="0" rIns="0" tIns="0" bIns="0">
            <a:spAutoFit/>
          </a:bodyPr>
          <a:lstStyle/>
          <a:p>
            <a:r>
              <a:rPr sz="1100" b="0">
                <a:solidFill>
                  <a:srgbClr val="2E2E2E"/>
                </a:solidFill>
                <a:latin typeface="Calibri"/>
              </a:rPr>
              <a:t>▪ 'Retail' holds the largest share in 2026</a:t>
            </a:r>
          </a:p>
        </p:txBody>
      </p:sp>
      <p:pic>
        <p:nvPicPr>
          <p:cNvPr id="70" name="Picture 69" descr="lock.png"/>
          <p:cNvPicPr>
            <a:picLocks noChangeAspect="1"/>
          </p:cNvPicPr>
          <p:nvPr/>
        </p:nvPicPr>
        <p:blipFill>
          <a:blip r:embed="rId13"/>
          <a:stretch>
            <a:fillRect/>
          </a:stretch>
        </p:blipFill>
        <p:spPr>
          <a:xfrm>
            <a:off x="2750683" y="4219658"/>
            <a:ext cx="128699" cy="187198"/>
          </a:xfrm>
          <a:prstGeom prst="rect">
            <a:avLst/>
          </a:prstGeom>
        </p:spPr>
      </p:pic>
      <p:sp>
        <p:nvSpPr>
          <p:cNvPr id="71" name="TextBox 70"/>
          <p:cNvSpPr txBox="1"/>
          <p:nvPr/>
        </p:nvSpPr>
        <p:spPr>
          <a:xfrm>
            <a:off x="2918179"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72" name="TextBox 71"/>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73" name="TextBox 72"/>
          <p:cNvSpPr txBox="1"/>
          <p:nvPr/>
        </p:nvSpPr>
        <p:spPr>
          <a:xfrm>
            <a:off x="485775" y="4615009"/>
            <a:ext cx="2202502" cy="186689"/>
          </a:xfrm>
          <a:prstGeom prst="rect">
            <a:avLst/>
          </a:prstGeom>
          <a:noFill/>
        </p:spPr>
        <p:txBody>
          <a:bodyPr wrap="none" lIns="0" rIns="0" tIns="0" bIns="0">
            <a:spAutoFit/>
          </a:bodyPr>
          <a:lstStyle/>
          <a:p>
            <a:r>
              <a:rPr sz="1100" b="0">
                <a:solidFill>
                  <a:srgbClr val="2E2E2E"/>
                </a:solidFill>
                <a:latin typeface="Calibri"/>
              </a:rPr>
              <a:t>▪ 'Foodservice and institutional' is the</a:t>
            </a:r>
          </a:p>
        </p:txBody>
      </p:sp>
      <p:sp>
        <p:nvSpPr>
          <p:cNvPr id="74" name="TextBox 73"/>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75" name="Picture 74" descr="lock.png"/>
          <p:cNvPicPr>
            <a:picLocks noChangeAspect="1"/>
          </p:cNvPicPr>
          <p:nvPr/>
        </p:nvPicPr>
        <p:blipFill>
          <a:blip r:embed="rId13"/>
          <a:stretch>
            <a:fillRect/>
          </a:stretch>
        </p:blipFill>
        <p:spPr>
          <a:xfrm>
            <a:off x="2307026" y="4772870"/>
            <a:ext cx="128699" cy="187198"/>
          </a:xfrm>
          <a:prstGeom prst="rect">
            <a:avLst/>
          </a:prstGeom>
        </p:spPr>
      </p:pic>
      <p:sp>
        <p:nvSpPr>
          <p:cNvPr id="76" name="TextBox 75"/>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77" name="TextBox 76"/>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8" name="TextBox 77"/>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9" name="Picture 78" descr="lock.png"/>
          <p:cNvPicPr>
            <a:picLocks noChangeAspect="1"/>
          </p:cNvPicPr>
          <p:nvPr/>
        </p:nvPicPr>
        <p:blipFill>
          <a:blip r:embed="rId13"/>
          <a:stretch>
            <a:fillRect/>
          </a:stretch>
        </p:blipFill>
        <p:spPr>
          <a:xfrm>
            <a:off x="2240451" y="5158441"/>
            <a:ext cx="128699" cy="187198"/>
          </a:xfrm>
          <a:prstGeom prst="rect">
            <a:avLst/>
          </a:prstGeom>
        </p:spPr>
      </p:pic>
      <p:sp>
        <p:nvSpPr>
          <p:cNvPr id="80" name="TextBox 79"/>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1" name="Picture 80" descr="lock.png"/>
          <p:cNvPicPr>
            <a:picLocks noChangeAspect="1"/>
          </p:cNvPicPr>
          <p:nvPr/>
        </p:nvPicPr>
        <p:blipFill>
          <a:blip r:embed="rId13"/>
          <a:stretch>
            <a:fillRect/>
          </a:stretch>
        </p:blipFill>
        <p:spPr>
          <a:xfrm>
            <a:off x="2552799" y="5158441"/>
            <a:ext cx="128699" cy="187198"/>
          </a:xfrm>
          <a:prstGeom prst="rect">
            <a:avLst/>
          </a:prstGeom>
        </p:spPr>
      </p:pic>
      <p:sp>
        <p:nvSpPr>
          <p:cNvPr id="82" name="TextBox 81"/>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3" name="TextBox 82"/>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4" name="TextBox 83"/>
          <p:cNvSpPr txBox="1"/>
          <p:nvPr/>
        </p:nvSpPr>
        <p:spPr>
          <a:xfrm>
            <a:off x="485775" y="5553793"/>
            <a:ext cx="2582341" cy="186689"/>
          </a:xfrm>
          <a:prstGeom prst="rect">
            <a:avLst/>
          </a:prstGeom>
          <a:noFill/>
        </p:spPr>
        <p:txBody>
          <a:bodyPr wrap="none" lIns="0" rIns="0" tIns="0" bIns="0">
            <a:spAutoFit/>
          </a:bodyPr>
          <a:lstStyle/>
          <a:p>
            <a:r>
              <a:rPr sz="1100" b="0">
                <a:solidFill>
                  <a:srgbClr val="2E2E2E"/>
                </a:solidFill>
                <a:latin typeface="Calibri"/>
              </a:rPr>
              <a:t>▪ 3 sub-segments make up the sales channel</a:t>
            </a:r>
          </a:p>
        </p:txBody>
      </p:sp>
      <p:sp>
        <p:nvSpPr>
          <p:cNvPr id="85" name="TextBox 84"/>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6" name="TextBox 85"/>
          <p:cNvSpPr txBox="1"/>
          <p:nvPr/>
        </p:nvSpPr>
        <p:spPr>
          <a:xfrm>
            <a:off x="3838575" y="4229437"/>
            <a:ext cx="553144" cy="186689"/>
          </a:xfrm>
          <a:prstGeom prst="rect">
            <a:avLst/>
          </a:prstGeom>
          <a:noFill/>
        </p:spPr>
        <p:txBody>
          <a:bodyPr wrap="none" lIns="0" rIns="0" tIns="0" bIns="0">
            <a:spAutoFit/>
          </a:bodyPr>
          <a:lstStyle/>
          <a:p>
            <a:r>
              <a:rPr sz="1100" b="0">
                <a:solidFill>
                  <a:srgbClr val="2E2E2E"/>
                </a:solidFill>
                <a:latin typeface="Calibri"/>
              </a:rPr>
              <a:t>● Retail:</a:t>
            </a:r>
          </a:p>
        </p:txBody>
      </p:sp>
      <p:pic>
        <p:nvPicPr>
          <p:cNvPr id="87" name="Picture 86" descr="lock.png"/>
          <p:cNvPicPr>
            <a:picLocks noChangeAspect="1"/>
          </p:cNvPicPr>
          <p:nvPr/>
        </p:nvPicPr>
        <p:blipFill>
          <a:blip r:embed="rId13"/>
          <a:stretch>
            <a:fillRect/>
          </a:stretch>
        </p:blipFill>
        <p:spPr>
          <a:xfrm>
            <a:off x="4339771" y="4219658"/>
            <a:ext cx="128699" cy="187198"/>
          </a:xfrm>
          <a:prstGeom prst="rect">
            <a:avLst/>
          </a:prstGeom>
        </p:spPr>
      </p:pic>
      <p:sp>
        <p:nvSpPr>
          <p:cNvPr id="88" name="TextBox 87"/>
          <p:cNvSpPr txBox="1"/>
          <p:nvPr/>
        </p:nvSpPr>
        <p:spPr>
          <a:xfrm>
            <a:off x="450726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5366717" y="4219658"/>
            <a:ext cx="128699" cy="187198"/>
          </a:xfrm>
          <a:prstGeom prst="rect">
            <a:avLst/>
          </a:prstGeom>
        </p:spPr>
      </p:pic>
      <p:sp>
        <p:nvSpPr>
          <p:cNvPr id="90" name="TextBox 89"/>
          <p:cNvSpPr txBox="1"/>
          <p:nvPr/>
        </p:nvSpPr>
        <p:spPr>
          <a:xfrm>
            <a:off x="553421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1873170" cy="186689"/>
          </a:xfrm>
          <a:prstGeom prst="rect">
            <a:avLst/>
          </a:prstGeom>
          <a:noFill/>
        </p:spPr>
        <p:txBody>
          <a:bodyPr wrap="none" lIns="0" rIns="0" tIns="0" bIns="0">
            <a:spAutoFit/>
          </a:bodyPr>
          <a:lstStyle/>
          <a:p>
            <a:r>
              <a:rPr sz="1100" b="0">
                <a:solidFill>
                  <a:srgbClr val="2E2E2E"/>
                </a:solidFill>
                <a:latin typeface="Calibri"/>
              </a:rPr>
              <a:t>● Foodservice and institutional:</a:t>
            </a:r>
          </a:p>
        </p:txBody>
      </p:sp>
      <p:pic>
        <p:nvPicPr>
          <p:cNvPr id="92" name="Picture 91" descr="lock.png"/>
          <p:cNvPicPr>
            <a:picLocks noChangeAspect="1"/>
          </p:cNvPicPr>
          <p:nvPr/>
        </p:nvPicPr>
        <p:blipFill>
          <a:blip r:embed="rId13"/>
          <a:stretch>
            <a:fillRect/>
          </a:stretch>
        </p:blipFill>
        <p:spPr>
          <a:xfrm>
            <a:off x="5659797" y="4437590"/>
            <a:ext cx="128699" cy="187198"/>
          </a:xfrm>
          <a:prstGeom prst="rect">
            <a:avLst/>
          </a:prstGeom>
        </p:spPr>
      </p:pic>
      <p:sp>
        <p:nvSpPr>
          <p:cNvPr id="93" name="TextBox 92"/>
          <p:cNvSpPr txBox="1"/>
          <p:nvPr/>
        </p:nvSpPr>
        <p:spPr>
          <a:xfrm>
            <a:off x="582729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6686743" y="4437590"/>
            <a:ext cx="128699" cy="187198"/>
          </a:xfrm>
          <a:prstGeom prst="rect">
            <a:avLst/>
          </a:prstGeom>
        </p:spPr>
      </p:pic>
      <p:sp>
        <p:nvSpPr>
          <p:cNvPr id="95" name="TextBox 94"/>
          <p:cNvSpPr txBox="1"/>
          <p:nvPr/>
        </p:nvSpPr>
        <p:spPr>
          <a:xfrm>
            <a:off x="6854239"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96" name="TextBox 9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97" name="TextBox 96"/>
          <p:cNvSpPr txBox="1"/>
          <p:nvPr/>
        </p:nvSpPr>
        <p:spPr>
          <a:xfrm>
            <a:off x="3838575" y="4832941"/>
            <a:ext cx="696664" cy="186689"/>
          </a:xfrm>
          <a:prstGeom prst="rect">
            <a:avLst/>
          </a:prstGeom>
          <a:noFill/>
        </p:spPr>
        <p:txBody>
          <a:bodyPr wrap="none" lIns="0" rIns="0" tIns="0" bIns="0">
            <a:spAutoFit/>
          </a:bodyPr>
          <a:lstStyle/>
          <a:p>
            <a:r>
              <a:rPr sz="1100" b="0">
                <a:solidFill>
                  <a:srgbClr val="2E2E2E"/>
                </a:solidFill>
                <a:latin typeface="Calibri"/>
              </a:rPr>
              <a:t>● Vending:</a:t>
            </a:r>
          </a:p>
        </p:txBody>
      </p:sp>
      <p:pic>
        <p:nvPicPr>
          <p:cNvPr id="98" name="Picture 97" descr="lock.png"/>
          <p:cNvPicPr>
            <a:picLocks noChangeAspect="1"/>
          </p:cNvPicPr>
          <p:nvPr/>
        </p:nvPicPr>
        <p:blipFill>
          <a:blip r:embed="rId13"/>
          <a:stretch>
            <a:fillRect/>
          </a:stretch>
        </p:blipFill>
        <p:spPr>
          <a:xfrm>
            <a:off x="4483291" y="4823162"/>
            <a:ext cx="128699" cy="187198"/>
          </a:xfrm>
          <a:prstGeom prst="rect">
            <a:avLst/>
          </a:prstGeom>
        </p:spPr>
      </p:pic>
      <p:sp>
        <p:nvSpPr>
          <p:cNvPr id="99" name="TextBox 98"/>
          <p:cNvSpPr txBox="1"/>
          <p:nvPr/>
        </p:nvSpPr>
        <p:spPr>
          <a:xfrm>
            <a:off x="4650786"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3"/>
          <a:stretch>
            <a:fillRect/>
          </a:stretch>
        </p:blipFill>
        <p:spPr>
          <a:xfrm>
            <a:off x="5510237" y="4823162"/>
            <a:ext cx="128699" cy="187198"/>
          </a:xfrm>
          <a:prstGeom prst="rect">
            <a:avLst/>
          </a:prstGeom>
        </p:spPr>
      </p:pic>
      <p:sp>
        <p:nvSpPr>
          <p:cNvPr id="101" name="TextBox 100"/>
          <p:cNvSpPr txBox="1"/>
          <p:nvPr/>
        </p:nvSpPr>
        <p:spPr>
          <a:xfrm>
            <a:off x="5677732"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2" name="TextBox 10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Sales Channel segment is projected to grow at a</a:t>
            </a:r>
          </a:p>
        </p:txBody>
      </p:sp>
      <p:sp>
        <p:nvSpPr>
          <p:cNvPr id="103" name="TextBox 10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04" name="Picture 103" descr="lock.png"/>
          <p:cNvPicPr>
            <a:picLocks noChangeAspect="1"/>
          </p:cNvPicPr>
          <p:nvPr/>
        </p:nvPicPr>
        <p:blipFill>
          <a:blip r:embed="rId13"/>
          <a:stretch>
            <a:fillRect/>
          </a:stretch>
        </p:blipFill>
        <p:spPr>
          <a:xfrm>
            <a:off x="9048826" y="6007677"/>
            <a:ext cx="134549" cy="195707"/>
          </a:xfrm>
          <a:prstGeom prst="rect">
            <a:avLst/>
          </a:prstGeom>
        </p:spPr>
      </p:pic>
      <p:sp>
        <p:nvSpPr>
          <p:cNvPr id="105" name="TextBox 10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Sales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Sales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Sales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245343" cy="186689"/>
          </a:xfrm>
          <a:prstGeom prst="rect">
            <a:avLst/>
          </a:prstGeom>
          <a:noFill/>
        </p:spPr>
        <p:txBody>
          <a:bodyPr wrap="none" lIns="0" rIns="0" tIns="0" bIns="0">
            <a:spAutoFit/>
          </a:bodyPr>
          <a:lstStyle/>
          <a:p>
            <a:r>
              <a:rPr sz="1100" b="0">
                <a:solidFill>
                  <a:srgbClr val="2E2E2E"/>
                </a:solidFill>
                <a:latin typeface="Calibri"/>
              </a:rPr>
              <a:t>Between 2026 and 2036, 'Foodservice and institutional' gains the most share in the North America market (+</a:t>
            </a:r>
          </a:p>
        </p:txBody>
      </p:sp>
      <p:pic>
        <p:nvPicPr>
          <p:cNvPr id="21" name="Picture 20" descr="lock.png"/>
          <p:cNvPicPr>
            <a:picLocks noChangeAspect="1"/>
          </p:cNvPicPr>
          <p:nvPr/>
        </p:nvPicPr>
        <p:blipFill>
          <a:blip r:embed="rId6"/>
          <a:stretch>
            <a:fillRect/>
          </a:stretch>
        </p:blipFill>
        <p:spPr>
          <a:xfrm>
            <a:off x="6450570" y="5851905"/>
            <a:ext cx="128699" cy="187198"/>
          </a:xfrm>
          <a:prstGeom prst="rect">
            <a:avLst/>
          </a:prstGeom>
        </p:spPr>
      </p:pic>
      <p:sp>
        <p:nvSpPr>
          <p:cNvPr id="22" name="TextBox 21"/>
          <p:cNvSpPr txBox="1"/>
          <p:nvPr/>
        </p:nvSpPr>
        <p:spPr>
          <a:xfrm>
            <a:off x="6618066" y="5861685"/>
            <a:ext cx="1444823" cy="186689"/>
          </a:xfrm>
          <a:prstGeom prst="rect">
            <a:avLst/>
          </a:prstGeom>
          <a:noFill/>
        </p:spPr>
        <p:txBody>
          <a:bodyPr wrap="none" lIns="0" rIns="0" tIns="0" bIns="0">
            <a:spAutoFit/>
          </a:bodyPr>
          <a:lstStyle/>
          <a:p>
            <a:r>
              <a:rPr sz="1100" b="0">
                <a:solidFill>
                  <a:srgbClr val="2E2E2E"/>
                </a:solidFill>
                <a:latin typeface="Calibri"/>
              </a:rPr>
              <a:t>BPS) while 'Retail' cedes</a:t>
            </a:r>
          </a:p>
        </p:txBody>
      </p:sp>
      <p:pic>
        <p:nvPicPr>
          <p:cNvPr id="23" name="Picture 22" descr="lock.png"/>
          <p:cNvPicPr>
            <a:picLocks noChangeAspect="1"/>
          </p:cNvPicPr>
          <p:nvPr/>
        </p:nvPicPr>
        <p:blipFill>
          <a:blip r:embed="rId6"/>
          <a:stretch>
            <a:fillRect/>
          </a:stretch>
        </p:blipFill>
        <p:spPr>
          <a:xfrm>
            <a:off x="8010941" y="5851905"/>
            <a:ext cx="128699" cy="187198"/>
          </a:xfrm>
          <a:prstGeom prst="rect">
            <a:avLst/>
          </a:prstGeom>
        </p:spPr>
      </p:pic>
      <p:sp>
        <p:nvSpPr>
          <p:cNvPr id="24" name="TextBox 23"/>
          <p:cNvSpPr txBox="1"/>
          <p:nvPr/>
        </p:nvSpPr>
        <p:spPr>
          <a:xfrm>
            <a:off x="8178437"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Foodservice and institutional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Vending</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Sales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3039702" cy="194310"/>
          </a:xfrm>
          <a:prstGeom prst="rect">
            <a:avLst/>
          </a:prstGeom>
          <a:noFill/>
        </p:spPr>
        <p:txBody>
          <a:bodyPr wrap="none" lIns="0" rIns="0" tIns="0" bIns="0">
            <a:spAutoFit/>
          </a:bodyPr>
          <a:lstStyle/>
          <a:p>
            <a:r>
              <a:rPr sz="1150" b="0">
                <a:solidFill>
                  <a:srgbClr val="2E2E2E"/>
                </a:solidFill>
                <a:latin typeface="Calibri"/>
              </a:rPr>
              <a:t>▪ Across its 3 sub-segments, by sales channel adds</a:t>
            </a:r>
          </a:p>
        </p:txBody>
      </p:sp>
      <p:pic>
        <p:nvPicPr>
          <p:cNvPr id="29" name="Picture 28" descr="lock.png"/>
          <p:cNvPicPr>
            <a:picLocks noChangeAspect="1"/>
          </p:cNvPicPr>
          <p:nvPr/>
        </p:nvPicPr>
        <p:blipFill>
          <a:blip r:embed="rId7"/>
          <a:stretch>
            <a:fillRect/>
          </a:stretch>
        </p:blipFill>
        <p:spPr>
          <a:xfrm>
            <a:off x="9294406" y="4276026"/>
            <a:ext cx="134549" cy="195707"/>
          </a:xfrm>
          <a:prstGeom prst="rect">
            <a:avLst/>
          </a:prstGeom>
        </p:spPr>
      </p:pic>
      <p:sp>
        <p:nvSpPr>
          <p:cNvPr id="30" name="TextBox 29"/>
          <p:cNvSpPr txBox="1"/>
          <p:nvPr/>
        </p:nvSpPr>
        <p:spPr>
          <a:xfrm>
            <a:off x="9469516" y="4286250"/>
            <a:ext cx="2300609" cy="194310"/>
          </a:xfrm>
          <a:prstGeom prst="rect">
            <a:avLst/>
          </a:prstGeom>
          <a:noFill/>
        </p:spPr>
        <p:txBody>
          <a:bodyPr wrap="none" lIns="0" rIns="0" tIns="0" bIns="0">
            <a:spAutoFit/>
          </a:bodyPr>
          <a:lstStyle/>
          <a:p>
            <a:r>
              <a:rPr sz="1150" b="0">
                <a:solidFill>
                  <a:srgbClr val="2E2E2E"/>
                </a:solidFill>
                <a:latin typeface="Calibri"/>
              </a:rPr>
              <a:t>US$ Mn to the North America market</a:t>
            </a:r>
          </a:p>
        </p:txBody>
      </p:sp>
      <p:sp>
        <p:nvSpPr>
          <p:cNvPr id="31" name="TextBox 30"/>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2" name="TextBox 31"/>
          <p:cNvSpPr txBox="1"/>
          <p:nvPr/>
        </p:nvSpPr>
        <p:spPr>
          <a:xfrm>
            <a:off x="6305550" y="4689347"/>
            <a:ext cx="877192" cy="194310"/>
          </a:xfrm>
          <a:prstGeom prst="rect">
            <a:avLst/>
          </a:prstGeom>
          <a:noFill/>
        </p:spPr>
        <p:txBody>
          <a:bodyPr wrap="none" lIns="0" rIns="0" tIns="0" bIns="0">
            <a:spAutoFit/>
          </a:bodyPr>
          <a:lstStyle/>
          <a:p>
            <a:r>
              <a:rPr sz="1150" b="0">
                <a:solidFill>
                  <a:srgbClr val="2E2E2E"/>
                </a:solidFill>
                <a:latin typeface="Calibri"/>
              </a:rPr>
              <a:t>▪ 'Retail' adds</a:t>
            </a:r>
          </a:p>
        </p:txBody>
      </p:sp>
      <p:pic>
        <p:nvPicPr>
          <p:cNvPr id="33" name="Picture 32" descr="lock.png"/>
          <p:cNvPicPr>
            <a:picLocks noChangeAspect="1"/>
          </p:cNvPicPr>
          <p:nvPr/>
        </p:nvPicPr>
        <p:blipFill>
          <a:blip r:embed="rId7"/>
          <a:stretch>
            <a:fillRect/>
          </a:stretch>
        </p:blipFill>
        <p:spPr>
          <a:xfrm>
            <a:off x="7131896" y="4679124"/>
            <a:ext cx="134549" cy="195707"/>
          </a:xfrm>
          <a:prstGeom prst="rect">
            <a:avLst/>
          </a:prstGeom>
        </p:spPr>
      </p:pic>
      <p:sp>
        <p:nvSpPr>
          <p:cNvPr id="34" name="TextBox 33"/>
          <p:cNvSpPr txBox="1"/>
          <p:nvPr/>
        </p:nvSpPr>
        <p:spPr>
          <a:xfrm>
            <a:off x="7307006"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7879477" y="4679124"/>
            <a:ext cx="134549" cy="195707"/>
          </a:xfrm>
          <a:prstGeom prst="rect">
            <a:avLst/>
          </a:prstGeom>
        </p:spPr>
      </p:pic>
      <p:sp>
        <p:nvSpPr>
          <p:cNvPr id="36" name="TextBox 35"/>
          <p:cNvSpPr txBox="1"/>
          <p:nvPr/>
        </p:nvSpPr>
        <p:spPr>
          <a:xfrm>
            <a:off x="8054586"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2257220" cy="194310"/>
          </a:xfrm>
          <a:prstGeom prst="rect">
            <a:avLst/>
          </a:prstGeom>
          <a:noFill/>
        </p:spPr>
        <p:txBody>
          <a:bodyPr wrap="none" lIns="0" rIns="0" tIns="0" bIns="0">
            <a:spAutoFit/>
          </a:bodyPr>
          <a:lstStyle/>
          <a:p>
            <a:r>
              <a:rPr sz="1150" b="0">
                <a:solidFill>
                  <a:srgbClr val="2E2E2E"/>
                </a:solidFill>
                <a:latin typeface="Calibri"/>
              </a:rPr>
              <a:t>▪ 'Foodservice and institutional' adds</a:t>
            </a:r>
          </a:p>
        </p:txBody>
      </p:sp>
      <p:pic>
        <p:nvPicPr>
          <p:cNvPr id="38" name="Picture 37" descr="lock.png"/>
          <p:cNvPicPr>
            <a:picLocks noChangeAspect="1"/>
          </p:cNvPicPr>
          <p:nvPr/>
        </p:nvPicPr>
        <p:blipFill>
          <a:blip r:embed="rId7"/>
          <a:stretch>
            <a:fillRect/>
          </a:stretch>
        </p:blipFill>
        <p:spPr>
          <a:xfrm>
            <a:off x="8511924" y="4906962"/>
            <a:ext cx="134549" cy="195707"/>
          </a:xfrm>
          <a:prstGeom prst="rect">
            <a:avLst/>
          </a:prstGeom>
        </p:spPr>
      </p:pic>
      <p:sp>
        <p:nvSpPr>
          <p:cNvPr id="39" name="TextBox 38"/>
          <p:cNvSpPr txBox="1"/>
          <p:nvPr/>
        </p:nvSpPr>
        <p:spPr>
          <a:xfrm>
            <a:off x="868703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9259504" y="4906962"/>
            <a:ext cx="134549" cy="195707"/>
          </a:xfrm>
          <a:prstGeom prst="rect">
            <a:avLst/>
          </a:prstGeom>
        </p:spPr>
      </p:pic>
      <p:sp>
        <p:nvSpPr>
          <p:cNvPr id="41" name="TextBox 40"/>
          <p:cNvSpPr txBox="1"/>
          <p:nvPr/>
        </p:nvSpPr>
        <p:spPr>
          <a:xfrm>
            <a:off x="943461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027236" cy="194310"/>
          </a:xfrm>
          <a:prstGeom prst="rect">
            <a:avLst/>
          </a:prstGeom>
          <a:noFill/>
        </p:spPr>
        <p:txBody>
          <a:bodyPr wrap="none" lIns="0" rIns="0" tIns="0" bIns="0">
            <a:spAutoFit/>
          </a:bodyPr>
          <a:lstStyle/>
          <a:p>
            <a:r>
              <a:rPr sz="1150" b="0">
                <a:solidFill>
                  <a:srgbClr val="2E2E2E"/>
                </a:solidFill>
                <a:latin typeface="Calibri"/>
              </a:rPr>
              <a:t>▪ 'Vending' adds</a:t>
            </a:r>
          </a:p>
        </p:txBody>
      </p:sp>
      <p:pic>
        <p:nvPicPr>
          <p:cNvPr id="43" name="Picture 42" descr="lock.png"/>
          <p:cNvPicPr>
            <a:picLocks noChangeAspect="1"/>
          </p:cNvPicPr>
          <p:nvPr/>
        </p:nvPicPr>
        <p:blipFill>
          <a:blip r:embed="rId7"/>
          <a:stretch>
            <a:fillRect/>
          </a:stretch>
        </p:blipFill>
        <p:spPr>
          <a:xfrm>
            <a:off x="7281940" y="5134800"/>
            <a:ext cx="134549" cy="195707"/>
          </a:xfrm>
          <a:prstGeom prst="rect">
            <a:avLst/>
          </a:prstGeom>
        </p:spPr>
      </p:pic>
      <p:sp>
        <p:nvSpPr>
          <p:cNvPr id="44" name="TextBox 43"/>
          <p:cNvSpPr txBox="1"/>
          <p:nvPr/>
        </p:nvSpPr>
        <p:spPr>
          <a:xfrm>
            <a:off x="7457049"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029520" y="5134800"/>
            <a:ext cx="134549" cy="195707"/>
          </a:xfrm>
          <a:prstGeom prst="rect">
            <a:avLst/>
          </a:prstGeom>
        </p:spPr>
      </p:pic>
      <p:sp>
        <p:nvSpPr>
          <p:cNvPr id="46" name="TextBox 45"/>
          <p:cNvSpPr txBox="1"/>
          <p:nvPr/>
        </p:nvSpPr>
        <p:spPr>
          <a:xfrm>
            <a:off x="8204629"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Sales Channel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Sales Channel (MT)</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804031"/>
                <a:gridCol w="536333"/>
                <a:gridCol w="536333"/>
                <a:gridCol w="536333"/>
                <a:gridCol w="536333"/>
                <a:gridCol w="536333"/>
                <a:gridCol w="536333"/>
                <a:gridCol w="536333"/>
                <a:gridCol w="646892"/>
                <a:gridCol w="646892"/>
                <a:gridCol w="646892"/>
                <a:gridCol w="646892"/>
                <a:gridCol w="646892"/>
                <a:gridCol w="646892"/>
                <a:gridCol w="646892"/>
                <a:gridCol w="646892"/>
                <a:gridCol w="646892"/>
                <a:gridCol w="506813"/>
              </a:tblGrid>
              <a:tr h="246126">
                <a:tc>
                  <a:txBody>
                    <a:bodyPr wrap="none"/>
                    <a:lstStyle/>
                    <a:p>
                      <a:pPr algn="l"/>
                      <a:r>
                        <a:rPr sz="1100" b="1">
                          <a:solidFill>
                            <a:srgbClr val="0B2E4A"/>
                          </a:solidFill>
                          <a:latin typeface="Calibri"/>
                        </a:rPr>
                        <a:t>Sales Channel</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19050" marR="19050" marT="19050" marB="19050" anchor="ctr">
                    <a:solidFill>
                      <a:srgbClr val="E0E8EF"/>
                    </a:solidFill>
                  </a:tcPr>
                </a:tc>
              </a:tr>
              <a:tr h="248031">
                <a:tc>
                  <a:txBody>
                    <a:bodyPr wrap="none"/>
                    <a:lstStyle/>
                    <a:p>
                      <a:pPr algn="l"/>
                      <a:r>
                        <a:rPr sz="1100" b="1">
                          <a:solidFill>
                            <a:srgbClr val="2E2E2E"/>
                          </a:solidFill>
                          <a:latin typeface="Calibri"/>
                        </a:rPr>
                        <a:t>Retail</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8031">
                <a:tc>
                  <a:txBody>
                    <a:bodyPr wrap="none"/>
                    <a:lstStyle/>
                    <a:p>
                      <a:pPr algn="l"/>
                      <a:r>
                        <a:rPr sz="1100" b="1">
                          <a:solidFill>
                            <a:srgbClr val="2E2E2E"/>
                          </a:solidFill>
                          <a:latin typeface="Calibri"/>
                        </a:rPr>
                        <a:t>Foodservice and institutional</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8031">
                <a:tc>
                  <a:txBody>
                    <a:bodyPr wrap="none"/>
                    <a:lstStyle/>
                    <a:p>
                      <a:pPr algn="l"/>
                      <a:r>
                        <a:rPr sz="1100" b="1">
                          <a:solidFill>
                            <a:srgbClr val="2E2E2E"/>
                          </a:solidFill>
                          <a:latin typeface="Calibri"/>
                        </a:rPr>
                        <a:t>Vending</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Sales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11327" y="1713738"/>
            <a:ext cx="366712" cy="533400"/>
          </a:xfrm>
          <a:prstGeom prst="rect">
            <a:avLst/>
          </a:prstGeom>
        </p:spPr>
      </p:pic>
      <p:sp>
        <p:nvSpPr>
          <p:cNvPr id="21" name="TextBox 20"/>
          <p:cNvSpPr txBox="1"/>
          <p:nvPr/>
        </p:nvSpPr>
        <p:spPr>
          <a:xfrm>
            <a:off x="276225" y="3238500"/>
            <a:ext cx="2331417" cy="194310"/>
          </a:xfrm>
          <a:prstGeom prst="rect">
            <a:avLst/>
          </a:prstGeom>
          <a:noFill/>
        </p:spPr>
        <p:txBody>
          <a:bodyPr wrap="none" lIns="0" rIns="0" tIns="0" bIns="0">
            <a:spAutoFit/>
          </a:bodyPr>
          <a:lstStyle/>
          <a:p>
            <a:r>
              <a:rPr sz="1150" b="0">
                <a:solidFill>
                  <a:srgbClr val="2E2E2E"/>
                </a:solidFill>
                <a:latin typeface="Calibri"/>
              </a:rPr>
              <a:t>▪ 'Retail' is the largest sales channel at</a:t>
            </a:r>
          </a:p>
        </p:txBody>
      </p:sp>
      <p:pic>
        <p:nvPicPr>
          <p:cNvPr id="22" name="Picture 21" descr="lock.png"/>
          <p:cNvPicPr>
            <a:picLocks noChangeAspect="1"/>
          </p:cNvPicPr>
          <p:nvPr/>
        </p:nvPicPr>
        <p:blipFill>
          <a:blip r:embed="rId4"/>
          <a:stretch>
            <a:fillRect/>
          </a:stretch>
        </p:blipFill>
        <p:spPr>
          <a:xfrm>
            <a:off x="2556796" y="3228276"/>
            <a:ext cx="134549" cy="195707"/>
          </a:xfrm>
          <a:prstGeom prst="rect">
            <a:avLst/>
          </a:prstGeom>
        </p:spPr>
      </p:pic>
      <p:sp>
        <p:nvSpPr>
          <p:cNvPr id="23" name="TextBox 22"/>
          <p:cNvSpPr txBox="1"/>
          <p:nvPr/>
        </p:nvSpPr>
        <p:spPr>
          <a:xfrm>
            <a:off x="2731905" y="32385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761638" y="3228276"/>
            <a:ext cx="134549" cy="195707"/>
          </a:xfrm>
          <a:prstGeom prst="rect">
            <a:avLst/>
          </a:prstGeom>
        </p:spPr>
      </p:pic>
      <p:sp>
        <p:nvSpPr>
          <p:cNvPr id="25" name="TextBox 24"/>
          <p:cNvSpPr txBox="1"/>
          <p:nvPr/>
        </p:nvSpPr>
        <p:spPr>
          <a:xfrm>
            <a:off x="3936747" y="32385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66337"/>
            <a:ext cx="2767539" cy="194310"/>
          </a:xfrm>
          <a:prstGeom prst="rect">
            <a:avLst/>
          </a:prstGeom>
          <a:noFill/>
        </p:spPr>
        <p:txBody>
          <a:bodyPr wrap="none" lIns="0" rIns="0" tIns="0" bIns="0">
            <a:spAutoFit/>
          </a:bodyPr>
          <a:lstStyle/>
          <a:p>
            <a:r>
              <a:rPr sz="1150" b="0">
                <a:solidFill>
                  <a:srgbClr val="2E2E2E"/>
                </a:solidFill>
                <a:latin typeface="Calibri"/>
              </a:rPr>
              <a:t>▪ 'Foodservice and institutional' grows fastest</a:t>
            </a:r>
          </a:p>
        </p:txBody>
      </p:sp>
      <p:pic>
        <p:nvPicPr>
          <p:cNvPr id="27" name="Picture 26" descr="lock.png"/>
          <p:cNvPicPr>
            <a:picLocks noChangeAspect="1"/>
          </p:cNvPicPr>
          <p:nvPr/>
        </p:nvPicPr>
        <p:blipFill>
          <a:blip r:embed="rId4"/>
          <a:stretch>
            <a:fillRect/>
          </a:stretch>
        </p:blipFill>
        <p:spPr>
          <a:xfrm>
            <a:off x="2992918" y="3456114"/>
            <a:ext cx="134549" cy="195707"/>
          </a:xfrm>
          <a:prstGeom prst="rect">
            <a:avLst/>
          </a:prstGeom>
        </p:spPr>
      </p:pic>
      <p:sp>
        <p:nvSpPr>
          <p:cNvPr id="28" name="TextBox 27"/>
          <p:cNvSpPr txBox="1"/>
          <p:nvPr/>
        </p:nvSpPr>
        <p:spPr>
          <a:xfrm>
            <a:off x="3168027"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276717" cy="194310"/>
          </a:xfrm>
          <a:prstGeom prst="rect">
            <a:avLst/>
          </a:prstGeom>
          <a:noFill/>
        </p:spPr>
        <p:txBody>
          <a:bodyPr wrap="none" lIns="0" rIns="0" tIns="0" bIns="0">
            <a:spAutoFit/>
          </a:bodyPr>
          <a:lstStyle/>
          <a:p>
            <a:r>
              <a:rPr sz="1150" b="0">
                <a:solidFill>
                  <a:srgbClr val="2E2E2E"/>
                </a:solidFill>
                <a:latin typeface="Calibri"/>
              </a:rPr>
              <a:t>▪ Share shifts toward 'Foodservice and institutional' (+</a:t>
            </a:r>
          </a:p>
        </p:txBody>
      </p:sp>
      <p:pic>
        <p:nvPicPr>
          <p:cNvPr id="30" name="Picture 29" descr="lock.png"/>
          <p:cNvPicPr>
            <a:picLocks noChangeAspect="1"/>
          </p:cNvPicPr>
          <p:nvPr/>
        </p:nvPicPr>
        <p:blipFill>
          <a:blip r:embed="rId4"/>
          <a:stretch>
            <a:fillRect/>
          </a:stretch>
        </p:blipFill>
        <p:spPr>
          <a:xfrm>
            <a:off x="3502096" y="3683952"/>
            <a:ext cx="134549" cy="195707"/>
          </a:xfrm>
          <a:prstGeom prst="rect">
            <a:avLst/>
          </a:prstGeom>
        </p:spPr>
      </p:pic>
      <p:sp>
        <p:nvSpPr>
          <p:cNvPr id="31" name="TextBox 30"/>
          <p:cNvSpPr txBox="1"/>
          <p:nvPr/>
        </p:nvSpPr>
        <p:spPr>
          <a:xfrm>
            <a:off x="3677205" y="3694175"/>
            <a:ext cx="1822809" cy="194310"/>
          </a:xfrm>
          <a:prstGeom prst="rect">
            <a:avLst/>
          </a:prstGeom>
          <a:noFill/>
        </p:spPr>
        <p:txBody>
          <a:bodyPr wrap="none" lIns="0" rIns="0" tIns="0" bIns="0">
            <a:spAutoFit/>
          </a:bodyPr>
          <a:lstStyle/>
          <a:p>
            <a:r>
              <a:rPr sz="1150" b="0">
                <a:solidFill>
                  <a:srgbClr val="2E2E2E"/>
                </a:solidFill>
                <a:latin typeface="Calibri"/>
              </a:rPr>
              <a:t>BPS) and away from 'Retail' (-</a:t>
            </a:r>
          </a:p>
        </p:txBody>
      </p:sp>
      <p:pic>
        <p:nvPicPr>
          <p:cNvPr id="32" name="Picture 31" descr="lock.png"/>
          <p:cNvPicPr>
            <a:picLocks noChangeAspect="1"/>
          </p:cNvPicPr>
          <p:nvPr/>
        </p:nvPicPr>
        <p:blipFill>
          <a:blip r:embed="rId4"/>
          <a:stretch>
            <a:fillRect/>
          </a:stretch>
        </p:blipFill>
        <p:spPr>
          <a:xfrm>
            <a:off x="5449169" y="3683952"/>
            <a:ext cx="134549" cy="195707"/>
          </a:xfrm>
          <a:prstGeom prst="rect">
            <a:avLst/>
          </a:prstGeom>
        </p:spPr>
      </p:pic>
      <p:sp>
        <p:nvSpPr>
          <p:cNvPr id="33" name="TextBox 32"/>
          <p:cNvSpPr txBox="1"/>
          <p:nvPr/>
        </p:nvSpPr>
        <p:spPr>
          <a:xfrm>
            <a:off x="5624278"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911790"/>
            <a:ext cx="134549" cy="195707"/>
          </a:xfrm>
          <a:prstGeom prst="rect">
            <a:avLst/>
          </a:prstGeom>
        </p:spPr>
      </p:pic>
      <p:sp>
        <p:nvSpPr>
          <p:cNvPr id="36" name="TextBox 35"/>
          <p:cNvSpPr txBox="1"/>
          <p:nvPr/>
        </p:nvSpPr>
        <p:spPr>
          <a:xfrm>
            <a:off x="1965143"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911790"/>
            <a:ext cx="134549" cy="195707"/>
          </a:xfrm>
          <a:prstGeom prst="rect">
            <a:avLst/>
          </a:prstGeom>
        </p:spPr>
      </p:pic>
      <p:sp>
        <p:nvSpPr>
          <p:cNvPr id="38" name="TextBox 37"/>
          <p:cNvSpPr txBox="1"/>
          <p:nvPr/>
        </p:nvSpPr>
        <p:spPr>
          <a:xfrm>
            <a:off x="2291688" y="39220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Sales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Sales Channel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51666"/>
                <a:gridCol w="584443"/>
                <a:gridCol w="584443"/>
                <a:gridCol w="584443"/>
                <a:gridCol w="584443"/>
                <a:gridCol w="584443"/>
                <a:gridCol w="584443"/>
                <a:gridCol w="584443"/>
                <a:gridCol w="584443"/>
                <a:gridCol w="584443"/>
                <a:gridCol w="584443"/>
                <a:gridCol w="584443"/>
                <a:gridCol w="584443"/>
                <a:gridCol w="584443"/>
                <a:gridCol w="584443"/>
                <a:gridCol w="584443"/>
                <a:gridCol w="584443"/>
                <a:gridCol w="584443"/>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Sales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5141" y="1713738"/>
            <a:ext cx="366712" cy="533400"/>
          </a:xfrm>
          <a:prstGeom prst="rect">
            <a:avLst/>
          </a:prstGeom>
        </p:spPr>
      </p:pic>
      <p:sp>
        <p:nvSpPr>
          <p:cNvPr id="21" name="TextBox 20"/>
          <p:cNvSpPr txBox="1"/>
          <p:nvPr/>
        </p:nvSpPr>
        <p:spPr>
          <a:xfrm>
            <a:off x="276225" y="3238500"/>
            <a:ext cx="2331417" cy="194310"/>
          </a:xfrm>
          <a:prstGeom prst="rect">
            <a:avLst/>
          </a:prstGeom>
          <a:noFill/>
        </p:spPr>
        <p:txBody>
          <a:bodyPr wrap="none" lIns="0" rIns="0" tIns="0" bIns="0">
            <a:spAutoFit/>
          </a:bodyPr>
          <a:lstStyle/>
          <a:p>
            <a:r>
              <a:rPr sz="1150" b="0">
                <a:solidFill>
                  <a:srgbClr val="2E2E2E"/>
                </a:solidFill>
                <a:latin typeface="Calibri"/>
              </a:rPr>
              <a:t>▪ 'Retail' is the largest sales channel at</a:t>
            </a:r>
          </a:p>
        </p:txBody>
      </p:sp>
      <p:pic>
        <p:nvPicPr>
          <p:cNvPr id="22" name="Picture 21" descr="lock.png"/>
          <p:cNvPicPr>
            <a:picLocks noChangeAspect="1"/>
          </p:cNvPicPr>
          <p:nvPr/>
        </p:nvPicPr>
        <p:blipFill>
          <a:blip r:embed="rId4"/>
          <a:stretch>
            <a:fillRect/>
          </a:stretch>
        </p:blipFill>
        <p:spPr>
          <a:xfrm>
            <a:off x="2556796" y="3228276"/>
            <a:ext cx="134549" cy="195707"/>
          </a:xfrm>
          <a:prstGeom prst="rect">
            <a:avLst/>
          </a:prstGeom>
        </p:spPr>
      </p:pic>
      <p:sp>
        <p:nvSpPr>
          <p:cNvPr id="23" name="TextBox 22"/>
          <p:cNvSpPr txBox="1"/>
          <p:nvPr/>
        </p:nvSpPr>
        <p:spPr>
          <a:xfrm>
            <a:off x="2731905"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637838" y="3228276"/>
            <a:ext cx="134549" cy="195707"/>
          </a:xfrm>
          <a:prstGeom prst="rect">
            <a:avLst/>
          </a:prstGeom>
        </p:spPr>
      </p:pic>
      <p:sp>
        <p:nvSpPr>
          <p:cNvPr id="25" name="TextBox 24"/>
          <p:cNvSpPr txBox="1"/>
          <p:nvPr/>
        </p:nvSpPr>
        <p:spPr>
          <a:xfrm>
            <a:off x="3812947"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767539" cy="194310"/>
          </a:xfrm>
          <a:prstGeom prst="rect">
            <a:avLst/>
          </a:prstGeom>
          <a:noFill/>
        </p:spPr>
        <p:txBody>
          <a:bodyPr wrap="none" lIns="0" rIns="0" tIns="0" bIns="0">
            <a:spAutoFit/>
          </a:bodyPr>
          <a:lstStyle/>
          <a:p>
            <a:r>
              <a:rPr sz="1150" b="0">
                <a:solidFill>
                  <a:srgbClr val="2E2E2E"/>
                </a:solidFill>
                <a:latin typeface="Calibri"/>
              </a:rPr>
              <a:t>▪ 'Foodservice and institutional' grows fastest</a:t>
            </a:r>
          </a:p>
        </p:txBody>
      </p:sp>
      <p:pic>
        <p:nvPicPr>
          <p:cNvPr id="27" name="Picture 26" descr="lock.png"/>
          <p:cNvPicPr>
            <a:picLocks noChangeAspect="1"/>
          </p:cNvPicPr>
          <p:nvPr/>
        </p:nvPicPr>
        <p:blipFill>
          <a:blip r:embed="rId4"/>
          <a:stretch>
            <a:fillRect/>
          </a:stretch>
        </p:blipFill>
        <p:spPr>
          <a:xfrm>
            <a:off x="2992918" y="3456114"/>
            <a:ext cx="134549" cy="195707"/>
          </a:xfrm>
          <a:prstGeom prst="rect">
            <a:avLst/>
          </a:prstGeom>
        </p:spPr>
      </p:pic>
      <p:sp>
        <p:nvSpPr>
          <p:cNvPr id="28" name="TextBox 27"/>
          <p:cNvSpPr txBox="1"/>
          <p:nvPr/>
        </p:nvSpPr>
        <p:spPr>
          <a:xfrm>
            <a:off x="3168027"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276717" cy="194310"/>
          </a:xfrm>
          <a:prstGeom prst="rect">
            <a:avLst/>
          </a:prstGeom>
          <a:noFill/>
        </p:spPr>
        <p:txBody>
          <a:bodyPr wrap="none" lIns="0" rIns="0" tIns="0" bIns="0">
            <a:spAutoFit/>
          </a:bodyPr>
          <a:lstStyle/>
          <a:p>
            <a:r>
              <a:rPr sz="1150" b="0">
                <a:solidFill>
                  <a:srgbClr val="2E2E2E"/>
                </a:solidFill>
                <a:latin typeface="Calibri"/>
              </a:rPr>
              <a:t>▪ Share shifts toward 'Foodservice and institutional' (+</a:t>
            </a:r>
          </a:p>
        </p:txBody>
      </p:sp>
      <p:pic>
        <p:nvPicPr>
          <p:cNvPr id="30" name="Picture 29" descr="lock.png"/>
          <p:cNvPicPr>
            <a:picLocks noChangeAspect="1"/>
          </p:cNvPicPr>
          <p:nvPr/>
        </p:nvPicPr>
        <p:blipFill>
          <a:blip r:embed="rId4"/>
          <a:stretch>
            <a:fillRect/>
          </a:stretch>
        </p:blipFill>
        <p:spPr>
          <a:xfrm>
            <a:off x="3502096" y="3683952"/>
            <a:ext cx="134549" cy="195707"/>
          </a:xfrm>
          <a:prstGeom prst="rect">
            <a:avLst/>
          </a:prstGeom>
        </p:spPr>
      </p:pic>
      <p:sp>
        <p:nvSpPr>
          <p:cNvPr id="31" name="TextBox 30"/>
          <p:cNvSpPr txBox="1"/>
          <p:nvPr/>
        </p:nvSpPr>
        <p:spPr>
          <a:xfrm>
            <a:off x="3677205" y="3694175"/>
            <a:ext cx="1822809" cy="194310"/>
          </a:xfrm>
          <a:prstGeom prst="rect">
            <a:avLst/>
          </a:prstGeom>
          <a:noFill/>
        </p:spPr>
        <p:txBody>
          <a:bodyPr wrap="none" lIns="0" rIns="0" tIns="0" bIns="0">
            <a:spAutoFit/>
          </a:bodyPr>
          <a:lstStyle/>
          <a:p>
            <a:r>
              <a:rPr sz="1150" b="0">
                <a:solidFill>
                  <a:srgbClr val="2E2E2E"/>
                </a:solidFill>
                <a:latin typeface="Calibri"/>
              </a:rPr>
              <a:t>BPS) and away from 'Retail' (-</a:t>
            </a:r>
          </a:p>
        </p:txBody>
      </p:sp>
      <p:pic>
        <p:nvPicPr>
          <p:cNvPr id="32" name="Picture 31" descr="lock.png"/>
          <p:cNvPicPr>
            <a:picLocks noChangeAspect="1"/>
          </p:cNvPicPr>
          <p:nvPr/>
        </p:nvPicPr>
        <p:blipFill>
          <a:blip r:embed="rId4"/>
          <a:stretch>
            <a:fillRect/>
          </a:stretch>
        </p:blipFill>
        <p:spPr>
          <a:xfrm>
            <a:off x="5449169" y="3683952"/>
            <a:ext cx="134549" cy="195707"/>
          </a:xfrm>
          <a:prstGeom prst="rect">
            <a:avLst/>
          </a:prstGeom>
        </p:spPr>
      </p:pic>
      <p:sp>
        <p:nvSpPr>
          <p:cNvPr id="33" name="TextBox 32"/>
          <p:cNvSpPr txBox="1"/>
          <p:nvPr/>
        </p:nvSpPr>
        <p:spPr>
          <a:xfrm>
            <a:off x="5624278"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Sales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Sales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7074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659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897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Vending</a:t>
            </a:r>
          </a:p>
        </p:txBody>
      </p:sp>
      <p:sp>
        <p:nvSpPr>
          <p:cNvPr id="19" name="BPS Value 1"/>
          <p:cNvSpPr txBox="1"/>
          <p:nvPr/>
        </p:nvSpPr>
        <p:spPr>
          <a:xfrm>
            <a:off x="6896100" y="175169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73651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7317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555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and institutional</a:t>
            </a:r>
          </a:p>
        </p:txBody>
      </p:sp>
      <p:sp>
        <p:nvSpPr>
          <p:cNvPr id="23" name="BPS Value 2"/>
          <p:cNvSpPr txBox="1"/>
          <p:nvPr/>
        </p:nvSpPr>
        <p:spPr>
          <a:xfrm>
            <a:off x="6896100" y="271746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92321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9184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422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a:t>
            </a:r>
          </a:p>
        </p:txBody>
      </p:sp>
      <p:sp>
        <p:nvSpPr>
          <p:cNvPr id="27" name="BPS Value 3"/>
          <p:cNvSpPr txBox="1"/>
          <p:nvPr/>
        </p:nvSpPr>
        <p:spPr>
          <a:xfrm>
            <a:off x="6896100" y="490416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Sales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313800" cy="194310"/>
          </a:xfrm>
          <a:prstGeom prst="rect">
            <a:avLst/>
          </a:prstGeom>
          <a:noFill/>
        </p:spPr>
        <p:txBody>
          <a:bodyPr wrap="none" lIns="0" rIns="0" tIns="0" bIns="0">
            <a:spAutoFit/>
          </a:bodyPr>
          <a:lstStyle/>
          <a:p>
            <a:r>
              <a:rPr sz="1150" b="0">
                <a:solidFill>
                  <a:srgbClr val="2E2E2E"/>
                </a:solidFill>
                <a:latin typeface="Calibri"/>
              </a:rPr>
              <a:t>▪ 'Foodservice and institutional' gains the most share +</a:t>
            </a:r>
          </a:p>
        </p:txBody>
      </p:sp>
      <p:pic>
        <p:nvPicPr>
          <p:cNvPr id="35" name="Picture 34" descr="lock.png"/>
          <p:cNvPicPr>
            <a:picLocks noChangeAspect="1"/>
          </p:cNvPicPr>
          <p:nvPr/>
        </p:nvPicPr>
        <p:blipFill>
          <a:blip r:embed="rId5"/>
          <a:stretch>
            <a:fillRect/>
          </a:stretch>
        </p:blipFill>
        <p:spPr>
          <a:xfrm>
            <a:off x="11092504" y="1389951"/>
            <a:ext cx="134549" cy="195707"/>
          </a:xfrm>
          <a:prstGeom prst="rect">
            <a:avLst/>
          </a:prstGeom>
        </p:spPr>
      </p:pic>
      <p:sp>
        <p:nvSpPr>
          <p:cNvPr id="36" name="TextBox 35"/>
          <p:cNvSpPr txBox="1"/>
          <p:nvPr/>
        </p:nvSpPr>
        <p:spPr>
          <a:xfrm>
            <a:off x="11267613"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7" name="TextBox 36"/>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1580343" cy="194310"/>
          </a:xfrm>
          <a:prstGeom prst="rect">
            <a:avLst/>
          </a:prstGeom>
          <a:noFill/>
        </p:spPr>
        <p:txBody>
          <a:bodyPr wrap="none" lIns="0" rIns="0" tIns="0" bIns="0">
            <a:spAutoFit/>
          </a:bodyPr>
          <a:lstStyle/>
          <a:p>
            <a:r>
              <a:rPr sz="1150" b="0">
                <a:solidFill>
                  <a:srgbClr val="2E2E2E"/>
                </a:solidFill>
                <a:latin typeface="Calibri"/>
              </a:rPr>
              <a:t>▪ 'Retail' cedes the most -</a:t>
            </a:r>
          </a:p>
        </p:txBody>
      </p:sp>
      <p:pic>
        <p:nvPicPr>
          <p:cNvPr id="39" name="Picture 38" descr="lock.png"/>
          <p:cNvPicPr>
            <a:picLocks noChangeAspect="1"/>
          </p:cNvPicPr>
          <p:nvPr/>
        </p:nvPicPr>
        <p:blipFill>
          <a:blip r:embed="rId5"/>
          <a:stretch>
            <a:fillRect/>
          </a:stretch>
        </p:blipFill>
        <p:spPr>
          <a:xfrm>
            <a:off x="9359047" y="1793049"/>
            <a:ext cx="134549" cy="195707"/>
          </a:xfrm>
          <a:prstGeom prst="rect">
            <a:avLst/>
          </a:prstGeom>
        </p:spPr>
      </p:pic>
      <p:sp>
        <p:nvSpPr>
          <p:cNvPr id="40" name="TextBox 39"/>
          <p:cNvSpPr txBox="1"/>
          <p:nvPr/>
        </p:nvSpPr>
        <p:spPr>
          <a:xfrm>
            <a:off x="9534157" y="180327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41" name="TextBox 40"/>
          <p:cNvSpPr txBox="1"/>
          <p:nvPr/>
        </p:nvSpPr>
        <p:spPr>
          <a:xfrm>
            <a:off x="7829550" y="2031111"/>
            <a:ext cx="4057650" cy="194310"/>
          </a:xfrm>
          <a:prstGeom prst="rect">
            <a:avLst/>
          </a:prstGeom>
          <a:noFill/>
        </p:spPr>
        <p:txBody>
          <a:bodyPr wrap="none" lIns="0" rIns="0" tIns="0" bIns="0">
            <a:spAutoFit/>
          </a:bodyPr>
          <a:lstStyle/>
          <a:p>
            <a:r>
              <a:rPr sz="1150" b="0">
                <a:solidFill>
                  <a:srgbClr val="2E2E2E"/>
                </a:solidFill>
                <a:latin typeface="Calibri"/>
              </a:rPr>
              <a:t>▪ 'Foodservice and institutional' is the fastest-growing sales channel</a:t>
            </a:r>
          </a:p>
        </p:txBody>
      </p:sp>
      <p:sp>
        <p:nvSpPr>
          <p:cNvPr id="42" name="TextBox 41"/>
          <p:cNvSpPr txBox="1"/>
          <p:nvPr/>
        </p:nvSpPr>
        <p:spPr>
          <a:xfrm>
            <a:off x="7829550" y="2206371"/>
            <a:ext cx="195150" cy="194310"/>
          </a:xfrm>
          <a:prstGeom prst="rect">
            <a:avLst/>
          </a:prstGeom>
          <a:noFill/>
        </p:spPr>
        <p:txBody>
          <a:bodyPr wrap="none" lIns="0" rIns="0" tIns="0" bIns="0">
            <a:spAutoFit/>
          </a:bodyPr>
          <a:lstStyle/>
          <a:p>
            <a:r>
              <a:rPr sz="1150" b="0">
                <a:solidFill>
                  <a:srgbClr val="2E2E2E"/>
                </a:solidFill>
                <a:latin typeface="Calibri"/>
              </a:rPr>
              <a:t>at</a:t>
            </a:r>
          </a:p>
        </p:txBody>
      </p:sp>
      <p:pic>
        <p:nvPicPr>
          <p:cNvPr id="43" name="Picture 42" descr="lock.png"/>
          <p:cNvPicPr>
            <a:picLocks noChangeAspect="1"/>
          </p:cNvPicPr>
          <p:nvPr/>
        </p:nvPicPr>
        <p:blipFill>
          <a:blip r:embed="rId5"/>
          <a:stretch>
            <a:fillRect/>
          </a:stretch>
        </p:blipFill>
        <p:spPr>
          <a:xfrm>
            <a:off x="7973854" y="2196147"/>
            <a:ext cx="134549" cy="195707"/>
          </a:xfrm>
          <a:prstGeom prst="rect">
            <a:avLst/>
          </a:prstGeom>
        </p:spPr>
      </p:pic>
      <p:sp>
        <p:nvSpPr>
          <p:cNvPr id="44" name="TextBox 43"/>
          <p:cNvSpPr txBox="1"/>
          <p:nvPr/>
        </p:nvSpPr>
        <p:spPr>
          <a:xfrm>
            <a:off x="8148964" y="220637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5" name="TextBox 44"/>
          <p:cNvSpPr txBox="1"/>
          <p:nvPr/>
        </p:nvSpPr>
        <p:spPr>
          <a:xfrm>
            <a:off x="7829550" y="243420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423985"/>
            <a:ext cx="134549" cy="195707"/>
          </a:xfrm>
          <a:prstGeom prst="rect">
            <a:avLst/>
          </a:prstGeom>
        </p:spPr>
      </p:pic>
      <p:sp>
        <p:nvSpPr>
          <p:cNvPr id="47" name="TextBox 46"/>
          <p:cNvSpPr txBox="1"/>
          <p:nvPr/>
        </p:nvSpPr>
        <p:spPr>
          <a:xfrm>
            <a:off x="9502779" y="243420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423985"/>
            <a:ext cx="134549" cy="195707"/>
          </a:xfrm>
          <a:prstGeom prst="rect">
            <a:avLst/>
          </a:prstGeom>
        </p:spPr>
      </p:pic>
      <p:sp>
        <p:nvSpPr>
          <p:cNvPr id="49" name="TextBox 48"/>
          <p:cNvSpPr txBox="1"/>
          <p:nvPr/>
        </p:nvSpPr>
        <p:spPr>
          <a:xfrm>
            <a:off x="9829324" y="243420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66204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2837307"/>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Sales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institutional</a:t>
            </a:r>
          </a:p>
        </p:txBody>
      </p:sp>
      <p:sp>
        <p:nvSpPr>
          <p:cNvPr id="49" name="Rectangle 48"/>
          <p:cNvSpPr/>
          <p:nvPr/>
        </p:nvSpPr>
        <p:spPr>
          <a:xfrm>
            <a:off x="1857375" y="4191000"/>
            <a:ext cx="643890" cy="1190625"/>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Vending</a:t>
            </a:r>
          </a:p>
        </p:txBody>
      </p:sp>
      <p:sp>
        <p:nvSpPr>
          <p:cNvPr id="65" name="Rectangle 64"/>
          <p:cNvSpPr/>
          <p:nvPr/>
        </p:nvSpPr>
        <p:spPr>
          <a:xfrm>
            <a:off x="185737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52"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Sales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institutional</a:t>
            </a:r>
          </a:p>
        </p:txBody>
      </p:sp>
      <p:sp>
        <p:nvSpPr>
          <p:cNvPr id="49" name="Rectangle 48"/>
          <p:cNvSpPr/>
          <p:nvPr/>
        </p:nvSpPr>
        <p:spPr>
          <a:xfrm>
            <a:off x="1857375" y="4191000"/>
            <a:ext cx="643890" cy="1190625"/>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Vending</a:t>
            </a:r>
          </a:p>
        </p:txBody>
      </p:sp>
      <p:sp>
        <p:nvSpPr>
          <p:cNvPr id="65" name="Rectangle 64"/>
          <p:cNvSpPr/>
          <p:nvPr/>
        </p:nvSpPr>
        <p:spPr>
          <a:xfrm>
            <a:off x="185737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52" y="1589913"/>
            <a:ext cx="366712" cy="533400"/>
          </a:xfrm>
          <a:prstGeom prst="rect">
            <a:avLst/>
          </a:prstGeom>
        </p:spPr>
      </p:pic>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6668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197167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2676525"/>
            <a:ext cx="50673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p:txBody>
      </p:sp>
      <p:sp>
        <p:nvSpPr>
          <p:cNvPr id="8" name="TextBox 7"/>
          <p:cNvSpPr txBox="1"/>
          <p:nvPr/>
        </p:nvSpPr>
        <p:spPr>
          <a:xfrm>
            <a:off x="6096000" y="2676525"/>
            <a:ext cx="5067300" cy="51739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Primary Flour Base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Dietary Formulation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Nutritional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Recipe and Ingredient Claims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Surface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Individual Muffin Size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Storage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Shelf Life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Packaging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Pack Configuration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Multipack Wrapping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Price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Brand Ownership</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Sales Channel</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Volume Overview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(MT)</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2505943" cy="186689"/>
          </a:xfrm>
          <a:prstGeom prst="rect">
            <a:avLst/>
          </a:prstGeom>
          <a:noFill/>
        </p:spPr>
        <p:txBody>
          <a:bodyPr wrap="none" lIns="0" rIns="0" tIns="0" bIns="0">
            <a:spAutoFit/>
          </a:bodyPr>
          <a:lstStyle/>
          <a:p>
            <a:r>
              <a:rPr sz="1100" b="0">
                <a:solidFill>
                  <a:srgbClr val="2E2E2E"/>
                </a:solidFill>
                <a:latin typeface="Calibri"/>
              </a:rPr>
              <a:t>U.S.'s packaged muffins market expands at</a:t>
            </a:r>
          </a:p>
        </p:txBody>
      </p:sp>
      <p:pic>
        <p:nvPicPr>
          <p:cNvPr id="42" name="Picture 41" descr="lock.png"/>
          <p:cNvPicPr>
            <a:picLocks noChangeAspect="1"/>
          </p:cNvPicPr>
          <p:nvPr/>
        </p:nvPicPr>
        <p:blipFill>
          <a:blip r:embed="rId8"/>
          <a:stretch>
            <a:fillRect/>
          </a:stretch>
        </p:blipFill>
        <p:spPr>
          <a:xfrm>
            <a:off x="10525479" y="2866771"/>
            <a:ext cx="128699" cy="187198"/>
          </a:xfrm>
          <a:prstGeom prst="rect">
            <a:avLst/>
          </a:prstGeom>
        </p:spPr>
      </p:pic>
      <p:sp>
        <p:nvSpPr>
          <p:cNvPr id="43" name="TextBox 42"/>
          <p:cNvSpPr txBox="1"/>
          <p:nvPr/>
        </p:nvSpPr>
        <p:spPr>
          <a:xfrm>
            <a:off x="10692975" y="2876550"/>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44" name="TextBox 43"/>
          <p:cNvSpPr txBox="1"/>
          <p:nvPr/>
        </p:nvSpPr>
        <p:spPr>
          <a:xfrm>
            <a:off x="8071485" y="3044190"/>
            <a:ext cx="2731318" cy="186689"/>
          </a:xfrm>
          <a:prstGeom prst="rect">
            <a:avLst/>
          </a:prstGeom>
          <a:noFill/>
        </p:spPr>
        <p:txBody>
          <a:bodyPr wrap="none" lIns="0" rIns="0" tIns="0" bIns="0">
            <a:spAutoFit/>
          </a:bodyPr>
          <a:lstStyle/>
          <a:p>
            <a:r>
              <a:rPr sz="1100" b="0">
                <a:solidFill>
                  <a:srgbClr val="2E2E2E"/>
                </a:solidFill>
                <a:latin typeface="Calibri"/>
              </a:rPr>
              <a:t>2036, trailing the North America benchmark of</a:t>
            </a:r>
          </a:p>
        </p:txBody>
      </p:sp>
      <p:pic>
        <p:nvPicPr>
          <p:cNvPr id="45" name="Picture 44" descr="lock.png"/>
          <p:cNvPicPr>
            <a:picLocks noChangeAspect="1"/>
          </p:cNvPicPr>
          <p:nvPr/>
        </p:nvPicPr>
        <p:blipFill>
          <a:blip r:embed="rId8"/>
          <a:stretch>
            <a:fillRect/>
          </a:stretch>
        </p:blipFill>
        <p:spPr>
          <a:xfrm>
            <a:off x="10750855" y="3034411"/>
            <a:ext cx="128699" cy="187198"/>
          </a:xfrm>
          <a:prstGeom prst="rect">
            <a:avLst/>
          </a:prstGeom>
        </p:spPr>
      </p:pic>
      <p:sp>
        <p:nvSpPr>
          <p:cNvPr id="46" name="TextBox 45"/>
          <p:cNvSpPr txBox="1"/>
          <p:nvPr/>
        </p:nvSpPr>
        <p:spPr>
          <a:xfrm>
            <a:off x="10918350"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11079301" y="3034411"/>
            <a:ext cx="128699" cy="187198"/>
          </a:xfrm>
          <a:prstGeom prst="rect">
            <a:avLst/>
          </a:prstGeom>
        </p:spPr>
      </p:pic>
      <p:sp>
        <p:nvSpPr>
          <p:cNvPr id="48" name="TextBox 47"/>
          <p:cNvSpPr txBox="1"/>
          <p:nvPr/>
        </p:nvSpPr>
        <p:spPr>
          <a:xfrm>
            <a:off x="11246797" y="304419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409081" cy="186689"/>
          </a:xfrm>
          <a:prstGeom prst="rect">
            <a:avLst/>
          </a:prstGeom>
          <a:noFill/>
        </p:spPr>
        <p:txBody>
          <a:bodyPr wrap="none" lIns="0" rIns="0" tIns="0" bIns="0">
            <a:spAutoFit/>
          </a:bodyPr>
          <a:lstStyle/>
          <a:p>
            <a:r>
              <a:rPr sz="1100" b="0">
                <a:solidFill>
                  <a:srgbClr val="2E2E2E"/>
                </a:solidFill>
                <a:latin typeface="Calibri"/>
              </a:rPr>
              <a:t>of the North America packaged muffins market in 2026; by</a:t>
            </a:r>
          </a:p>
        </p:txBody>
      </p:sp>
      <p:sp>
        <p:nvSpPr>
          <p:cNvPr id="54" name="TextBox 53"/>
          <p:cNvSpPr txBox="1"/>
          <p:nvPr/>
        </p:nvSpPr>
        <p:spPr>
          <a:xfrm>
            <a:off x="257175" y="6134100"/>
            <a:ext cx="1610990" cy="186689"/>
          </a:xfrm>
          <a:prstGeom prst="rect">
            <a:avLst/>
          </a:prstGeom>
          <a:noFill/>
        </p:spPr>
        <p:txBody>
          <a:bodyPr wrap="none" lIns="0" rIns="0" tIns="0" bIns="0">
            <a:spAutoFit/>
          </a:bodyPr>
          <a:lstStyle/>
          <a:p>
            <a:r>
              <a:rPr sz="1100" b="0">
                <a:solidFill>
                  <a:srgbClr val="2E2E2E"/>
                </a:solidFill>
                <a:latin typeface="Calibri"/>
              </a:rPr>
              <a:t>2036 those shares move to</a:t>
            </a:r>
          </a:p>
        </p:txBody>
      </p:sp>
      <p:pic>
        <p:nvPicPr>
          <p:cNvPr id="55" name="Picture 54" descr="lock.png"/>
          <p:cNvPicPr>
            <a:picLocks noChangeAspect="1"/>
          </p:cNvPicPr>
          <p:nvPr/>
        </p:nvPicPr>
        <p:blipFill>
          <a:blip r:embed="rId8"/>
          <a:stretch>
            <a:fillRect/>
          </a:stretch>
        </p:blipFill>
        <p:spPr>
          <a:xfrm>
            <a:off x="1816216" y="6124320"/>
            <a:ext cx="128699" cy="187198"/>
          </a:xfrm>
          <a:prstGeom prst="rect">
            <a:avLst/>
          </a:prstGeom>
        </p:spPr>
      </p:pic>
      <p:sp>
        <p:nvSpPr>
          <p:cNvPr id="56" name="TextBox 55"/>
          <p:cNvSpPr txBox="1"/>
          <p:nvPr/>
        </p:nvSpPr>
        <p:spPr>
          <a:xfrm>
            <a:off x="1983712"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221606" y="6124320"/>
            <a:ext cx="128699" cy="187198"/>
          </a:xfrm>
          <a:prstGeom prst="rect">
            <a:avLst/>
          </a:prstGeom>
        </p:spPr>
      </p:pic>
      <p:sp>
        <p:nvSpPr>
          <p:cNvPr id="58" name="TextBox 57"/>
          <p:cNvSpPr txBox="1"/>
          <p:nvPr/>
        </p:nvSpPr>
        <p:spPr>
          <a:xfrm>
            <a:off x="2389102"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966460"/>
            <a:ext cx="1586979" cy="186689"/>
          </a:xfrm>
          <a:prstGeom prst="rect">
            <a:avLst/>
          </a:prstGeom>
          <a:noFill/>
        </p:spPr>
        <p:txBody>
          <a:bodyPr wrap="none" lIns="0" rIns="0" tIns="0" bIns="0">
            <a:spAutoFit/>
          </a:bodyPr>
          <a:lstStyle/>
          <a:p>
            <a:r>
              <a:rPr sz="1100" b="0">
                <a:solidFill>
                  <a:srgbClr val="2E2E2E"/>
                </a:solidFill>
                <a:latin typeface="Calibri"/>
              </a:rPr>
              <a:t>The forecast build-up adds</a:t>
            </a:r>
          </a:p>
        </p:txBody>
      </p:sp>
      <p:pic>
        <p:nvPicPr>
          <p:cNvPr id="60" name="Picture 59" descr="lock.png"/>
          <p:cNvPicPr>
            <a:picLocks noChangeAspect="1"/>
          </p:cNvPicPr>
          <p:nvPr/>
        </p:nvPicPr>
        <p:blipFill>
          <a:blip r:embed="rId8"/>
          <a:stretch>
            <a:fillRect/>
          </a:stretch>
        </p:blipFill>
        <p:spPr>
          <a:xfrm>
            <a:off x="7821530" y="5956680"/>
            <a:ext cx="128699" cy="187198"/>
          </a:xfrm>
          <a:prstGeom prst="rect">
            <a:avLst/>
          </a:prstGeom>
        </p:spPr>
      </p:pic>
      <p:sp>
        <p:nvSpPr>
          <p:cNvPr id="61" name="TextBox 60"/>
          <p:cNvSpPr txBox="1"/>
          <p:nvPr/>
        </p:nvSpPr>
        <p:spPr>
          <a:xfrm>
            <a:off x="7989026" y="5966460"/>
            <a:ext cx="3117130" cy="186689"/>
          </a:xfrm>
          <a:prstGeom prst="rect">
            <a:avLst/>
          </a:prstGeom>
          <a:noFill/>
        </p:spPr>
        <p:txBody>
          <a:bodyPr wrap="none" lIns="0" rIns="0" tIns="0" bIns="0">
            <a:spAutoFit/>
          </a:bodyPr>
          <a:lstStyle/>
          <a:p>
            <a:r>
              <a:rPr sz="1100" b="0">
                <a:solidFill>
                  <a:srgbClr val="2E2E2E"/>
                </a:solidFill>
                <a:latin typeface="Calibri"/>
              </a:rPr>
              <a:t>MT between 2026 and 2036 the U.S. market grows to</a:t>
            </a:r>
          </a:p>
        </p:txBody>
      </p:sp>
      <p:pic>
        <p:nvPicPr>
          <p:cNvPr id="62" name="Picture 61" descr="lock.png"/>
          <p:cNvPicPr>
            <a:picLocks noChangeAspect="1"/>
          </p:cNvPicPr>
          <p:nvPr/>
        </p:nvPicPr>
        <p:blipFill>
          <a:blip r:embed="rId8"/>
          <a:stretch>
            <a:fillRect/>
          </a:stretch>
        </p:blipFill>
        <p:spPr>
          <a:xfrm>
            <a:off x="11054208" y="5956680"/>
            <a:ext cx="128699" cy="187198"/>
          </a:xfrm>
          <a:prstGeom prst="rect">
            <a:avLst/>
          </a:prstGeom>
        </p:spPr>
      </p:pic>
      <p:sp>
        <p:nvSpPr>
          <p:cNvPr id="63" name="TextBox 62"/>
          <p:cNvSpPr txBox="1"/>
          <p:nvPr/>
        </p:nvSpPr>
        <p:spPr>
          <a:xfrm>
            <a:off x="11221704" y="5966460"/>
            <a:ext cx="311125" cy="186689"/>
          </a:xfrm>
          <a:prstGeom prst="rect">
            <a:avLst/>
          </a:prstGeom>
          <a:noFill/>
        </p:spPr>
        <p:txBody>
          <a:bodyPr wrap="none" lIns="0" rIns="0" tIns="0" bIns="0">
            <a:spAutoFit/>
          </a:bodyPr>
          <a:lstStyle/>
          <a:p>
            <a:r>
              <a:rPr sz="1100" b="0">
                <a:solidFill>
                  <a:srgbClr val="2E2E2E"/>
                </a:solidFill>
                <a:latin typeface="Calibri"/>
              </a:rPr>
              <a:t>× its</a:t>
            </a:r>
          </a:p>
        </p:txBody>
      </p:sp>
      <p:sp>
        <p:nvSpPr>
          <p:cNvPr id="64" name="TextBox 63"/>
          <p:cNvSpPr txBox="1"/>
          <p:nvPr/>
        </p:nvSpPr>
        <p:spPr>
          <a:xfrm>
            <a:off x="6286500" y="6134100"/>
            <a:ext cx="1590253" cy="186689"/>
          </a:xfrm>
          <a:prstGeom prst="rect">
            <a:avLst/>
          </a:prstGeom>
          <a:noFill/>
        </p:spPr>
        <p:txBody>
          <a:bodyPr wrap="none" lIns="0" rIns="0" tIns="0" bIns="0">
            <a:spAutoFit/>
          </a:bodyPr>
          <a:lstStyle/>
          <a:p>
            <a:r>
              <a:rPr sz="1100" b="0">
                <a:solidFill>
                  <a:srgbClr val="2E2E2E"/>
                </a:solidFill>
                <a:latin typeface="Calibri"/>
              </a:rPr>
              <a:t>2026 size over the decade.</a:t>
            </a:r>
          </a:p>
        </p:txBody>
      </p:sp>
      <p:sp>
        <p:nvSpPr>
          <p:cNvPr id="65"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2505943" cy="186689"/>
          </a:xfrm>
          <a:prstGeom prst="rect">
            <a:avLst/>
          </a:prstGeom>
          <a:noFill/>
        </p:spPr>
        <p:txBody>
          <a:bodyPr wrap="none" lIns="0" rIns="0" tIns="0" bIns="0">
            <a:spAutoFit/>
          </a:bodyPr>
          <a:lstStyle/>
          <a:p>
            <a:r>
              <a:rPr sz="1100" b="0">
                <a:solidFill>
                  <a:srgbClr val="2E2E2E"/>
                </a:solidFill>
                <a:latin typeface="Calibri"/>
              </a:rPr>
              <a:t>U.S.'s packaged muffins market expands at</a:t>
            </a:r>
          </a:p>
        </p:txBody>
      </p:sp>
      <p:pic>
        <p:nvPicPr>
          <p:cNvPr id="42" name="Picture 41" descr="lock.png"/>
          <p:cNvPicPr>
            <a:picLocks noChangeAspect="1"/>
          </p:cNvPicPr>
          <p:nvPr/>
        </p:nvPicPr>
        <p:blipFill>
          <a:blip r:embed="rId8"/>
          <a:stretch>
            <a:fillRect/>
          </a:stretch>
        </p:blipFill>
        <p:spPr>
          <a:xfrm>
            <a:off x="10525479" y="2866771"/>
            <a:ext cx="128699" cy="187198"/>
          </a:xfrm>
          <a:prstGeom prst="rect">
            <a:avLst/>
          </a:prstGeom>
        </p:spPr>
      </p:pic>
      <p:sp>
        <p:nvSpPr>
          <p:cNvPr id="43" name="TextBox 42"/>
          <p:cNvSpPr txBox="1"/>
          <p:nvPr/>
        </p:nvSpPr>
        <p:spPr>
          <a:xfrm>
            <a:off x="10692975" y="2876550"/>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44" name="TextBox 43"/>
          <p:cNvSpPr txBox="1"/>
          <p:nvPr/>
        </p:nvSpPr>
        <p:spPr>
          <a:xfrm>
            <a:off x="8071485" y="3044190"/>
            <a:ext cx="2731318" cy="186689"/>
          </a:xfrm>
          <a:prstGeom prst="rect">
            <a:avLst/>
          </a:prstGeom>
          <a:noFill/>
        </p:spPr>
        <p:txBody>
          <a:bodyPr wrap="none" lIns="0" rIns="0" tIns="0" bIns="0">
            <a:spAutoFit/>
          </a:bodyPr>
          <a:lstStyle/>
          <a:p>
            <a:r>
              <a:rPr sz="1100" b="0">
                <a:solidFill>
                  <a:srgbClr val="2E2E2E"/>
                </a:solidFill>
                <a:latin typeface="Calibri"/>
              </a:rPr>
              <a:t>2036, trailing the North America benchmark of</a:t>
            </a:r>
          </a:p>
        </p:txBody>
      </p:sp>
      <p:pic>
        <p:nvPicPr>
          <p:cNvPr id="45" name="Picture 44" descr="lock.png"/>
          <p:cNvPicPr>
            <a:picLocks noChangeAspect="1"/>
          </p:cNvPicPr>
          <p:nvPr/>
        </p:nvPicPr>
        <p:blipFill>
          <a:blip r:embed="rId8"/>
          <a:stretch>
            <a:fillRect/>
          </a:stretch>
        </p:blipFill>
        <p:spPr>
          <a:xfrm>
            <a:off x="10750855" y="3034411"/>
            <a:ext cx="128699" cy="187198"/>
          </a:xfrm>
          <a:prstGeom prst="rect">
            <a:avLst/>
          </a:prstGeom>
        </p:spPr>
      </p:pic>
      <p:sp>
        <p:nvSpPr>
          <p:cNvPr id="46" name="TextBox 45"/>
          <p:cNvSpPr txBox="1"/>
          <p:nvPr/>
        </p:nvSpPr>
        <p:spPr>
          <a:xfrm>
            <a:off x="10918350"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11079301" y="3034411"/>
            <a:ext cx="128699" cy="187198"/>
          </a:xfrm>
          <a:prstGeom prst="rect">
            <a:avLst/>
          </a:prstGeom>
        </p:spPr>
      </p:pic>
      <p:sp>
        <p:nvSpPr>
          <p:cNvPr id="48" name="TextBox 47"/>
          <p:cNvSpPr txBox="1"/>
          <p:nvPr/>
        </p:nvSpPr>
        <p:spPr>
          <a:xfrm>
            <a:off x="11246797" y="304419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409081" cy="186689"/>
          </a:xfrm>
          <a:prstGeom prst="rect">
            <a:avLst/>
          </a:prstGeom>
          <a:noFill/>
        </p:spPr>
        <p:txBody>
          <a:bodyPr wrap="none" lIns="0" rIns="0" tIns="0" bIns="0">
            <a:spAutoFit/>
          </a:bodyPr>
          <a:lstStyle/>
          <a:p>
            <a:r>
              <a:rPr sz="1100" b="0">
                <a:solidFill>
                  <a:srgbClr val="2E2E2E"/>
                </a:solidFill>
                <a:latin typeface="Calibri"/>
              </a:rPr>
              <a:t>of the North America packaged muffins market in 2026; by</a:t>
            </a:r>
          </a:p>
        </p:txBody>
      </p:sp>
      <p:sp>
        <p:nvSpPr>
          <p:cNvPr id="54" name="TextBox 53"/>
          <p:cNvSpPr txBox="1"/>
          <p:nvPr/>
        </p:nvSpPr>
        <p:spPr>
          <a:xfrm>
            <a:off x="257175" y="6134100"/>
            <a:ext cx="1610990" cy="186689"/>
          </a:xfrm>
          <a:prstGeom prst="rect">
            <a:avLst/>
          </a:prstGeom>
          <a:noFill/>
        </p:spPr>
        <p:txBody>
          <a:bodyPr wrap="none" lIns="0" rIns="0" tIns="0" bIns="0">
            <a:spAutoFit/>
          </a:bodyPr>
          <a:lstStyle/>
          <a:p>
            <a:r>
              <a:rPr sz="1100" b="0">
                <a:solidFill>
                  <a:srgbClr val="2E2E2E"/>
                </a:solidFill>
                <a:latin typeface="Calibri"/>
              </a:rPr>
              <a:t>2036 those shares move to</a:t>
            </a:r>
          </a:p>
        </p:txBody>
      </p:sp>
      <p:pic>
        <p:nvPicPr>
          <p:cNvPr id="55" name="Picture 54" descr="lock.png"/>
          <p:cNvPicPr>
            <a:picLocks noChangeAspect="1"/>
          </p:cNvPicPr>
          <p:nvPr/>
        </p:nvPicPr>
        <p:blipFill>
          <a:blip r:embed="rId8"/>
          <a:stretch>
            <a:fillRect/>
          </a:stretch>
        </p:blipFill>
        <p:spPr>
          <a:xfrm>
            <a:off x="1816216" y="6124320"/>
            <a:ext cx="128699" cy="187198"/>
          </a:xfrm>
          <a:prstGeom prst="rect">
            <a:avLst/>
          </a:prstGeom>
        </p:spPr>
      </p:pic>
      <p:sp>
        <p:nvSpPr>
          <p:cNvPr id="56" name="TextBox 55"/>
          <p:cNvSpPr txBox="1"/>
          <p:nvPr/>
        </p:nvSpPr>
        <p:spPr>
          <a:xfrm>
            <a:off x="1983712"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221606" y="6124320"/>
            <a:ext cx="128699" cy="187198"/>
          </a:xfrm>
          <a:prstGeom prst="rect">
            <a:avLst/>
          </a:prstGeom>
        </p:spPr>
      </p:pic>
      <p:sp>
        <p:nvSpPr>
          <p:cNvPr id="58" name="TextBox 57"/>
          <p:cNvSpPr txBox="1"/>
          <p:nvPr/>
        </p:nvSpPr>
        <p:spPr>
          <a:xfrm>
            <a:off x="2389102"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966460"/>
            <a:ext cx="1586979" cy="186689"/>
          </a:xfrm>
          <a:prstGeom prst="rect">
            <a:avLst/>
          </a:prstGeom>
          <a:noFill/>
        </p:spPr>
        <p:txBody>
          <a:bodyPr wrap="none" lIns="0" rIns="0" tIns="0" bIns="0">
            <a:spAutoFit/>
          </a:bodyPr>
          <a:lstStyle/>
          <a:p>
            <a:r>
              <a:rPr sz="1100" b="0">
                <a:solidFill>
                  <a:srgbClr val="2E2E2E"/>
                </a:solidFill>
                <a:latin typeface="Calibri"/>
              </a:rPr>
              <a:t>The forecast build-up adds</a:t>
            </a:r>
          </a:p>
        </p:txBody>
      </p:sp>
      <p:pic>
        <p:nvPicPr>
          <p:cNvPr id="60" name="Picture 59" descr="lock.png"/>
          <p:cNvPicPr>
            <a:picLocks noChangeAspect="1"/>
          </p:cNvPicPr>
          <p:nvPr/>
        </p:nvPicPr>
        <p:blipFill>
          <a:blip r:embed="rId8"/>
          <a:stretch>
            <a:fillRect/>
          </a:stretch>
        </p:blipFill>
        <p:spPr>
          <a:xfrm>
            <a:off x="7821530" y="5956680"/>
            <a:ext cx="128699" cy="187198"/>
          </a:xfrm>
          <a:prstGeom prst="rect">
            <a:avLst/>
          </a:prstGeom>
        </p:spPr>
      </p:pic>
      <p:sp>
        <p:nvSpPr>
          <p:cNvPr id="61" name="TextBox 60"/>
          <p:cNvSpPr txBox="1"/>
          <p:nvPr/>
        </p:nvSpPr>
        <p:spPr>
          <a:xfrm>
            <a:off x="7989026" y="5966460"/>
            <a:ext cx="3378795" cy="186689"/>
          </a:xfrm>
          <a:prstGeom prst="rect">
            <a:avLst/>
          </a:prstGeom>
          <a:noFill/>
        </p:spPr>
        <p:txBody>
          <a:bodyPr wrap="none" lIns="0" rIns="0" tIns="0" bIns="0">
            <a:spAutoFit/>
          </a:bodyPr>
          <a:lstStyle/>
          <a:p>
            <a:r>
              <a:rPr sz="1100" b="0">
                <a:solidFill>
                  <a:srgbClr val="2E2E2E"/>
                </a:solidFill>
                <a:latin typeface="Calibri"/>
              </a:rPr>
              <a:t>US$ Mn between 2026 and 2036 the U.S. market grows to</a:t>
            </a:r>
          </a:p>
        </p:txBody>
      </p:sp>
      <p:pic>
        <p:nvPicPr>
          <p:cNvPr id="62" name="Picture 61" descr="lock.png"/>
          <p:cNvPicPr>
            <a:picLocks noChangeAspect="1"/>
          </p:cNvPicPr>
          <p:nvPr/>
        </p:nvPicPr>
        <p:blipFill>
          <a:blip r:embed="rId8"/>
          <a:stretch>
            <a:fillRect/>
          </a:stretch>
        </p:blipFill>
        <p:spPr>
          <a:xfrm>
            <a:off x="11315873" y="5956680"/>
            <a:ext cx="128699" cy="187198"/>
          </a:xfrm>
          <a:prstGeom prst="rect">
            <a:avLst/>
          </a:prstGeom>
        </p:spPr>
      </p:pic>
      <p:sp>
        <p:nvSpPr>
          <p:cNvPr id="63" name="TextBox 62"/>
          <p:cNvSpPr txBox="1"/>
          <p:nvPr/>
        </p:nvSpPr>
        <p:spPr>
          <a:xfrm>
            <a:off x="11483369" y="5966460"/>
            <a:ext cx="311125" cy="186689"/>
          </a:xfrm>
          <a:prstGeom prst="rect">
            <a:avLst/>
          </a:prstGeom>
          <a:noFill/>
        </p:spPr>
        <p:txBody>
          <a:bodyPr wrap="none" lIns="0" rIns="0" tIns="0" bIns="0">
            <a:spAutoFit/>
          </a:bodyPr>
          <a:lstStyle/>
          <a:p>
            <a:r>
              <a:rPr sz="1100" b="0">
                <a:solidFill>
                  <a:srgbClr val="2E2E2E"/>
                </a:solidFill>
                <a:latin typeface="Calibri"/>
              </a:rPr>
              <a:t>× its</a:t>
            </a:r>
          </a:p>
        </p:txBody>
      </p:sp>
      <p:sp>
        <p:nvSpPr>
          <p:cNvPr id="64" name="TextBox 63"/>
          <p:cNvSpPr txBox="1"/>
          <p:nvPr/>
        </p:nvSpPr>
        <p:spPr>
          <a:xfrm>
            <a:off x="6286500" y="6134100"/>
            <a:ext cx="1590253" cy="186689"/>
          </a:xfrm>
          <a:prstGeom prst="rect">
            <a:avLst/>
          </a:prstGeom>
          <a:noFill/>
        </p:spPr>
        <p:txBody>
          <a:bodyPr wrap="none" lIns="0" rIns="0" tIns="0" bIns="0">
            <a:spAutoFit/>
          </a:bodyPr>
          <a:lstStyle/>
          <a:p>
            <a:r>
              <a:rPr sz="1100" b="0">
                <a:solidFill>
                  <a:srgbClr val="2E2E2E"/>
                </a:solidFill>
                <a:latin typeface="Calibri"/>
              </a:rPr>
              <a:t>2026 size over the decade.</a:t>
            </a:r>
          </a:p>
        </p:txBody>
      </p:sp>
      <p:sp>
        <p:nvSpPr>
          <p:cNvPr id="65"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Key Segments Overview, By Value (2026)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44780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Flavour  (US$ Mn)</a:t>
            </a:r>
          </a:p>
        </p:txBody>
      </p:sp>
      <p:graphicFrame>
        <p:nvGraphicFramePr>
          <p:cNvPr id="16" name="Chart 15"/>
          <p:cNvGraphicFramePr>
            <a:graphicFrameLocks noGrp="1"/>
          </p:cNvGraphicFramePr>
          <p:nvPr/>
        </p:nvGraphicFramePr>
        <p:xfrm>
          <a:off x="3248025" y="1266825"/>
          <a:ext cx="2667000" cy="14478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Flour Base  (US$ Mn)</a:t>
            </a:r>
          </a:p>
        </p:txBody>
      </p:sp>
      <p:graphicFrame>
        <p:nvGraphicFramePr>
          <p:cNvPr id="19" name="Chart 18"/>
          <p:cNvGraphicFramePr>
            <a:graphicFrameLocks noGrp="1"/>
          </p:cNvGraphicFramePr>
          <p:nvPr/>
        </p:nvGraphicFramePr>
        <p:xfrm>
          <a:off x="6257925" y="1266825"/>
          <a:ext cx="2667000" cy="144780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Dietary Formulation  (US$ Mn)</a:t>
            </a:r>
          </a:p>
        </p:txBody>
      </p:sp>
      <p:graphicFrame>
        <p:nvGraphicFramePr>
          <p:cNvPr id="22" name="Chart 21"/>
          <p:cNvGraphicFramePr>
            <a:graphicFrameLocks noGrp="1"/>
          </p:cNvGraphicFramePr>
          <p:nvPr/>
        </p:nvGraphicFramePr>
        <p:xfrm>
          <a:off x="9267825" y="1266825"/>
          <a:ext cx="2667000" cy="144780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90512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96227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Nutritional Positioning  (US$ Mn)</a:t>
            </a:r>
          </a:p>
        </p:txBody>
      </p:sp>
      <p:graphicFrame>
        <p:nvGraphicFramePr>
          <p:cNvPr id="25" name="Chart 24"/>
          <p:cNvGraphicFramePr>
            <a:graphicFrameLocks noGrp="1"/>
          </p:cNvGraphicFramePr>
          <p:nvPr/>
        </p:nvGraphicFramePr>
        <p:xfrm>
          <a:off x="238125" y="3190875"/>
          <a:ext cx="2667000" cy="1447800"/>
        </p:xfrm>
        <a:graphic>
          <a:graphicData uri="http://schemas.openxmlformats.org/drawingml/2006/chart">
            <c:chart xmlns:c="http://schemas.openxmlformats.org/drawingml/2006/chart" r:id="rId7"/>
          </a:graphicData>
        </a:graphic>
      </p:graphicFrame>
      <p:sp>
        <p:nvSpPr>
          <p:cNvPr id="26" name="Rounded Rectangle 25"/>
          <p:cNvSpPr/>
          <p:nvPr/>
        </p:nvSpPr>
        <p:spPr>
          <a:xfrm>
            <a:off x="3152775" y="290512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48025" y="296227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Recipe and Ingredient Claims  (US$ Mn)</a:t>
            </a:r>
          </a:p>
        </p:txBody>
      </p:sp>
      <p:graphicFrame>
        <p:nvGraphicFramePr>
          <p:cNvPr id="28" name="Chart 27"/>
          <p:cNvGraphicFramePr>
            <a:graphicFrameLocks noGrp="1"/>
          </p:cNvGraphicFramePr>
          <p:nvPr/>
        </p:nvGraphicFramePr>
        <p:xfrm>
          <a:off x="3248025" y="3362325"/>
          <a:ext cx="2667000" cy="1276350"/>
        </p:xfrm>
        <a:graphic>
          <a:graphicData uri="http://schemas.openxmlformats.org/drawingml/2006/chart">
            <c:chart xmlns:c="http://schemas.openxmlformats.org/drawingml/2006/chart" r:id="rId8"/>
          </a:graphicData>
        </a:graphic>
      </p:graphicFrame>
      <p:sp>
        <p:nvSpPr>
          <p:cNvPr id="29" name="Rounded Rectangle 28"/>
          <p:cNvSpPr/>
          <p:nvPr/>
        </p:nvSpPr>
        <p:spPr>
          <a:xfrm>
            <a:off x="6162675" y="290512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257925" y="296227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Structure  (US$ Mn)</a:t>
            </a:r>
          </a:p>
        </p:txBody>
      </p:sp>
      <p:graphicFrame>
        <p:nvGraphicFramePr>
          <p:cNvPr id="31" name="Chart 30"/>
          <p:cNvGraphicFramePr>
            <a:graphicFrameLocks noGrp="1"/>
          </p:cNvGraphicFramePr>
          <p:nvPr/>
        </p:nvGraphicFramePr>
        <p:xfrm>
          <a:off x="6257925" y="3190875"/>
          <a:ext cx="2667000" cy="1447800"/>
        </p:xfrm>
        <a:graphic>
          <a:graphicData uri="http://schemas.openxmlformats.org/drawingml/2006/chart">
            <c:chart xmlns:c="http://schemas.openxmlformats.org/drawingml/2006/chart" r:id="rId9"/>
          </a:graphicData>
        </a:graphic>
      </p:graphicFrame>
      <p:sp>
        <p:nvSpPr>
          <p:cNvPr id="32" name="Rounded Rectangle 31"/>
          <p:cNvSpPr/>
          <p:nvPr/>
        </p:nvSpPr>
        <p:spPr>
          <a:xfrm>
            <a:off x="9172575" y="290512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9267825" y="296227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Surface Finish  (US$ Mn)</a:t>
            </a:r>
          </a:p>
        </p:txBody>
      </p:sp>
      <p:graphicFrame>
        <p:nvGraphicFramePr>
          <p:cNvPr id="34" name="Chart 33"/>
          <p:cNvGraphicFramePr>
            <a:graphicFrameLocks noGrp="1"/>
          </p:cNvGraphicFramePr>
          <p:nvPr/>
        </p:nvGraphicFramePr>
        <p:xfrm>
          <a:off x="9267825" y="3190875"/>
          <a:ext cx="2667000" cy="1447800"/>
        </p:xfrm>
        <a:graphic>
          <a:graphicData uri="http://schemas.openxmlformats.org/drawingml/2006/chart">
            <c:chart xmlns:c="http://schemas.openxmlformats.org/drawingml/2006/chart" r:id="rId10"/>
          </a:graphicData>
        </a:graphic>
      </p:graphicFrame>
      <p:sp>
        <p:nvSpPr>
          <p:cNvPr id="35" name="Rounded Rectangle 34"/>
          <p:cNvSpPr/>
          <p:nvPr/>
        </p:nvSpPr>
        <p:spPr>
          <a:xfrm>
            <a:off x="142875" y="48291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38125" y="48863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Individual Muffin Size  (US$ Mn)</a:t>
            </a:r>
          </a:p>
        </p:txBody>
      </p:sp>
      <p:graphicFrame>
        <p:nvGraphicFramePr>
          <p:cNvPr id="37" name="Chart 36"/>
          <p:cNvGraphicFramePr>
            <a:graphicFrameLocks noGrp="1"/>
          </p:cNvGraphicFramePr>
          <p:nvPr/>
        </p:nvGraphicFramePr>
        <p:xfrm>
          <a:off x="238125" y="5114925"/>
          <a:ext cx="2667000" cy="1447800"/>
        </p:xfrm>
        <a:graphic>
          <a:graphicData uri="http://schemas.openxmlformats.org/drawingml/2006/chart">
            <c:chart xmlns:c="http://schemas.openxmlformats.org/drawingml/2006/chart" r:id="rId11"/>
          </a:graphicData>
        </a:graphic>
      </p:graphicFrame>
      <p:sp>
        <p:nvSpPr>
          <p:cNvPr id="38" name="Rounded Rectangle 37"/>
          <p:cNvSpPr/>
          <p:nvPr/>
        </p:nvSpPr>
        <p:spPr>
          <a:xfrm>
            <a:off x="3152775" y="48291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248025" y="48863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Storage Format  (US$ Mn)</a:t>
            </a:r>
          </a:p>
        </p:txBody>
      </p:sp>
      <p:graphicFrame>
        <p:nvGraphicFramePr>
          <p:cNvPr id="40" name="Chart 39"/>
          <p:cNvGraphicFramePr>
            <a:graphicFrameLocks noGrp="1"/>
          </p:cNvGraphicFramePr>
          <p:nvPr/>
        </p:nvGraphicFramePr>
        <p:xfrm>
          <a:off x="3248025" y="5114925"/>
          <a:ext cx="2667000" cy="1447800"/>
        </p:xfrm>
        <a:graphic>
          <a:graphicData uri="http://schemas.openxmlformats.org/drawingml/2006/chart">
            <c:chart xmlns:c="http://schemas.openxmlformats.org/drawingml/2006/chart" r:id="rId12"/>
          </a:graphicData>
        </a:graphic>
      </p:graphicFrame>
      <p:sp>
        <p:nvSpPr>
          <p:cNvPr id="41" name="Rounded Rectangle 40"/>
          <p:cNvSpPr/>
          <p:nvPr/>
        </p:nvSpPr>
        <p:spPr>
          <a:xfrm>
            <a:off x="6162675" y="48291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6257925" y="48863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Shelf Life  (US$ Mn)</a:t>
            </a:r>
          </a:p>
        </p:txBody>
      </p:sp>
      <p:graphicFrame>
        <p:nvGraphicFramePr>
          <p:cNvPr id="43" name="Chart 42"/>
          <p:cNvGraphicFramePr>
            <a:graphicFrameLocks noGrp="1"/>
          </p:cNvGraphicFramePr>
          <p:nvPr/>
        </p:nvGraphicFramePr>
        <p:xfrm>
          <a:off x="6257925" y="5114925"/>
          <a:ext cx="2667000" cy="1447800"/>
        </p:xfrm>
        <a:graphic>
          <a:graphicData uri="http://schemas.openxmlformats.org/drawingml/2006/chart">
            <c:chart xmlns:c="http://schemas.openxmlformats.org/drawingml/2006/chart" r:id="rId13"/>
          </a:graphicData>
        </a:graphic>
      </p:graphicFrame>
      <p:sp>
        <p:nvSpPr>
          <p:cNvPr id="44" name="Rounded Rectangle 43"/>
          <p:cNvSpPr/>
          <p:nvPr/>
        </p:nvSpPr>
        <p:spPr>
          <a:xfrm>
            <a:off x="9172575" y="48291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9267825" y="48863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Packaging Format  (US$ Mn)</a:t>
            </a:r>
          </a:p>
        </p:txBody>
      </p:sp>
      <p:graphicFrame>
        <p:nvGraphicFramePr>
          <p:cNvPr id="46" name="Chart 45"/>
          <p:cNvGraphicFramePr>
            <a:graphicFrameLocks noGrp="1"/>
          </p:cNvGraphicFramePr>
          <p:nvPr/>
        </p:nvGraphicFramePr>
        <p:xfrm>
          <a:off x="9267825" y="5114925"/>
          <a:ext cx="2667000" cy="1447800"/>
        </p:xfrm>
        <a:graphic>
          <a:graphicData uri="http://schemas.openxmlformats.org/drawingml/2006/chart">
            <c:chart xmlns:c="http://schemas.openxmlformats.org/drawingml/2006/chart" r:id="rId14"/>
          </a:graphicData>
        </a:graphic>
      </p:graphicFrame>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16"/>
          <a:stretch>
            <a:fillRect/>
          </a:stretch>
        </p:blipFill>
        <p:spPr>
          <a:xfrm>
            <a:off x="1811655" y="1771650"/>
            <a:ext cx="183356" cy="266700"/>
          </a:xfrm>
          <a:prstGeom prst="rect">
            <a:avLst/>
          </a:prstGeom>
        </p:spPr>
      </p:pic>
      <p:pic>
        <p:nvPicPr>
          <p:cNvPr id="49" name="Picture 48" descr="lock.png"/>
          <p:cNvPicPr>
            <a:picLocks noChangeAspect="1"/>
          </p:cNvPicPr>
          <p:nvPr/>
        </p:nvPicPr>
        <p:blipFill>
          <a:blip r:embed="rId16"/>
          <a:stretch>
            <a:fillRect/>
          </a:stretch>
        </p:blipFill>
        <p:spPr>
          <a:xfrm>
            <a:off x="4821555" y="1771650"/>
            <a:ext cx="183356" cy="266700"/>
          </a:xfrm>
          <a:prstGeom prst="rect">
            <a:avLst/>
          </a:prstGeom>
        </p:spPr>
      </p:pic>
      <p:pic>
        <p:nvPicPr>
          <p:cNvPr id="50" name="Picture 49" descr="lock.png"/>
          <p:cNvPicPr>
            <a:picLocks noChangeAspect="1"/>
          </p:cNvPicPr>
          <p:nvPr/>
        </p:nvPicPr>
        <p:blipFill>
          <a:blip r:embed="rId16"/>
          <a:stretch>
            <a:fillRect/>
          </a:stretch>
        </p:blipFill>
        <p:spPr>
          <a:xfrm>
            <a:off x="7831455" y="1771650"/>
            <a:ext cx="183356" cy="266700"/>
          </a:xfrm>
          <a:prstGeom prst="rect">
            <a:avLst/>
          </a:prstGeom>
        </p:spPr>
      </p:pic>
      <p:pic>
        <p:nvPicPr>
          <p:cNvPr id="51" name="Picture 50" descr="lock.png"/>
          <p:cNvPicPr>
            <a:picLocks noChangeAspect="1"/>
          </p:cNvPicPr>
          <p:nvPr/>
        </p:nvPicPr>
        <p:blipFill>
          <a:blip r:embed="rId16"/>
          <a:stretch>
            <a:fillRect/>
          </a:stretch>
        </p:blipFill>
        <p:spPr>
          <a:xfrm>
            <a:off x="10841355" y="1771650"/>
            <a:ext cx="183356" cy="266700"/>
          </a:xfrm>
          <a:prstGeom prst="rect">
            <a:avLst/>
          </a:prstGeom>
        </p:spPr>
      </p:pic>
      <p:pic>
        <p:nvPicPr>
          <p:cNvPr id="52" name="Picture 51" descr="lock.png"/>
          <p:cNvPicPr>
            <a:picLocks noChangeAspect="1"/>
          </p:cNvPicPr>
          <p:nvPr/>
        </p:nvPicPr>
        <p:blipFill>
          <a:blip r:embed="rId16"/>
          <a:stretch>
            <a:fillRect/>
          </a:stretch>
        </p:blipFill>
        <p:spPr>
          <a:xfrm>
            <a:off x="1811655" y="3695700"/>
            <a:ext cx="183356" cy="266700"/>
          </a:xfrm>
          <a:prstGeom prst="rect">
            <a:avLst/>
          </a:prstGeom>
        </p:spPr>
      </p:pic>
      <p:pic>
        <p:nvPicPr>
          <p:cNvPr id="53" name="Picture 52" descr="lock.png"/>
          <p:cNvPicPr>
            <a:picLocks noChangeAspect="1"/>
          </p:cNvPicPr>
          <p:nvPr/>
        </p:nvPicPr>
        <p:blipFill>
          <a:blip r:embed="rId16"/>
          <a:stretch>
            <a:fillRect/>
          </a:stretch>
        </p:blipFill>
        <p:spPr>
          <a:xfrm>
            <a:off x="4821555" y="3781425"/>
            <a:ext cx="183356" cy="266700"/>
          </a:xfrm>
          <a:prstGeom prst="rect">
            <a:avLst/>
          </a:prstGeom>
        </p:spPr>
      </p:pic>
      <p:pic>
        <p:nvPicPr>
          <p:cNvPr id="54" name="Picture 53" descr="lock.png"/>
          <p:cNvPicPr>
            <a:picLocks noChangeAspect="1"/>
          </p:cNvPicPr>
          <p:nvPr/>
        </p:nvPicPr>
        <p:blipFill>
          <a:blip r:embed="rId16"/>
          <a:stretch>
            <a:fillRect/>
          </a:stretch>
        </p:blipFill>
        <p:spPr>
          <a:xfrm>
            <a:off x="7831455" y="3695700"/>
            <a:ext cx="183356" cy="266700"/>
          </a:xfrm>
          <a:prstGeom prst="rect">
            <a:avLst/>
          </a:prstGeom>
        </p:spPr>
      </p:pic>
      <p:pic>
        <p:nvPicPr>
          <p:cNvPr id="55" name="Picture 54" descr="lock.png"/>
          <p:cNvPicPr>
            <a:picLocks noChangeAspect="1"/>
          </p:cNvPicPr>
          <p:nvPr/>
        </p:nvPicPr>
        <p:blipFill>
          <a:blip r:embed="rId16"/>
          <a:stretch>
            <a:fillRect/>
          </a:stretch>
        </p:blipFill>
        <p:spPr>
          <a:xfrm>
            <a:off x="10841355" y="3695700"/>
            <a:ext cx="183356" cy="266700"/>
          </a:xfrm>
          <a:prstGeom prst="rect">
            <a:avLst/>
          </a:prstGeom>
        </p:spPr>
      </p:pic>
      <p:pic>
        <p:nvPicPr>
          <p:cNvPr id="56" name="Picture 55" descr="lock.png"/>
          <p:cNvPicPr>
            <a:picLocks noChangeAspect="1"/>
          </p:cNvPicPr>
          <p:nvPr/>
        </p:nvPicPr>
        <p:blipFill>
          <a:blip r:embed="rId16"/>
          <a:stretch>
            <a:fillRect/>
          </a:stretch>
        </p:blipFill>
        <p:spPr>
          <a:xfrm>
            <a:off x="1811655" y="5619750"/>
            <a:ext cx="183356" cy="266700"/>
          </a:xfrm>
          <a:prstGeom prst="rect">
            <a:avLst/>
          </a:prstGeom>
        </p:spPr>
      </p:pic>
      <p:pic>
        <p:nvPicPr>
          <p:cNvPr id="57" name="Picture 56" descr="lock.png"/>
          <p:cNvPicPr>
            <a:picLocks noChangeAspect="1"/>
          </p:cNvPicPr>
          <p:nvPr/>
        </p:nvPicPr>
        <p:blipFill>
          <a:blip r:embed="rId16"/>
          <a:stretch>
            <a:fillRect/>
          </a:stretch>
        </p:blipFill>
        <p:spPr>
          <a:xfrm>
            <a:off x="4821555" y="5619750"/>
            <a:ext cx="183356" cy="266700"/>
          </a:xfrm>
          <a:prstGeom prst="rect">
            <a:avLst/>
          </a:prstGeom>
        </p:spPr>
      </p:pic>
      <p:pic>
        <p:nvPicPr>
          <p:cNvPr id="58" name="Picture 57" descr="lock.png"/>
          <p:cNvPicPr>
            <a:picLocks noChangeAspect="1"/>
          </p:cNvPicPr>
          <p:nvPr/>
        </p:nvPicPr>
        <p:blipFill>
          <a:blip r:embed="rId16"/>
          <a:stretch>
            <a:fillRect/>
          </a:stretch>
        </p:blipFill>
        <p:spPr>
          <a:xfrm>
            <a:off x="7831455" y="5619750"/>
            <a:ext cx="183356" cy="266700"/>
          </a:xfrm>
          <a:prstGeom prst="rect">
            <a:avLst/>
          </a:prstGeom>
        </p:spPr>
      </p:pic>
      <p:pic>
        <p:nvPicPr>
          <p:cNvPr id="59" name="Picture 58" descr="lock.png"/>
          <p:cNvPicPr>
            <a:picLocks noChangeAspect="1"/>
          </p:cNvPicPr>
          <p:nvPr/>
        </p:nvPicPr>
        <p:blipFill>
          <a:blip r:embed="rId16"/>
          <a:stretch>
            <a:fillRect/>
          </a:stretch>
        </p:blipFill>
        <p:spPr>
          <a:xfrm>
            <a:off x="10841355" y="5619750"/>
            <a:ext cx="183356" cy="266700"/>
          </a:xfrm>
          <a:prstGeom prst="rect">
            <a:avLst/>
          </a:prstGeom>
        </p:spPr>
      </p:pic>
      <p:sp>
        <p:nvSpPr>
          <p:cNvPr id="60" name="lockshield_13"/>
          <p:cNvSpPr/>
          <p:nvPr/>
        </p:nvSpPr>
        <p:spPr>
          <a:xfrm>
            <a:off x="238125" y="12668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16"/>
          <p:cNvSpPr/>
          <p:nvPr/>
        </p:nvSpPr>
        <p:spPr>
          <a:xfrm>
            <a:off x="3248025" y="12668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lockshield_19"/>
          <p:cNvSpPr/>
          <p:nvPr/>
        </p:nvSpPr>
        <p:spPr>
          <a:xfrm>
            <a:off x="6257925" y="12668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lockshield_22"/>
          <p:cNvSpPr/>
          <p:nvPr/>
        </p:nvSpPr>
        <p:spPr>
          <a:xfrm>
            <a:off x="9267825" y="12668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lockshield_25"/>
          <p:cNvSpPr/>
          <p:nvPr/>
        </p:nvSpPr>
        <p:spPr>
          <a:xfrm>
            <a:off x="238125" y="319087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lockshield_28"/>
          <p:cNvSpPr/>
          <p:nvPr/>
        </p:nvSpPr>
        <p:spPr>
          <a:xfrm>
            <a:off x="3248025" y="3362325"/>
            <a:ext cx="2667000" cy="12763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31"/>
          <p:cNvSpPr/>
          <p:nvPr/>
        </p:nvSpPr>
        <p:spPr>
          <a:xfrm>
            <a:off x="6257925" y="319087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34"/>
          <p:cNvSpPr/>
          <p:nvPr/>
        </p:nvSpPr>
        <p:spPr>
          <a:xfrm>
            <a:off x="9267825" y="319087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37"/>
          <p:cNvSpPr/>
          <p:nvPr/>
        </p:nvSpPr>
        <p:spPr>
          <a:xfrm>
            <a:off x="238125" y="51149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lockshield_40"/>
          <p:cNvSpPr/>
          <p:nvPr/>
        </p:nvSpPr>
        <p:spPr>
          <a:xfrm>
            <a:off x="3248025" y="51149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lockshield_43"/>
          <p:cNvSpPr/>
          <p:nvPr/>
        </p:nvSpPr>
        <p:spPr>
          <a:xfrm>
            <a:off x="6257925" y="51149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lockshield_46"/>
          <p:cNvSpPr/>
          <p:nvPr/>
        </p:nvSpPr>
        <p:spPr>
          <a:xfrm>
            <a:off x="9267825" y="51149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Key Segments Overview, By Value (2026)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42875" y="9810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 Configuration  (US$ Mn)</a:t>
            </a:r>
          </a:p>
        </p:txBody>
      </p:sp>
      <p:graphicFrame>
        <p:nvGraphicFramePr>
          <p:cNvPr id="12" name="Chart 11"/>
          <p:cNvGraphicFramePr>
            <a:graphicFrameLocks noGrp="1"/>
          </p:cNvGraphicFramePr>
          <p:nvPr/>
        </p:nvGraphicFramePr>
        <p:xfrm>
          <a:off x="238125" y="1266825"/>
          <a:ext cx="2667000" cy="1447800"/>
        </p:xfrm>
        <a:graphic>
          <a:graphicData uri="http://schemas.openxmlformats.org/drawingml/2006/chart">
            <c:chart xmlns:c="http://schemas.openxmlformats.org/drawingml/2006/chart" r:id="rId3"/>
          </a:graphicData>
        </a:graphic>
      </p:graphicFrame>
      <p:sp>
        <p:nvSpPr>
          <p:cNvPr id="13" name="Rounded Rectangle 12"/>
          <p:cNvSpPr/>
          <p:nvPr/>
        </p:nvSpPr>
        <p:spPr>
          <a:xfrm>
            <a:off x="3152775" y="9810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Multipack Wrapping  (US$ Mn)</a:t>
            </a:r>
          </a:p>
        </p:txBody>
      </p:sp>
      <p:graphicFrame>
        <p:nvGraphicFramePr>
          <p:cNvPr id="15" name="Chart 14"/>
          <p:cNvGraphicFramePr>
            <a:graphicFrameLocks noGrp="1"/>
          </p:cNvGraphicFramePr>
          <p:nvPr/>
        </p:nvGraphicFramePr>
        <p:xfrm>
          <a:off x="3248025" y="1266825"/>
          <a:ext cx="2667000" cy="1447800"/>
        </p:xfrm>
        <a:graphic>
          <a:graphicData uri="http://schemas.openxmlformats.org/drawingml/2006/chart">
            <c:chart xmlns:c="http://schemas.openxmlformats.org/drawingml/2006/chart" r:id="rId4"/>
          </a:graphicData>
        </a:graphic>
      </p:graphicFrame>
      <p:sp>
        <p:nvSpPr>
          <p:cNvPr id="16" name="Rounded Rectangle 15"/>
          <p:cNvSpPr/>
          <p:nvPr/>
        </p:nvSpPr>
        <p:spPr>
          <a:xfrm>
            <a:off x="6162675" y="9810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Price Positioning  (US$ Mn)</a:t>
            </a:r>
          </a:p>
        </p:txBody>
      </p:sp>
      <p:graphicFrame>
        <p:nvGraphicFramePr>
          <p:cNvPr id="18" name="Chart 17"/>
          <p:cNvGraphicFramePr>
            <a:graphicFrameLocks noGrp="1"/>
          </p:cNvGraphicFramePr>
          <p:nvPr/>
        </p:nvGraphicFramePr>
        <p:xfrm>
          <a:off x="6257925" y="1266825"/>
          <a:ext cx="2667000" cy="1447800"/>
        </p:xfrm>
        <a:graphic>
          <a:graphicData uri="http://schemas.openxmlformats.org/drawingml/2006/chart">
            <c:chart xmlns:c="http://schemas.openxmlformats.org/drawingml/2006/chart" r:id="rId5"/>
          </a:graphicData>
        </a:graphic>
      </p:graphicFrame>
      <p:sp>
        <p:nvSpPr>
          <p:cNvPr id="19" name="Rounded Rectangle 18"/>
          <p:cNvSpPr/>
          <p:nvPr/>
        </p:nvSpPr>
        <p:spPr>
          <a:xfrm>
            <a:off x="9172575" y="98107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Brand Ownership  (US$ Mn)</a:t>
            </a:r>
          </a:p>
        </p:txBody>
      </p:sp>
      <p:graphicFrame>
        <p:nvGraphicFramePr>
          <p:cNvPr id="21" name="Chart 20"/>
          <p:cNvGraphicFramePr>
            <a:graphicFrameLocks noGrp="1"/>
          </p:cNvGraphicFramePr>
          <p:nvPr/>
        </p:nvGraphicFramePr>
        <p:xfrm>
          <a:off x="9267825" y="1266825"/>
          <a:ext cx="2667000" cy="1447800"/>
        </p:xfrm>
        <a:graphic>
          <a:graphicData uri="http://schemas.openxmlformats.org/drawingml/2006/chart">
            <c:chart xmlns:c="http://schemas.openxmlformats.org/drawingml/2006/chart" r:id="rId6"/>
          </a:graphicData>
        </a:graphic>
      </p:graphicFrame>
      <p:sp>
        <p:nvSpPr>
          <p:cNvPr id="22" name="Rounded Rectangle 21"/>
          <p:cNvSpPr/>
          <p:nvPr/>
        </p:nvSpPr>
        <p:spPr>
          <a:xfrm>
            <a:off x="142875" y="290512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38125" y="296227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Channel  (US$ Mn)</a:t>
            </a:r>
          </a:p>
        </p:txBody>
      </p:sp>
      <p:graphicFrame>
        <p:nvGraphicFramePr>
          <p:cNvPr id="24" name="Chart 23"/>
          <p:cNvGraphicFramePr>
            <a:graphicFrameLocks noGrp="1"/>
          </p:cNvGraphicFramePr>
          <p:nvPr/>
        </p:nvGraphicFramePr>
        <p:xfrm>
          <a:off x="238125" y="3190875"/>
          <a:ext cx="2667000" cy="1447800"/>
        </p:xfrm>
        <a:graphic>
          <a:graphicData uri="http://schemas.openxmlformats.org/drawingml/2006/chart">
            <c:chart xmlns:c="http://schemas.openxmlformats.org/drawingml/2006/chart" r:id="rId7"/>
          </a:graphicData>
        </a:graphic>
      </p:graphicFrame>
      <p:sp>
        <p:nvSpPr>
          <p:cNvPr id="25" name="Rounded Rectangle 24"/>
          <p:cNvSpPr/>
          <p:nvPr/>
        </p:nvSpPr>
        <p:spPr>
          <a:xfrm>
            <a:off x="3152775" y="290512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3248025" y="296227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 Flavour  (US$ Mn)</a:t>
            </a:r>
          </a:p>
        </p:txBody>
      </p:sp>
      <p:graphicFrame>
        <p:nvGraphicFramePr>
          <p:cNvPr id="27" name="Chart 26"/>
          <p:cNvGraphicFramePr>
            <a:graphicFrameLocks noGrp="1"/>
          </p:cNvGraphicFramePr>
          <p:nvPr/>
        </p:nvGraphicFramePr>
        <p:xfrm>
          <a:off x="3248025" y="3190875"/>
          <a:ext cx="2667000" cy="1447800"/>
        </p:xfrm>
        <a:graphic>
          <a:graphicData uri="http://schemas.openxmlformats.org/drawingml/2006/chart">
            <c:chart xmlns:c="http://schemas.openxmlformats.org/drawingml/2006/chart" r:id="rId8"/>
          </a:graphicData>
        </a:graphic>
      </p:graphicFrame>
      <p:sp>
        <p:nvSpPr>
          <p:cNvPr id="28" name="Rounded Rectangle 27"/>
          <p:cNvSpPr/>
          <p:nvPr/>
        </p:nvSpPr>
        <p:spPr>
          <a:xfrm>
            <a:off x="6162675" y="290512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257925" y="296227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 Packaging Format  (US$ Mn)</a:t>
            </a:r>
          </a:p>
        </p:txBody>
      </p:sp>
      <p:graphicFrame>
        <p:nvGraphicFramePr>
          <p:cNvPr id="30" name="Chart 29"/>
          <p:cNvGraphicFramePr>
            <a:graphicFrameLocks noGrp="1"/>
          </p:cNvGraphicFramePr>
          <p:nvPr/>
        </p:nvGraphicFramePr>
        <p:xfrm>
          <a:off x="6257925" y="3362325"/>
          <a:ext cx="2667000" cy="1276350"/>
        </p:xfrm>
        <a:graphic>
          <a:graphicData uri="http://schemas.openxmlformats.org/drawingml/2006/chart">
            <c:chart xmlns:c="http://schemas.openxmlformats.org/drawingml/2006/chart" r:id="rId9"/>
          </a:graphicData>
        </a:graphic>
      </p:graphicFrame>
      <p:sp>
        <p:nvSpPr>
          <p:cNvPr id="31" name="Rounded Rectangle 30"/>
          <p:cNvSpPr/>
          <p:nvPr/>
        </p:nvSpPr>
        <p:spPr>
          <a:xfrm>
            <a:off x="9172575" y="2905125"/>
            <a:ext cx="28575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9267825" y="296227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 Sales Channel  (US$ Mn)</a:t>
            </a:r>
          </a:p>
        </p:txBody>
      </p:sp>
      <p:graphicFrame>
        <p:nvGraphicFramePr>
          <p:cNvPr id="33" name="Chart 32"/>
          <p:cNvGraphicFramePr>
            <a:graphicFrameLocks noGrp="1"/>
          </p:cNvGraphicFramePr>
          <p:nvPr/>
        </p:nvGraphicFramePr>
        <p:xfrm>
          <a:off x="9267825" y="3362325"/>
          <a:ext cx="2667000" cy="1276350"/>
        </p:xfrm>
        <a:graphic>
          <a:graphicData uri="http://schemas.openxmlformats.org/drawingml/2006/chart">
            <c:chart xmlns:c="http://schemas.openxmlformats.org/drawingml/2006/chart" r:id="rId10"/>
          </a:graphicData>
        </a:graphic>
      </p:graphicFrame>
      <p:sp>
        <p:nvSpPr>
          <p:cNvPr id="34" name="Rounded Rectangle 33"/>
          <p:cNvSpPr/>
          <p:nvPr/>
        </p:nvSpPr>
        <p:spPr>
          <a:xfrm>
            <a:off x="142875" y="4829175"/>
            <a:ext cx="297180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38125" y="4886325"/>
            <a:ext cx="27813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 Individual Muffin Size  (US$ Mn)</a:t>
            </a:r>
          </a:p>
        </p:txBody>
      </p:sp>
      <p:graphicFrame>
        <p:nvGraphicFramePr>
          <p:cNvPr id="36" name="Chart 35"/>
          <p:cNvGraphicFramePr>
            <a:graphicFrameLocks noGrp="1"/>
          </p:cNvGraphicFramePr>
          <p:nvPr/>
        </p:nvGraphicFramePr>
        <p:xfrm>
          <a:off x="238125" y="5286375"/>
          <a:ext cx="2781300" cy="1276350"/>
        </p:xfrm>
        <a:graphic>
          <a:graphicData uri="http://schemas.openxmlformats.org/drawingml/2006/chart">
            <c:chart xmlns:c="http://schemas.openxmlformats.org/drawingml/2006/chart" r:id="rId11"/>
          </a:graphicData>
        </a:graphic>
      </p:graphicFrame>
      <p:sp>
        <p:nvSpPr>
          <p:cNvPr id="37" name="TextBox 3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8" name="Picture 37" descr="lock.png"/>
          <p:cNvPicPr>
            <a:picLocks noChangeAspect="1"/>
          </p:cNvPicPr>
          <p:nvPr/>
        </p:nvPicPr>
        <p:blipFill>
          <a:blip r:embed="rId13"/>
          <a:stretch>
            <a:fillRect/>
          </a:stretch>
        </p:blipFill>
        <p:spPr>
          <a:xfrm>
            <a:off x="1811655" y="1771650"/>
            <a:ext cx="183356" cy="266700"/>
          </a:xfrm>
          <a:prstGeom prst="rect">
            <a:avLst/>
          </a:prstGeom>
        </p:spPr>
      </p:pic>
      <p:pic>
        <p:nvPicPr>
          <p:cNvPr id="39" name="Picture 38" descr="lock.png"/>
          <p:cNvPicPr>
            <a:picLocks noChangeAspect="1"/>
          </p:cNvPicPr>
          <p:nvPr/>
        </p:nvPicPr>
        <p:blipFill>
          <a:blip r:embed="rId13"/>
          <a:stretch>
            <a:fillRect/>
          </a:stretch>
        </p:blipFill>
        <p:spPr>
          <a:xfrm>
            <a:off x="4821555" y="1771650"/>
            <a:ext cx="183356" cy="266700"/>
          </a:xfrm>
          <a:prstGeom prst="rect">
            <a:avLst/>
          </a:prstGeom>
        </p:spPr>
      </p:pic>
      <p:pic>
        <p:nvPicPr>
          <p:cNvPr id="40" name="Picture 39" descr="lock.png"/>
          <p:cNvPicPr>
            <a:picLocks noChangeAspect="1"/>
          </p:cNvPicPr>
          <p:nvPr/>
        </p:nvPicPr>
        <p:blipFill>
          <a:blip r:embed="rId13"/>
          <a:stretch>
            <a:fillRect/>
          </a:stretch>
        </p:blipFill>
        <p:spPr>
          <a:xfrm>
            <a:off x="7831455" y="1771650"/>
            <a:ext cx="183356" cy="266700"/>
          </a:xfrm>
          <a:prstGeom prst="rect">
            <a:avLst/>
          </a:prstGeom>
        </p:spPr>
      </p:pic>
      <p:pic>
        <p:nvPicPr>
          <p:cNvPr id="41" name="Picture 40" descr="lock.png"/>
          <p:cNvPicPr>
            <a:picLocks noChangeAspect="1"/>
          </p:cNvPicPr>
          <p:nvPr/>
        </p:nvPicPr>
        <p:blipFill>
          <a:blip r:embed="rId13"/>
          <a:stretch>
            <a:fillRect/>
          </a:stretch>
        </p:blipFill>
        <p:spPr>
          <a:xfrm>
            <a:off x="10841355" y="1771650"/>
            <a:ext cx="183356" cy="266700"/>
          </a:xfrm>
          <a:prstGeom prst="rect">
            <a:avLst/>
          </a:prstGeom>
        </p:spPr>
      </p:pic>
      <p:pic>
        <p:nvPicPr>
          <p:cNvPr id="42" name="Picture 41" descr="lock.png"/>
          <p:cNvPicPr>
            <a:picLocks noChangeAspect="1"/>
          </p:cNvPicPr>
          <p:nvPr/>
        </p:nvPicPr>
        <p:blipFill>
          <a:blip r:embed="rId13"/>
          <a:stretch>
            <a:fillRect/>
          </a:stretch>
        </p:blipFill>
        <p:spPr>
          <a:xfrm>
            <a:off x="1811655" y="3695700"/>
            <a:ext cx="183356" cy="266700"/>
          </a:xfrm>
          <a:prstGeom prst="rect">
            <a:avLst/>
          </a:prstGeom>
        </p:spPr>
      </p:pic>
      <p:sp>
        <p:nvSpPr>
          <p:cNvPr id="43" name="lockshield_12"/>
          <p:cNvSpPr/>
          <p:nvPr/>
        </p:nvSpPr>
        <p:spPr>
          <a:xfrm>
            <a:off x="238125" y="12668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5"/>
          <p:cNvSpPr/>
          <p:nvPr/>
        </p:nvSpPr>
        <p:spPr>
          <a:xfrm>
            <a:off x="3248025" y="12668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8"/>
          <p:cNvSpPr/>
          <p:nvPr/>
        </p:nvSpPr>
        <p:spPr>
          <a:xfrm>
            <a:off x="6257925" y="12668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21"/>
          <p:cNvSpPr/>
          <p:nvPr/>
        </p:nvSpPr>
        <p:spPr>
          <a:xfrm>
            <a:off x="9267825" y="126682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24"/>
          <p:cNvSpPr/>
          <p:nvPr/>
        </p:nvSpPr>
        <p:spPr>
          <a:xfrm>
            <a:off x="238125" y="319087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27"/>
          <p:cNvSpPr/>
          <p:nvPr/>
        </p:nvSpPr>
        <p:spPr>
          <a:xfrm>
            <a:off x="3248025" y="3190875"/>
            <a:ext cx="2667000" cy="1447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30"/>
          <p:cNvSpPr/>
          <p:nvPr/>
        </p:nvSpPr>
        <p:spPr>
          <a:xfrm>
            <a:off x="6257925" y="3362325"/>
            <a:ext cx="2667000" cy="12763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lockshield_33"/>
          <p:cNvSpPr/>
          <p:nvPr/>
        </p:nvSpPr>
        <p:spPr>
          <a:xfrm>
            <a:off x="9267825" y="3362325"/>
            <a:ext cx="2667000" cy="12763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lockshield_36"/>
          <p:cNvSpPr/>
          <p:nvPr/>
        </p:nvSpPr>
        <p:spPr>
          <a:xfrm>
            <a:off x="238125" y="5286375"/>
            <a:ext cx="2781300" cy="12763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Key Segments Overview, By Value (2026)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51625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5" name="TextBox 14"/>
          <p:cNvSpPr txBox="1"/>
          <p:nvPr/>
        </p:nvSpPr>
        <p:spPr>
          <a:xfrm>
            <a:off x="276225" y="107632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16" name="Picture 15" descr="lock.png"/>
          <p:cNvPicPr>
            <a:picLocks noChangeAspect="1"/>
          </p:cNvPicPr>
          <p:nvPr/>
        </p:nvPicPr>
        <p:blipFill>
          <a:blip r:embed="rId4"/>
          <a:stretch>
            <a:fillRect/>
          </a:stretch>
        </p:blipFill>
        <p:spPr>
          <a:xfrm>
            <a:off x="1688698" y="1068003"/>
            <a:ext cx="109510" cy="159288"/>
          </a:xfrm>
          <a:prstGeom prst="rect">
            <a:avLst/>
          </a:prstGeom>
        </p:spPr>
      </p:pic>
      <p:sp>
        <p:nvSpPr>
          <p:cNvPr id="17" name="TextBox 16"/>
          <p:cNvSpPr txBox="1"/>
          <p:nvPr/>
        </p:nvSpPr>
        <p:spPr>
          <a:xfrm>
            <a:off x="1831222" y="107632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18" name="TextBox 17"/>
          <p:cNvSpPr txBox="1"/>
          <p:nvPr/>
        </p:nvSpPr>
        <p:spPr>
          <a:xfrm>
            <a:off x="276225" y="1400175"/>
            <a:ext cx="2496099" cy="186689"/>
          </a:xfrm>
          <a:prstGeom prst="rect">
            <a:avLst/>
          </a:prstGeom>
          <a:noFill/>
        </p:spPr>
        <p:txBody>
          <a:bodyPr wrap="none" lIns="0" rIns="0" tIns="0" bIns="0">
            <a:spAutoFit/>
          </a:bodyPr>
          <a:lstStyle/>
          <a:p>
            <a:r>
              <a:rPr sz="1100" b="0">
                <a:solidFill>
                  <a:srgbClr val="2E2E2E"/>
                </a:solidFill>
                <a:latin typeface="Calibri"/>
              </a:rPr>
              <a:t>▪ By Product Type, 'Sweet muffins' leads at</a:t>
            </a:r>
          </a:p>
        </p:txBody>
      </p:sp>
      <p:pic>
        <p:nvPicPr>
          <p:cNvPr id="19" name="Picture 18" descr="lock.png"/>
          <p:cNvPicPr>
            <a:picLocks noChangeAspect="1"/>
          </p:cNvPicPr>
          <p:nvPr/>
        </p:nvPicPr>
        <p:blipFill>
          <a:blip r:embed="rId4"/>
          <a:stretch>
            <a:fillRect/>
          </a:stretch>
        </p:blipFill>
        <p:spPr>
          <a:xfrm>
            <a:off x="2720375" y="1390396"/>
            <a:ext cx="128699" cy="187198"/>
          </a:xfrm>
          <a:prstGeom prst="rect">
            <a:avLst/>
          </a:prstGeom>
        </p:spPr>
      </p:pic>
      <p:sp>
        <p:nvSpPr>
          <p:cNvPr id="20" name="TextBox 19"/>
          <p:cNvSpPr txBox="1"/>
          <p:nvPr/>
        </p:nvSpPr>
        <p:spPr>
          <a:xfrm>
            <a:off x="2887871" y="1400175"/>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21" name="Picture 20" descr="lock.png"/>
          <p:cNvPicPr>
            <a:picLocks noChangeAspect="1"/>
          </p:cNvPicPr>
          <p:nvPr/>
        </p:nvPicPr>
        <p:blipFill>
          <a:blip r:embed="rId4"/>
          <a:stretch>
            <a:fillRect/>
          </a:stretch>
        </p:blipFill>
        <p:spPr>
          <a:xfrm>
            <a:off x="3435452" y="1390396"/>
            <a:ext cx="128699" cy="187198"/>
          </a:xfrm>
          <a:prstGeom prst="rect">
            <a:avLst/>
          </a:prstGeom>
        </p:spPr>
      </p:pic>
      <p:sp>
        <p:nvSpPr>
          <p:cNvPr id="22" name="TextBox 21"/>
          <p:cNvSpPr txBox="1"/>
          <p:nvPr/>
        </p:nvSpPr>
        <p:spPr>
          <a:xfrm>
            <a:off x="3602948" y="1400175"/>
            <a:ext cx="2078657" cy="186689"/>
          </a:xfrm>
          <a:prstGeom prst="rect">
            <a:avLst/>
          </a:prstGeom>
          <a:noFill/>
        </p:spPr>
        <p:txBody>
          <a:bodyPr wrap="none" lIns="0" rIns="0" tIns="0" bIns="0">
            <a:spAutoFit/>
          </a:bodyPr>
          <a:lstStyle/>
          <a:p>
            <a:r>
              <a:rPr sz="1100" b="0">
                <a:solidFill>
                  <a:srgbClr val="2E2E2E"/>
                </a:solidFill>
                <a:latin typeface="Calibri"/>
              </a:rPr>
              <a:t>share), ahead of 'Savoury muffins' (</a:t>
            </a:r>
          </a:p>
        </p:txBody>
      </p:sp>
      <p:pic>
        <p:nvPicPr>
          <p:cNvPr id="23" name="Picture 22" descr="lock.png"/>
          <p:cNvPicPr>
            <a:picLocks noChangeAspect="1"/>
          </p:cNvPicPr>
          <p:nvPr/>
        </p:nvPicPr>
        <p:blipFill>
          <a:blip r:embed="rId4"/>
          <a:stretch>
            <a:fillRect/>
          </a:stretch>
        </p:blipFill>
        <p:spPr>
          <a:xfrm>
            <a:off x="5629657" y="1390396"/>
            <a:ext cx="128699" cy="187198"/>
          </a:xfrm>
          <a:prstGeom prst="rect">
            <a:avLst/>
          </a:prstGeom>
        </p:spPr>
      </p:pic>
      <p:sp>
        <p:nvSpPr>
          <p:cNvPr id="24" name="TextBox 23"/>
          <p:cNvSpPr txBox="1"/>
          <p:nvPr/>
        </p:nvSpPr>
        <p:spPr>
          <a:xfrm>
            <a:off x="5797153" y="1400175"/>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25" name="TextBox 24"/>
          <p:cNvSpPr txBox="1"/>
          <p:nvPr/>
        </p:nvSpPr>
        <p:spPr>
          <a:xfrm>
            <a:off x="276225" y="1618107"/>
            <a:ext cx="2680546" cy="186689"/>
          </a:xfrm>
          <a:prstGeom prst="rect">
            <a:avLst/>
          </a:prstGeom>
          <a:noFill/>
        </p:spPr>
        <p:txBody>
          <a:bodyPr wrap="none" lIns="0" rIns="0" tIns="0" bIns="0">
            <a:spAutoFit/>
          </a:bodyPr>
          <a:lstStyle/>
          <a:p>
            <a:r>
              <a:rPr sz="1100" b="0">
                <a:solidFill>
                  <a:srgbClr val="2E2E2E"/>
                </a:solidFill>
                <a:latin typeface="Calibri"/>
              </a:rPr>
              <a:t>▪ By Flavour, 'Sweet Muffins Flavours' leads at</a:t>
            </a:r>
          </a:p>
        </p:txBody>
      </p:sp>
      <p:pic>
        <p:nvPicPr>
          <p:cNvPr id="26" name="Picture 25" descr="lock.png"/>
          <p:cNvPicPr>
            <a:picLocks noChangeAspect="1"/>
          </p:cNvPicPr>
          <p:nvPr/>
        </p:nvPicPr>
        <p:blipFill>
          <a:blip r:embed="rId4"/>
          <a:stretch>
            <a:fillRect/>
          </a:stretch>
        </p:blipFill>
        <p:spPr>
          <a:xfrm>
            <a:off x="2904823" y="1608328"/>
            <a:ext cx="128699" cy="187198"/>
          </a:xfrm>
          <a:prstGeom prst="rect">
            <a:avLst/>
          </a:prstGeom>
        </p:spPr>
      </p:pic>
      <p:sp>
        <p:nvSpPr>
          <p:cNvPr id="27" name="TextBox 26"/>
          <p:cNvSpPr txBox="1"/>
          <p:nvPr/>
        </p:nvSpPr>
        <p:spPr>
          <a:xfrm>
            <a:off x="3072319" y="1618107"/>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28" name="Picture 27" descr="lock.png"/>
          <p:cNvPicPr>
            <a:picLocks noChangeAspect="1"/>
          </p:cNvPicPr>
          <p:nvPr/>
        </p:nvPicPr>
        <p:blipFill>
          <a:blip r:embed="rId4"/>
          <a:stretch>
            <a:fillRect/>
          </a:stretch>
        </p:blipFill>
        <p:spPr>
          <a:xfrm>
            <a:off x="3619900" y="1608328"/>
            <a:ext cx="128699" cy="187198"/>
          </a:xfrm>
          <a:prstGeom prst="rect">
            <a:avLst/>
          </a:prstGeom>
        </p:spPr>
      </p:pic>
      <p:sp>
        <p:nvSpPr>
          <p:cNvPr id="29" name="TextBox 28"/>
          <p:cNvSpPr txBox="1"/>
          <p:nvPr/>
        </p:nvSpPr>
        <p:spPr>
          <a:xfrm>
            <a:off x="3787395" y="1618107"/>
            <a:ext cx="2594892" cy="186689"/>
          </a:xfrm>
          <a:prstGeom prst="rect">
            <a:avLst/>
          </a:prstGeom>
          <a:noFill/>
        </p:spPr>
        <p:txBody>
          <a:bodyPr wrap="none" lIns="0" rIns="0" tIns="0" bIns="0">
            <a:spAutoFit/>
          </a:bodyPr>
          <a:lstStyle/>
          <a:p>
            <a:r>
              <a:rPr sz="1100" b="0">
                <a:solidFill>
                  <a:srgbClr val="2E2E2E"/>
                </a:solidFill>
                <a:latin typeface="Calibri"/>
              </a:rPr>
              <a:t>share), ahead of 'Savoury Muffins Flavours' (</a:t>
            </a:r>
          </a:p>
        </p:txBody>
      </p:sp>
      <p:pic>
        <p:nvPicPr>
          <p:cNvPr id="30" name="Picture 29" descr="lock.png"/>
          <p:cNvPicPr>
            <a:picLocks noChangeAspect="1"/>
          </p:cNvPicPr>
          <p:nvPr/>
        </p:nvPicPr>
        <p:blipFill>
          <a:blip r:embed="rId4"/>
          <a:stretch>
            <a:fillRect/>
          </a:stretch>
        </p:blipFill>
        <p:spPr>
          <a:xfrm>
            <a:off x="6330340" y="1608328"/>
            <a:ext cx="128699" cy="187198"/>
          </a:xfrm>
          <a:prstGeom prst="rect">
            <a:avLst/>
          </a:prstGeom>
        </p:spPr>
      </p:pic>
      <p:sp>
        <p:nvSpPr>
          <p:cNvPr id="31" name="TextBox 30"/>
          <p:cNvSpPr txBox="1"/>
          <p:nvPr/>
        </p:nvSpPr>
        <p:spPr>
          <a:xfrm>
            <a:off x="6497836" y="1618107"/>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2" name="TextBox 31"/>
          <p:cNvSpPr txBox="1"/>
          <p:nvPr/>
        </p:nvSpPr>
        <p:spPr>
          <a:xfrm>
            <a:off x="276225" y="1836039"/>
            <a:ext cx="2583684" cy="186689"/>
          </a:xfrm>
          <a:prstGeom prst="rect">
            <a:avLst/>
          </a:prstGeom>
          <a:noFill/>
        </p:spPr>
        <p:txBody>
          <a:bodyPr wrap="none" lIns="0" rIns="0" tIns="0" bIns="0">
            <a:spAutoFit/>
          </a:bodyPr>
          <a:lstStyle/>
          <a:p>
            <a:r>
              <a:rPr sz="1100" b="0">
                <a:solidFill>
                  <a:srgbClr val="2E2E2E"/>
                </a:solidFill>
                <a:latin typeface="Calibri"/>
              </a:rPr>
              <a:t>▪ By Primary Flour Base, 'Oat-based' leads at</a:t>
            </a:r>
          </a:p>
        </p:txBody>
      </p:sp>
      <p:pic>
        <p:nvPicPr>
          <p:cNvPr id="33" name="Picture 32" descr="lock.png"/>
          <p:cNvPicPr>
            <a:picLocks noChangeAspect="1"/>
          </p:cNvPicPr>
          <p:nvPr/>
        </p:nvPicPr>
        <p:blipFill>
          <a:blip r:embed="rId4"/>
          <a:stretch>
            <a:fillRect/>
          </a:stretch>
        </p:blipFill>
        <p:spPr>
          <a:xfrm>
            <a:off x="2807961" y="1826260"/>
            <a:ext cx="128699" cy="187198"/>
          </a:xfrm>
          <a:prstGeom prst="rect">
            <a:avLst/>
          </a:prstGeom>
        </p:spPr>
      </p:pic>
      <p:sp>
        <p:nvSpPr>
          <p:cNvPr id="34" name="TextBox 33"/>
          <p:cNvSpPr txBox="1"/>
          <p:nvPr/>
        </p:nvSpPr>
        <p:spPr>
          <a:xfrm>
            <a:off x="2975456" y="1836039"/>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35" name="Picture 34" descr="lock.png"/>
          <p:cNvPicPr>
            <a:picLocks noChangeAspect="1"/>
          </p:cNvPicPr>
          <p:nvPr/>
        </p:nvPicPr>
        <p:blipFill>
          <a:blip r:embed="rId4"/>
          <a:stretch>
            <a:fillRect/>
          </a:stretch>
        </p:blipFill>
        <p:spPr>
          <a:xfrm>
            <a:off x="3523037" y="1826260"/>
            <a:ext cx="128699" cy="187198"/>
          </a:xfrm>
          <a:prstGeom prst="rect">
            <a:avLst/>
          </a:prstGeom>
        </p:spPr>
      </p:pic>
      <p:sp>
        <p:nvSpPr>
          <p:cNvPr id="36" name="TextBox 35"/>
          <p:cNvSpPr txBox="1"/>
          <p:nvPr/>
        </p:nvSpPr>
        <p:spPr>
          <a:xfrm>
            <a:off x="3690533" y="1836039"/>
            <a:ext cx="1925315" cy="186689"/>
          </a:xfrm>
          <a:prstGeom prst="rect">
            <a:avLst/>
          </a:prstGeom>
          <a:noFill/>
        </p:spPr>
        <p:txBody>
          <a:bodyPr wrap="none" lIns="0" rIns="0" tIns="0" bIns="0">
            <a:spAutoFit/>
          </a:bodyPr>
          <a:lstStyle/>
          <a:p>
            <a:r>
              <a:rPr sz="1100" b="0">
                <a:solidFill>
                  <a:srgbClr val="2E2E2E"/>
                </a:solidFill>
                <a:latin typeface="Calibri"/>
              </a:rPr>
              <a:t>share), ahead of 'Wheat-based' (</a:t>
            </a:r>
          </a:p>
        </p:txBody>
      </p:sp>
      <p:pic>
        <p:nvPicPr>
          <p:cNvPr id="37" name="Picture 36" descr="lock.png"/>
          <p:cNvPicPr>
            <a:picLocks noChangeAspect="1"/>
          </p:cNvPicPr>
          <p:nvPr/>
        </p:nvPicPr>
        <p:blipFill>
          <a:blip r:embed="rId4"/>
          <a:stretch>
            <a:fillRect/>
          </a:stretch>
        </p:blipFill>
        <p:spPr>
          <a:xfrm>
            <a:off x="5563900" y="1826260"/>
            <a:ext cx="128699" cy="187198"/>
          </a:xfrm>
          <a:prstGeom prst="rect">
            <a:avLst/>
          </a:prstGeom>
        </p:spPr>
      </p:pic>
      <p:sp>
        <p:nvSpPr>
          <p:cNvPr id="38" name="TextBox 37"/>
          <p:cNvSpPr txBox="1"/>
          <p:nvPr/>
        </p:nvSpPr>
        <p:spPr>
          <a:xfrm>
            <a:off x="5731396" y="1836039"/>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9" name="TextBox 38"/>
          <p:cNvSpPr txBox="1"/>
          <p:nvPr/>
        </p:nvSpPr>
        <p:spPr>
          <a:xfrm>
            <a:off x="276225" y="2053970"/>
            <a:ext cx="2729357" cy="186689"/>
          </a:xfrm>
          <a:prstGeom prst="rect">
            <a:avLst/>
          </a:prstGeom>
          <a:noFill/>
        </p:spPr>
        <p:txBody>
          <a:bodyPr wrap="none" lIns="0" rIns="0" tIns="0" bIns="0">
            <a:spAutoFit/>
          </a:bodyPr>
          <a:lstStyle/>
          <a:p>
            <a:r>
              <a:rPr sz="1100" b="0">
                <a:solidFill>
                  <a:srgbClr val="2E2E2E"/>
                </a:solidFill>
                <a:latin typeface="Calibri"/>
              </a:rPr>
              <a:t>▪ By Dietary Formulation, 'Gluten-free' leads at</a:t>
            </a:r>
          </a:p>
        </p:txBody>
      </p:sp>
      <p:pic>
        <p:nvPicPr>
          <p:cNvPr id="40" name="Picture 39" descr="lock.png"/>
          <p:cNvPicPr>
            <a:picLocks noChangeAspect="1"/>
          </p:cNvPicPr>
          <p:nvPr/>
        </p:nvPicPr>
        <p:blipFill>
          <a:blip r:embed="rId4"/>
          <a:stretch>
            <a:fillRect/>
          </a:stretch>
        </p:blipFill>
        <p:spPr>
          <a:xfrm>
            <a:off x="2953634" y="2044192"/>
            <a:ext cx="128699" cy="187198"/>
          </a:xfrm>
          <a:prstGeom prst="rect">
            <a:avLst/>
          </a:prstGeom>
        </p:spPr>
      </p:pic>
      <p:sp>
        <p:nvSpPr>
          <p:cNvPr id="41" name="TextBox 40"/>
          <p:cNvSpPr txBox="1"/>
          <p:nvPr/>
        </p:nvSpPr>
        <p:spPr>
          <a:xfrm>
            <a:off x="3121129" y="2053970"/>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42" name="Picture 41" descr="lock.png"/>
          <p:cNvPicPr>
            <a:picLocks noChangeAspect="1"/>
          </p:cNvPicPr>
          <p:nvPr/>
        </p:nvPicPr>
        <p:blipFill>
          <a:blip r:embed="rId4"/>
          <a:stretch>
            <a:fillRect/>
          </a:stretch>
        </p:blipFill>
        <p:spPr>
          <a:xfrm>
            <a:off x="3668710" y="2044192"/>
            <a:ext cx="128699" cy="187198"/>
          </a:xfrm>
          <a:prstGeom prst="rect">
            <a:avLst/>
          </a:prstGeom>
        </p:spPr>
      </p:pic>
      <p:sp>
        <p:nvSpPr>
          <p:cNvPr id="43" name="TextBox 42"/>
          <p:cNvSpPr txBox="1"/>
          <p:nvPr/>
        </p:nvSpPr>
        <p:spPr>
          <a:xfrm>
            <a:off x="3836206" y="2053970"/>
            <a:ext cx="2436093" cy="186689"/>
          </a:xfrm>
          <a:prstGeom prst="rect">
            <a:avLst/>
          </a:prstGeom>
          <a:noFill/>
        </p:spPr>
        <p:txBody>
          <a:bodyPr wrap="none" lIns="0" rIns="0" tIns="0" bIns="0">
            <a:spAutoFit/>
          </a:bodyPr>
          <a:lstStyle/>
          <a:p>
            <a:r>
              <a:rPr sz="1100" b="0">
                <a:solidFill>
                  <a:srgbClr val="2E2E2E"/>
                </a:solidFill>
                <a:latin typeface="Calibri"/>
              </a:rPr>
              <a:t>share), ahead of 'Gluten-free and vegan' (</a:t>
            </a:r>
          </a:p>
        </p:txBody>
      </p:sp>
      <p:pic>
        <p:nvPicPr>
          <p:cNvPr id="44" name="Picture 43" descr="lock.png"/>
          <p:cNvPicPr>
            <a:picLocks noChangeAspect="1"/>
          </p:cNvPicPr>
          <p:nvPr/>
        </p:nvPicPr>
        <p:blipFill>
          <a:blip r:embed="rId4"/>
          <a:stretch>
            <a:fillRect/>
          </a:stretch>
        </p:blipFill>
        <p:spPr>
          <a:xfrm>
            <a:off x="6220351" y="2044192"/>
            <a:ext cx="128699" cy="187198"/>
          </a:xfrm>
          <a:prstGeom prst="rect">
            <a:avLst/>
          </a:prstGeom>
        </p:spPr>
      </p:pic>
      <p:sp>
        <p:nvSpPr>
          <p:cNvPr id="45" name="TextBox 44"/>
          <p:cNvSpPr txBox="1"/>
          <p:nvPr/>
        </p:nvSpPr>
        <p:spPr>
          <a:xfrm>
            <a:off x="6387847" y="2053970"/>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6" name="TextBox 45"/>
          <p:cNvSpPr txBox="1"/>
          <p:nvPr/>
        </p:nvSpPr>
        <p:spPr>
          <a:xfrm>
            <a:off x="276225" y="2271903"/>
            <a:ext cx="3168405" cy="186689"/>
          </a:xfrm>
          <a:prstGeom prst="rect">
            <a:avLst/>
          </a:prstGeom>
          <a:noFill/>
        </p:spPr>
        <p:txBody>
          <a:bodyPr wrap="none" lIns="0" rIns="0" tIns="0" bIns="0">
            <a:spAutoFit/>
          </a:bodyPr>
          <a:lstStyle/>
          <a:p>
            <a:r>
              <a:rPr sz="1100" b="0">
                <a:solidFill>
                  <a:srgbClr val="2E2E2E"/>
                </a:solidFill>
                <a:latin typeface="Calibri"/>
              </a:rPr>
              <a:t>▪ By Nutritional Positioning, 'Protein-enriched' leads at</a:t>
            </a:r>
          </a:p>
        </p:txBody>
      </p:sp>
      <p:pic>
        <p:nvPicPr>
          <p:cNvPr id="47" name="Picture 46" descr="lock.png"/>
          <p:cNvPicPr>
            <a:picLocks noChangeAspect="1"/>
          </p:cNvPicPr>
          <p:nvPr/>
        </p:nvPicPr>
        <p:blipFill>
          <a:blip r:embed="rId4"/>
          <a:stretch>
            <a:fillRect/>
          </a:stretch>
        </p:blipFill>
        <p:spPr>
          <a:xfrm>
            <a:off x="3392682" y="2262124"/>
            <a:ext cx="128699" cy="187198"/>
          </a:xfrm>
          <a:prstGeom prst="rect">
            <a:avLst/>
          </a:prstGeom>
        </p:spPr>
      </p:pic>
      <p:sp>
        <p:nvSpPr>
          <p:cNvPr id="48" name="TextBox 47"/>
          <p:cNvSpPr txBox="1"/>
          <p:nvPr/>
        </p:nvSpPr>
        <p:spPr>
          <a:xfrm>
            <a:off x="3560177" y="2271903"/>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49" name="Picture 48" descr="lock.png"/>
          <p:cNvPicPr>
            <a:picLocks noChangeAspect="1"/>
          </p:cNvPicPr>
          <p:nvPr/>
        </p:nvPicPr>
        <p:blipFill>
          <a:blip r:embed="rId4"/>
          <a:stretch>
            <a:fillRect/>
          </a:stretch>
        </p:blipFill>
        <p:spPr>
          <a:xfrm>
            <a:off x="4107758" y="2262124"/>
            <a:ext cx="128699" cy="187198"/>
          </a:xfrm>
          <a:prstGeom prst="rect">
            <a:avLst/>
          </a:prstGeom>
        </p:spPr>
      </p:pic>
      <p:sp>
        <p:nvSpPr>
          <p:cNvPr id="50" name="TextBox 49"/>
          <p:cNvSpPr txBox="1"/>
          <p:nvPr/>
        </p:nvSpPr>
        <p:spPr>
          <a:xfrm>
            <a:off x="4275254" y="2271903"/>
            <a:ext cx="2334865" cy="186689"/>
          </a:xfrm>
          <a:prstGeom prst="rect">
            <a:avLst/>
          </a:prstGeom>
          <a:noFill/>
        </p:spPr>
        <p:txBody>
          <a:bodyPr wrap="none" lIns="0" rIns="0" tIns="0" bIns="0">
            <a:spAutoFit/>
          </a:bodyPr>
          <a:lstStyle/>
          <a:p>
            <a:r>
              <a:rPr sz="1100" b="0">
                <a:solidFill>
                  <a:srgbClr val="2E2E2E"/>
                </a:solidFill>
                <a:latin typeface="Calibri"/>
              </a:rPr>
              <a:t>share), ahead of 'Standard / indulgent' (</a:t>
            </a:r>
          </a:p>
        </p:txBody>
      </p:sp>
      <p:pic>
        <p:nvPicPr>
          <p:cNvPr id="51" name="Picture 50" descr="lock.png"/>
          <p:cNvPicPr>
            <a:picLocks noChangeAspect="1"/>
          </p:cNvPicPr>
          <p:nvPr/>
        </p:nvPicPr>
        <p:blipFill>
          <a:blip r:embed="rId4"/>
          <a:stretch>
            <a:fillRect/>
          </a:stretch>
        </p:blipFill>
        <p:spPr>
          <a:xfrm>
            <a:off x="6558171" y="2262124"/>
            <a:ext cx="128699" cy="187198"/>
          </a:xfrm>
          <a:prstGeom prst="rect">
            <a:avLst/>
          </a:prstGeom>
        </p:spPr>
      </p:pic>
      <p:sp>
        <p:nvSpPr>
          <p:cNvPr id="52" name="TextBox 51"/>
          <p:cNvSpPr txBox="1"/>
          <p:nvPr/>
        </p:nvSpPr>
        <p:spPr>
          <a:xfrm>
            <a:off x="6725667" y="2271903"/>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53" name="TextBox 52"/>
          <p:cNvSpPr txBox="1"/>
          <p:nvPr/>
        </p:nvSpPr>
        <p:spPr>
          <a:xfrm>
            <a:off x="276225" y="2489835"/>
            <a:ext cx="4025705" cy="186689"/>
          </a:xfrm>
          <a:prstGeom prst="rect">
            <a:avLst/>
          </a:prstGeom>
          <a:noFill/>
        </p:spPr>
        <p:txBody>
          <a:bodyPr wrap="none" lIns="0" rIns="0" tIns="0" bIns="0">
            <a:spAutoFit/>
          </a:bodyPr>
          <a:lstStyle/>
          <a:p>
            <a:r>
              <a:rPr sz="1100" b="0">
                <a:solidFill>
                  <a:srgbClr val="2E2E2E"/>
                </a:solidFill>
                <a:latin typeface="Calibri"/>
              </a:rPr>
              <a:t>▪ By Recipe and Ingredient Claims, 'Additional claim mapping' leads at</a:t>
            </a:r>
          </a:p>
        </p:txBody>
      </p:sp>
      <p:pic>
        <p:nvPicPr>
          <p:cNvPr id="54" name="Picture 53" descr="lock.png"/>
          <p:cNvPicPr>
            <a:picLocks noChangeAspect="1"/>
          </p:cNvPicPr>
          <p:nvPr/>
        </p:nvPicPr>
        <p:blipFill>
          <a:blip r:embed="rId4"/>
          <a:stretch>
            <a:fillRect/>
          </a:stretch>
        </p:blipFill>
        <p:spPr>
          <a:xfrm>
            <a:off x="4249981" y="2480056"/>
            <a:ext cx="128699" cy="187198"/>
          </a:xfrm>
          <a:prstGeom prst="rect">
            <a:avLst/>
          </a:prstGeom>
        </p:spPr>
      </p:pic>
      <p:sp>
        <p:nvSpPr>
          <p:cNvPr id="55" name="TextBox 54"/>
          <p:cNvSpPr txBox="1"/>
          <p:nvPr/>
        </p:nvSpPr>
        <p:spPr>
          <a:xfrm>
            <a:off x="4417477" y="2489835"/>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56" name="Picture 55" descr="lock.png"/>
          <p:cNvPicPr>
            <a:picLocks noChangeAspect="1"/>
          </p:cNvPicPr>
          <p:nvPr/>
        </p:nvPicPr>
        <p:blipFill>
          <a:blip r:embed="rId4"/>
          <a:stretch>
            <a:fillRect/>
          </a:stretch>
        </p:blipFill>
        <p:spPr>
          <a:xfrm>
            <a:off x="4965058" y="2480056"/>
            <a:ext cx="128699" cy="187198"/>
          </a:xfrm>
          <a:prstGeom prst="rect">
            <a:avLst/>
          </a:prstGeom>
        </p:spPr>
      </p:pic>
      <p:sp>
        <p:nvSpPr>
          <p:cNvPr id="57" name="TextBox 56"/>
          <p:cNvSpPr txBox="1"/>
          <p:nvPr/>
        </p:nvSpPr>
        <p:spPr>
          <a:xfrm>
            <a:off x="5132554" y="2489835"/>
            <a:ext cx="2119585" cy="186689"/>
          </a:xfrm>
          <a:prstGeom prst="rect">
            <a:avLst/>
          </a:prstGeom>
          <a:noFill/>
        </p:spPr>
        <p:txBody>
          <a:bodyPr wrap="none" lIns="0" rIns="0" tIns="0" bIns="0">
            <a:spAutoFit/>
          </a:bodyPr>
          <a:lstStyle/>
          <a:p>
            <a:r>
              <a:rPr sz="1100" b="0">
                <a:solidFill>
                  <a:srgbClr val="2E2E2E"/>
                </a:solidFill>
                <a:latin typeface="Calibri"/>
              </a:rPr>
              <a:t>share), ahead of 'Organic-certified' (</a:t>
            </a:r>
          </a:p>
        </p:txBody>
      </p:sp>
      <p:pic>
        <p:nvPicPr>
          <p:cNvPr id="58" name="Picture 57" descr="lock.png"/>
          <p:cNvPicPr>
            <a:picLocks noChangeAspect="1"/>
          </p:cNvPicPr>
          <p:nvPr/>
        </p:nvPicPr>
        <p:blipFill>
          <a:blip r:embed="rId4"/>
          <a:stretch>
            <a:fillRect/>
          </a:stretch>
        </p:blipFill>
        <p:spPr>
          <a:xfrm>
            <a:off x="7200191" y="2480056"/>
            <a:ext cx="128699" cy="187198"/>
          </a:xfrm>
          <a:prstGeom prst="rect">
            <a:avLst/>
          </a:prstGeom>
        </p:spPr>
      </p:pic>
      <p:sp>
        <p:nvSpPr>
          <p:cNvPr id="59" name="TextBox 58"/>
          <p:cNvSpPr txBox="1"/>
          <p:nvPr/>
        </p:nvSpPr>
        <p:spPr>
          <a:xfrm>
            <a:off x="7367686" y="2489835"/>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60" name="TextBox 59"/>
          <p:cNvSpPr txBox="1"/>
          <p:nvPr/>
        </p:nvSpPr>
        <p:spPr>
          <a:xfrm>
            <a:off x="276225" y="2707766"/>
            <a:ext cx="2706467" cy="186689"/>
          </a:xfrm>
          <a:prstGeom prst="rect">
            <a:avLst/>
          </a:prstGeom>
          <a:noFill/>
        </p:spPr>
        <p:txBody>
          <a:bodyPr wrap="none" lIns="0" rIns="0" tIns="0" bIns="0">
            <a:spAutoFit/>
          </a:bodyPr>
          <a:lstStyle/>
          <a:p>
            <a:r>
              <a:rPr sz="1100" b="0">
                <a:solidFill>
                  <a:srgbClr val="2E2E2E"/>
                </a:solidFill>
                <a:latin typeface="Calibri"/>
              </a:rPr>
              <a:t>▪ By Product Structure, 'Filled muffins' leads at</a:t>
            </a:r>
          </a:p>
        </p:txBody>
      </p:sp>
      <p:pic>
        <p:nvPicPr>
          <p:cNvPr id="61" name="Picture 60" descr="lock.png"/>
          <p:cNvPicPr>
            <a:picLocks noChangeAspect="1"/>
          </p:cNvPicPr>
          <p:nvPr/>
        </p:nvPicPr>
        <p:blipFill>
          <a:blip r:embed="rId4"/>
          <a:stretch>
            <a:fillRect/>
          </a:stretch>
        </p:blipFill>
        <p:spPr>
          <a:xfrm>
            <a:off x="2930744" y="2697988"/>
            <a:ext cx="128699" cy="187198"/>
          </a:xfrm>
          <a:prstGeom prst="rect">
            <a:avLst/>
          </a:prstGeom>
        </p:spPr>
      </p:pic>
      <p:sp>
        <p:nvSpPr>
          <p:cNvPr id="62" name="TextBox 61"/>
          <p:cNvSpPr txBox="1"/>
          <p:nvPr/>
        </p:nvSpPr>
        <p:spPr>
          <a:xfrm>
            <a:off x="3098240" y="2707766"/>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63" name="Picture 62" descr="lock.png"/>
          <p:cNvPicPr>
            <a:picLocks noChangeAspect="1"/>
          </p:cNvPicPr>
          <p:nvPr/>
        </p:nvPicPr>
        <p:blipFill>
          <a:blip r:embed="rId4"/>
          <a:stretch>
            <a:fillRect/>
          </a:stretch>
        </p:blipFill>
        <p:spPr>
          <a:xfrm>
            <a:off x="3645821" y="2697988"/>
            <a:ext cx="128699" cy="187198"/>
          </a:xfrm>
          <a:prstGeom prst="rect">
            <a:avLst/>
          </a:prstGeom>
        </p:spPr>
      </p:pic>
      <p:sp>
        <p:nvSpPr>
          <p:cNvPr id="64" name="TextBox 63"/>
          <p:cNvSpPr txBox="1"/>
          <p:nvPr/>
        </p:nvSpPr>
        <p:spPr>
          <a:xfrm>
            <a:off x="3813316" y="2707766"/>
            <a:ext cx="2070744" cy="186689"/>
          </a:xfrm>
          <a:prstGeom prst="rect">
            <a:avLst/>
          </a:prstGeom>
          <a:noFill/>
        </p:spPr>
        <p:txBody>
          <a:bodyPr wrap="none" lIns="0" rIns="0" tIns="0" bIns="0">
            <a:spAutoFit/>
          </a:bodyPr>
          <a:lstStyle/>
          <a:p>
            <a:r>
              <a:rPr sz="1100" b="0">
                <a:solidFill>
                  <a:srgbClr val="2E2E2E"/>
                </a:solidFill>
                <a:latin typeface="Calibri"/>
              </a:rPr>
              <a:t>share), ahead of 'Unfilled muffins' (</a:t>
            </a:r>
          </a:p>
        </p:txBody>
      </p:sp>
      <p:pic>
        <p:nvPicPr>
          <p:cNvPr id="65" name="Picture 64" descr="lock.png"/>
          <p:cNvPicPr>
            <a:picLocks noChangeAspect="1"/>
          </p:cNvPicPr>
          <p:nvPr/>
        </p:nvPicPr>
        <p:blipFill>
          <a:blip r:embed="rId4"/>
          <a:stretch>
            <a:fillRect/>
          </a:stretch>
        </p:blipFill>
        <p:spPr>
          <a:xfrm>
            <a:off x="5832113" y="2697988"/>
            <a:ext cx="128699" cy="187198"/>
          </a:xfrm>
          <a:prstGeom prst="rect">
            <a:avLst/>
          </a:prstGeom>
        </p:spPr>
      </p:pic>
      <p:sp>
        <p:nvSpPr>
          <p:cNvPr id="66" name="TextBox 65"/>
          <p:cNvSpPr txBox="1"/>
          <p:nvPr/>
        </p:nvSpPr>
        <p:spPr>
          <a:xfrm>
            <a:off x="5999609" y="2707766"/>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67" name="TextBox 66"/>
          <p:cNvSpPr txBox="1"/>
          <p:nvPr/>
        </p:nvSpPr>
        <p:spPr>
          <a:xfrm>
            <a:off x="276225" y="2925698"/>
            <a:ext cx="2658718" cy="186689"/>
          </a:xfrm>
          <a:prstGeom prst="rect">
            <a:avLst/>
          </a:prstGeom>
          <a:noFill/>
        </p:spPr>
        <p:txBody>
          <a:bodyPr wrap="none" lIns="0" rIns="0" tIns="0" bIns="0">
            <a:spAutoFit/>
          </a:bodyPr>
          <a:lstStyle/>
          <a:p>
            <a:r>
              <a:rPr sz="1100" b="0">
                <a:solidFill>
                  <a:srgbClr val="2E2E2E"/>
                </a:solidFill>
                <a:latin typeface="Calibri"/>
              </a:rPr>
              <a:t>▪ By Surface Finish, 'Glazed / drizzled' leads at</a:t>
            </a:r>
          </a:p>
        </p:txBody>
      </p:sp>
      <p:pic>
        <p:nvPicPr>
          <p:cNvPr id="68" name="Picture 67" descr="lock.png"/>
          <p:cNvPicPr>
            <a:picLocks noChangeAspect="1"/>
          </p:cNvPicPr>
          <p:nvPr/>
        </p:nvPicPr>
        <p:blipFill>
          <a:blip r:embed="rId4"/>
          <a:stretch>
            <a:fillRect/>
          </a:stretch>
        </p:blipFill>
        <p:spPr>
          <a:xfrm>
            <a:off x="2882995" y="2915920"/>
            <a:ext cx="128699" cy="187198"/>
          </a:xfrm>
          <a:prstGeom prst="rect">
            <a:avLst/>
          </a:prstGeom>
        </p:spPr>
      </p:pic>
      <p:sp>
        <p:nvSpPr>
          <p:cNvPr id="69" name="TextBox 68"/>
          <p:cNvSpPr txBox="1"/>
          <p:nvPr/>
        </p:nvSpPr>
        <p:spPr>
          <a:xfrm>
            <a:off x="3050491" y="2925698"/>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70" name="Picture 69" descr="lock.png"/>
          <p:cNvPicPr>
            <a:picLocks noChangeAspect="1"/>
          </p:cNvPicPr>
          <p:nvPr/>
        </p:nvPicPr>
        <p:blipFill>
          <a:blip r:embed="rId4"/>
          <a:stretch>
            <a:fillRect/>
          </a:stretch>
        </p:blipFill>
        <p:spPr>
          <a:xfrm>
            <a:off x="3598072" y="2915920"/>
            <a:ext cx="128699" cy="187198"/>
          </a:xfrm>
          <a:prstGeom prst="rect">
            <a:avLst/>
          </a:prstGeom>
        </p:spPr>
      </p:pic>
      <p:sp>
        <p:nvSpPr>
          <p:cNvPr id="71" name="TextBox 70"/>
          <p:cNvSpPr txBox="1"/>
          <p:nvPr/>
        </p:nvSpPr>
        <p:spPr>
          <a:xfrm>
            <a:off x="3765567" y="2925698"/>
            <a:ext cx="2371427" cy="186689"/>
          </a:xfrm>
          <a:prstGeom prst="rect">
            <a:avLst/>
          </a:prstGeom>
          <a:noFill/>
        </p:spPr>
        <p:txBody>
          <a:bodyPr wrap="none" lIns="0" rIns="0" tIns="0" bIns="0">
            <a:spAutoFit/>
          </a:bodyPr>
          <a:lstStyle/>
          <a:p>
            <a:r>
              <a:rPr sz="1100" b="0">
                <a:solidFill>
                  <a:srgbClr val="2E2E2E"/>
                </a:solidFill>
                <a:latin typeface="Calibri"/>
              </a:rPr>
              <a:t>share), ahead of 'Nut and seed-topped' (</a:t>
            </a:r>
          </a:p>
        </p:txBody>
      </p:sp>
      <p:pic>
        <p:nvPicPr>
          <p:cNvPr id="72" name="Picture 71" descr="lock.png"/>
          <p:cNvPicPr>
            <a:picLocks noChangeAspect="1"/>
          </p:cNvPicPr>
          <p:nvPr/>
        </p:nvPicPr>
        <p:blipFill>
          <a:blip r:embed="rId4"/>
          <a:stretch>
            <a:fillRect/>
          </a:stretch>
        </p:blipFill>
        <p:spPr>
          <a:xfrm>
            <a:off x="6085046" y="2915920"/>
            <a:ext cx="128699" cy="187198"/>
          </a:xfrm>
          <a:prstGeom prst="rect">
            <a:avLst/>
          </a:prstGeom>
        </p:spPr>
      </p:pic>
      <p:sp>
        <p:nvSpPr>
          <p:cNvPr id="73" name="TextBox 72"/>
          <p:cNvSpPr txBox="1"/>
          <p:nvPr/>
        </p:nvSpPr>
        <p:spPr>
          <a:xfrm>
            <a:off x="6252542" y="2925698"/>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4" name="TextBox 73"/>
          <p:cNvSpPr txBox="1"/>
          <p:nvPr/>
        </p:nvSpPr>
        <p:spPr>
          <a:xfrm>
            <a:off x="276225" y="3143630"/>
            <a:ext cx="3887096" cy="186689"/>
          </a:xfrm>
          <a:prstGeom prst="rect">
            <a:avLst/>
          </a:prstGeom>
          <a:noFill/>
        </p:spPr>
        <p:txBody>
          <a:bodyPr wrap="none" lIns="0" rIns="0" tIns="0" bIns="0">
            <a:spAutoFit/>
          </a:bodyPr>
          <a:lstStyle/>
          <a:p>
            <a:r>
              <a:rPr sz="1100" b="0">
                <a:solidFill>
                  <a:srgbClr val="2E2E2E"/>
                </a:solidFill>
                <a:latin typeface="Calibri"/>
              </a:rPr>
              <a:t>▪ By Individual Muffin Size, 'Standard - 60 g to below 100 g' leads at</a:t>
            </a:r>
          </a:p>
        </p:txBody>
      </p:sp>
      <p:pic>
        <p:nvPicPr>
          <p:cNvPr id="75" name="Picture 74" descr="lock.png"/>
          <p:cNvPicPr>
            <a:picLocks noChangeAspect="1"/>
          </p:cNvPicPr>
          <p:nvPr/>
        </p:nvPicPr>
        <p:blipFill>
          <a:blip r:embed="rId4"/>
          <a:stretch>
            <a:fillRect/>
          </a:stretch>
        </p:blipFill>
        <p:spPr>
          <a:xfrm>
            <a:off x="4111373" y="3133852"/>
            <a:ext cx="128699" cy="187198"/>
          </a:xfrm>
          <a:prstGeom prst="rect">
            <a:avLst/>
          </a:prstGeom>
        </p:spPr>
      </p:pic>
      <p:sp>
        <p:nvSpPr>
          <p:cNvPr id="76" name="TextBox 75"/>
          <p:cNvSpPr txBox="1"/>
          <p:nvPr/>
        </p:nvSpPr>
        <p:spPr>
          <a:xfrm>
            <a:off x="4278868" y="3143630"/>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77" name="Picture 76" descr="lock.png"/>
          <p:cNvPicPr>
            <a:picLocks noChangeAspect="1"/>
          </p:cNvPicPr>
          <p:nvPr/>
        </p:nvPicPr>
        <p:blipFill>
          <a:blip r:embed="rId4"/>
          <a:stretch>
            <a:fillRect/>
          </a:stretch>
        </p:blipFill>
        <p:spPr>
          <a:xfrm>
            <a:off x="4826449" y="3133852"/>
            <a:ext cx="128699" cy="187198"/>
          </a:xfrm>
          <a:prstGeom prst="rect">
            <a:avLst/>
          </a:prstGeom>
        </p:spPr>
      </p:pic>
      <p:sp>
        <p:nvSpPr>
          <p:cNvPr id="78" name="TextBox 77"/>
          <p:cNvSpPr txBox="1"/>
          <p:nvPr/>
        </p:nvSpPr>
        <p:spPr>
          <a:xfrm>
            <a:off x="4993945" y="3143630"/>
            <a:ext cx="2619449" cy="186689"/>
          </a:xfrm>
          <a:prstGeom prst="rect">
            <a:avLst/>
          </a:prstGeom>
          <a:noFill/>
        </p:spPr>
        <p:txBody>
          <a:bodyPr wrap="none" lIns="0" rIns="0" tIns="0" bIns="0">
            <a:spAutoFit/>
          </a:bodyPr>
          <a:lstStyle/>
          <a:p>
            <a:r>
              <a:rPr sz="1100" b="0">
                <a:solidFill>
                  <a:srgbClr val="2E2E2E"/>
                </a:solidFill>
                <a:latin typeface="Calibri"/>
              </a:rPr>
              <a:t>share), ahead of 'Small - 30 g to below 60 g' (</a:t>
            </a:r>
          </a:p>
        </p:txBody>
      </p:sp>
      <p:pic>
        <p:nvPicPr>
          <p:cNvPr id="79" name="Picture 78" descr="lock.png"/>
          <p:cNvPicPr>
            <a:picLocks noChangeAspect="1"/>
          </p:cNvPicPr>
          <p:nvPr/>
        </p:nvPicPr>
        <p:blipFill>
          <a:blip r:embed="rId4"/>
          <a:stretch>
            <a:fillRect/>
          </a:stretch>
        </p:blipFill>
        <p:spPr>
          <a:xfrm>
            <a:off x="7561446" y="3133852"/>
            <a:ext cx="128699" cy="187198"/>
          </a:xfrm>
          <a:prstGeom prst="rect">
            <a:avLst/>
          </a:prstGeom>
        </p:spPr>
      </p:pic>
      <p:sp>
        <p:nvSpPr>
          <p:cNvPr id="80" name="TextBox 79"/>
          <p:cNvSpPr txBox="1"/>
          <p:nvPr/>
        </p:nvSpPr>
        <p:spPr>
          <a:xfrm>
            <a:off x="7728942" y="3143630"/>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276225" y="3361562"/>
            <a:ext cx="2194295" cy="186689"/>
          </a:xfrm>
          <a:prstGeom prst="rect">
            <a:avLst/>
          </a:prstGeom>
          <a:noFill/>
        </p:spPr>
        <p:txBody>
          <a:bodyPr wrap="none" lIns="0" rIns="0" tIns="0" bIns="0">
            <a:spAutoFit/>
          </a:bodyPr>
          <a:lstStyle/>
          <a:p>
            <a:r>
              <a:rPr sz="1100" b="0">
                <a:solidFill>
                  <a:srgbClr val="2E2E2E"/>
                </a:solidFill>
                <a:latin typeface="Calibri"/>
              </a:rPr>
              <a:t>▪ By Storage Format, 'Frozen' leads at</a:t>
            </a:r>
          </a:p>
        </p:txBody>
      </p:sp>
      <p:pic>
        <p:nvPicPr>
          <p:cNvPr id="82" name="Picture 81" descr="lock.png"/>
          <p:cNvPicPr>
            <a:picLocks noChangeAspect="1"/>
          </p:cNvPicPr>
          <p:nvPr/>
        </p:nvPicPr>
        <p:blipFill>
          <a:blip r:embed="rId4"/>
          <a:stretch>
            <a:fillRect/>
          </a:stretch>
        </p:blipFill>
        <p:spPr>
          <a:xfrm>
            <a:off x="2418572" y="3351784"/>
            <a:ext cx="128699" cy="187198"/>
          </a:xfrm>
          <a:prstGeom prst="rect">
            <a:avLst/>
          </a:prstGeom>
        </p:spPr>
      </p:pic>
      <p:sp>
        <p:nvSpPr>
          <p:cNvPr id="83" name="TextBox 82"/>
          <p:cNvSpPr txBox="1"/>
          <p:nvPr/>
        </p:nvSpPr>
        <p:spPr>
          <a:xfrm>
            <a:off x="2586067" y="3361562"/>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84" name="Picture 83" descr="lock.png"/>
          <p:cNvPicPr>
            <a:picLocks noChangeAspect="1"/>
          </p:cNvPicPr>
          <p:nvPr/>
        </p:nvPicPr>
        <p:blipFill>
          <a:blip r:embed="rId4"/>
          <a:stretch>
            <a:fillRect/>
          </a:stretch>
        </p:blipFill>
        <p:spPr>
          <a:xfrm>
            <a:off x="3133648" y="3351784"/>
            <a:ext cx="128699" cy="187198"/>
          </a:xfrm>
          <a:prstGeom prst="rect">
            <a:avLst/>
          </a:prstGeom>
        </p:spPr>
      </p:pic>
      <p:sp>
        <p:nvSpPr>
          <p:cNvPr id="85" name="TextBox 84"/>
          <p:cNvSpPr txBox="1"/>
          <p:nvPr/>
        </p:nvSpPr>
        <p:spPr>
          <a:xfrm>
            <a:off x="3301144" y="3361562"/>
            <a:ext cx="1550962" cy="186689"/>
          </a:xfrm>
          <a:prstGeom prst="rect">
            <a:avLst/>
          </a:prstGeom>
          <a:noFill/>
        </p:spPr>
        <p:txBody>
          <a:bodyPr wrap="none" lIns="0" rIns="0" tIns="0" bIns="0">
            <a:spAutoFit/>
          </a:bodyPr>
          <a:lstStyle/>
          <a:p>
            <a:r>
              <a:rPr sz="1100" b="0">
                <a:solidFill>
                  <a:srgbClr val="2E2E2E"/>
                </a:solidFill>
                <a:latin typeface="Calibri"/>
              </a:rPr>
              <a:t>share), ahead of 'Chilled' (</a:t>
            </a:r>
          </a:p>
        </p:txBody>
      </p:sp>
      <p:pic>
        <p:nvPicPr>
          <p:cNvPr id="86" name="Picture 85" descr="lock.png"/>
          <p:cNvPicPr>
            <a:picLocks noChangeAspect="1"/>
          </p:cNvPicPr>
          <p:nvPr/>
        </p:nvPicPr>
        <p:blipFill>
          <a:blip r:embed="rId4"/>
          <a:stretch>
            <a:fillRect/>
          </a:stretch>
        </p:blipFill>
        <p:spPr>
          <a:xfrm>
            <a:off x="4800158" y="3351784"/>
            <a:ext cx="128699" cy="187198"/>
          </a:xfrm>
          <a:prstGeom prst="rect">
            <a:avLst/>
          </a:prstGeom>
        </p:spPr>
      </p:pic>
      <p:sp>
        <p:nvSpPr>
          <p:cNvPr id="87" name="TextBox 86"/>
          <p:cNvSpPr txBox="1"/>
          <p:nvPr/>
        </p:nvSpPr>
        <p:spPr>
          <a:xfrm>
            <a:off x="4967654" y="3361562"/>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8" name="TextBox 87"/>
          <p:cNvSpPr txBox="1"/>
          <p:nvPr/>
        </p:nvSpPr>
        <p:spPr>
          <a:xfrm>
            <a:off x="276225" y="3579494"/>
            <a:ext cx="2154489" cy="186689"/>
          </a:xfrm>
          <a:prstGeom prst="rect">
            <a:avLst/>
          </a:prstGeom>
          <a:noFill/>
        </p:spPr>
        <p:txBody>
          <a:bodyPr wrap="none" lIns="0" rIns="0" tIns="0" bIns="0">
            <a:spAutoFit/>
          </a:bodyPr>
          <a:lstStyle/>
          <a:p>
            <a:r>
              <a:rPr sz="1100" b="0">
                <a:solidFill>
                  <a:srgbClr val="2E2E2E"/>
                </a:solidFill>
                <a:latin typeface="Calibri"/>
              </a:rPr>
              <a:t>▪ By Shelf Life, 'Up to 7 days' leads at</a:t>
            </a:r>
          </a:p>
        </p:txBody>
      </p:sp>
      <p:pic>
        <p:nvPicPr>
          <p:cNvPr id="89" name="Picture 88" descr="lock.png"/>
          <p:cNvPicPr>
            <a:picLocks noChangeAspect="1"/>
          </p:cNvPicPr>
          <p:nvPr/>
        </p:nvPicPr>
        <p:blipFill>
          <a:blip r:embed="rId4"/>
          <a:stretch>
            <a:fillRect/>
          </a:stretch>
        </p:blipFill>
        <p:spPr>
          <a:xfrm>
            <a:off x="2378765" y="3569716"/>
            <a:ext cx="128699" cy="187198"/>
          </a:xfrm>
          <a:prstGeom prst="rect">
            <a:avLst/>
          </a:prstGeom>
        </p:spPr>
      </p:pic>
      <p:sp>
        <p:nvSpPr>
          <p:cNvPr id="90" name="TextBox 89"/>
          <p:cNvSpPr txBox="1"/>
          <p:nvPr/>
        </p:nvSpPr>
        <p:spPr>
          <a:xfrm>
            <a:off x="2546261" y="3579494"/>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91" name="Picture 90" descr="lock.png"/>
          <p:cNvPicPr>
            <a:picLocks noChangeAspect="1"/>
          </p:cNvPicPr>
          <p:nvPr/>
        </p:nvPicPr>
        <p:blipFill>
          <a:blip r:embed="rId4"/>
          <a:stretch>
            <a:fillRect/>
          </a:stretch>
        </p:blipFill>
        <p:spPr>
          <a:xfrm>
            <a:off x="3093842" y="3569716"/>
            <a:ext cx="128699" cy="187198"/>
          </a:xfrm>
          <a:prstGeom prst="rect">
            <a:avLst/>
          </a:prstGeom>
        </p:spPr>
      </p:pic>
      <p:sp>
        <p:nvSpPr>
          <p:cNvPr id="92" name="TextBox 91"/>
          <p:cNvSpPr txBox="1"/>
          <p:nvPr/>
        </p:nvSpPr>
        <p:spPr>
          <a:xfrm>
            <a:off x="3261338" y="3579494"/>
            <a:ext cx="1708943" cy="186689"/>
          </a:xfrm>
          <a:prstGeom prst="rect">
            <a:avLst/>
          </a:prstGeom>
          <a:noFill/>
        </p:spPr>
        <p:txBody>
          <a:bodyPr wrap="none" lIns="0" rIns="0" tIns="0" bIns="0">
            <a:spAutoFit/>
          </a:bodyPr>
          <a:lstStyle/>
          <a:p>
            <a:r>
              <a:rPr sz="1100" b="0">
                <a:solidFill>
                  <a:srgbClr val="2E2E2E"/>
                </a:solidFill>
                <a:latin typeface="Calibri"/>
              </a:rPr>
              <a:t>share), ahead of '8-30 days' (</a:t>
            </a:r>
          </a:p>
        </p:txBody>
      </p:sp>
      <p:pic>
        <p:nvPicPr>
          <p:cNvPr id="93" name="Picture 92" descr="lock.png"/>
          <p:cNvPicPr>
            <a:picLocks noChangeAspect="1"/>
          </p:cNvPicPr>
          <p:nvPr/>
        </p:nvPicPr>
        <p:blipFill>
          <a:blip r:embed="rId4"/>
          <a:stretch>
            <a:fillRect/>
          </a:stretch>
        </p:blipFill>
        <p:spPr>
          <a:xfrm>
            <a:off x="4918333" y="3569716"/>
            <a:ext cx="128699" cy="187198"/>
          </a:xfrm>
          <a:prstGeom prst="rect">
            <a:avLst/>
          </a:prstGeom>
        </p:spPr>
      </p:pic>
      <p:sp>
        <p:nvSpPr>
          <p:cNvPr id="94" name="TextBox 93"/>
          <p:cNvSpPr txBox="1"/>
          <p:nvPr/>
        </p:nvSpPr>
        <p:spPr>
          <a:xfrm>
            <a:off x="5085829" y="3579494"/>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5" name="TextBox 94"/>
          <p:cNvSpPr txBox="1"/>
          <p:nvPr/>
        </p:nvSpPr>
        <p:spPr>
          <a:xfrm>
            <a:off x="276225" y="3797426"/>
            <a:ext cx="2965374" cy="186689"/>
          </a:xfrm>
          <a:prstGeom prst="rect">
            <a:avLst/>
          </a:prstGeom>
          <a:noFill/>
        </p:spPr>
        <p:txBody>
          <a:bodyPr wrap="none" lIns="0" rIns="0" tIns="0" bIns="0">
            <a:spAutoFit/>
          </a:bodyPr>
          <a:lstStyle/>
          <a:p>
            <a:r>
              <a:rPr sz="1100" b="0">
                <a:solidFill>
                  <a:srgbClr val="2E2E2E"/>
                </a:solidFill>
                <a:latin typeface="Calibri"/>
              </a:rPr>
              <a:t>▪ By Packaging Format, 'Rigid plastic packs' leads at</a:t>
            </a:r>
          </a:p>
        </p:txBody>
      </p:sp>
      <p:pic>
        <p:nvPicPr>
          <p:cNvPr id="96" name="Picture 95" descr="lock.png"/>
          <p:cNvPicPr>
            <a:picLocks noChangeAspect="1"/>
          </p:cNvPicPr>
          <p:nvPr/>
        </p:nvPicPr>
        <p:blipFill>
          <a:blip r:embed="rId4"/>
          <a:stretch>
            <a:fillRect/>
          </a:stretch>
        </p:blipFill>
        <p:spPr>
          <a:xfrm>
            <a:off x="3189650" y="3787647"/>
            <a:ext cx="128699" cy="187198"/>
          </a:xfrm>
          <a:prstGeom prst="rect">
            <a:avLst/>
          </a:prstGeom>
        </p:spPr>
      </p:pic>
      <p:sp>
        <p:nvSpPr>
          <p:cNvPr id="97" name="TextBox 96"/>
          <p:cNvSpPr txBox="1"/>
          <p:nvPr/>
        </p:nvSpPr>
        <p:spPr>
          <a:xfrm>
            <a:off x="3357146" y="3797426"/>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98" name="Picture 97" descr="lock.png"/>
          <p:cNvPicPr>
            <a:picLocks noChangeAspect="1"/>
          </p:cNvPicPr>
          <p:nvPr/>
        </p:nvPicPr>
        <p:blipFill>
          <a:blip r:embed="rId4"/>
          <a:stretch>
            <a:fillRect/>
          </a:stretch>
        </p:blipFill>
        <p:spPr>
          <a:xfrm>
            <a:off x="3904727" y="3787647"/>
            <a:ext cx="128699" cy="187198"/>
          </a:xfrm>
          <a:prstGeom prst="rect">
            <a:avLst/>
          </a:prstGeom>
        </p:spPr>
      </p:pic>
      <p:sp>
        <p:nvSpPr>
          <p:cNvPr id="99" name="TextBox 98"/>
          <p:cNvSpPr txBox="1"/>
          <p:nvPr/>
        </p:nvSpPr>
        <p:spPr>
          <a:xfrm>
            <a:off x="4072223" y="3797426"/>
            <a:ext cx="2179885" cy="186689"/>
          </a:xfrm>
          <a:prstGeom prst="rect">
            <a:avLst/>
          </a:prstGeom>
          <a:noFill/>
        </p:spPr>
        <p:txBody>
          <a:bodyPr wrap="none" lIns="0" rIns="0" tIns="0" bIns="0">
            <a:spAutoFit/>
          </a:bodyPr>
          <a:lstStyle/>
          <a:p>
            <a:r>
              <a:rPr sz="1100" b="0">
                <a:solidFill>
                  <a:srgbClr val="2E2E2E"/>
                </a:solidFill>
                <a:latin typeface="Calibri"/>
              </a:rPr>
              <a:t>share), ahead of 'Paperboard packs' (</a:t>
            </a:r>
          </a:p>
        </p:txBody>
      </p:sp>
      <p:pic>
        <p:nvPicPr>
          <p:cNvPr id="100" name="Picture 99" descr="lock.png"/>
          <p:cNvPicPr>
            <a:picLocks noChangeAspect="1"/>
          </p:cNvPicPr>
          <p:nvPr/>
        </p:nvPicPr>
        <p:blipFill>
          <a:blip r:embed="rId4"/>
          <a:stretch>
            <a:fillRect/>
          </a:stretch>
        </p:blipFill>
        <p:spPr>
          <a:xfrm>
            <a:off x="6200160" y="3787647"/>
            <a:ext cx="128699" cy="187198"/>
          </a:xfrm>
          <a:prstGeom prst="rect">
            <a:avLst/>
          </a:prstGeom>
        </p:spPr>
      </p:pic>
      <p:sp>
        <p:nvSpPr>
          <p:cNvPr id="101" name="TextBox 100"/>
          <p:cNvSpPr txBox="1"/>
          <p:nvPr/>
        </p:nvSpPr>
        <p:spPr>
          <a:xfrm>
            <a:off x="6367656" y="3797426"/>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02" name="TextBox 101"/>
          <p:cNvSpPr txBox="1"/>
          <p:nvPr/>
        </p:nvSpPr>
        <p:spPr>
          <a:xfrm>
            <a:off x="276225" y="4015358"/>
            <a:ext cx="2622975" cy="186689"/>
          </a:xfrm>
          <a:prstGeom prst="rect">
            <a:avLst/>
          </a:prstGeom>
          <a:noFill/>
        </p:spPr>
        <p:txBody>
          <a:bodyPr wrap="none" lIns="0" rIns="0" tIns="0" bIns="0">
            <a:spAutoFit/>
          </a:bodyPr>
          <a:lstStyle/>
          <a:p>
            <a:r>
              <a:rPr sz="1100" b="0">
                <a:solidFill>
                  <a:srgbClr val="2E2E2E"/>
                </a:solidFill>
                <a:latin typeface="Calibri"/>
              </a:rPr>
              <a:t>▪ By Pack Configuration, 'Multipacks' leads at</a:t>
            </a:r>
          </a:p>
        </p:txBody>
      </p:sp>
      <p:pic>
        <p:nvPicPr>
          <p:cNvPr id="103" name="Picture 102" descr="lock.png"/>
          <p:cNvPicPr>
            <a:picLocks noChangeAspect="1"/>
          </p:cNvPicPr>
          <p:nvPr/>
        </p:nvPicPr>
        <p:blipFill>
          <a:blip r:embed="rId4"/>
          <a:stretch>
            <a:fillRect/>
          </a:stretch>
        </p:blipFill>
        <p:spPr>
          <a:xfrm>
            <a:off x="2847251" y="4005579"/>
            <a:ext cx="128699" cy="187198"/>
          </a:xfrm>
          <a:prstGeom prst="rect">
            <a:avLst/>
          </a:prstGeom>
        </p:spPr>
      </p:pic>
      <p:sp>
        <p:nvSpPr>
          <p:cNvPr id="104" name="TextBox 103"/>
          <p:cNvSpPr txBox="1"/>
          <p:nvPr/>
        </p:nvSpPr>
        <p:spPr>
          <a:xfrm>
            <a:off x="3014747" y="4015358"/>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105" name="Picture 104" descr="lock.png"/>
          <p:cNvPicPr>
            <a:picLocks noChangeAspect="1"/>
          </p:cNvPicPr>
          <p:nvPr/>
        </p:nvPicPr>
        <p:blipFill>
          <a:blip r:embed="rId4"/>
          <a:stretch>
            <a:fillRect/>
          </a:stretch>
        </p:blipFill>
        <p:spPr>
          <a:xfrm>
            <a:off x="3562328" y="4005579"/>
            <a:ext cx="128699" cy="187198"/>
          </a:xfrm>
          <a:prstGeom prst="rect">
            <a:avLst/>
          </a:prstGeom>
        </p:spPr>
      </p:pic>
      <p:sp>
        <p:nvSpPr>
          <p:cNvPr id="106" name="TextBox 105"/>
          <p:cNvSpPr txBox="1"/>
          <p:nvPr/>
        </p:nvSpPr>
        <p:spPr>
          <a:xfrm>
            <a:off x="3729824" y="4015358"/>
            <a:ext cx="2268562" cy="186689"/>
          </a:xfrm>
          <a:prstGeom prst="rect">
            <a:avLst/>
          </a:prstGeom>
          <a:noFill/>
        </p:spPr>
        <p:txBody>
          <a:bodyPr wrap="none" lIns="0" rIns="0" tIns="0" bIns="0">
            <a:spAutoFit/>
          </a:bodyPr>
          <a:lstStyle/>
          <a:p>
            <a:r>
              <a:rPr sz="1100" b="0">
                <a:solidFill>
                  <a:srgbClr val="2E2E2E"/>
                </a:solidFill>
                <a:latin typeface="Calibri"/>
              </a:rPr>
              <a:t>share), ahead of 'Single-muffin packs' (</a:t>
            </a:r>
          </a:p>
        </p:txBody>
      </p:sp>
      <p:pic>
        <p:nvPicPr>
          <p:cNvPr id="107" name="Picture 106" descr="lock.png"/>
          <p:cNvPicPr>
            <a:picLocks noChangeAspect="1"/>
          </p:cNvPicPr>
          <p:nvPr/>
        </p:nvPicPr>
        <p:blipFill>
          <a:blip r:embed="rId4"/>
          <a:stretch>
            <a:fillRect/>
          </a:stretch>
        </p:blipFill>
        <p:spPr>
          <a:xfrm>
            <a:off x="5946438" y="4005579"/>
            <a:ext cx="128699" cy="187198"/>
          </a:xfrm>
          <a:prstGeom prst="rect">
            <a:avLst/>
          </a:prstGeom>
        </p:spPr>
      </p:pic>
      <p:sp>
        <p:nvSpPr>
          <p:cNvPr id="108" name="TextBox 107"/>
          <p:cNvSpPr txBox="1"/>
          <p:nvPr/>
        </p:nvSpPr>
        <p:spPr>
          <a:xfrm>
            <a:off x="6113934" y="4015358"/>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09" name="TextBox 108"/>
          <p:cNvSpPr txBox="1"/>
          <p:nvPr/>
        </p:nvSpPr>
        <p:spPr>
          <a:xfrm>
            <a:off x="276225" y="4233290"/>
            <a:ext cx="4937302" cy="186689"/>
          </a:xfrm>
          <a:prstGeom prst="rect">
            <a:avLst/>
          </a:prstGeom>
          <a:noFill/>
        </p:spPr>
        <p:txBody>
          <a:bodyPr wrap="none" lIns="0" rIns="0" tIns="0" bIns="0">
            <a:spAutoFit/>
          </a:bodyPr>
          <a:lstStyle/>
          <a:p>
            <a:r>
              <a:rPr sz="1100" b="0">
                <a:solidFill>
                  <a:srgbClr val="2E2E2E"/>
                </a:solidFill>
                <a:latin typeface="Calibri"/>
              </a:rPr>
              <a:t>▪ By Multipack Wrapping, 'Individually wrapped muffins within an outer pack' leads at</a:t>
            </a:r>
          </a:p>
        </p:txBody>
      </p:sp>
      <p:pic>
        <p:nvPicPr>
          <p:cNvPr id="110" name="Picture 109" descr="lock.png"/>
          <p:cNvPicPr>
            <a:picLocks noChangeAspect="1"/>
          </p:cNvPicPr>
          <p:nvPr/>
        </p:nvPicPr>
        <p:blipFill>
          <a:blip r:embed="rId4"/>
          <a:stretch>
            <a:fillRect/>
          </a:stretch>
        </p:blipFill>
        <p:spPr>
          <a:xfrm>
            <a:off x="5161578" y="4223512"/>
            <a:ext cx="128699" cy="187198"/>
          </a:xfrm>
          <a:prstGeom prst="rect">
            <a:avLst/>
          </a:prstGeom>
        </p:spPr>
      </p:pic>
      <p:sp>
        <p:nvSpPr>
          <p:cNvPr id="111" name="TextBox 110"/>
          <p:cNvSpPr txBox="1"/>
          <p:nvPr/>
        </p:nvSpPr>
        <p:spPr>
          <a:xfrm>
            <a:off x="5329074" y="4233290"/>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112" name="Picture 111" descr="lock.png"/>
          <p:cNvPicPr>
            <a:picLocks noChangeAspect="1"/>
          </p:cNvPicPr>
          <p:nvPr/>
        </p:nvPicPr>
        <p:blipFill>
          <a:blip r:embed="rId4"/>
          <a:stretch>
            <a:fillRect/>
          </a:stretch>
        </p:blipFill>
        <p:spPr>
          <a:xfrm>
            <a:off x="5876655" y="4223512"/>
            <a:ext cx="128699" cy="187198"/>
          </a:xfrm>
          <a:prstGeom prst="rect">
            <a:avLst/>
          </a:prstGeom>
        </p:spPr>
      </p:pic>
      <p:sp>
        <p:nvSpPr>
          <p:cNvPr id="113" name="TextBox 112"/>
          <p:cNvSpPr txBox="1"/>
          <p:nvPr/>
        </p:nvSpPr>
        <p:spPr>
          <a:xfrm>
            <a:off x="6044151" y="4233290"/>
            <a:ext cx="3481660" cy="186689"/>
          </a:xfrm>
          <a:prstGeom prst="rect">
            <a:avLst/>
          </a:prstGeom>
          <a:noFill/>
        </p:spPr>
        <p:txBody>
          <a:bodyPr wrap="none" lIns="0" rIns="0" tIns="0" bIns="0">
            <a:spAutoFit/>
          </a:bodyPr>
          <a:lstStyle/>
          <a:p>
            <a:r>
              <a:rPr sz="1100" b="0">
                <a:solidFill>
                  <a:srgbClr val="2E2E2E"/>
                </a:solidFill>
                <a:latin typeface="Calibri"/>
              </a:rPr>
              <a:t>share), ahead of 'Shared pack without individual wrapping' (</a:t>
            </a:r>
          </a:p>
        </p:txBody>
      </p:sp>
      <p:pic>
        <p:nvPicPr>
          <p:cNvPr id="114" name="Picture 113" descr="lock.png"/>
          <p:cNvPicPr>
            <a:picLocks noChangeAspect="1"/>
          </p:cNvPicPr>
          <p:nvPr/>
        </p:nvPicPr>
        <p:blipFill>
          <a:blip r:embed="rId4"/>
          <a:stretch>
            <a:fillRect/>
          </a:stretch>
        </p:blipFill>
        <p:spPr>
          <a:xfrm>
            <a:off x="9473863" y="4223512"/>
            <a:ext cx="128699" cy="187198"/>
          </a:xfrm>
          <a:prstGeom prst="rect">
            <a:avLst/>
          </a:prstGeom>
        </p:spPr>
      </p:pic>
      <p:sp>
        <p:nvSpPr>
          <p:cNvPr id="115" name="TextBox 114"/>
          <p:cNvSpPr txBox="1"/>
          <p:nvPr/>
        </p:nvSpPr>
        <p:spPr>
          <a:xfrm>
            <a:off x="9641359" y="4233290"/>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6" name="TextBox 115"/>
          <p:cNvSpPr txBox="1"/>
          <p:nvPr/>
        </p:nvSpPr>
        <p:spPr>
          <a:xfrm>
            <a:off x="276225" y="4451222"/>
            <a:ext cx="2393779" cy="186689"/>
          </a:xfrm>
          <a:prstGeom prst="rect">
            <a:avLst/>
          </a:prstGeom>
          <a:noFill/>
        </p:spPr>
        <p:txBody>
          <a:bodyPr wrap="none" lIns="0" rIns="0" tIns="0" bIns="0">
            <a:spAutoFit/>
          </a:bodyPr>
          <a:lstStyle/>
          <a:p>
            <a:r>
              <a:rPr sz="1100" b="0">
                <a:solidFill>
                  <a:srgbClr val="2E2E2E"/>
                </a:solidFill>
                <a:latin typeface="Calibri"/>
              </a:rPr>
              <a:t>▪ By Price Positioning, 'Premium' leads at</a:t>
            </a:r>
          </a:p>
        </p:txBody>
      </p:sp>
      <p:pic>
        <p:nvPicPr>
          <p:cNvPr id="117" name="Picture 116" descr="lock.png"/>
          <p:cNvPicPr>
            <a:picLocks noChangeAspect="1"/>
          </p:cNvPicPr>
          <p:nvPr/>
        </p:nvPicPr>
        <p:blipFill>
          <a:blip r:embed="rId4"/>
          <a:stretch>
            <a:fillRect/>
          </a:stretch>
        </p:blipFill>
        <p:spPr>
          <a:xfrm>
            <a:off x="2618056" y="4441444"/>
            <a:ext cx="128699" cy="187198"/>
          </a:xfrm>
          <a:prstGeom prst="rect">
            <a:avLst/>
          </a:prstGeom>
        </p:spPr>
      </p:pic>
      <p:sp>
        <p:nvSpPr>
          <p:cNvPr id="118" name="TextBox 117"/>
          <p:cNvSpPr txBox="1"/>
          <p:nvPr/>
        </p:nvSpPr>
        <p:spPr>
          <a:xfrm>
            <a:off x="2785552" y="4451222"/>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119" name="Picture 118" descr="lock.png"/>
          <p:cNvPicPr>
            <a:picLocks noChangeAspect="1"/>
          </p:cNvPicPr>
          <p:nvPr/>
        </p:nvPicPr>
        <p:blipFill>
          <a:blip r:embed="rId4"/>
          <a:stretch>
            <a:fillRect/>
          </a:stretch>
        </p:blipFill>
        <p:spPr>
          <a:xfrm>
            <a:off x="3333133" y="4441444"/>
            <a:ext cx="128699" cy="187198"/>
          </a:xfrm>
          <a:prstGeom prst="rect">
            <a:avLst/>
          </a:prstGeom>
        </p:spPr>
      </p:pic>
      <p:sp>
        <p:nvSpPr>
          <p:cNvPr id="120" name="TextBox 119"/>
          <p:cNvSpPr txBox="1"/>
          <p:nvPr/>
        </p:nvSpPr>
        <p:spPr>
          <a:xfrm>
            <a:off x="3500628" y="4451222"/>
            <a:ext cx="1755874" cy="186689"/>
          </a:xfrm>
          <a:prstGeom prst="rect">
            <a:avLst/>
          </a:prstGeom>
          <a:noFill/>
        </p:spPr>
        <p:txBody>
          <a:bodyPr wrap="none" lIns="0" rIns="0" tIns="0" bIns="0">
            <a:spAutoFit/>
          </a:bodyPr>
          <a:lstStyle/>
          <a:p>
            <a:r>
              <a:rPr sz="1100" b="0">
                <a:solidFill>
                  <a:srgbClr val="2E2E2E"/>
                </a:solidFill>
                <a:latin typeface="Calibri"/>
              </a:rPr>
              <a:t>share), ahead of 'Mid-range' (</a:t>
            </a:r>
          </a:p>
        </p:txBody>
      </p:sp>
      <p:pic>
        <p:nvPicPr>
          <p:cNvPr id="121" name="Picture 120" descr="lock.png"/>
          <p:cNvPicPr>
            <a:picLocks noChangeAspect="1"/>
          </p:cNvPicPr>
          <p:nvPr/>
        </p:nvPicPr>
        <p:blipFill>
          <a:blip r:embed="rId4"/>
          <a:stretch>
            <a:fillRect/>
          </a:stretch>
        </p:blipFill>
        <p:spPr>
          <a:xfrm>
            <a:off x="5204554" y="4441444"/>
            <a:ext cx="128699" cy="187198"/>
          </a:xfrm>
          <a:prstGeom prst="rect">
            <a:avLst/>
          </a:prstGeom>
        </p:spPr>
      </p:pic>
      <p:sp>
        <p:nvSpPr>
          <p:cNvPr id="122" name="TextBox 121"/>
          <p:cNvSpPr txBox="1"/>
          <p:nvPr/>
        </p:nvSpPr>
        <p:spPr>
          <a:xfrm>
            <a:off x="5372050" y="4451222"/>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23" name="TextBox 122"/>
          <p:cNvSpPr txBox="1"/>
          <p:nvPr/>
        </p:nvSpPr>
        <p:spPr>
          <a:xfrm>
            <a:off x="276225" y="4669154"/>
            <a:ext cx="3153125" cy="186689"/>
          </a:xfrm>
          <a:prstGeom prst="rect">
            <a:avLst/>
          </a:prstGeom>
          <a:noFill/>
        </p:spPr>
        <p:txBody>
          <a:bodyPr wrap="none" lIns="0" rIns="0" tIns="0" bIns="0">
            <a:spAutoFit/>
          </a:bodyPr>
          <a:lstStyle/>
          <a:p>
            <a:r>
              <a:rPr sz="1100" b="0">
                <a:solidFill>
                  <a:srgbClr val="2E2E2E"/>
                </a:solidFill>
                <a:latin typeface="Calibri"/>
              </a:rPr>
              <a:t>▪ By Brand Ownership, 'Retailer private labels' leads at</a:t>
            </a:r>
          </a:p>
        </p:txBody>
      </p:sp>
      <p:pic>
        <p:nvPicPr>
          <p:cNvPr id="124" name="Picture 123" descr="lock.png"/>
          <p:cNvPicPr>
            <a:picLocks noChangeAspect="1"/>
          </p:cNvPicPr>
          <p:nvPr/>
        </p:nvPicPr>
        <p:blipFill>
          <a:blip r:embed="rId4"/>
          <a:stretch>
            <a:fillRect/>
          </a:stretch>
        </p:blipFill>
        <p:spPr>
          <a:xfrm>
            <a:off x="3377402" y="4659376"/>
            <a:ext cx="128699" cy="187198"/>
          </a:xfrm>
          <a:prstGeom prst="rect">
            <a:avLst/>
          </a:prstGeom>
        </p:spPr>
      </p:pic>
      <p:sp>
        <p:nvSpPr>
          <p:cNvPr id="125" name="TextBox 124"/>
          <p:cNvSpPr txBox="1"/>
          <p:nvPr/>
        </p:nvSpPr>
        <p:spPr>
          <a:xfrm>
            <a:off x="3544898" y="4669154"/>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126" name="Picture 125" descr="lock.png"/>
          <p:cNvPicPr>
            <a:picLocks noChangeAspect="1"/>
          </p:cNvPicPr>
          <p:nvPr/>
        </p:nvPicPr>
        <p:blipFill>
          <a:blip r:embed="rId4"/>
          <a:stretch>
            <a:fillRect/>
          </a:stretch>
        </p:blipFill>
        <p:spPr>
          <a:xfrm>
            <a:off x="4092479" y="4659376"/>
            <a:ext cx="128699" cy="187198"/>
          </a:xfrm>
          <a:prstGeom prst="rect">
            <a:avLst/>
          </a:prstGeom>
        </p:spPr>
      </p:pic>
      <p:sp>
        <p:nvSpPr>
          <p:cNvPr id="127" name="TextBox 126"/>
          <p:cNvSpPr txBox="1"/>
          <p:nvPr/>
        </p:nvSpPr>
        <p:spPr>
          <a:xfrm>
            <a:off x="4259974" y="4669154"/>
            <a:ext cx="2374974" cy="186689"/>
          </a:xfrm>
          <a:prstGeom prst="rect">
            <a:avLst/>
          </a:prstGeom>
          <a:noFill/>
        </p:spPr>
        <p:txBody>
          <a:bodyPr wrap="none" lIns="0" rIns="0" tIns="0" bIns="0">
            <a:spAutoFit/>
          </a:bodyPr>
          <a:lstStyle/>
          <a:p>
            <a:r>
              <a:rPr sz="1100" b="0">
                <a:solidFill>
                  <a:srgbClr val="2E2E2E"/>
                </a:solidFill>
                <a:latin typeface="Calibri"/>
              </a:rPr>
              <a:t>share), ahead of 'Manufacturer brands' (</a:t>
            </a:r>
          </a:p>
        </p:txBody>
      </p:sp>
      <p:pic>
        <p:nvPicPr>
          <p:cNvPr id="128" name="Picture 127" descr="lock.png"/>
          <p:cNvPicPr>
            <a:picLocks noChangeAspect="1"/>
          </p:cNvPicPr>
          <p:nvPr/>
        </p:nvPicPr>
        <p:blipFill>
          <a:blip r:embed="rId4"/>
          <a:stretch>
            <a:fillRect/>
          </a:stretch>
        </p:blipFill>
        <p:spPr>
          <a:xfrm>
            <a:off x="6583000" y="4659376"/>
            <a:ext cx="128699" cy="187198"/>
          </a:xfrm>
          <a:prstGeom prst="rect">
            <a:avLst/>
          </a:prstGeom>
        </p:spPr>
      </p:pic>
      <p:sp>
        <p:nvSpPr>
          <p:cNvPr id="129" name="TextBox 128"/>
          <p:cNvSpPr txBox="1"/>
          <p:nvPr/>
        </p:nvSpPr>
        <p:spPr>
          <a:xfrm>
            <a:off x="6750496" y="4669154"/>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30" name="TextBox 129"/>
          <p:cNvSpPr txBox="1"/>
          <p:nvPr/>
        </p:nvSpPr>
        <p:spPr>
          <a:xfrm>
            <a:off x="276225" y="4887086"/>
            <a:ext cx="2036071" cy="186689"/>
          </a:xfrm>
          <a:prstGeom prst="rect">
            <a:avLst/>
          </a:prstGeom>
          <a:noFill/>
        </p:spPr>
        <p:txBody>
          <a:bodyPr wrap="none" lIns="0" rIns="0" tIns="0" bIns="0">
            <a:spAutoFit/>
          </a:bodyPr>
          <a:lstStyle/>
          <a:p>
            <a:r>
              <a:rPr sz="1100" b="0">
                <a:solidFill>
                  <a:srgbClr val="2E2E2E"/>
                </a:solidFill>
                <a:latin typeface="Calibri"/>
              </a:rPr>
              <a:t>▪ By Sales Channel, 'Retail' leads at</a:t>
            </a:r>
          </a:p>
        </p:txBody>
      </p:sp>
      <p:pic>
        <p:nvPicPr>
          <p:cNvPr id="131" name="Picture 130" descr="lock.png"/>
          <p:cNvPicPr>
            <a:picLocks noChangeAspect="1"/>
          </p:cNvPicPr>
          <p:nvPr/>
        </p:nvPicPr>
        <p:blipFill>
          <a:blip r:embed="rId4"/>
          <a:stretch>
            <a:fillRect/>
          </a:stretch>
        </p:blipFill>
        <p:spPr>
          <a:xfrm>
            <a:off x="2260348" y="4877307"/>
            <a:ext cx="128699" cy="187198"/>
          </a:xfrm>
          <a:prstGeom prst="rect">
            <a:avLst/>
          </a:prstGeom>
        </p:spPr>
      </p:pic>
      <p:sp>
        <p:nvSpPr>
          <p:cNvPr id="132" name="TextBox 131"/>
          <p:cNvSpPr txBox="1"/>
          <p:nvPr/>
        </p:nvSpPr>
        <p:spPr>
          <a:xfrm>
            <a:off x="2427843" y="4887086"/>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133" name="Picture 132" descr="lock.png"/>
          <p:cNvPicPr>
            <a:picLocks noChangeAspect="1"/>
          </p:cNvPicPr>
          <p:nvPr/>
        </p:nvPicPr>
        <p:blipFill>
          <a:blip r:embed="rId4"/>
          <a:stretch>
            <a:fillRect/>
          </a:stretch>
        </p:blipFill>
        <p:spPr>
          <a:xfrm>
            <a:off x="2975424" y="4877307"/>
            <a:ext cx="128699" cy="187198"/>
          </a:xfrm>
          <a:prstGeom prst="rect">
            <a:avLst/>
          </a:prstGeom>
        </p:spPr>
      </p:pic>
      <p:sp>
        <p:nvSpPr>
          <p:cNvPr id="134" name="TextBox 133"/>
          <p:cNvSpPr txBox="1"/>
          <p:nvPr/>
        </p:nvSpPr>
        <p:spPr>
          <a:xfrm>
            <a:off x="3142920" y="4887086"/>
            <a:ext cx="2807141" cy="186689"/>
          </a:xfrm>
          <a:prstGeom prst="rect">
            <a:avLst/>
          </a:prstGeom>
          <a:noFill/>
        </p:spPr>
        <p:txBody>
          <a:bodyPr wrap="none" lIns="0" rIns="0" tIns="0" bIns="0">
            <a:spAutoFit/>
          </a:bodyPr>
          <a:lstStyle/>
          <a:p>
            <a:r>
              <a:rPr sz="1100" b="0">
                <a:solidFill>
                  <a:srgbClr val="2E2E2E"/>
                </a:solidFill>
                <a:latin typeface="Calibri"/>
              </a:rPr>
              <a:t>share), ahead of 'Foodservice and institutional' (</a:t>
            </a:r>
          </a:p>
        </p:txBody>
      </p:sp>
      <p:pic>
        <p:nvPicPr>
          <p:cNvPr id="135" name="Picture 134" descr="lock.png"/>
          <p:cNvPicPr>
            <a:picLocks noChangeAspect="1"/>
          </p:cNvPicPr>
          <p:nvPr/>
        </p:nvPicPr>
        <p:blipFill>
          <a:blip r:embed="rId4"/>
          <a:stretch>
            <a:fillRect/>
          </a:stretch>
        </p:blipFill>
        <p:spPr>
          <a:xfrm>
            <a:off x="5898113" y="4877307"/>
            <a:ext cx="128699" cy="187198"/>
          </a:xfrm>
          <a:prstGeom prst="rect">
            <a:avLst/>
          </a:prstGeom>
        </p:spPr>
      </p:pic>
      <p:sp>
        <p:nvSpPr>
          <p:cNvPr id="136" name="TextBox 135"/>
          <p:cNvSpPr txBox="1"/>
          <p:nvPr/>
        </p:nvSpPr>
        <p:spPr>
          <a:xfrm>
            <a:off x="6065609" y="4887086"/>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37" name="TextBox 136"/>
          <p:cNvSpPr txBox="1"/>
          <p:nvPr/>
        </p:nvSpPr>
        <p:spPr>
          <a:xfrm>
            <a:off x="276225" y="5105018"/>
            <a:ext cx="5574137" cy="186689"/>
          </a:xfrm>
          <a:prstGeom prst="rect">
            <a:avLst/>
          </a:prstGeom>
          <a:noFill/>
        </p:spPr>
        <p:txBody>
          <a:bodyPr wrap="none" lIns="0" rIns="0" tIns="0" bIns="0">
            <a:spAutoFit/>
          </a:bodyPr>
          <a:lstStyle/>
          <a:p>
            <a:r>
              <a:rPr sz="1100" b="0">
                <a:solidFill>
                  <a:srgbClr val="2E2E2E"/>
                </a:solidFill>
                <a:latin typeface="Calibri"/>
              </a:rPr>
              <a:t>▪ By Product Type × Flavour, the workbook carries no value figures for U.S.; see its volume pages.</a:t>
            </a:r>
          </a:p>
        </p:txBody>
      </p:sp>
      <p:sp>
        <p:nvSpPr>
          <p:cNvPr id="138" name="TextBox 137"/>
          <p:cNvSpPr txBox="1"/>
          <p:nvPr/>
        </p:nvSpPr>
        <p:spPr>
          <a:xfrm>
            <a:off x="276225" y="5322950"/>
            <a:ext cx="6161557" cy="186689"/>
          </a:xfrm>
          <a:prstGeom prst="rect">
            <a:avLst/>
          </a:prstGeom>
          <a:noFill/>
        </p:spPr>
        <p:txBody>
          <a:bodyPr wrap="none" lIns="0" rIns="0" tIns="0" bIns="0">
            <a:spAutoFit/>
          </a:bodyPr>
          <a:lstStyle/>
          <a:p>
            <a:r>
              <a:rPr sz="1100" b="0">
                <a:solidFill>
                  <a:srgbClr val="2E2E2E"/>
                </a:solidFill>
                <a:latin typeface="Calibri"/>
              </a:rPr>
              <a:t>▪ By Product Type × Packaging Format, the workbook carries no value figures for U.S.; see its volume pages.</a:t>
            </a:r>
          </a:p>
        </p:txBody>
      </p:sp>
      <p:sp>
        <p:nvSpPr>
          <p:cNvPr id="139" name="TextBox 138"/>
          <p:cNvSpPr txBox="1"/>
          <p:nvPr/>
        </p:nvSpPr>
        <p:spPr>
          <a:xfrm>
            <a:off x="276225" y="5540882"/>
            <a:ext cx="5934301" cy="186689"/>
          </a:xfrm>
          <a:prstGeom prst="rect">
            <a:avLst/>
          </a:prstGeom>
          <a:noFill/>
        </p:spPr>
        <p:txBody>
          <a:bodyPr wrap="none" lIns="0" rIns="0" tIns="0" bIns="0">
            <a:spAutoFit/>
          </a:bodyPr>
          <a:lstStyle/>
          <a:p>
            <a:r>
              <a:rPr sz="1100" b="0">
                <a:solidFill>
                  <a:srgbClr val="2E2E2E"/>
                </a:solidFill>
                <a:latin typeface="Calibri"/>
              </a:rPr>
              <a:t>▪ By Product Type × Sales Channel, the workbook carries no value figures for U.S.; see its volume pages.</a:t>
            </a:r>
          </a:p>
        </p:txBody>
      </p:sp>
      <p:sp>
        <p:nvSpPr>
          <p:cNvPr id="140" name="TextBox 139"/>
          <p:cNvSpPr txBox="1"/>
          <p:nvPr/>
        </p:nvSpPr>
        <p:spPr>
          <a:xfrm>
            <a:off x="276225" y="5758814"/>
            <a:ext cx="6375229" cy="186689"/>
          </a:xfrm>
          <a:prstGeom prst="rect">
            <a:avLst/>
          </a:prstGeom>
          <a:noFill/>
        </p:spPr>
        <p:txBody>
          <a:bodyPr wrap="none" lIns="0" rIns="0" tIns="0" bIns="0">
            <a:spAutoFit/>
          </a:bodyPr>
          <a:lstStyle/>
          <a:p>
            <a:r>
              <a:rPr sz="1100" b="0">
                <a:solidFill>
                  <a:srgbClr val="2E2E2E"/>
                </a:solidFill>
                <a:latin typeface="Calibri"/>
              </a:rPr>
              <a:t>▪ By Product Type × Individual Muffin Size, the workbook carries no value figures for U.S.; see its volume pages.</a:t>
            </a:r>
          </a:p>
        </p:txBody>
      </p:sp>
      <p:sp>
        <p:nvSpPr>
          <p:cNvPr id="141" name="TextBox 140"/>
          <p:cNvSpPr txBox="1"/>
          <p:nvPr/>
        </p:nvSpPr>
        <p:spPr>
          <a:xfrm>
            <a:off x="276225" y="5976746"/>
            <a:ext cx="6677843" cy="186689"/>
          </a:xfrm>
          <a:prstGeom prst="rect">
            <a:avLst/>
          </a:prstGeom>
          <a:noFill/>
        </p:spPr>
        <p:txBody>
          <a:bodyPr wrap="none" lIns="0" rIns="0" tIns="0" bIns="0">
            <a:spAutoFit/>
          </a:bodyPr>
          <a:lstStyle/>
          <a:p>
            <a:r>
              <a:rPr sz="1100" b="0">
                <a:solidFill>
                  <a:srgbClr val="2E2E2E"/>
                </a:solidFill>
                <a:latin typeface="Calibri"/>
              </a:rPr>
              <a:t>▪ Use the Country slicer in the top band to switch country the selection stays synced across every page of the report.</a:t>
            </a:r>
          </a:p>
        </p:txBody>
      </p:sp>
    </p:spTree>
  </p:cSld>
  <p:clrMapOvr>
    <a:masterClrMapping/>
  </p:clrMapOvr>
</p:sld>
</file>

<file path=ppt/slides/slide41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666875"/>
            <a:ext cx="103632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009775"/>
            <a:ext cx="103632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2695575"/>
            <a:ext cx="5067300" cy="36385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Primary Flour Base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Dietary Formulation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Nutritional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Recipe and Ingredient Claims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Surface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Individual Muffin Size</a:t>
            </a:r>
          </a:p>
        </p:txBody>
      </p:sp>
      <p:sp>
        <p:nvSpPr>
          <p:cNvPr id="12" name="TextBox 11"/>
          <p:cNvSpPr txBox="1"/>
          <p:nvPr/>
        </p:nvSpPr>
        <p:spPr>
          <a:xfrm>
            <a:off x="6096000" y="2695575"/>
            <a:ext cx="5067300" cy="32448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Storage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Shelf Life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Packaging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Pack Configuration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Multipack Wrapping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Brand Ownership</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Sales Channel</a:t>
            </a:r>
          </a:p>
        </p:txBody>
      </p:sp>
      <p:sp>
        <p:nvSpPr>
          <p:cNvPr id="13" name="TextBox 1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270520"/>
                <a:gridCol w="1146839"/>
                <a:gridCol w="1146839"/>
                <a:gridCol w="1146839"/>
                <a:gridCol w="1146839"/>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1270520"/>
                <a:gridCol w="1146839"/>
                <a:gridCol w="1146839"/>
                <a:gridCol w="1146839"/>
                <a:gridCol w="1146839"/>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559233"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559233"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Product Type (MT)</a:t>
            </a:r>
          </a:p>
        </p:txBody>
      </p:sp>
      <p:graphicFrame>
        <p:nvGraphicFramePr>
          <p:cNvPr id="13" name="Table 12"/>
          <p:cNvGraphicFramePr>
            <a:graphicFrameLocks noGrp="1"/>
          </p:cNvGraphicFramePr>
          <p:nvPr/>
        </p:nvGraphicFramePr>
        <p:xfrm>
          <a:off x="152400" y="1238250"/>
          <a:ext cx="11887202" cy="990600"/>
        </p:xfrm>
        <a:graphic>
          <a:graphicData uri="http://schemas.openxmlformats.org/drawingml/2006/table">
            <a:tbl>
              <a:tblPr>
                <a:tableStyleId>{5C22544A-7EE6-4342-B048-85BDC9FD1C3A}</a:tableStyleId>
              </a:tblPr>
              <a:tblGrid>
                <a:gridCol w="1171286"/>
                <a:gridCol w="630348"/>
                <a:gridCol w="630348"/>
                <a:gridCol w="630348"/>
                <a:gridCol w="630348"/>
                <a:gridCol w="630348"/>
                <a:gridCol w="630348"/>
                <a:gridCol w="630348"/>
                <a:gridCol w="630348"/>
                <a:gridCol w="630348"/>
                <a:gridCol w="630348"/>
                <a:gridCol w="630348"/>
                <a:gridCol w="630348"/>
                <a:gridCol w="630348"/>
                <a:gridCol w="630348"/>
                <a:gridCol w="630348"/>
                <a:gridCol w="630348"/>
                <a:gridCol w="63034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Type (US$ Mn)</a:t>
            </a:r>
          </a:p>
        </p:txBody>
      </p:sp>
      <p:graphicFrame>
        <p:nvGraphicFramePr>
          <p:cNvPr id="17" name="Table 16"/>
          <p:cNvGraphicFramePr>
            <a:graphicFrameLocks noGrp="1"/>
          </p:cNvGraphicFramePr>
          <p:nvPr/>
        </p:nvGraphicFramePr>
        <p:xfrm>
          <a:off x="152400" y="2828925"/>
          <a:ext cx="11887207" cy="990600"/>
        </p:xfrm>
        <a:graphic>
          <a:graphicData uri="http://schemas.openxmlformats.org/drawingml/2006/table">
            <a:tbl>
              <a:tblPr>
                <a:tableStyleId>{5C22544A-7EE6-4342-B048-85BDC9FD1C3A}</a:tableStyleId>
              </a:tblPr>
              <a:tblGrid>
                <a:gridCol w="1227204"/>
                <a:gridCol w="627059"/>
                <a:gridCol w="627059"/>
                <a:gridCol w="627059"/>
                <a:gridCol w="627059"/>
                <a:gridCol w="627059"/>
                <a:gridCol w="627059"/>
                <a:gridCol w="627059"/>
                <a:gridCol w="627059"/>
                <a:gridCol w="627059"/>
                <a:gridCol w="627059"/>
                <a:gridCol w="627059"/>
                <a:gridCol w="627059"/>
                <a:gridCol w="627059"/>
                <a:gridCol w="627059"/>
                <a:gridCol w="627059"/>
                <a:gridCol w="627059"/>
                <a:gridCol w="627059"/>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94954"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522915" y="3180587"/>
            <a:ext cx="366712" cy="533400"/>
          </a:xfrm>
          <a:prstGeom prst="rect">
            <a:avLst/>
          </a:prstGeom>
        </p:spPr>
      </p:pic>
    </p:spTree>
  </p:cSld>
  <p:clrMapOvr>
    <a:masterClrMapping/>
  </p:clrMapOvr>
</p:sld>
</file>

<file path=ppt/slides/slide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01417"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601417" y="2825115"/>
            <a:ext cx="330041" cy="480060"/>
          </a:xfrm>
          <a:prstGeom prst="rect">
            <a:avLst/>
          </a:prstGeom>
        </p:spPr>
      </p:pic>
    </p:spTree>
  </p:cSld>
  <p:clrMapOvr>
    <a:masterClrMapping/>
  </p:clrMapOvr>
</p:sld>
</file>

<file path=ppt/slides/slide4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Flavour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Flavour: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Flavour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Flavour</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725077"/>
                <a:gridCol w="1033200"/>
                <a:gridCol w="1033200"/>
                <a:gridCol w="1033200"/>
                <a:gridCol w="1033200"/>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Flavour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Flavour</a:t>
            </a:r>
          </a:p>
        </p:txBody>
      </p:sp>
      <p:graphicFrame>
        <p:nvGraphicFramePr>
          <p:cNvPr id="23" name="Table 22"/>
          <p:cNvGraphicFramePr>
            <a:graphicFrameLocks noGrp="1"/>
          </p:cNvGraphicFramePr>
          <p:nvPr/>
        </p:nvGraphicFramePr>
        <p:xfrm>
          <a:off x="6181725" y="4124325"/>
          <a:ext cx="5857877" cy="2286000"/>
        </p:xfrm>
        <a:graphic>
          <a:graphicData uri="http://schemas.openxmlformats.org/drawingml/2006/table">
            <a:tbl>
              <a:tblPr>
                <a:tableStyleId>{5C22544A-7EE6-4342-B048-85BDC9FD1C3A}</a:tableStyleId>
              </a:tblPr>
              <a:tblGrid>
                <a:gridCol w="1725077"/>
                <a:gridCol w="1033200"/>
                <a:gridCol w="1033200"/>
                <a:gridCol w="1033200"/>
                <a:gridCol w="1033200"/>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86512"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86512"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Flavour,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Flavour (MT)</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1681250"/>
                <a:gridCol w="600350"/>
                <a:gridCol w="600350"/>
                <a:gridCol w="600350"/>
                <a:gridCol w="600350"/>
                <a:gridCol w="600350"/>
                <a:gridCol w="600350"/>
                <a:gridCol w="600350"/>
                <a:gridCol w="600350"/>
                <a:gridCol w="600350"/>
                <a:gridCol w="600350"/>
                <a:gridCol w="600350"/>
                <a:gridCol w="600350"/>
                <a:gridCol w="600350"/>
                <a:gridCol w="600350"/>
                <a:gridCol w="600350"/>
                <a:gridCol w="600350"/>
                <a:gridCol w="600350"/>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Flavour (US$ Mn)</a:t>
            </a:r>
          </a:p>
        </p:txBody>
      </p:sp>
      <p:graphicFrame>
        <p:nvGraphicFramePr>
          <p:cNvPr id="17" name="Table 16"/>
          <p:cNvGraphicFramePr>
            <a:graphicFrameLocks noGrp="1"/>
          </p:cNvGraphicFramePr>
          <p:nvPr/>
        </p:nvGraphicFramePr>
        <p:xfrm>
          <a:off x="152400" y="2828925"/>
          <a:ext cx="11887208" cy="990600"/>
        </p:xfrm>
        <a:graphic>
          <a:graphicData uri="http://schemas.openxmlformats.org/drawingml/2006/table">
            <a:tbl>
              <a:tblPr>
                <a:tableStyleId>{5C22544A-7EE6-4342-B048-85BDC9FD1C3A}</a:tableStyleId>
              </a:tblPr>
              <a:tblGrid>
                <a:gridCol w="1757520"/>
                <a:gridCol w="595864"/>
                <a:gridCol w="595864"/>
                <a:gridCol w="595864"/>
                <a:gridCol w="595864"/>
                <a:gridCol w="595864"/>
                <a:gridCol w="595864"/>
                <a:gridCol w="595864"/>
                <a:gridCol w="595864"/>
                <a:gridCol w="595864"/>
                <a:gridCol w="595864"/>
                <a:gridCol w="595864"/>
                <a:gridCol w="595864"/>
                <a:gridCol w="595864"/>
                <a:gridCol w="595864"/>
                <a:gridCol w="595864"/>
                <a:gridCol w="595864"/>
                <a:gridCol w="595864"/>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49935"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788074" y="3180587"/>
            <a:ext cx="366712" cy="533400"/>
          </a:xfrm>
          <a:prstGeom prst="rect">
            <a:avLst/>
          </a:prstGeom>
        </p:spPr>
      </p:pic>
    </p:spTree>
  </p:cSld>
  <p:clrMapOvr>
    <a:masterClrMapping/>
  </p:clrMapOvr>
</p:sld>
</file>

<file path=ppt/slides/slide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Flavour,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7778"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887778" y="2825115"/>
            <a:ext cx="330041" cy="480060"/>
          </a:xfrm>
          <a:prstGeom prst="rect">
            <a:avLst/>
          </a:prstGeom>
        </p:spPr>
      </p:pic>
    </p:spTree>
  </p:cSld>
  <p:clrMapOvr>
    <a:masterClrMapping/>
  </p:clrMapOvr>
</p:sld>
</file>

<file path=ppt/slides/slide4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Primary Flour Base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Primary Flour Base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Primary Flour Base: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Flour Base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Flour Base</a:t>
            </a:r>
          </a:p>
        </p:txBody>
      </p:sp>
      <p:graphicFrame>
        <p:nvGraphicFramePr>
          <p:cNvPr id="16" name="Table 15"/>
          <p:cNvGraphicFramePr>
            <a:graphicFrameLocks noGrp="1"/>
          </p:cNvGraphicFramePr>
          <p:nvPr/>
        </p:nvGraphicFramePr>
        <p:xfrm>
          <a:off x="6181725" y="1238250"/>
          <a:ext cx="5857874" cy="2285998"/>
        </p:xfrm>
        <a:graphic>
          <a:graphicData uri="http://schemas.openxmlformats.org/drawingml/2006/table">
            <a:tbl>
              <a:tblPr>
                <a:tableStyleId>{5C22544A-7EE6-4342-B048-85BDC9FD1C3A}</a:tableStyleId>
              </a:tblPr>
              <a:tblGrid>
                <a:gridCol w="2449768"/>
                <a:gridCol w="856786"/>
                <a:gridCol w="856786"/>
                <a:gridCol w="1082029"/>
                <a:gridCol w="612505"/>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54984">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Flour Base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Primary Flour Base</a:t>
            </a:r>
          </a:p>
        </p:txBody>
      </p:sp>
      <p:graphicFrame>
        <p:nvGraphicFramePr>
          <p:cNvPr id="23" name="Table 22"/>
          <p:cNvGraphicFramePr>
            <a:graphicFrameLocks noGrp="1"/>
          </p:cNvGraphicFramePr>
          <p:nvPr/>
        </p:nvGraphicFramePr>
        <p:xfrm>
          <a:off x="6181725" y="4124325"/>
          <a:ext cx="5857874" cy="2285998"/>
        </p:xfrm>
        <a:graphic>
          <a:graphicData uri="http://schemas.openxmlformats.org/drawingml/2006/table">
            <a:tbl>
              <a:tblPr>
                <a:tableStyleId>{5C22544A-7EE6-4342-B048-85BDC9FD1C3A}</a:tableStyleId>
              </a:tblPr>
              <a:tblGrid>
                <a:gridCol w="2449768"/>
                <a:gridCol w="856786"/>
                <a:gridCol w="856786"/>
                <a:gridCol w="1082029"/>
                <a:gridCol w="612505"/>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54984">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148855"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148855"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Primary Flour Base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Primary Flour Base,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Primary Flour Base (MT)</a:t>
            </a:r>
          </a:p>
        </p:txBody>
      </p:sp>
      <p:graphicFrame>
        <p:nvGraphicFramePr>
          <p:cNvPr id="13" name="Table 12"/>
          <p:cNvGraphicFramePr>
            <a:graphicFrameLocks noGrp="1"/>
          </p:cNvGraphicFramePr>
          <p:nvPr/>
        </p:nvGraphicFramePr>
        <p:xfrm>
          <a:off x="152400" y="1238250"/>
          <a:ext cx="11887206" cy="2466975"/>
        </p:xfrm>
        <a:graphic>
          <a:graphicData uri="http://schemas.openxmlformats.org/drawingml/2006/table">
            <a:tbl>
              <a:tblPr>
                <a:tableStyleId>{5C22544A-7EE6-4342-B048-85BDC9FD1C3A}</a:tableStyleId>
              </a:tblPr>
              <a:tblGrid>
                <a:gridCol w="2214444"/>
                <a:gridCol w="568986"/>
                <a:gridCol w="568986"/>
                <a:gridCol w="568986"/>
                <a:gridCol w="568986"/>
                <a:gridCol w="568986"/>
                <a:gridCol w="568986"/>
                <a:gridCol w="568986"/>
                <a:gridCol w="568986"/>
                <a:gridCol w="568986"/>
                <a:gridCol w="568986"/>
                <a:gridCol w="568986"/>
                <a:gridCol w="568986"/>
                <a:gridCol w="568986"/>
                <a:gridCol w="568986"/>
                <a:gridCol w="568986"/>
                <a:gridCol w="568986"/>
                <a:gridCol w="568986"/>
              </a:tblGrid>
              <a:tr h="246126">
                <a:tc>
                  <a:txBody>
                    <a:bodyPr wrap="none"/>
                    <a:lstStyle/>
                    <a:p>
                      <a:pPr algn="l"/>
                      <a:r>
                        <a:rPr sz="1100" b="1">
                          <a:solidFill>
                            <a:srgbClr val="0B2E4A"/>
                          </a:solidFill>
                          <a:latin typeface="Calibri"/>
                        </a:rPr>
                        <a:t>Primary Flour Base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F-CAGR</a:t>
                      </a:r>
                      <a:endParaRPr sz="1100"/>
                    </a:p>
                  </a:txBody>
                  <a:tcPr marL="38100" marR="28575" marT="19050" marB="19050" anchor="ctr">
                    <a:solidFill>
                      <a:srgbClr val="E0E8EF"/>
                    </a:solidFill>
                  </a:tcPr>
                </a:tc>
              </a:tr>
              <a:tr h="246761">
                <a:tc>
                  <a:txBody>
                    <a:bodyPr wrap="none"/>
                    <a:lstStyle/>
                    <a:p>
                      <a:pPr algn="l"/>
                      <a:r>
                        <a:rPr sz="1100" b="1">
                          <a:solidFill>
                            <a:srgbClr val="2E2E2E"/>
                          </a:solidFill>
                          <a:latin typeface="Calibri"/>
                        </a:rPr>
                        <a:t>Wheat-based</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761">
                <a:tc>
                  <a:txBody>
                    <a:bodyPr wrap="none"/>
                    <a:lstStyle/>
                    <a:p>
                      <a:pPr algn="l"/>
                      <a:r>
                        <a:rPr sz="1100" b="1">
                          <a:solidFill>
                            <a:srgbClr val="2E2E2E"/>
                          </a:solidFill>
                          <a:latin typeface="Calibri"/>
                        </a:rPr>
                        <a:t>Oat-based</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761">
                <a:tc>
                  <a:txBody>
                    <a:bodyPr wrap="none"/>
                    <a:lstStyle/>
                    <a:p>
                      <a:pPr algn="l"/>
                      <a:r>
                        <a:rPr sz="1100" b="1">
                          <a:solidFill>
                            <a:srgbClr val="2E2E2E"/>
                          </a:solidFill>
                          <a:latin typeface="Calibri"/>
                        </a:rPr>
                        <a:t>Rice-based</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761">
                <a:tc>
                  <a:txBody>
                    <a:bodyPr wrap="none"/>
                    <a:lstStyle/>
                    <a:p>
                      <a:pPr algn="l"/>
                      <a:r>
                        <a:rPr sz="1100" b="1">
                          <a:solidFill>
                            <a:srgbClr val="2E2E2E"/>
                          </a:solidFill>
                          <a:latin typeface="Calibri"/>
                        </a:rPr>
                        <a:t>Corn-based</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761">
                <a:tc>
                  <a:txBody>
                    <a:bodyPr wrap="none"/>
                    <a:lstStyle/>
                    <a:p>
                      <a:pPr algn="l"/>
                      <a:r>
                        <a:rPr sz="1100" b="1">
                          <a:solidFill>
                            <a:srgbClr val="2E2E2E"/>
                          </a:solidFill>
                          <a:latin typeface="Calibri"/>
                        </a:rPr>
                        <a:t>Millet-based</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761">
                <a:tc>
                  <a:txBody>
                    <a:bodyPr wrap="none"/>
                    <a:lstStyle/>
                    <a:p>
                      <a:pPr algn="l"/>
                      <a:r>
                        <a:rPr sz="1100" b="1">
                          <a:solidFill>
                            <a:srgbClr val="2E2E2E"/>
                          </a:solidFill>
                          <a:latin typeface="Calibri"/>
                        </a:rPr>
                        <a:t>Almond and other nut flour-based</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761">
                <a:tc>
                  <a:txBody>
                    <a:bodyPr wrap="none"/>
                    <a:lstStyle/>
                    <a:p>
                      <a:pPr algn="l"/>
                      <a:r>
                        <a:rPr sz="1100" b="1">
                          <a:solidFill>
                            <a:srgbClr val="2E2E2E"/>
                          </a:solidFill>
                          <a:latin typeface="Calibri"/>
                        </a:rPr>
                        <a:t>Other single-flour bases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761">
                <a:tc>
                  <a:txBody>
                    <a:bodyPr wrap="none"/>
                    <a:lstStyle/>
                    <a:p>
                      <a:pPr algn="l"/>
                      <a:r>
                        <a:rPr sz="1100" b="1">
                          <a:solidFill>
                            <a:srgbClr val="2E2E2E"/>
                          </a:solidFill>
                          <a:latin typeface="Calibri"/>
                        </a:rPr>
                        <a:t>Multigrain and blended flour bases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016534" y="2328100"/>
            <a:ext cx="366712" cy="533400"/>
          </a:xfrm>
          <a:prstGeom prst="rect">
            <a:avLst/>
          </a:prstGeom>
        </p:spPr>
      </p:pic>
    </p:spTree>
  </p:cSld>
  <p:clrMapOvr>
    <a:masterClrMapping/>
  </p:clrMapOvr>
</p:sld>
</file>

<file path=ppt/slides/slide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Primary Flour Base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Primary Flour Base, 2021–2036</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Primary Flour Base (US$ Mn)</a:t>
            </a:r>
          </a:p>
        </p:txBody>
      </p:sp>
      <p:graphicFrame>
        <p:nvGraphicFramePr>
          <p:cNvPr id="12" name="Table 11"/>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264040"/>
                <a:gridCol w="566068"/>
                <a:gridCol w="566068"/>
                <a:gridCol w="566068"/>
                <a:gridCol w="566068"/>
                <a:gridCol w="566068"/>
                <a:gridCol w="566068"/>
                <a:gridCol w="566068"/>
                <a:gridCol w="566068"/>
                <a:gridCol w="566068"/>
                <a:gridCol w="566068"/>
                <a:gridCol w="566068"/>
                <a:gridCol w="566068"/>
                <a:gridCol w="566068"/>
                <a:gridCol w="566068"/>
                <a:gridCol w="566068"/>
                <a:gridCol w="566068"/>
                <a:gridCol w="566068"/>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041327" y="2328100"/>
            <a:ext cx="366712" cy="533400"/>
          </a:xfrm>
          <a:prstGeom prst="rect">
            <a:avLst/>
          </a:prstGeom>
        </p:spPr>
      </p:pic>
    </p:spTree>
  </p:cSld>
  <p:clrMapOvr>
    <a:masterClrMapping/>
  </p:clrMapOvr>
</p:sld>
</file>

<file path=ppt/slides/slide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Primary Flour Base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Primary Flour Base,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2219326"/>
        </p:xfrm>
        <a:graphic>
          <a:graphicData uri="http://schemas.openxmlformats.org/drawingml/2006/table">
            <a:tbl>
              <a:tblPr>
                <a:tableStyleId>{5C22544A-7EE6-4342-B048-85BDC9FD1C3A}</a:tableStyleId>
              </a:tblPr>
              <a:tblGrid>
                <a:gridCol w="2317919"/>
                <a:gridCol w="637952"/>
                <a:gridCol w="637952"/>
                <a:gridCol w="637952"/>
                <a:gridCol w="637952"/>
                <a:gridCol w="637952"/>
                <a:gridCol w="637952"/>
                <a:gridCol w="637952"/>
                <a:gridCol w="637952"/>
                <a:gridCol w="637952"/>
                <a:gridCol w="637952"/>
                <a:gridCol w="637952"/>
                <a:gridCol w="637952"/>
                <a:gridCol w="637952"/>
                <a:gridCol w="637952"/>
                <a:gridCol w="63795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057650"/>
          <a:ext cx="11887199" cy="2219326"/>
        </p:xfrm>
        <a:graphic>
          <a:graphicData uri="http://schemas.openxmlformats.org/drawingml/2006/table">
            <a:tbl>
              <a:tblPr>
                <a:tableStyleId>{5C22544A-7EE6-4342-B048-85BDC9FD1C3A}</a:tableStyleId>
              </a:tblPr>
              <a:tblGrid>
                <a:gridCol w="2317919"/>
                <a:gridCol w="637952"/>
                <a:gridCol w="637952"/>
                <a:gridCol w="637952"/>
                <a:gridCol w="637952"/>
                <a:gridCol w="637952"/>
                <a:gridCol w="637952"/>
                <a:gridCol w="637952"/>
                <a:gridCol w="637952"/>
                <a:gridCol w="637952"/>
                <a:gridCol w="637952"/>
                <a:gridCol w="637952"/>
                <a:gridCol w="637952"/>
                <a:gridCol w="637952"/>
                <a:gridCol w="637952"/>
                <a:gridCol w="63795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286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68268" y="2204276"/>
            <a:ext cx="366712" cy="533400"/>
          </a:xfrm>
          <a:prstGeom prst="rect">
            <a:avLst/>
          </a:prstGeom>
        </p:spPr>
      </p:pic>
      <p:pic>
        <p:nvPicPr>
          <p:cNvPr id="21" name="Picture 20" descr="lock.png"/>
          <p:cNvPicPr>
            <a:picLocks noChangeAspect="1"/>
          </p:cNvPicPr>
          <p:nvPr/>
        </p:nvPicPr>
        <p:blipFill>
          <a:blip r:embed="rId4"/>
          <a:stretch>
            <a:fillRect/>
          </a:stretch>
        </p:blipFill>
        <p:spPr>
          <a:xfrm>
            <a:off x="7068268" y="5023676"/>
            <a:ext cx="366712" cy="533400"/>
          </a:xfrm>
          <a:prstGeom prst="rect">
            <a:avLst/>
          </a:prstGeom>
        </p:spPr>
      </p:pic>
    </p:spTree>
  </p:cSld>
  <p:clrMapOvr>
    <a:masterClrMapping/>
  </p:clrMapOvr>
</p:sld>
</file>

<file path=ppt/slides/slide4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Dietary Formulation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Dietary Formulation: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Dietary Formulation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Dietary Formulation</a:t>
            </a:r>
          </a:p>
        </p:txBody>
      </p:sp>
      <p:graphicFrame>
        <p:nvGraphicFramePr>
          <p:cNvPr id="16" name="Table 15"/>
          <p:cNvGraphicFramePr>
            <a:graphicFrameLocks noGrp="1"/>
          </p:cNvGraphicFramePr>
          <p:nvPr/>
        </p:nvGraphicFramePr>
        <p:xfrm>
          <a:off x="6181725" y="1238250"/>
          <a:ext cx="5857873" cy="2285998"/>
        </p:xfrm>
        <a:graphic>
          <a:graphicData uri="http://schemas.openxmlformats.org/drawingml/2006/table">
            <a:tbl>
              <a:tblPr>
                <a:tableStyleId>{5C22544A-7EE6-4342-B048-85BDC9FD1C3A}</a:tableStyleId>
              </a:tblPr>
              <a:tblGrid>
                <a:gridCol w="1587165"/>
                <a:gridCol w="1067677"/>
                <a:gridCol w="1067677"/>
                <a:gridCol w="1067677"/>
                <a:gridCol w="1067677"/>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Dietary Formulation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Dietary Formulation</a:t>
            </a:r>
          </a:p>
        </p:txBody>
      </p:sp>
      <p:graphicFrame>
        <p:nvGraphicFramePr>
          <p:cNvPr id="23" name="Table 22"/>
          <p:cNvGraphicFramePr>
            <a:graphicFrameLocks noGrp="1"/>
          </p:cNvGraphicFramePr>
          <p:nvPr/>
        </p:nvGraphicFramePr>
        <p:xfrm>
          <a:off x="6181725" y="4124325"/>
          <a:ext cx="5857873" cy="2285998"/>
        </p:xfrm>
        <a:graphic>
          <a:graphicData uri="http://schemas.openxmlformats.org/drawingml/2006/table">
            <a:tbl>
              <a:tblPr>
                <a:tableStyleId>{5C22544A-7EE6-4342-B048-85BDC9FD1C3A}</a:tableStyleId>
              </a:tblPr>
              <a:tblGrid>
                <a:gridCol w="1587165"/>
                <a:gridCol w="1067677"/>
                <a:gridCol w="1067677"/>
                <a:gridCol w="1067677"/>
                <a:gridCol w="1067677"/>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17554"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17554"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Dietary Formulation,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Dietary Formulation (MT)</a:t>
            </a:r>
          </a:p>
        </p:txBody>
      </p:sp>
      <p:graphicFrame>
        <p:nvGraphicFramePr>
          <p:cNvPr id="13" name="Table 12"/>
          <p:cNvGraphicFramePr>
            <a:graphicFrameLocks noGrp="1"/>
          </p:cNvGraphicFramePr>
          <p:nvPr/>
        </p:nvGraphicFramePr>
        <p:xfrm>
          <a:off x="152400" y="1238250"/>
          <a:ext cx="11887208" cy="1485896"/>
        </p:xfrm>
        <a:graphic>
          <a:graphicData uri="http://schemas.openxmlformats.org/drawingml/2006/table">
            <a:tbl>
              <a:tblPr>
                <a:tableStyleId>{5C22544A-7EE6-4342-B048-85BDC9FD1C3A}</a:tableStyleId>
              </a:tblPr>
              <a:tblGrid>
                <a:gridCol w="1520472"/>
                <a:gridCol w="609808"/>
                <a:gridCol w="609808"/>
                <a:gridCol w="609808"/>
                <a:gridCol w="609808"/>
                <a:gridCol w="609808"/>
                <a:gridCol w="609808"/>
                <a:gridCol w="609808"/>
                <a:gridCol w="609808"/>
                <a:gridCol w="609808"/>
                <a:gridCol w="609808"/>
                <a:gridCol w="609808"/>
                <a:gridCol w="609808"/>
                <a:gridCol w="609808"/>
                <a:gridCol w="609808"/>
                <a:gridCol w="609808"/>
                <a:gridCol w="609808"/>
                <a:gridCol w="609808"/>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Dietary Formulation (US$ Mn)</a:t>
            </a:r>
          </a:p>
        </p:txBody>
      </p:sp>
      <p:graphicFrame>
        <p:nvGraphicFramePr>
          <p:cNvPr id="17" name="Table 16"/>
          <p:cNvGraphicFramePr>
            <a:graphicFrameLocks noGrp="1"/>
          </p:cNvGraphicFramePr>
          <p:nvPr/>
        </p:nvGraphicFramePr>
        <p:xfrm>
          <a:off x="152400" y="3324225"/>
          <a:ext cx="11887196" cy="1485896"/>
        </p:xfrm>
        <a:graphic>
          <a:graphicData uri="http://schemas.openxmlformats.org/drawingml/2006/table">
            <a:tbl>
              <a:tblPr>
                <a:tableStyleId>{5C22544A-7EE6-4342-B048-85BDC9FD1C3A}</a:tableStyleId>
              </a:tblPr>
              <a:tblGrid>
                <a:gridCol w="1590585"/>
                <a:gridCol w="605683"/>
                <a:gridCol w="605683"/>
                <a:gridCol w="605683"/>
                <a:gridCol w="605683"/>
                <a:gridCol w="605683"/>
                <a:gridCol w="605683"/>
                <a:gridCol w="605683"/>
                <a:gridCol w="605683"/>
                <a:gridCol w="605683"/>
                <a:gridCol w="605683"/>
                <a:gridCol w="605683"/>
                <a:gridCol w="605683"/>
                <a:gridCol w="605683"/>
                <a:gridCol w="605683"/>
                <a:gridCol w="605683"/>
                <a:gridCol w="605683"/>
                <a:gridCol w="605683"/>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69549"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6704600" y="3923538"/>
            <a:ext cx="366712" cy="533400"/>
          </a:xfrm>
          <a:prstGeom prst="rect">
            <a:avLst/>
          </a:prstGeom>
        </p:spPr>
      </p:pic>
    </p:spTree>
  </p:cSld>
  <p:clrMapOvr>
    <a:masterClrMapping/>
  </p:clrMapOvr>
</p:sld>
</file>

<file path=ppt/slides/slide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Dietary Formulation,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1631154"/>
                <a:gridCol w="683736"/>
                <a:gridCol w="683736"/>
                <a:gridCol w="683736"/>
                <a:gridCol w="683736"/>
                <a:gridCol w="683736"/>
                <a:gridCol w="683736"/>
                <a:gridCol w="683736"/>
                <a:gridCol w="683736"/>
                <a:gridCol w="683736"/>
                <a:gridCol w="683736"/>
                <a:gridCol w="683736"/>
                <a:gridCol w="683736"/>
                <a:gridCol w="683736"/>
                <a:gridCol w="683736"/>
                <a:gridCol w="68373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1" cy="1238250"/>
        </p:xfrm>
        <a:graphic>
          <a:graphicData uri="http://schemas.openxmlformats.org/drawingml/2006/table">
            <a:tbl>
              <a:tblPr>
                <a:tableStyleId>{5C22544A-7EE6-4342-B048-85BDC9FD1C3A}</a:tableStyleId>
              </a:tblPr>
              <a:tblGrid>
                <a:gridCol w="1739911"/>
                <a:gridCol w="676486"/>
                <a:gridCol w="676486"/>
                <a:gridCol w="676486"/>
                <a:gridCol w="676486"/>
                <a:gridCol w="676486"/>
                <a:gridCol w="676486"/>
                <a:gridCol w="676486"/>
                <a:gridCol w="676486"/>
                <a:gridCol w="676486"/>
                <a:gridCol w="676486"/>
                <a:gridCol w="676486"/>
                <a:gridCol w="676486"/>
                <a:gridCol w="676486"/>
                <a:gridCol w="676486"/>
                <a:gridCol w="67648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24884"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779266" y="3552062"/>
            <a:ext cx="366712" cy="533400"/>
          </a:xfrm>
          <a:prstGeom prst="rect">
            <a:avLst/>
          </a:prstGeom>
        </p:spPr>
      </p:pic>
    </p:spTree>
  </p:cSld>
  <p:clrMapOvr>
    <a:masterClrMapping/>
  </p:clrMapOvr>
</p:sld>
</file>

<file path=ppt/slides/slide4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Nutritional Positioning</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Nutritional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Nutritional Positioning: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Nutritional Positioning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Nutritional Positioning</a:t>
            </a:r>
          </a:p>
        </p:txBody>
      </p:sp>
      <p:graphicFrame>
        <p:nvGraphicFramePr>
          <p:cNvPr id="16" name="Table 15"/>
          <p:cNvGraphicFramePr>
            <a:graphicFrameLocks noGrp="1"/>
          </p:cNvGraphicFramePr>
          <p:nvPr/>
        </p:nvGraphicFramePr>
        <p:xfrm>
          <a:off x="6181725" y="1238250"/>
          <a:ext cx="5857874" cy="2286003"/>
        </p:xfrm>
        <a:graphic>
          <a:graphicData uri="http://schemas.openxmlformats.org/drawingml/2006/table">
            <a:tbl>
              <a:tblPr>
                <a:tableStyleId>{5C22544A-7EE6-4342-B048-85BDC9FD1C3A}</a:tableStyleId>
              </a:tblPr>
              <a:tblGrid>
                <a:gridCol w="2534448"/>
                <a:gridCol w="835498"/>
                <a:gridCol w="835498"/>
                <a:gridCol w="1055144"/>
                <a:gridCol w="597286"/>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91411">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Nutritional Positioning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Nutritional Positioning</a:t>
            </a:r>
          </a:p>
        </p:txBody>
      </p:sp>
      <p:graphicFrame>
        <p:nvGraphicFramePr>
          <p:cNvPr id="23" name="Table 22"/>
          <p:cNvGraphicFramePr>
            <a:graphicFrameLocks noGrp="1"/>
          </p:cNvGraphicFramePr>
          <p:nvPr/>
        </p:nvGraphicFramePr>
        <p:xfrm>
          <a:off x="6181725" y="4124325"/>
          <a:ext cx="5857874" cy="2286003"/>
        </p:xfrm>
        <a:graphic>
          <a:graphicData uri="http://schemas.openxmlformats.org/drawingml/2006/table">
            <a:tbl>
              <a:tblPr>
                <a:tableStyleId>{5C22544A-7EE6-4342-B048-85BDC9FD1C3A}</a:tableStyleId>
              </a:tblPr>
              <a:tblGrid>
                <a:gridCol w="2534448"/>
                <a:gridCol w="835498"/>
                <a:gridCol w="835498"/>
                <a:gridCol w="1055144"/>
                <a:gridCol w="597286"/>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91411">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191196" y="2237614"/>
            <a:ext cx="366712" cy="533400"/>
          </a:xfrm>
          <a:prstGeom prst="rect">
            <a:avLst/>
          </a:prstGeom>
        </p:spPr>
      </p:pic>
      <p:pic>
        <p:nvPicPr>
          <p:cNvPr id="28" name="Picture 27" descr="lock.png"/>
          <p:cNvPicPr>
            <a:picLocks noChangeAspect="1"/>
          </p:cNvPicPr>
          <p:nvPr/>
        </p:nvPicPr>
        <p:blipFill>
          <a:blip r:embed="rId6"/>
          <a:stretch>
            <a:fillRect/>
          </a:stretch>
        </p:blipFill>
        <p:spPr>
          <a:xfrm>
            <a:off x="3100230" y="5216754"/>
            <a:ext cx="252890" cy="367840"/>
          </a:xfrm>
          <a:prstGeom prst="rect">
            <a:avLst/>
          </a:prstGeom>
        </p:spPr>
      </p:pic>
      <p:pic>
        <p:nvPicPr>
          <p:cNvPr id="29" name="Picture 28" descr="lock.png"/>
          <p:cNvPicPr>
            <a:picLocks noChangeAspect="1"/>
          </p:cNvPicPr>
          <p:nvPr/>
        </p:nvPicPr>
        <p:blipFill>
          <a:blip r:embed="rId6"/>
          <a:stretch>
            <a:fillRect/>
          </a:stretch>
        </p:blipFill>
        <p:spPr>
          <a:xfrm>
            <a:off x="10191196" y="5123689"/>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Nutritional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Nutritional Positioning,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Nutritional Positioning (MT)</a:t>
            </a:r>
          </a:p>
        </p:txBody>
      </p:sp>
      <p:graphicFrame>
        <p:nvGraphicFramePr>
          <p:cNvPr id="13" name="Table 12"/>
          <p:cNvGraphicFramePr>
            <a:graphicFrameLocks noGrp="1"/>
          </p:cNvGraphicFramePr>
          <p:nvPr/>
        </p:nvGraphicFramePr>
        <p:xfrm>
          <a:off x="152400" y="1238250"/>
          <a:ext cx="11887199" cy="2219326"/>
        </p:xfrm>
        <a:graphic>
          <a:graphicData uri="http://schemas.openxmlformats.org/drawingml/2006/table">
            <a:tbl>
              <a:tblPr>
                <a:tableStyleId>{5C22544A-7EE6-4342-B048-85BDC9FD1C3A}</a:tableStyleId>
              </a:tblPr>
              <a:tblGrid>
                <a:gridCol w="2329934"/>
                <a:gridCol w="563999"/>
                <a:gridCol w="563999"/>
                <a:gridCol w="563999"/>
                <a:gridCol w="563999"/>
                <a:gridCol w="563999"/>
                <a:gridCol w="563999"/>
                <a:gridCol w="563999"/>
                <a:gridCol w="563999"/>
                <a:gridCol w="563999"/>
                <a:gridCol w="563999"/>
                <a:gridCol w="563999"/>
                <a:gridCol w="563999"/>
                <a:gridCol w="563999"/>
                <a:gridCol w="563999"/>
                <a:gridCol w="563999"/>
                <a:gridCol w="563999"/>
                <a:gridCol w="533281"/>
              </a:tblGrid>
              <a:tr h="246126">
                <a:tc>
                  <a:txBody>
                    <a:bodyPr wrap="none"/>
                    <a:lstStyle/>
                    <a:p>
                      <a:pPr algn="l"/>
                      <a:r>
                        <a:rPr sz="1100" b="1">
                          <a:solidFill>
                            <a:srgbClr val="0B2E4A"/>
                          </a:solidFill>
                          <a:latin typeface="Calibri"/>
                        </a:rPr>
                        <a:t>Nutritional Positioning</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6650">
                <a:tc>
                  <a:txBody>
                    <a:bodyPr wrap="none"/>
                    <a:lstStyle/>
                    <a:p>
                      <a:pPr algn="l"/>
                      <a:r>
                        <a:rPr sz="1100" b="1">
                          <a:solidFill>
                            <a:srgbClr val="2E2E2E"/>
                          </a:solidFill>
                          <a:latin typeface="Calibri"/>
                        </a:rPr>
                        <a:t>Standard / indulgent</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Protein-enriched</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Fibre-enriched</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Reduced-sugar</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No-added-sugar</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Reduced-fat</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Other nutrition-focused formulations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Nutritional Positioning (US$ Mn)</a:t>
            </a:r>
          </a:p>
        </p:txBody>
      </p:sp>
      <p:graphicFrame>
        <p:nvGraphicFramePr>
          <p:cNvPr id="17" name="Table 16"/>
          <p:cNvGraphicFramePr>
            <a:graphicFrameLocks noGrp="1"/>
          </p:cNvGraphicFramePr>
          <p:nvPr/>
        </p:nvGraphicFramePr>
        <p:xfrm>
          <a:off x="152400" y="4057650"/>
          <a:ext cx="11887203" cy="2219326"/>
        </p:xfrm>
        <a:graphic>
          <a:graphicData uri="http://schemas.openxmlformats.org/drawingml/2006/table">
            <a:tbl>
              <a:tblPr>
                <a:tableStyleId>{5C22544A-7EE6-4342-B048-85BDC9FD1C3A}</a:tableStyleId>
              </a:tblPr>
              <a:tblGrid>
                <a:gridCol w="2374428"/>
                <a:gridCol w="559575"/>
                <a:gridCol w="559575"/>
                <a:gridCol w="559575"/>
                <a:gridCol w="559575"/>
                <a:gridCol w="559575"/>
                <a:gridCol w="559575"/>
                <a:gridCol w="559575"/>
                <a:gridCol w="559575"/>
                <a:gridCol w="559575"/>
                <a:gridCol w="559575"/>
                <a:gridCol w="559575"/>
                <a:gridCol w="559575"/>
                <a:gridCol w="559575"/>
                <a:gridCol w="559575"/>
                <a:gridCol w="559575"/>
                <a:gridCol w="559575"/>
                <a:gridCol w="559575"/>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6286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74276" y="2204276"/>
            <a:ext cx="366712" cy="533400"/>
          </a:xfrm>
          <a:prstGeom prst="rect">
            <a:avLst/>
          </a:prstGeom>
        </p:spPr>
      </p:pic>
      <p:pic>
        <p:nvPicPr>
          <p:cNvPr id="21" name="Picture 20" descr="lock.png"/>
          <p:cNvPicPr>
            <a:picLocks noChangeAspect="1"/>
          </p:cNvPicPr>
          <p:nvPr/>
        </p:nvPicPr>
        <p:blipFill>
          <a:blip r:embed="rId4"/>
          <a:stretch>
            <a:fillRect/>
          </a:stretch>
        </p:blipFill>
        <p:spPr>
          <a:xfrm>
            <a:off x="7096525" y="5023676"/>
            <a:ext cx="366712" cy="533400"/>
          </a:xfrm>
          <a:prstGeom prst="rect">
            <a:avLst/>
          </a:prstGeom>
        </p:spPr>
      </p:pic>
    </p:spTree>
  </p:cSld>
  <p:clrMapOvr>
    <a:masterClrMapping/>
  </p:clrMapOvr>
</p:sld>
</file>

<file path=ppt/slides/slide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Nutritional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Nutritional Positioning,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81000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5791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98768" y="2080450"/>
            <a:ext cx="366712" cy="533400"/>
          </a:xfrm>
          <a:prstGeom prst="rect">
            <a:avLst/>
          </a:prstGeom>
        </p:spPr>
      </p:pic>
      <p:pic>
        <p:nvPicPr>
          <p:cNvPr id="21" name="Picture 20" descr="lock.png"/>
          <p:cNvPicPr>
            <a:picLocks noChangeAspect="1"/>
          </p:cNvPicPr>
          <p:nvPr/>
        </p:nvPicPr>
        <p:blipFill>
          <a:blip r:embed="rId4"/>
          <a:stretch>
            <a:fillRect/>
          </a:stretch>
        </p:blipFill>
        <p:spPr>
          <a:xfrm>
            <a:off x="7198768" y="4652200"/>
            <a:ext cx="366712" cy="533400"/>
          </a:xfrm>
          <a:prstGeom prst="rect">
            <a:avLst/>
          </a:prstGeom>
        </p:spPr>
      </p:pic>
    </p:spTree>
  </p:cSld>
  <p:clrMapOvr>
    <a:masterClrMapping/>
  </p:clrMapOvr>
</p:sld>
</file>

<file path=ppt/slides/slide4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Recipe and Ingredient Claims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Recipe and Ingredient Claims: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Recipe and Ingredient Claims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Recipe and Ingredient Claims</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1879930"/>
                <a:gridCol w="994486"/>
                <a:gridCol w="994486"/>
                <a:gridCol w="994486"/>
                <a:gridCol w="994486"/>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Recipe and Ingredient Claims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Recipe and Ingredient Claims</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1879930"/>
                <a:gridCol w="994486"/>
                <a:gridCol w="994486"/>
                <a:gridCol w="994486"/>
                <a:gridCol w="994486"/>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863937"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100230" y="5216754"/>
            <a:ext cx="252890" cy="367840"/>
          </a:xfrm>
          <a:prstGeom prst="rect">
            <a:avLst/>
          </a:prstGeom>
        </p:spPr>
      </p:pic>
      <p:pic>
        <p:nvPicPr>
          <p:cNvPr id="29" name="Picture 28" descr="lock.png"/>
          <p:cNvPicPr>
            <a:picLocks noChangeAspect="1"/>
          </p:cNvPicPr>
          <p:nvPr/>
        </p:nvPicPr>
        <p:blipFill>
          <a:blip r:embed="rId6"/>
          <a:stretch>
            <a:fillRect/>
          </a:stretch>
        </p:blipFill>
        <p:spPr>
          <a:xfrm>
            <a:off x="9863937"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Recipe and Ingredient Claims,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Recipe and Ingredient Claims (MT)</a:t>
            </a:r>
          </a:p>
        </p:txBody>
      </p:sp>
      <p:graphicFrame>
        <p:nvGraphicFramePr>
          <p:cNvPr id="13" name="Table 12"/>
          <p:cNvGraphicFramePr>
            <a:graphicFrameLocks noGrp="1"/>
          </p:cNvGraphicFramePr>
          <p:nvPr/>
        </p:nvGraphicFramePr>
        <p:xfrm>
          <a:off x="152400" y="1238250"/>
          <a:ext cx="11887201" cy="1238250"/>
        </p:xfrm>
        <a:graphic>
          <a:graphicData uri="http://schemas.openxmlformats.org/drawingml/2006/table">
            <a:tbl>
              <a:tblPr>
                <a:tableStyleId>{5C22544A-7EE6-4342-B048-85BDC9FD1C3A}</a:tableStyleId>
              </a:tblPr>
              <a:tblGrid>
                <a:gridCol w="1868557"/>
                <a:gridCol w="589332"/>
                <a:gridCol w="589332"/>
                <a:gridCol w="589332"/>
                <a:gridCol w="589332"/>
                <a:gridCol w="589332"/>
                <a:gridCol w="589332"/>
                <a:gridCol w="589332"/>
                <a:gridCol w="589332"/>
                <a:gridCol w="589332"/>
                <a:gridCol w="589332"/>
                <a:gridCol w="589332"/>
                <a:gridCol w="589332"/>
                <a:gridCol w="589332"/>
                <a:gridCol w="589332"/>
                <a:gridCol w="589332"/>
                <a:gridCol w="589332"/>
                <a:gridCol w="589332"/>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Recipe and Ingredient Claims (US$ Mn)</a:t>
            </a:r>
          </a:p>
        </p:txBody>
      </p:sp>
      <p:graphicFrame>
        <p:nvGraphicFramePr>
          <p:cNvPr id="17" name="Table 16"/>
          <p:cNvGraphicFramePr>
            <a:graphicFrameLocks noGrp="1"/>
          </p:cNvGraphicFramePr>
          <p:nvPr/>
        </p:nvGraphicFramePr>
        <p:xfrm>
          <a:off x="152400" y="3076575"/>
          <a:ext cx="11887197" cy="1238250"/>
        </p:xfrm>
        <a:graphic>
          <a:graphicData uri="http://schemas.openxmlformats.org/drawingml/2006/table">
            <a:tbl>
              <a:tblPr>
                <a:tableStyleId>{5C22544A-7EE6-4342-B048-85BDC9FD1C3A}</a:tableStyleId>
              </a:tblPr>
              <a:tblGrid>
                <a:gridCol w="1951700"/>
                <a:gridCol w="584441"/>
                <a:gridCol w="584441"/>
                <a:gridCol w="584441"/>
                <a:gridCol w="584441"/>
                <a:gridCol w="584441"/>
                <a:gridCol w="584441"/>
                <a:gridCol w="584441"/>
                <a:gridCol w="584441"/>
                <a:gridCol w="584441"/>
                <a:gridCol w="584441"/>
                <a:gridCol w="584441"/>
                <a:gridCol w="584441"/>
                <a:gridCol w="584441"/>
                <a:gridCol w="584441"/>
                <a:gridCol w="584441"/>
                <a:gridCol w="584441"/>
                <a:gridCol w="584441"/>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43588"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885158" y="3552062"/>
            <a:ext cx="366712" cy="533400"/>
          </a:xfrm>
          <a:prstGeom prst="rect">
            <a:avLst/>
          </a:prstGeom>
        </p:spPr>
      </p:pic>
    </p:spTree>
  </p:cSld>
  <p:clrMapOvr>
    <a:masterClrMapping/>
  </p:clrMapOvr>
</p:sld>
</file>

<file path=ppt/slides/slide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Recipe and Ingredient Claims,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73273"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973273" y="3180587"/>
            <a:ext cx="366712" cy="533400"/>
          </a:xfrm>
          <a:prstGeom prst="rect">
            <a:avLst/>
          </a:prstGeom>
        </p:spPr>
      </p:pic>
    </p:spTree>
  </p:cSld>
  <p:clrMapOvr>
    <a:masterClrMapping/>
  </p:clrMapOvr>
</p:sld>
</file>

<file path=ppt/slides/slide44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Structure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Structure</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350200"/>
                <a:gridCol w="1126919"/>
                <a:gridCol w="1126919"/>
                <a:gridCol w="1126919"/>
                <a:gridCol w="112691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Structure</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1350200"/>
                <a:gridCol w="1126919"/>
                <a:gridCol w="1126919"/>
                <a:gridCol w="1126919"/>
                <a:gridCol w="112691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599073"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599073"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Product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Product Structure (MT)</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1256654"/>
                <a:gridCol w="625326"/>
                <a:gridCol w="625326"/>
                <a:gridCol w="625326"/>
                <a:gridCol w="625326"/>
                <a:gridCol w="625326"/>
                <a:gridCol w="625326"/>
                <a:gridCol w="625326"/>
                <a:gridCol w="625326"/>
                <a:gridCol w="625326"/>
                <a:gridCol w="625326"/>
                <a:gridCol w="625326"/>
                <a:gridCol w="625326"/>
                <a:gridCol w="625326"/>
                <a:gridCol w="625326"/>
                <a:gridCol w="625326"/>
                <a:gridCol w="625326"/>
                <a:gridCol w="625326"/>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Structure (US$ Mn)</a:t>
            </a:r>
          </a:p>
        </p:txBody>
      </p:sp>
      <p:graphicFrame>
        <p:nvGraphicFramePr>
          <p:cNvPr id="17" name="Table 16"/>
          <p:cNvGraphicFramePr>
            <a:graphicFrameLocks noGrp="1"/>
          </p:cNvGraphicFramePr>
          <p:nvPr/>
        </p:nvGraphicFramePr>
        <p:xfrm>
          <a:off x="152400" y="2828925"/>
          <a:ext cx="11887206" cy="990600"/>
        </p:xfrm>
        <a:graphic>
          <a:graphicData uri="http://schemas.openxmlformats.org/drawingml/2006/table">
            <a:tbl>
              <a:tblPr>
                <a:tableStyleId>{5C22544A-7EE6-4342-B048-85BDC9FD1C3A}</a:tableStyleId>
              </a:tblPr>
              <a:tblGrid>
                <a:gridCol w="1316147"/>
                <a:gridCol w="621827"/>
                <a:gridCol w="621827"/>
                <a:gridCol w="621827"/>
                <a:gridCol w="621827"/>
                <a:gridCol w="621827"/>
                <a:gridCol w="621827"/>
                <a:gridCol w="621827"/>
                <a:gridCol w="621827"/>
                <a:gridCol w="621827"/>
                <a:gridCol w="621827"/>
                <a:gridCol w="621827"/>
                <a:gridCol w="621827"/>
                <a:gridCol w="621827"/>
                <a:gridCol w="621827"/>
                <a:gridCol w="621827"/>
                <a:gridCol w="621827"/>
                <a:gridCol w="621827"/>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37635"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567386" y="3180587"/>
            <a:ext cx="366712" cy="533400"/>
          </a:xfrm>
          <a:prstGeom prst="rect">
            <a:avLst/>
          </a:prstGeom>
        </p:spPr>
      </p:pic>
    </p:spTree>
  </p:cSld>
  <p:clrMapOvr>
    <a:masterClrMapping/>
  </p:clrMapOvr>
</p:sld>
</file>

<file path=ppt/slides/slide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Product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9641"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649641" y="2825115"/>
            <a:ext cx="330041" cy="480060"/>
          </a:xfrm>
          <a:prstGeom prst="rect">
            <a:avLst/>
          </a:prstGeom>
        </p:spPr>
      </p:pic>
    </p:spTree>
  </p:cSld>
  <p:clrMapOvr>
    <a:masterClrMapping/>
  </p:clrMapOvr>
</p:sld>
</file>

<file path=ppt/slides/slide44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Surface Finish</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Surface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Surface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Surface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Surface Finish</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1693762"/>
                <a:gridCol w="1041028"/>
                <a:gridCol w="1041028"/>
                <a:gridCol w="1041028"/>
                <a:gridCol w="104102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339979">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9979">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9979">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Surface Finish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Surface Finish</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1693762"/>
                <a:gridCol w="1041028"/>
                <a:gridCol w="1041028"/>
                <a:gridCol w="1041028"/>
                <a:gridCol w="104102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339979">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9979">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9979">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70853"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70853"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Surface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Surface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Surface Finish (MT)</a:t>
            </a:r>
          </a:p>
        </p:txBody>
      </p:sp>
      <p:graphicFrame>
        <p:nvGraphicFramePr>
          <p:cNvPr id="13" name="Table 12"/>
          <p:cNvGraphicFramePr>
            <a:graphicFrameLocks noGrp="1"/>
          </p:cNvGraphicFramePr>
          <p:nvPr/>
        </p:nvGraphicFramePr>
        <p:xfrm>
          <a:off x="152400" y="1238250"/>
          <a:ext cx="11887197" cy="1971675"/>
        </p:xfrm>
        <a:graphic>
          <a:graphicData uri="http://schemas.openxmlformats.org/drawingml/2006/table">
            <a:tbl>
              <a:tblPr>
                <a:tableStyleId>{5C22544A-7EE6-4342-B048-85BDC9FD1C3A}</a:tableStyleId>
              </a:tblPr>
              <a:tblGrid>
                <a:gridCol w="1644255"/>
                <a:gridCol w="602526"/>
                <a:gridCol w="602526"/>
                <a:gridCol w="602526"/>
                <a:gridCol w="602526"/>
                <a:gridCol w="602526"/>
                <a:gridCol w="602526"/>
                <a:gridCol w="602526"/>
                <a:gridCol w="602526"/>
                <a:gridCol w="602526"/>
                <a:gridCol w="602526"/>
                <a:gridCol w="602526"/>
                <a:gridCol w="602526"/>
                <a:gridCol w="602526"/>
                <a:gridCol w="602526"/>
                <a:gridCol w="602526"/>
                <a:gridCol w="602526"/>
                <a:gridCol w="602526"/>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Surface Finish (US$ Mn)</a:t>
            </a:r>
          </a:p>
        </p:txBody>
      </p:sp>
      <p:graphicFrame>
        <p:nvGraphicFramePr>
          <p:cNvPr id="17" name="Table 16"/>
          <p:cNvGraphicFramePr>
            <a:graphicFrameLocks noGrp="1"/>
          </p:cNvGraphicFramePr>
          <p:nvPr/>
        </p:nvGraphicFramePr>
        <p:xfrm>
          <a:off x="152400" y="3810000"/>
          <a:ext cx="11887204" cy="1971675"/>
        </p:xfrm>
        <a:graphic>
          <a:graphicData uri="http://schemas.openxmlformats.org/drawingml/2006/table">
            <a:tbl>
              <a:tblPr>
                <a:tableStyleId>{5C22544A-7EE6-4342-B048-85BDC9FD1C3A}</a:tableStyleId>
              </a:tblPr>
              <a:tblGrid>
                <a:gridCol w="1719130"/>
                <a:gridCol w="598122"/>
                <a:gridCol w="598122"/>
                <a:gridCol w="598122"/>
                <a:gridCol w="598122"/>
                <a:gridCol w="598122"/>
                <a:gridCol w="598122"/>
                <a:gridCol w="598122"/>
                <a:gridCol w="598122"/>
                <a:gridCol w="598122"/>
                <a:gridCol w="598122"/>
                <a:gridCol w="598122"/>
                <a:gridCol w="598122"/>
                <a:gridCol w="598122"/>
                <a:gridCol w="598122"/>
                <a:gridCol w="598122"/>
                <a:gridCol w="598122"/>
                <a:gridCol w="598122"/>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5791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31436" y="2080450"/>
            <a:ext cx="366712" cy="533400"/>
          </a:xfrm>
          <a:prstGeom prst="rect">
            <a:avLst/>
          </a:prstGeom>
        </p:spPr>
      </p:pic>
      <p:pic>
        <p:nvPicPr>
          <p:cNvPr id="21" name="Picture 20" descr="lock.png"/>
          <p:cNvPicPr>
            <a:picLocks noChangeAspect="1"/>
          </p:cNvPicPr>
          <p:nvPr/>
        </p:nvPicPr>
        <p:blipFill>
          <a:blip r:embed="rId4"/>
          <a:stretch>
            <a:fillRect/>
          </a:stretch>
        </p:blipFill>
        <p:spPr>
          <a:xfrm>
            <a:off x="6768877" y="4652200"/>
            <a:ext cx="366712" cy="533399"/>
          </a:xfrm>
          <a:prstGeom prst="rect">
            <a:avLst/>
          </a:prstGeom>
        </p:spPr>
      </p:pic>
    </p:spTree>
  </p:cSld>
  <p:clrMapOvr>
    <a:masterClrMapping/>
  </p:clrMapOvr>
</p:sld>
</file>

<file path=ppt/slides/slide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Surface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Surface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724028"/>
        </p:xfrm>
        <a:graphic>
          <a:graphicData uri="http://schemas.openxmlformats.org/drawingml/2006/table">
            <a:tbl>
              <a:tblPr>
                <a:tableStyleId>{5C22544A-7EE6-4342-B048-85BDC9FD1C3A}</a:tableStyleId>
              </a:tblPr>
              <a:tblGrid>
                <a:gridCol w="1762417"/>
                <a:gridCol w="674986"/>
                <a:gridCol w="674986"/>
                <a:gridCol w="674986"/>
                <a:gridCol w="674986"/>
                <a:gridCol w="674986"/>
                <a:gridCol w="674986"/>
                <a:gridCol w="674986"/>
                <a:gridCol w="674986"/>
                <a:gridCol w="674986"/>
                <a:gridCol w="674986"/>
                <a:gridCol w="674986"/>
                <a:gridCol w="674986"/>
                <a:gridCol w="674986"/>
                <a:gridCol w="674986"/>
                <a:gridCol w="674986"/>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562350"/>
          <a:ext cx="11887193" cy="1724028"/>
        </p:xfrm>
        <a:graphic>
          <a:graphicData uri="http://schemas.openxmlformats.org/drawingml/2006/table">
            <a:tbl>
              <a:tblPr>
                <a:tableStyleId>{5C22544A-7EE6-4342-B048-85BDC9FD1C3A}</a:tableStyleId>
              </a:tblPr>
              <a:tblGrid>
                <a:gridCol w="1878323"/>
                <a:gridCol w="667258"/>
                <a:gridCol w="667258"/>
                <a:gridCol w="667258"/>
                <a:gridCol w="667258"/>
                <a:gridCol w="667258"/>
                <a:gridCol w="667258"/>
                <a:gridCol w="667258"/>
                <a:gridCol w="667258"/>
                <a:gridCol w="667258"/>
                <a:gridCol w="667258"/>
                <a:gridCol w="667258"/>
                <a:gridCol w="667258"/>
                <a:gridCol w="667258"/>
                <a:gridCol w="667258"/>
                <a:gridCol w="66725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295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90522" y="1956627"/>
            <a:ext cx="366712" cy="533400"/>
          </a:xfrm>
          <a:prstGeom prst="rect">
            <a:avLst/>
          </a:prstGeom>
        </p:spPr>
      </p:pic>
      <p:pic>
        <p:nvPicPr>
          <p:cNvPr id="21" name="Picture 20" descr="lock.png"/>
          <p:cNvPicPr>
            <a:picLocks noChangeAspect="1"/>
          </p:cNvPicPr>
          <p:nvPr/>
        </p:nvPicPr>
        <p:blipFill>
          <a:blip r:embed="rId4"/>
          <a:stretch>
            <a:fillRect/>
          </a:stretch>
        </p:blipFill>
        <p:spPr>
          <a:xfrm>
            <a:off x="6848467" y="4280727"/>
            <a:ext cx="366712" cy="533400"/>
          </a:xfrm>
          <a:prstGeom prst="rect">
            <a:avLst/>
          </a:prstGeom>
        </p:spPr>
      </p:pic>
    </p:spTree>
  </p:cSld>
  <p:clrMapOvr>
    <a:masterClrMapping/>
  </p:clrMapOvr>
</p:sld>
</file>

<file path=ppt/slides/slide44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Individual Muffin Size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Individual Muffin Size: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Individual Muffin Size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Individual Muffin Size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332167"/>
                <a:gridCol w="886351"/>
                <a:gridCol w="886351"/>
                <a:gridCol w="1119366"/>
                <a:gridCol w="633640"/>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Individual Muffin Size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Individual Muffin Size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332167"/>
                <a:gridCol w="886351"/>
                <a:gridCol w="886351"/>
                <a:gridCol w="1119366"/>
                <a:gridCol w="633640"/>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090056"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100230" y="5216754"/>
            <a:ext cx="252890" cy="367840"/>
          </a:xfrm>
          <a:prstGeom prst="rect">
            <a:avLst/>
          </a:prstGeom>
        </p:spPr>
      </p:pic>
      <p:pic>
        <p:nvPicPr>
          <p:cNvPr id="29" name="Picture 28" descr="lock.png"/>
          <p:cNvPicPr>
            <a:picLocks noChangeAspect="1"/>
          </p:cNvPicPr>
          <p:nvPr/>
        </p:nvPicPr>
        <p:blipFill>
          <a:blip r:embed="rId6"/>
          <a:stretch>
            <a:fillRect/>
          </a:stretch>
        </p:blipFill>
        <p:spPr>
          <a:xfrm>
            <a:off x="10090056"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Individual Muffin Size,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Individual Muffin Size (MT)</a:t>
            </a:r>
          </a:p>
        </p:txBody>
      </p:sp>
      <p:graphicFrame>
        <p:nvGraphicFramePr>
          <p:cNvPr id="13" name="Table 12"/>
          <p:cNvGraphicFramePr>
            <a:graphicFrameLocks noGrp="1"/>
          </p:cNvGraphicFramePr>
          <p:nvPr/>
        </p:nvGraphicFramePr>
        <p:xfrm>
          <a:off x="152400" y="1238250"/>
          <a:ext cx="11887199" cy="1676402"/>
        </p:xfrm>
        <a:graphic>
          <a:graphicData uri="http://schemas.openxmlformats.org/drawingml/2006/table">
            <a:tbl>
              <a:tblPr>
                <a:tableStyleId>{5C22544A-7EE6-4342-B048-85BDC9FD1C3A}</a:tableStyleId>
              </a:tblPr>
              <a:tblGrid>
                <a:gridCol w="2037493"/>
                <a:gridCol w="583049"/>
                <a:gridCol w="583049"/>
                <a:gridCol w="583049"/>
                <a:gridCol w="583049"/>
                <a:gridCol w="583049"/>
                <a:gridCol w="583049"/>
                <a:gridCol w="583049"/>
                <a:gridCol w="583049"/>
                <a:gridCol w="583049"/>
                <a:gridCol w="583049"/>
                <a:gridCol w="583049"/>
                <a:gridCol w="583049"/>
                <a:gridCol w="583049"/>
                <a:gridCol w="583049"/>
                <a:gridCol w="583049"/>
                <a:gridCol w="583049"/>
                <a:gridCol w="520922"/>
              </a:tblGrid>
              <a:tr h="438912">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7498">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98">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98">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98">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14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Individual Muffin Size (US$ Mn)</a:t>
            </a:r>
          </a:p>
        </p:txBody>
      </p:sp>
      <p:graphicFrame>
        <p:nvGraphicFramePr>
          <p:cNvPr id="17" name="Table 16"/>
          <p:cNvGraphicFramePr>
            <a:graphicFrameLocks noGrp="1"/>
          </p:cNvGraphicFramePr>
          <p:nvPr/>
        </p:nvGraphicFramePr>
        <p:xfrm>
          <a:off x="152400" y="3514725"/>
          <a:ext cx="11887200" cy="1485896"/>
        </p:xfrm>
        <a:graphic>
          <a:graphicData uri="http://schemas.openxmlformats.org/drawingml/2006/table">
            <a:tbl>
              <a:tblPr>
                <a:tableStyleId>{5C22544A-7EE6-4342-B048-85BDC9FD1C3A}</a:tableStyleId>
              </a:tblPr>
              <a:tblGrid>
                <a:gridCol w="2115600"/>
                <a:gridCol w="574800"/>
                <a:gridCol w="574800"/>
                <a:gridCol w="574800"/>
                <a:gridCol w="574800"/>
                <a:gridCol w="574800"/>
                <a:gridCol w="574800"/>
                <a:gridCol w="574800"/>
                <a:gridCol w="574800"/>
                <a:gridCol w="574800"/>
                <a:gridCol w="574800"/>
                <a:gridCol w="574800"/>
                <a:gridCol w="574800"/>
                <a:gridCol w="574800"/>
                <a:gridCol w="574800"/>
                <a:gridCol w="574800"/>
                <a:gridCol w="574800"/>
                <a:gridCol w="574800"/>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5010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28055" y="2029206"/>
            <a:ext cx="366712" cy="533400"/>
          </a:xfrm>
          <a:prstGeom prst="rect">
            <a:avLst/>
          </a:prstGeom>
        </p:spPr>
      </p:pic>
      <p:pic>
        <p:nvPicPr>
          <p:cNvPr id="21" name="Picture 20" descr="lock.png"/>
          <p:cNvPicPr>
            <a:picLocks noChangeAspect="1"/>
          </p:cNvPicPr>
          <p:nvPr/>
        </p:nvPicPr>
        <p:blipFill>
          <a:blip r:embed="rId4"/>
          <a:stretch>
            <a:fillRect/>
          </a:stretch>
        </p:blipFill>
        <p:spPr>
          <a:xfrm>
            <a:off x="6967110" y="4114038"/>
            <a:ext cx="366712" cy="533400"/>
          </a:xfrm>
          <a:prstGeom prst="rect">
            <a:avLst/>
          </a:prstGeom>
        </p:spPr>
      </p:pic>
    </p:spTree>
  </p:cSld>
  <p:clrMapOvr>
    <a:masterClrMapping/>
  </p:clrMapOvr>
</p:sld>
</file>

<file path=ppt/slides/slide4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Individual Muffin Size,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60904"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7060904" y="3552062"/>
            <a:ext cx="366712" cy="533400"/>
          </a:xfrm>
          <a:prstGeom prst="rect">
            <a:avLst/>
          </a:prstGeom>
        </p:spPr>
      </p:pic>
    </p:spTree>
  </p:cSld>
  <p:clrMapOvr>
    <a:masterClrMapping/>
  </p:clrMapOvr>
</p:sld>
</file>

<file path=ppt/slides/slide45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Storage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Storage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Storage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Storage Format</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1222690"/>
                <a:gridCol w="1158796"/>
                <a:gridCol w="1158796"/>
                <a:gridCol w="1158796"/>
                <a:gridCol w="1158796"/>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Storage Format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Storage Format</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1222690"/>
                <a:gridCol w="1158796"/>
                <a:gridCol w="1158796"/>
                <a:gridCol w="1158796"/>
                <a:gridCol w="1158796"/>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535317"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535317"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Storage Format,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Storage Format (MT)</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120814"/>
                <a:gridCol w="633317"/>
                <a:gridCol w="633317"/>
                <a:gridCol w="633317"/>
                <a:gridCol w="633317"/>
                <a:gridCol w="633317"/>
                <a:gridCol w="633317"/>
                <a:gridCol w="633317"/>
                <a:gridCol w="633317"/>
                <a:gridCol w="633317"/>
                <a:gridCol w="633317"/>
                <a:gridCol w="633317"/>
                <a:gridCol w="633317"/>
                <a:gridCol w="633317"/>
                <a:gridCol w="633317"/>
                <a:gridCol w="633317"/>
                <a:gridCol w="633317"/>
                <a:gridCol w="63331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Storage Format (US$ Mn)</a:t>
            </a:r>
          </a:p>
        </p:txBody>
      </p:sp>
      <p:graphicFrame>
        <p:nvGraphicFramePr>
          <p:cNvPr id="17" name="Table 16"/>
          <p:cNvGraphicFramePr>
            <a:graphicFrameLocks noGrp="1"/>
          </p:cNvGraphicFramePr>
          <p:nvPr/>
        </p:nvGraphicFramePr>
        <p:xfrm>
          <a:off x="152400" y="3076575"/>
          <a:ext cx="11887204" cy="1238250"/>
        </p:xfrm>
        <a:graphic>
          <a:graphicData uri="http://schemas.openxmlformats.org/drawingml/2006/table">
            <a:tbl>
              <a:tblPr>
                <a:tableStyleId>{5C22544A-7EE6-4342-B048-85BDC9FD1C3A}</a:tableStyleId>
              </a:tblPr>
              <a:tblGrid>
                <a:gridCol w="1174586"/>
                <a:gridCol w="630154"/>
                <a:gridCol w="630154"/>
                <a:gridCol w="630154"/>
                <a:gridCol w="630154"/>
                <a:gridCol w="630154"/>
                <a:gridCol w="630154"/>
                <a:gridCol w="630154"/>
                <a:gridCol w="630154"/>
                <a:gridCol w="630154"/>
                <a:gridCol w="630154"/>
                <a:gridCol w="630154"/>
                <a:gridCol w="630154"/>
                <a:gridCol w="630154"/>
                <a:gridCol w="630154"/>
                <a:gridCol w="630154"/>
                <a:gridCol w="630154"/>
                <a:gridCol w="630154"/>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69718"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496605" y="3552062"/>
            <a:ext cx="366712" cy="533400"/>
          </a:xfrm>
          <a:prstGeom prst="rect">
            <a:avLst/>
          </a:prstGeom>
        </p:spPr>
      </p:pic>
    </p:spTree>
  </p:cSld>
  <p:clrMapOvr>
    <a:masterClrMapping/>
  </p:clrMapOvr>
</p:sld>
</file>

<file path=ppt/slides/slide4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Storage Format,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54187"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554187" y="3180587"/>
            <a:ext cx="366712" cy="533400"/>
          </a:xfrm>
          <a:prstGeom prst="rect">
            <a:avLst/>
          </a:prstGeom>
        </p:spPr>
      </p:pic>
    </p:spTree>
  </p:cSld>
  <p:clrMapOvr>
    <a:masterClrMapping/>
  </p:clrMapOvr>
</p:sld>
</file>

<file path=ppt/slides/slide45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Shelf Life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Shelf Life: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Shelf Life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Shelf Life</a:t>
            </a:r>
          </a:p>
        </p:txBody>
      </p:sp>
      <p:graphicFrame>
        <p:nvGraphicFramePr>
          <p:cNvPr id="16" name="Table 15"/>
          <p:cNvGraphicFramePr>
            <a:graphicFrameLocks noGrp="1"/>
          </p:cNvGraphicFramePr>
          <p:nvPr/>
        </p:nvGraphicFramePr>
        <p:xfrm>
          <a:off x="6181725" y="1238250"/>
          <a:ext cx="5857877" cy="2285998"/>
        </p:xfrm>
        <a:graphic>
          <a:graphicData uri="http://schemas.openxmlformats.org/drawingml/2006/table">
            <a:tbl>
              <a:tblPr>
                <a:tableStyleId>{5C22544A-7EE6-4342-B048-85BDC9FD1C3A}</a:tableStyleId>
              </a:tblPr>
              <a:tblGrid>
                <a:gridCol w="1403925"/>
                <a:gridCol w="1113488"/>
                <a:gridCol w="1113488"/>
                <a:gridCol w="1113488"/>
                <a:gridCol w="1113488"/>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Shelf Life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Shelf Life</a:t>
            </a:r>
          </a:p>
        </p:txBody>
      </p:sp>
      <p:graphicFrame>
        <p:nvGraphicFramePr>
          <p:cNvPr id="23" name="Table 22"/>
          <p:cNvGraphicFramePr>
            <a:graphicFrameLocks noGrp="1"/>
          </p:cNvGraphicFramePr>
          <p:nvPr/>
        </p:nvGraphicFramePr>
        <p:xfrm>
          <a:off x="6181725" y="4124325"/>
          <a:ext cx="5857877" cy="2285998"/>
        </p:xfrm>
        <a:graphic>
          <a:graphicData uri="http://schemas.openxmlformats.org/drawingml/2006/table">
            <a:tbl>
              <a:tblPr>
                <a:tableStyleId>{5C22544A-7EE6-4342-B048-85BDC9FD1C3A}</a:tableStyleId>
              </a:tblPr>
              <a:tblGrid>
                <a:gridCol w="1403925"/>
                <a:gridCol w="1113488"/>
                <a:gridCol w="1113488"/>
                <a:gridCol w="1113488"/>
                <a:gridCol w="1113488"/>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25935"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25935"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Shelf Life,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Shelf Life (MT)</a:t>
            </a:r>
          </a:p>
        </p:txBody>
      </p:sp>
      <p:graphicFrame>
        <p:nvGraphicFramePr>
          <p:cNvPr id="13" name="Table 12"/>
          <p:cNvGraphicFramePr>
            <a:graphicFrameLocks noGrp="1"/>
          </p:cNvGraphicFramePr>
          <p:nvPr/>
        </p:nvGraphicFramePr>
        <p:xfrm>
          <a:off x="152400" y="1238250"/>
          <a:ext cx="11887204" cy="1485896"/>
        </p:xfrm>
        <a:graphic>
          <a:graphicData uri="http://schemas.openxmlformats.org/drawingml/2006/table">
            <a:tbl>
              <a:tblPr>
                <a:tableStyleId>{5C22544A-7EE6-4342-B048-85BDC9FD1C3A}</a:tableStyleId>
              </a:tblPr>
              <a:tblGrid>
                <a:gridCol w="1315142"/>
                <a:gridCol w="621886"/>
                <a:gridCol w="621886"/>
                <a:gridCol w="621886"/>
                <a:gridCol w="621886"/>
                <a:gridCol w="621886"/>
                <a:gridCol w="621886"/>
                <a:gridCol w="621886"/>
                <a:gridCol w="621886"/>
                <a:gridCol w="621886"/>
                <a:gridCol w="621886"/>
                <a:gridCol w="621886"/>
                <a:gridCol w="621886"/>
                <a:gridCol w="621886"/>
                <a:gridCol w="621886"/>
                <a:gridCol w="621886"/>
                <a:gridCol w="621886"/>
                <a:gridCol w="621886"/>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Shelf Life (US$ Mn)</a:t>
            </a:r>
          </a:p>
        </p:txBody>
      </p:sp>
      <p:graphicFrame>
        <p:nvGraphicFramePr>
          <p:cNvPr id="17" name="Table 16"/>
          <p:cNvGraphicFramePr>
            <a:graphicFrameLocks noGrp="1"/>
          </p:cNvGraphicFramePr>
          <p:nvPr/>
        </p:nvGraphicFramePr>
        <p:xfrm>
          <a:off x="152400" y="3324225"/>
          <a:ext cx="11887193" cy="1485896"/>
        </p:xfrm>
        <a:graphic>
          <a:graphicData uri="http://schemas.openxmlformats.org/drawingml/2006/table">
            <a:tbl>
              <a:tblPr>
                <a:tableStyleId>{5C22544A-7EE6-4342-B048-85BDC9FD1C3A}</a:tableStyleId>
              </a:tblPr>
              <a:tblGrid>
                <a:gridCol w="1377045"/>
                <a:gridCol w="618244"/>
                <a:gridCol w="618244"/>
                <a:gridCol w="618244"/>
                <a:gridCol w="618244"/>
                <a:gridCol w="618244"/>
                <a:gridCol w="618244"/>
                <a:gridCol w="618244"/>
                <a:gridCol w="618244"/>
                <a:gridCol w="618244"/>
                <a:gridCol w="618244"/>
                <a:gridCol w="618244"/>
                <a:gridCol w="618244"/>
                <a:gridCol w="618244"/>
                <a:gridCol w="618244"/>
                <a:gridCol w="618244"/>
                <a:gridCol w="618244"/>
                <a:gridCol w="618244"/>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66883"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6597829" y="3923538"/>
            <a:ext cx="366712" cy="533400"/>
          </a:xfrm>
          <a:prstGeom prst="rect">
            <a:avLst/>
          </a:prstGeom>
        </p:spPr>
      </p:pic>
    </p:spTree>
  </p:cSld>
  <p:clrMapOvr>
    <a:masterClrMapping/>
  </p:clrMapOvr>
</p:sld>
</file>

<file path=ppt/slides/slide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Shelf Life,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63944"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663944" y="3552062"/>
            <a:ext cx="366712" cy="533400"/>
          </a:xfrm>
          <a:prstGeom prst="rect">
            <a:avLst/>
          </a:prstGeom>
        </p:spPr>
      </p:pic>
    </p:spTree>
  </p:cSld>
  <p:clrMapOvr>
    <a:masterClrMapping/>
  </p:clrMapOvr>
</p:sld>
</file>

<file path=ppt/slides/slide46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Packaging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Packaging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Packaging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Packaging Format</a:t>
            </a:r>
          </a:p>
        </p:txBody>
      </p:sp>
      <p:graphicFrame>
        <p:nvGraphicFramePr>
          <p:cNvPr id="16" name="Table 15"/>
          <p:cNvGraphicFramePr>
            <a:graphicFrameLocks noGrp="1"/>
          </p:cNvGraphicFramePr>
          <p:nvPr/>
        </p:nvGraphicFramePr>
        <p:xfrm>
          <a:off x="6181725" y="1238250"/>
          <a:ext cx="5857873" cy="2285998"/>
        </p:xfrm>
        <a:graphic>
          <a:graphicData uri="http://schemas.openxmlformats.org/drawingml/2006/table">
            <a:tbl>
              <a:tblPr>
                <a:tableStyleId>{5C22544A-7EE6-4342-B048-85BDC9FD1C3A}</a:tableStyleId>
              </a:tblPr>
              <a:tblGrid>
                <a:gridCol w="1695617"/>
                <a:gridCol w="1040564"/>
                <a:gridCol w="1040564"/>
                <a:gridCol w="1040564"/>
                <a:gridCol w="1040564"/>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Packaging Format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Packaging Format</a:t>
            </a:r>
          </a:p>
        </p:txBody>
      </p:sp>
      <p:graphicFrame>
        <p:nvGraphicFramePr>
          <p:cNvPr id="23" name="Table 22"/>
          <p:cNvGraphicFramePr>
            <a:graphicFrameLocks noGrp="1"/>
          </p:cNvGraphicFramePr>
          <p:nvPr/>
        </p:nvGraphicFramePr>
        <p:xfrm>
          <a:off x="6181725" y="4124325"/>
          <a:ext cx="5857873" cy="2285998"/>
        </p:xfrm>
        <a:graphic>
          <a:graphicData uri="http://schemas.openxmlformats.org/drawingml/2006/table">
            <a:tbl>
              <a:tblPr>
                <a:tableStyleId>{5C22544A-7EE6-4342-B048-85BDC9FD1C3A}</a:tableStyleId>
              </a:tblPr>
              <a:tblGrid>
                <a:gridCol w="1695617"/>
                <a:gridCol w="1040564"/>
                <a:gridCol w="1040564"/>
                <a:gridCol w="1040564"/>
                <a:gridCol w="1040564"/>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71780"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71780"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Packaging Format,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Packaging Format (MT)</a:t>
            </a:r>
          </a:p>
        </p:txBody>
      </p:sp>
      <p:graphicFrame>
        <p:nvGraphicFramePr>
          <p:cNvPr id="13" name="Table 12"/>
          <p:cNvGraphicFramePr>
            <a:graphicFrameLocks noGrp="1"/>
          </p:cNvGraphicFramePr>
          <p:nvPr/>
        </p:nvGraphicFramePr>
        <p:xfrm>
          <a:off x="152400" y="1238250"/>
          <a:ext cx="11887205" cy="1485896"/>
        </p:xfrm>
        <a:graphic>
          <a:graphicData uri="http://schemas.openxmlformats.org/drawingml/2006/table">
            <a:tbl>
              <a:tblPr>
                <a:tableStyleId>{5C22544A-7EE6-4342-B048-85BDC9FD1C3A}</a:tableStyleId>
              </a:tblPr>
              <a:tblGrid>
                <a:gridCol w="1646439"/>
                <a:gridCol w="602398"/>
                <a:gridCol w="602398"/>
                <a:gridCol w="602398"/>
                <a:gridCol w="602398"/>
                <a:gridCol w="602398"/>
                <a:gridCol w="602398"/>
                <a:gridCol w="602398"/>
                <a:gridCol w="602398"/>
                <a:gridCol w="602398"/>
                <a:gridCol w="602398"/>
                <a:gridCol w="602398"/>
                <a:gridCol w="602398"/>
                <a:gridCol w="602398"/>
                <a:gridCol w="602398"/>
                <a:gridCol w="602398"/>
                <a:gridCol w="602398"/>
                <a:gridCol w="602398"/>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Packaging Format (US$ Mn)</a:t>
            </a:r>
          </a:p>
        </p:txBody>
      </p:sp>
      <p:graphicFrame>
        <p:nvGraphicFramePr>
          <p:cNvPr id="17" name="Table 16"/>
          <p:cNvGraphicFramePr>
            <a:graphicFrameLocks noGrp="1"/>
          </p:cNvGraphicFramePr>
          <p:nvPr/>
        </p:nvGraphicFramePr>
        <p:xfrm>
          <a:off x="152400" y="3324225"/>
          <a:ext cx="11887193" cy="1485896"/>
        </p:xfrm>
        <a:graphic>
          <a:graphicData uri="http://schemas.openxmlformats.org/drawingml/2006/table">
            <a:tbl>
              <a:tblPr>
                <a:tableStyleId>{5C22544A-7EE6-4342-B048-85BDC9FD1C3A}</a:tableStyleId>
              </a:tblPr>
              <a:tblGrid>
                <a:gridCol w="1721397"/>
                <a:gridCol w="597988"/>
                <a:gridCol w="597988"/>
                <a:gridCol w="597988"/>
                <a:gridCol w="597988"/>
                <a:gridCol w="597988"/>
                <a:gridCol w="597988"/>
                <a:gridCol w="597988"/>
                <a:gridCol w="597988"/>
                <a:gridCol w="597988"/>
                <a:gridCol w="597988"/>
                <a:gridCol w="597988"/>
                <a:gridCol w="597988"/>
                <a:gridCol w="597988"/>
                <a:gridCol w="597988"/>
                <a:gridCol w="597988"/>
                <a:gridCol w="597988"/>
                <a:gridCol w="597988"/>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32531"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6770004" y="3923538"/>
            <a:ext cx="366712" cy="533400"/>
          </a:xfrm>
          <a:prstGeom prst="rect">
            <a:avLst/>
          </a:prstGeom>
        </p:spPr>
      </p:pic>
    </p:spTree>
  </p:cSld>
  <p:clrMapOvr>
    <a:masterClrMapping/>
  </p:clrMapOvr>
</p:sld>
</file>

<file path=ppt/slides/slide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Packaging Format,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49689"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849689" y="3552062"/>
            <a:ext cx="366712" cy="533400"/>
          </a:xfrm>
          <a:prstGeom prst="rect">
            <a:avLst/>
          </a:prstGeom>
        </p:spPr>
      </p:pic>
    </p:spTree>
  </p:cSld>
  <p:clrMapOvr>
    <a:masterClrMapping/>
  </p:clrMapOvr>
</p:sld>
</file>

<file path=ppt/slides/slide46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Pack Configuration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Pack Configuration: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Pack Configuration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Pack Configuration</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1602726"/>
                <a:gridCol w="1063787"/>
                <a:gridCol w="1063787"/>
                <a:gridCol w="1063787"/>
                <a:gridCol w="1063787"/>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Pack Configuration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Pack Configuration</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1602726"/>
                <a:gridCol w="1063787"/>
                <a:gridCol w="1063787"/>
                <a:gridCol w="1063787"/>
                <a:gridCol w="1063787"/>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25334"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25334"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Pack Configuration,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Pack Configuration (MT)</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38338"/>
                <a:gridCol w="608757"/>
                <a:gridCol w="608757"/>
                <a:gridCol w="608757"/>
                <a:gridCol w="608757"/>
                <a:gridCol w="608757"/>
                <a:gridCol w="608757"/>
                <a:gridCol w="608757"/>
                <a:gridCol w="608757"/>
                <a:gridCol w="608757"/>
                <a:gridCol w="608757"/>
                <a:gridCol w="608757"/>
                <a:gridCol w="608757"/>
                <a:gridCol w="608757"/>
                <a:gridCol w="608757"/>
                <a:gridCol w="608757"/>
                <a:gridCol w="608757"/>
                <a:gridCol w="608757"/>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Pack Configuration (US$ Mn)</a:t>
            </a:r>
          </a:p>
        </p:txBody>
      </p:sp>
      <p:graphicFrame>
        <p:nvGraphicFramePr>
          <p:cNvPr id="17" name="Table 16"/>
          <p:cNvGraphicFramePr>
            <a:graphicFrameLocks noGrp="1"/>
          </p:cNvGraphicFramePr>
          <p:nvPr/>
        </p:nvGraphicFramePr>
        <p:xfrm>
          <a:off x="152400" y="3076575"/>
          <a:ext cx="11887195" cy="1238250"/>
        </p:xfrm>
        <a:graphic>
          <a:graphicData uri="http://schemas.openxmlformats.org/drawingml/2006/table">
            <a:tbl>
              <a:tblPr>
                <a:tableStyleId>{5C22544A-7EE6-4342-B048-85BDC9FD1C3A}</a:tableStyleId>
              </a:tblPr>
              <a:tblGrid>
                <a:gridCol w="1609148"/>
                <a:gridCol w="604591"/>
                <a:gridCol w="604591"/>
                <a:gridCol w="604591"/>
                <a:gridCol w="604591"/>
                <a:gridCol w="604591"/>
                <a:gridCol w="604591"/>
                <a:gridCol w="604591"/>
                <a:gridCol w="604591"/>
                <a:gridCol w="604591"/>
                <a:gridCol w="604591"/>
                <a:gridCol w="604591"/>
                <a:gridCol w="604591"/>
                <a:gridCol w="604591"/>
                <a:gridCol w="604591"/>
                <a:gridCol w="604591"/>
                <a:gridCol w="604591"/>
                <a:gridCol w="604591"/>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78482"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713881" y="3552062"/>
            <a:ext cx="366712" cy="533400"/>
          </a:xfrm>
          <a:prstGeom prst="rect">
            <a:avLst/>
          </a:prstGeom>
        </p:spPr>
      </p:pic>
    </p:spTree>
  </p:cSld>
  <p:clrMapOvr>
    <a:masterClrMapping/>
  </p:clrMapOvr>
</p:sld>
</file>

<file path=ppt/slides/slide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Pack Configuration,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89268"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789268" y="3180587"/>
            <a:ext cx="366712" cy="533400"/>
          </a:xfrm>
          <a:prstGeom prst="rect">
            <a:avLst/>
          </a:prstGeom>
        </p:spPr>
      </p:pic>
    </p:spTree>
  </p:cSld>
  <p:clrMapOvr>
    <a:masterClrMapping/>
  </p:clrMapOvr>
</p:sld>
</file>

<file path=ppt/slides/slide46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Multipack Wrapping</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Multipack Wrapping: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Multipack Wrapping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Multipack Wrapping</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3138749"/>
                <a:gridCol w="670480"/>
                <a:gridCol w="670480"/>
                <a:gridCol w="861687"/>
                <a:gridCol w="516479"/>
              </a:tblGrid>
              <a:tr h="438912">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923543">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23543">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Multipack Wrapping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Multipack Wrapping</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3138749"/>
                <a:gridCol w="670480"/>
                <a:gridCol w="670480"/>
                <a:gridCol w="861687"/>
                <a:gridCol w="516479"/>
              </a:tblGrid>
              <a:tr h="438912">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923543">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23543">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512015" y="2360675"/>
            <a:ext cx="330041" cy="48006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512015" y="5246750"/>
            <a:ext cx="330041" cy="48006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Multipack Wrapping,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Multipack Wrapping (MT)</a:t>
            </a:r>
          </a:p>
        </p:txBody>
      </p:sp>
      <p:graphicFrame>
        <p:nvGraphicFramePr>
          <p:cNvPr id="13" name="Table 12"/>
          <p:cNvGraphicFramePr>
            <a:graphicFrameLocks noGrp="1"/>
          </p:cNvGraphicFramePr>
          <p:nvPr/>
        </p:nvGraphicFramePr>
        <p:xfrm>
          <a:off x="152400" y="1238250"/>
          <a:ext cx="11887207" cy="1371600"/>
        </p:xfrm>
        <a:graphic>
          <a:graphicData uri="http://schemas.openxmlformats.org/drawingml/2006/table">
            <a:tbl>
              <a:tblPr>
                <a:tableStyleId>{5C22544A-7EE6-4342-B048-85BDC9FD1C3A}</a:tableStyleId>
              </a:tblPr>
              <a:tblGrid>
                <a:gridCol w="3005795"/>
                <a:gridCol w="530662"/>
                <a:gridCol w="530662"/>
                <a:gridCol w="530662"/>
                <a:gridCol w="530662"/>
                <a:gridCol w="530662"/>
                <a:gridCol w="530662"/>
                <a:gridCol w="530662"/>
                <a:gridCol w="530662"/>
                <a:gridCol w="530662"/>
                <a:gridCol w="530662"/>
                <a:gridCol w="530662"/>
                <a:gridCol w="530662"/>
                <a:gridCol w="530662"/>
                <a:gridCol w="530662"/>
                <a:gridCol w="530662"/>
                <a:gridCol w="530662"/>
                <a:gridCol w="390820"/>
              </a:tblGrid>
              <a:tr h="438912">
                <a:tc>
                  <a:txBody>
                    <a:bodyPr wrap="none"/>
                    <a:lstStyle/>
                    <a:p>
                      <a:pPr algn="l"/>
                      <a:r>
                        <a:rPr sz="1100" b="1">
                          <a:solidFill>
                            <a:srgbClr val="0B2E4A"/>
                          </a:solidFill>
                          <a:latin typeface="Calibri"/>
                        </a:rPr>
                        <a:t>Multipack Wrapping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420">
                <a:tc>
                  <a:txBody>
                    <a:bodyPr wrap="none"/>
                    <a:lstStyle/>
                    <a:p>
                      <a:pPr algn="l"/>
                      <a:r>
                        <a:rPr sz="1100" b="1">
                          <a:solidFill>
                            <a:srgbClr val="2E2E2E"/>
                          </a:solidFill>
                          <a:latin typeface="Calibri"/>
                        </a:rPr>
                        <a:t>Individually wrapped muffins within an outer</a:t>
                      </a:r>
                      <a:endParaRPr sz="1100"/>
                    </a:p>
                    <a:p>
                      <a:pPr algn="l"/>
                      <a:r>
                        <a:rPr sz="1100" b="1">
                          <a:solidFill>
                            <a:srgbClr val="2E2E2E"/>
                          </a:solidFill>
                          <a:latin typeface="Calibri"/>
                        </a:rPr>
                        <a:t>pack</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34">
                <a:tc>
                  <a:txBody>
                    <a:bodyPr wrap="none"/>
                    <a:lstStyle/>
                    <a:p>
                      <a:pPr algn="l"/>
                      <a:r>
                        <a:rPr sz="1100" b="1">
                          <a:solidFill>
                            <a:srgbClr val="2E2E2E"/>
                          </a:solidFill>
                          <a:latin typeface="Calibri"/>
                        </a:rPr>
                        <a:t>Shared pack without individual wrapping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3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619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009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Multipack Wrapping (US$ Mn)</a:t>
            </a:r>
          </a:p>
        </p:txBody>
      </p:sp>
      <p:graphicFrame>
        <p:nvGraphicFramePr>
          <p:cNvPr id="17" name="Table 16"/>
          <p:cNvGraphicFramePr>
            <a:graphicFrameLocks noGrp="1"/>
          </p:cNvGraphicFramePr>
          <p:nvPr/>
        </p:nvGraphicFramePr>
        <p:xfrm>
          <a:off x="152400" y="3209925"/>
          <a:ext cx="11887206" cy="990600"/>
        </p:xfrm>
        <a:graphic>
          <a:graphicData uri="http://schemas.openxmlformats.org/drawingml/2006/table">
            <a:tbl>
              <a:tblPr>
                <a:tableStyleId>{5C22544A-7EE6-4342-B048-85BDC9FD1C3A}</a:tableStyleId>
              </a:tblPr>
              <a:tblGrid>
                <a:gridCol w="3315725"/>
                <a:gridCol w="514876"/>
                <a:gridCol w="514876"/>
                <a:gridCol w="514876"/>
                <a:gridCol w="514876"/>
                <a:gridCol w="514876"/>
                <a:gridCol w="496739"/>
                <a:gridCol w="491557"/>
                <a:gridCol w="491557"/>
                <a:gridCol w="491557"/>
                <a:gridCol w="491557"/>
                <a:gridCol w="491557"/>
                <a:gridCol w="491557"/>
                <a:gridCol w="491557"/>
                <a:gridCol w="491557"/>
                <a:gridCol w="491557"/>
                <a:gridCol w="491557"/>
                <a:gridCol w="584792"/>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412211" y="1876806"/>
            <a:ext cx="366712" cy="533400"/>
          </a:xfrm>
          <a:prstGeom prst="rect">
            <a:avLst/>
          </a:prstGeom>
        </p:spPr>
      </p:pic>
      <p:pic>
        <p:nvPicPr>
          <p:cNvPr id="21" name="Picture 20" descr="lock.png"/>
          <p:cNvPicPr>
            <a:picLocks noChangeAspect="1"/>
          </p:cNvPicPr>
          <p:nvPr/>
        </p:nvPicPr>
        <p:blipFill>
          <a:blip r:embed="rId4"/>
          <a:stretch>
            <a:fillRect/>
          </a:stretch>
        </p:blipFill>
        <p:spPr>
          <a:xfrm>
            <a:off x="7570848" y="3566835"/>
            <a:ext cx="359497" cy="522905"/>
          </a:xfrm>
          <a:prstGeom prst="rect">
            <a:avLst/>
          </a:prstGeom>
        </p:spPr>
      </p:pic>
    </p:spTree>
  </p:cSld>
  <p:clrMapOvr>
    <a:masterClrMapping/>
  </p:clrMapOvr>
</p:sld>
</file>

<file path=ppt/slides/slide4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Multipack Wrapping,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533838"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7533838" y="2825115"/>
            <a:ext cx="330041" cy="480060"/>
          </a:xfrm>
          <a:prstGeom prst="rect">
            <a:avLst/>
          </a:prstGeom>
        </p:spPr>
      </p:pic>
    </p:spTree>
  </p:cSld>
  <p:clrMapOvr>
    <a:masterClrMapping/>
  </p:clrMapOvr>
</p:sld>
</file>

<file path=ppt/slides/slide47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Price Positioning</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Price Positioning: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Price Positioning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Price Positioning</a:t>
            </a:r>
          </a:p>
        </p:txBody>
      </p:sp>
      <p:graphicFrame>
        <p:nvGraphicFramePr>
          <p:cNvPr id="16" name="Table 15"/>
          <p:cNvGraphicFramePr>
            <a:graphicFrameLocks noGrp="1"/>
          </p:cNvGraphicFramePr>
          <p:nvPr/>
        </p:nvGraphicFramePr>
        <p:xfrm>
          <a:off x="6181725" y="1238250"/>
          <a:ext cx="5857874" cy="2285998"/>
        </p:xfrm>
        <a:graphic>
          <a:graphicData uri="http://schemas.openxmlformats.org/drawingml/2006/table">
            <a:tbl>
              <a:tblPr>
                <a:tableStyleId>{5C22544A-7EE6-4342-B048-85BDC9FD1C3A}</a:tableStyleId>
              </a:tblPr>
              <a:tblGrid>
                <a:gridCol w="1803982"/>
                <a:gridCol w="1013473"/>
                <a:gridCol w="1013473"/>
                <a:gridCol w="1013473"/>
                <a:gridCol w="1013473"/>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Price Positioning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Price Positioning</a:t>
            </a:r>
          </a:p>
        </p:txBody>
      </p:sp>
      <p:graphicFrame>
        <p:nvGraphicFramePr>
          <p:cNvPr id="23" name="Table 22"/>
          <p:cNvGraphicFramePr>
            <a:graphicFrameLocks noGrp="1"/>
          </p:cNvGraphicFramePr>
          <p:nvPr/>
        </p:nvGraphicFramePr>
        <p:xfrm>
          <a:off x="6181725" y="4124325"/>
          <a:ext cx="5857874" cy="2285998"/>
        </p:xfrm>
        <a:graphic>
          <a:graphicData uri="http://schemas.openxmlformats.org/drawingml/2006/table">
            <a:tbl>
              <a:tblPr>
                <a:tableStyleId>{5C22544A-7EE6-4342-B048-85BDC9FD1C3A}</a:tableStyleId>
              </a:tblPr>
              <a:tblGrid>
                <a:gridCol w="1803982"/>
                <a:gridCol w="1013473"/>
                <a:gridCol w="1013473"/>
                <a:gridCol w="1013473"/>
                <a:gridCol w="1013473"/>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825963"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825963"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Price Positioning,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Price Positioning (MT)</a:t>
            </a:r>
          </a:p>
        </p:txBody>
      </p:sp>
      <p:graphicFrame>
        <p:nvGraphicFramePr>
          <p:cNvPr id="13" name="Table 12"/>
          <p:cNvGraphicFramePr>
            <a:graphicFrameLocks noGrp="1"/>
          </p:cNvGraphicFramePr>
          <p:nvPr/>
        </p:nvGraphicFramePr>
        <p:xfrm>
          <a:off x="152400" y="1238250"/>
          <a:ext cx="11887201" cy="1485896"/>
        </p:xfrm>
        <a:graphic>
          <a:graphicData uri="http://schemas.openxmlformats.org/drawingml/2006/table">
            <a:tbl>
              <a:tblPr>
                <a:tableStyleId>{5C22544A-7EE6-4342-B048-85BDC9FD1C3A}</a:tableStyleId>
              </a:tblPr>
              <a:tblGrid>
                <a:gridCol w="1775771"/>
                <a:gridCol w="594790"/>
                <a:gridCol w="594790"/>
                <a:gridCol w="594790"/>
                <a:gridCol w="594790"/>
                <a:gridCol w="594790"/>
                <a:gridCol w="594790"/>
                <a:gridCol w="594790"/>
                <a:gridCol w="594790"/>
                <a:gridCol w="594790"/>
                <a:gridCol w="594790"/>
                <a:gridCol w="594790"/>
                <a:gridCol w="594790"/>
                <a:gridCol w="594790"/>
                <a:gridCol w="594790"/>
                <a:gridCol w="594790"/>
                <a:gridCol w="594790"/>
                <a:gridCol w="594790"/>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Price Positioning (US$ Mn)</a:t>
            </a:r>
          </a:p>
        </p:txBody>
      </p:sp>
      <p:graphicFrame>
        <p:nvGraphicFramePr>
          <p:cNvPr id="17" name="Table 16"/>
          <p:cNvGraphicFramePr>
            <a:graphicFrameLocks noGrp="1"/>
          </p:cNvGraphicFramePr>
          <p:nvPr/>
        </p:nvGraphicFramePr>
        <p:xfrm>
          <a:off x="152400" y="3324225"/>
          <a:ext cx="11887199" cy="1485896"/>
        </p:xfrm>
        <a:graphic>
          <a:graphicData uri="http://schemas.openxmlformats.org/drawingml/2006/table">
            <a:tbl>
              <a:tblPr>
                <a:tableStyleId>{5C22544A-7EE6-4342-B048-85BDC9FD1C3A}</a:tableStyleId>
              </a:tblPr>
              <a:tblGrid>
                <a:gridCol w="1855550"/>
                <a:gridCol w="590097"/>
                <a:gridCol w="590097"/>
                <a:gridCol w="590097"/>
                <a:gridCol w="590097"/>
                <a:gridCol w="590097"/>
                <a:gridCol w="590097"/>
                <a:gridCol w="590097"/>
                <a:gridCol w="590097"/>
                <a:gridCol w="590097"/>
                <a:gridCol w="590097"/>
                <a:gridCol w="590097"/>
                <a:gridCol w="590097"/>
                <a:gridCol w="590097"/>
                <a:gridCol w="590097"/>
                <a:gridCol w="590097"/>
                <a:gridCol w="590097"/>
                <a:gridCol w="590097"/>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97196"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6837084" y="3923538"/>
            <a:ext cx="366712" cy="533400"/>
          </a:xfrm>
          <a:prstGeom prst="rect">
            <a:avLst/>
          </a:prstGeom>
        </p:spPr>
      </p:pic>
    </p:spTree>
  </p:cSld>
  <p:clrMapOvr>
    <a:masterClrMapping/>
  </p:clrMapOvr>
</p:sld>
</file>

<file path=ppt/slides/slide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Price Positioning,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901628"/>
                <a:gridCol w="665705"/>
                <a:gridCol w="665705"/>
                <a:gridCol w="665705"/>
                <a:gridCol w="665705"/>
                <a:gridCol w="665705"/>
                <a:gridCol w="665705"/>
                <a:gridCol w="665705"/>
                <a:gridCol w="665705"/>
                <a:gridCol w="665705"/>
                <a:gridCol w="665705"/>
                <a:gridCol w="665705"/>
                <a:gridCol w="665705"/>
                <a:gridCol w="665705"/>
                <a:gridCol w="665705"/>
                <a:gridCol w="665705"/>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194" cy="1238250"/>
        </p:xfrm>
        <a:graphic>
          <a:graphicData uri="http://schemas.openxmlformats.org/drawingml/2006/table">
            <a:tbl>
              <a:tblPr>
                <a:tableStyleId>{5C22544A-7EE6-4342-B048-85BDC9FD1C3A}</a:tableStyleId>
              </a:tblPr>
              <a:tblGrid>
                <a:gridCol w="2024859"/>
                <a:gridCol w="657489"/>
                <a:gridCol w="657489"/>
                <a:gridCol w="657489"/>
                <a:gridCol w="657489"/>
                <a:gridCol w="657489"/>
                <a:gridCol w="657489"/>
                <a:gridCol w="657489"/>
                <a:gridCol w="657489"/>
                <a:gridCol w="657489"/>
                <a:gridCol w="657489"/>
                <a:gridCol w="657489"/>
                <a:gridCol w="657489"/>
                <a:gridCol w="657489"/>
                <a:gridCol w="657489"/>
                <a:gridCol w="657489"/>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60125"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921736" y="3552062"/>
            <a:ext cx="366712" cy="533400"/>
          </a:xfrm>
          <a:prstGeom prst="rect">
            <a:avLst/>
          </a:prstGeom>
        </p:spPr>
      </p:pic>
    </p:spTree>
  </p:cSld>
  <p:clrMapOvr>
    <a:masterClrMapping/>
  </p:clrMapOvr>
</p:sld>
</file>

<file path=ppt/slides/slide47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Brand Ownership</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Brand Ownership: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Brand Ownership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Brand Ownership</a:t>
            </a:r>
          </a:p>
        </p:txBody>
      </p:sp>
      <p:graphicFrame>
        <p:nvGraphicFramePr>
          <p:cNvPr id="16" name="Table 15"/>
          <p:cNvGraphicFramePr>
            <a:graphicFrameLocks noGrp="1"/>
          </p:cNvGraphicFramePr>
          <p:nvPr/>
        </p:nvGraphicFramePr>
        <p:xfrm>
          <a:off x="6181725" y="1238250"/>
          <a:ext cx="5857875" cy="2286000"/>
        </p:xfrm>
        <a:graphic>
          <a:graphicData uri="http://schemas.openxmlformats.org/drawingml/2006/table">
            <a:tbl>
              <a:tblPr>
                <a:tableStyleId>{5C22544A-7EE6-4342-B048-85BDC9FD1C3A}</a:tableStyleId>
              </a:tblPr>
              <a:tblGrid>
                <a:gridCol w="1938315"/>
                <a:gridCol w="979890"/>
                <a:gridCol w="979890"/>
                <a:gridCol w="979890"/>
                <a:gridCol w="979890"/>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Brand Ownership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Brand Ownership</a:t>
            </a:r>
          </a:p>
        </p:txBody>
      </p:sp>
      <p:graphicFrame>
        <p:nvGraphicFramePr>
          <p:cNvPr id="23" name="Table 22"/>
          <p:cNvGraphicFramePr>
            <a:graphicFrameLocks noGrp="1"/>
          </p:cNvGraphicFramePr>
          <p:nvPr/>
        </p:nvGraphicFramePr>
        <p:xfrm>
          <a:off x="6181725" y="4124325"/>
          <a:ext cx="5857875" cy="2286000"/>
        </p:xfrm>
        <a:graphic>
          <a:graphicData uri="http://schemas.openxmlformats.org/drawingml/2006/table">
            <a:tbl>
              <a:tblPr>
                <a:tableStyleId>{5C22544A-7EE6-4342-B048-85BDC9FD1C3A}</a:tableStyleId>
              </a:tblPr>
              <a:tblGrid>
                <a:gridCol w="1938315"/>
                <a:gridCol w="979890"/>
                <a:gridCol w="979890"/>
                <a:gridCol w="979890"/>
                <a:gridCol w="979890"/>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893130"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893130"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Brand Ownership,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Brand Ownership (MT)</a:t>
            </a:r>
          </a:p>
        </p:txBody>
      </p:sp>
      <p:graphicFrame>
        <p:nvGraphicFramePr>
          <p:cNvPr id="13" name="Table 12"/>
          <p:cNvGraphicFramePr>
            <a:graphicFrameLocks noGrp="1"/>
          </p:cNvGraphicFramePr>
          <p:nvPr/>
        </p:nvGraphicFramePr>
        <p:xfrm>
          <a:off x="152400" y="1238250"/>
          <a:ext cx="11887195" cy="1238250"/>
        </p:xfrm>
        <a:graphic>
          <a:graphicData uri="http://schemas.openxmlformats.org/drawingml/2006/table">
            <a:tbl>
              <a:tblPr>
                <a:tableStyleId>{5C22544A-7EE6-4342-B048-85BDC9FD1C3A}</a:tableStyleId>
              </a:tblPr>
              <a:tblGrid>
                <a:gridCol w="1941124"/>
                <a:gridCol w="585063"/>
                <a:gridCol w="585063"/>
                <a:gridCol w="585063"/>
                <a:gridCol w="585063"/>
                <a:gridCol w="585063"/>
                <a:gridCol w="585063"/>
                <a:gridCol w="585063"/>
                <a:gridCol w="585063"/>
                <a:gridCol w="585063"/>
                <a:gridCol w="585063"/>
                <a:gridCol w="585063"/>
                <a:gridCol w="585063"/>
                <a:gridCol w="585063"/>
                <a:gridCol w="585063"/>
                <a:gridCol w="585063"/>
                <a:gridCol w="585063"/>
                <a:gridCol w="585063"/>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Brand Ownership (US$ Mn)</a:t>
            </a:r>
          </a:p>
        </p:txBody>
      </p:sp>
      <p:graphicFrame>
        <p:nvGraphicFramePr>
          <p:cNvPr id="17" name="Table 16"/>
          <p:cNvGraphicFramePr>
            <a:graphicFrameLocks noGrp="1"/>
          </p:cNvGraphicFramePr>
          <p:nvPr/>
        </p:nvGraphicFramePr>
        <p:xfrm>
          <a:off x="152400" y="3076575"/>
          <a:ext cx="11887200" cy="1238250"/>
        </p:xfrm>
        <a:graphic>
          <a:graphicData uri="http://schemas.openxmlformats.org/drawingml/2006/table">
            <a:tbl>
              <a:tblPr>
                <a:tableStyleId>{5C22544A-7EE6-4342-B048-85BDC9FD1C3A}</a:tableStyleId>
              </a:tblPr>
              <a:tblGrid>
                <a:gridCol w="2026843"/>
                <a:gridCol w="580021"/>
                <a:gridCol w="580021"/>
                <a:gridCol w="580021"/>
                <a:gridCol w="580021"/>
                <a:gridCol w="580021"/>
                <a:gridCol w="580021"/>
                <a:gridCol w="580021"/>
                <a:gridCol w="580021"/>
                <a:gridCol w="580021"/>
                <a:gridCol w="580021"/>
                <a:gridCol w="580021"/>
                <a:gridCol w="580021"/>
                <a:gridCol w="580021"/>
                <a:gridCol w="580021"/>
                <a:gridCol w="580021"/>
                <a:gridCol w="580021"/>
                <a:gridCol w="580021"/>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79869" y="1713738"/>
            <a:ext cx="366712" cy="533399"/>
          </a:xfrm>
          <a:prstGeom prst="rect">
            <a:avLst/>
          </a:prstGeom>
        </p:spPr>
      </p:pic>
      <p:pic>
        <p:nvPicPr>
          <p:cNvPr id="21" name="Picture 20" descr="lock.png"/>
          <p:cNvPicPr>
            <a:picLocks noChangeAspect="1"/>
          </p:cNvPicPr>
          <p:nvPr/>
        </p:nvPicPr>
        <p:blipFill>
          <a:blip r:embed="rId4"/>
          <a:stretch>
            <a:fillRect/>
          </a:stretch>
        </p:blipFill>
        <p:spPr>
          <a:xfrm>
            <a:off x="6922731" y="3552062"/>
            <a:ext cx="366712" cy="533400"/>
          </a:xfrm>
          <a:prstGeom prst="rect">
            <a:avLst/>
          </a:prstGeom>
        </p:spPr>
      </p:pic>
    </p:spTree>
  </p:cSld>
  <p:clrMapOvr>
    <a:masterClrMapping/>
  </p:clrMapOvr>
</p:sld>
</file>

<file path=ppt/slides/slide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Brand Ownership,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13478"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7013478" y="3180587"/>
            <a:ext cx="366712" cy="533400"/>
          </a:xfrm>
          <a:prstGeom prst="rect">
            <a:avLst/>
          </a:prstGeom>
        </p:spPr>
      </p:pic>
    </p:spTree>
  </p:cSld>
  <p:clrMapOvr>
    <a:masterClrMapping/>
  </p:clrMapOvr>
</p:sld>
</file>

<file path=ppt/slides/slide4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Sales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Segmental Analysis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Sales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Sales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Sales Channel</a:t>
            </a:r>
          </a:p>
        </p:txBody>
      </p:sp>
      <p:graphicFrame>
        <p:nvGraphicFramePr>
          <p:cNvPr id="16" name="Table 15"/>
          <p:cNvGraphicFramePr>
            <a:graphicFrameLocks noGrp="1"/>
          </p:cNvGraphicFramePr>
          <p:nvPr/>
        </p:nvGraphicFramePr>
        <p:xfrm>
          <a:off x="6181725" y="1238250"/>
          <a:ext cx="5857875" cy="2286000"/>
        </p:xfrm>
        <a:graphic>
          <a:graphicData uri="http://schemas.openxmlformats.org/drawingml/2006/table">
            <a:tbl>
              <a:tblPr>
                <a:tableStyleId>{5C22544A-7EE6-4342-B048-85BDC9FD1C3A}</a:tableStyleId>
              </a:tblPr>
              <a:tblGrid>
                <a:gridCol w="1879903"/>
                <a:gridCol w="994493"/>
                <a:gridCol w="994493"/>
                <a:gridCol w="994493"/>
                <a:gridCol w="994493"/>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Sales Channel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Sales Channel</a:t>
            </a:r>
          </a:p>
        </p:txBody>
      </p:sp>
      <p:graphicFrame>
        <p:nvGraphicFramePr>
          <p:cNvPr id="23" name="Table 22"/>
          <p:cNvGraphicFramePr>
            <a:graphicFrameLocks noGrp="1"/>
          </p:cNvGraphicFramePr>
          <p:nvPr/>
        </p:nvGraphicFramePr>
        <p:xfrm>
          <a:off x="6181725" y="4124325"/>
          <a:ext cx="5857875" cy="2286000"/>
        </p:xfrm>
        <a:graphic>
          <a:graphicData uri="http://schemas.openxmlformats.org/drawingml/2006/table">
            <a:tbl>
              <a:tblPr>
                <a:tableStyleId>{5C22544A-7EE6-4342-B048-85BDC9FD1C3A}</a:tableStyleId>
              </a:tblPr>
              <a:tblGrid>
                <a:gridCol w="1879903"/>
                <a:gridCol w="994493"/>
                <a:gridCol w="994493"/>
                <a:gridCol w="994493"/>
                <a:gridCol w="994493"/>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863924"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863924"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Packaged Muffins Market Tables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Sales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Sales Channel (MT)</a:t>
            </a:r>
          </a:p>
        </p:txBody>
      </p:sp>
      <p:graphicFrame>
        <p:nvGraphicFramePr>
          <p:cNvPr id="13" name="Table 12"/>
          <p:cNvGraphicFramePr>
            <a:graphicFrameLocks noGrp="1"/>
          </p:cNvGraphicFramePr>
          <p:nvPr/>
        </p:nvGraphicFramePr>
        <p:xfrm>
          <a:off x="152400" y="1238250"/>
          <a:ext cx="11887202" cy="1238250"/>
        </p:xfrm>
        <a:graphic>
          <a:graphicData uri="http://schemas.openxmlformats.org/drawingml/2006/table">
            <a:tbl>
              <a:tblPr>
                <a:tableStyleId>{5C22544A-7EE6-4342-B048-85BDC9FD1C3A}</a:tableStyleId>
              </a:tblPr>
              <a:tblGrid>
                <a:gridCol w="1868524"/>
                <a:gridCol w="589334"/>
                <a:gridCol w="589334"/>
                <a:gridCol w="589334"/>
                <a:gridCol w="589334"/>
                <a:gridCol w="589334"/>
                <a:gridCol w="589334"/>
                <a:gridCol w="589334"/>
                <a:gridCol w="589334"/>
                <a:gridCol w="589334"/>
                <a:gridCol w="589334"/>
                <a:gridCol w="589334"/>
                <a:gridCol w="589334"/>
                <a:gridCol w="589334"/>
                <a:gridCol w="589334"/>
                <a:gridCol w="589334"/>
                <a:gridCol w="589334"/>
                <a:gridCol w="589334"/>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Sales Channel (US$ Mn)</a:t>
            </a:r>
          </a:p>
        </p:txBody>
      </p:sp>
      <p:graphicFrame>
        <p:nvGraphicFramePr>
          <p:cNvPr id="17" name="Table 16"/>
          <p:cNvGraphicFramePr>
            <a:graphicFrameLocks noGrp="1"/>
          </p:cNvGraphicFramePr>
          <p:nvPr/>
        </p:nvGraphicFramePr>
        <p:xfrm>
          <a:off x="152400" y="3076575"/>
          <a:ext cx="11887197" cy="1238250"/>
        </p:xfrm>
        <a:graphic>
          <a:graphicData uri="http://schemas.openxmlformats.org/drawingml/2006/table">
            <a:tbl>
              <a:tblPr>
                <a:tableStyleId>{5C22544A-7EE6-4342-B048-85BDC9FD1C3A}</a:tableStyleId>
              </a:tblPr>
              <a:tblGrid>
                <a:gridCol w="1951666"/>
                <a:gridCol w="584443"/>
                <a:gridCol w="584443"/>
                <a:gridCol w="584443"/>
                <a:gridCol w="584443"/>
                <a:gridCol w="584443"/>
                <a:gridCol w="584443"/>
                <a:gridCol w="584443"/>
                <a:gridCol w="584443"/>
                <a:gridCol w="584443"/>
                <a:gridCol w="584443"/>
                <a:gridCol w="584443"/>
                <a:gridCol w="584443"/>
                <a:gridCol w="584443"/>
                <a:gridCol w="584443"/>
                <a:gridCol w="584443"/>
                <a:gridCol w="584443"/>
                <a:gridCol w="584443"/>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43572"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885141" y="3552062"/>
            <a:ext cx="366712" cy="533400"/>
          </a:xfrm>
          <a:prstGeom prst="rect">
            <a:avLst/>
          </a:prstGeom>
        </p:spPr>
      </p:pic>
    </p:spTree>
  </p:cSld>
  <p:clrMapOvr>
    <a:masterClrMapping/>
  </p:clrMapOvr>
</p:sld>
</file>

<file path=ppt/slides/slide4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Sales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73252"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973252" y="3180587"/>
            <a:ext cx="366712" cy="533400"/>
          </a:xfrm>
          <a:prstGeom prst="rect">
            <a:avLst/>
          </a:prstGeom>
        </p:spPr>
      </p:pic>
    </p:spTree>
  </p:cSld>
  <p:clrMapOvr>
    <a:masterClrMapping/>
  </p:clrMapOvr>
</p:sld>
</file>

<file path=ppt/slides/slide48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8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3381.6</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4237.4</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5093.2</a:t>
            </a:r>
          </a:p>
        </p:txBody>
      </p:sp>
      <p:cxnSp>
        <p:nvCxnSpPr>
          <p:cNvPr id="16" name="Connector 15"/>
          <p:cNvCxnSpPr/>
          <p:nvPr/>
        </p:nvCxnSpPr>
        <p:spPr>
          <a:xfrm>
            <a:off x="2409825" y="1927636"/>
            <a:ext cx="0" cy="54171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2190750" y="1927636"/>
            <a:ext cx="438150" cy="54171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1775236"/>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Sweet muffins</a:t>
            </a:r>
          </a:p>
        </p:txBody>
      </p:sp>
      <p:cxnSp>
        <p:nvCxnSpPr>
          <p:cNvPr id="20" name="Connector 19"/>
          <p:cNvCxnSpPr/>
          <p:nvPr/>
        </p:nvCxnSpPr>
        <p:spPr>
          <a:xfrm>
            <a:off x="5915025" y="2907429"/>
            <a:ext cx="0" cy="42028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695950" y="2907429"/>
            <a:ext cx="438150" cy="42028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4162425" y="275502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4162425" y="3566301"/>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Savoury muffins</a:t>
            </a:r>
          </a:p>
        </p:txBody>
      </p:sp>
      <p:sp>
        <p:nvSpPr>
          <p:cNvPr id="24" name="Rounded Rectangle 23"/>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a:t>
            </a:r>
          </a:p>
        </p:txBody>
      </p:sp>
      <p:cxnSp>
        <p:nvCxnSpPr>
          <p:cNvPr id="26" name="Connector 25"/>
          <p:cNvCxnSpPr/>
          <p:nvPr/>
        </p:nvCxnSpPr>
        <p:spPr>
          <a:xfrm>
            <a:off x="619125" y="451725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619125" y="488327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619125" y="561532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619125" y="598134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619125" y="4517252"/>
            <a:ext cx="0" cy="1464092"/>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90550" y="451725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90550" y="488327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90550" y="561532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590550" y="598134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37" name="FMI Scale tick"/>
          <p:cNvSpPr txBox="1"/>
          <p:nvPr/>
        </p:nvSpPr>
        <p:spPr>
          <a:xfrm>
            <a:off x="138112" y="4450577"/>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+9.3%</a:t>
            </a:r>
          </a:p>
        </p:txBody>
      </p:sp>
      <p:sp>
        <p:nvSpPr>
          <p:cNvPr id="38" name="FMI Scale tick"/>
          <p:cNvSpPr txBox="1"/>
          <p:nvPr/>
        </p:nvSpPr>
        <p:spPr>
          <a:xfrm>
            <a:off x="138112" y="4816600"/>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+4.7%</a:t>
            </a:r>
          </a:p>
        </p:txBody>
      </p:sp>
      <p:sp>
        <p:nvSpPr>
          <p:cNvPr id="39"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0" name="FMI Scale tick"/>
          <p:cNvSpPr txBox="1"/>
          <p:nvPr/>
        </p:nvSpPr>
        <p:spPr>
          <a:xfrm>
            <a:off x="164306" y="5548646"/>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-4.7%</a:t>
            </a:r>
          </a:p>
        </p:txBody>
      </p:sp>
      <p:sp>
        <p:nvSpPr>
          <p:cNvPr id="41" name="FMI Scale tick"/>
          <p:cNvSpPr txBox="1"/>
          <p:nvPr/>
        </p:nvSpPr>
        <p:spPr>
          <a:xfrm>
            <a:off x="164306" y="5914669"/>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-9.3%</a:t>
            </a:r>
          </a:p>
        </p:txBody>
      </p:sp>
      <p:cxnSp>
        <p:nvCxnSpPr>
          <p:cNvPr id="42" name="Connector 41"/>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43" name="Rectangle 42"/>
          <p:cNvSpPr/>
          <p:nvPr/>
        </p:nvSpPr>
        <p:spPr>
          <a:xfrm>
            <a:off x="977900" y="4659176"/>
            <a:ext cx="457200" cy="59012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MI Data Label"/>
          <p:cNvSpPr txBox="1"/>
          <p:nvPr/>
        </p:nvSpPr>
        <p:spPr>
          <a:xfrm>
            <a:off x="619125" y="451630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5" name="Rectangle 44"/>
          <p:cNvSpPr/>
          <p:nvPr/>
        </p:nvSpPr>
        <p:spPr>
          <a:xfrm>
            <a:off x="2152650" y="4669646"/>
            <a:ext cx="457200" cy="57965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MI Data Label"/>
          <p:cNvSpPr txBox="1"/>
          <p:nvPr/>
        </p:nvSpPr>
        <p:spPr>
          <a:xfrm>
            <a:off x="1793875" y="452677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7" name="Rectangle 46"/>
          <p:cNvSpPr/>
          <p:nvPr/>
        </p:nvSpPr>
        <p:spPr>
          <a:xfrm>
            <a:off x="3327400" y="4662998"/>
            <a:ext cx="457200" cy="58630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MI Data Label"/>
          <p:cNvSpPr txBox="1"/>
          <p:nvPr/>
        </p:nvSpPr>
        <p:spPr>
          <a:xfrm>
            <a:off x="2968625" y="452012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9" name="Rectangle 48"/>
          <p:cNvSpPr/>
          <p:nvPr/>
        </p:nvSpPr>
        <p:spPr>
          <a:xfrm>
            <a:off x="4502150" y="4686569"/>
            <a:ext cx="457200" cy="5627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MI Data Label"/>
          <p:cNvSpPr txBox="1"/>
          <p:nvPr/>
        </p:nvSpPr>
        <p:spPr>
          <a:xfrm>
            <a:off x="4143375" y="4543694"/>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1" name="Rectangle 50"/>
          <p:cNvSpPr/>
          <p:nvPr/>
        </p:nvSpPr>
        <p:spPr>
          <a:xfrm>
            <a:off x="5676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5318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3" name="Rectangle 52"/>
          <p:cNvSpPr/>
          <p:nvPr/>
        </p:nvSpPr>
        <p:spPr>
          <a:xfrm>
            <a:off x="6851650" y="4644036"/>
            <a:ext cx="457200" cy="60526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6492875" y="450116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5" name="TextBox 54"/>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56" name="TextBox 55"/>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57" name="TextBox 56"/>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58" name="TextBox 57"/>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59" name="TextBox 58"/>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0" name="TextBox 59"/>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1" name="Rounded Rectangle 60"/>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3" name="Rectangle 62"/>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65" name="TextBox 6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6" name="Picture 65" descr="lock.png"/>
          <p:cNvPicPr>
            <a:picLocks noChangeAspect="1"/>
          </p:cNvPicPr>
          <p:nvPr/>
        </p:nvPicPr>
        <p:blipFill>
          <a:blip r:embed="rId4"/>
          <a:stretch>
            <a:fillRect/>
          </a:stretch>
        </p:blipFill>
        <p:spPr>
          <a:xfrm>
            <a:off x="2345475" y="1748312"/>
            <a:ext cx="128699" cy="187198"/>
          </a:xfrm>
          <a:prstGeom prst="rect">
            <a:avLst/>
          </a:prstGeom>
        </p:spPr>
      </p:pic>
      <p:pic>
        <p:nvPicPr>
          <p:cNvPr id="67" name="Picture 66" descr="lock.png"/>
          <p:cNvPicPr>
            <a:picLocks noChangeAspect="1"/>
          </p:cNvPicPr>
          <p:nvPr/>
        </p:nvPicPr>
        <p:blipFill>
          <a:blip r:embed="rId4"/>
          <a:stretch>
            <a:fillRect/>
          </a:stretch>
        </p:blipFill>
        <p:spPr>
          <a:xfrm>
            <a:off x="5850675" y="2728105"/>
            <a:ext cx="128699" cy="187198"/>
          </a:xfrm>
          <a:prstGeom prst="rect">
            <a:avLst/>
          </a:prstGeom>
        </p:spPr>
      </p:pic>
      <p:pic>
        <p:nvPicPr>
          <p:cNvPr id="68" name="Picture 67" descr="lock.png"/>
          <p:cNvPicPr>
            <a:picLocks noChangeAspect="1"/>
          </p:cNvPicPr>
          <p:nvPr/>
        </p:nvPicPr>
        <p:blipFill>
          <a:blip r:embed="rId4"/>
          <a:stretch>
            <a:fillRect/>
          </a:stretch>
        </p:blipFill>
        <p:spPr>
          <a:xfrm>
            <a:off x="1142150" y="4489377"/>
            <a:ext cx="128699" cy="187198"/>
          </a:xfrm>
          <a:prstGeom prst="rect">
            <a:avLst/>
          </a:prstGeom>
        </p:spPr>
      </p:pic>
      <p:pic>
        <p:nvPicPr>
          <p:cNvPr id="69" name="Picture 68" descr="lock.png"/>
          <p:cNvPicPr>
            <a:picLocks noChangeAspect="1"/>
          </p:cNvPicPr>
          <p:nvPr/>
        </p:nvPicPr>
        <p:blipFill>
          <a:blip r:embed="rId4"/>
          <a:stretch>
            <a:fillRect/>
          </a:stretch>
        </p:blipFill>
        <p:spPr>
          <a:xfrm>
            <a:off x="2316900" y="4499847"/>
            <a:ext cx="128699" cy="187198"/>
          </a:xfrm>
          <a:prstGeom prst="rect">
            <a:avLst/>
          </a:prstGeom>
        </p:spPr>
      </p:pic>
      <p:pic>
        <p:nvPicPr>
          <p:cNvPr id="70" name="Picture 69" descr="lock.png"/>
          <p:cNvPicPr>
            <a:picLocks noChangeAspect="1"/>
          </p:cNvPicPr>
          <p:nvPr/>
        </p:nvPicPr>
        <p:blipFill>
          <a:blip r:embed="rId4"/>
          <a:stretch>
            <a:fillRect/>
          </a:stretch>
        </p:blipFill>
        <p:spPr>
          <a:xfrm>
            <a:off x="3491650" y="4493199"/>
            <a:ext cx="128699" cy="187198"/>
          </a:xfrm>
          <a:prstGeom prst="rect">
            <a:avLst/>
          </a:prstGeom>
        </p:spPr>
      </p:pic>
      <p:pic>
        <p:nvPicPr>
          <p:cNvPr id="71" name="Picture 70" descr="lock.png"/>
          <p:cNvPicPr>
            <a:picLocks noChangeAspect="1"/>
          </p:cNvPicPr>
          <p:nvPr/>
        </p:nvPicPr>
        <p:blipFill>
          <a:blip r:embed="rId4"/>
          <a:stretch>
            <a:fillRect/>
          </a:stretch>
        </p:blipFill>
        <p:spPr>
          <a:xfrm>
            <a:off x="4666400" y="4516770"/>
            <a:ext cx="128699" cy="187198"/>
          </a:xfrm>
          <a:prstGeom prst="rect">
            <a:avLst/>
          </a:prstGeom>
        </p:spPr>
      </p:pic>
      <p:pic>
        <p:nvPicPr>
          <p:cNvPr id="72" name="Picture 71" descr="lock.png"/>
          <p:cNvPicPr>
            <a:picLocks noChangeAspect="1"/>
          </p:cNvPicPr>
          <p:nvPr/>
        </p:nvPicPr>
        <p:blipFill>
          <a:blip r:embed="rId4"/>
          <a:stretch>
            <a:fillRect/>
          </a:stretch>
        </p:blipFill>
        <p:spPr>
          <a:xfrm>
            <a:off x="5841150" y="4444308"/>
            <a:ext cx="128699" cy="187198"/>
          </a:xfrm>
          <a:prstGeom prst="rect">
            <a:avLst/>
          </a:prstGeom>
        </p:spPr>
      </p:pic>
      <p:pic>
        <p:nvPicPr>
          <p:cNvPr id="73" name="Picture 72" descr="lock.png"/>
          <p:cNvPicPr>
            <a:picLocks noChangeAspect="1"/>
          </p:cNvPicPr>
          <p:nvPr/>
        </p:nvPicPr>
        <p:blipFill>
          <a:blip r:embed="rId4"/>
          <a:stretch>
            <a:fillRect/>
          </a:stretch>
        </p:blipFill>
        <p:spPr>
          <a:xfrm>
            <a:off x="7015900" y="4474237"/>
            <a:ext cx="128699" cy="187198"/>
          </a:xfrm>
          <a:prstGeom prst="rect">
            <a:avLst/>
          </a:prstGeom>
        </p:spPr>
      </p:pic>
      <p:sp>
        <p:nvSpPr>
          <p:cNvPr id="74" name="TextBox 73"/>
          <p:cNvSpPr txBox="1"/>
          <p:nvPr/>
        </p:nvSpPr>
        <p:spPr>
          <a:xfrm>
            <a:off x="8048625" y="1736673"/>
            <a:ext cx="3654424" cy="194310"/>
          </a:xfrm>
          <a:prstGeom prst="rect">
            <a:avLst/>
          </a:prstGeom>
          <a:noFill/>
        </p:spPr>
        <p:txBody>
          <a:bodyPr wrap="none" lIns="0" rIns="0" tIns="0" bIns="0">
            <a:spAutoFit/>
          </a:bodyPr>
          <a:lstStyle/>
          <a:p>
            <a:r>
              <a:rPr sz="1150" b="0">
                <a:solidFill>
                  <a:srgbClr val="2E2E2E"/>
                </a:solidFill>
                <a:latin typeface="Calibri"/>
              </a:rPr>
              <a:t>▪ The chart shows global average pricing of key product type</a:t>
            </a:r>
          </a:p>
        </p:txBody>
      </p:sp>
      <p:sp>
        <p:nvSpPr>
          <p:cNvPr id="75" name="TextBox 74"/>
          <p:cNvSpPr txBox="1"/>
          <p:nvPr/>
        </p:nvSpPr>
        <p:spPr>
          <a:xfrm>
            <a:off x="8048625" y="1911934"/>
            <a:ext cx="3848100" cy="194310"/>
          </a:xfrm>
          <a:prstGeom prst="rect">
            <a:avLst/>
          </a:prstGeom>
          <a:noFill/>
        </p:spPr>
        <p:txBody>
          <a:bodyPr wrap="none" lIns="0" rIns="0" tIns="0" bIns="0">
            <a:spAutoFit/>
          </a:bodyPr>
          <a:lstStyle/>
          <a:p>
            <a:r>
              <a:rPr sz="1150" b="0">
                <a:solidFill>
                  <a:srgbClr val="2E2E2E"/>
                </a:solidFill>
                <a:latin typeface="Calibri"/>
              </a:rPr>
              <a:t>types in USD, harmonised across regions. Each candlestick spans</a:t>
            </a:r>
          </a:p>
        </p:txBody>
      </p:sp>
      <p:sp>
        <p:nvSpPr>
          <p:cNvPr id="76" name="TextBox 75"/>
          <p:cNvSpPr txBox="1"/>
          <p:nvPr/>
        </p:nvSpPr>
        <p:spPr>
          <a:xfrm>
            <a:off x="8048625" y="2087194"/>
            <a:ext cx="3848100" cy="194310"/>
          </a:xfrm>
          <a:prstGeom prst="rect">
            <a:avLst/>
          </a:prstGeom>
          <a:noFill/>
        </p:spPr>
        <p:txBody>
          <a:bodyPr wrap="none" lIns="0" rIns="0" tIns="0" bIns="0">
            <a:spAutoFit/>
          </a:bodyPr>
          <a:lstStyle/>
          <a:p>
            <a:r>
              <a:rPr sz="1150" b="0">
                <a:solidFill>
                  <a:srgbClr val="2E2E2E"/>
                </a:solidFill>
                <a:latin typeface="Calibri"/>
              </a:rPr>
              <a:t>the minimum-to-maximum observed price within the base year,</a:t>
            </a:r>
          </a:p>
        </p:txBody>
      </p:sp>
      <p:sp>
        <p:nvSpPr>
          <p:cNvPr id="77" name="TextBox 76"/>
          <p:cNvSpPr txBox="1"/>
          <p:nvPr/>
        </p:nvSpPr>
        <p:spPr>
          <a:xfrm>
            <a:off x="8048625" y="2262454"/>
            <a:ext cx="3406254" cy="194310"/>
          </a:xfrm>
          <a:prstGeom prst="rect">
            <a:avLst/>
          </a:prstGeom>
          <a:noFill/>
        </p:spPr>
        <p:txBody>
          <a:bodyPr wrap="none" lIns="0" rIns="0" tIns="0" bIns="0">
            <a:spAutoFit/>
          </a:bodyPr>
          <a:lstStyle/>
          <a:p>
            <a:r>
              <a:rPr sz="1150" b="0">
                <a:solidFill>
                  <a:srgbClr val="2E2E2E"/>
                </a:solidFill>
                <a:latin typeface="Calibri"/>
              </a:rPr>
              <a:t>giving a clear read of price range and market dispersion.</a:t>
            </a:r>
          </a:p>
        </p:txBody>
      </p:sp>
      <p:sp>
        <p:nvSpPr>
          <p:cNvPr id="78" name="TextBox 77"/>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79" name="TextBox 78"/>
          <p:cNvSpPr txBox="1"/>
          <p:nvPr/>
        </p:nvSpPr>
        <p:spPr>
          <a:xfrm>
            <a:off x="8048625" y="2665551"/>
            <a:ext cx="3488121" cy="194310"/>
          </a:xfrm>
          <a:prstGeom prst="rect">
            <a:avLst/>
          </a:prstGeom>
          <a:noFill/>
        </p:spPr>
        <p:txBody>
          <a:bodyPr wrap="none" lIns="0" rIns="0" tIns="0" bIns="0">
            <a:spAutoFit/>
          </a:bodyPr>
          <a:lstStyle/>
          <a:p>
            <a:r>
              <a:rPr sz="1150" b="0">
                <a:solidFill>
                  <a:srgbClr val="2E2E2E"/>
                </a:solidFill>
                <a:latin typeface="Calibri"/>
              </a:rPr>
              <a:t>price levels 'Sweet muffins' shows the most movement (+</a:t>
            </a:r>
          </a:p>
        </p:txBody>
      </p:sp>
      <p:pic>
        <p:nvPicPr>
          <p:cNvPr id="80" name="Picture 79" descr="lock.png"/>
          <p:cNvPicPr>
            <a:picLocks noChangeAspect="1"/>
          </p:cNvPicPr>
          <p:nvPr/>
        </p:nvPicPr>
        <p:blipFill>
          <a:blip r:embed="rId4"/>
          <a:stretch>
            <a:fillRect/>
          </a:stretch>
        </p:blipFill>
        <p:spPr>
          <a:xfrm>
            <a:off x="11485900" y="2655328"/>
            <a:ext cx="134549" cy="195707"/>
          </a:xfrm>
          <a:prstGeom prst="rect">
            <a:avLst/>
          </a:prstGeom>
        </p:spPr>
      </p:pic>
      <p:sp>
        <p:nvSpPr>
          <p:cNvPr id="81" name="TextBox 80"/>
          <p:cNvSpPr txBox="1"/>
          <p:nvPr/>
        </p:nvSpPr>
        <p:spPr>
          <a:xfrm>
            <a:off x="11661010" y="2665551"/>
            <a:ext cx="120414" cy="194310"/>
          </a:xfrm>
          <a:prstGeom prst="rect">
            <a:avLst/>
          </a:prstGeom>
          <a:noFill/>
        </p:spPr>
        <p:txBody>
          <a:bodyPr wrap="none" lIns="0" rIns="0" tIns="0" bIns="0">
            <a:spAutoFit/>
          </a:bodyPr>
          <a:lstStyle/>
          <a:p>
            <a:r>
              <a:rPr sz="1150" b="0">
                <a:solidFill>
                  <a:srgbClr val="2E2E2E"/>
                </a:solidFill>
                <a:latin typeface="Calibri"/>
              </a:rPr>
              <a:t>)</a:t>
            </a:r>
          </a:p>
        </p:txBody>
      </p:sp>
      <p:sp>
        <p:nvSpPr>
          <p:cNvPr id="82" name="TextBox 81"/>
          <p:cNvSpPr txBox="1"/>
          <p:nvPr/>
        </p:nvSpPr>
        <p:spPr>
          <a:xfrm>
            <a:off x="8048625" y="2840811"/>
            <a:ext cx="2051012" cy="194310"/>
          </a:xfrm>
          <a:prstGeom prst="rect">
            <a:avLst/>
          </a:prstGeom>
          <a:noFill/>
        </p:spPr>
        <p:txBody>
          <a:bodyPr wrap="none" lIns="0" rIns="0" tIns="0" bIns="0">
            <a:spAutoFit/>
          </a:bodyPr>
          <a:lstStyle/>
          <a:p>
            <a:r>
              <a:rPr sz="1150" b="0">
                <a:solidFill>
                  <a:srgbClr val="2E2E2E"/>
                </a:solidFill>
                <a:latin typeface="Calibri"/>
              </a:rPr>
              <a:t>and 'Savoury muffins' the least (+</a:t>
            </a:r>
          </a:p>
        </p:txBody>
      </p:sp>
      <p:pic>
        <p:nvPicPr>
          <p:cNvPr id="83" name="Picture 82" descr="lock.png"/>
          <p:cNvPicPr>
            <a:picLocks noChangeAspect="1"/>
          </p:cNvPicPr>
          <p:nvPr/>
        </p:nvPicPr>
        <p:blipFill>
          <a:blip r:embed="rId4"/>
          <a:stretch>
            <a:fillRect/>
          </a:stretch>
        </p:blipFill>
        <p:spPr>
          <a:xfrm>
            <a:off x="10048791" y="2830588"/>
            <a:ext cx="134549" cy="195707"/>
          </a:xfrm>
          <a:prstGeom prst="rect">
            <a:avLst/>
          </a:prstGeom>
        </p:spPr>
      </p:pic>
      <p:sp>
        <p:nvSpPr>
          <p:cNvPr id="84" name="TextBox 83"/>
          <p:cNvSpPr txBox="1"/>
          <p:nvPr/>
        </p:nvSpPr>
        <p:spPr>
          <a:xfrm>
            <a:off x="10223901" y="2840811"/>
            <a:ext cx="1530139" cy="194310"/>
          </a:xfrm>
          <a:prstGeom prst="rect">
            <a:avLst/>
          </a:prstGeom>
          <a:noFill/>
        </p:spPr>
        <p:txBody>
          <a:bodyPr wrap="none" lIns="0" rIns="0" tIns="0" bIns="0">
            <a:spAutoFit/>
          </a:bodyPr>
          <a:lstStyle/>
          <a:p>
            <a:r>
              <a:rPr sz="1150" b="0">
                <a:solidFill>
                  <a:srgbClr val="2E2E2E"/>
                </a:solidFill>
                <a:latin typeface="Calibri"/>
              </a:rPr>
              <a:t>) variability stakeholders</a:t>
            </a:r>
          </a:p>
        </p:txBody>
      </p:sp>
      <p:sp>
        <p:nvSpPr>
          <p:cNvPr id="85" name="TextBox 84"/>
          <p:cNvSpPr txBox="1"/>
          <p:nvPr/>
        </p:nvSpPr>
        <p:spPr>
          <a:xfrm>
            <a:off x="8048625" y="3016071"/>
            <a:ext cx="3347206" cy="194310"/>
          </a:xfrm>
          <a:prstGeom prst="rect">
            <a:avLst/>
          </a:prstGeom>
          <a:noFill/>
        </p:spPr>
        <p:txBody>
          <a:bodyPr wrap="none" lIns="0" rIns="0" tIns="0" bIns="0">
            <a:spAutoFit/>
          </a:bodyPr>
          <a:lstStyle/>
          <a:p>
            <a:r>
              <a:rPr sz="1150" b="0">
                <a:solidFill>
                  <a:srgbClr val="2E2E2E"/>
                </a:solidFill>
                <a:latin typeface="Calibri"/>
              </a:rPr>
              <a:t>should monitor when planning procurement or pricing.</a:t>
            </a:r>
          </a:p>
        </p:txBody>
      </p:sp>
      <p:sp>
        <p:nvSpPr>
          <p:cNvPr id="86" name="TextBox 85"/>
          <p:cNvSpPr txBox="1"/>
          <p:nvPr/>
        </p:nvSpPr>
        <p:spPr>
          <a:xfrm>
            <a:off x="8048625" y="3243909"/>
            <a:ext cx="3718607" cy="194310"/>
          </a:xfrm>
          <a:prstGeom prst="rect">
            <a:avLst/>
          </a:prstGeom>
          <a:noFill/>
        </p:spPr>
        <p:txBody>
          <a:bodyPr wrap="none" lIns="0" rIns="0" tIns="0" bIns="0">
            <a:spAutoFit/>
          </a:bodyPr>
          <a:lstStyle/>
          <a:p>
            <a:r>
              <a:rPr sz="1150" b="0">
                <a:solidFill>
                  <a:srgbClr val="2E2E2E"/>
                </a:solidFill>
                <a:latin typeface="Calibri"/>
              </a:rPr>
              <a:t>▪ The lower chart indexes region-level price movement to the</a:t>
            </a:r>
          </a:p>
        </p:txBody>
      </p:sp>
      <p:sp>
        <p:nvSpPr>
          <p:cNvPr id="87" name="TextBox 86"/>
          <p:cNvSpPr txBox="1"/>
          <p:nvPr/>
        </p:nvSpPr>
        <p:spPr>
          <a:xfrm>
            <a:off x="8048625" y="341916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88" name="TextBox 87"/>
          <p:cNvSpPr txBox="1"/>
          <p:nvPr/>
        </p:nvSpPr>
        <p:spPr>
          <a:xfrm>
            <a:off x="8048625" y="359442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89" name="TextBox 88"/>
          <p:cNvSpPr txBox="1"/>
          <p:nvPr/>
        </p:nvSpPr>
        <p:spPr>
          <a:xfrm>
            <a:off x="8048625" y="376968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90" name="TextBox 89"/>
          <p:cNvSpPr txBox="1"/>
          <p:nvPr/>
        </p:nvSpPr>
        <p:spPr>
          <a:xfrm>
            <a:off x="8048625" y="3997527"/>
            <a:ext cx="2340260" cy="194310"/>
          </a:xfrm>
          <a:prstGeom prst="rect">
            <a:avLst/>
          </a:prstGeom>
          <a:noFill/>
        </p:spPr>
        <p:txBody>
          <a:bodyPr wrap="none" lIns="0" rIns="0" tIns="0" bIns="0">
            <a:spAutoFit/>
          </a:bodyPr>
          <a:lstStyle/>
          <a:p>
            <a:r>
              <a:rPr sz="1150" b="0">
                <a:solidFill>
                  <a:srgbClr val="2E2E2E"/>
                </a:solidFill>
                <a:latin typeface="Calibri"/>
              </a:rPr>
              <a:t>▪ Region price indices diverge by up to</a:t>
            </a:r>
          </a:p>
        </p:txBody>
      </p:sp>
      <p:pic>
        <p:nvPicPr>
          <p:cNvPr id="91" name="Picture 90" descr="lock.png"/>
          <p:cNvPicPr>
            <a:picLocks noChangeAspect="1"/>
          </p:cNvPicPr>
          <p:nvPr/>
        </p:nvPicPr>
        <p:blipFill>
          <a:blip r:embed="rId4"/>
          <a:stretch>
            <a:fillRect/>
          </a:stretch>
        </p:blipFill>
        <p:spPr>
          <a:xfrm>
            <a:off x="10338039" y="3987304"/>
            <a:ext cx="134549" cy="195707"/>
          </a:xfrm>
          <a:prstGeom prst="rect">
            <a:avLst/>
          </a:prstGeom>
        </p:spPr>
      </p:pic>
      <p:sp>
        <p:nvSpPr>
          <p:cNvPr id="92" name="TextBox 91"/>
          <p:cNvSpPr txBox="1"/>
          <p:nvPr/>
        </p:nvSpPr>
        <p:spPr>
          <a:xfrm>
            <a:off x="10513148" y="399752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93" name="TextBox 92"/>
          <p:cNvSpPr txBox="1"/>
          <p:nvPr/>
        </p:nvSpPr>
        <p:spPr>
          <a:xfrm>
            <a:off x="8048625" y="4172787"/>
            <a:ext cx="3848100" cy="194310"/>
          </a:xfrm>
          <a:prstGeom prst="rect">
            <a:avLst/>
          </a:prstGeom>
          <a:noFill/>
        </p:spPr>
        <p:txBody>
          <a:bodyPr wrap="none" lIns="0" rIns="0" tIns="0" bIns="0">
            <a:spAutoFit/>
          </a:bodyPr>
          <a:lstStyle/>
          <a:p>
            <a:r>
              <a:rPr sz="1150" b="0">
                <a:solidFill>
                  <a:srgbClr val="2E2E2E"/>
                </a:solidFill>
                <a:latin typeface="Calibri"/>
              </a:rPr>
              <a:t>2036: higher-priced regions start higher and grow steadily, while</a:t>
            </a:r>
          </a:p>
        </p:txBody>
      </p:sp>
      <p:sp>
        <p:nvSpPr>
          <p:cNvPr id="94" name="TextBox 93"/>
          <p:cNvSpPr txBox="1"/>
          <p:nvPr/>
        </p:nvSpPr>
        <p:spPr>
          <a:xfrm>
            <a:off x="8048625" y="4348047"/>
            <a:ext cx="3454747" cy="194310"/>
          </a:xfrm>
          <a:prstGeom prst="rect">
            <a:avLst/>
          </a:prstGeom>
          <a:noFill/>
        </p:spPr>
        <p:txBody>
          <a:bodyPr wrap="none" lIns="0" rIns="0" tIns="0" bIns="0">
            <a:spAutoFit/>
          </a:bodyPr>
          <a:lstStyle/>
          <a:p>
            <a:r>
              <a:rPr sz="1150" b="0">
                <a:solidFill>
                  <a:srgbClr val="2E2E2E"/>
                </a:solidFill>
                <a:latin typeface="Calibri"/>
              </a:rPr>
              <a:t>lower-priced regions start lower and converge, reflecting</a:t>
            </a:r>
          </a:p>
        </p:txBody>
      </p:sp>
      <p:sp>
        <p:nvSpPr>
          <p:cNvPr id="95" name="TextBox 94"/>
          <p:cNvSpPr txBox="1"/>
          <p:nvPr/>
        </p:nvSpPr>
        <p:spPr>
          <a:xfrm>
            <a:off x="8048625" y="4523307"/>
            <a:ext cx="1090848" cy="194310"/>
          </a:xfrm>
          <a:prstGeom prst="rect">
            <a:avLst/>
          </a:prstGeom>
          <a:noFill/>
        </p:spPr>
        <p:txBody>
          <a:bodyPr wrap="none" lIns="0" rIns="0" tIns="0" bIns="0">
            <a:spAutoFit/>
          </a:bodyPr>
          <a:lstStyle/>
          <a:p>
            <a:r>
              <a:rPr sz="1150" b="0">
                <a:solidFill>
                  <a:srgbClr val="2E2E2E"/>
                </a:solidFill>
                <a:latin typeface="Calibri"/>
              </a:rPr>
              <a:t>catch-up growth.</a:t>
            </a:r>
          </a:p>
        </p:txBody>
      </p:sp>
    </p:spTree>
  </p:cSld>
  <p:clrMapOvr>
    <a:masterClrMapping/>
  </p:clrMapOvr>
</p:sld>
</file>

<file path=ppt/slides/slide4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Global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461772">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461772">
                <a:tc>
                  <a:txBody>
                    <a:bodyPr wrap="square"/>
                    <a:lstStyle/>
                    <a:p>
                      <a:pPr algn="l"/>
                      <a:r>
                        <a:rPr sz="850" b="1">
                          <a:solidFill>
                            <a:srgbClr val="1F1F1F"/>
                          </a:solidFill>
                          <a:latin typeface="Calibri"/>
                        </a:rPr>
                        <a:t>Sweet muffins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b="0">
                          <a:solidFill>
                            <a:srgbClr val="1F1F1F"/>
                          </a:solidFill>
                          <a:latin typeface="Calibri"/>
                        </a:rPr>
                        <a:t>0.74%</a:t>
                      </a:r>
                    </a:p>
                  </a:txBody>
                  <a:tcPr marL="36576" marR="36576" marT="9144" marB="9144" anchor="ctr">
                    <a:solidFill>
                      <a:srgbClr val="FFFFFF"/>
                    </a:solidFill>
                  </a:tcPr>
                </a:tc>
                <a:tc>
                  <a:txBody>
                    <a:bodyPr wrap="square"/>
                    <a:lstStyle/>
                    <a:p>
                      <a:pPr algn="ctr"/>
                      <a:r>
                        <a:rPr sz="850" b="0">
                          <a:solidFill>
                            <a:srgbClr val="1F1F1F"/>
                          </a:solidFill>
                          <a:latin typeface="Calibri"/>
                        </a:rPr>
                        <a:t>110.1</a:t>
                      </a:r>
                    </a:p>
                  </a:txBody>
                  <a:tcPr marL="36576" marR="36576" marT="9144" marB="9144" anchor="ctr">
                    <a:solidFill>
                      <a:srgbClr val="F4B183"/>
                    </a:solidFill>
                  </a:tcPr>
                </a:tc>
              </a:tr>
              <a:tr h="461772">
                <a:tc>
                  <a:txBody>
                    <a:bodyPr wrap="square"/>
                    <a:lstStyle/>
                    <a:p>
                      <a:pPr algn="l"/>
                      <a:r>
                        <a:rPr sz="850" b="1">
                          <a:solidFill>
                            <a:srgbClr val="1F1F1F"/>
                          </a:solidFill>
                          <a:latin typeface="Calibri"/>
                        </a:rPr>
                        <a:t>Savoury muffins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b="0">
                          <a:solidFill>
                            <a:srgbClr val="1F1F1F"/>
                          </a:solidFill>
                          <a:latin typeface="Calibri"/>
                        </a:rPr>
                        <a:t>0.70%</a:t>
                      </a:r>
                    </a:p>
                  </a:txBody>
                  <a:tcPr marL="36576" marR="36576" marT="9144" marB="9144" anchor="ctr">
                    <a:solidFill>
                      <a:srgbClr val="F3F6F9"/>
                    </a:solidFill>
                  </a:tcPr>
                </a:tc>
                <a:tc>
                  <a:txBody>
                    <a:bodyPr wrap="square"/>
                    <a:lstStyle/>
                    <a:p>
                      <a:pPr algn="ctr"/>
                      <a:r>
                        <a:rPr sz="850" b="0">
                          <a:solidFill>
                            <a:srgbClr val="1F1F1F"/>
                          </a:solidFill>
                          <a:latin typeface="Calibri"/>
                        </a:rPr>
                        <a:t>89.7</a:t>
                      </a:r>
                    </a:p>
                  </a:txBody>
                  <a:tcPr marL="36576" marR="36576" marT="9144" marB="9144" anchor="ctr">
                    <a:solidFill>
                      <a:srgbClr val="9DC0E0"/>
                    </a:solidFill>
                  </a:tcPr>
                </a:tc>
              </a:tr>
              <a:tr h="461772">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b="0">
                          <a:solidFill>
                            <a:srgbClr val="1F1F1F"/>
                          </a:solidFill>
                          <a:latin typeface="Calibri"/>
                        </a:rPr>
                        <a:t>0.76%</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Sweet muffins sit at the top of the 2026 price ladder at an index of 110.1, while Savoury muffins trade at 89.7, which keeps the full product type spread within 22.8%.</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Sweet muffins post the fastest price growth at a 0.74% CAGR between 2026 and 2036, compared with 0.70% for Savoury muffins.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9643491" y="4117466"/>
            <a:ext cx="330041" cy="480060"/>
          </a:xfrm>
          <a:prstGeom prst="rect">
            <a:avLst/>
          </a:prstGeom>
        </p:spPr>
      </p:pic>
      <p:sp>
        <p:nvSpPr>
          <p:cNvPr id="34" name="TextBox 33"/>
          <p:cNvSpPr txBox="1"/>
          <p:nvPr/>
        </p:nvSpPr>
        <p:spPr>
          <a:xfrm>
            <a:off x="411480" y="1110615"/>
            <a:ext cx="4226272" cy="217169"/>
          </a:xfrm>
          <a:prstGeom prst="rect">
            <a:avLst/>
          </a:prstGeom>
          <a:noFill/>
        </p:spPr>
        <p:txBody>
          <a:bodyPr wrap="none" lIns="0" rIns="0" tIns="0" bIns="0">
            <a:spAutoFit/>
          </a:bodyPr>
          <a:lstStyle/>
          <a:p>
            <a:r>
              <a:rPr sz="1300" b="1">
                <a:solidFill>
                  <a:srgbClr val="FFFFFF"/>
                </a:solidFill>
                <a:latin typeface="Calibri"/>
              </a:rPr>
              <a:t>Sweet muffins command the highest 2026 price point at US$</a:t>
            </a:r>
          </a:p>
        </p:txBody>
      </p:sp>
      <p:pic>
        <p:nvPicPr>
          <p:cNvPr id="35" name="Picture 34" descr="lock.png"/>
          <p:cNvPicPr>
            <a:picLocks noChangeAspect="1"/>
          </p:cNvPicPr>
          <p:nvPr/>
        </p:nvPicPr>
        <p:blipFill>
          <a:blip r:embed="rId6"/>
          <a:stretch>
            <a:fillRect/>
          </a:stretch>
        </p:blipFill>
        <p:spPr>
          <a:xfrm>
            <a:off x="4590213" y="1099058"/>
            <a:ext cx="152098" cy="221234"/>
          </a:xfrm>
          <a:prstGeom prst="rect">
            <a:avLst/>
          </a:prstGeom>
        </p:spPr>
      </p:pic>
      <p:sp>
        <p:nvSpPr>
          <p:cNvPr id="36" name="TextBox 35"/>
          <p:cNvSpPr txBox="1"/>
          <p:nvPr/>
        </p:nvSpPr>
        <p:spPr>
          <a:xfrm>
            <a:off x="4788162" y="1110615"/>
            <a:ext cx="3194397" cy="217169"/>
          </a:xfrm>
          <a:prstGeom prst="rect">
            <a:avLst/>
          </a:prstGeom>
          <a:noFill/>
        </p:spPr>
        <p:txBody>
          <a:bodyPr wrap="none" lIns="0" rIns="0" tIns="0" bIns="0">
            <a:spAutoFit/>
          </a:bodyPr>
          <a:lstStyle/>
          <a:p>
            <a:r>
              <a:rPr sz="1300" b="1">
                <a:solidFill>
                  <a:srgbClr val="FFFFFF"/>
                </a:solidFill>
                <a:latin typeface="Calibri"/>
              </a:rPr>
              <a:t>/MT, a 22.8% premium over Savoury muffins.</a:t>
            </a:r>
          </a:p>
        </p:txBody>
      </p:sp>
      <p:sp>
        <p:nvSpPr>
          <p:cNvPr id="37" name="TextBox 36"/>
          <p:cNvSpPr txBox="1"/>
          <p:nvPr/>
        </p:nvSpPr>
        <p:spPr>
          <a:xfrm>
            <a:off x="8658225" y="5530976"/>
            <a:ext cx="2235844" cy="179069"/>
          </a:xfrm>
          <a:prstGeom prst="rect">
            <a:avLst/>
          </a:prstGeom>
          <a:noFill/>
        </p:spPr>
        <p:txBody>
          <a:bodyPr wrap="none" lIns="0" rIns="0" tIns="0" bIns="0">
            <a:spAutoFit/>
          </a:bodyPr>
          <a:lstStyle/>
          <a:p>
            <a:r>
              <a:rPr sz="1050" b="0">
                <a:solidFill>
                  <a:srgbClr val="1F1F1F"/>
                </a:solidFill>
                <a:latin typeface="Calibri"/>
              </a:rPr>
              <a:t>The Global average price rises from US$</a:t>
            </a:r>
          </a:p>
        </p:txBody>
      </p:sp>
      <p:pic>
        <p:nvPicPr>
          <p:cNvPr id="38" name="Picture 37" descr="lock.png"/>
          <p:cNvPicPr>
            <a:picLocks noChangeAspect="1"/>
          </p:cNvPicPr>
          <p:nvPr/>
        </p:nvPicPr>
        <p:blipFill>
          <a:blip r:embed="rId6"/>
          <a:stretch>
            <a:fillRect/>
          </a:stretch>
        </p:blipFill>
        <p:spPr>
          <a:xfrm>
            <a:off x="10841019" y="5521642"/>
            <a:ext cx="122849" cy="178689"/>
          </a:xfrm>
          <a:prstGeom prst="rect">
            <a:avLst/>
          </a:prstGeom>
        </p:spPr>
      </p:pic>
      <p:sp>
        <p:nvSpPr>
          <p:cNvPr id="39" name="TextBox 38"/>
          <p:cNvSpPr txBox="1"/>
          <p:nvPr/>
        </p:nvSpPr>
        <p:spPr>
          <a:xfrm>
            <a:off x="11000901" y="5530976"/>
            <a:ext cx="739043" cy="179069"/>
          </a:xfrm>
          <a:prstGeom prst="rect">
            <a:avLst/>
          </a:prstGeom>
          <a:noFill/>
        </p:spPr>
        <p:txBody>
          <a:bodyPr wrap="none" lIns="0" rIns="0" tIns="0" bIns="0">
            <a:spAutoFit/>
          </a:bodyPr>
          <a:lstStyle/>
          <a:p>
            <a:r>
              <a:rPr sz="1050" b="0">
                <a:solidFill>
                  <a:srgbClr val="1F1F1F"/>
                </a:solidFill>
                <a:latin typeface="Calibri"/>
              </a:rPr>
              <a:t>/MT in 2026</a:t>
            </a:r>
          </a:p>
        </p:txBody>
      </p:sp>
      <p:sp>
        <p:nvSpPr>
          <p:cNvPr id="40" name="TextBox 39"/>
          <p:cNvSpPr txBox="1"/>
          <p:nvPr/>
        </p:nvSpPr>
        <p:spPr>
          <a:xfrm>
            <a:off x="8658225" y="5690996"/>
            <a:ext cx="436140" cy="179069"/>
          </a:xfrm>
          <a:prstGeom prst="rect">
            <a:avLst/>
          </a:prstGeom>
          <a:noFill/>
        </p:spPr>
        <p:txBody>
          <a:bodyPr wrap="none" lIns="0" rIns="0" tIns="0" bIns="0">
            <a:spAutoFit/>
          </a:bodyPr>
          <a:lstStyle/>
          <a:p>
            <a:r>
              <a:rPr sz="1050" b="0">
                <a:solidFill>
                  <a:srgbClr val="1F1F1F"/>
                </a:solidFill>
                <a:latin typeface="Calibri"/>
              </a:rPr>
              <a:t>to US$</a:t>
            </a:r>
          </a:p>
        </p:txBody>
      </p:sp>
      <p:pic>
        <p:nvPicPr>
          <p:cNvPr id="41" name="Picture 40" descr="lock.png"/>
          <p:cNvPicPr>
            <a:picLocks noChangeAspect="1"/>
          </p:cNvPicPr>
          <p:nvPr/>
        </p:nvPicPr>
        <p:blipFill>
          <a:blip r:embed="rId6"/>
          <a:stretch>
            <a:fillRect/>
          </a:stretch>
        </p:blipFill>
        <p:spPr>
          <a:xfrm>
            <a:off x="9041315" y="5681662"/>
            <a:ext cx="122849" cy="178689"/>
          </a:xfrm>
          <a:prstGeom prst="rect">
            <a:avLst/>
          </a:prstGeom>
        </p:spPr>
      </p:pic>
      <p:sp>
        <p:nvSpPr>
          <p:cNvPr id="42" name="TextBox 41"/>
          <p:cNvSpPr txBox="1"/>
          <p:nvPr/>
        </p:nvSpPr>
        <p:spPr>
          <a:xfrm>
            <a:off x="9201197" y="5690996"/>
            <a:ext cx="2593181" cy="179069"/>
          </a:xfrm>
          <a:prstGeom prst="rect">
            <a:avLst/>
          </a:prstGeom>
          <a:noFill/>
        </p:spPr>
        <p:txBody>
          <a:bodyPr wrap="none" lIns="0" rIns="0" tIns="0" bIns="0">
            <a:spAutoFit/>
          </a:bodyPr>
          <a:lstStyle/>
          <a:p>
            <a:r>
              <a:rPr sz="1050" b="0">
                <a:solidFill>
                  <a:srgbClr val="1F1F1F"/>
                </a:solidFill>
                <a:latin typeface="Calibri"/>
              </a:rPr>
              <a:t>/MT in 2036, and the gap between the highest</a:t>
            </a:r>
          </a:p>
        </p:txBody>
      </p:sp>
      <p:sp>
        <p:nvSpPr>
          <p:cNvPr id="43" name="TextBox 42"/>
          <p:cNvSpPr txBox="1"/>
          <p:nvPr/>
        </p:nvSpPr>
        <p:spPr>
          <a:xfrm>
            <a:off x="8658225" y="5851016"/>
            <a:ext cx="2944527" cy="179069"/>
          </a:xfrm>
          <a:prstGeom prst="rect">
            <a:avLst/>
          </a:prstGeom>
          <a:noFill/>
        </p:spPr>
        <p:txBody>
          <a:bodyPr wrap="none" lIns="0" rIns="0" tIns="0" bIns="0">
            <a:spAutoFit/>
          </a:bodyPr>
          <a:lstStyle/>
          <a:p>
            <a:r>
              <a:rPr sz="1050" b="0">
                <a:solidFill>
                  <a:srgbClr val="1F1F1F"/>
                </a:solidFill>
                <a:latin typeface="Calibri"/>
              </a:rPr>
              <a:t>and lowest priced product type moves from 22.6% in</a:t>
            </a:r>
          </a:p>
        </p:txBody>
      </p:sp>
      <p:sp>
        <p:nvSpPr>
          <p:cNvPr id="44" name="TextBox 43"/>
          <p:cNvSpPr txBox="1"/>
          <p:nvPr/>
        </p:nvSpPr>
        <p:spPr>
          <a:xfrm>
            <a:off x="8658225" y="6011036"/>
            <a:ext cx="1320365" cy="179069"/>
          </a:xfrm>
          <a:prstGeom prst="rect">
            <a:avLst/>
          </a:prstGeom>
          <a:noFill/>
        </p:spPr>
        <p:txBody>
          <a:bodyPr wrap="none" lIns="0" rIns="0" tIns="0" bIns="0">
            <a:spAutoFit/>
          </a:bodyPr>
          <a:lstStyle/>
          <a:p>
            <a:r>
              <a:rPr sz="1050" b="0">
                <a:solidFill>
                  <a:srgbClr val="1F1F1F"/>
                </a:solidFill>
                <a:latin typeface="Calibri"/>
              </a:rPr>
              <a:t>2021 to 23.2% in 2036.</a:t>
            </a:r>
          </a:p>
        </p:txBody>
      </p:sp>
      <p:pic>
        <p:nvPicPr>
          <p:cNvPr id="45" name="Picture 44" descr="lock.png"/>
          <p:cNvPicPr>
            <a:picLocks noChangeAspect="1"/>
          </p:cNvPicPr>
          <p:nvPr/>
        </p:nvPicPr>
        <p:blipFill>
          <a:blip r:embed="rId6"/>
          <a:stretch>
            <a:fillRect/>
          </a:stretch>
        </p:blipFill>
        <p:spPr>
          <a:xfrm>
            <a:off x="3418190" y="3048804"/>
            <a:ext cx="454926" cy="661711"/>
          </a:xfrm>
          <a:prstGeom prst="rect">
            <a:avLst/>
          </a:prstGeom>
        </p:spPr>
      </p:pic>
      <p:sp>
        <p:nvSpPr>
          <p:cNvPr id="46"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Price Matrix: Product Type ×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for every product type and flavour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(US$/MT), Shaded by Index vs Global Average</a:t>
            </a:r>
          </a:p>
        </p:txBody>
      </p:sp>
      <p:graphicFrame>
        <p:nvGraphicFramePr>
          <p:cNvPr id="13" name="Table 12"/>
          <p:cNvGraphicFramePr>
            <a:graphicFrameLocks noGrp="1"/>
          </p:cNvGraphicFramePr>
          <p:nvPr/>
        </p:nvGraphicFramePr>
        <p:xfrm>
          <a:off x="365760" y="1868043"/>
          <a:ext cx="7360920" cy="2834640"/>
        </p:xfrm>
        <a:graphic>
          <a:graphicData uri="http://schemas.openxmlformats.org/drawingml/2006/table">
            <a:tbl>
              <a:tblPr firstRow="1" bandRow="1">
                <a:tableStyleId>{5C22544A-7EE6-4342-B048-85BDC9FD1C3A}</a:tableStyleId>
              </a:tblPr>
              <a:tblGrid>
                <a:gridCol w="1554480"/>
                <a:gridCol w="2601468"/>
                <a:gridCol w="2601468"/>
                <a:gridCol w="603504"/>
              </a:tblGrid>
              <a:tr h="708660">
                <a:tc>
                  <a:txBody>
                    <a:bodyPr wrap="square"/>
                    <a:lstStyle/>
                    <a:p>
                      <a:pPr algn="l"/>
                      <a:r>
                        <a:rPr sz="800" b="1">
                          <a:solidFill>
                            <a:srgbClr val="FFFFFF"/>
                          </a:solidFill>
                          <a:latin typeface="Calibri"/>
                        </a:rPr>
                        <a:t>Product Type</a:t>
                      </a:r>
                    </a:p>
                  </a:txBody>
                  <a:tcPr marL="36576" marR="36576" marT="9144" marB="9144" anchor="ctr">
                    <a:solidFill>
                      <a:srgbClr val="0B2E4A"/>
                    </a:solidFill>
                  </a:tcPr>
                </a:tc>
                <a:tc>
                  <a:txBody>
                    <a:bodyPr wrap="square"/>
                    <a:lstStyle/>
                    <a:p>
                      <a:pPr algn="ctr"/>
                      <a:r>
                        <a:rPr sz="800" b="1">
                          <a:solidFill>
                            <a:srgbClr val="FFFFFF"/>
                          </a:solidFill>
                          <a:latin typeface="Calibri"/>
                        </a:rPr>
                        <a:t>Sweet Muffins Flavours</a:t>
                      </a:r>
                    </a:p>
                  </a:txBody>
                  <a:tcPr marL="36576" marR="36576" marT="9144" marB="9144" anchor="ctr">
                    <a:solidFill>
                      <a:srgbClr val="0B2E4A"/>
                    </a:solidFill>
                  </a:tcPr>
                </a:tc>
                <a:tc>
                  <a:txBody>
                    <a:bodyPr wrap="square"/>
                    <a:lstStyle/>
                    <a:p>
                      <a:pPr algn="ctr"/>
                      <a:r>
                        <a:rPr sz="800" b="1">
                          <a:solidFill>
                            <a:srgbClr val="FFFFFF"/>
                          </a:solidFill>
                          <a:latin typeface="Calibri"/>
                        </a:rPr>
                        <a:t>Savoury Muffins Flavours</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708660">
                <a:tc>
                  <a:txBody>
                    <a:bodyPr wrap="square"/>
                    <a:lstStyle/>
                    <a:p>
                      <a:pPr algn="l"/>
                      <a:r>
                        <a:rPr sz="900" b="1">
                          <a:solidFill>
                            <a:srgbClr val="1F1F1F"/>
                          </a:solidFill>
                          <a:latin typeface="Calibri"/>
                        </a:rPr>
                        <a:t>Sweet muffins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708660">
                <a:tc>
                  <a:txBody>
                    <a:bodyPr wrap="square"/>
                    <a:lstStyle/>
                    <a:p>
                      <a:pPr algn="l"/>
                      <a:r>
                        <a:rPr sz="900" b="1">
                          <a:solidFill>
                            <a:srgbClr val="1F1F1F"/>
                          </a:solidFill>
                          <a:latin typeface="Calibri"/>
                        </a:rPr>
                        <a:t>Savoury muffins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708660">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Flavour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(US$/MT)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Sweet muffins positioned on Savoury Muffins Flavours carry the strongest premium at an index of 110.9, which signals room for value-added claims in this combination.</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69" y="3372993"/>
            <a:ext cx="366712" cy="533400"/>
          </a:xfrm>
          <a:prstGeom prst="rect">
            <a:avLst/>
          </a:prstGeom>
        </p:spPr>
      </p:pic>
      <p:sp>
        <p:nvSpPr>
          <p:cNvPr id="43" name="TextBox 42"/>
          <p:cNvSpPr txBox="1"/>
          <p:nvPr/>
        </p:nvSpPr>
        <p:spPr>
          <a:xfrm>
            <a:off x="411480" y="1110615"/>
            <a:ext cx="6417394" cy="217169"/>
          </a:xfrm>
          <a:prstGeom prst="rect">
            <a:avLst/>
          </a:prstGeom>
          <a:noFill/>
        </p:spPr>
        <p:txBody>
          <a:bodyPr wrap="none" lIns="0" rIns="0" tIns="0" bIns="0">
            <a:spAutoFit/>
          </a:bodyPr>
          <a:lstStyle/>
          <a:p>
            <a:r>
              <a:rPr sz="1300" b="1">
                <a:solidFill>
                  <a:srgbClr val="FFFFFF"/>
                </a:solidFill>
                <a:latin typeface="Calibri"/>
              </a:rPr>
              <a:t>Sweet muffins for Savoury Muffins Flavours is the highest priced combination in 2026 at US$</a:t>
            </a:r>
          </a:p>
        </p:txBody>
      </p:sp>
      <p:pic>
        <p:nvPicPr>
          <p:cNvPr id="44" name="Picture 43" descr="lock.png"/>
          <p:cNvPicPr>
            <a:picLocks noChangeAspect="1"/>
          </p:cNvPicPr>
          <p:nvPr/>
        </p:nvPicPr>
        <p:blipFill>
          <a:blip r:embed="rId5"/>
          <a:stretch>
            <a:fillRect/>
          </a:stretch>
        </p:blipFill>
        <p:spPr>
          <a:xfrm>
            <a:off x="6781335" y="1099058"/>
            <a:ext cx="152098" cy="221234"/>
          </a:xfrm>
          <a:prstGeom prst="rect">
            <a:avLst/>
          </a:prstGeom>
        </p:spPr>
      </p:pic>
      <p:sp>
        <p:nvSpPr>
          <p:cNvPr id="45" name="TextBox 44"/>
          <p:cNvSpPr txBox="1"/>
          <p:nvPr/>
        </p:nvSpPr>
        <p:spPr>
          <a:xfrm>
            <a:off x="6979284" y="1110615"/>
            <a:ext cx="2784871" cy="217169"/>
          </a:xfrm>
          <a:prstGeom prst="rect">
            <a:avLst/>
          </a:prstGeom>
          <a:noFill/>
        </p:spPr>
        <p:txBody>
          <a:bodyPr wrap="none" lIns="0" rIns="0" tIns="0" bIns="0">
            <a:spAutoFit/>
          </a:bodyPr>
          <a:lstStyle/>
          <a:p>
            <a:r>
              <a:rPr sz="1300" b="1">
                <a:solidFill>
                  <a:srgbClr val="FFFFFF"/>
                </a:solidFill>
                <a:latin typeface="Calibri"/>
              </a:rPr>
              <a:t>/MT, +10.9% above the Global average.</a:t>
            </a:r>
          </a:p>
        </p:txBody>
      </p:sp>
      <p:sp>
        <p:nvSpPr>
          <p:cNvPr id="46" name="TextBox 45"/>
          <p:cNvSpPr txBox="1"/>
          <p:nvPr/>
        </p:nvSpPr>
        <p:spPr>
          <a:xfrm>
            <a:off x="4732401" y="5530976"/>
            <a:ext cx="3143249" cy="179069"/>
          </a:xfrm>
          <a:prstGeom prst="rect">
            <a:avLst/>
          </a:prstGeom>
          <a:noFill/>
        </p:spPr>
        <p:txBody>
          <a:bodyPr wrap="none" lIns="0" rIns="0" tIns="0" bIns="0">
            <a:spAutoFit/>
          </a:bodyPr>
          <a:lstStyle/>
          <a:p>
            <a:r>
              <a:rPr sz="1050" b="0">
                <a:solidFill>
                  <a:srgbClr val="1F1F1F"/>
                </a:solidFill>
                <a:latin typeface="Calibri"/>
              </a:rPr>
              <a:t>Savoury muffins for Sweet Muffins Flavours is the lowest</a:t>
            </a:r>
          </a:p>
        </p:txBody>
      </p:sp>
      <p:sp>
        <p:nvSpPr>
          <p:cNvPr id="47" name="TextBox 46"/>
          <p:cNvSpPr txBox="1"/>
          <p:nvPr/>
        </p:nvSpPr>
        <p:spPr>
          <a:xfrm>
            <a:off x="4732401" y="5690996"/>
            <a:ext cx="2928900" cy="179069"/>
          </a:xfrm>
          <a:prstGeom prst="rect">
            <a:avLst/>
          </a:prstGeom>
          <a:noFill/>
        </p:spPr>
        <p:txBody>
          <a:bodyPr wrap="none" lIns="0" rIns="0" tIns="0" bIns="0">
            <a:spAutoFit/>
          </a:bodyPr>
          <a:lstStyle/>
          <a:p>
            <a:r>
              <a:rPr sz="1050" b="0">
                <a:solidFill>
                  <a:srgbClr val="1F1F1F"/>
                </a:solidFill>
                <a:latin typeface="Calibri"/>
              </a:rPr>
              <a:t>priced combination at an index of 89.5, sitting 10.5%</a:t>
            </a:r>
          </a:p>
        </p:txBody>
      </p:sp>
      <p:sp>
        <p:nvSpPr>
          <p:cNvPr id="48" name="TextBox 47"/>
          <p:cNvSpPr txBox="1"/>
          <p:nvPr/>
        </p:nvSpPr>
        <p:spPr>
          <a:xfrm>
            <a:off x="4732401" y="5851016"/>
            <a:ext cx="1846733" cy="179069"/>
          </a:xfrm>
          <a:prstGeom prst="rect">
            <a:avLst/>
          </a:prstGeom>
          <a:noFill/>
        </p:spPr>
        <p:txBody>
          <a:bodyPr wrap="none" lIns="0" rIns="0" tIns="0" bIns="0">
            <a:spAutoFit/>
          </a:bodyPr>
          <a:lstStyle/>
          <a:p>
            <a:r>
              <a:rPr sz="1050" b="0">
                <a:solidFill>
                  <a:srgbClr val="1F1F1F"/>
                </a:solidFill>
                <a:latin typeface="Calibri"/>
              </a:rPr>
              <a:t>below the Global average of US$</a:t>
            </a:r>
          </a:p>
        </p:txBody>
      </p:sp>
      <p:pic>
        <p:nvPicPr>
          <p:cNvPr id="49" name="Picture 48" descr="lock.png"/>
          <p:cNvPicPr>
            <a:picLocks noChangeAspect="1"/>
          </p:cNvPicPr>
          <p:nvPr/>
        </p:nvPicPr>
        <p:blipFill>
          <a:blip r:embed="rId5"/>
          <a:stretch>
            <a:fillRect/>
          </a:stretch>
        </p:blipFill>
        <p:spPr>
          <a:xfrm>
            <a:off x="6526084" y="5841682"/>
            <a:ext cx="122849" cy="178689"/>
          </a:xfrm>
          <a:prstGeom prst="rect">
            <a:avLst/>
          </a:prstGeom>
        </p:spPr>
      </p:pic>
      <p:sp>
        <p:nvSpPr>
          <p:cNvPr id="50" name="TextBox 49"/>
          <p:cNvSpPr txBox="1"/>
          <p:nvPr/>
        </p:nvSpPr>
        <p:spPr>
          <a:xfrm>
            <a:off x="6685966" y="5851016"/>
            <a:ext cx="340555" cy="179069"/>
          </a:xfrm>
          <a:prstGeom prst="rect">
            <a:avLst/>
          </a:prstGeom>
          <a:noFill/>
        </p:spPr>
        <p:txBody>
          <a:bodyPr wrap="none" lIns="0" rIns="0" tIns="0" bIns="0">
            <a:spAutoFit/>
          </a:bodyPr>
          <a:lstStyle/>
          <a:p>
            <a:r>
              <a:rPr sz="1050" b="0">
                <a:solidFill>
                  <a:srgbClr val="1F1F1F"/>
                </a:solidFill>
                <a:latin typeface="Calibri"/>
              </a:rPr>
              <a:t>/MT.</a:t>
            </a:r>
          </a:p>
        </p:txBody>
      </p:sp>
      <p:sp>
        <p:nvSpPr>
          <p:cNvPr id="51" name="TextBox 50"/>
          <p:cNvSpPr txBox="1"/>
          <p:nvPr/>
        </p:nvSpPr>
        <p:spPr>
          <a:xfrm>
            <a:off x="8658225" y="5530976"/>
            <a:ext cx="3062510" cy="179069"/>
          </a:xfrm>
          <a:prstGeom prst="rect">
            <a:avLst/>
          </a:prstGeom>
          <a:noFill/>
        </p:spPr>
        <p:txBody>
          <a:bodyPr wrap="none" lIns="0" rIns="0" tIns="0" bIns="0">
            <a:spAutoFit/>
          </a:bodyPr>
          <a:lstStyle/>
          <a:p>
            <a:r>
              <a:rPr sz="1050" b="0">
                <a:solidFill>
                  <a:srgbClr val="1F1F1F"/>
                </a:solidFill>
                <a:latin typeface="Calibri"/>
              </a:rPr>
              <a:t>Sweet muffins show the widest internal price spread at</a:t>
            </a:r>
          </a:p>
        </p:txBody>
      </p:sp>
      <p:sp>
        <p:nvSpPr>
          <p:cNvPr id="52" name="TextBox 51"/>
          <p:cNvSpPr txBox="1"/>
          <p:nvPr/>
        </p:nvSpPr>
        <p:spPr>
          <a:xfrm>
            <a:off x="8658225" y="5690996"/>
            <a:ext cx="1417773" cy="179069"/>
          </a:xfrm>
          <a:prstGeom prst="rect">
            <a:avLst/>
          </a:prstGeom>
          <a:noFill/>
        </p:spPr>
        <p:txBody>
          <a:bodyPr wrap="none" lIns="0" rIns="0" tIns="0" bIns="0">
            <a:spAutoFit/>
          </a:bodyPr>
          <a:lstStyle/>
          <a:p>
            <a:r>
              <a:rPr sz="1050" b="0">
                <a:solidFill>
                  <a:srgbClr val="1F1F1F"/>
                </a:solidFill>
                <a:latin typeface="Calibri"/>
              </a:rPr>
              <a:t>41.5%, ranging from US$</a:t>
            </a:r>
          </a:p>
        </p:txBody>
      </p:sp>
      <p:pic>
        <p:nvPicPr>
          <p:cNvPr id="53" name="Picture 52" descr="lock.png"/>
          <p:cNvPicPr>
            <a:picLocks noChangeAspect="1"/>
          </p:cNvPicPr>
          <p:nvPr/>
        </p:nvPicPr>
        <p:blipFill>
          <a:blip r:embed="rId5"/>
          <a:stretch>
            <a:fillRect/>
          </a:stretch>
        </p:blipFill>
        <p:spPr>
          <a:xfrm>
            <a:off x="10022948" y="5681662"/>
            <a:ext cx="122849" cy="178689"/>
          </a:xfrm>
          <a:prstGeom prst="rect">
            <a:avLst/>
          </a:prstGeom>
        </p:spPr>
      </p:pic>
      <p:sp>
        <p:nvSpPr>
          <p:cNvPr id="54" name="TextBox 53"/>
          <p:cNvSpPr txBox="1"/>
          <p:nvPr/>
        </p:nvSpPr>
        <p:spPr>
          <a:xfrm>
            <a:off x="10182830" y="5690996"/>
            <a:ext cx="697110" cy="179069"/>
          </a:xfrm>
          <a:prstGeom prst="rect">
            <a:avLst/>
          </a:prstGeom>
          <a:noFill/>
        </p:spPr>
        <p:txBody>
          <a:bodyPr wrap="none" lIns="0" rIns="0" tIns="0" bIns="0">
            <a:spAutoFit/>
          </a:bodyPr>
          <a:lstStyle/>
          <a:p>
            <a:r>
              <a:rPr sz="1050" b="0">
                <a:solidFill>
                  <a:srgbClr val="1F1F1F"/>
                </a:solidFill>
                <a:latin typeface="Calibri"/>
              </a:rPr>
              <a:t>/MT to US$</a:t>
            </a:r>
          </a:p>
        </p:txBody>
      </p:sp>
      <p:pic>
        <p:nvPicPr>
          <p:cNvPr id="55" name="Picture 54" descr="lock.png"/>
          <p:cNvPicPr>
            <a:picLocks noChangeAspect="1"/>
          </p:cNvPicPr>
          <p:nvPr/>
        </p:nvPicPr>
        <p:blipFill>
          <a:blip r:embed="rId5"/>
          <a:stretch>
            <a:fillRect/>
          </a:stretch>
        </p:blipFill>
        <p:spPr>
          <a:xfrm>
            <a:off x="10826890" y="5681662"/>
            <a:ext cx="122849" cy="178689"/>
          </a:xfrm>
          <a:prstGeom prst="rect">
            <a:avLst/>
          </a:prstGeom>
        </p:spPr>
      </p:pic>
      <p:sp>
        <p:nvSpPr>
          <p:cNvPr id="56" name="TextBox 55"/>
          <p:cNvSpPr txBox="1"/>
          <p:nvPr/>
        </p:nvSpPr>
        <p:spPr>
          <a:xfrm>
            <a:off x="10986773" y="5690996"/>
            <a:ext cx="678619" cy="179069"/>
          </a:xfrm>
          <a:prstGeom prst="rect">
            <a:avLst/>
          </a:prstGeom>
          <a:noFill/>
        </p:spPr>
        <p:txBody>
          <a:bodyPr wrap="none" lIns="0" rIns="0" tIns="0" bIns="0">
            <a:spAutoFit/>
          </a:bodyPr>
          <a:lstStyle/>
          <a:p>
            <a:r>
              <a:rPr sz="1050" b="0">
                <a:solidFill>
                  <a:srgbClr val="1F1F1F"/>
                </a:solidFill>
                <a:latin typeface="Calibri"/>
              </a:rPr>
              <a:t>/MT across</a:t>
            </a:r>
          </a:p>
        </p:txBody>
      </p:sp>
      <p:sp>
        <p:nvSpPr>
          <p:cNvPr id="57" name="TextBox 56"/>
          <p:cNvSpPr txBox="1"/>
          <p:nvPr/>
        </p:nvSpPr>
        <p:spPr>
          <a:xfrm>
            <a:off x="8658225" y="5851016"/>
            <a:ext cx="636686" cy="179069"/>
          </a:xfrm>
          <a:prstGeom prst="rect">
            <a:avLst/>
          </a:prstGeom>
          <a:noFill/>
        </p:spPr>
        <p:txBody>
          <a:bodyPr wrap="none" lIns="0" rIns="0" tIns="0" bIns="0">
            <a:spAutoFit/>
          </a:bodyPr>
          <a:lstStyle/>
          <a:p>
            <a:r>
              <a:rPr sz="1050" b="0">
                <a:solidFill>
                  <a:srgbClr val="1F1F1F"/>
                </a:solidFill>
                <a:latin typeface="Calibri"/>
              </a:rPr>
              <a:t>sub-types.</a:t>
            </a:r>
          </a:p>
        </p:txBody>
      </p:sp>
      <p:sp>
        <p:nvSpPr>
          <p:cNvPr id="58" name="TextBox 57"/>
          <p:cNvSpPr txBox="1"/>
          <p:nvPr/>
        </p:nvSpPr>
        <p:spPr>
          <a:xfrm>
            <a:off x="301752" y="6391275"/>
            <a:ext cx="5770697" cy="143408"/>
          </a:xfrm>
          <a:prstGeom prst="rect">
            <a:avLst/>
          </a:prstGeom>
          <a:noFill/>
        </p:spPr>
        <p:txBody>
          <a:bodyPr wrap="none" lIns="0" rIns="0" tIns="0" bIns="0">
            <a:spAutoFit/>
          </a:bodyPr>
          <a:lstStyle/>
          <a:p>
            <a:r>
              <a:rPr sz="816" b="0">
                <a:solidFill>
                  <a:srgbClr val="59636E"/>
                </a:solidFill>
                <a:latin typeface="Calibri"/>
              </a:rPr>
              <a:t>Source: FMI analysis. Cell price = combined value (US$) / combined volume (MT); shading shows the index vs the Global average of US$</a:t>
            </a:r>
          </a:p>
        </p:txBody>
      </p:sp>
      <p:pic>
        <p:nvPicPr>
          <p:cNvPr id="59" name="Picture 58" descr="lock.png"/>
          <p:cNvPicPr>
            <a:picLocks noChangeAspect="1"/>
          </p:cNvPicPr>
          <p:nvPr/>
        </p:nvPicPr>
        <p:blipFill>
          <a:blip r:embed="rId5"/>
          <a:stretch>
            <a:fillRect/>
          </a:stretch>
        </p:blipFill>
        <p:spPr>
          <a:xfrm>
            <a:off x="6014239" y="6384020"/>
            <a:ext cx="95470" cy="138866"/>
          </a:xfrm>
          <a:prstGeom prst="rect">
            <a:avLst/>
          </a:prstGeom>
        </p:spPr>
      </p:pic>
      <p:sp>
        <p:nvSpPr>
          <p:cNvPr id="60" name="TextBox 59"/>
          <p:cNvSpPr txBox="1"/>
          <p:nvPr/>
        </p:nvSpPr>
        <p:spPr>
          <a:xfrm>
            <a:off x="6138491" y="6391275"/>
            <a:ext cx="281642" cy="143408"/>
          </a:xfrm>
          <a:prstGeom prst="rect">
            <a:avLst/>
          </a:prstGeom>
          <a:noFill/>
        </p:spPr>
        <p:txBody>
          <a:bodyPr wrap="none" lIns="0" rIns="0" tIns="0" bIns="0">
            <a:spAutoFit/>
          </a:bodyPr>
          <a:lstStyle/>
          <a:p>
            <a:r>
              <a:rPr sz="816" b="0">
                <a:solidFill>
                  <a:srgbClr val="59636E"/>
                </a:solidFill>
                <a:latin typeface="Calibri"/>
              </a:rPr>
              <a:t>/MT.</a:t>
            </a:r>
          </a:p>
        </p:txBody>
      </p:sp>
      <p:pic>
        <p:nvPicPr>
          <p:cNvPr id="61" name="Picture 60" descr="lock.png"/>
          <p:cNvPicPr>
            <a:picLocks noChangeAspect="1"/>
          </p:cNvPicPr>
          <p:nvPr/>
        </p:nvPicPr>
        <p:blipFill>
          <a:blip r:embed="rId5"/>
          <a:stretch>
            <a:fillRect/>
          </a:stretch>
        </p:blipFill>
        <p:spPr>
          <a:xfrm>
            <a:off x="9913437" y="3234020"/>
            <a:ext cx="332271" cy="483303"/>
          </a:xfrm>
          <a:prstGeom prst="rect">
            <a:avLst/>
          </a:prstGeom>
        </p:spPr>
      </p:pic>
      <p:sp>
        <p:nvSpPr>
          <p:cNvPr id="62"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Region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type price in each region, read on the price index axis (Global average = 100). Teal = above Global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b="0">
                          <a:solidFill>
                            <a:srgbClr val="1F1F1F"/>
                          </a:solidFill>
                          <a:latin typeface="Calibri"/>
                        </a:rPr>
                        <a:t>107.6</a:t>
                      </a:r>
                    </a:p>
                  </a:txBody>
                  <a:tcPr marL="36576" marR="36576" marT="9144" marB="9144" anchor="ctr">
                    <a:solidFill>
                      <a:srgbClr val="F4B183"/>
                    </a:solidFill>
                  </a:tcPr>
                </a:tc>
                <a:tc>
                  <a:txBody>
                    <a:bodyPr wrap="square"/>
                    <a:lstStyle/>
                    <a:p>
                      <a:pPr algn="ctr"/>
                      <a:r>
                        <a:rPr sz="900" b="0">
                          <a:solidFill>
                            <a:srgbClr val="1F1F1F"/>
                          </a:solidFill>
                          <a:latin typeface="Calibri"/>
                        </a:rPr>
                        <a:t>0.72%</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b="0">
                          <a:solidFill>
                            <a:srgbClr val="1F1F1F"/>
                          </a:solidFill>
                          <a:latin typeface="Calibri"/>
                        </a:rPr>
                        <a:t>103.0</a:t>
                      </a:r>
                    </a:p>
                  </a:txBody>
                  <a:tcPr marL="36576" marR="36576" marT="9144" marB="9144" anchor="ctr">
                    <a:solidFill>
                      <a:srgbClr val="F4B183"/>
                    </a:solidFill>
                  </a:tcPr>
                </a:tc>
                <a:tc>
                  <a:txBody>
                    <a:bodyPr wrap="square"/>
                    <a:lstStyle/>
                    <a:p>
                      <a:pPr algn="ctr"/>
                      <a:r>
                        <a:rPr sz="900" b="0">
                          <a:solidFill>
                            <a:srgbClr val="1F1F1F"/>
                          </a:solidFill>
                          <a:latin typeface="Calibri"/>
                        </a:rPr>
                        <a:t>0.74%</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b="0">
                          <a:solidFill>
                            <a:srgbClr val="1F1F1F"/>
                          </a:solidFill>
                          <a:latin typeface="Calibri"/>
                        </a:rPr>
                        <a:t>102.7</a:t>
                      </a:r>
                    </a:p>
                  </a:txBody>
                  <a:tcPr marL="36576" marR="36576" marT="9144" marB="9144" anchor="ctr">
                    <a:solidFill>
                      <a:srgbClr val="F4B183"/>
                    </a:solidFill>
                  </a:tcPr>
                </a:tc>
                <a:tc>
                  <a:txBody>
                    <a:bodyPr wrap="square"/>
                    <a:lstStyle/>
                    <a:p>
                      <a:pPr algn="ctr"/>
                      <a:r>
                        <a:rPr sz="900" b="0">
                          <a:solidFill>
                            <a:srgbClr val="1F1F1F"/>
                          </a:solidFill>
                          <a:latin typeface="Calibri"/>
                        </a:rPr>
                        <a:t>0.71%</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b="0">
                          <a:solidFill>
                            <a:srgbClr val="1F1F1F"/>
                          </a:solidFill>
                          <a:latin typeface="Calibri"/>
                        </a:rPr>
                        <a:t>101.9</a:t>
                      </a:r>
                    </a:p>
                  </a:txBody>
                  <a:tcPr marL="36576" marR="36576" marT="9144" marB="9144" anchor="ctr">
                    <a:solidFill>
                      <a:srgbClr val="FBE3D3"/>
                    </a:solidFill>
                  </a:tcPr>
                </a:tc>
                <a:tc>
                  <a:txBody>
                    <a:bodyPr wrap="square"/>
                    <a:lstStyle/>
                    <a:p>
                      <a:pPr algn="ctr"/>
                      <a:r>
                        <a:rPr sz="900" b="0">
                          <a:solidFill>
                            <a:srgbClr val="1F1F1F"/>
                          </a:solidFill>
                          <a:latin typeface="Calibri"/>
                        </a:rPr>
                        <a:t>0.78%</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b="0">
                          <a:solidFill>
                            <a:srgbClr val="1F1F1F"/>
                          </a:solidFill>
                          <a:latin typeface="Calibri"/>
                        </a:rPr>
                        <a:t>100.3</a:t>
                      </a:r>
                    </a:p>
                  </a:txBody>
                  <a:tcPr marL="36576" marR="36576" marT="9144" marB="9144" anchor="ctr">
                    <a:solidFill>
                      <a:srgbClr val="F7F7F7"/>
                    </a:solidFill>
                  </a:tcPr>
                </a:tc>
                <a:tc>
                  <a:txBody>
                    <a:bodyPr wrap="square"/>
                    <a:lstStyle/>
                    <a:p>
                      <a:pPr algn="ctr"/>
                      <a:r>
                        <a:rPr sz="900" b="0">
                          <a:solidFill>
                            <a:srgbClr val="1F1F1F"/>
                          </a:solidFill>
                          <a:latin typeface="Calibri"/>
                        </a:rPr>
                        <a:t>0.69%</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b="0">
                          <a:solidFill>
                            <a:srgbClr val="1F1F1F"/>
                          </a:solidFill>
                          <a:latin typeface="Calibri"/>
                        </a:rPr>
                        <a:t>92.7</a:t>
                      </a:r>
                    </a:p>
                  </a:txBody>
                  <a:tcPr marL="36576" marR="36576" marT="9144" marB="9144" anchor="ctr">
                    <a:solidFill>
                      <a:srgbClr val="9DC0E0"/>
                    </a:solidFill>
                  </a:tcPr>
                </a:tc>
                <a:tc>
                  <a:txBody>
                    <a:bodyPr wrap="square"/>
                    <a:lstStyle/>
                    <a:p>
                      <a:pPr algn="ctr"/>
                      <a:r>
                        <a:rPr sz="900" b="0">
                          <a:solidFill>
                            <a:srgbClr val="1F1F1F"/>
                          </a:solidFill>
                          <a:latin typeface="Calibri"/>
                        </a:rPr>
                        <a:t>0.73%</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South Asia &amp; Pacific records the fastest average price growth at a 0.78% CAGR between 2026 and 2036, against 0.76% for Global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North America shows the widest gap between its cheapest and most expensive product type at 23.6%,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9689210" y="3394113"/>
            <a:ext cx="330041" cy="480060"/>
          </a:xfrm>
          <a:prstGeom prst="rect">
            <a:avLst/>
          </a:prstGeom>
        </p:spPr>
      </p:pic>
      <p:sp>
        <p:nvSpPr>
          <p:cNvPr id="33" name="TextBox 32"/>
          <p:cNvSpPr txBox="1"/>
          <p:nvPr/>
        </p:nvSpPr>
        <p:spPr>
          <a:xfrm>
            <a:off x="411480" y="1110615"/>
            <a:ext cx="3466876" cy="217169"/>
          </a:xfrm>
          <a:prstGeom prst="rect">
            <a:avLst/>
          </a:prstGeom>
          <a:noFill/>
        </p:spPr>
        <p:txBody>
          <a:bodyPr wrap="none" lIns="0" rIns="0" tIns="0" bIns="0">
            <a:spAutoFit/>
          </a:bodyPr>
          <a:lstStyle/>
          <a:p>
            <a:r>
              <a:rPr sz="1300" b="1">
                <a:solidFill>
                  <a:srgbClr val="FFFFFF"/>
                </a:solidFill>
                <a:latin typeface="Calibri"/>
              </a:rPr>
              <a:t>Europe is the most premium Global region at US$</a:t>
            </a:r>
          </a:p>
        </p:txBody>
      </p:sp>
      <p:pic>
        <p:nvPicPr>
          <p:cNvPr id="34" name="Picture 33" descr="lock.png"/>
          <p:cNvPicPr>
            <a:picLocks noChangeAspect="1"/>
          </p:cNvPicPr>
          <p:nvPr/>
        </p:nvPicPr>
        <p:blipFill>
          <a:blip r:embed="rId5"/>
          <a:stretch>
            <a:fillRect/>
          </a:stretch>
        </p:blipFill>
        <p:spPr>
          <a:xfrm>
            <a:off x="3830817" y="1099058"/>
            <a:ext cx="152098" cy="221234"/>
          </a:xfrm>
          <a:prstGeom prst="rect">
            <a:avLst/>
          </a:prstGeom>
        </p:spPr>
      </p:pic>
      <p:sp>
        <p:nvSpPr>
          <p:cNvPr id="35" name="TextBox 34"/>
          <p:cNvSpPr txBox="1"/>
          <p:nvPr/>
        </p:nvSpPr>
        <p:spPr>
          <a:xfrm>
            <a:off x="4028767" y="1110615"/>
            <a:ext cx="6087516" cy="217169"/>
          </a:xfrm>
          <a:prstGeom prst="rect">
            <a:avLst/>
          </a:prstGeom>
          <a:noFill/>
        </p:spPr>
        <p:txBody>
          <a:bodyPr wrap="none" lIns="0" rIns="0" tIns="0" bIns="0">
            <a:spAutoFit/>
          </a:bodyPr>
          <a:lstStyle/>
          <a:p>
            <a:r>
              <a:rPr sz="1300" b="1">
                <a:solidFill>
                  <a:srgbClr val="FFFFFF"/>
                </a:solidFill>
                <a:latin typeface="Calibri"/>
              </a:rPr>
              <a:t>/MT in 2026, +7.6% above the global average, while North America is the lowest priced.</a:t>
            </a:r>
          </a:p>
        </p:txBody>
      </p:sp>
      <p:sp>
        <p:nvSpPr>
          <p:cNvPr id="36" name="TextBox 35"/>
          <p:cNvSpPr txBox="1"/>
          <p:nvPr/>
        </p:nvSpPr>
        <p:spPr>
          <a:xfrm>
            <a:off x="806576" y="5530976"/>
            <a:ext cx="3140608" cy="179069"/>
          </a:xfrm>
          <a:prstGeom prst="rect">
            <a:avLst/>
          </a:prstGeom>
          <a:noFill/>
        </p:spPr>
        <p:txBody>
          <a:bodyPr wrap="none" lIns="0" rIns="0" tIns="0" bIns="0">
            <a:spAutoFit/>
          </a:bodyPr>
          <a:lstStyle/>
          <a:p>
            <a:r>
              <a:rPr sz="1050" b="0">
                <a:solidFill>
                  <a:srgbClr val="1F1F1F"/>
                </a:solidFill>
                <a:latin typeface="Calibri"/>
              </a:rPr>
              <a:t>Average prices across the ranked regions differ by 16.1%</a:t>
            </a:r>
          </a:p>
        </p:txBody>
      </p:sp>
      <p:sp>
        <p:nvSpPr>
          <p:cNvPr id="37" name="TextBox 36"/>
          <p:cNvSpPr txBox="1"/>
          <p:nvPr/>
        </p:nvSpPr>
        <p:spPr>
          <a:xfrm>
            <a:off x="806576" y="5690996"/>
            <a:ext cx="1050540" cy="179069"/>
          </a:xfrm>
          <a:prstGeom prst="rect">
            <a:avLst/>
          </a:prstGeom>
          <a:noFill/>
        </p:spPr>
        <p:txBody>
          <a:bodyPr wrap="none" lIns="0" rIns="0" tIns="0" bIns="0">
            <a:spAutoFit/>
          </a:bodyPr>
          <a:lstStyle/>
          <a:p>
            <a:r>
              <a:rPr sz="1050" b="0">
                <a:solidFill>
                  <a:srgbClr val="1F1F1F"/>
                </a:solidFill>
                <a:latin typeface="Calibri"/>
              </a:rPr>
              <a:t>in 2026, from US$</a:t>
            </a:r>
          </a:p>
        </p:txBody>
      </p:sp>
      <p:pic>
        <p:nvPicPr>
          <p:cNvPr id="38" name="Picture 37" descr="lock.png"/>
          <p:cNvPicPr>
            <a:picLocks noChangeAspect="1"/>
          </p:cNvPicPr>
          <p:nvPr/>
        </p:nvPicPr>
        <p:blipFill>
          <a:blip r:embed="rId5"/>
          <a:stretch>
            <a:fillRect/>
          </a:stretch>
        </p:blipFill>
        <p:spPr>
          <a:xfrm>
            <a:off x="1804066" y="5681662"/>
            <a:ext cx="122849" cy="178689"/>
          </a:xfrm>
          <a:prstGeom prst="rect">
            <a:avLst/>
          </a:prstGeom>
        </p:spPr>
      </p:pic>
      <p:sp>
        <p:nvSpPr>
          <p:cNvPr id="39" name="TextBox 38"/>
          <p:cNvSpPr txBox="1"/>
          <p:nvPr/>
        </p:nvSpPr>
        <p:spPr>
          <a:xfrm>
            <a:off x="1963949" y="5690996"/>
            <a:ext cx="1654261" cy="179069"/>
          </a:xfrm>
          <a:prstGeom prst="rect">
            <a:avLst/>
          </a:prstGeom>
          <a:noFill/>
        </p:spPr>
        <p:txBody>
          <a:bodyPr wrap="none" lIns="0" rIns="0" tIns="0" bIns="0">
            <a:spAutoFit/>
          </a:bodyPr>
          <a:lstStyle/>
          <a:p>
            <a:r>
              <a:rPr sz="1050" b="0">
                <a:solidFill>
                  <a:srgbClr val="1F1F1F"/>
                </a:solidFill>
                <a:latin typeface="Calibri"/>
              </a:rPr>
              <a:t>/MT in North America to US$</a:t>
            </a:r>
          </a:p>
        </p:txBody>
      </p:sp>
      <p:pic>
        <p:nvPicPr>
          <p:cNvPr id="40" name="Picture 39" descr="lock.png"/>
          <p:cNvPicPr>
            <a:picLocks noChangeAspect="1"/>
          </p:cNvPicPr>
          <p:nvPr/>
        </p:nvPicPr>
        <p:blipFill>
          <a:blip r:embed="rId5"/>
          <a:stretch>
            <a:fillRect/>
          </a:stretch>
        </p:blipFill>
        <p:spPr>
          <a:xfrm>
            <a:off x="793721" y="5841682"/>
            <a:ext cx="122849" cy="178689"/>
          </a:xfrm>
          <a:prstGeom prst="rect">
            <a:avLst/>
          </a:prstGeom>
        </p:spPr>
      </p:pic>
      <p:sp>
        <p:nvSpPr>
          <p:cNvPr id="41" name="TextBox 40"/>
          <p:cNvSpPr txBox="1"/>
          <p:nvPr/>
        </p:nvSpPr>
        <p:spPr>
          <a:xfrm>
            <a:off x="953604" y="5851016"/>
            <a:ext cx="890364" cy="179069"/>
          </a:xfrm>
          <a:prstGeom prst="rect">
            <a:avLst/>
          </a:prstGeom>
          <a:noFill/>
        </p:spPr>
        <p:txBody>
          <a:bodyPr wrap="none" lIns="0" rIns="0" tIns="0" bIns="0">
            <a:spAutoFit/>
          </a:bodyPr>
          <a:lstStyle/>
          <a:p>
            <a:r>
              <a:rPr sz="1050" b="0">
                <a:solidFill>
                  <a:srgbClr val="1F1F1F"/>
                </a:solidFill>
                <a:latin typeface="Calibri"/>
              </a:rPr>
              <a:t>/MT in Europe.</a:t>
            </a:r>
          </a:p>
        </p:txBody>
      </p:sp>
      <p:sp>
        <p:nvSpPr>
          <p:cNvPr id="42"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3,221</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3,595</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3,970</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4,344</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4,718</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5,093</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2045494" y="2100912"/>
            <a:ext cx="269574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331452"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3354194" y="2824823"/>
            <a:ext cx="2896943"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40753"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3926499" y="3548733"/>
            <a:ext cx="3000558"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5364865"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3123213" y="4272643"/>
            <a:ext cx="2632043"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4377321"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3199539" y="4996553"/>
            <a:ext cx="286481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4570035"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3380679" y="5720463"/>
            <a:ext cx="282556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4731550"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751656" cy="194310"/>
          </a:xfrm>
          <a:prstGeom prst="rect">
            <a:avLst/>
          </a:prstGeom>
          <a:noFill/>
        </p:spPr>
        <p:txBody>
          <a:bodyPr wrap="none" lIns="0" rIns="0" tIns="0" bIns="0">
            <a:spAutoFit/>
          </a:bodyPr>
          <a:lstStyle/>
          <a:p>
            <a:r>
              <a:rPr sz="1150" b="0">
                <a:solidFill>
                  <a:srgbClr val="2E2E2E"/>
                </a:solidFill>
                <a:latin typeface="Calibri"/>
              </a:rPr>
              <a:t>▪ Average prices sit within a tight band across regions, ranging</a:t>
            </a:r>
          </a:p>
        </p:txBody>
      </p:sp>
      <p:sp>
        <p:nvSpPr>
          <p:cNvPr id="54" name="TextBox 53"/>
          <p:cNvSpPr txBox="1"/>
          <p:nvPr/>
        </p:nvSpPr>
        <p:spPr>
          <a:xfrm>
            <a:off x="8048625" y="1911934"/>
            <a:ext cx="471276" cy="194310"/>
          </a:xfrm>
          <a:prstGeom prst="rect">
            <a:avLst/>
          </a:prstGeom>
          <a:noFill/>
        </p:spPr>
        <p:txBody>
          <a:bodyPr wrap="none" lIns="0" rIns="0" tIns="0" bIns="0">
            <a:spAutoFit/>
          </a:bodyPr>
          <a:lstStyle/>
          <a:p>
            <a:r>
              <a:rPr sz="1150" b="0">
                <a:solidFill>
                  <a:srgbClr val="2E2E2E"/>
                </a:solidFill>
                <a:latin typeface="Calibri"/>
              </a:rPr>
              <a:t>from ~</a:t>
            </a:r>
          </a:p>
        </p:txBody>
      </p:sp>
      <p:pic>
        <p:nvPicPr>
          <p:cNvPr id="55" name="Picture 54" descr="lock.png"/>
          <p:cNvPicPr>
            <a:picLocks noChangeAspect="1"/>
          </p:cNvPicPr>
          <p:nvPr/>
        </p:nvPicPr>
        <p:blipFill>
          <a:blip r:embed="rId4"/>
          <a:stretch>
            <a:fillRect/>
          </a:stretch>
        </p:blipFill>
        <p:spPr>
          <a:xfrm>
            <a:off x="8469055" y="1901710"/>
            <a:ext cx="134549" cy="195707"/>
          </a:xfrm>
          <a:prstGeom prst="rect">
            <a:avLst/>
          </a:prstGeom>
        </p:spPr>
      </p:pic>
      <p:sp>
        <p:nvSpPr>
          <p:cNvPr id="56" name="TextBox 55"/>
          <p:cNvSpPr txBox="1"/>
          <p:nvPr/>
        </p:nvSpPr>
        <p:spPr>
          <a:xfrm>
            <a:off x="8644164" y="1911934"/>
            <a:ext cx="1941760" cy="194310"/>
          </a:xfrm>
          <a:prstGeom prst="rect">
            <a:avLst/>
          </a:prstGeom>
          <a:noFill/>
        </p:spPr>
        <p:txBody>
          <a:bodyPr wrap="none" lIns="0" rIns="0" tIns="0" bIns="0">
            <a:spAutoFit/>
          </a:bodyPr>
          <a:lstStyle/>
          <a:p>
            <a:r>
              <a:rPr sz="1150" b="0">
                <a:solidFill>
                  <a:srgbClr val="2E2E2E"/>
                </a:solidFill>
                <a:latin typeface="Calibri"/>
              </a:rPr>
              <a:t>US$/MT in 'North America' to ~</a:t>
            </a:r>
          </a:p>
        </p:txBody>
      </p:sp>
      <p:pic>
        <p:nvPicPr>
          <p:cNvPr id="57" name="Picture 56" descr="lock.png"/>
          <p:cNvPicPr>
            <a:picLocks noChangeAspect="1"/>
          </p:cNvPicPr>
          <p:nvPr/>
        </p:nvPicPr>
        <p:blipFill>
          <a:blip r:embed="rId4"/>
          <a:stretch>
            <a:fillRect/>
          </a:stretch>
        </p:blipFill>
        <p:spPr>
          <a:xfrm>
            <a:off x="10535079" y="1901710"/>
            <a:ext cx="134549" cy="195707"/>
          </a:xfrm>
          <a:prstGeom prst="rect">
            <a:avLst/>
          </a:prstGeom>
        </p:spPr>
      </p:pic>
      <p:sp>
        <p:nvSpPr>
          <p:cNvPr id="58" name="TextBox 57"/>
          <p:cNvSpPr txBox="1"/>
          <p:nvPr/>
        </p:nvSpPr>
        <p:spPr>
          <a:xfrm>
            <a:off x="10710188" y="1911934"/>
            <a:ext cx="707466" cy="194310"/>
          </a:xfrm>
          <a:prstGeom prst="rect">
            <a:avLst/>
          </a:prstGeom>
          <a:noFill/>
        </p:spPr>
        <p:txBody>
          <a:bodyPr wrap="none" lIns="0" rIns="0" tIns="0" bIns="0">
            <a:spAutoFit/>
          </a:bodyPr>
          <a:lstStyle/>
          <a:p>
            <a:r>
              <a:rPr sz="1150" b="0">
                <a:solidFill>
                  <a:srgbClr val="2E2E2E"/>
                </a:solidFill>
                <a:latin typeface="Calibri"/>
              </a:rPr>
              <a:t>US$/MT in</a:t>
            </a:r>
          </a:p>
        </p:txBody>
      </p:sp>
      <p:sp>
        <p:nvSpPr>
          <p:cNvPr id="59" name="TextBox 58"/>
          <p:cNvSpPr txBox="1"/>
          <p:nvPr/>
        </p:nvSpPr>
        <p:spPr>
          <a:xfrm>
            <a:off x="8048625" y="2087194"/>
            <a:ext cx="1084857" cy="194310"/>
          </a:xfrm>
          <a:prstGeom prst="rect">
            <a:avLst/>
          </a:prstGeom>
          <a:noFill/>
        </p:spPr>
        <p:txBody>
          <a:bodyPr wrap="none" lIns="0" rIns="0" tIns="0" bIns="0">
            <a:spAutoFit/>
          </a:bodyPr>
          <a:lstStyle/>
          <a:p>
            <a:r>
              <a:rPr sz="1150" b="0">
                <a:solidFill>
                  <a:srgbClr val="2E2E2E"/>
                </a:solidFill>
                <a:latin typeface="Calibri"/>
              </a:rPr>
              <a:t>'Europe' at 2026.</a:t>
            </a:r>
          </a:p>
        </p:txBody>
      </p:sp>
      <p:sp>
        <p:nvSpPr>
          <p:cNvPr id="60" name="TextBox 59"/>
          <p:cNvSpPr txBox="1"/>
          <p:nvPr/>
        </p:nvSpPr>
        <p:spPr>
          <a:xfrm>
            <a:off x="8048625" y="2315032"/>
            <a:ext cx="3835275" cy="194310"/>
          </a:xfrm>
          <a:prstGeom prst="rect">
            <a:avLst/>
          </a:prstGeom>
          <a:noFill/>
        </p:spPr>
        <p:txBody>
          <a:bodyPr wrap="none" lIns="0" rIns="0" tIns="0" bIns="0">
            <a:spAutoFit/>
          </a:bodyPr>
          <a:lstStyle/>
          <a:p>
            <a:r>
              <a:rPr sz="1150" b="0">
                <a:solidFill>
                  <a:srgbClr val="2E2E2E"/>
                </a:solidFill>
                <a:latin typeface="Calibri"/>
              </a:rPr>
              <a:t>▪ 'Europe' commands the premium a signal of stronger demand</a:t>
            </a:r>
          </a:p>
        </p:txBody>
      </p:sp>
      <p:sp>
        <p:nvSpPr>
          <p:cNvPr id="61" name="TextBox 60"/>
          <p:cNvSpPr txBox="1"/>
          <p:nvPr/>
        </p:nvSpPr>
        <p:spPr>
          <a:xfrm>
            <a:off x="8048625" y="2490292"/>
            <a:ext cx="3575694" cy="194310"/>
          </a:xfrm>
          <a:prstGeom prst="rect">
            <a:avLst/>
          </a:prstGeom>
          <a:noFill/>
        </p:spPr>
        <p:txBody>
          <a:bodyPr wrap="none" lIns="0" rIns="0" tIns="0" bIns="0">
            <a:spAutoFit/>
          </a:bodyPr>
          <a:lstStyle/>
          <a:p>
            <a:r>
              <a:rPr sz="1150" b="0">
                <a:solidFill>
                  <a:srgbClr val="2E2E2E"/>
                </a:solidFill>
                <a:latin typeface="Calibri"/>
              </a:rPr>
              <a:t>and limited price-competitive supply while 'North America'</a:t>
            </a:r>
          </a:p>
        </p:txBody>
      </p:sp>
      <p:sp>
        <p:nvSpPr>
          <p:cNvPr id="62" name="TextBox 61"/>
          <p:cNvSpPr txBox="1"/>
          <p:nvPr/>
        </p:nvSpPr>
        <p:spPr>
          <a:xfrm>
            <a:off x="8048625" y="2665551"/>
            <a:ext cx="3063093" cy="194310"/>
          </a:xfrm>
          <a:prstGeom prst="rect">
            <a:avLst/>
          </a:prstGeom>
          <a:noFill/>
        </p:spPr>
        <p:txBody>
          <a:bodyPr wrap="none" lIns="0" rIns="0" tIns="0" bIns="0">
            <a:spAutoFit/>
          </a:bodyPr>
          <a:lstStyle/>
          <a:p>
            <a:r>
              <a:rPr sz="1150" b="0">
                <a:solidFill>
                  <a:srgbClr val="2E2E2E"/>
                </a:solidFill>
                <a:latin typeface="Calibri"/>
              </a:rPr>
              <a:t>remains the most accessible, value-led geography.</a:t>
            </a:r>
          </a:p>
        </p:txBody>
      </p:sp>
      <p:sp>
        <p:nvSpPr>
          <p:cNvPr id="63" name="TextBox 62"/>
          <p:cNvSpPr txBox="1"/>
          <p:nvPr/>
        </p:nvSpPr>
        <p:spPr>
          <a:xfrm>
            <a:off x="8048625" y="2893389"/>
            <a:ext cx="3813596" cy="194310"/>
          </a:xfrm>
          <a:prstGeom prst="rect">
            <a:avLst/>
          </a:prstGeom>
          <a:noFill/>
        </p:spPr>
        <p:txBody>
          <a:bodyPr wrap="none" lIns="0" rIns="0" tIns="0" bIns="0">
            <a:spAutoFit/>
          </a:bodyPr>
          <a:lstStyle/>
          <a:p>
            <a:r>
              <a:rPr sz="1150" b="0">
                <a:solidFill>
                  <a:srgbClr val="2E2E2E"/>
                </a:solidFill>
                <a:latin typeface="Calibri"/>
              </a:rPr>
              <a:t>▪ The orange dot is each region's average selling price; the blue</a:t>
            </a:r>
          </a:p>
        </p:txBody>
      </p:sp>
      <p:sp>
        <p:nvSpPr>
          <p:cNvPr id="64" name="TextBox 63"/>
          <p:cNvSpPr txBox="1"/>
          <p:nvPr/>
        </p:nvSpPr>
        <p:spPr>
          <a:xfrm>
            <a:off x="8048625" y="3068649"/>
            <a:ext cx="3640162" cy="194310"/>
          </a:xfrm>
          <a:prstGeom prst="rect">
            <a:avLst/>
          </a:prstGeom>
          <a:noFill/>
        </p:spPr>
        <p:txBody>
          <a:bodyPr wrap="none" lIns="0" rIns="0" tIns="0" bIns="0">
            <a:spAutoFit/>
          </a:bodyPr>
          <a:lstStyle/>
          <a:p>
            <a:r>
              <a:rPr sz="1150" b="0">
                <a:solidFill>
                  <a:srgbClr val="2E2E2E"/>
                </a:solidFill>
                <a:latin typeface="Calibri"/>
              </a:rPr>
              <a:t>band is its full low-to-high price range, all derived as Value ÷</a:t>
            </a:r>
          </a:p>
        </p:txBody>
      </p:sp>
      <p:sp>
        <p:nvSpPr>
          <p:cNvPr id="65" name="TextBox 64"/>
          <p:cNvSpPr txBox="1"/>
          <p:nvPr/>
        </p:nvSpPr>
        <p:spPr>
          <a:xfrm>
            <a:off x="8048625" y="3243909"/>
            <a:ext cx="572827" cy="194310"/>
          </a:xfrm>
          <a:prstGeom prst="rect">
            <a:avLst/>
          </a:prstGeom>
          <a:noFill/>
        </p:spPr>
        <p:txBody>
          <a:bodyPr wrap="none" lIns="0" rIns="0" tIns="0" bIns="0">
            <a:spAutoFit/>
          </a:bodyPr>
          <a:lstStyle/>
          <a:p>
            <a:r>
              <a:rPr sz="1150" b="0">
                <a:solidFill>
                  <a:srgbClr val="2E2E2E"/>
                </a:solidFill>
                <a:latin typeface="Calibri"/>
              </a:rPr>
              <a:t>Volume.</a:t>
            </a:r>
          </a:p>
        </p:txBody>
      </p:sp>
      <p:sp>
        <p:nvSpPr>
          <p:cNvPr id="66" name="TextBox 65"/>
          <p:cNvSpPr txBox="1"/>
          <p:nvPr/>
        </p:nvSpPr>
        <p:spPr>
          <a:xfrm>
            <a:off x="8048625" y="3471747"/>
            <a:ext cx="3776513" cy="194310"/>
          </a:xfrm>
          <a:prstGeom prst="rect">
            <a:avLst/>
          </a:prstGeom>
          <a:noFill/>
        </p:spPr>
        <p:txBody>
          <a:bodyPr wrap="none" lIns="0" rIns="0" tIns="0" bIns="0">
            <a:spAutoFit/>
          </a:bodyPr>
          <a:lstStyle/>
          <a:p>
            <a:r>
              <a:rPr sz="1150" b="0">
                <a:solidFill>
                  <a:srgbClr val="2E2E2E"/>
                </a:solidFill>
                <a:latin typeface="Calibri"/>
              </a:rPr>
              <a:t>▪ Narrow bands point to commoditised, price-led competition;</a:t>
            </a:r>
          </a:p>
        </p:txBody>
      </p:sp>
      <p:sp>
        <p:nvSpPr>
          <p:cNvPr id="67" name="TextBox 66"/>
          <p:cNvSpPr txBox="1"/>
          <p:nvPr/>
        </p:nvSpPr>
        <p:spPr>
          <a:xfrm>
            <a:off x="8048625" y="3647007"/>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68" name="TextBox 67"/>
          <p:cNvSpPr txBox="1"/>
          <p:nvPr/>
        </p:nvSpPr>
        <p:spPr>
          <a:xfrm>
            <a:off x="8048625" y="3822267"/>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4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Packaged Muffins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1247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934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343275"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90850"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628900"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66950"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914525"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705225"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705225"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705225"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705225"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705225"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705225"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96439"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911172"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911172"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96439"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543175"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71888"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48037"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838022"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5017427"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614355"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71888"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3006616"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85158"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505753"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72934"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733800"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733800"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733800"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733800"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733800"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48000"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4279956"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5041347"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5041347"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4279956"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3048000"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816044"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1054653"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1054653"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TextBox 53"/>
          <p:cNvSpPr txBox="1"/>
          <p:nvPr/>
        </p:nvSpPr>
        <p:spPr>
          <a:xfrm>
            <a:off x="1816044"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5" name="Rounded Rectangle 54"/>
          <p:cNvSpPr/>
          <p:nvPr/>
        </p:nvSpPr>
        <p:spPr>
          <a:xfrm>
            <a:off x="7343775" y="1354081"/>
            <a:ext cx="470535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477125" y="1439806"/>
            <a:ext cx="44386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477125" y="1677931"/>
            <a:ext cx="4438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477125" y="1763656"/>
            <a:ext cx="443865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Packaged Muffins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Packaged Muffins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343775" y="4943046"/>
            <a:ext cx="470535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477125" y="5028771"/>
            <a:ext cx="443865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477125" y="5266896"/>
            <a:ext cx="4438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77125" y="5352621"/>
            <a:ext cx="443865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336396"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944277" y="1889132"/>
            <a:ext cx="128699" cy="187198"/>
          </a:xfrm>
          <a:prstGeom prst="rect">
            <a:avLst/>
          </a:prstGeom>
        </p:spPr>
      </p:pic>
      <p:sp>
        <p:nvSpPr>
          <p:cNvPr id="66" name="TextBox 65"/>
          <p:cNvSpPr txBox="1"/>
          <p:nvPr/>
        </p:nvSpPr>
        <p:spPr>
          <a:xfrm>
            <a:off x="4362308"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418613" y="2315626"/>
            <a:ext cx="92663" cy="134782"/>
          </a:xfrm>
          <a:prstGeom prst="rect">
            <a:avLst/>
          </a:prstGeom>
        </p:spPr>
      </p:pic>
      <p:sp>
        <p:nvSpPr>
          <p:cNvPr id="68" name="TextBox 67"/>
          <p:cNvSpPr txBox="1"/>
          <p:nvPr/>
        </p:nvSpPr>
        <p:spPr>
          <a:xfrm>
            <a:off x="5130968"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172736" y="3363591"/>
            <a:ext cx="92663" cy="134782"/>
          </a:xfrm>
          <a:prstGeom prst="rect">
            <a:avLst/>
          </a:prstGeom>
        </p:spPr>
      </p:pic>
      <p:sp>
        <p:nvSpPr>
          <p:cNvPr id="70" name="TextBox 69"/>
          <p:cNvSpPr txBox="1"/>
          <p:nvPr/>
        </p:nvSpPr>
        <p:spPr>
          <a:xfrm>
            <a:off x="5120171"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178341" y="4655202"/>
            <a:ext cx="97811" cy="142270"/>
          </a:xfrm>
          <a:prstGeom prst="rect">
            <a:avLst/>
          </a:prstGeom>
        </p:spPr>
      </p:pic>
      <p:sp>
        <p:nvSpPr>
          <p:cNvPr id="72" name="TextBox 71"/>
          <p:cNvSpPr txBox="1"/>
          <p:nvPr/>
        </p:nvSpPr>
        <p:spPr>
          <a:xfrm>
            <a:off x="4327292"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885613" y="5767261"/>
            <a:ext cx="92663" cy="134782"/>
          </a:xfrm>
          <a:prstGeom prst="rect">
            <a:avLst/>
          </a:prstGeom>
        </p:spPr>
      </p:pic>
      <p:sp>
        <p:nvSpPr>
          <p:cNvPr id="74" name="TextBox 73"/>
          <p:cNvSpPr txBox="1"/>
          <p:nvPr/>
        </p:nvSpPr>
        <p:spPr>
          <a:xfrm>
            <a:off x="3144658"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167161" y="6103453"/>
            <a:ext cx="97811" cy="142270"/>
          </a:xfrm>
          <a:prstGeom prst="rect">
            <a:avLst/>
          </a:prstGeom>
        </p:spPr>
      </p:pic>
      <p:sp>
        <p:nvSpPr>
          <p:cNvPr id="76" name="TextBox 75"/>
          <p:cNvSpPr txBox="1"/>
          <p:nvPr/>
        </p:nvSpPr>
        <p:spPr>
          <a:xfrm>
            <a:off x="1954338"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7" name="TextBox 76"/>
          <p:cNvSpPr txBox="1"/>
          <p:nvPr/>
        </p:nvSpPr>
        <p:spPr>
          <a:xfrm>
            <a:off x="2308296"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544802" y="5767261"/>
            <a:ext cx="92663" cy="134782"/>
          </a:xfrm>
          <a:prstGeom prst="rect">
            <a:avLst/>
          </a:prstGeom>
        </p:spPr>
      </p:pic>
      <p:sp>
        <p:nvSpPr>
          <p:cNvPr id="79" name="TextBox 78"/>
          <p:cNvSpPr txBox="1"/>
          <p:nvPr/>
        </p:nvSpPr>
        <p:spPr>
          <a:xfrm>
            <a:off x="1144816"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660310" y="4719297"/>
            <a:ext cx="92663" cy="134782"/>
          </a:xfrm>
          <a:prstGeom prst="rect">
            <a:avLst/>
          </a:prstGeom>
        </p:spPr>
      </p:pic>
      <p:sp>
        <p:nvSpPr>
          <p:cNvPr id="81" name="TextBox 80"/>
          <p:cNvSpPr txBox="1"/>
          <p:nvPr/>
        </p:nvSpPr>
        <p:spPr>
          <a:xfrm>
            <a:off x="1127477"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202838" y="3363591"/>
            <a:ext cx="92663" cy="134782"/>
          </a:xfrm>
          <a:prstGeom prst="rect">
            <a:avLst/>
          </a:prstGeom>
        </p:spPr>
      </p:pic>
      <p:sp>
        <p:nvSpPr>
          <p:cNvPr id="83" name="TextBox 82"/>
          <p:cNvSpPr txBox="1"/>
          <p:nvPr/>
        </p:nvSpPr>
        <p:spPr>
          <a:xfrm>
            <a:off x="1898348"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421701" y="2375977"/>
            <a:ext cx="92663" cy="134782"/>
          </a:xfrm>
          <a:prstGeom prst="rect">
            <a:avLst/>
          </a:prstGeom>
        </p:spPr>
      </p:pic>
      <p:sp>
        <p:nvSpPr>
          <p:cNvPr id="85" name="TextBox 84"/>
          <p:cNvSpPr txBox="1"/>
          <p:nvPr/>
        </p:nvSpPr>
        <p:spPr>
          <a:xfrm>
            <a:off x="7477125" y="5362146"/>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8166043" y="5352366"/>
            <a:ext cx="128699" cy="187198"/>
          </a:xfrm>
          <a:prstGeom prst="rect">
            <a:avLst/>
          </a:prstGeom>
        </p:spPr>
      </p:pic>
      <p:sp>
        <p:nvSpPr>
          <p:cNvPr id="87" name="TextBox 86"/>
          <p:cNvSpPr txBox="1"/>
          <p:nvPr/>
        </p:nvSpPr>
        <p:spPr>
          <a:xfrm>
            <a:off x="8333538" y="5362146"/>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8" name="TextBox 87"/>
          <p:cNvSpPr txBox="1"/>
          <p:nvPr/>
        </p:nvSpPr>
        <p:spPr>
          <a:xfrm>
            <a:off x="7477125" y="5580078"/>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276548" y="5570298"/>
            <a:ext cx="128699" cy="187198"/>
          </a:xfrm>
          <a:prstGeom prst="rect">
            <a:avLst/>
          </a:prstGeom>
        </p:spPr>
      </p:pic>
      <p:sp>
        <p:nvSpPr>
          <p:cNvPr id="90" name="TextBox 89"/>
          <p:cNvSpPr txBox="1"/>
          <p:nvPr/>
        </p:nvSpPr>
        <p:spPr>
          <a:xfrm>
            <a:off x="9444044" y="5580078"/>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1" name="TextBox 90"/>
          <p:cNvSpPr txBox="1"/>
          <p:nvPr/>
        </p:nvSpPr>
        <p:spPr>
          <a:xfrm>
            <a:off x="7477125" y="5798010"/>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903560" y="5788230"/>
            <a:ext cx="128699" cy="187198"/>
          </a:xfrm>
          <a:prstGeom prst="rect">
            <a:avLst/>
          </a:prstGeom>
        </p:spPr>
      </p:pic>
      <p:sp>
        <p:nvSpPr>
          <p:cNvPr id="93" name="TextBox 92"/>
          <p:cNvSpPr txBox="1"/>
          <p:nvPr/>
        </p:nvSpPr>
        <p:spPr>
          <a:xfrm>
            <a:off x="9071056" y="5798010"/>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4" name="TextBox 93"/>
          <p:cNvSpPr txBox="1"/>
          <p:nvPr/>
        </p:nvSpPr>
        <p:spPr>
          <a:xfrm>
            <a:off x="7477125" y="6015942"/>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950491" y="6006162"/>
            <a:ext cx="128699" cy="187198"/>
          </a:xfrm>
          <a:prstGeom prst="rect">
            <a:avLst/>
          </a:prstGeom>
        </p:spPr>
      </p:pic>
      <p:sp>
        <p:nvSpPr>
          <p:cNvPr id="96" name="TextBox 95"/>
          <p:cNvSpPr txBox="1"/>
          <p:nvPr/>
        </p:nvSpPr>
        <p:spPr>
          <a:xfrm>
            <a:off x="9117987" y="6015942"/>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7" name="TextBox 96"/>
          <p:cNvSpPr txBox="1"/>
          <p:nvPr/>
        </p:nvSpPr>
        <p:spPr>
          <a:xfrm>
            <a:off x="7477125" y="6233874"/>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9025252" y="6224094"/>
            <a:ext cx="128699" cy="187198"/>
          </a:xfrm>
          <a:prstGeom prst="rect">
            <a:avLst/>
          </a:prstGeom>
        </p:spPr>
      </p:pic>
      <p:sp>
        <p:nvSpPr>
          <p:cNvPr id="99" name="TextBox 98"/>
          <p:cNvSpPr txBox="1"/>
          <p:nvPr/>
        </p:nvSpPr>
        <p:spPr>
          <a:xfrm>
            <a:off x="9192748" y="6233874"/>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4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4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gridCol w="1128887"/>
                <a:gridCol w="1128887"/>
                <a:gridCol w="1128887"/>
                <a:gridCol w="1128887"/>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9" cy="2271330"/>
        </p:xfrm>
        <a:graphic>
          <a:graphicData uri="http://schemas.openxmlformats.org/drawingml/2006/table">
            <a:tbl>
              <a:tblPr>
                <a:tableStyleId>{5C22544A-7EE6-4342-B048-85BDC9FD1C3A}</a:tableStyleId>
              </a:tblPr>
              <a:tblGrid>
                <a:gridCol w="2038759"/>
                <a:gridCol w="947635"/>
                <a:gridCol w="947635"/>
                <a:gridCol w="947635"/>
                <a:gridCol w="947635"/>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9957639" y="2566777"/>
            <a:ext cx="366712" cy="533400"/>
          </a:xfrm>
          <a:prstGeom prst="rect">
            <a:avLst/>
          </a:prstGeom>
        </p:spPr>
      </p:pic>
    </p:spTree>
  </p:cSld>
  <p:clrMapOvr>
    <a:masterClrMapping/>
  </p:clrMapOvr>
</p:sld>
</file>

<file path=ppt/slides/slide4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200" cy="2409822"/>
        </p:xfrm>
        <a:graphic>
          <a:graphicData uri="http://schemas.openxmlformats.org/drawingml/2006/table">
            <a:tbl>
              <a:tblPr>
                <a:tableStyleId>{5C22544A-7EE6-4342-B048-85BDC9FD1C3A}</a:tableStyleId>
              </a:tblPr>
              <a:tblGrid>
                <a:gridCol w="3201366"/>
                <a:gridCol w="2895278"/>
                <a:gridCol w="2895278"/>
                <a:gridCol w="2895278"/>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Sweet muffins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Savoury muffins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360616">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196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43450"/>
            <a:ext cx="11639550" cy="17240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509992" y="2632898"/>
            <a:ext cx="366712" cy="533400"/>
          </a:xfrm>
          <a:prstGeom prst="rect">
            <a:avLst/>
          </a:prstGeom>
        </p:spPr>
      </p:pic>
      <p:sp>
        <p:nvSpPr>
          <p:cNvPr id="21" name="TextBox 20"/>
          <p:cNvSpPr txBox="1"/>
          <p:nvPr/>
        </p:nvSpPr>
        <p:spPr>
          <a:xfrm>
            <a:off x="276225" y="4752975"/>
            <a:ext cx="4195551" cy="194310"/>
          </a:xfrm>
          <a:prstGeom prst="rect">
            <a:avLst/>
          </a:prstGeom>
          <a:noFill/>
        </p:spPr>
        <p:txBody>
          <a:bodyPr wrap="none" lIns="0" rIns="0" tIns="0" bIns="0">
            <a:spAutoFit/>
          </a:bodyPr>
          <a:lstStyle/>
          <a:p>
            <a:r>
              <a:rPr sz="1150" b="0">
                <a:solidFill>
                  <a:srgbClr val="2E2E2E"/>
                </a:solidFill>
                <a:latin typeface="Calibri"/>
              </a:rPr>
              <a:t>▪ On a weighted-average basis 'Europe' is the highest-priced region (~</a:t>
            </a:r>
          </a:p>
        </p:txBody>
      </p:sp>
      <p:pic>
        <p:nvPicPr>
          <p:cNvPr id="22" name="Picture 21" descr="lock.png"/>
          <p:cNvPicPr>
            <a:picLocks noChangeAspect="1"/>
          </p:cNvPicPr>
          <p:nvPr/>
        </p:nvPicPr>
        <p:blipFill>
          <a:blip r:embed="rId4"/>
          <a:stretch>
            <a:fillRect/>
          </a:stretch>
        </p:blipFill>
        <p:spPr>
          <a:xfrm>
            <a:off x="4420930" y="4742751"/>
            <a:ext cx="134549" cy="195707"/>
          </a:xfrm>
          <a:prstGeom prst="rect">
            <a:avLst/>
          </a:prstGeom>
        </p:spPr>
      </p:pic>
      <p:sp>
        <p:nvSpPr>
          <p:cNvPr id="23" name="TextBox 22"/>
          <p:cNvSpPr txBox="1"/>
          <p:nvPr/>
        </p:nvSpPr>
        <p:spPr>
          <a:xfrm>
            <a:off x="4596039" y="4752975"/>
            <a:ext cx="3290726" cy="194310"/>
          </a:xfrm>
          <a:prstGeom prst="rect">
            <a:avLst/>
          </a:prstGeom>
          <a:noFill/>
        </p:spPr>
        <p:txBody>
          <a:bodyPr wrap="none" lIns="0" rIns="0" tIns="0" bIns="0">
            <a:spAutoFit/>
          </a:bodyPr>
          <a:lstStyle/>
          <a:p>
            <a:r>
              <a:rPr sz="1150" b="0">
                <a:solidFill>
                  <a:srgbClr val="2E2E2E"/>
                </a:solidFill>
                <a:latin typeface="Calibri"/>
              </a:rPr>
              <a:t>US$/MT) and 'North America' the most competitive (~</a:t>
            </a:r>
          </a:p>
        </p:txBody>
      </p:sp>
      <p:pic>
        <p:nvPicPr>
          <p:cNvPr id="24" name="Picture 23" descr="lock.png"/>
          <p:cNvPicPr>
            <a:picLocks noChangeAspect="1"/>
          </p:cNvPicPr>
          <p:nvPr/>
        </p:nvPicPr>
        <p:blipFill>
          <a:blip r:embed="rId4"/>
          <a:stretch>
            <a:fillRect/>
          </a:stretch>
        </p:blipFill>
        <p:spPr>
          <a:xfrm>
            <a:off x="7835920" y="4742751"/>
            <a:ext cx="134549" cy="195707"/>
          </a:xfrm>
          <a:prstGeom prst="rect">
            <a:avLst/>
          </a:prstGeom>
        </p:spPr>
      </p:pic>
      <p:sp>
        <p:nvSpPr>
          <p:cNvPr id="25" name="TextBox 24"/>
          <p:cNvSpPr txBox="1"/>
          <p:nvPr/>
        </p:nvSpPr>
        <p:spPr>
          <a:xfrm>
            <a:off x="8011029" y="4752975"/>
            <a:ext cx="644996" cy="194310"/>
          </a:xfrm>
          <a:prstGeom prst="rect">
            <a:avLst/>
          </a:prstGeom>
          <a:noFill/>
        </p:spPr>
        <p:txBody>
          <a:bodyPr wrap="none" lIns="0" rIns="0" tIns="0" bIns="0">
            <a:spAutoFit/>
          </a:bodyPr>
          <a:lstStyle/>
          <a:p>
            <a:r>
              <a:rPr sz="1150" b="0">
                <a:solidFill>
                  <a:srgbClr val="2E2E2E"/>
                </a:solidFill>
                <a:latin typeface="Calibri"/>
              </a:rPr>
              <a:t>US$/MT).</a:t>
            </a:r>
          </a:p>
        </p:txBody>
      </p:sp>
      <p:sp>
        <p:nvSpPr>
          <p:cNvPr id="26" name="TextBox 25"/>
          <p:cNvSpPr txBox="1"/>
          <p:nvPr/>
        </p:nvSpPr>
        <p:spPr>
          <a:xfrm>
            <a:off x="276225" y="4980813"/>
            <a:ext cx="5929610" cy="194310"/>
          </a:xfrm>
          <a:prstGeom prst="rect">
            <a:avLst/>
          </a:prstGeom>
          <a:noFill/>
        </p:spPr>
        <p:txBody>
          <a:bodyPr wrap="none" lIns="0" rIns="0" tIns="0" bIns="0">
            <a:spAutoFit/>
          </a:bodyPr>
          <a:lstStyle/>
          <a:p>
            <a:r>
              <a:rPr sz="1150" b="0">
                <a:solidFill>
                  <a:srgbClr val="2E2E2E"/>
                </a:solidFill>
                <a:latin typeface="Calibri"/>
              </a:rPr>
              <a:t>▪ Price ranges are benchmarked per product type type at 2026, derived as Value ÷ Volume with a ±</a:t>
            </a:r>
          </a:p>
        </p:txBody>
      </p:sp>
      <p:pic>
        <p:nvPicPr>
          <p:cNvPr id="27" name="Picture 26" descr="lock.png"/>
          <p:cNvPicPr>
            <a:picLocks noChangeAspect="1"/>
          </p:cNvPicPr>
          <p:nvPr/>
        </p:nvPicPr>
        <p:blipFill>
          <a:blip r:embed="rId4"/>
          <a:stretch>
            <a:fillRect/>
          </a:stretch>
        </p:blipFill>
        <p:spPr>
          <a:xfrm>
            <a:off x="6154989" y="4970589"/>
            <a:ext cx="134549" cy="195707"/>
          </a:xfrm>
          <a:prstGeom prst="rect">
            <a:avLst/>
          </a:prstGeom>
        </p:spPr>
      </p:pic>
      <p:sp>
        <p:nvSpPr>
          <p:cNvPr id="28" name="TextBox 27"/>
          <p:cNvSpPr txBox="1"/>
          <p:nvPr/>
        </p:nvSpPr>
        <p:spPr>
          <a:xfrm>
            <a:off x="6330098" y="4980813"/>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29" name="TextBox 28"/>
          <p:cNvSpPr txBox="1"/>
          <p:nvPr/>
        </p:nvSpPr>
        <p:spPr>
          <a:xfrm>
            <a:off x="276225" y="5208650"/>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5198427"/>
            <a:ext cx="134549" cy="195707"/>
          </a:xfrm>
          <a:prstGeom prst="rect">
            <a:avLst/>
          </a:prstGeom>
        </p:spPr>
      </p:pic>
      <p:sp>
        <p:nvSpPr>
          <p:cNvPr id="31" name="TextBox 30"/>
          <p:cNvSpPr txBox="1"/>
          <p:nvPr/>
        </p:nvSpPr>
        <p:spPr>
          <a:xfrm>
            <a:off x="2541355" y="5208650"/>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5436488"/>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4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198" cy="1504674"/>
        </p:xfrm>
        <a:graphic>
          <a:graphicData uri="http://schemas.openxmlformats.org/drawingml/2006/table">
            <a:tbl>
              <a:tblPr>
                <a:tableStyleId>{5C22544A-7EE6-4342-B048-85BDC9FD1C3A}</a:tableStyleId>
              </a:tblPr>
              <a:tblGrid>
                <a:gridCol w="2681674"/>
                <a:gridCol w="1534254"/>
                <a:gridCol w="1534254"/>
                <a:gridCol w="1534254"/>
                <a:gridCol w="1534254"/>
                <a:gridCol w="1534254"/>
                <a:gridCol w="1534254"/>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629274">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29274">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7250146" y="2183449"/>
            <a:ext cx="366712" cy="533400"/>
          </a:xfrm>
          <a:prstGeom prst="rect">
            <a:avLst/>
          </a:prstGeom>
        </p:spPr>
      </p:pic>
      <p:sp>
        <p:nvSpPr>
          <p:cNvPr id="25" name="TextBox 24"/>
          <p:cNvSpPr txBox="1"/>
          <p:nvPr/>
        </p:nvSpPr>
        <p:spPr>
          <a:xfrm>
            <a:off x="6334125" y="3817595"/>
            <a:ext cx="3340605" cy="194310"/>
          </a:xfrm>
          <a:prstGeom prst="rect">
            <a:avLst/>
          </a:prstGeom>
          <a:noFill/>
        </p:spPr>
        <p:txBody>
          <a:bodyPr wrap="none" lIns="0" rIns="0" tIns="0" bIns="0">
            <a:spAutoFit/>
          </a:bodyPr>
          <a:lstStyle/>
          <a:p>
            <a:r>
              <a:rPr sz="1150" b="0">
                <a:solidFill>
                  <a:srgbClr val="2E2E2E"/>
                </a:solidFill>
                <a:latin typeface="Calibri"/>
              </a:rPr>
              <a:t>▪ Average product type price is projected to rise from ~</a:t>
            </a:r>
          </a:p>
        </p:txBody>
      </p:sp>
      <p:pic>
        <p:nvPicPr>
          <p:cNvPr id="26" name="Picture 25" descr="lock.png"/>
          <p:cNvPicPr>
            <a:picLocks noChangeAspect="1"/>
          </p:cNvPicPr>
          <p:nvPr/>
        </p:nvPicPr>
        <p:blipFill>
          <a:blip r:embed="rId4"/>
          <a:stretch>
            <a:fillRect/>
          </a:stretch>
        </p:blipFill>
        <p:spPr>
          <a:xfrm>
            <a:off x="9623884" y="3807371"/>
            <a:ext cx="134549" cy="195707"/>
          </a:xfrm>
          <a:prstGeom prst="rect">
            <a:avLst/>
          </a:prstGeom>
        </p:spPr>
      </p:pic>
      <p:sp>
        <p:nvSpPr>
          <p:cNvPr id="27" name="TextBox 26"/>
          <p:cNvSpPr txBox="1"/>
          <p:nvPr/>
        </p:nvSpPr>
        <p:spPr>
          <a:xfrm>
            <a:off x="9798993"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056259" y="3807371"/>
            <a:ext cx="134549" cy="195707"/>
          </a:xfrm>
          <a:prstGeom prst="rect">
            <a:avLst/>
          </a:prstGeom>
        </p:spPr>
      </p:pic>
      <p:sp>
        <p:nvSpPr>
          <p:cNvPr id="29" name="TextBox 28"/>
          <p:cNvSpPr txBox="1"/>
          <p:nvPr/>
        </p:nvSpPr>
        <p:spPr>
          <a:xfrm>
            <a:off x="10231368" y="3817595"/>
            <a:ext cx="1278545" cy="194310"/>
          </a:xfrm>
          <a:prstGeom prst="rect">
            <a:avLst/>
          </a:prstGeom>
          <a:noFill/>
        </p:spPr>
        <p:txBody>
          <a:bodyPr wrap="none" lIns="0" rIns="0" tIns="0" bIns="0">
            <a:spAutoFit/>
          </a:bodyPr>
          <a:lstStyle/>
          <a:p>
            <a:r>
              <a:rPr sz="1150" b="0">
                <a:solidFill>
                  <a:srgbClr val="2E2E2E"/>
                </a:solidFill>
                <a:latin typeface="Calibri"/>
              </a:rPr>
              <a:t>US$/MT by 2036 a +</a:t>
            </a:r>
          </a:p>
        </p:txBody>
      </p:sp>
      <p:pic>
        <p:nvPicPr>
          <p:cNvPr id="30" name="Picture 29" descr="lock.png"/>
          <p:cNvPicPr>
            <a:picLocks noChangeAspect="1"/>
          </p:cNvPicPr>
          <p:nvPr/>
        </p:nvPicPr>
        <p:blipFill>
          <a:blip r:embed="rId4"/>
          <a:stretch>
            <a:fillRect/>
          </a:stretch>
        </p:blipFill>
        <p:spPr>
          <a:xfrm>
            <a:off x="11459067" y="3807371"/>
            <a:ext cx="134549" cy="195707"/>
          </a:xfrm>
          <a:prstGeom prst="rect">
            <a:avLst/>
          </a:prstGeom>
        </p:spPr>
      </p:pic>
      <p:sp>
        <p:nvSpPr>
          <p:cNvPr id="31" name="TextBox 30"/>
          <p:cNvSpPr txBox="1"/>
          <p:nvPr/>
        </p:nvSpPr>
        <p:spPr>
          <a:xfrm>
            <a:off x="6334125" y="399285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2" name="TextBox 31"/>
          <p:cNvSpPr txBox="1"/>
          <p:nvPr/>
        </p:nvSpPr>
        <p:spPr>
          <a:xfrm>
            <a:off x="6334125" y="4220692"/>
            <a:ext cx="4080594" cy="194310"/>
          </a:xfrm>
          <a:prstGeom prst="rect">
            <a:avLst/>
          </a:prstGeom>
          <a:noFill/>
        </p:spPr>
        <p:txBody>
          <a:bodyPr wrap="none" lIns="0" rIns="0" tIns="0" bIns="0">
            <a:spAutoFit/>
          </a:bodyPr>
          <a:lstStyle/>
          <a:p>
            <a:r>
              <a:rPr sz="1150" b="0">
                <a:solidFill>
                  <a:srgbClr val="2E2E2E"/>
                </a:solidFill>
                <a:latin typeface="Calibri"/>
              </a:rPr>
              <a:t>▪ 'Sweet muffins' shows the strongest forecast price appreciation (+</a:t>
            </a:r>
          </a:p>
        </p:txBody>
      </p:sp>
      <p:pic>
        <p:nvPicPr>
          <p:cNvPr id="33" name="Picture 32" descr="lock.png"/>
          <p:cNvPicPr>
            <a:picLocks noChangeAspect="1"/>
          </p:cNvPicPr>
          <p:nvPr/>
        </p:nvPicPr>
        <p:blipFill>
          <a:blip r:embed="rId4"/>
          <a:stretch>
            <a:fillRect/>
          </a:stretch>
        </p:blipFill>
        <p:spPr>
          <a:xfrm>
            <a:off x="10363873" y="4210469"/>
            <a:ext cx="134549" cy="195707"/>
          </a:xfrm>
          <a:prstGeom prst="rect">
            <a:avLst/>
          </a:prstGeom>
        </p:spPr>
      </p:pic>
      <p:sp>
        <p:nvSpPr>
          <p:cNvPr id="34" name="TextBox 33"/>
          <p:cNvSpPr txBox="1"/>
          <p:nvPr/>
        </p:nvSpPr>
        <p:spPr>
          <a:xfrm>
            <a:off x="10538982" y="4220692"/>
            <a:ext cx="1171574" cy="194310"/>
          </a:xfrm>
          <a:prstGeom prst="rect">
            <a:avLst/>
          </a:prstGeom>
          <a:noFill/>
        </p:spPr>
        <p:txBody>
          <a:bodyPr wrap="none" lIns="0" rIns="0" tIns="0" bIns="0">
            <a:spAutoFit/>
          </a:bodyPr>
          <a:lstStyle/>
          <a:p>
            <a:r>
              <a:rPr sz="1150" b="0">
                <a:solidFill>
                  <a:srgbClr val="2E2E2E"/>
                </a:solidFill>
                <a:latin typeface="Calibri"/>
              </a:rPr>
              <a:t>) over the horizon.</a:t>
            </a:r>
          </a:p>
        </p:txBody>
      </p:sp>
      <p:sp>
        <p:nvSpPr>
          <p:cNvPr id="35" name="TextBox 34"/>
          <p:cNvSpPr txBox="1"/>
          <p:nvPr/>
        </p:nvSpPr>
        <p:spPr>
          <a:xfrm>
            <a:off x="6334125" y="444853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6" name="TextBox 35"/>
          <p:cNvSpPr txBox="1"/>
          <p:nvPr/>
        </p:nvSpPr>
        <p:spPr>
          <a:xfrm>
            <a:off x="6334125" y="462379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7" name="TextBox 36"/>
          <p:cNvSpPr txBox="1"/>
          <p:nvPr/>
        </p:nvSpPr>
        <p:spPr>
          <a:xfrm>
            <a:off x="6334125" y="485162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38" name="TextBox 37"/>
          <p:cNvSpPr txBox="1"/>
          <p:nvPr/>
        </p:nvSpPr>
        <p:spPr>
          <a:xfrm>
            <a:off x="6334125" y="502688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4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50" cy="3619746"/>
        </p:xfrm>
        <a:graphic>
          <a:graphicData uri="http://schemas.openxmlformats.org/drawingml/2006/table">
            <a:tbl>
              <a:tblPr>
                <a:tableStyleId>{5C22544A-7EE6-4342-B048-85BDC9FD1C3A}</a:tableStyleId>
              </a:tblPr>
              <a:tblGrid>
                <a:gridCol w="2147324"/>
                <a:gridCol w="559656"/>
                <a:gridCol w="1176561"/>
                <a:gridCol w="1101405"/>
                <a:gridCol w="2692204"/>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2270">
                <a:tc>
                  <a:txBody>
                    <a:bodyPr wrap="none"/>
                    <a:lstStyle/>
                    <a:p>
                      <a:pPr algn="l"/>
                      <a:r>
                        <a:rPr sz="1100" b="1">
                          <a:solidFill>
                            <a:srgbClr val="2E2E2E"/>
                          </a:solidFill>
                          <a:latin typeface="Calibri"/>
                        </a:rPr>
                        <a:t>Grupo Bimbo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McKee Foods Corporation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Hostess Brands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Rich Products Corporation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ARYZTA / Aspire Bakeries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Europastry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4418622" y="3086680"/>
            <a:ext cx="330041" cy="480060"/>
          </a:xfrm>
          <a:prstGeom prst="rect">
            <a:avLst/>
          </a:prstGeom>
        </p:spPr>
      </p:pic>
    </p:spTree>
  </p:cSld>
  <p:clrMapOvr>
    <a:masterClrMapping/>
  </p:clrMapOvr>
</p:sld>
</file>

<file path=ppt/slides/slide49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9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432549" cy="153161"/>
          </a:xfrm>
          <a:prstGeom prst="rect">
            <a:avLst/>
          </a:prstGeom>
          <a:noFill/>
        </p:spPr>
        <p:txBody>
          <a:bodyPr wrap="none" lIns="0" rIns="0" tIns="0" bIns="0">
            <a:spAutoFit/>
          </a:bodyPr>
          <a:lstStyle/>
          <a:p>
            <a:r>
              <a:rPr sz="879" b="0">
                <a:solidFill>
                  <a:srgbClr val="2E2E2E"/>
                </a:solidFill>
                <a:latin typeface="Calibri"/>
              </a:rPr>
              <a:t>▪ The Packaged Muffins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5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Packaged Muffins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5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Packaged Muffins Market Buyers / End-User Assessment</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983353"/>
                <a:gridCol w="1113221"/>
                <a:gridCol w="1116270"/>
                <a:gridCol w="1184142"/>
                <a:gridCol w="1681873"/>
                <a:gridCol w="1342511"/>
                <a:gridCol w="1472555"/>
                <a:gridCol w="1416039"/>
                <a:gridCol w="1577236"/>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Rest of LATAM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60121" y="2451926"/>
            <a:ext cx="366712" cy="533399"/>
          </a:xfrm>
          <a:prstGeom prst="rect">
            <a:avLst/>
          </a:prstGeom>
        </p:spPr>
      </p:pic>
    </p:spTree>
  </p:cSld>
  <p:clrMapOvr>
    <a:masterClrMapping/>
  </p:clrMapOvr>
</p:sld>
</file>

<file path=ppt/slides/slide50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5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2" name="Rectangle 31"/>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5" name="TextBox 34"/>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Rectangle 36"/>
          <p:cNvSpPr/>
          <p:nvPr/>
        </p:nvSpPr>
        <p:spPr>
          <a:xfrm>
            <a:off x="142875" y="3562779"/>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6277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39" name="TextBox 38"/>
          <p:cNvSpPr txBox="1"/>
          <p:nvPr/>
        </p:nvSpPr>
        <p:spPr>
          <a:xfrm>
            <a:off x="1724025" y="359015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0" name="TextBox 39"/>
          <p:cNvSpPr txBox="1"/>
          <p:nvPr/>
        </p:nvSpPr>
        <p:spPr>
          <a:xfrm>
            <a:off x="5534025" y="359015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TextBox 40"/>
          <p:cNvSpPr txBox="1"/>
          <p:nvPr/>
        </p:nvSpPr>
        <p:spPr>
          <a:xfrm>
            <a:off x="8391525" y="359015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2" name="Rectangle 41"/>
          <p:cNvSpPr/>
          <p:nvPr/>
        </p:nvSpPr>
        <p:spPr>
          <a:xfrm>
            <a:off x="142875" y="407388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7388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410126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5534025" y="410126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TextBox 45"/>
          <p:cNvSpPr txBox="1"/>
          <p:nvPr/>
        </p:nvSpPr>
        <p:spPr>
          <a:xfrm>
            <a:off x="8391525" y="410126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cxnSp>
        <p:nvCxnSpPr>
          <p:cNvPr id="47" name="Connector 46"/>
          <p:cNvCxnSpPr/>
          <p:nvPr/>
        </p:nvCxnSpPr>
        <p:spPr>
          <a:xfrm>
            <a:off x="142875" y="4584986"/>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4603240"/>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9" name="Rounded Rectangle 48"/>
          <p:cNvSpPr/>
          <p:nvPr/>
        </p:nvSpPr>
        <p:spPr>
          <a:xfrm>
            <a:off x="142875" y="4858791"/>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76225" y="4895299"/>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1" name="Connector 50"/>
          <p:cNvCxnSpPr/>
          <p:nvPr/>
        </p:nvCxnSpPr>
        <p:spPr>
          <a:xfrm>
            <a:off x="276225" y="5132597"/>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76225" y="5187358"/>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3" name="TextBox 5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4" name="TextBox 53"/>
          <p:cNvSpPr txBox="1"/>
          <p:nvPr/>
        </p:nvSpPr>
        <p:spPr>
          <a:xfrm>
            <a:off x="1752600" y="1606276"/>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55" name="Picture 54" descr="lock.png"/>
          <p:cNvPicPr>
            <a:picLocks noChangeAspect="1"/>
          </p:cNvPicPr>
          <p:nvPr/>
        </p:nvPicPr>
        <p:blipFill>
          <a:blip r:embed="rId4"/>
          <a:stretch>
            <a:fillRect/>
          </a:stretch>
        </p:blipFill>
        <p:spPr>
          <a:xfrm>
            <a:off x="2438789" y="1596497"/>
            <a:ext cx="128699" cy="187198"/>
          </a:xfrm>
          <a:prstGeom prst="rect">
            <a:avLst/>
          </a:prstGeom>
        </p:spPr>
      </p:pic>
      <p:sp>
        <p:nvSpPr>
          <p:cNvPr id="56" name="TextBox 55"/>
          <p:cNvSpPr txBox="1"/>
          <p:nvPr/>
        </p:nvSpPr>
        <p:spPr>
          <a:xfrm>
            <a:off x="2606285" y="1606276"/>
            <a:ext cx="1556419" cy="186689"/>
          </a:xfrm>
          <a:prstGeom prst="rect">
            <a:avLst/>
          </a:prstGeom>
          <a:noFill/>
        </p:spPr>
        <p:txBody>
          <a:bodyPr wrap="none" lIns="0" rIns="0" tIns="0" bIns="0">
            <a:spAutoFit/>
          </a:bodyPr>
          <a:lstStyle/>
          <a:p>
            <a:r>
              <a:rPr sz="1100" b="0">
                <a:solidFill>
                  <a:srgbClr val="2E2E2E"/>
                </a:solidFill>
                <a:latin typeface="Calibri"/>
              </a:rPr>
              <a:t>share), Installed demand (</a:t>
            </a:r>
          </a:p>
        </p:txBody>
      </p:sp>
      <p:pic>
        <p:nvPicPr>
          <p:cNvPr id="57" name="Picture 56" descr="lock.png"/>
          <p:cNvPicPr>
            <a:picLocks noChangeAspect="1"/>
          </p:cNvPicPr>
          <p:nvPr/>
        </p:nvPicPr>
        <p:blipFill>
          <a:blip r:embed="rId4"/>
          <a:stretch>
            <a:fillRect/>
          </a:stretch>
        </p:blipFill>
        <p:spPr>
          <a:xfrm>
            <a:off x="4110756" y="1596497"/>
            <a:ext cx="128699" cy="187198"/>
          </a:xfrm>
          <a:prstGeom prst="rect">
            <a:avLst/>
          </a:prstGeom>
        </p:spPr>
      </p:pic>
      <p:sp>
        <p:nvSpPr>
          <p:cNvPr id="58" name="TextBox 57"/>
          <p:cNvSpPr txBox="1"/>
          <p:nvPr/>
        </p:nvSpPr>
        <p:spPr>
          <a:xfrm>
            <a:off x="4278252" y="1606276"/>
            <a:ext cx="854355" cy="186689"/>
          </a:xfrm>
          <a:prstGeom prst="rect">
            <a:avLst/>
          </a:prstGeom>
          <a:noFill/>
        </p:spPr>
        <p:txBody>
          <a:bodyPr wrap="none" lIns="0" rIns="0" tIns="0" bIns="0">
            <a:spAutoFit/>
          </a:bodyPr>
          <a:lstStyle/>
          <a:p>
            <a:r>
              <a:rPr sz="1100" b="0">
                <a:solidFill>
                  <a:srgbClr val="2E2E2E"/>
                </a:solidFill>
                <a:latin typeface="Calibri"/>
              </a:rPr>
              <a:t>CAGR), Sweet</a:t>
            </a:r>
          </a:p>
        </p:txBody>
      </p:sp>
      <p:sp>
        <p:nvSpPr>
          <p:cNvPr id="59" name="TextBox 58"/>
          <p:cNvSpPr txBox="1"/>
          <p:nvPr/>
        </p:nvSpPr>
        <p:spPr>
          <a:xfrm>
            <a:off x="1752600" y="1773915"/>
            <a:ext cx="2386434" cy="186689"/>
          </a:xfrm>
          <a:prstGeom prst="rect">
            <a:avLst/>
          </a:prstGeom>
          <a:noFill/>
        </p:spPr>
        <p:txBody>
          <a:bodyPr wrap="none" lIns="0" rIns="0" tIns="0" bIns="0">
            <a:spAutoFit/>
          </a:bodyPr>
          <a:lstStyle/>
          <a:p>
            <a:r>
              <a:rPr sz="1100" b="0">
                <a:solidFill>
                  <a:srgbClr val="2E2E2E"/>
                </a:solidFill>
                <a:latin typeface="Calibri"/>
              </a:rPr>
              <a:t>muffins demand, Accelerating vs history.</a:t>
            </a:r>
          </a:p>
        </p:txBody>
      </p:sp>
      <p:sp>
        <p:nvSpPr>
          <p:cNvPr id="60" name="TextBox 59"/>
          <p:cNvSpPr txBox="1"/>
          <p:nvPr/>
        </p:nvSpPr>
        <p:spPr>
          <a:xfrm>
            <a:off x="5562600" y="1606276"/>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61" name="Picture 60" descr="lock.png"/>
          <p:cNvPicPr>
            <a:picLocks noChangeAspect="1"/>
          </p:cNvPicPr>
          <p:nvPr/>
        </p:nvPicPr>
        <p:blipFill>
          <a:blip r:embed="rId4"/>
          <a:stretch>
            <a:fillRect/>
          </a:stretch>
        </p:blipFill>
        <p:spPr>
          <a:xfrm>
            <a:off x="6797766" y="1596497"/>
            <a:ext cx="128699" cy="187198"/>
          </a:xfrm>
          <a:prstGeom prst="rect">
            <a:avLst/>
          </a:prstGeom>
        </p:spPr>
      </p:pic>
      <p:sp>
        <p:nvSpPr>
          <p:cNvPr id="62" name="TextBox 61"/>
          <p:cNvSpPr txBox="1"/>
          <p:nvPr/>
        </p:nvSpPr>
        <p:spPr>
          <a:xfrm>
            <a:off x="6965262" y="1606276"/>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63" name="TextBox 62"/>
          <p:cNvSpPr txBox="1"/>
          <p:nvPr/>
        </p:nvSpPr>
        <p:spPr>
          <a:xfrm>
            <a:off x="5562600" y="1773915"/>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64" name="Picture 63" descr="lock.png"/>
          <p:cNvPicPr>
            <a:picLocks noChangeAspect="1"/>
          </p:cNvPicPr>
          <p:nvPr/>
        </p:nvPicPr>
        <p:blipFill>
          <a:blip r:embed="rId4"/>
          <a:stretch>
            <a:fillRect/>
          </a:stretch>
        </p:blipFill>
        <p:spPr>
          <a:xfrm>
            <a:off x="6258066" y="1764137"/>
            <a:ext cx="128699" cy="187198"/>
          </a:xfrm>
          <a:prstGeom prst="rect">
            <a:avLst/>
          </a:prstGeom>
        </p:spPr>
      </p:pic>
      <p:sp>
        <p:nvSpPr>
          <p:cNvPr id="65" name="TextBox 64"/>
          <p:cNvSpPr txBox="1"/>
          <p:nvPr/>
        </p:nvSpPr>
        <p:spPr>
          <a:xfrm>
            <a:off x="6425562" y="1773915"/>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66" name="TextBox 65"/>
          <p:cNvSpPr txBox="1"/>
          <p:nvPr/>
        </p:nvSpPr>
        <p:spPr>
          <a:xfrm>
            <a:off x="8420100" y="1690095"/>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67" name="Picture 66" descr="lock.png"/>
          <p:cNvPicPr>
            <a:picLocks noChangeAspect="1"/>
          </p:cNvPicPr>
          <p:nvPr/>
        </p:nvPicPr>
        <p:blipFill>
          <a:blip r:embed="rId4"/>
          <a:stretch>
            <a:fillRect/>
          </a:stretch>
        </p:blipFill>
        <p:spPr>
          <a:xfrm>
            <a:off x="9653902" y="1680317"/>
            <a:ext cx="128699" cy="187198"/>
          </a:xfrm>
          <a:prstGeom prst="rect">
            <a:avLst/>
          </a:prstGeom>
        </p:spPr>
      </p:pic>
      <p:sp>
        <p:nvSpPr>
          <p:cNvPr id="68" name="TextBox 67"/>
          <p:cNvSpPr txBox="1"/>
          <p:nvPr/>
        </p:nvSpPr>
        <p:spPr>
          <a:xfrm>
            <a:off x="9821398" y="1690095"/>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9" name="Picture 68" descr="lock.png"/>
          <p:cNvPicPr>
            <a:picLocks noChangeAspect="1"/>
          </p:cNvPicPr>
          <p:nvPr/>
        </p:nvPicPr>
        <p:blipFill>
          <a:blip r:embed="rId4"/>
          <a:stretch>
            <a:fillRect/>
          </a:stretch>
        </p:blipFill>
        <p:spPr>
          <a:xfrm>
            <a:off x="9922866" y="1680317"/>
            <a:ext cx="128699" cy="187198"/>
          </a:xfrm>
          <a:prstGeom prst="rect">
            <a:avLst/>
          </a:prstGeom>
        </p:spPr>
      </p:pic>
      <p:sp>
        <p:nvSpPr>
          <p:cNvPr id="70" name="TextBox 69"/>
          <p:cNvSpPr txBox="1"/>
          <p:nvPr/>
        </p:nvSpPr>
        <p:spPr>
          <a:xfrm>
            <a:off x="10090362" y="1690095"/>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71" name="TextBox 70"/>
          <p:cNvSpPr txBox="1"/>
          <p:nvPr/>
        </p:nvSpPr>
        <p:spPr>
          <a:xfrm>
            <a:off x="1752600" y="2117380"/>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72" name="Picture 71" descr="lock.png"/>
          <p:cNvPicPr>
            <a:picLocks noChangeAspect="1"/>
          </p:cNvPicPr>
          <p:nvPr/>
        </p:nvPicPr>
        <p:blipFill>
          <a:blip r:embed="rId4"/>
          <a:stretch>
            <a:fillRect/>
          </a:stretch>
        </p:blipFill>
        <p:spPr>
          <a:xfrm>
            <a:off x="2438789" y="2107601"/>
            <a:ext cx="128699" cy="187198"/>
          </a:xfrm>
          <a:prstGeom prst="rect">
            <a:avLst/>
          </a:prstGeom>
        </p:spPr>
      </p:pic>
      <p:sp>
        <p:nvSpPr>
          <p:cNvPr id="73" name="TextBox 72"/>
          <p:cNvSpPr txBox="1"/>
          <p:nvPr/>
        </p:nvSpPr>
        <p:spPr>
          <a:xfrm>
            <a:off x="2606285" y="2117380"/>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74" name="Picture 73" descr="lock.png"/>
          <p:cNvPicPr>
            <a:picLocks noChangeAspect="1"/>
          </p:cNvPicPr>
          <p:nvPr/>
        </p:nvPicPr>
        <p:blipFill>
          <a:blip r:embed="rId4"/>
          <a:stretch>
            <a:fillRect/>
          </a:stretch>
        </p:blipFill>
        <p:spPr>
          <a:xfrm>
            <a:off x="4237905" y="2107601"/>
            <a:ext cx="128699" cy="187198"/>
          </a:xfrm>
          <a:prstGeom prst="rect">
            <a:avLst/>
          </a:prstGeom>
        </p:spPr>
      </p:pic>
      <p:sp>
        <p:nvSpPr>
          <p:cNvPr id="75" name="TextBox 74"/>
          <p:cNvSpPr txBox="1"/>
          <p:nvPr/>
        </p:nvSpPr>
        <p:spPr>
          <a:xfrm>
            <a:off x="4405401" y="2117380"/>
            <a:ext cx="535136" cy="186689"/>
          </a:xfrm>
          <a:prstGeom prst="rect">
            <a:avLst/>
          </a:prstGeom>
          <a:noFill/>
        </p:spPr>
        <p:txBody>
          <a:bodyPr wrap="none" lIns="0" rIns="0" tIns="0" bIns="0">
            <a:spAutoFit/>
          </a:bodyPr>
          <a:lstStyle/>
          <a:p>
            <a:r>
              <a:rPr sz="1100" b="0">
                <a:solidFill>
                  <a:srgbClr val="2E2E2E"/>
                </a:solidFill>
                <a:latin typeface="Calibri"/>
              </a:rPr>
              <a:t>), Sweet</a:t>
            </a:r>
          </a:p>
        </p:txBody>
      </p:sp>
      <p:sp>
        <p:nvSpPr>
          <p:cNvPr id="76" name="TextBox 75"/>
          <p:cNvSpPr txBox="1"/>
          <p:nvPr/>
        </p:nvSpPr>
        <p:spPr>
          <a:xfrm>
            <a:off x="1752600" y="2285020"/>
            <a:ext cx="2386434" cy="186689"/>
          </a:xfrm>
          <a:prstGeom prst="rect">
            <a:avLst/>
          </a:prstGeom>
          <a:noFill/>
        </p:spPr>
        <p:txBody>
          <a:bodyPr wrap="none" lIns="0" rIns="0" tIns="0" bIns="0">
            <a:spAutoFit/>
          </a:bodyPr>
          <a:lstStyle/>
          <a:p>
            <a:r>
              <a:rPr sz="1100" b="0">
                <a:solidFill>
                  <a:srgbClr val="2E2E2E"/>
                </a:solidFill>
                <a:latin typeface="Calibri"/>
              </a:rPr>
              <a:t>muffins demand, Accelerating vs history.</a:t>
            </a:r>
          </a:p>
        </p:txBody>
      </p:sp>
      <p:sp>
        <p:nvSpPr>
          <p:cNvPr id="77" name="TextBox 76"/>
          <p:cNvSpPr txBox="1"/>
          <p:nvPr/>
        </p:nvSpPr>
        <p:spPr>
          <a:xfrm>
            <a:off x="5562600" y="220120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78" name="Picture 77" descr="lock.png"/>
          <p:cNvPicPr>
            <a:picLocks noChangeAspect="1"/>
          </p:cNvPicPr>
          <p:nvPr/>
        </p:nvPicPr>
        <p:blipFill>
          <a:blip r:embed="rId4"/>
          <a:stretch>
            <a:fillRect/>
          </a:stretch>
        </p:blipFill>
        <p:spPr>
          <a:xfrm>
            <a:off x="6623687" y="2191421"/>
            <a:ext cx="128699" cy="187198"/>
          </a:xfrm>
          <a:prstGeom prst="rect">
            <a:avLst/>
          </a:prstGeom>
        </p:spPr>
      </p:pic>
      <p:sp>
        <p:nvSpPr>
          <p:cNvPr id="79" name="TextBox 78"/>
          <p:cNvSpPr txBox="1"/>
          <p:nvPr/>
        </p:nvSpPr>
        <p:spPr>
          <a:xfrm>
            <a:off x="6791183" y="22012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80" name="TextBox 79"/>
          <p:cNvSpPr txBox="1"/>
          <p:nvPr/>
        </p:nvSpPr>
        <p:spPr>
          <a:xfrm>
            <a:off x="8420100" y="2201200"/>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81" name="Picture 80" descr="lock.png"/>
          <p:cNvPicPr>
            <a:picLocks noChangeAspect="1"/>
          </p:cNvPicPr>
          <p:nvPr/>
        </p:nvPicPr>
        <p:blipFill>
          <a:blip r:embed="rId4"/>
          <a:stretch>
            <a:fillRect/>
          </a:stretch>
        </p:blipFill>
        <p:spPr>
          <a:xfrm>
            <a:off x="9653902" y="2191421"/>
            <a:ext cx="128699" cy="187198"/>
          </a:xfrm>
          <a:prstGeom prst="rect">
            <a:avLst/>
          </a:prstGeom>
        </p:spPr>
      </p:pic>
      <p:sp>
        <p:nvSpPr>
          <p:cNvPr id="82" name="TextBox 81"/>
          <p:cNvSpPr txBox="1"/>
          <p:nvPr/>
        </p:nvSpPr>
        <p:spPr>
          <a:xfrm>
            <a:off x="9821398" y="220120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83" name="Picture 82" descr="lock.png"/>
          <p:cNvPicPr>
            <a:picLocks noChangeAspect="1"/>
          </p:cNvPicPr>
          <p:nvPr/>
        </p:nvPicPr>
        <p:blipFill>
          <a:blip r:embed="rId4"/>
          <a:stretch>
            <a:fillRect/>
          </a:stretch>
        </p:blipFill>
        <p:spPr>
          <a:xfrm>
            <a:off x="9922866" y="2191421"/>
            <a:ext cx="128699" cy="187198"/>
          </a:xfrm>
          <a:prstGeom prst="rect">
            <a:avLst/>
          </a:prstGeom>
        </p:spPr>
      </p:pic>
      <p:sp>
        <p:nvSpPr>
          <p:cNvPr id="84" name="TextBox 83"/>
          <p:cNvSpPr txBox="1"/>
          <p:nvPr/>
        </p:nvSpPr>
        <p:spPr>
          <a:xfrm>
            <a:off x="10090362" y="2201200"/>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85" name="TextBox 84"/>
          <p:cNvSpPr txBox="1"/>
          <p:nvPr/>
        </p:nvSpPr>
        <p:spPr>
          <a:xfrm>
            <a:off x="1752600" y="2628483"/>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86" name="Picture 85" descr="lock.png"/>
          <p:cNvPicPr>
            <a:picLocks noChangeAspect="1"/>
          </p:cNvPicPr>
          <p:nvPr/>
        </p:nvPicPr>
        <p:blipFill>
          <a:blip r:embed="rId4"/>
          <a:stretch>
            <a:fillRect/>
          </a:stretch>
        </p:blipFill>
        <p:spPr>
          <a:xfrm>
            <a:off x="2438789" y="2618704"/>
            <a:ext cx="128699" cy="187198"/>
          </a:xfrm>
          <a:prstGeom prst="rect">
            <a:avLst/>
          </a:prstGeom>
        </p:spPr>
      </p:pic>
      <p:sp>
        <p:nvSpPr>
          <p:cNvPr id="87" name="TextBox 86"/>
          <p:cNvSpPr txBox="1"/>
          <p:nvPr/>
        </p:nvSpPr>
        <p:spPr>
          <a:xfrm>
            <a:off x="2606285" y="2628483"/>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88" name="Picture 87" descr="lock.png"/>
          <p:cNvPicPr>
            <a:picLocks noChangeAspect="1"/>
          </p:cNvPicPr>
          <p:nvPr/>
        </p:nvPicPr>
        <p:blipFill>
          <a:blip r:embed="rId4"/>
          <a:stretch>
            <a:fillRect/>
          </a:stretch>
        </p:blipFill>
        <p:spPr>
          <a:xfrm>
            <a:off x="4237905" y="2618704"/>
            <a:ext cx="128699" cy="187198"/>
          </a:xfrm>
          <a:prstGeom prst="rect">
            <a:avLst/>
          </a:prstGeom>
        </p:spPr>
      </p:pic>
      <p:sp>
        <p:nvSpPr>
          <p:cNvPr id="89" name="TextBox 88"/>
          <p:cNvSpPr txBox="1"/>
          <p:nvPr/>
        </p:nvSpPr>
        <p:spPr>
          <a:xfrm>
            <a:off x="4405401" y="2628483"/>
            <a:ext cx="535136" cy="186689"/>
          </a:xfrm>
          <a:prstGeom prst="rect">
            <a:avLst/>
          </a:prstGeom>
          <a:noFill/>
        </p:spPr>
        <p:txBody>
          <a:bodyPr wrap="none" lIns="0" rIns="0" tIns="0" bIns="0">
            <a:spAutoFit/>
          </a:bodyPr>
          <a:lstStyle/>
          <a:p>
            <a:r>
              <a:rPr sz="1100" b="0">
                <a:solidFill>
                  <a:srgbClr val="2E2E2E"/>
                </a:solidFill>
                <a:latin typeface="Calibri"/>
              </a:rPr>
              <a:t>), Sweet</a:t>
            </a:r>
          </a:p>
        </p:txBody>
      </p:sp>
      <p:sp>
        <p:nvSpPr>
          <p:cNvPr id="90" name="TextBox 89"/>
          <p:cNvSpPr txBox="1"/>
          <p:nvPr/>
        </p:nvSpPr>
        <p:spPr>
          <a:xfrm>
            <a:off x="1752600" y="2796123"/>
            <a:ext cx="2386434" cy="186689"/>
          </a:xfrm>
          <a:prstGeom prst="rect">
            <a:avLst/>
          </a:prstGeom>
          <a:noFill/>
        </p:spPr>
        <p:txBody>
          <a:bodyPr wrap="none" lIns="0" rIns="0" tIns="0" bIns="0">
            <a:spAutoFit/>
          </a:bodyPr>
          <a:lstStyle/>
          <a:p>
            <a:r>
              <a:rPr sz="1100" b="0">
                <a:solidFill>
                  <a:srgbClr val="2E2E2E"/>
                </a:solidFill>
                <a:latin typeface="Calibri"/>
              </a:rPr>
              <a:t>muffins demand, Accelerating vs history.</a:t>
            </a:r>
          </a:p>
        </p:txBody>
      </p:sp>
      <p:sp>
        <p:nvSpPr>
          <p:cNvPr id="91" name="TextBox 90"/>
          <p:cNvSpPr txBox="1"/>
          <p:nvPr/>
        </p:nvSpPr>
        <p:spPr>
          <a:xfrm>
            <a:off x="5562600" y="2712303"/>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92" name="Picture 91" descr="lock.png"/>
          <p:cNvPicPr>
            <a:picLocks noChangeAspect="1"/>
          </p:cNvPicPr>
          <p:nvPr/>
        </p:nvPicPr>
        <p:blipFill>
          <a:blip r:embed="rId4"/>
          <a:stretch>
            <a:fillRect/>
          </a:stretch>
        </p:blipFill>
        <p:spPr>
          <a:xfrm>
            <a:off x="6623687" y="2702524"/>
            <a:ext cx="128699" cy="187198"/>
          </a:xfrm>
          <a:prstGeom prst="rect">
            <a:avLst/>
          </a:prstGeom>
        </p:spPr>
      </p:pic>
      <p:sp>
        <p:nvSpPr>
          <p:cNvPr id="93" name="TextBox 92"/>
          <p:cNvSpPr txBox="1"/>
          <p:nvPr/>
        </p:nvSpPr>
        <p:spPr>
          <a:xfrm>
            <a:off x="6791183" y="2712303"/>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94" name="TextBox 93"/>
          <p:cNvSpPr txBox="1"/>
          <p:nvPr/>
        </p:nvSpPr>
        <p:spPr>
          <a:xfrm>
            <a:off x="8420100" y="2712303"/>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95" name="Picture 94" descr="lock.png"/>
          <p:cNvPicPr>
            <a:picLocks noChangeAspect="1"/>
          </p:cNvPicPr>
          <p:nvPr/>
        </p:nvPicPr>
        <p:blipFill>
          <a:blip r:embed="rId4"/>
          <a:stretch>
            <a:fillRect/>
          </a:stretch>
        </p:blipFill>
        <p:spPr>
          <a:xfrm>
            <a:off x="9653902" y="2702524"/>
            <a:ext cx="128699" cy="187198"/>
          </a:xfrm>
          <a:prstGeom prst="rect">
            <a:avLst/>
          </a:prstGeom>
        </p:spPr>
      </p:pic>
      <p:sp>
        <p:nvSpPr>
          <p:cNvPr id="96" name="TextBox 95"/>
          <p:cNvSpPr txBox="1"/>
          <p:nvPr/>
        </p:nvSpPr>
        <p:spPr>
          <a:xfrm>
            <a:off x="9821398" y="2712303"/>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7" name="Picture 96" descr="lock.png"/>
          <p:cNvPicPr>
            <a:picLocks noChangeAspect="1"/>
          </p:cNvPicPr>
          <p:nvPr/>
        </p:nvPicPr>
        <p:blipFill>
          <a:blip r:embed="rId4"/>
          <a:stretch>
            <a:fillRect/>
          </a:stretch>
        </p:blipFill>
        <p:spPr>
          <a:xfrm>
            <a:off x="9922866" y="2702524"/>
            <a:ext cx="128699" cy="187198"/>
          </a:xfrm>
          <a:prstGeom prst="rect">
            <a:avLst/>
          </a:prstGeom>
        </p:spPr>
      </p:pic>
      <p:sp>
        <p:nvSpPr>
          <p:cNvPr id="98" name="TextBox 97"/>
          <p:cNvSpPr txBox="1"/>
          <p:nvPr/>
        </p:nvSpPr>
        <p:spPr>
          <a:xfrm>
            <a:off x="10090362" y="2712303"/>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99" name="TextBox 98"/>
          <p:cNvSpPr txBox="1"/>
          <p:nvPr/>
        </p:nvSpPr>
        <p:spPr>
          <a:xfrm>
            <a:off x="1752600" y="3139587"/>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00" name="Picture 99" descr="lock.png"/>
          <p:cNvPicPr>
            <a:picLocks noChangeAspect="1"/>
          </p:cNvPicPr>
          <p:nvPr/>
        </p:nvPicPr>
        <p:blipFill>
          <a:blip r:embed="rId4"/>
          <a:stretch>
            <a:fillRect/>
          </a:stretch>
        </p:blipFill>
        <p:spPr>
          <a:xfrm>
            <a:off x="2834969" y="3129808"/>
            <a:ext cx="128699" cy="187198"/>
          </a:xfrm>
          <a:prstGeom prst="rect">
            <a:avLst/>
          </a:prstGeom>
        </p:spPr>
      </p:pic>
      <p:sp>
        <p:nvSpPr>
          <p:cNvPr id="101" name="TextBox 100"/>
          <p:cNvSpPr txBox="1"/>
          <p:nvPr/>
        </p:nvSpPr>
        <p:spPr>
          <a:xfrm>
            <a:off x="3002465" y="3139587"/>
            <a:ext cx="1851082" cy="186689"/>
          </a:xfrm>
          <a:prstGeom prst="rect">
            <a:avLst/>
          </a:prstGeom>
          <a:noFill/>
        </p:spPr>
        <p:txBody>
          <a:bodyPr wrap="none" lIns="0" rIns="0" tIns="0" bIns="0">
            <a:spAutoFit/>
          </a:bodyPr>
          <a:lstStyle/>
          <a:p>
            <a:r>
              <a:rPr sz="1100" b="0">
                <a:solidFill>
                  <a:srgbClr val="2E2E2E"/>
                </a:solidFill>
                <a:latin typeface="Calibri"/>
              </a:rPr>
              <a:t>CAGR), Sweet muffins demand,</a:t>
            </a:r>
          </a:p>
        </p:txBody>
      </p:sp>
      <p:sp>
        <p:nvSpPr>
          <p:cNvPr id="102" name="TextBox 101"/>
          <p:cNvSpPr txBox="1"/>
          <p:nvPr/>
        </p:nvSpPr>
        <p:spPr>
          <a:xfrm>
            <a:off x="1752600" y="3307227"/>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03" name="TextBox 102"/>
          <p:cNvSpPr txBox="1"/>
          <p:nvPr/>
        </p:nvSpPr>
        <p:spPr>
          <a:xfrm>
            <a:off x="5562600" y="3139587"/>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04" name="Picture 103" descr="lock.png"/>
          <p:cNvPicPr>
            <a:picLocks noChangeAspect="1"/>
          </p:cNvPicPr>
          <p:nvPr/>
        </p:nvPicPr>
        <p:blipFill>
          <a:blip r:embed="rId4"/>
          <a:stretch>
            <a:fillRect/>
          </a:stretch>
        </p:blipFill>
        <p:spPr>
          <a:xfrm>
            <a:off x="6797766" y="3129808"/>
            <a:ext cx="128699" cy="187198"/>
          </a:xfrm>
          <a:prstGeom prst="rect">
            <a:avLst/>
          </a:prstGeom>
        </p:spPr>
      </p:pic>
      <p:sp>
        <p:nvSpPr>
          <p:cNvPr id="105" name="TextBox 104"/>
          <p:cNvSpPr txBox="1"/>
          <p:nvPr/>
        </p:nvSpPr>
        <p:spPr>
          <a:xfrm>
            <a:off x="6965262" y="3139587"/>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06" name="TextBox 105"/>
          <p:cNvSpPr txBox="1"/>
          <p:nvPr/>
        </p:nvSpPr>
        <p:spPr>
          <a:xfrm>
            <a:off x="5562600" y="3307227"/>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07" name="Picture 106" descr="lock.png"/>
          <p:cNvPicPr>
            <a:picLocks noChangeAspect="1"/>
          </p:cNvPicPr>
          <p:nvPr/>
        </p:nvPicPr>
        <p:blipFill>
          <a:blip r:embed="rId4"/>
          <a:stretch>
            <a:fillRect/>
          </a:stretch>
        </p:blipFill>
        <p:spPr>
          <a:xfrm>
            <a:off x="6258066" y="3297448"/>
            <a:ext cx="128699" cy="187198"/>
          </a:xfrm>
          <a:prstGeom prst="rect">
            <a:avLst/>
          </a:prstGeom>
        </p:spPr>
      </p:pic>
      <p:sp>
        <p:nvSpPr>
          <p:cNvPr id="108" name="TextBox 107"/>
          <p:cNvSpPr txBox="1"/>
          <p:nvPr/>
        </p:nvSpPr>
        <p:spPr>
          <a:xfrm>
            <a:off x="6425562" y="3307227"/>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9" name="TextBox 108"/>
          <p:cNvSpPr txBox="1"/>
          <p:nvPr/>
        </p:nvSpPr>
        <p:spPr>
          <a:xfrm>
            <a:off x="8420100" y="3223407"/>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110" name="Picture 109" descr="lock.png"/>
          <p:cNvPicPr>
            <a:picLocks noChangeAspect="1"/>
          </p:cNvPicPr>
          <p:nvPr/>
        </p:nvPicPr>
        <p:blipFill>
          <a:blip r:embed="rId4"/>
          <a:stretch>
            <a:fillRect/>
          </a:stretch>
        </p:blipFill>
        <p:spPr>
          <a:xfrm>
            <a:off x="9653902" y="3213628"/>
            <a:ext cx="128699" cy="187198"/>
          </a:xfrm>
          <a:prstGeom prst="rect">
            <a:avLst/>
          </a:prstGeom>
        </p:spPr>
      </p:pic>
      <p:sp>
        <p:nvSpPr>
          <p:cNvPr id="111" name="TextBox 110"/>
          <p:cNvSpPr txBox="1"/>
          <p:nvPr/>
        </p:nvSpPr>
        <p:spPr>
          <a:xfrm>
            <a:off x="9821398" y="3223407"/>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12" name="Picture 111" descr="lock.png"/>
          <p:cNvPicPr>
            <a:picLocks noChangeAspect="1"/>
          </p:cNvPicPr>
          <p:nvPr/>
        </p:nvPicPr>
        <p:blipFill>
          <a:blip r:embed="rId4"/>
          <a:stretch>
            <a:fillRect/>
          </a:stretch>
        </p:blipFill>
        <p:spPr>
          <a:xfrm>
            <a:off x="9922866" y="3213628"/>
            <a:ext cx="128699" cy="187198"/>
          </a:xfrm>
          <a:prstGeom prst="rect">
            <a:avLst/>
          </a:prstGeom>
        </p:spPr>
      </p:pic>
      <p:sp>
        <p:nvSpPr>
          <p:cNvPr id="113" name="TextBox 112"/>
          <p:cNvSpPr txBox="1"/>
          <p:nvPr/>
        </p:nvSpPr>
        <p:spPr>
          <a:xfrm>
            <a:off x="10090362" y="3223407"/>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14" name="TextBox 113"/>
          <p:cNvSpPr txBox="1"/>
          <p:nvPr/>
        </p:nvSpPr>
        <p:spPr>
          <a:xfrm>
            <a:off x="1752600" y="3650690"/>
            <a:ext cx="1261467" cy="186689"/>
          </a:xfrm>
          <a:prstGeom prst="rect">
            <a:avLst/>
          </a:prstGeom>
          <a:noFill/>
        </p:spPr>
        <p:txBody>
          <a:bodyPr wrap="none" lIns="0" rIns="0" tIns="0" bIns="0">
            <a:spAutoFit/>
          </a:bodyPr>
          <a:lstStyle/>
          <a:p>
            <a:r>
              <a:rPr sz="1100" b="0">
                <a:solidFill>
                  <a:srgbClr val="2E2E2E"/>
                </a:solidFill>
                <a:latin typeface="Calibri"/>
              </a:rPr>
              <a:t>Above-market pace (</a:t>
            </a:r>
          </a:p>
        </p:txBody>
      </p:sp>
      <p:pic>
        <p:nvPicPr>
          <p:cNvPr id="115" name="Picture 114" descr="lock.png"/>
          <p:cNvPicPr>
            <a:picLocks noChangeAspect="1"/>
          </p:cNvPicPr>
          <p:nvPr/>
        </p:nvPicPr>
        <p:blipFill>
          <a:blip r:embed="rId4"/>
          <a:stretch>
            <a:fillRect/>
          </a:stretch>
        </p:blipFill>
        <p:spPr>
          <a:xfrm>
            <a:off x="2962118" y="3640911"/>
            <a:ext cx="128699" cy="187198"/>
          </a:xfrm>
          <a:prstGeom prst="rect">
            <a:avLst/>
          </a:prstGeom>
        </p:spPr>
      </p:pic>
      <p:sp>
        <p:nvSpPr>
          <p:cNvPr id="116" name="TextBox 115"/>
          <p:cNvSpPr txBox="1"/>
          <p:nvPr/>
        </p:nvSpPr>
        <p:spPr>
          <a:xfrm>
            <a:off x="3129614" y="3650690"/>
            <a:ext cx="2242485" cy="186689"/>
          </a:xfrm>
          <a:prstGeom prst="rect">
            <a:avLst/>
          </a:prstGeom>
          <a:noFill/>
        </p:spPr>
        <p:txBody>
          <a:bodyPr wrap="none" lIns="0" rIns="0" tIns="0" bIns="0">
            <a:spAutoFit/>
          </a:bodyPr>
          <a:lstStyle/>
          <a:p>
            <a:r>
              <a:rPr sz="1100" b="0">
                <a:solidFill>
                  <a:srgbClr val="2E2E2E"/>
                </a:solidFill>
                <a:latin typeface="Calibri"/>
              </a:rPr>
              <a:t>), Sweet muffins demand, Accelerating</a:t>
            </a:r>
          </a:p>
        </p:txBody>
      </p:sp>
      <p:sp>
        <p:nvSpPr>
          <p:cNvPr id="117" name="TextBox 116"/>
          <p:cNvSpPr txBox="1"/>
          <p:nvPr/>
        </p:nvSpPr>
        <p:spPr>
          <a:xfrm>
            <a:off x="1752600" y="3818330"/>
            <a:ext cx="653553" cy="186689"/>
          </a:xfrm>
          <a:prstGeom prst="rect">
            <a:avLst/>
          </a:prstGeom>
          <a:noFill/>
        </p:spPr>
        <p:txBody>
          <a:bodyPr wrap="none" lIns="0" rIns="0" tIns="0" bIns="0">
            <a:spAutoFit/>
          </a:bodyPr>
          <a:lstStyle/>
          <a:p>
            <a:r>
              <a:rPr sz="1100" b="0">
                <a:solidFill>
                  <a:srgbClr val="2E2E2E"/>
                </a:solidFill>
                <a:latin typeface="Calibri"/>
              </a:rPr>
              <a:t>vs history.</a:t>
            </a:r>
          </a:p>
        </p:txBody>
      </p:sp>
      <p:sp>
        <p:nvSpPr>
          <p:cNvPr id="118" name="TextBox 117"/>
          <p:cNvSpPr txBox="1"/>
          <p:nvPr/>
        </p:nvSpPr>
        <p:spPr>
          <a:xfrm>
            <a:off x="5562600" y="373451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119" name="Picture 118" descr="lock.png"/>
          <p:cNvPicPr>
            <a:picLocks noChangeAspect="1"/>
          </p:cNvPicPr>
          <p:nvPr/>
        </p:nvPicPr>
        <p:blipFill>
          <a:blip r:embed="rId4"/>
          <a:stretch>
            <a:fillRect/>
          </a:stretch>
        </p:blipFill>
        <p:spPr>
          <a:xfrm>
            <a:off x="6623687" y="3724731"/>
            <a:ext cx="128699" cy="187198"/>
          </a:xfrm>
          <a:prstGeom prst="rect">
            <a:avLst/>
          </a:prstGeom>
        </p:spPr>
      </p:pic>
      <p:sp>
        <p:nvSpPr>
          <p:cNvPr id="120" name="TextBox 119"/>
          <p:cNvSpPr txBox="1"/>
          <p:nvPr/>
        </p:nvSpPr>
        <p:spPr>
          <a:xfrm>
            <a:off x="6791183" y="373451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21" name="TextBox 120"/>
          <p:cNvSpPr txBox="1"/>
          <p:nvPr/>
        </p:nvSpPr>
        <p:spPr>
          <a:xfrm>
            <a:off x="8420100" y="3734510"/>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122" name="Picture 121" descr="lock.png"/>
          <p:cNvPicPr>
            <a:picLocks noChangeAspect="1"/>
          </p:cNvPicPr>
          <p:nvPr/>
        </p:nvPicPr>
        <p:blipFill>
          <a:blip r:embed="rId4"/>
          <a:stretch>
            <a:fillRect/>
          </a:stretch>
        </p:blipFill>
        <p:spPr>
          <a:xfrm>
            <a:off x="9653902" y="3724731"/>
            <a:ext cx="128699" cy="187198"/>
          </a:xfrm>
          <a:prstGeom prst="rect">
            <a:avLst/>
          </a:prstGeom>
        </p:spPr>
      </p:pic>
      <p:sp>
        <p:nvSpPr>
          <p:cNvPr id="123" name="TextBox 122"/>
          <p:cNvSpPr txBox="1"/>
          <p:nvPr/>
        </p:nvSpPr>
        <p:spPr>
          <a:xfrm>
            <a:off x="9821398" y="373451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24" name="Picture 123" descr="lock.png"/>
          <p:cNvPicPr>
            <a:picLocks noChangeAspect="1"/>
          </p:cNvPicPr>
          <p:nvPr/>
        </p:nvPicPr>
        <p:blipFill>
          <a:blip r:embed="rId4"/>
          <a:stretch>
            <a:fillRect/>
          </a:stretch>
        </p:blipFill>
        <p:spPr>
          <a:xfrm>
            <a:off x="9922866" y="3724731"/>
            <a:ext cx="128699" cy="187198"/>
          </a:xfrm>
          <a:prstGeom prst="rect">
            <a:avLst/>
          </a:prstGeom>
        </p:spPr>
      </p:pic>
      <p:sp>
        <p:nvSpPr>
          <p:cNvPr id="125" name="TextBox 124"/>
          <p:cNvSpPr txBox="1"/>
          <p:nvPr/>
        </p:nvSpPr>
        <p:spPr>
          <a:xfrm>
            <a:off x="10090362" y="3734510"/>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26" name="TextBox 125"/>
          <p:cNvSpPr txBox="1"/>
          <p:nvPr/>
        </p:nvSpPr>
        <p:spPr>
          <a:xfrm>
            <a:off x="1752600" y="4161794"/>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27" name="Picture 126" descr="lock.png"/>
          <p:cNvPicPr>
            <a:picLocks noChangeAspect="1"/>
          </p:cNvPicPr>
          <p:nvPr/>
        </p:nvPicPr>
        <p:blipFill>
          <a:blip r:embed="rId4"/>
          <a:stretch>
            <a:fillRect/>
          </a:stretch>
        </p:blipFill>
        <p:spPr>
          <a:xfrm>
            <a:off x="2834969" y="4152015"/>
            <a:ext cx="128699" cy="187198"/>
          </a:xfrm>
          <a:prstGeom prst="rect">
            <a:avLst/>
          </a:prstGeom>
        </p:spPr>
      </p:pic>
      <p:sp>
        <p:nvSpPr>
          <p:cNvPr id="128" name="TextBox 127"/>
          <p:cNvSpPr txBox="1"/>
          <p:nvPr/>
        </p:nvSpPr>
        <p:spPr>
          <a:xfrm>
            <a:off x="3002465" y="4161794"/>
            <a:ext cx="1851082" cy="186689"/>
          </a:xfrm>
          <a:prstGeom prst="rect">
            <a:avLst/>
          </a:prstGeom>
          <a:noFill/>
        </p:spPr>
        <p:txBody>
          <a:bodyPr wrap="none" lIns="0" rIns="0" tIns="0" bIns="0">
            <a:spAutoFit/>
          </a:bodyPr>
          <a:lstStyle/>
          <a:p>
            <a:r>
              <a:rPr sz="1100" b="0">
                <a:solidFill>
                  <a:srgbClr val="2E2E2E"/>
                </a:solidFill>
                <a:latin typeface="Calibri"/>
              </a:rPr>
              <a:t>CAGR), Sweet muffins demand,</a:t>
            </a:r>
          </a:p>
        </p:txBody>
      </p:sp>
      <p:sp>
        <p:nvSpPr>
          <p:cNvPr id="129" name="TextBox 128"/>
          <p:cNvSpPr txBox="1"/>
          <p:nvPr/>
        </p:nvSpPr>
        <p:spPr>
          <a:xfrm>
            <a:off x="1752600" y="4329434"/>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30" name="TextBox 129"/>
          <p:cNvSpPr txBox="1"/>
          <p:nvPr/>
        </p:nvSpPr>
        <p:spPr>
          <a:xfrm>
            <a:off x="5562600" y="4161794"/>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31" name="Picture 130" descr="lock.png"/>
          <p:cNvPicPr>
            <a:picLocks noChangeAspect="1"/>
          </p:cNvPicPr>
          <p:nvPr/>
        </p:nvPicPr>
        <p:blipFill>
          <a:blip r:embed="rId4"/>
          <a:stretch>
            <a:fillRect/>
          </a:stretch>
        </p:blipFill>
        <p:spPr>
          <a:xfrm>
            <a:off x="6797766" y="4152015"/>
            <a:ext cx="128699" cy="187198"/>
          </a:xfrm>
          <a:prstGeom prst="rect">
            <a:avLst/>
          </a:prstGeom>
        </p:spPr>
      </p:pic>
      <p:sp>
        <p:nvSpPr>
          <p:cNvPr id="132" name="TextBox 131"/>
          <p:cNvSpPr txBox="1"/>
          <p:nvPr/>
        </p:nvSpPr>
        <p:spPr>
          <a:xfrm>
            <a:off x="6965262" y="4161794"/>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33" name="TextBox 132"/>
          <p:cNvSpPr txBox="1"/>
          <p:nvPr/>
        </p:nvSpPr>
        <p:spPr>
          <a:xfrm>
            <a:off x="5562600" y="4329434"/>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34" name="Picture 133" descr="lock.png"/>
          <p:cNvPicPr>
            <a:picLocks noChangeAspect="1"/>
          </p:cNvPicPr>
          <p:nvPr/>
        </p:nvPicPr>
        <p:blipFill>
          <a:blip r:embed="rId4"/>
          <a:stretch>
            <a:fillRect/>
          </a:stretch>
        </p:blipFill>
        <p:spPr>
          <a:xfrm>
            <a:off x="6258066" y="4319655"/>
            <a:ext cx="128699" cy="187198"/>
          </a:xfrm>
          <a:prstGeom prst="rect">
            <a:avLst/>
          </a:prstGeom>
        </p:spPr>
      </p:pic>
      <p:sp>
        <p:nvSpPr>
          <p:cNvPr id="135" name="TextBox 134"/>
          <p:cNvSpPr txBox="1"/>
          <p:nvPr/>
        </p:nvSpPr>
        <p:spPr>
          <a:xfrm>
            <a:off x="6425562" y="4329434"/>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36" name="TextBox 135"/>
          <p:cNvSpPr txBox="1"/>
          <p:nvPr/>
        </p:nvSpPr>
        <p:spPr>
          <a:xfrm>
            <a:off x="8420100" y="4245614"/>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137" name="Picture 136" descr="lock.png"/>
          <p:cNvPicPr>
            <a:picLocks noChangeAspect="1"/>
          </p:cNvPicPr>
          <p:nvPr/>
        </p:nvPicPr>
        <p:blipFill>
          <a:blip r:embed="rId4"/>
          <a:stretch>
            <a:fillRect/>
          </a:stretch>
        </p:blipFill>
        <p:spPr>
          <a:xfrm>
            <a:off x="9653902" y="4235835"/>
            <a:ext cx="128699" cy="187198"/>
          </a:xfrm>
          <a:prstGeom prst="rect">
            <a:avLst/>
          </a:prstGeom>
        </p:spPr>
      </p:pic>
      <p:sp>
        <p:nvSpPr>
          <p:cNvPr id="138" name="TextBox 137"/>
          <p:cNvSpPr txBox="1"/>
          <p:nvPr/>
        </p:nvSpPr>
        <p:spPr>
          <a:xfrm>
            <a:off x="9821398" y="4245614"/>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39" name="Picture 138" descr="lock.png"/>
          <p:cNvPicPr>
            <a:picLocks noChangeAspect="1"/>
          </p:cNvPicPr>
          <p:nvPr/>
        </p:nvPicPr>
        <p:blipFill>
          <a:blip r:embed="rId4"/>
          <a:stretch>
            <a:fillRect/>
          </a:stretch>
        </p:blipFill>
        <p:spPr>
          <a:xfrm>
            <a:off x="9922866" y="4235835"/>
            <a:ext cx="128699" cy="187198"/>
          </a:xfrm>
          <a:prstGeom prst="rect">
            <a:avLst/>
          </a:prstGeom>
        </p:spPr>
      </p:pic>
      <p:sp>
        <p:nvSpPr>
          <p:cNvPr id="140" name="TextBox 139"/>
          <p:cNvSpPr txBox="1"/>
          <p:nvPr/>
        </p:nvSpPr>
        <p:spPr>
          <a:xfrm>
            <a:off x="10090362" y="4245614"/>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41" name="TextBox 140"/>
          <p:cNvSpPr txBox="1"/>
          <p:nvPr/>
        </p:nvSpPr>
        <p:spPr>
          <a:xfrm>
            <a:off x="304800" y="5232520"/>
            <a:ext cx="4373612" cy="186689"/>
          </a:xfrm>
          <a:prstGeom prst="rect">
            <a:avLst/>
          </a:prstGeom>
          <a:noFill/>
        </p:spPr>
        <p:txBody>
          <a:bodyPr wrap="none" lIns="0" rIns="0" tIns="0" bIns="0">
            <a:spAutoFit/>
          </a:bodyPr>
          <a:lstStyle/>
          <a:p>
            <a:r>
              <a:rPr sz="1100" b="0">
                <a:solidFill>
                  <a:srgbClr val="2E2E2E"/>
                </a:solidFill>
                <a:latin typeface="Calibri"/>
              </a:rPr>
              <a:t>▪ North America, Europe, South Asia &amp; Pacific anchor scale with a combined</a:t>
            </a:r>
          </a:p>
        </p:txBody>
      </p:sp>
      <p:pic>
        <p:nvPicPr>
          <p:cNvPr id="142" name="Picture 141" descr="lock.png"/>
          <p:cNvPicPr>
            <a:picLocks noChangeAspect="1"/>
          </p:cNvPicPr>
          <p:nvPr/>
        </p:nvPicPr>
        <p:blipFill>
          <a:blip r:embed="rId4"/>
          <a:stretch>
            <a:fillRect/>
          </a:stretch>
        </p:blipFill>
        <p:spPr>
          <a:xfrm>
            <a:off x="4626463" y="5222741"/>
            <a:ext cx="128699" cy="187198"/>
          </a:xfrm>
          <a:prstGeom prst="rect">
            <a:avLst/>
          </a:prstGeom>
        </p:spPr>
      </p:pic>
      <p:sp>
        <p:nvSpPr>
          <p:cNvPr id="143" name="TextBox 142"/>
          <p:cNvSpPr txBox="1"/>
          <p:nvPr/>
        </p:nvSpPr>
        <p:spPr>
          <a:xfrm>
            <a:off x="4793959" y="5232520"/>
            <a:ext cx="4622998" cy="186689"/>
          </a:xfrm>
          <a:prstGeom prst="rect">
            <a:avLst/>
          </a:prstGeom>
          <a:noFill/>
        </p:spPr>
        <p:txBody>
          <a:bodyPr wrap="none" lIns="0" rIns="0" tIns="0" bIns="0">
            <a:spAutoFit/>
          </a:bodyPr>
          <a:lstStyle/>
          <a:p>
            <a:r>
              <a:rPr sz="1100" b="0">
                <a:solidFill>
                  <a:srgbClr val="2E2E2E"/>
                </a:solidFill>
                <a:latin typeface="Calibri"/>
              </a:rPr>
              <a:t>of Global value in 2036, while 'South Asia &amp; Pacific' offers the steepest upside at</a:t>
            </a:r>
          </a:p>
        </p:txBody>
      </p:sp>
      <p:pic>
        <p:nvPicPr>
          <p:cNvPr id="144" name="Picture 143" descr="lock.png"/>
          <p:cNvPicPr>
            <a:picLocks noChangeAspect="1"/>
          </p:cNvPicPr>
          <p:nvPr/>
        </p:nvPicPr>
        <p:blipFill>
          <a:blip r:embed="rId4"/>
          <a:stretch>
            <a:fillRect/>
          </a:stretch>
        </p:blipFill>
        <p:spPr>
          <a:xfrm>
            <a:off x="9365009" y="5222741"/>
            <a:ext cx="128699" cy="187198"/>
          </a:xfrm>
          <a:prstGeom prst="rect">
            <a:avLst/>
          </a:prstGeom>
        </p:spPr>
      </p:pic>
      <p:sp>
        <p:nvSpPr>
          <p:cNvPr id="145" name="TextBox 144"/>
          <p:cNvSpPr txBox="1"/>
          <p:nvPr/>
        </p:nvSpPr>
        <p:spPr>
          <a:xfrm>
            <a:off x="9532505" y="5232520"/>
            <a:ext cx="1819704" cy="186689"/>
          </a:xfrm>
          <a:prstGeom prst="rect">
            <a:avLst/>
          </a:prstGeom>
          <a:noFill/>
        </p:spPr>
        <p:txBody>
          <a:bodyPr wrap="none" lIns="0" rIns="0" tIns="0" bIns="0">
            <a:spAutoFit/>
          </a:bodyPr>
          <a:lstStyle/>
          <a:p>
            <a:r>
              <a:rPr sz="1100" b="0">
                <a:solidFill>
                  <a:srgbClr val="2E2E2E"/>
                </a:solidFill>
                <a:latin typeface="Calibri"/>
              </a:rPr>
              <a:t>CAGR against a market pace of</a:t>
            </a:r>
          </a:p>
        </p:txBody>
      </p:sp>
      <p:pic>
        <p:nvPicPr>
          <p:cNvPr id="146" name="Picture 145" descr="lock.png"/>
          <p:cNvPicPr>
            <a:picLocks noChangeAspect="1"/>
          </p:cNvPicPr>
          <p:nvPr/>
        </p:nvPicPr>
        <p:blipFill>
          <a:blip r:embed="rId4"/>
          <a:stretch>
            <a:fillRect/>
          </a:stretch>
        </p:blipFill>
        <p:spPr>
          <a:xfrm>
            <a:off x="291332" y="5390381"/>
            <a:ext cx="128699" cy="187198"/>
          </a:xfrm>
          <a:prstGeom prst="rect">
            <a:avLst/>
          </a:prstGeom>
        </p:spPr>
      </p:pic>
      <p:sp>
        <p:nvSpPr>
          <p:cNvPr id="147" name="TextBox 146"/>
          <p:cNvSpPr txBox="1"/>
          <p:nvPr/>
        </p:nvSpPr>
        <p:spPr>
          <a:xfrm>
            <a:off x="458828" y="5400160"/>
            <a:ext cx="11008816" cy="186689"/>
          </a:xfrm>
          <a:prstGeom prst="rect">
            <a:avLst/>
          </a:prstGeom>
          <a:noFill/>
        </p:spPr>
        <p:txBody>
          <a:bodyPr wrap="none" lIns="0" rIns="0" tIns="0" bIns="0">
            <a:spAutoFit/>
          </a:bodyPr>
          <a:lstStyle/>
          <a:p>
            <a:r>
              <a:rPr sz="1100" b="0">
                <a:solidFill>
                  <a:srgbClr val="2E2E2E"/>
                </a:solidFill>
                <a:latin typeface="Calibri"/>
              </a:rPr>
              <a:t>. 3 of 6 regions grow at or above that pace, so entry logic has to differ by region scale defence in the leaders, mix and premiumisation in the mid-tier, and availability-led expansion in the fastest</a:t>
            </a:r>
          </a:p>
        </p:txBody>
      </p:sp>
      <p:sp>
        <p:nvSpPr>
          <p:cNvPr id="148" name="TextBox 147"/>
          <p:cNvSpPr txBox="1"/>
          <p:nvPr/>
        </p:nvSpPr>
        <p:spPr>
          <a:xfrm>
            <a:off x="304800" y="5567800"/>
            <a:ext cx="532680" cy="186689"/>
          </a:xfrm>
          <a:prstGeom prst="rect">
            <a:avLst/>
          </a:prstGeom>
          <a:noFill/>
        </p:spPr>
        <p:txBody>
          <a:bodyPr wrap="none" lIns="0" rIns="0" tIns="0" bIns="0">
            <a:spAutoFit/>
          </a:bodyPr>
          <a:lstStyle/>
          <a:p>
            <a:r>
              <a:rPr sz="1100" b="0">
                <a:solidFill>
                  <a:srgbClr val="2E2E2E"/>
                </a:solidFill>
                <a:latin typeface="Calibri"/>
              </a:rPr>
              <a:t>movers.</a:t>
            </a:r>
          </a:p>
        </p:txBody>
      </p:sp>
    </p:spTree>
  </p:cSld>
  <p:clrMapOvr>
    <a:masterClrMapping/>
  </p:clrMapOvr>
</p:sld>
</file>

<file path=ppt/slides/slide5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04460"/>
            <a:ext cx="2324100" cy="2309093"/>
          </a:xfrm>
          <a:custGeom>
            <a:avLst/>
            <a:gdLst/>
            <a:ahLst/>
            <a:cxnLst/>
            <a:rect l="l" t="t" r="r" b="b"/>
            <a:pathLst>
              <a:path w="244" h="253">
                <a:moveTo>
                  <a:pt x="244" y="10"/>
                </a:moveTo>
                <a:lnTo>
                  <a:pt x="176" y="0"/>
                </a:lnTo>
                <a:lnTo>
                  <a:pt x="120" y="42"/>
                </a:lnTo>
                <a:lnTo>
                  <a:pt x="97" y="107"/>
                </a:lnTo>
                <a:lnTo>
                  <a:pt x="0" y="197"/>
                </a:lnTo>
                <a:lnTo>
                  <a:pt x="149" y="217"/>
                </a:lnTo>
                <a:lnTo>
                  <a:pt x="217" y="197"/>
                </a:lnTo>
                <a:lnTo>
                  <a:pt x="244" y="25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2 product type lines and 3 sales channel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3466991" y="1322601"/>
            <a:ext cx="1125226" cy="173278"/>
          </a:xfrm>
          <a:prstGeom prst="rect">
            <a:avLst/>
          </a:prstGeom>
          <a:noFill/>
        </p:spPr>
        <p:txBody>
          <a:bodyPr wrap="none" lIns="0" rIns="0" tIns="0" bIns="0">
            <a:spAutoFit/>
          </a:bodyPr>
          <a:lstStyle/>
          <a:p>
            <a:r>
              <a:rPr sz="1011" b="0">
                <a:solidFill>
                  <a:srgbClr val="2E2E2E"/>
                </a:solidFill>
                <a:latin typeface="Calibri"/>
              </a:rPr>
              <a:t>Production Scale-up</a:t>
            </a:r>
          </a:p>
        </p:txBody>
      </p:sp>
      <p:pic>
        <p:nvPicPr>
          <p:cNvPr id="69" name="Picture 68" descr="lock.png"/>
          <p:cNvPicPr>
            <a:picLocks noChangeAspect="1"/>
          </p:cNvPicPr>
          <p:nvPr/>
        </p:nvPicPr>
        <p:blipFill>
          <a:blip r:embed="rId4"/>
          <a:stretch>
            <a:fillRect/>
          </a:stretch>
        </p:blipFill>
        <p:spPr>
          <a:xfrm>
            <a:off x="4538330" y="1313604"/>
            <a:ext cx="118403" cy="172222"/>
          </a:xfrm>
          <a:prstGeom prst="rect">
            <a:avLst/>
          </a:prstGeom>
        </p:spPr>
      </p:pic>
      <p:sp>
        <p:nvSpPr>
          <p:cNvPr id="70" name="TextBox 69"/>
          <p:cNvSpPr txBox="1"/>
          <p:nvPr/>
        </p:nvSpPr>
        <p:spPr>
          <a:xfrm>
            <a:off x="2482772" y="1561215"/>
            <a:ext cx="1094602" cy="173278"/>
          </a:xfrm>
          <a:prstGeom prst="rect">
            <a:avLst/>
          </a:prstGeom>
          <a:noFill/>
        </p:spPr>
        <p:txBody>
          <a:bodyPr wrap="none" lIns="0" rIns="0" tIns="0" bIns="0">
            <a:spAutoFit/>
          </a:bodyPr>
          <a:lstStyle/>
          <a:p>
            <a:r>
              <a:rPr sz="1011" b="0">
                <a:solidFill>
                  <a:srgbClr val="2E2E2E"/>
                </a:solidFill>
                <a:latin typeface="Calibri"/>
              </a:rPr>
              <a:t>Input Cost Pressure</a:t>
            </a:r>
          </a:p>
        </p:txBody>
      </p:sp>
      <p:pic>
        <p:nvPicPr>
          <p:cNvPr id="71" name="Picture 70" descr="lock.png"/>
          <p:cNvPicPr>
            <a:picLocks noChangeAspect="1"/>
          </p:cNvPicPr>
          <p:nvPr/>
        </p:nvPicPr>
        <p:blipFill>
          <a:blip r:embed="rId4"/>
          <a:stretch>
            <a:fillRect/>
          </a:stretch>
        </p:blipFill>
        <p:spPr>
          <a:xfrm>
            <a:off x="3523486" y="1552218"/>
            <a:ext cx="118403" cy="172222"/>
          </a:xfrm>
          <a:prstGeom prst="rect">
            <a:avLst/>
          </a:prstGeom>
        </p:spPr>
      </p:pic>
      <p:sp>
        <p:nvSpPr>
          <p:cNvPr id="72" name="TextBox 71"/>
          <p:cNvSpPr txBox="1"/>
          <p:nvPr/>
        </p:nvSpPr>
        <p:spPr>
          <a:xfrm>
            <a:off x="1943191" y="2311939"/>
            <a:ext cx="759234" cy="173278"/>
          </a:xfrm>
          <a:prstGeom prst="rect">
            <a:avLst/>
          </a:prstGeom>
          <a:noFill/>
        </p:spPr>
        <p:txBody>
          <a:bodyPr wrap="none" lIns="0" rIns="0" tIns="0" bIns="0">
            <a:spAutoFit/>
          </a:bodyPr>
          <a:lstStyle/>
          <a:p>
            <a:r>
              <a:rPr sz="1011" b="0">
                <a:solidFill>
                  <a:srgbClr val="2E2E2E"/>
                </a:solidFill>
                <a:latin typeface="Calibri"/>
              </a:rPr>
              <a:t>Capacity Add</a:t>
            </a:r>
          </a:p>
        </p:txBody>
      </p:sp>
      <p:pic>
        <p:nvPicPr>
          <p:cNvPr id="73" name="Picture 72" descr="lock.png"/>
          <p:cNvPicPr>
            <a:picLocks noChangeAspect="1"/>
          </p:cNvPicPr>
          <p:nvPr/>
        </p:nvPicPr>
        <p:blipFill>
          <a:blip r:embed="rId4"/>
          <a:stretch>
            <a:fillRect/>
          </a:stretch>
        </p:blipFill>
        <p:spPr>
          <a:xfrm>
            <a:off x="2648537" y="2302942"/>
            <a:ext cx="118403" cy="172222"/>
          </a:xfrm>
          <a:prstGeom prst="rect">
            <a:avLst/>
          </a:prstGeom>
        </p:spPr>
      </p:pic>
      <p:sp>
        <p:nvSpPr>
          <p:cNvPr id="74" name="TextBox 73"/>
          <p:cNvSpPr txBox="1"/>
          <p:nvPr/>
        </p:nvSpPr>
        <p:spPr>
          <a:xfrm>
            <a:off x="1014573" y="3278069"/>
            <a:ext cx="1202291" cy="173278"/>
          </a:xfrm>
          <a:prstGeom prst="rect">
            <a:avLst/>
          </a:prstGeom>
          <a:noFill/>
        </p:spPr>
        <p:txBody>
          <a:bodyPr wrap="none" lIns="0" rIns="0" tIns="0" bIns="0">
            <a:spAutoFit/>
          </a:bodyPr>
          <a:lstStyle/>
          <a:p>
            <a:r>
              <a:rPr sz="1011" b="0">
                <a:solidFill>
                  <a:srgbClr val="2E2E2E"/>
                </a:solidFill>
                <a:latin typeface="Calibri"/>
              </a:rPr>
              <a:t>Supply Concentration</a:t>
            </a:r>
          </a:p>
        </p:txBody>
      </p:sp>
      <p:pic>
        <p:nvPicPr>
          <p:cNvPr id="75" name="Picture 74" descr="lock.png"/>
          <p:cNvPicPr>
            <a:picLocks noChangeAspect="1"/>
          </p:cNvPicPr>
          <p:nvPr/>
        </p:nvPicPr>
        <p:blipFill>
          <a:blip r:embed="rId4"/>
          <a:stretch>
            <a:fillRect/>
          </a:stretch>
        </p:blipFill>
        <p:spPr>
          <a:xfrm>
            <a:off x="2162976" y="3269072"/>
            <a:ext cx="118403" cy="172222"/>
          </a:xfrm>
          <a:prstGeom prst="rect">
            <a:avLst/>
          </a:prstGeom>
        </p:spPr>
      </p:pic>
      <p:sp>
        <p:nvSpPr>
          <p:cNvPr id="76" name="TextBox 75"/>
          <p:cNvSpPr txBox="1"/>
          <p:nvPr/>
        </p:nvSpPr>
        <p:spPr>
          <a:xfrm>
            <a:off x="1148118" y="4350392"/>
            <a:ext cx="1068746" cy="173278"/>
          </a:xfrm>
          <a:prstGeom prst="rect">
            <a:avLst/>
          </a:prstGeom>
          <a:noFill/>
        </p:spPr>
        <p:txBody>
          <a:bodyPr wrap="none" lIns="0" rIns="0" tIns="0" bIns="0">
            <a:spAutoFit/>
          </a:bodyPr>
          <a:lstStyle/>
          <a:p>
            <a:r>
              <a:rPr sz="1011" b="0">
                <a:solidFill>
                  <a:srgbClr val="2E2E2E"/>
                </a:solidFill>
                <a:latin typeface="Calibri"/>
              </a:rPr>
              <a:t>Geographic Spread</a:t>
            </a:r>
          </a:p>
        </p:txBody>
      </p:sp>
      <p:pic>
        <p:nvPicPr>
          <p:cNvPr id="77" name="Picture 76" descr="lock.png"/>
          <p:cNvPicPr>
            <a:picLocks noChangeAspect="1"/>
          </p:cNvPicPr>
          <p:nvPr/>
        </p:nvPicPr>
        <p:blipFill>
          <a:blip r:embed="rId4"/>
          <a:stretch>
            <a:fillRect/>
          </a:stretch>
        </p:blipFill>
        <p:spPr>
          <a:xfrm>
            <a:off x="2162976" y="4341395"/>
            <a:ext cx="118403" cy="172222"/>
          </a:xfrm>
          <a:prstGeom prst="rect">
            <a:avLst/>
          </a:prstGeom>
        </p:spPr>
      </p:pic>
      <p:sp>
        <p:nvSpPr>
          <p:cNvPr id="78" name="TextBox 77"/>
          <p:cNvSpPr txBox="1"/>
          <p:nvPr/>
        </p:nvSpPr>
        <p:spPr>
          <a:xfrm>
            <a:off x="1722039" y="5316521"/>
            <a:ext cx="980386" cy="173278"/>
          </a:xfrm>
          <a:prstGeom prst="rect">
            <a:avLst/>
          </a:prstGeom>
          <a:noFill/>
        </p:spPr>
        <p:txBody>
          <a:bodyPr wrap="none" lIns="0" rIns="0" tIns="0" bIns="0">
            <a:spAutoFit/>
          </a:bodyPr>
          <a:lstStyle/>
          <a:p>
            <a:r>
              <a:rPr sz="1011" b="0">
                <a:solidFill>
                  <a:srgbClr val="2E2E2E"/>
                </a:solidFill>
                <a:latin typeface="Calibri"/>
              </a:rPr>
              <a:t>Portfolio Breadth</a:t>
            </a:r>
          </a:p>
        </p:txBody>
      </p:sp>
      <p:pic>
        <p:nvPicPr>
          <p:cNvPr id="79" name="Picture 78" descr="lock.png"/>
          <p:cNvPicPr>
            <a:picLocks noChangeAspect="1"/>
          </p:cNvPicPr>
          <p:nvPr/>
        </p:nvPicPr>
        <p:blipFill>
          <a:blip r:embed="rId4"/>
          <a:stretch>
            <a:fillRect/>
          </a:stretch>
        </p:blipFill>
        <p:spPr>
          <a:xfrm>
            <a:off x="2648537" y="5307524"/>
            <a:ext cx="118403" cy="172222"/>
          </a:xfrm>
          <a:prstGeom prst="rect">
            <a:avLst/>
          </a:prstGeom>
        </p:spPr>
      </p:pic>
      <p:sp>
        <p:nvSpPr>
          <p:cNvPr id="80" name="TextBox 79"/>
          <p:cNvSpPr txBox="1"/>
          <p:nvPr/>
        </p:nvSpPr>
        <p:spPr>
          <a:xfrm>
            <a:off x="2838472" y="6067245"/>
            <a:ext cx="738901" cy="173278"/>
          </a:xfrm>
          <a:prstGeom prst="rect">
            <a:avLst/>
          </a:prstGeom>
          <a:noFill/>
        </p:spPr>
        <p:txBody>
          <a:bodyPr wrap="none" lIns="0" rIns="0" tIns="0" bIns="0">
            <a:spAutoFit/>
          </a:bodyPr>
          <a:lstStyle/>
          <a:p>
            <a:r>
              <a:rPr sz="1011" b="0">
                <a:solidFill>
                  <a:srgbClr val="2E2E2E"/>
                </a:solidFill>
                <a:latin typeface="Calibri"/>
              </a:rPr>
              <a:t>Route Depth</a:t>
            </a:r>
          </a:p>
        </p:txBody>
      </p:sp>
      <p:pic>
        <p:nvPicPr>
          <p:cNvPr id="81" name="Picture 80" descr="lock.png"/>
          <p:cNvPicPr>
            <a:picLocks noChangeAspect="1"/>
          </p:cNvPicPr>
          <p:nvPr/>
        </p:nvPicPr>
        <p:blipFill>
          <a:blip r:embed="rId4"/>
          <a:stretch>
            <a:fillRect/>
          </a:stretch>
        </p:blipFill>
        <p:spPr>
          <a:xfrm>
            <a:off x="3523486" y="6058248"/>
            <a:ext cx="118403" cy="172222"/>
          </a:xfrm>
          <a:prstGeom prst="rect">
            <a:avLst/>
          </a:prstGeom>
        </p:spPr>
      </p:pic>
      <p:sp>
        <p:nvSpPr>
          <p:cNvPr id="82" name="TextBox 81"/>
          <p:cNvSpPr txBox="1"/>
          <p:nvPr/>
        </p:nvSpPr>
        <p:spPr>
          <a:xfrm>
            <a:off x="3616852" y="6305860"/>
            <a:ext cx="975365" cy="173278"/>
          </a:xfrm>
          <a:prstGeom prst="rect">
            <a:avLst/>
          </a:prstGeom>
          <a:noFill/>
        </p:spPr>
        <p:txBody>
          <a:bodyPr wrap="none" lIns="0" rIns="0" tIns="0" bIns="0">
            <a:spAutoFit/>
          </a:bodyPr>
          <a:lstStyle/>
          <a:p>
            <a:r>
              <a:rPr sz="1011" b="0">
                <a:solidFill>
                  <a:srgbClr val="2E2E2E"/>
                </a:solidFill>
                <a:latin typeface="Calibri"/>
              </a:rPr>
              <a:t>Value Realisation</a:t>
            </a:r>
          </a:p>
        </p:txBody>
      </p:sp>
      <p:pic>
        <p:nvPicPr>
          <p:cNvPr id="83" name="Picture 82" descr="lock.png"/>
          <p:cNvPicPr>
            <a:picLocks noChangeAspect="1"/>
          </p:cNvPicPr>
          <p:nvPr/>
        </p:nvPicPr>
        <p:blipFill>
          <a:blip r:embed="rId4"/>
          <a:stretch>
            <a:fillRect/>
          </a:stretch>
        </p:blipFill>
        <p:spPr>
          <a:xfrm>
            <a:off x="4538330" y="6296863"/>
            <a:ext cx="118403" cy="172222"/>
          </a:xfrm>
          <a:prstGeom prst="rect">
            <a:avLst/>
          </a:prstGeom>
        </p:spPr>
      </p:pic>
      <p:sp>
        <p:nvSpPr>
          <p:cNvPr id="84" name="TextBox 83"/>
          <p:cNvSpPr txBox="1"/>
          <p:nvPr/>
        </p:nvSpPr>
        <p:spPr>
          <a:xfrm>
            <a:off x="5000625" y="1496754"/>
            <a:ext cx="3210445" cy="186689"/>
          </a:xfrm>
          <a:prstGeom prst="rect">
            <a:avLst/>
          </a:prstGeom>
          <a:noFill/>
        </p:spPr>
        <p:txBody>
          <a:bodyPr wrap="none" lIns="0" rIns="0" tIns="0" bIns="0">
            <a:spAutoFit/>
          </a:bodyPr>
          <a:lstStyle/>
          <a:p>
            <a:r>
              <a:rPr sz="1100" b="0">
                <a:solidFill>
                  <a:srgbClr val="2E2E2E"/>
                </a:solidFill>
                <a:latin typeface="Calibri"/>
              </a:rPr>
              <a:t>▪ Supply-side conditions are led by Geographic Spread (</a:t>
            </a:r>
          </a:p>
        </p:txBody>
      </p:sp>
      <p:pic>
        <p:nvPicPr>
          <p:cNvPr id="85" name="Picture 84" descr="lock.png"/>
          <p:cNvPicPr>
            <a:picLocks noChangeAspect="1"/>
          </p:cNvPicPr>
          <p:nvPr/>
        </p:nvPicPr>
        <p:blipFill>
          <a:blip r:embed="rId4"/>
          <a:stretch>
            <a:fillRect/>
          </a:stretch>
        </p:blipFill>
        <p:spPr>
          <a:xfrm>
            <a:off x="8159122" y="1486975"/>
            <a:ext cx="128699" cy="187198"/>
          </a:xfrm>
          <a:prstGeom prst="rect">
            <a:avLst/>
          </a:prstGeom>
        </p:spPr>
      </p:pic>
      <p:sp>
        <p:nvSpPr>
          <p:cNvPr id="86" name="TextBox 85"/>
          <p:cNvSpPr txBox="1"/>
          <p:nvPr/>
        </p:nvSpPr>
        <p:spPr>
          <a:xfrm>
            <a:off x="8326618" y="1496754"/>
            <a:ext cx="1197347" cy="186689"/>
          </a:xfrm>
          <a:prstGeom prst="rect">
            <a:avLst/>
          </a:prstGeom>
          <a:noFill/>
        </p:spPr>
        <p:txBody>
          <a:bodyPr wrap="none" lIns="0" rIns="0" tIns="0" bIns="0">
            <a:spAutoFit/>
          </a:bodyPr>
          <a:lstStyle/>
          <a:p>
            <a:r>
              <a:rPr sz="1100" b="0">
                <a:solidFill>
                  <a:srgbClr val="2E2E2E"/>
                </a:solidFill>
                <a:latin typeface="Calibri"/>
              </a:rPr>
              <a:t>/10), Capacity Add (</a:t>
            </a:r>
          </a:p>
        </p:txBody>
      </p:sp>
      <p:pic>
        <p:nvPicPr>
          <p:cNvPr id="87" name="Picture 86" descr="lock.png"/>
          <p:cNvPicPr>
            <a:picLocks noChangeAspect="1"/>
          </p:cNvPicPr>
          <p:nvPr/>
        </p:nvPicPr>
        <p:blipFill>
          <a:blip r:embed="rId4"/>
          <a:stretch>
            <a:fillRect/>
          </a:stretch>
        </p:blipFill>
        <p:spPr>
          <a:xfrm>
            <a:off x="9472016" y="1486975"/>
            <a:ext cx="128699" cy="187198"/>
          </a:xfrm>
          <a:prstGeom prst="rect">
            <a:avLst/>
          </a:prstGeom>
        </p:spPr>
      </p:pic>
      <p:sp>
        <p:nvSpPr>
          <p:cNvPr id="88" name="TextBox 87"/>
          <p:cNvSpPr txBox="1"/>
          <p:nvPr/>
        </p:nvSpPr>
        <p:spPr>
          <a:xfrm>
            <a:off x="9639512" y="1496754"/>
            <a:ext cx="1561876" cy="186689"/>
          </a:xfrm>
          <a:prstGeom prst="rect">
            <a:avLst/>
          </a:prstGeom>
          <a:noFill/>
        </p:spPr>
        <p:txBody>
          <a:bodyPr wrap="none" lIns="0" rIns="0" tIns="0" bIns="0">
            <a:spAutoFit/>
          </a:bodyPr>
          <a:lstStyle/>
          <a:p>
            <a:r>
              <a:rPr sz="1100" b="0">
                <a:solidFill>
                  <a:srgbClr val="2E2E2E"/>
                </a:solidFill>
                <a:latin typeface="Calibri"/>
              </a:rPr>
              <a:t>/10), Input Cost Pressure (</a:t>
            </a:r>
          </a:p>
        </p:txBody>
      </p:sp>
      <p:pic>
        <p:nvPicPr>
          <p:cNvPr id="89" name="Picture 88" descr="lock.png"/>
          <p:cNvPicPr>
            <a:picLocks noChangeAspect="1"/>
          </p:cNvPicPr>
          <p:nvPr/>
        </p:nvPicPr>
        <p:blipFill>
          <a:blip r:embed="rId4"/>
          <a:stretch>
            <a:fillRect/>
          </a:stretch>
        </p:blipFill>
        <p:spPr>
          <a:xfrm>
            <a:off x="11149441" y="1486975"/>
            <a:ext cx="128699" cy="187198"/>
          </a:xfrm>
          <a:prstGeom prst="rect">
            <a:avLst/>
          </a:prstGeom>
        </p:spPr>
      </p:pic>
      <p:sp>
        <p:nvSpPr>
          <p:cNvPr id="90" name="TextBox 89"/>
          <p:cNvSpPr txBox="1"/>
          <p:nvPr/>
        </p:nvSpPr>
        <p:spPr>
          <a:xfrm>
            <a:off x="11316936" y="1496754"/>
            <a:ext cx="591616" cy="186689"/>
          </a:xfrm>
          <a:prstGeom prst="rect">
            <a:avLst/>
          </a:prstGeom>
          <a:noFill/>
        </p:spPr>
        <p:txBody>
          <a:bodyPr wrap="none" lIns="0" rIns="0" tIns="0" bIns="0">
            <a:spAutoFit/>
          </a:bodyPr>
          <a:lstStyle/>
          <a:p>
            <a:r>
              <a:rPr sz="1100" b="0">
                <a:solidFill>
                  <a:srgbClr val="2E2E2E"/>
                </a:solidFill>
                <a:latin typeface="Calibri"/>
              </a:rPr>
              <a:t>/10) on a</a:t>
            </a:r>
          </a:p>
        </p:txBody>
      </p:sp>
      <p:sp>
        <p:nvSpPr>
          <p:cNvPr id="91" name="TextBox 90"/>
          <p:cNvSpPr txBox="1"/>
          <p:nvPr/>
        </p:nvSpPr>
        <p:spPr>
          <a:xfrm>
            <a:off x="5000625" y="1664394"/>
            <a:ext cx="2764060" cy="186689"/>
          </a:xfrm>
          <a:prstGeom prst="rect">
            <a:avLst/>
          </a:prstGeom>
          <a:noFill/>
        </p:spPr>
        <p:txBody>
          <a:bodyPr wrap="none" lIns="0" rIns="0" tIns="0" bIns="0">
            <a:spAutoFit/>
          </a:bodyPr>
          <a:lstStyle/>
          <a:p>
            <a:r>
              <a:rPr sz="1100" b="0">
                <a:solidFill>
                  <a:srgbClr val="2E2E2E"/>
                </a:solidFill>
                <a:latin typeface="Calibri"/>
              </a:rPr>
              <a:t>0-10 scale scored from the global dataset itself.</a:t>
            </a:r>
          </a:p>
        </p:txBody>
      </p:sp>
      <p:sp>
        <p:nvSpPr>
          <p:cNvPr id="92" name="TextBox 91"/>
          <p:cNvSpPr txBox="1"/>
          <p:nvPr/>
        </p:nvSpPr>
        <p:spPr>
          <a:xfrm>
            <a:off x="5000625" y="1953097"/>
            <a:ext cx="1245914" cy="186689"/>
          </a:xfrm>
          <a:prstGeom prst="rect">
            <a:avLst/>
          </a:prstGeom>
          <a:noFill/>
        </p:spPr>
        <p:txBody>
          <a:bodyPr wrap="none" lIns="0" rIns="0" tIns="0" bIns="0">
            <a:spAutoFit/>
          </a:bodyPr>
          <a:lstStyle/>
          <a:p>
            <a:r>
              <a:rPr sz="1100" b="0">
                <a:solidFill>
                  <a:srgbClr val="2E2E2E"/>
                </a:solidFill>
                <a:latin typeface="Calibri"/>
              </a:rPr>
              <a:t>▪ Volume expands at</a:t>
            </a:r>
          </a:p>
        </p:txBody>
      </p:sp>
      <p:pic>
        <p:nvPicPr>
          <p:cNvPr id="93" name="Picture 92" descr="lock.png"/>
          <p:cNvPicPr>
            <a:picLocks noChangeAspect="1"/>
          </p:cNvPicPr>
          <p:nvPr/>
        </p:nvPicPr>
        <p:blipFill>
          <a:blip r:embed="rId4"/>
          <a:stretch>
            <a:fillRect/>
          </a:stretch>
        </p:blipFill>
        <p:spPr>
          <a:xfrm>
            <a:off x="6194591" y="1943318"/>
            <a:ext cx="128699" cy="187198"/>
          </a:xfrm>
          <a:prstGeom prst="rect">
            <a:avLst/>
          </a:prstGeom>
        </p:spPr>
      </p:pic>
      <p:sp>
        <p:nvSpPr>
          <p:cNvPr id="94" name="TextBox 93"/>
          <p:cNvSpPr txBox="1"/>
          <p:nvPr/>
        </p:nvSpPr>
        <p:spPr>
          <a:xfrm>
            <a:off x="6362087" y="1953097"/>
            <a:ext cx="3002788" cy="186689"/>
          </a:xfrm>
          <a:prstGeom prst="rect">
            <a:avLst/>
          </a:prstGeom>
          <a:noFill/>
        </p:spPr>
        <p:txBody>
          <a:bodyPr wrap="none" lIns="0" rIns="0" tIns="0" bIns="0">
            <a:spAutoFit/>
          </a:bodyPr>
          <a:lstStyle/>
          <a:p>
            <a:r>
              <a:rPr sz="1100" b="0">
                <a:solidFill>
                  <a:srgbClr val="2E2E2E"/>
                </a:solidFill>
                <a:latin typeface="Calibri"/>
              </a:rPr>
              <a:t>CAGR (2026–2036) while average realisation moves</a:t>
            </a:r>
          </a:p>
        </p:txBody>
      </p:sp>
      <p:pic>
        <p:nvPicPr>
          <p:cNvPr id="95" name="Picture 94" descr="lock.png"/>
          <p:cNvPicPr>
            <a:picLocks noChangeAspect="1"/>
          </p:cNvPicPr>
          <p:nvPr/>
        </p:nvPicPr>
        <p:blipFill>
          <a:blip r:embed="rId4"/>
          <a:stretch>
            <a:fillRect/>
          </a:stretch>
        </p:blipFill>
        <p:spPr>
          <a:xfrm>
            <a:off x="9312927" y="1943318"/>
            <a:ext cx="128699" cy="187198"/>
          </a:xfrm>
          <a:prstGeom prst="rect">
            <a:avLst/>
          </a:prstGeom>
        </p:spPr>
      </p:pic>
      <p:sp>
        <p:nvSpPr>
          <p:cNvPr id="96" name="TextBox 95"/>
          <p:cNvSpPr txBox="1"/>
          <p:nvPr/>
        </p:nvSpPr>
        <p:spPr>
          <a:xfrm>
            <a:off x="9480423" y="1953097"/>
            <a:ext cx="2346597" cy="186689"/>
          </a:xfrm>
          <a:prstGeom prst="rect">
            <a:avLst/>
          </a:prstGeom>
          <a:noFill/>
        </p:spPr>
        <p:txBody>
          <a:bodyPr wrap="none" lIns="0" rIns="0" tIns="0" bIns="0">
            <a:spAutoFit/>
          </a:bodyPr>
          <a:lstStyle/>
          <a:p>
            <a:r>
              <a:rPr sz="1100" b="0">
                <a:solidFill>
                  <a:srgbClr val="2E2E2E"/>
                </a:solidFill>
                <a:latin typeface="Calibri"/>
              </a:rPr>
              <a:t>a year the balance of those two sets the</a:t>
            </a:r>
          </a:p>
        </p:txBody>
      </p:sp>
      <p:sp>
        <p:nvSpPr>
          <p:cNvPr id="97" name="TextBox 96"/>
          <p:cNvSpPr txBox="1"/>
          <p:nvPr/>
        </p:nvSpPr>
        <p:spPr>
          <a:xfrm>
            <a:off x="5000625" y="2120737"/>
            <a:ext cx="1571426" cy="186689"/>
          </a:xfrm>
          <a:prstGeom prst="rect">
            <a:avLst/>
          </a:prstGeom>
          <a:noFill/>
        </p:spPr>
        <p:txBody>
          <a:bodyPr wrap="none" lIns="0" rIns="0" tIns="0" bIns="0">
            <a:spAutoFit/>
          </a:bodyPr>
          <a:lstStyle/>
          <a:p>
            <a:r>
              <a:rPr sz="1100" b="0">
                <a:solidFill>
                  <a:srgbClr val="2E2E2E"/>
                </a:solidFill>
                <a:latin typeface="Calibri"/>
              </a:rPr>
              <a:t>cost-pass-through picture.</a:t>
            </a:r>
          </a:p>
        </p:txBody>
      </p:sp>
      <p:sp>
        <p:nvSpPr>
          <p:cNvPr id="98" name="TextBox 97"/>
          <p:cNvSpPr txBox="1"/>
          <p:nvPr/>
        </p:nvSpPr>
        <p:spPr>
          <a:xfrm>
            <a:off x="5000625" y="2401990"/>
            <a:ext cx="2540049" cy="186689"/>
          </a:xfrm>
          <a:prstGeom prst="rect">
            <a:avLst/>
          </a:prstGeom>
          <a:noFill/>
        </p:spPr>
        <p:txBody>
          <a:bodyPr wrap="none" lIns="0" rIns="0" tIns="0" bIns="0">
            <a:spAutoFit/>
          </a:bodyPr>
          <a:lstStyle/>
          <a:p>
            <a:r>
              <a:rPr sz="1100" b="0">
                <a:solidFill>
                  <a:srgbClr val="2E2E2E"/>
                </a:solidFill>
                <a:latin typeface="Calibri"/>
              </a:rPr>
              <a:t>▪ Supply is dispersed: 'North America' holds</a:t>
            </a:r>
          </a:p>
        </p:txBody>
      </p:sp>
      <p:pic>
        <p:nvPicPr>
          <p:cNvPr id="99" name="Picture 98" descr="lock.png"/>
          <p:cNvPicPr>
            <a:picLocks noChangeAspect="1"/>
          </p:cNvPicPr>
          <p:nvPr/>
        </p:nvPicPr>
        <p:blipFill>
          <a:blip r:embed="rId4"/>
          <a:stretch>
            <a:fillRect/>
          </a:stretch>
        </p:blipFill>
        <p:spPr>
          <a:xfrm>
            <a:off x="7488726" y="2392211"/>
            <a:ext cx="128699" cy="187198"/>
          </a:xfrm>
          <a:prstGeom prst="rect">
            <a:avLst/>
          </a:prstGeom>
        </p:spPr>
      </p:pic>
      <p:sp>
        <p:nvSpPr>
          <p:cNvPr id="100" name="TextBox 99"/>
          <p:cNvSpPr txBox="1"/>
          <p:nvPr/>
        </p:nvSpPr>
        <p:spPr>
          <a:xfrm>
            <a:off x="7656222" y="2401990"/>
            <a:ext cx="1821358" cy="186689"/>
          </a:xfrm>
          <a:prstGeom prst="rect">
            <a:avLst/>
          </a:prstGeom>
          <a:noFill/>
        </p:spPr>
        <p:txBody>
          <a:bodyPr wrap="none" lIns="0" rIns="0" tIns="0" bIns="0">
            <a:spAutoFit/>
          </a:bodyPr>
          <a:lstStyle/>
          <a:p>
            <a:r>
              <a:rPr sz="1100" b="0">
                <a:solidFill>
                  <a:srgbClr val="2E2E2E"/>
                </a:solidFill>
                <a:latin typeface="Calibri"/>
              </a:rPr>
              <a:t>of 2036 value across 6 regions.</a:t>
            </a:r>
          </a:p>
        </p:txBody>
      </p:sp>
      <p:sp>
        <p:nvSpPr>
          <p:cNvPr id="101" name="TextBox 100"/>
          <p:cNvSpPr txBox="1"/>
          <p:nvPr/>
        </p:nvSpPr>
        <p:spPr>
          <a:xfrm>
            <a:off x="5000625" y="3132138"/>
            <a:ext cx="2931591" cy="186689"/>
          </a:xfrm>
          <a:prstGeom prst="rect">
            <a:avLst/>
          </a:prstGeom>
          <a:noFill/>
        </p:spPr>
        <p:txBody>
          <a:bodyPr wrap="none" lIns="0" rIns="0" tIns="0" bIns="0">
            <a:spAutoFit/>
          </a:bodyPr>
          <a:lstStyle/>
          <a:p>
            <a:r>
              <a:rPr sz="1100" b="0">
                <a:solidFill>
                  <a:srgbClr val="2E2E2E"/>
                </a:solidFill>
                <a:latin typeface="Calibri"/>
              </a:rPr>
              <a:t>▪ Capacity added between 2026 and 2036 is worth</a:t>
            </a:r>
          </a:p>
        </p:txBody>
      </p:sp>
      <p:pic>
        <p:nvPicPr>
          <p:cNvPr id="102" name="Picture 101" descr="lock.png"/>
          <p:cNvPicPr>
            <a:picLocks noChangeAspect="1"/>
          </p:cNvPicPr>
          <p:nvPr/>
        </p:nvPicPr>
        <p:blipFill>
          <a:blip r:embed="rId4"/>
          <a:stretch>
            <a:fillRect/>
          </a:stretch>
        </p:blipFill>
        <p:spPr>
          <a:xfrm>
            <a:off x="7880268" y="3122359"/>
            <a:ext cx="128699" cy="187198"/>
          </a:xfrm>
          <a:prstGeom prst="rect">
            <a:avLst/>
          </a:prstGeom>
        </p:spPr>
      </p:pic>
      <p:sp>
        <p:nvSpPr>
          <p:cNvPr id="103" name="TextBox 102"/>
          <p:cNvSpPr txBox="1"/>
          <p:nvPr/>
        </p:nvSpPr>
        <p:spPr>
          <a:xfrm>
            <a:off x="8047764" y="3132138"/>
            <a:ext cx="659010" cy="186689"/>
          </a:xfrm>
          <a:prstGeom prst="rect">
            <a:avLst/>
          </a:prstGeom>
          <a:noFill/>
        </p:spPr>
        <p:txBody>
          <a:bodyPr wrap="none" lIns="0" rIns="0" tIns="0" bIns="0">
            <a:spAutoFit/>
          </a:bodyPr>
          <a:lstStyle/>
          <a:p>
            <a:r>
              <a:rPr sz="1100" b="0">
                <a:solidFill>
                  <a:srgbClr val="2E2E2E"/>
                </a:solidFill>
                <a:latin typeface="Calibri"/>
              </a:rPr>
              <a:t>US$ Mn, a</a:t>
            </a:r>
          </a:p>
        </p:txBody>
      </p:sp>
      <p:pic>
        <p:nvPicPr>
          <p:cNvPr id="104" name="Picture 103" descr="lock.png"/>
          <p:cNvPicPr>
            <a:picLocks noChangeAspect="1"/>
          </p:cNvPicPr>
          <p:nvPr/>
        </p:nvPicPr>
        <p:blipFill>
          <a:blip r:embed="rId4"/>
          <a:stretch>
            <a:fillRect/>
          </a:stretch>
        </p:blipFill>
        <p:spPr>
          <a:xfrm>
            <a:off x="8654826" y="3122359"/>
            <a:ext cx="128699" cy="187198"/>
          </a:xfrm>
          <a:prstGeom prst="rect">
            <a:avLst/>
          </a:prstGeom>
        </p:spPr>
      </p:pic>
      <p:sp>
        <p:nvSpPr>
          <p:cNvPr id="105" name="TextBox 104"/>
          <p:cNvSpPr txBox="1"/>
          <p:nvPr/>
        </p:nvSpPr>
        <p:spPr>
          <a:xfrm>
            <a:off x="8822322" y="3132138"/>
            <a:ext cx="1801986" cy="186689"/>
          </a:xfrm>
          <a:prstGeom prst="rect">
            <a:avLst/>
          </a:prstGeom>
          <a:noFill/>
        </p:spPr>
        <p:txBody>
          <a:bodyPr wrap="none" lIns="0" rIns="0" tIns="0" bIns="0">
            <a:spAutoFit/>
          </a:bodyPr>
          <a:lstStyle/>
          <a:p>
            <a:r>
              <a:rPr sz="1100" b="0">
                <a:solidFill>
                  <a:srgbClr val="2E2E2E"/>
                </a:solidFill>
                <a:latin typeface="Calibri"/>
              </a:rPr>
              <a:t>× expansion on the 2026 base.</a:t>
            </a:r>
          </a:p>
        </p:txBody>
      </p:sp>
    </p:spTree>
  </p:cSld>
  <p:clrMapOvr>
    <a:masterClrMapping/>
  </p:clrMapOvr>
</p:sld>
</file>

<file path=ppt/slides/slide5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595333"/>
            <a:ext cx="1504950" cy="3103129"/>
          </a:xfrm>
          <a:custGeom>
            <a:avLst/>
            <a:gdLst/>
            <a:ahLst/>
            <a:cxnLst/>
            <a:rect l="l" t="t" r="r" b="b"/>
            <a:pathLst>
              <a:path w="158" h="340">
                <a:moveTo>
                  <a:pt x="0" y="17"/>
                </a:moveTo>
                <a:lnTo>
                  <a:pt x="69" y="0"/>
                </a:lnTo>
                <a:lnTo>
                  <a:pt x="49" y="103"/>
                </a:lnTo>
                <a:lnTo>
                  <a:pt x="97" y="120"/>
                </a:lnTo>
                <a:lnTo>
                  <a:pt x="158" y="178"/>
                </a:lnTo>
                <a:lnTo>
                  <a:pt x="100" y="222"/>
                </a:lnTo>
                <a:lnTo>
                  <a:pt x="95" y="340"/>
                </a:lnTo>
                <a:lnTo>
                  <a:pt x="0" y="27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180975" y="2157244"/>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180975" y="2431050"/>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180975" y="2887392"/>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180975" y="334373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7534275" y="1322601"/>
            <a:ext cx="943988" cy="173278"/>
          </a:xfrm>
          <a:prstGeom prst="rect">
            <a:avLst/>
          </a:prstGeom>
          <a:noFill/>
        </p:spPr>
        <p:txBody>
          <a:bodyPr wrap="none" lIns="0" rIns="0" tIns="0" bIns="0">
            <a:spAutoFit/>
          </a:bodyPr>
          <a:lstStyle/>
          <a:p>
            <a:r>
              <a:rPr sz="1011" b="0">
                <a:solidFill>
                  <a:srgbClr val="2E2E2E"/>
                </a:solidFill>
                <a:latin typeface="Calibri"/>
              </a:rPr>
              <a:t>Demand Growth</a:t>
            </a:r>
          </a:p>
        </p:txBody>
      </p:sp>
      <p:pic>
        <p:nvPicPr>
          <p:cNvPr id="69" name="Picture 68" descr="lock.png"/>
          <p:cNvPicPr>
            <a:picLocks noChangeAspect="1"/>
          </p:cNvPicPr>
          <p:nvPr/>
        </p:nvPicPr>
        <p:blipFill>
          <a:blip r:embed="rId4"/>
          <a:stretch>
            <a:fillRect/>
          </a:stretch>
        </p:blipFill>
        <p:spPr>
          <a:xfrm>
            <a:off x="8424374" y="1313604"/>
            <a:ext cx="118403" cy="172222"/>
          </a:xfrm>
          <a:prstGeom prst="rect">
            <a:avLst/>
          </a:prstGeom>
        </p:spPr>
      </p:pic>
      <p:sp>
        <p:nvSpPr>
          <p:cNvPr id="70" name="TextBox 69"/>
          <p:cNvSpPr txBox="1"/>
          <p:nvPr/>
        </p:nvSpPr>
        <p:spPr>
          <a:xfrm>
            <a:off x="8549119" y="1561215"/>
            <a:ext cx="903573" cy="173278"/>
          </a:xfrm>
          <a:prstGeom prst="rect">
            <a:avLst/>
          </a:prstGeom>
          <a:noFill/>
        </p:spPr>
        <p:txBody>
          <a:bodyPr wrap="none" lIns="0" rIns="0" tIns="0" bIns="0">
            <a:spAutoFit/>
          </a:bodyPr>
          <a:lstStyle/>
          <a:p>
            <a:r>
              <a:rPr sz="1011" b="0">
                <a:solidFill>
                  <a:srgbClr val="2E2E2E"/>
                </a:solidFill>
                <a:latin typeface="Calibri"/>
              </a:rPr>
              <a:t>Premiumisation</a:t>
            </a:r>
          </a:p>
        </p:txBody>
      </p:sp>
      <p:pic>
        <p:nvPicPr>
          <p:cNvPr id="71" name="Picture 70" descr="lock.png"/>
          <p:cNvPicPr>
            <a:picLocks noChangeAspect="1"/>
          </p:cNvPicPr>
          <p:nvPr/>
        </p:nvPicPr>
        <p:blipFill>
          <a:blip r:embed="rId4"/>
          <a:stretch>
            <a:fillRect/>
          </a:stretch>
        </p:blipFill>
        <p:spPr>
          <a:xfrm>
            <a:off x="9398803" y="1552218"/>
            <a:ext cx="118403" cy="172222"/>
          </a:xfrm>
          <a:prstGeom prst="rect">
            <a:avLst/>
          </a:prstGeom>
        </p:spPr>
      </p:pic>
      <p:sp>
        <p:nvSpPr>
          <p:cNvPr id="72" name="TextBox 71"/>
          <p:cNvSpPr txBox="1"/>
          <p:nvPr/>
        </p:nvSpPr>
        <p:spPr>
          <a:xfrm>
            <a:off x="9424068" y="2311939"/>
            <a:ext cx="765761" cy="173278"/>
          </a:xfrm>
          <a:prstGeom prst="rect">
            <a:avLst/>
          </a:prstGeom>
          <a:noFill/>
        </p:spPr>
        <p:txBody>
          <a:bodyPr wrap="none" lIns="0" rIns="0" tIns="0" bIns="0">
            <a:spAutoFit/>
          </a:bodyPr>
          <a:lstStyle/>
          <a:p>
            <a:r>
              <a:rPr sz="1011" b="0">
                <a:solidFill>
                  <a:srgbClr val="2E2E2E"/>
                </a:solidFill>
                <a:latin typeface="Calibri"/>
              </a:rPr>
              <a:t>App. Breadth</a:t>
            </a:r>
          </a:p>
        </p:txBody>
      </p:sp>
      <p:pic>
        <p:nvPicPr>
          <p:cNvPr id="73" name="Picture 72" descr="lock.png"/>
          <p:cNvPicPr>
            <a:picLocks noChangeAspect="1"/>
          </p:cNvPicPr>
          <p:nvPr/>
        </p:nvPicPr>
        <p:blipFill>
          <a:blip r:embed="rId4"/>
          <a:stretch>
            <a:fillRect/>
          </a:stretch>
        </p:blipFill>
        <p:spPr>
          <a:xfrm>
            <a:off x="10135940" y="2302942"/>
            <a:ext cx="118403" cy="172222"/>
          </a:xfrm>
          <a:prstGeom prst="rect">
            <a:avLst/>
          </a:prstGeom>
        </p:spPr>
      </p:pic>
      <p:sp>
        <p:nvSpPr>
          <p:cNvPr id="74" name="TextBox 73"/>
          <p:cNvSpPr txBox="1"/>
          <p:nvPr/>
        </p:nvSpPr>
        <p:spPr>
          <a:xfrm>
            <a:off x="9909628" y="3278069"/>
            <a:ext cx="791114" cy="173278"/>
          </a:xfrm>
          <a:prstGeom prst="rect">
            <a:avLst/>
          </a:prstGeom>
          <a:noFill/>
        </p:spPr>
        <p:txBody>
          <a:bodyPr wrap="none" lIns="0" rIns="0" tIns="0" bIns="0">
            <a:spAutoFit/>
          </a:bodyPr>
          <a:lstStyle/>
          <a:p>
            <a:r>
              <a:rPr sz="1011" b="0">
                <a:solidFill>
                  <a:srgbClr val="2E2E2E"/>
                </a:solidFill>
                <a:latin typeface="Calibri"/>
              </a:rPr>
              <a:t>Emerging Pull</a:t>
            </a:r>
          </a:p>
        </p:txBody>
      </p:sp>
      <p:pic>
        <p:nvPicPr>
          <p:cNvPr id="75" name="Picture 74" descr="lock.png"/>
          <p:cNvPicPr>
            <a:picLocks noChangeAspect="1"/>
          </p:cNvPicPr>
          <p:nvPr/>
        </p:nvPicPr>
        <p:blipFill>
          <a:blip r:embed="rId4"/>
          <a:stretch>
            <a:fillRect/>
          </a:stretch>
        </p:blipFill>
        <p:spPr>
          <a:xfrm>
            <a:off x="10646855" y="3269072"/>
            <a:ext cx="118403" cy="172222"/>
          </a:xfrm>
          <a:prstGeom prst="rect">
            <a:avLst/>
          </a:prstGeom>
        </p:spPr>
      </p:pic>
      <p:sp>
        <p:nvSpPr>
          <p:cNvPr id="76" name="TextBox 75"/>
          <p:cNvSpPr txBox="1"/>
          <p:nvPr/>
        </p:nvSpPr>
        <p:spPr>
          <a:xfrm>
            <a:off x="9909628" y="4350392"/>
            <a:ext cx="1135267" cy="173278"/>
          </a:xfrm>
          <a:prstGeom prst="rect">
            <a:avLst/>
          </a:prstGeom>
          <a:noFill/>
        </p:spPr>
        <p:txBody>
          <a:bodyPr wrap="none" lIns="0" rIns="0" tIns="0" bIns="0">
            <a:spAutoFit/>
          </a:bodyPr>
          <a:lstStyle/>
          <a:p>
            <a:r>
              <a:rPr sz="1011" b="0">
                <a:solidFill>
                  <a:srgbClr val="2E2E2E"/>
                </a:solidFill>
                <a:latin typeface="Calibri"/>
              </a:rPr>
              <a:t>Volume Momentum</a:t>
            </a:r>
          </a:p>
        </p:txBody>
      </p:sp>
      <p:pic>
        <p:nvPicPr>
          <p:cNvPr id="77" name="Picture 76" descr="lock.png"/>
          <p:cNvPicPr>
            <a:picLocks noChangeAspect="1"/>
          </p:cNvPicPr>
          <p:nvPr/>
        </p:nvPicPr>
        <p:blipFill>
          <a:blip r:embed="rId4"/>
          <a:stretch>
            <a:fillRect/>
          </a:stretch>
        </p:blipFill>
        <p:spPr>
          <a:xfrm>
            <a:off x="10991008" y="4341395"/>
            <a:ext cx="118403" cy="172222"/>
          </a:xfrm>
          <a:prstGeom prst="rect">
            <a:avLst/>
          </a:prstGeom>
        </p:spPr>
      </p:pic>
      <p:sp>
        <p:nvSpPr>
          <p:cNvPr id="78" name="TextBox 77"/>
          <p:cNvSpPr txBox="1"/>
          <p:nvPr/>
        </p:nvSpPr>
        <p:spPr>
          <a:xfrm>
            <a:off x="9424068" y="5316521"/>
            <a:ext cx="1032097" cy="173278"/>
          </a:xfrm>
          <a:prstGeom prst="rect">
            <a:avLst/>
          </a:prstGeom>
          <a:noFill/>
        </p:spPr>
        <p:txBody>
          <a:bodyPr wrap="none" lIns="0" rIns="0" tIns="0" bIns="0">
            <a:spAutoFit/>
          </a:bodyPr>
          <a:lstStyle/>
          <a:p>
            <a:r>
              <a:rPr sz="1011" b="0">
                <a:solidFill>
                  <a:srgbClr val="2E2E2E"/>
                </a:solidFill>
                <a:latin typeface="Calibri"/>
              </a:rPr>
              <a:t>Category Maturity</a:t>
            </a:r>
          </a:p>
        </p:txBody>
      </p:sp>
      <p:pic>
        <p:nvPicPr>
          <p:cNvPr id="79" name="Picture 78" descr="lock.png"/>
          <p:cNvPicPr>
            <a:picLocks noChangeAspect="1"/>
          </p:cNvPicPr>
          <p:nvPr/>
        </p:nvPicPr>
        <p:blipFill>
          <a:blip r:embed="rId4"/>
          <a:stretch>
            <a:fillRect/>
          </a:stretch>
        </p:blipFill>
        <p:spPr>
          <a:xfrm>
            <a:off x="10402276" y="5307524"/>
            <a:ext cx="118403" cy="172222"/>
          </a:xfrm>
          <a:prstGeom prst="rect">
            <a:avLst/>
          </a:prstGeom>
        </p:spPr>
      </p:pic>
      <p:sp>
        <p:nvSpPr>
          <p:cNvPr id="80" name="TextBox 79"/>
          <p:cNvSpPr txBox="1"/>
          <p:nvPr/>
        </p:nvSpPr>
        <p:spPr>
          <a:xfrm>
            <a:off x="8549119" y="6067245"/>
            <a:ext cx="911857" cy="173278"/>
          </a:xfrm>
          <a:prstGeom prst="rect">
            <a:avLst/>
          </a:prstGeom>
          <a:noFill/>
        </p:spPr>
        <p:txBody>
          <a:bodyPr wrap="none" lIns="0" rIns="0" tIns="0" bIns="0">
            <a:spAutoFit/>
          </a:bodyPr>
          <a:lstStyle/>
          <a:p>
            <a:r>
              <a:rPr sz="1011" b="0">
                <a:solidFill>
                  <a:srgbClr val="2E2E2E"/>
                </a:solidFill>
                <a:latin typeface="Calibri"/>
              </a:rPr>
              <a:t>Adoption Depth</a:t>
            </a:r>
          </a:p>
        </p:txBody>
      </p:sp>
      <p:pic>
        <p:nvPicPr>
          <p:cNvPr id="81" name="Picture 80" descr="lock.png"/>
          <p:cNvPicPr>
            <a:picLocks noChangeAspect="1"/>
          </p:cNvPicPr>
          <p:nvPr/>
        </p:nvPicPr>
        <p:blipFill>
          <a:blip r:embed="rId4"/>
          <a:stretch>
            <a:fillRect/>
          </a:stretch>
        </p:blipFill>
        <p:spPr>
          <a:xfrm>
            <a:off x="9407087" y="6058248"/>
            <a:ext cx="118403" cy="172222"/>
          </a:xfrm>
          <a:prstGeom prst="rect">
            <a:avLst/>
          </a:prstGeom>
        </p:spPr>
      </p:pic>
      <p:sp>
        <p:nvSpPr>
          <p:cNvPr id="82" name="TextBox 81"/>
          <p:cNvSpPr txBox="1"/>
          <p:nvPr/>
        </p:nvSpPr>
        <p:spPr>
          <a:xfrm>
            <a:off x="7534275" y="6305860"/>
            <a:ext cx="955786" cy="173278"/>
          </a:xfrm>
          <a:prstGeom prst="rect">
            <a:avLst/>
          </a:prstGeom>
          <a:noFill/>
        </p:spPr>
        <p:txBody>
          <a:bodyPr wrap="none" lIns="0" rIns="0" tIns="0" bIns="0">
            <a:spAutoFit/>
          </a:bodyPr>
          <a:lstStyle/>
          <a:p>
            <a:r>
              <a:rPr sz="1011" b="0">
                <a:solidFill>
                  <a:srgbClr val="2E2E2E"/>
                </a:solidFill>
                <a:latin typeface="Calibri"/>
              </a:rPr>
              <a:t>Consumer Reach</a:t>
            </a:r>
          </a:p>
        </p:txBody>
      </p:sp>
      <p:pic>
        <p:nvPicPr>
          <p:cNvPr id="83" name="Picture 82" descr="lock.png"/>
          <p:cNvPicPr>
            <a:picLocks noChangeAspect="1"/>
          </p:cNvPicPr>
          <p:nvPr/>
        </p:nvPicPr>
        <p:blipFill>
          <a:blip r:embed="rId4"/>
          <a:stretch>
            <a:fillRect/>
          </a:stretch>
        </p:blipFill>
        <p:spPr>
          <a:xfrm>
            <a:off x="8436172" y="6296863"/>
            <a:ext cx="118403" cy="172222"/>
          </a:xfrm>
          <a:prstGeom prst="rect">
            <a:avLst/>
          </a:prstGeom>
        </p:spPr>
      </p:pic>
      <p:sp>
        <p:nvSpPr>
          <p:cNvPr id="84" name="TextBox 83"/>
          <p:cNvSpPr txBox="1"/>
          <p:nvPr/>
        </p:nvSpPr>
        <p:spPr>
          <a:xfrm>
            <a:off x="209550" y="1496754"/>
            <a:ext cx="3140868" cy="186689"/>
          </a:xfrm>
          <a:prstGeom prst="rect">
            <a:avLst/>
          </a:prstGeom>
          <a:noFill/>
        </p:spPr>
        <p:txBody>
          <a:bodyPr wrap="none" lIns="0" rIns="0" tIns="0" bIns="0">
            <a:spAutoFit/>
          </a:bodyPr>
          <a:lstStyle/>
          <a:p>
            <a:r>
              <a:rPr sz="1100" b="0">
                <a:solidFill>
                  <a:srgbClr val="2E2E2E"/>
                </a:solidFill>
                <a:latin typeface="Calibri"/>
              </a:rPr>
              <a:t>▪ Demand-side conditions are led by Adoption Depth (</a:t>
            </a:r>
          </a:p>
        </p:txBody>
      </p:sp>
      <p:pic>
        <p:nvPicPr>
          <p:cNvPr id="85" name="Picture 84" descr="lock.png"/>
          <p:cNvPicPr>
            <a:picLocks noChangeAspect="1"/>
          </p:cNvPicPr>
          <p:nvPr/>
        </p:nvPicPr>
        <p:blipFill>
          <a:blip r:embed="rId4"/>
          <a:stretch>
            <a:fillRect/>
          </a:stretch>
        </p:blipFill>
        <p:spPr>
          <a:xfrm>
            <a:off x="3298470" y="1486975"/>
            <a:ext cx="128699" cy="187198"/>
          </a:xfrm>
          <a:prstGeom prst="rect">
            <a:avLst/>
          </a:prstGeom>
        </p:spPr>
      </p:pic>
      <p:sp>
        <p:nvSpPr>
          <p:cNvPr id="86" name="TextBox 85"/>
          <p:cNvSpPr txBox="1"/>
          <p:nvPr/>
        </p:nvSpPr>
        <p:spPr>
          <a:xfrm>
            <a:off x="3465966" y="1496754"/>
            <a:ext cx="1606078" cy="186689"/>
          </a:xfrm>
          <a:prstGeom prst="rect">
            <a:avLst/>
          </a:prstGeom>
          <a:noFill/>
        </p:spPr>
        <p:txBody>
          <a:bodyPr wrap="none" lIns="0" rIns="0" tIns="0" bIns="0">
            <a:spAutoFit/>
          </a:bodyPr>
          <a:lstStyle/>
          <a:p>
            <a:r>
              <a:rPr sz="1100" b="0">
                <a:solidFill>
                  <a:srgbClr val="2E2E2E"/>
                </a:solidFill>
                <a:latin typeface="Calibri"/>
              </a:rPr>
              <a:t>/10), Volume Momentum (</a:t>
            </a:r>
          </a:p>
        </p:txBody>
      </p:sp>
      <p:pic>
        <p:nvPicPr>
          <p:cNvPr id="87" name="Picture 86" descr="lock.png"/>
          <p:cNvPicPr>
            <a:picLocks noChangeAspect="1"/>
          </p:cNvPicPr>
          <p:nvPr/>
        </p:nvPicPr>
        <p:blipFill>
          <a:blip r:embed="rId4"/>
          <a:stretch>
            <a:fillRect/>
          </a:stretch>
        </p:blipFill>
        <p:spPr>
          <a:xfrm>
            <a:off x="5020096" y="1486975"/>
            <a:ext cx="128699" cy="187198"/>
          </a:xfrm>
          <a:prstGeom prst="rect">
            <a:avLst/>
          </a:prstGeom>
        </p:spPr>
      </p:pic>
      <p:sp>
        <p:nvSpPr>
          <p:cNvPr id="88" name="TextBox 87"/>
          <p:cNvSpPr txBox="1"/>
          <p:nvPr/>
        </p:nvSpPr>
        <p:spPr>
          <a:xfrm>
            <a:off x="5187592" y="1496754"/>
            <a:ext cx="1354236" cy="186689"/>
          </a:xfrm>
          <a:prstGeom prst="rect">
            <a:avLst/>
          </a:prstGeom>
          <a:noFill/>
        </p:spPr>
        <p:txBody>
          <a:bodyPr wrap="none" lIns="0" rIns="0" tIns="0" bIns="0">
            <a:spAutoFit/>
          </a:bodyPr>
          <a:lstStyle/>
          <a:p>
            <a:r>
              <a:rPr sz="1100" b="0">
                <a:solidFill>
                  <a:srgbClr val="2E2E2E"/>
                </a:solidFill>
                <a:latin typeface="Calibri"/>
              </a:rPr>
              <a:t>/10), Premiumisation (</a:t>
            </a:r>
          </a:p>
        </p:txBody>
      </p:sp>
      <p:pic>
        <p:nvPicPr>
          <p:cNvPr id="89" name="Picture 88" descr="lock.png"/>
          <p:cNvPicPr>
            <a:picLocks noChangeAspect="1"/>
          </p:cNvPicPr>
          <p:nvPr/>
        </p:nvPicPr>
        <p:blipFill>
          <a:blip r:embed="rId4"/>
          <a:stretch>
            <a:fillRect/>
          </a:stretch>
        </p:blipFill>
        <p:spPr>
          <a:xfrm>
            <a:off x="6489880" y="1486975"/>
            <a:ext cx="128699" cy="187198"/>
          </a:xfrm>
          <a:prstGeom prst="rect">
            <a:avLst/>
          </a:prstGeom>
        </p:spPr>
      </p:pic>
      <p:sp>
        <p:nvSpPr>
          <p:cNvPr id="90" name="TextBox 89"/>
          <p:cNvSpPr txBox="1"/>
          <p:nvPr/>
        </p:nvSpPr>
        <p:spPr>
          <a:xfrm>
            <a:off x="6657376" y="1496754"/>
            <a:ext cx="314399" cy="186689"/>
          </a:xfrm>
          <a:prstGeom prst="rect">
            <a:avLst/>
          </a:prstGeom>
          <a:noFill/>
        </p:spPr>
        <p:txBody>
          <a:bodyPr wrap="none" lIns="0" rIns="0" tIns="0" bIns="0">
            <a:spAutoFit/>
          </a:bodyPr>
          <a:lstStyle/>
          <a:p>
            <a:r>
              <a:rPr sz="1100" b="0">
                <a:solidFill>
                  <a:srgbClr val="2E2E2E"/>
                </a:solidFill>
                <a:latin typeface="Calibri"/>
              </a:rPr>
              <a:t>/10)</a:t>
            </a:r>
          </a:p>
        </p:txBody>
      </p:sp>
      <p:sp>
        <p:nvSpPr>
          <p:cNvPr id="91" name="TextBox 90"/>
          <p:cNvSpPr txBox="1"/>
          <p:nvPr/>
        </p:nvSpPr>
        <p:spPr>
          <a:xfrm>
            <a:off x="209550" y="1664394"/>
            <a:ext cx="3041277" cy="186689"/>
          </a:xfrm>
          <a:prstGeom prst="rect">
            <a:avLst/>
          </a:prstGeom>
          <a:noFill/>
        </p:spPr>
        <p:txBody>
          <a:bodyPr wrap="none" lIns="0" rIns="0" tIns="0" bIns="0">
            <a:spAutoFit/>
          </a:bodyPr>
          <a:lstStyle/>
          <a:p>
            <a:r>
              <a:rPr sz="1100" b="0">
                <a:solidFill>
                  <a:srgbClr val="2E2E2E"/>
                </a:solidFill>
                <a:latin typeface="Calibri"/>
              </a:rPr>
              <a:t>on a 0-10 scale scored from the global dataset itself.</a:t>
            </a:r>
          </a:p>
        </p:txBody>
      </p:sp>
      <p:sp>
        <p:nvSpPr>
          <p:cNvPr id="92" name="TextBox 91"/>
          <p:cNvSpPr txBox="1"/>
          <p:nvPr/>
        </p:nvSpPr>
        <p:spPr>
          <a:xfrm>
            <a:off x="209550" y="1945648"/>
            <a:ext cx="998438" cy="186689"/>
          </a:xfrm>
          <a:prstGeom prst="rect">
            <a:avLst/>
          </a:prstGeom>
          <a:noFill/>
        </p:spPr>
        <p:txBody>
          <a:bodyPr wrap="none" lIns="0" rIns="0" tIns="0" bIns="0">
            <a:spAutoFit/>
          </a:bodyPr>
          <a:lstStyle/>
          <a:p>
            <a:r>
              <a:rPr sz="1100" b="0">
                <a:solidFill>
                  <a:srgbClr val="2E2E2E"/>
                </a:solidFill>
                <a:latin typeface="Calibri"/>
              </a:rPr>
              <a:t>▪ Value grows at</a:t>
            </a:r>
          </a:p>
        </p:txBody>
      </p:sp>
      <p:pic>
        <p:nvPicPr>
          <p:cNvPr id="93" name="Picture 92" descr="lock.png"/>
          <p:cNvPicPr>
            <a:picLocks noChangeAspect="1"/>
          </p:cNvPicPr>
          <p:nvPr/>
        </p:nvPicPr>
        <p:blipFill>
          <a:blip r:embed="rId4"/>
          <a:stretch>
            <a:fillRect/>
          </a:stretch>
        </p:blipFill>
        <p:spPr>
          <a:xfrm>
            <a:off x="1156039" y="1935869"/>
            <a:ext cx="128699" cy="187198"/>
          </a:xfrm>
          <a:prstGeom prst="rect">
            <a:avLst/>
          </a:prstGeom>
        </p:spPr>
      </p:pic>
      <p:sp>
        <p:nvSpPr>
          <p:cNvPr id="94" name="TextBox 93"/>
          <p:cNvSpPr txBox="1"/>
          <p:nvPr/>
        </p:nvSpPr>
        <p:spPr>
          <a:xfrm>
            <a:off x="1323535" y="1945648"/>
            <a:ext cx="1083295" cy="186689"/>
          </a:xfrm>
          <a:prstGeom prst="rect">
            <a:avLst/>
          </a:prstGeom>
          <a:noFill/>
        </p:spPr>
        <p:txBody>
          <a:bodyPr wrap="none" lIns="0" rIns="0" tIns="0" bIns="0">
            <a:spAutoFit/>
          </a:bodyPr>
          <a:lstStyle/>
          <a:p>
            <a:r>
              <a:rPr sz="1100" b="0">
                <a:solidFill>
                  <a:srgbClr val="2E2E2E"/>
                </a:solidFill>
                <a:latin typeface="Calibri"/>
              </a:rPr>
              <a:t>against volume at</a:t>
            </a:r>
          </a:p>
        </p:txBody>
      </p:sp>
      <p:pic>
        <p:nvPicPr>
          <p:cNvPr id="95" name="Picture 94" descr="lock.png"/>
          <p:cNvPicPr>
            <a:picLocks noChangeAspect="1"/>
          </p:cNvPicPr>
          <p:nvPr/>
        </p:nvPicPr>
        <p:blipFill>
          <a:blip r:embed="rId4"/>
          <a:stretch>
            <a:fillRect/>
          </a:stretch>
        </p:blipFill>
        <p:spPr>
          <a:xfrm>
            <a:off x="2354882" y="1935869"/>
            <a:ext cx="128699" cy="187198"/>
          </a:xfrm>
          <a:prstGeom prst="rect">
            <a:avLst/>
          </a:prstGeom>
        </p:spPr>
      </p:pic>
      <p:sp>
        <p:nvSpPr>
          <p:cNvPr id="96" name="TextBox 95"/>
          <p:cNvSpPr txBox="1"/>
          <p:nvPr/>
        </p:nvSpPr>
        <p:spPr>
          <a:xfrm>
            <a:off x="2522378" y="1945648"/>
            <a:ext cx="2230090" cy="186689"/>
          </a:xfrm>
          <a:prstGeom prst="rect">
            <a:avLst/>
          </a:prstGeom>
          <a:noFill/>
        </p:spPr>
        <p:txBody>
          <a:bodyPr wrap="none" lIns="0" rIns="0" tIns="0" bIns="0">
            <a:spAutoFit/>
          </a:bodyPr>
          <a:lstStyle/>
          <a:p>
            <a:r>
              <a:rPr sz="1100" b="0">
                <a:solidFill>
                  <a:srgbClr val="2E2E2E"/>
                </a:solidFill>
                <a:latin typeface="Calibri"/>
              </a:rPr>
              <a:t>a premiumising market through 2036.</a:t>
            </a:r>
          </a:p>
        </p:txBody>
      </p:sp>
      <p:sp>
        <p:nvSpPr>
          <p:cNvPr id="97" name="TextBox 96"/>
          <p:cNvSpPr txBox="1"/>
          <p:nvPr/>
        </p:nvSpPr>
        <p:spPr>
          <a:xfrm>
            <a:off x="209550" y="2219453"/>
            <a:ext cx="1442640" cy="186689"/>
          </a:xfrm>
          <a:prstGeom prst="rect">
            <a:avLst/>
          </a:prstGeom>
          <a:noFill/>
        </p:spPr>
        <p:txBody>
          <a:bodyPr wrap="none" lIns="0" rIns="0" tIns="0" bIns="0">
            <a:spAutoFit/>
          </a:bodyPr>
          <a:lstStyle/>
          <a:p>
            <a:r>
              <a:rPr sz="1100" b="0">
                <a:solidFill>
                  <a:srgbClr val="2E2E2E"/>
                </a:solidFill>
                <a:latin typeface="Calibri"/>
              </a:rPr>
              <a:t>▪ 'Sweet muffins' carries</a:t>
            </a:r>
          </a:p>
        </p:txBody>
      </p:sp>
      <p:pic>
        <p:nvPicPr>
          <p:cNvPr id="98" name="Picture 97" descr="lock.png"/>
          <p:cNvPicPr>
            <a:picLocks noChangeAspect="1"/>
          </p:cNvPicPr>
          <p:nvPr/>
        </p:nvPicPr>
        <p:blipFill>
          <a:blip r:embed="rId4"/>
          <a:stretch>
            <a:fillRect/>
          </a:stretch>
        </p:blipFill>
        <p:spPr>
          <a:xfrm>
            <a:off x="1600242" y="2209674"/>
            <a:ext cx="128699" cy="187198"/>
          </a:xfrm>
          <a:prstGeom prst="rect">
            <a:avLst/>
          </a:prstGeom>
        </p:spPr>
      </p:pic>
      <p:sp>
        <p:nvSpPr>
          <p:cNvPr id="99" name="TextBox 98"/>
          <p:cNvSpPr txBox="1"/>
          <p:nvPr/>
        </p:nvSpPr>
        <p:spPr>
          <a:xfrm>
            <a:off x="1767738" y="2219453"/>
            <a:ext cx="3958877" cy="186689"/>
          </a:xfrm>
          <a:prstGeom prst="rect">
            <a:avLst/>
          </a:prstGeom>
          <a:noFill/>
        </p:spPr>
        <p:txBody>
          <a:bodyPr wrap="none" lIns="0" rIns="0" tIns="0" bIns="0">
            <a:spAutoFit/>
          </a:bodyPr>
          <a:lstStyle/>
          <a:p>
            <a:r>
              <a:rPr sz="1100" b="0">
                <a:solidFill>
                  <a:srgbClr val="2E2E2E"/>
                </a:solidFill>
                <a:latin typeface="Calibri"/>
              </a:rPr>
              <a:t>of product type demand while 'Sweet muffins' compounds fastest at</a:t>
            </a:r>
          </a:p>
        </p:txBody>
      </p:sp>
      <p:pic>
        <p:nvPicPr>
          <p:cNvPr id="100" name="Picture 99" descr="lock.png"/>
          <p:cNvPicPr>
            <a:picLocks noChangeAspect="1"/>
          </p:cNvPicPr>
          <p:nvPr/>
        </p:nvPicPr>
        <p:blipFill>
          <a:blip r:embed="rId4"/>
          <a:stretch>
            <a:fillRect/>
          </a:stretch>
        </p:blipFill>
        <p:spPr>
          <a:xfrm>
            <a:off x="5674667" y="2209674"/>
            <a:ext cx="128699" cy="187198"/>
          </a:xfrm>
          <a:prstGeom prst="rect">
            <a:avLst/>
          </a:prstGeom>
        </p:spPr>
      </p:pic>
      <p:sp>
        <p:nvSpPr>
          <p:cNvPr id="101" name="TextBox 100"/>
          <p:cNvSpPr txBox="1"/>
          <p:nvPr/>
        </p:nvSpPr>
        <p:spPr>
          <a:xfrm>
            <a:off x="5842163" y="2219453"/>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2" name="TextBox 101"/>
          <p:cNvSpPr txBox="1"/>
          <p:nvPr/>
        </p:nvSpPr>
        <p:spPr>
          <a:xfrm>
            <a:off x="209550" y="2584528"/>
            <a:ext cx="2476748" cy="186689"/>
          </a:xfrm>
          <a:prstGeom prst="rect">
            <a:avLst/>
          </a:prstGeom>
          <a:noFill/>
        </p:spPr>
        <p:txBody>
          <a:bodyPr wrap="none" lIns="0" rIns="0" tIns="0" bIns="0">
            <a:spAutoFit/>
          </a:bodyPr>
          <a:lstStyle/>
          <a:p>
            <a:r>
              <a:rPr sz="1100" b="0">
                <a:solidFill>
                  <a:srgbClr val="2E2E2E"/>
                </a:solidFill>
                <a:latin typeface="Calibri"/>
              </a:rPr>
              <a:t>▪ Pull is strongest in 'South Asia &amp; Pacific' (</a:t>
            </a:r>
          </a:p>
        </p:txBody>
      </p:sp>
      <p:pic>
        <p:nvPicPr>
          <p:cNvPr id="103" name="Picture 102" descr="lock.png"/>
          <p:cNvPicPr>
            <a:picLocks noChangeAspect="1"/>
          </p:cNvPicPr>
          <p:nvPr/>
        </p:nvPicPr>
        <p:blipFill>
          <a:blip r:embed="rId4"/>
          <a:stretch>
            <a:fillRect/>
          </a:stretch>
        </p:blipFill>
        <p:spPr>
          <a:xfrm>
            <a:off x="2634349" y="2574749"/>
            <a:ext cx="128699" cy="187198"/>
          </a:xfrm>
          <a:prstGeom prst="rect">
            <a:avLst/>
          </a:prstGeom>
        </p:spPr>
      </p:pic>
      <p:sp>
        <p:nvSpPr>
          <p:cNvPr id="104" name="TextBox 103"/>
          <p:cNvSpPr txBox="1"/>
          <p:nvPr/>
        </p:nvSpPr>
        <p:spPr>
          <a:xfrm>
            <a:off x="2801845" y="2584528"/>
            <a:ext cx="531572"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105" name="Picture 104" descr="lock.png"/>
          <p:cNvPicPr>
            <a:picLocks noChangeAspect="1"/>
          </p:cNvPicPr>
          <p:nvPr/>
        </p:nvPicPr>
        <p:blipFill>
          <a:blip r:embed="rId4"/>
          <a:stretch>
            <a:fillRect/>
          </a:stretch>
        </p:blipFill>
        <p:spPr>
          <a:xfrm>
            <a:off x="3281469" y="2574749"/>
            <a:ext cx="128699" cy="187198"/>
          </a:xfrm>
          <a:prstGeom prst="rect">
            <a:avLst/>
          </a:prstGeom>
        </p:spPr>
      </p:pic>
      <p:sp>
        <p:nvSpPr>
          <p:cNvPr id="106" name="TextBox 105"/>
          <p:cNvSpPr txBox="1"/>
          <p:nvPr/>
        </p:nvSpPr>
        <p:spPr>
          <a:xfrm>
            <a:off x="3448965" y="2584528"/>
            <a:ext cx="3522588" cy="186689"/>
          </a:xfrm>
          <a:prstGeom prst="rect">
            <a:avLst/>
          </a:prstGeom>
          <a:noFill/>
        </p:spPr>
        <p:txBody>
          <a:bodyPr wrap="none" lIns="0" rIns="0" tIns="0" bIns="0">
            <a:spAutoFit/>
          </a:bodyPr>
          <a:lstStyle/>
          <a:p>
            <a:r>
              <a:rPr sz="1100" b="0">
                <a:solidFill>
                  <a:srgbClr val="2E2E2E"/>
                </a:solidFill>
                <a:latin typeface="Calibri"/>
              </a:rPr>
              <a:t>BPS versus the market), with 3 of 6 regions at or above pace.</a:t>
            </a:r>
          </a:p>
        </p:txBody>
      </p:sp>
      <p:sp>
        <p:nvSpPr>
          <p:cNvPr id="107" name="TextBox 106"/>
          <p:cNvSpPr txBox="1"/>
          <p:nvPr/>
        </p:nvSpPr>
        <p:spPr>
          <a:xfrm>
            <a:off x="209550" y="2957050"/>
            <a:ext cx="3533775" cy="186689"/>
          </a:xfrm>
          <a:prstGeom prst="rect">
            <a:avLst/>
          </a:prstGeom>
          <a:noFill/>
        </p:spPr>
        <p:txBody>
          <a:bodyPr wrap="none" lIns="0" rIns="0" tIns="0" bIns="0">
            <a:spAutoFit/>
          </a:bodyPr>
          <a:lstStyle/>
          <a:p>
            <a:r>
              <a:rPr sz="1100" b="0">
                <a:solidFill>
                  <a:srgbClr val="2E2E2E"/>
                </a:solidFill>
                <a:latin typeface="Calibri"/>
              </a:rPr>
              <a:t>▪ Reach runs through 3 sales channel routes, led by 'Retail' at</a:t>
            </a:r>
          </a:p>
        </p:txBody>
      </p:sp>
      <p:pic>
        <p:nvPicPr>
          <p:cNvPr id="108" name="Picture 107" descr="lock.png"/>
          <p:cNvPicPr>
            <a:picLocks noChangeAspect="1"/>
          </p:cNvPicPr>
          <p:nvPr/>
        </p:nvPicPr>
        <p:blipFill>
          <a:blip r:embed="rId4"/>
          <a:stretch>
            <a:fillRect/>
          </a:stretch>
        </p:blipFill>
        <p:spPr>
          <a:xfrm>
            <a:off x="3691376" y="2947271"/>
            <a:ext cx="128699" cy="187198"/>
          </a:xfrm>
          <a:prstGeom prst="rect">
            <a:avLst/>
          </a:prstGeom>
        </p:spPr>
      </p:pic>
      <p:sp>
        <p:nvSpPr>
          <p:cNvPr id="109" name="TextBox 108"/>
          <p:cNvSpPr txBox="1"/>
          <p:nvPr/>
        </p:nvSpPr>
        <p:spPr>
          <a:xfrm>
            <a:off x="3858872" y="2957050"/>
            <a:ext cx="3215600" cy="186689"/>
          </a:xfrm>
          <a:prstGeom prst="rect">
            <a:avLst/>
          </a:prstGeom>
          <a:noFill/>
        </p:spPr>
        <p:txBody>
          <a:bodyPr wrap="none" lIns="0" rIns="0" tIns="0" bIns="0">
            <a:spAutoFit/>
          </a:bodyPr>
          <a:lstStyle/>
          <a:p>
            <a:r>
              <a:rPr sz="1100" b="0">
                <a:solidFill>
                  <a:srgbClr val="2E2E2E"/>
                </a:solidFill>
                <a:latin typeface="Calibri"/>
              </a:rPr>
              <a:t>and with 'Foodservice and institutional' growing fastest</a:t>
            </a:r>
          </a:p>
        </p:txBody>
      </p:sp>
      <p:sp>
        <p:nvSpPr>
          <p:cNvPr id="110" name="TextBox 109"/>
          <p:cNvSpPr txBox="1"/>
          <p:nvPr/>
        </p:nvSpPr>
        <p:spPr>
          <a:xfrm>
            <a:off x="209550" y="3124690"/>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111" name="Picture 110" descr="lock.png"/>
          <p:cNvPicPr>
            <a:picLocks noChangeAspect="1"/>
          </p:cNvPicPr>
          <p:nvPr/>
        </p:nvPicPr>
        <p:blipFill>
          <a:blip r:embed="rId4"/>
          <a:stretch>
            <a:fillRect/>
          </a:stretch>
        </p:blipFill>
        <p:spPr>
          <a:xfrm>
            <a:off x="347580" y="3114911"/>
            <a:ext cx="128699" cy="187198"/>
          </a:xfrm>
          <a:prstGeom prst="rect">
            <a:avLst/>
          </a:prstGeom>
        </p:spPr>
      </p:pic>
      <p:sp>
        <p:nvSpPr>
          <p:cNvPr id="112" name="TextBox 111"/>
          <p:cNvSpPr txBox="1"/>
          <p:nvPr/>
        </p:nvSpPr>
        <p:spPr>
          <a:xfrm>
            <a:off x="515076" y="3124690"/>
            <a:ext cx="111397" cy="186689"/>
          </a:xfrm>
          <a:prstGeom prst="rect">
            <a:avLst/>
          </a:prstGeom>
          <a:noFill/>
        </p:spPr>
        <p:txBody>
          <a:bodyPr wrap="none" lIns="0" rIns="0" tIns="0" bIns="0">
            <a:spAutoFit/>
          </a:bodyPr>
          <a:lstStyle/>
          <a:p>
            <a:r>
              <a:rPr sz="1100" b="0">
                <a:solidFill>
                  <a:srgbClr val="2E2E2E"/>
                </a:solidFill>
                <a:latin typeface="Calibri"/>
              </a:rPr>
              <a:t>.</a:t>
            </a:r>
          </a:p>
        </p:txBody>
      </p:sp>
    </p:spTree>
  </p:cSld>
  <p:clrMapOvr>
    <a:masterClrMapping/>
  </p:clrMapOvr>
</p:sld>
</file>

<file path=ppt/slides/slide5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Savoury muffins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Region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837332"/>
            <a:ext cx="1847006" cy="186689"/>
          </a:xfrm>
          <a:prstGeom prst="rect">
            <a:avLst/>
          </a:prstGeom>
          <a:noFill/>
        </p:spPr>
        <p:txBody>
          <a:bodyPr wrap="none" lIns="0" rIns="0" tIns="0" bIns="0">
            <a:spAutoFit/>
          </a:bodyPr>
          <a:lstStyle/>
          <a:p>
            <a:r>
              <a:rPr sz="1100" b="0">
                <a:solidFill>
                  <a:srgbClr val="2E2E2E"/>
                </a:solidFill>
                <a:latin typeface="Calibri"/>
              </a:rPr>
              <a:t>'Savoury muffins' grows at only</a:t>
            </a:r>
          </a:p>
        </p:txBody>
      </p:sp>
      <p:pic>
        <p:nvPicPr>
          <p:cNvPr id="65" name="Picture 64" descr="lock.png"/>
          <p:cNvPicPr>
            <a:picLocks noChangeAspect="1"/>
          </p:cNvPicPr>
          <p:nvPr/>
        </p:nvPicPr>
        <p:blipFill>
          <a:blip r:embed="rId4"/>
          <a:stretch>
            <a:fillRect/>
          </a:stretch>
        </p:blipFill>
        <p:spPr>
          <a:xfrm>
            <a:off x="1985558" y="1827554"/>
            <a:ext cx="128699" cy="187198"/>
          </a:xfrm>
          <a:prstGeom prst="rect">
            <a:avLst/>
          </a:prstGeom>
        </p:spPr>
      </p:pic>
      <p:sp>
        <p:nvSpPr>
          <p:cNvPr id="66" name="TextBox 65"/>
          <p:cNvSpPr txBox="1"/>
          <p:nvPr/>
        </p:nvSpPr>
        <p:spPr>
          <a:xfrm>
            <a:off x="2153054" y="1837332"/>
            <a:ext cx="4655177" cy="186689"/>
          </a:xfrm>
          <a:prstGeom prst="rect">
            <a:avLst/>
          </a:prstGeom>
          <a:noFill/>
        </p:spPr>
        <p:txBody>
          <a:bodyPr wrap="none" lIns="0" rIns="0" tIns="0" bIns="0">
            <a:spAutoFit/>
          </a:bodyPr>
          <a:lstStyle/>
          <a:p>
            <a:r>
              <a:rPr sz="1100" b="0">
                <a:solidFill>
                  <a:srgbClr val="2E2E2E"/>
                </a:solidFill>
                <a:latin typeface="Calibri"/>
              </a:rPr>
              <a:t>CAGR against the market's 5.0%, a -52 BPS gap, and 'Savoury muffins' surrenders</a:t>
            </a:r>
          </a:p>
        </p:txBody>
      </p:sp>
      <p:pic>
        <p:nvPicPr>
          <p:cNvPr id="67" name="Picture 66" descr="lock.png"/>
          <p:cNvPicPr>
            <a:picLocks noChangeAspect="1"/>
          </p:cNvPicPr>
          <p:nvPr/>
        </p:nvPicPr>
        <p:blipFill>
          <a:blip r:embed="rId4"/>
          <a:stretch>
            <a:fillRect/>
          </a:stretch>
        </p:blipFill>
        <p:spPr>
          <a:xfrm>
            <a:off x="6756283" y="1827554"/>
            <a:ext cx="128699" cy="187198"/>
          </a:xfrm>
          <a:prstGeom prst="rect">
            <a:avLst/>
          </a:prstGeom>
        </p:spPr>
      </p:pic>
      <p:sp>
        <p:nvSpPr>
          <p:cNvPr id="68" name="TextBox 67"/>
          <p:cNvSpPr txBox="1"/>
          <p:nvPr/>
        </p:nvSpPr>
        <p:spPr>
          <a:xfrm>
            <a:off x="6923779" y="1837332"/>
            <a:ext cx="2396256" cy="186689"/>
          </a:xfrm>
          <a:prstGeom prst="rect">
            <a:avLst/>
          </a:prstGeom>
          <a:noFill/>
        </p:spPr>
        <p:txBody>
          <a:bodyPr wrap="none" lIns="0" rIns="0" tIns="0" bIns="0">
            <a:spAutoFit/>
          </a:bodyPr>
          <a:lstStyle/>
          <a:p>
            <a:r>
              <a:rPr sz="1100" b="0">
                <a:solidFill>
                  <a:srgbClr val="2E2E2E"/>
                </a:solidFill>
                <a:latin typeface="Calibri"/>
              </a:rPr>
              <a:t>BPS of product type share between 2026</a:t>
            </a:r>
          </a:p>
        </p:txBody>
      </p:sp>
      <p:sp>
        <p:nvSpPr>
          <p:cNvPr id="69" name="TextBox 68"/>
          <p:cNvSpPr txBox="1"/>
          <p:nvPr/>
        </p:nvSpPr>
        <p:spPr>
          <a:xfrm>
            <a:off x="190500" y="2004972"/>
            <a:ext cx="9298309" cy="186689"/>
          </a:xfrm>
          <a:prstGeom prst="rect">
            <a:avLst/>
          </a:prstGeom>
          <a:noFill/>
        </p:spPr>
        <p:txBody>
          <a:bodyPr wrap="none" lIns="0" rIns="0" tIns="0" bIns="0">
            <a:spAutoFit/>
          </a:bodyPr>
          <a:lstStyle/>
          <a:p>
            <a:r>
              <a:rPr sz="1100" b="0">
                <a:solidFill>
                  <a:srgbClr val="2E2E2E"/>
                </a:solidFill>
                <a:latin typeface="Calibri"/>
              </a:rPr>
              <a:t>and 2036. Because these lines still carry meaningful volume, the drag is absorbed by the whole category: blended growth sits below what the leading lines achieve</a:t>
            </a:r>
          </a:p>
        </p:txBody>
      </p:sp>
      <p:sp>
        <p:nvSpPr>
          <p:cNvPr id="70" name="TextBox 69"/>
          <p:cNvSpPr txBox="1"/>
          <p:nvPr/>
        </p:nvSpPr>
        <p:spPr>
          <a:xfrm>
            <a:off x="190500" y="2172613"/>
            <a:ext cx="8093943" cy="186689"/>
          </a:xfrm>
          <a:prstGeom prst="rect">
            <a:avLst/>
          </a:prstGeom>
          <a:noFill/>
        </p:spPr>
        <p:txBody>
          <a:bodyPr wrap="none" lIns="0" rIns="0" tIns="0" bIns="0">
            <a:spAutoFit/>
          </a:bodyPr>
          <a:lstStyle/>
          <a:p>
            <a:r>
              <a:rPr sz="1100" b="0">
                <a:solidFill>
                  <a:srgbClr val="2E2E2E"/>
                </a:solidFill>
                <a:latin typeface="Calibri"/>
              </a:rPr>
              <a:t>on their own. Rationalising or repositioning the lagging end of a 2-line portfolio is therefore a precondition for realising the headline forecast.</a:t>
            </a:r>
          </a:p>
        </p:txBody>
      </p:sp>
      <p:sp>
        <p:nvSpPr>
          <p:cNvPr id="71" name="TextBox 70"/>
          <p:cNvSpPr txBox="1"/>
          <p:nvPr/>
        </p:nvSpPr>
        <p:spPr>
          <a:xfrm>
            <a:off x="190500" y="3498419"/>
            <a:ext cx="1731590" cy="186689"/>
          </a:xfrm>
          <a:prstGeom prst="rect">
            <a:avLst/>
          </a:prstGeom>
          <a:noFill/>
        </p:spPr>
        <p:txBody>
          <a:bodyPr wrap="none" lIns="0" rIns="0" tIns="0" bIns="0">
            <a:spAutoFit/>
          </a:bodyPr>
          <a:lstStyle/>
          <a:p>
            <a:r>
              <a:rPr sz="1100" b="0">
                <a:solidFill>
                  <a:srgbClr val="2E2E2E"/>
                </a:solidFill>
                <a:latin typeface="Calibri"/>
              </a:rPr>
              <a:t>'North America' grows at just</a:t>
            </a:r>
          </a:p>
        </p:txBody>
      </p:sp>
      <p:pic>
        <p:nvPicPr>
          <p:cNvPr id="72" name="Picture 71" descr="lock.png"/>
          <p:cNvPicPr>
            <a:picLocks noChangeAspect="1"/>
          </p:cNvPicPr>
          <p:nvPr/>
        </p:nvPicPr>
        <p:blipFill>
          <a:blip r:embed="rId4"/>
          <a:stretch>
            <a:fillRect/>
          </a:stretch>
        </p:blipFill>
        <p:spPr>
          <a:xfrm>
            <a:off x="1870142" y="3488640"/>
            <a:ext cx="128699" cy="187198"/>
          </a:xfrm>
          <a:prstGeom prst="rect">
            <a:avLst/>
          </a:prstGeom>
        </p:spPr>
      </p:pic>
      <p:sp>
        <p:nvSpPr>
          <p:cNvPr id="73" name="TextBox 72"/>
          <p:cNvSpPr txBox="1"/>
          <p:nvPr/>
        </p:nvSpPr>
        <p:spPr>
          <a:xfrm>
            <a:off x="2037637" y="3498419"/>
            <a:ext cx="469907"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74" name="Picture 73" descr="lock.png"/>
          <p:cNvPicPr>
            <a:picLocks noChangeAspect="1"/>
          </p:cNvPicPr>
          <p:nvPr/>
        </p:nvPicPr>
        <p:blipFill>
          <a:blip r:embed="rId4"/>
          <a:stretch>
            <a:fillRect/>
          </a:stretch>
        </p:blipFill>
        <p:spPr>
          <a:xfrm>
            <a:off x="2455597" y="3488640"/>
            <a:ext cx="128699" cy="187198"/>
          </a:xfrm>
          <a:prstGeom prst="rect">
            <a:avLst/>
          </a:prstGeom>
        </p:spPr>
      </p:pic>
      <p:sp>
        <p:nvSpPr>
          <p:cNvPr id="75" name="TextBox 74"/>
          <p:cNvSpPr txBox="1"/>
          <p:nvPr/>
        </p:nvSpPr>
        <p:spPr>
          <a:xfrm>
            <a:off x="2623093" y="3498419"/>
            <a:ext cx="6616997" cy="186689"/>
          </a:xfrm>
          <a:prstGeom prst="rect">
            <a:avLst/>
          </a:prstGeom>
          <a:noFill/>
        </p:spPr>
        <p:txBody>
          <a:bodyPr wrap="none" lIns="0" rIns="0" tIns="0" bIns="0">
            <a:spAutoFit/>
          </a:bodyPr>
          <a:lstStyle/>
          <a:p>
            <a:r>
              <a:rPr sz="1100" b="0">
                <a:solidFill>
                  <a:srgbClr val="2E2E2E"/>
                </a:solidFill>
                <a:latin typeface="Calibri"/>
              </a:rPr>
              <a:t>BPS against the market and 3 of 6 regions sit below the market pace altogether. Demand is therefore not uniformly</a:t>
            </a:r>
          </a:p>
        </p:txBody>
      </p:sp>
      <p:sp>
        <p:nvSpPr>
          <p:cNvPr id="76" name="TextBox 75"/>
          <p:cNvSpPr txBox="1"/>
          <p:nvPr/>
        </p:nvSpPr>
        <p:spPr>
          <a:xfrm>
            <a:off x="190500" y="3666059"/>
            <a:ext cx="8618091" cy="186689"/>
          </a:xfrm>
          <a:prstGeom prst="rect">
            <a:avLst/>
          </a:prstGeom>
          <a:noFill/>
        </p:spPr>
        <p:txBody>
          <a:bodyPr wrap="none" lIns="0" rIns="0" tIns="0" bIns="0">
            <a:spAutoFit/>
          </a:bodyPr>
          <a:lstStyle/>
          <a:p>
            <a:r>
              <a:rPr sz="1100" b="0">
                <a:solidFill>
                  <a:srgbClr val="2E2E2E"/>
                </a:solidFill>
                <a:latin typeface="Calibri"/>
              </a:rPr>
              <a:t>available: suppliers carrying a broad geographic footprint fund presence in slow regions out of returns earned in the fast ones. With 'North America' at</a:t>
            </a:r>
          </a:p>
        </p:txBody>
      </p:sp>
      <p:pic>
        <p:nvPicPr>
          <p:cNvPr id="77" name="Picture 76" descr="lock.png"/>
          <p:cNvPicPr>
            <a:picLocks noChangeAspect="1"/>
          </p:cNvPicPr>
          <p:nvPr/>
        </p:nvPicPr>
        <p:blipFill>
          <a:blip r:embed="rId4"/>
          <a:stretch>
            <a:fillRect/>
          </a:stretch>
        </p:blipFill>
        <p:spPr>
          <a:xfrm>
            <a:off x="8756642" y="3656280"/>
            <a:ext cx="128699" cy="187198"/>
          </a:xfrm>
          <a:prstGeom prst="rect">
            <a:avLst/>
          </a:prstGeom>
        </p:spPr>
      </p:pic>
      <p:sp>
        <p:nvSpPr>
          <p:cNvPr id="78" name="TextBox 77"/>
          <p:cNvSpPr txBox="1"/>
          <p:nvPr/>
        </p:nvSpPr>
        <p:spPr>
          <a:xfrm>
            <a:off x="8924138" y="3666059"/>
            <a:ext cx="564058" cy="186689"/>
          </a:xfrm>
          <a:prstGeom prst="rect">
            <a:avLst/>
          </a:prstGeom>
          <a:noFill/>
        </p:spPr>
        <p:txBody>
          <a:bodyPr wrap="none" lIns="0" rIns="0" tIns="0" bIns="0">
            <a:spAutoFit/>
          </a:bodyPr>
          <a:lstStyle/>
          <a:p>
            <a:r>
              <a:rPr sz="1100" b="0">
                <a:solidFill>
                  <a:srgbClr val="2E2E2E"/>
                </a:solidFill>
                <a:latin typeface="Calibri"/>
              </a:rPr>
              <a:t>of value,</a:t>
            </a:r>
          </a:p>
        </p:txBody>
      </p:sp>
      <p:sp>
        <p:nvSpPr>
          <p:cNvPr id="79" name="TextBox 78"/>
          <p:cNvSpPr txBox="1"/>
          <p:nvPr/>
        </p:nvSpPr>
        <p:spPr>
          <a:xfrm>
            <a:off x="190500" y="3833699"/>
            <a:ext cx="5170338" cy="186689"/>
          </a:xfrm>
          <a:prstGeom prst="rect">
            <a:avLst/>
          </a:prstGeom>
          <a:noFill/>
        </p:spPr>
        <p:txBody>
          <a:bodyPr wrap="none" lIns="0" rIns="0" tIns="0" bIns="0">
            <a:spAutoFit/>
          </a:bodyPr>
          <a:lstStyle/>
          <a:p>
            <a:r>
              <a:rPr sz="1100" b="0">
                <a:solidFill>
                  <a:srgbClr val="2E2E2E"/>
                </a:solidFill>
                <a:latin typeface="Calibri"/>
              </a:rPr>
              <a:t>a shortfall in a single leading region is difficult to offset elsewhere in the forecast window.</a:t>
            </a:r>
          </a:p>
        </p:txBody>
      </p:sp>
      <p:sp>
        <p:nvSpPr>
          <p:cNvPr id="80" name="TextBox 79"/>
          <p:cNvSpPr txBox="1"/>
          <p:nvPr/>
        </p:nvSpPr>
        <p:spPr>
          <a:xfrm>
            <a:off x="190500" y="5250774"/>
            <a:ext cx="3337594" cy="186689"/>
          </a:xfrm>
          <a:prstGeom prst="rect">
            <a:avLst/>
          </a:prstGeom>
          <a:noFill/>
        </p:spPr>
        <p:txBody>
          <a:bodyPr wrap="none" lIns="0" rIns="0" tIns="0" bIns="0">
            <a:spAutoFit/>
          </a:bodyPr>
          <a:lstStyle/>
          <a:p>
            <a:r>
              <a:rPr sz="1100" b="0">
                <a:solidFill>
                  <a:srgbClr val="2E2E2E"/>
                </a:solidFill>
                <a:latin typeface="Calibri"/>
              </a:rPr>
              <a:t>The market is concentrated: 'North America' accounts for</a:t>
            </a:r>
          </a:p>
        </p:txBody>
      </p:sp>
      <p:pic>
        <p:nvPicPr>
          <p:cNvPr id="81" name="Picture 80" descr="lock.png"/>
          <p:cNvPicPr>
            <a:picLocks noChangeAspect="1"/>
          </p:cNvPicPr>
          <p:nvPr/>
        </p:nvPicPr>
        <p:blipFill>
          <a:blip r:embed="rId4"/>
          <a:stretch>
            <a:fillRect/>
          </a:stretch>
        </p:blipFill>
        <p:spPr>
          <a:xfrm>
            <a:off x="3476146" y="5240995"/>
            <a:ext cx="128699" cy="187198"/>
          </a:xfrm>
          <a:prstGeom prst="rect">
            <a:avLst/>
          </a:prstGeom>
        </p:spPr>
      </p:pic>
      <p:sp>
        <p:nvSpPr>
          <p:cNvPr id="82" name="TextBox 81"/>
          <p:cNvSpPr txBox="1"/>
          <p:nvPr/>
        </p:nvSpPr>
        <p:spPr>
          <a:xfrm>
            <a:off x="3643642" y="5250774"/>
            <a:ext cx="2957512" cy="186689"/>
          </a:xfrm>
          <a:prstGeom prst="rect">
            <a:avLst/>
          </a:prstGeom>
          <a:noFill/>
        </p:spPr>
        <p:txBody>
          <a:bodyPr wrap="none" lIns="0" rIns="0" tIns="0" bIns="0">
            <a:spAutoFit/>
          </a:bodyPr>
          <a:lstStyle/>
          <a:p>
            <a:r>
              <a:rPr sz="1100" b="0">
                <a:solidFill>
                  <a:srgbClr val="2E2E2E"/>
                </a:solidFill>
                <a:latin typeface="Calibri"/>
              </a:rPr>
              <a:t>of 2036 value and the leading product type line for</a:t>
            </a:r>
          </a:p>
        </p:txBody>
      </p:sp>
      <p:pic>
        <p:nvPicPr>
          <p:cNvPr id="83" name="Picture 82" descr="lock.png"/>
          <p:cNvPicPr>
            <a:picLocks noChangeAspect="1"/>
          </p:cNvPicPr>
          <p:nvPr/>
        </p:nvPicPr>
        <p:blipFill>
          <a:blip r:embed="rId4"/>
          <a:stretch>
            <a:fillRect/>
          </a:stretch>
        </p:blipFill>
        <p:spPr>
          <a:xfrm>
            <a:off x="6549206" y="5240995"/>
            <a:ext cx="128699" cy="187198"/>
          </a:xfrm>
          <a:prstGeom prst="rect">
            <a:avLst/>
          </a:prstGeom>
        </p:spPr>
      </p:pic>
      <p:sp>
        <p:nvSpPr>
          <p:cNvPr id="84" name="TextBox 83"/>
          <p:cNvSpPr txBox="1"/>
          <p:nvPr/>
        </p:nvSpPr>
        <p:spPr>
          <a:xfrm>
            <a:off x="6716702" y="5250774"/>
            <a:ext cx="2445058" cy="186689"/>
          </a:xfrm>
          <a:prstGeom prst="rect">
            <a:avLst/>
          </a:prstGeom>
          <a:noFill/>
        </p:spPr>
        <p:txBody>
          <a:bodyPr wrap="none" lIns="0" rIns="0" tIns="0" bIns="0">
            <a:spAutoFit/>
          </a:bodyPr>
          <a:lstStyle/>
          <a:p>
            <a:r>
              <a:rPr sz="1100" b="0">
                <a:solidFill>
                  <a:srgbClr val="2E2E2E"/>
                </a:solidFill>
                <a:latin typeface="Calibri"/>
              </a:rPr>
              <a:t>of its segment. Average realisation moves</a:t>
            </a:r>
          </a:p>
        </p:txBody>
      </p:sp>
      <p:pic>
        <p:nvPicPr>
          <p:cNvPr id="85" name="Picture 84" descr="lock.png"/>
          <p:cNvPicPr>
            <a:picLocks noChangeAspect="1"/>
          </p:cNvPicPr>
          <p:nvPr/>
        </p:nvPicPr>
        <p:blipFill>
          <a:blip r:embed="rId4"/>
          <a:stretch>
            <a:fillRect/>
          </a:stretch>
        </p:blipFill>
        <p:spPr>
          <a:xfrm>
            <a:off x="177032" y="5408635"/>
            <a:ext cx="128699" cy="187198"/>
          </a:xfrm>
          <a:prstGeom prst="rect">
            <a:avLst/>
          </a:prstGeom>
        </p:spPr>
      </p:pic>
      <p:sp>
        <p:nvSpPr>
          <p:cNvPr id="86" name="TextBox 85"/>
          <p:cNvSpPr txBox="1"/>
          <p:nvPr/>
        </p:nvSpPr>
        <p:spPr>
          <a:xfrm>
            <a:off x="344528" y="5418414"/>
            <a:ext cx="9124776" cy="186689"/>
          </a:xfrm>
          <a:prstGeom prst="rect">
            <a:avLst/>
          </a:prstGeom>
          <a:noFill/>
        </p:spPr>
        <p:txBody>
          <a:bodyPr wrap="none" lIns="0" rIns="0" tIns="0" bIns="0">
            <a:spAutoFit/>
          </a:bodyPr>
          <a:lstStyle/>
          <a:p>
            <a:r>
              <a:rPr sz="1100" b="0">
                <a:solidFill>
                  <a:srgbClr val="2E2E2E"/>
                </a:solidFill>
                <a:latin typeface="Calibri"/>
              </a:rPr>
              <a:t>a year, so cost movements cannot be passed on evenly across 6 regions. The practical constraint is the same in either case commercial terms set for the market</a:t>
            </a:r>
          </a:p>
        </p:txBody>
      </p:sp>
      <p:sp>
        <p:nvSpPr>
          <p:cNvPr id="87" name="TextBox 86"/>
          <p:cNvSpPr txBox="1"/>
          <p:nvPr/>
        </p:nvSpPr>
        <p:spPr>
          <a:xfrm>
            <a:off x="190500" y="5586054"/>
            <a:ext cx="6191894" cy="186689"/>
          </a:xfrm>
          <a:prstGeom prst="rect">
            <a:avLst/>
          </a:prstGeom>
          <a:noFill/>
        </p:spPr>
        <p:txBody>
          <a:bodyPr wrap="none" lIns="0" rIns="0" tIns="0" bIns="0">
            <a:spAutoFit/>
          </a:bodyPr>
          <a:lstStyle/>
          <a:p>
            <a:r>
              <a:rPr sz="1100" b="0">
                <a:solidFill>
                  <a:srgbClr val="2E2E2E"/>
                </a:solidFill>
                <a:latin typeface="Calibri"/>
              </a:rPr>
              <a:t>as a whole underserve part of it, and margin is lost in the mismatch rather than in the headline growth rate.</a:t>
            </a:r>
          </a:p>
        </p:txBody>
      </p:sp>
    </p:spTree>
  </p:cSld>
  <p:clrMapOvr>
    <a:masterClrMapping/>
  </p:clrMapOvr>
</p:sld>
</file>

<file path=ppt/slides/slide5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Rest of LATAM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Foodservice and institutional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46064"/>
            <a:ext cx="662012" cy="186689"/>
          </a:xfrm>
          <a:prstGeom prst="rect">
            <a:avLst/>
          </a:prstGeom>
          <a:noFill/>
        </p:spPr>
        <p:txBody>
          <a:bodyPr wrap="none" lIns="0" rIns="0" tIns="0" bIns="0">
            <a:spAutoFit/>
          </a:bodyPr>
          <a:lstStyle/>
          <a:p>
            <a:r>
              <a:rPr sz="1100" b="0">
                <a:solidFill>
                  <a:srgbClr val="2E2E2E"/>
                </a:solidFill>
                <a:latin typeface="Calibri"/>
              </a:rPr>
              <a:t>'U.S.' adds</a:t>
            </a:r>
          </a:p>
        </p:txBody>
      </p:sp>
      <p:pic>
        <p:nvPicPr>
          <p:cNvPr id="65" name="Picture 64" descr="lock.png"/>
          <p:cNvPicPr>
            <a:picLocks noChangeAspect="1"/>
          </p:cNvPicPr>
          <p:nvPr/>
        </p:nvPicPr>
        <p:blipFill>
          <a:blip r:embed="rId4"/>
          <a:stretch>
            <a:fillRect/>
          </a:stretch>
        </p:blipFill>
        <p:spPr>
          <a:xfrm>
            <a:off x="800563" y="1736285"/>
            <a:ext cx="128699" cy="187198"/>
          </a:xfrm>
          <a:prstGeom prst="rect">
            <a:avLst/>
          </a:prstGeom>
        </p:spPr>
      </p:pic>
      <p:sp>
        <p:nvSpPr>
          <p:cNvPr id="66" name="TextBox 65"/>
          <p:cNvSpPr txBox="1"/>
          <p:nvPr/>
        </p:nvSpPr>
        <p:spPr>
          <a:xfrm>
            <a:off x="968059" y="1746064"/>
            <a:ext cx="8433097" cy="186689"/>
          </a:xfrm>
          <a:prstGeom prst="rect">
            <a:avLst/>
          </a:prstGeom>
          <a:noFill/>
        </p:spPr>
        <p:txBody>
          <a:bodyPr wrap="none" lIns="0" rIns="0" t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7" name="TextBox 66"/>
          <p:cNvSpPr txBox="1"/>
          <p:nvPr/>
        </p:nvSpPr>
        <p:spPr>
          <a:xfrm>
            <a:off x="190500" y="1913704"/>
            <a:ext cx="3769245" cy="186689"/>
          </a:xfrm>
          <a:prstGeom prst="rect">
            <a:avLst/>
          </a:prstGeom>
          <a:noFill/>
        </p:spPr>
        <p:txBody>
          <a:bodyPr wrap="none" lIns="0" rIns="0" tIns="0" bIns="0">
            <a:spAutoFit/>
          </a:bodyPr>
          <a:lstStyle/>
          <a:p>
            <a:r>
              <a:rPr sz="1100" b="0">
                <a:solidFill>
                  <a:srgbClr val="2E2E2E"/>
                </a:solidFill>
                <a:latin typeface="Calibri"/>
              </a:rPr>
              <a:t>rather than market creation: demand already exists and grows at</a:t>
            </a:r>
          </a:p>
        </p:txBody>
      </p:sp>
      <p:pic>
        <p:nvPicPr>
          <p:cNvPr id="68" name="Picture 67" descr="lock.png"/>
          <p:cNvPicPr>
            <a:picLocks noChangeAspect="1"/>
          </p:cNvPicPr>
          <p:nvPr/>
        </p:nvPicPr>
        <p:blipFill>
          <a:blip r:embed="rId4"/>
          <a:stretch>
            <a:fillRect/>
          </a:stretch>
        </p:blipFill>
        <p:spPr>
          <a:xfrm>
            <a:off x="3907797" y="1903925"/>
            <a:ext cx="128699" cy="187198"/>
          </a:xfrm>
          <a:prstGeom prst="rect">
            <a:avLst/>
          </a:prstGeom>
        </p:spPr>
      </p:pic>
      <p:sp>
        <p:nvSpPr>
          <p:cNvPr id="69" name="TextBox 68"/>
          <p:cNvSpPr txBox="1"/>
          <p:nvPr/>
        </p:nvSpPr>
        <p:spPr>
          <a:xfrm>
            <a:off x="4075293" y="1913704"/>
            <a:ext cx="5402535" cy="186689"/>
          </a:xfrm>
          <a:prstGeom prst="rect">
            <a:avLst/>
          </a:prstGeom>
          <a:noFill/>
        </p:spPr>
        <p:txBody>
          <a:bodyPr wrap="none" lIns="0" rIns="0" tIns="0" bIns="0">
            <a:spAutoFit/>
          </a:bodyPr>
          <a:lstStyle/>
          <a:p>
            <a:r>
              <a:rPr sz="1100" b="0">
                <a:solidFill>
                  <a:srgbClr val="2E2E2E"/>
                </a:solidFill>
                <a:latin typeface="Calibri"/>
              </a:rPr>
              <a:t>at the market level. Prioritising supply, channel coverage and service levels there converts the</a:t>
            </a:r>
          </a:p>
        </p:txBody>
      </p:sp>
      <p:sp>
        <p:nvSpPr>
          <p:cNvPr id="70" name="TextBox 69"/>
          <p:cNvSpPr txBox="1"/>
          <p:nvPr/>
        </p:nvSpPr>
        <p:spPr>
          <a:xfrm>
            <a:off x="190500" y="2081344"/>
            <a:ext cx="1175246" cy="186689"/>
          </a:xfrm>
          <a:prstGeom prst="rect">
            <a:avLst/>
          </a:prstGeom>
          <a:noFill/>
        </p:spPr>
        <p:txBody>
          <a:bodyPr wrap="none" lIns="0" rIns="0" tIns="0" bIns="0">
            <a:spAutoFit/>
          </a:bodyPr>
          <a:lstStyle/>
          <a:p>
            <a:r>
              <a:rPr sz="1100" b="0">
                <a:solidFill>
                  <a:srgbClr val="2E2E2E"/>
                </a:solidFill>
                <a:latin typeface="Calibri"/>
              </a:rPr>
              <a:t>largest share of the</a:t>
            </a:r>
          </a:p>
        </p:txBody>
      </p:sp>
      <p:pic>
        <p:nvPicPr>
          <p:cNvPr id="71" name="Picture 70" descr="lock.png"/>
          <p:cNvPicPr>
            <a:picLocks noChangeAspect="1"/>
          </p:cNvPicPr>
          <p:nvPr/>
        </p:nvPicPr>
        <p:blipFill>
          <a:blip r:embed="rId4"/>
          <a:stretch>
            <a:fillRect/>
          </a:stretch>
        </p:blipFill>
        <p:spPr>
          <a:xfrm>
            <a:off x="1313797" y="2071565"/>
            <a:ext cx="128699" cy="187198"/>
          </a:xfrm>
          <a:prstGeom prst="rect">
            <a:avLst/>
          </a:prstGeom>
        </p:spPr>
      </p:pic>
      <p:sp>
        <p:nvSpPr>
          <p:cNvPr id="72" name="TextBox 71"/>
          <p:cNvSpPr txBox="1"/>
          <p:nvPr/>
        </p:nvSpPr>
        <p:spPr>
          <a:xfrm>
            <a:off x="1481293" y="2081344"/>
            <a:ext cx="3306489" cy="186689"/>
          </a:xfrm>
          <a:prstGeom prst="rect">
            <a:avLst/>
          </a:prstGeom>
          <a:noFill/>
        </p:spPr>
        <p:txBody>
          <a:bodyPr wrap="none" lIns="0" rIns="0" tIns="0" bIns="0">
            <a:spAutoFit/>
          </a:bodyPr>
          <a:lstStyle/>
          <a:p>
            <a:r>
              <a:rPr sz="1100" b="0">
                <a:solidFill>
                  <a:srgbClr val="2E2E2E"/>
                </a:solidFill>
                <a:latin typeface="Calibri"/>
              </a:rPr>
              <a:t>US$ Mn the whole market adds over the forecast period.</a:t>
            </a:r>
          </a:p>
        </p:txBody>
      </p:sp>
      <p:sp>
        <p:nvSpPr>
          <p:cNvPr id="73" name="TextBox 72"/>
          <p:cNvSpPr txBox="1"/>
          <p:nvPr/>
        </p:nvSpPr>
        <p:spPr>
          <a:xfrm>
            <a:off x="190500" y="3498419"/>
            <a:ext cx="1815458" cy="186689"/>
          </a:xfrm>
          <a:prstGeom prst="rect">
            <a:avLst/>
          </a:prstGeom>
          <a:noFill/>
        </p:spPr>
        <p:txBody>
          <a:bodyPr wrap="none" lIns="0" rIns="0" tIns="0" bIns="0">
            <a:spAutoFit/>
          </a:bodyPr>
          <a:lstStyle/>
          <a:p>
            <a:r>
              <a:rPr sz="1100" b="0">
                <a:solidFill>
                  <a:srgbClr val="2E2E2E"/>
                </a:solidFill>
                <a:latin typeface="Calibri"/>
              </a:rPr>
              <a:t>'Rest of LATAM' compounds at</a:t>
            </a:r>
          </a:p>
        </p:txBody>
      </p:sp>
      <p:pic>
        <p:nvPicPr>
          <p:cNvPr id="74" name="Picture 73" descr="lock.png"/>
          <p:cNvPicPr>
            <a:picLocks noChangeAspect="1"/>
          </p:cNvPicPr>
          <p:nvPr/>
        </p:nvPicPr>
        <p:blipFill>
          <a:blip r:embed="rId4"/>
          <a:stretch>
            <a:fillRect/>
          </a:stretch>
        </p:blipFill>
        <p:spPr>
          <a:xfrm>
            <a:off x="1954009" y="3488640"/>
            <a:ext cx="128699" cy="187198"/>
          </a:xfrm>
          <a:prstGeom prst="rect">
            <a:avLst/>
          </a:prstGeom>
        </p:spPr>
      </p:pic>
      <p:sp>
        <p:nvSpPr>
          <p:cNvPr id="75" name="TextBox 74"/>
          <p:cNvSpPr txBox="1"/>
          <p:nvPr/>
        </p:nvSpPr>
        <p:spPr>
          <a:xfrm>
            <a:off x="2121505" y="3498419"/>
            <a:ext cx="7315207" cy="186689"/>
          </a:xfrm>
          <a:prstGeom prst="rect">
            <a:avLst/>
          </a:prstGeom>
          <a:noFill/>
        </p:spPr>
        <p:txBody>
          <a:bodyPr wrap="none" lIns="0" rIns="0" tIns="0" bIns="0">
            <a:spAutoFit/>
          </a:bodyPr>
          <a:lstStyle/>
          <a:p>
            <a:r>
              <a:rPr sz="1100" b="0">
                <a:solidFill>
                  <a:srgbClr val="2E2E2E"/>
                </a:solidFill>
                <a:latin typeface="Calibri"/>
              </a:rPr>
              <a:t>CAGR from a below-median base one of 8 geographies in the dataset combining above-median growth with below-median size.</a:t>
            </a:r>
          </a:p>
        </p:txBody>
      </p:sp>
      <p:sp>
        <p:nvSpPr>
          <p:cNvPr id="76" name="TextBox 75"/>
          <p:cNvSpPr txBox="1"/>
          <p:nvPr/>
        </p:nvSpPr>
        <p:spPr>
          <a:xfrm>
            <a:off x="190500" y="3666059"/>
            <a:ext cx="7425456" cy="186689"/>
          </a:xfrm>
          <a:prstGeom prst="rect">
            <a:avLst/>
          </a:prstGeom>
          <a:noFill/>
        </p:spPr>
        <p:txBody>
          <a:bodyPr wrap="none" lIns="0" rIns="0" tIns="0" bIns="0">
            <a:spAutoFit/>
          </a:bodyPr>
          <a:lstStyle/>
          <a:p>
            <a:r>
              <a:rPr sz="1100" b="0">
                <a:solidFill>
                  <a:srgbClr val="2E2E2E"/>
                </a:solidFill>
                <a:latin typeface="Calibri"/>
              </a:rPr>
              <a:t>That profile is where share is cheapest to buy: competitive intensity is lower than in the 30.2%-share leaders, while growth runs +</a:t>
            </a:r>
          </a:p>
        </p:txBody>
      </p:sp>
      <p:pic>
        <p:nvPicPr>
          <p:cNvPr id="77" name="Picture 76" descr="lock.png"/>
          <p:cNvPicPr>
            <a:picLocks noChangeAspect="1"/>
          </p:cNvPicPr>
          <p:nvPr/>
        </p:nvPicPr>
        <p:blipFill>
          <a:blip r:embed="rId4"/>
          <a:stretch>
            <a:fillRect/>
          </a:stretch>
        </p:blipFill>
        <p:spPr>
          <a:xfrm>
            <a:off x="7564008" y="3656280"/>
            <a:ext cx="128699" cy="187198"/>
          </a:xfrm>
          <a:prstGeom prst="rect">
            <a:avLst/>
          </a:prstGeom>
        </p:spPr>
      </p:pic>
      <p:sp>
        <p:nvSpPr>
          <p:cNvPr id="78" name="TextBox 77"/>
          <p:cNvSpPr txBox="1"/>
          <p:nvPr/>
        </p:nvSpPr>
        <p:spPr>
          <a:xfrm>
            <a:off x="7731504" y="3666059"/>
            <a:ext cx="1825144" cy="186689"/>
          </a:xfrm>
          <a:prstGeom prst="rect">
            <a:avLst/>
          </a:prstGeom>
          <a:noFill/>
        </p:spPr>
        <p:txBody>
          <a:bodyPr wrap="none" lIns="0" rIns="0" tIns="0" bIns="0">
            <a:spAutoFit/>
          </a:bodyPr>
          <a:lstStyle/>
          <a:p>
            <a:r>
              <a:rPr sz="1100" b="0">
                <a:solidFill>
                  <a:srgbClr val="2E2E2E"/>
                </a:solidFill>
                <a:latin typeface="Calibri"/>
              </a:rPr>
              <a:t>BPS ahead of the market. Early</a:t>
            </a:r>
          </a:p>
        </p:txBody>
      </p:sp>
      <p:sp>
        <p:nvSpPr>
          <p:cNvPr id="79" name="TextBox 78"/>
          <p:cNvSpPr txBox="1"/>
          <p:nvPr/>
        </p:nvSpPr>
        <p:spPr>
          <a:xfrm>
            <a:off x="190500" y="3833699"/>
            <a:ext cx="4556695" cy="186689"/>
          </a:xfrm>
          <a:prstGeom prst="rect">
            <a:avLst/>
          </a:prstGeom>
          <a:noFill/>
        </p:spPr>
        <p:txBody>
          <a:bodyPr wrap="none" lIns="0" rIns="0" tIns="0" bIns="0">
            <a:spAutoFit/>
          </a:bodyPr>
          <a:lstStyle/>
          <a:p>
            <a:r>
              <a:rPr sz="1100" b="0">
                <a:solidFill>
                  <a:srgbClr val="2E2E2E"/>
                </a:solidFill>
                <a:latin typeface="Calibri"/>
              </a:rPr>
              <a:t>distribution and reference accounts established here compound through 2036.</a:t>
            </a:r>
          </a:p>
        </p:txBody>
      </p:sp>
      <p:sp>
        <p:nvSpPr>
          <p:cNvPr id="80" name="TextBox 79"/>
          <p:cNvSpPr txBox="1"/>
          <p:nvPr/>
        </p:nvSpPr>
        <p:spPr>
          <a:xfrm>
            <a:off x="190500" y="5250774"/>
            <a:ext cx="2301274" cy="186689"/>
          </a:xfrm>
          <a:prstGeom prst="rect">
            <a:avLst/>
          </a:prstGeom>
          <a:noFill/>
        </p:spPr>
        <p:txBody>
          <a:bodyPr wrap="none" lIns="0" rIns="0" tIns="0" bIns="0">
            <a:spAutoFit/>
          </a:bodyPr>
          <a:lstStyle/>
          <a:p>
            <a:r>
              <a:rPr sz="1100" b="0">
                <a:solidFill>
                  <a:srgbClr val="2E2E2E"/>
                </a:solidFill>
                <a:latin typeface="Calibri"/>
              </a:rPr>
              <a:t>'Foodservice and institutional' grows at</a:t>
            </a:r>
          </a:p>
        </p:txBody>
      </p:sp>
      <p:pic>
        <p:nvPicPr>
          <p:cNvPr id="81" name="Picture 80" descr="lock.png"/>
          <p:cNvPicPr>
            <a:picLocks noChangeAspect="1"/>
          </p:cNvPicPr>
          <p:nvPr/>
        </p:nvPicPr>
        <p:blipFill>
          <a:blip r:embed="rId4"/>
          <a:stretch>
            <a:fillRect/>
          </a:stretch>
        </p:blipFill>
        <p:spPr>
          <a:xfrm>
            <a:off x="2439826" y="5240995"/>
            <a:ext cx="128699" cy="187198"/>
          </a:xfrm>
          <a:prstGeom prst="rect">
            <a:avLst/>
          </a:prstGeom>
        </p:spPr>
      </p:pic>
      <p:sp>
        <p:nvSpPr>
          <p:cNvPr id="82" name="TextBox 81"/>
          <p:cNvSpPr txBox="1"/>
          <p:nvPr/>
        </p:nvSpPr>
        <p:spPr>
          <a:xfrm>
            <a:off x="2607322" y="5250774"/>
            <a:ext cx="3083825" cy="186689"/>
          </a:xfrm>
          <a:prstGeom prst="rect">
            <a:avLst/>
          </a:prstGeom>
          <a:noFill/>
        </p:spPr>
        <p:txBody>
          <a:bodyPr wrap="none" lIns="0" rIns="0" tIns="0" bIns="0">
            <a:spAutoFit/>
          </a:bodyPr>
          <a:lstStyle/>
          <a:p>
            <a:r>
              <a:rPr sz="1100" b="0">
                <a:solidFill>
                  <a:srgbClr val="2E2E2E"/>
                </a:solidFill>
                <a:latin typeface="Calibri"/>
              </a:rPr>
              <a:t>CAGR, the fastest of 3 sales channel routes, and adds</a:t>
            </a:r>
          </a:p>
        </p:txBody>
      </p:sp>
      <p:pic>
        <p:nvPicPr>
          <p:cNvPr id="83" name="Picture 82" descr="lock.png"/>
          <p:cNvPicPr>
            <a:picLocks noChangeAspect="1"/>
          </p:cNvPicPr>
          <p:nvPr/>
        </p:nvPicPr>
        <p:blipFill>
          <a:blip r:embed="rId4"/>
          <a:stretch>
            <a:fillRect/>
          </a:stretch>
        </p:blipFill>
        <p:spPr>
          <a:xfrm>
            <a:off x="5639199" y="5240995"/>
            <a:ext cx="128699" cy="187198"/>
          </a:xfrm>
          <a:prstGeom prst="rect">
            <a:avLst/>
          </a:prstGeom>
        </p:spPr>
      </p:pic>
      <p:sp>
        <p:nvSpPr>
          <p:cNvPr id="84" name="TextBox 83"/>
          <p:cNvSpPr txBox="1"/>
          <p:nvPr/>
        </p:nvSpPr>
        <p:spPr>
          <a:xfrm>
            <a:off x="5806695" y="5250774"/>
            <a:ext cx="3327772" cy="186689"/>
          </a:xfrm>
          <a:prstGeom prst="rect">
            <a:avLst/>
          </a:prstGeom>
          <a:noFill/>
        </p:spPr>
        <p:txBody>
          <a:bodyPr wrap="none" lIns="0" rIns="0" tIns="0" bIns="0">
            <a:spAutoFit/>
          </a:bodyPr>
          <a:lstStyle/>
          <a:p>
            <a:r>
              <a:rPr sz="1100" b="0">
                <a:solidFill>
                  <a:srgbClr val="2E2E2E"/>
                </a:solidFill>
                <a:latin typeface="Calibri"/>
              </a:rPr>
              <a:t>US$ Mn over the forecast period while 'Retail' still carries</a:t>
            </a:r>
          </a:p>
        </p:txBody>
      </p:sp>
      <p:pic>
        <p:nvPicPr>
          <p:cNvPr id="85" name="Picture 84" descr="lock.png"/>
          <p:cNvPicPr>
            <a:picLocks noChangeAspect="1"/>
          </p:cNvPicPr>
          <p:nvPr/>
        </p:nvPicPr>
        <p:blipFill>
          <a:blip r:embed="rId4"/>
          <a:stretch>
            <a:fillRect/>
          </a:stretch>
        </p:blipFill>
        <p:spPr>
          <a:xfrm>
            <a:off x="9082518" y="5240995"/>
            <a:ext cx="128699" cy="187198"/>
          </a:xfrm>
          <a:prstGeom prst="rect">
            <a:avLst/>
          </a:prstGeom>
        </p:spPr>
      </p:pic>
      <p:sp>
        <p:nvSpPr>
          <p:cNvPr id="86" name="TextBox 85"/>
          <p:cNvSpPr txBox="1"/>
          <p:nvPr/>
        </p:nvSpPr>
        <p:spPr>
          <a:xfrm>
            <a:off x="190500" y="5418414"/>
            <a:ext cx="7293942" cy="186689"/>
          </a:xfrm>
          <a:prstGeom prst="rect">
            <a:avLst/>
          </a:prstGeom>
          <a:noFill/>
        </p:spPr>
        <p:txBody>
          <a:bodyPr wrap="none" lIns="0" rIns="0" tIns="0" bIns="0">
            <a:spAutoFit/>
          </a:bodyPr>
          <a:lstStyle/>
          <a:p>
            <a:r>
              <a:rPr sz="1100" b="0">
                <a:solidFill>
                  <a:srgbClr val="2E2E2E"/>
                </a:solidFill>
                <a:latin typeface="Calibri"/>
              </a:rPr>
              <a:t>of demand today. Pairing the incumbent route for volume with the fastest route for growth and leading with 'Sweet muffins' at</a:t>
            </a:r>
          </a:p>
        </p:txBody>
      </p:sp>
      <p:pic>
        <p:nvPicPr>
          <p:cNvPr id="87" name="Picture 86" descr="lock.png"/>
          <p:cNvPicPr>
            <a:picLocks noChangeAspect="1"/>
          </p:cNvPicPr>
          <p:nvPr/>
        </p:nvPicPr>
        <p:blipFill>
          <a:blip r:embed="rId4"/>
          <a:stretch>
            <a:fillRect/>
          </a:stretch>
        </p:blipFill>
        <p:spPr>
          <a:xfrm>
            <a:off x="7432493" y="5408635"/>
            <a:ext cx="128699" cy="187198"/>
          </a:xfrm>
          <a:prstGeom prst="rect">
            <a:avLst/>
          </a:prstGeom>
        </p:spPr>
      </p:pic>
      <p:sp>
        <p:nvSpPr>
          <p:cNvPr id="88" name="TextBox 87"/>
          <p:cNvSpPr txBox="1"/>
          <p:nvPr/>
        </p:nvSpPr>
        <p:spPr>
          <a:xfrm>
            <a:off x="7599989" y="5418414"/>
            <a:ext cx="1893664" cy="186689"/>
          </a:xfrm>
          <a:prstGeom prst="rect">
            <a:avLst/>
          </a:prstGeom>
          <a:noFill/>
        </p:spPr>
        <p:txBody>
          <a:bodyPr wrap="none" lIns="0" rIns="0" tIns="0" bIns="0">
            <a:spAutoFit/>
          </a:bodyPr>
          <a:lstStyle/>
          <a:p>
            <a:r>
              <a:rPr sz="1100" b="0">
                <a:solidFill>
                  <a:srgbClr val="2E2E2E"/>
                </a:solidFill>
                <a:latin typeface="Calibri"/>
              </a:rPr>
              <a:t>is the highest-yield combination</a:t>
            </a:r>
          </a:p>
        </p:txBody>
      </p:sp>
      <p:sp>
        <p:nvSpPr>
          <p:cNvPr id="89" name="TextBox 88"/>
          <p:cNvSpPr txBox="1"/>
          <p:nvPr/>
        </p:nvSpPr>
        <p:spPr>
          <a:xfrm>
            <a:off x="190500" y="5586054"/>
            <a:ext cx="1288479" cy="186689"/>
          </a:xfrm>
          <a:prstGeom prst="rect">
            <a:avLst/>
          </a:prstGeom>
          <a:noFill/>
        </p:spPr>
        <p:txBody>
          <a:bodyPr wrap="none" lIns="0" rIns="0" tIns="0" bIns="0">
            <a:spAutoFit/>
          </a:bodyPr>
          <a:lstStyle/>
          <a:p>
            <a:r>
              <a:rPr sz="1100" b="0">
                <a:solidFill>
                  <a:srgbClr val="2E2E2E"/>
                </a:solidFill>
                <a:latin typeface="Calibri"/>
              </a:rPr>
              <a:t>the dataset supports.</a:t>
            </a:r>
          </a:p>
        </p:txBody>
      </p:sp>
    </p:spTree>
  </p:cSld>
  <p:clrMapOvr>
    <a:masterClrMapping/>
  </p:clrMapOvr>
</p:sld>
</file>

<file path=ppt/slides/slide5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4157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8" name="Rectangle 17"/>
          <p:cNvSpPr/>
          <p:nvPr/>
        </p:nvSpPr>
        <p:spPr>
          <a:xfrm>
            <a:off x="142875" y="2367162"/>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367162"/>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367162"/>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691164"/>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3416749"/>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416749"/>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2035</a:t>
            </a:r>
          </a:p>
        </p:txBody>
      </p:sp>
      <p:cxnSp>
        <p:nvCxnSpPr>
          <p:cNvPr id="24" name="Connector 23"/>
          <p:cNvCxnSpPr/>
          <p:nvPr/>
        </p:nvCxnSpPr>
        <p:spPr>
          <a:xfrm>
            <a:off x="1571625" y="3416749"/>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740753"/>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Rectangle 25"/>
          <p:cNvSpPr/>
          <p:nvPr/>
        </p:nvSpPr>
        <p:spPr>
          <a:xfrm>
            <a:off x="142875" y="4466337"/>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466337"/>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466337"/>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790339"/>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Rectangle 29"/>
          <p:cNvSpPr/>
          <p:nvPr/>
        </p:nvSpPr>
        <p:spPr>
          <a:xfrm>
            <a:off x="142875" y="551592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1592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1592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3992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5" name="TextBox 34"/>
          <p:cNvSpPr txBox="1"/>
          <p:nvPr/>
        </p:nvSpPr>
        <p:spPr>
          <a:xfrm>
            <a:off x="1743075" y="1681434"/>
            <a:ext cx="3378969" cy="179984"/>
          </a:xfrm>
          <a:prstGeom prst="rect">
            <a:avLst/>
          </a:prstGeom>
          <a:noFill/>
        </p:spPr>
        <p:txBody>
          <a:bodyPr wrap="none" lIns="0" rIns="0" tIns="0" bIns="0">
            <a:spAutoFit/>
          </a:bodyPr>
          <a:lstStyle/>
          <a:p>
            <a:r>
              <a:rPr sz="1055" b="0">
                <a:solidFill>
                  <a:srgbClr val="2E2E2E"/>
                </a:solidFill>
                <a:latin typeface="Calibri"/>
              </a:rPr>
              <a:t>Strongest historical expansion on record: Global value rose +</a:t>
            </a:r>
          </a:p>
        </p:txBody>
      </p:sp>
      <p:pic>
        <p:nvPicPr>
          <p:cNvPr id="36" name="Picture 35" descr="lock.png"/>
          <p:cNvPicPr>
            <a:picLocks noChangeAspect="1"/>
          </p:cNvPicPr>
          <p:nvPr/>
        </p:nvPicPr>
        <p:blipFill>
          <a:blip r:embed="rId4"/>
          <a:stretch>
            <a:fillRect/>
          </a:stretch>
        </p:blipFill>
        <p:spPr>
          <a:xfrm>
            <a:off x="5069126" y="1672046"/>
            <a:ext cx="123551" cy="179710"/>
          </a:xfrm>
          <a:prstGeom prst="rect">
            <a:avLst/>
          </a:prstGeom>
        </p:spPr>
      </p:pic>
      <p:sp>
        <p:nvSpPr>
          <p:cNvPr id="37" name="TextBox 36"/>
          <p:cNvSpPr txBox="1"/>
          <p:nvPr/>
        </p:nvSpPr>
        <p:spPr>
          <a:xfrm>
            <a:off x="5229922" y="1681434"/>
            <a:ext cx="901565" cy="179984"/>
          </a:xfrm>
          <a:prstGeom prst="rect">
            <a:avLst/>
          </a:prstGeom>
          <a:noFill/>
        </p:spPr>
        <p:txBody>
          <a:bodyPr wrap="none" lIns="0" rIns="0" tIns="0" bIns="0">
            <a:spAutoFit/>
          </a:bodyPr>
          <a:lstStyle/>
          <a:p>
            <a:r>
              <a:rPr sz="1055" b="0">
                <a:solidFill>
                  <a:srgbClr val="2E2E2E"/>
                </a:solidFill>
                <a:latin typeface="Calibri"/>
              </a:rPr>
              <a:t>year on year to</a:t>
            </a:r>
          </a:p>
        </p:txBody>
      </p:sp>
      <p:pic>
        <p:nvPicPr>
          <p:cNvPr id="38" name="Picture 37" descr="lock.png"/>
          <p:cNvPicPr>
            <a:picLocks noChangeAspect="1"/>
          </p:cNvPicPr>
          <p:nvPr/>
        </p:nvPicPr>
        <p:blipFill>
          <a:blip r:embed="rId4"/>
          <a:stretch>
            <a:fillRect/>
          </a:stretch>
        </p:blipFill>
        <p:spPr>
          <a:xfrm>
            <a:off x="6078569" y="1672046"/>
            <a:ext cx="123551" cy="179710"/>
          </a:xfrm>
          <a:prstGeom prst="rect">
            <a:avLst/>
          </a:prstGeom>
        </p:spPr>
      </p:pic>
      <p:sp>
        <p:nvSpPr>
          <p:cNvPr id="39" name="TextBox 38"/>
          <p:cNvSpPr txBox="1"/>
          <p:nvPr/>
        </p:nvSpPr>
        <p:spPr>
          <a:xfrm>
            <a:off x="6239365" y="1681434"/>
            <a:ext cx="5177170" cy="179984"/>
          </a:xfrm>
          <a:prstGeom prst="rect">
            <a:avLst/>
          </a:prstGeom>
          <a:noFill/>
        </p:spPr>
        <p:txBody>
          <a:bodyPr wrap="none" lIns="0" rIns="0" tIns="0" bIns="0">
            <a:spAutoFit/>
          </a:bodyPr>
          <a:lstStyle/>
          <a:p>
            <a:r>
              <a:rPr sz="1055" b="0">
                <a:solidFill>
                  <a:srgbClr val="2E2E2E"/>
                </a:solidFill>
                <a:latin typeface="Calibri"/>
              </a:rPr>
              <a:t>US$ Mn, the steepest single-year move of the 2021–2025 period. Demand for 'Sweet muffins'</a:t>
            </a:r>
          </a:p>
        </p:txBody>
      </p:sp>
      <p:pic>
        <p:nvPicPr>
          <p:cNvPr id="40" name="Picture 39" descr="lock.png"/>
          <p:cNvPicPr>
            <a:picLocks noChangeAspect="1"/>
          </p:cNvPicPr>
          <p:nvPr/>
        </p:nvPicPr>
        <p:blipFill>
          <a:blip r:embed="rId4"/>
          <a:stretch>
            <a:fillRect/>
          </a:stretch>
        </p:blipFill>
        <p:spPr>
          <a:xfrm>
            <a:off x="11363617" y="1672046"/>
            <a:ext cx="123551" cy="179710"/>
          </a:xfrm>
          <a:prstGeom prst="rect">
            <a:avLst/>
          </a:prstGeom>
        </p:spPr>
      </p:pic>
      <p:sp>
        <p:nvSpPr>
          <p:cNvPr id="41" name="TextBox 40"/>
          <p:cNvSpPr txBox="1"/>
          <p:nvPr/>
        </p:nvSpPr>
        <p:spPr>
          <a:xfrm>
            <a:off x="1743075" y="1842368"/>
            <a:ext cx="6839164" cy="179984"/>
          </a:xfrm>
          <a:prstGeom prst="rect">
            <a:avLst/>
          </a:prstGeom>
          <a:noFill/>
        </p:spPr>
        <p:txBody>
          <a:bodyPr wrap="none" lIns="0" rIns="0" tIns="0" bIns="0">
            <a:spAutoFit/>
          </a:bodyPr>
          <a:lstStyle/>
          <a:p>
            <a:r>
              <a:rPr sz="1055" b="0">
                <a:solidFill>
                  <a:srgbClr val="2E2E2E"/>
                </a:solidFill>
                <a:latin typeface="Calibri"/>
              </a:rPr>
              <a:t>of product type value by 2036 set the pace, and the 3 sales channel routes tracked here all carried volume through the year.</a:t>
            </a:r>
          </a:p>
        </p:txBody>
      </p:sp>
      <p:sp>
        <p:nvSpPr>
          <p:cNvPr id="42" name="TextBox 41"/>
          <p:cNvSpPr txBox="1"/>
          <p:nvPr/>
        </p:nvSpPr>
        <p:spPr>
          <a:xfrm>
            <a:off x="1743075" y="2731020"/>
            <a:ext cx="3340465" cy="179984"/>
          </a:xfrm>
          <a:prstGeom prst="rect">
            <a:avLst/>
          </a:prstGeom>
          <a:noFill/>
        </p:spPr>
        <p:txBody>
          <a:bodyPr wrap="none" lIns="0" rIns="0" tIns="0" bIns="0">
            <a:spAutoFit/>
          </a:bodyPr>
          <a:lstStyle/>
          <a:p>
            <a:r>
              <a:rPr sz="1055" b="0">
                <a:solidFill>
                  <a:srgbClr val="2E2E2E"/>
                </a:solidFill>
                <a:latin typeface="Calibri"/>
              </a:rPr>
              <a:t>Base year for the forecast: the global market is estimated at</a:t>
            </a:r>
          </a:p>
        </p:txBody>
      </p:sp>
      <p:pic>
        <p:nvPicPr>
          <p:cNvPr id="43" name="Picture 42" descr="lock.png"/>
          <p:cNvPicPr>
            <a:picLocks noChangeAspect="1"/>
          </p:cNvPicPr>
          <p:nvPr/>
        </p:nvPicPr>
        <p:blipFill>
          <a:blip r:embed="rId4"/>
          <a:stretch>
            <a:fillRect/>
          </a:stretch>
        </p:blipFill>
        <p:spPr>
          <a:xfrm>
            <a:off x="5030621" y="2721632"/>
            <a:ext cx="123551" cy="179710"/>
          </a:xfrm>
          <a:prstGeom prst="rect">
            <a:avLst/>
          </a:prstGeom>
        </p:spPr>
      </p:pic>
      <p:sp>
        <p:nvSpPr>
          <p:cNvPr id="44" name="TextBox 43"/>
          <p:cNvSpPr txBox="1"/>
          <p:nvPr/>
        </p:nvSpPr>
        <p:spPr>
          <a:xfrm>
            <a:off x="5191417" y="2731020"/>
            <a:ext cx="1825680" cy="179984"/>
          </a:xfrm>
          <a:prstGeom prst="rect">
            <a:avLst/>
          </a:prstGeom>
          <a:noFill/>
        </p:spPr>
        <p:txBody>
          <a:bodyPr wrap="none" lIns="0" rIns="0" tIns="0" bIns="0">
            <a:spAutoFit/>
          </a:bodyPr>
          <a:lstStyle/>
          <a:p>
            <a:r>
              <a:rPr sz="1055" b="0">
                <a:solidFill>
                  <a:srgbClr val="2E2E2E"/>
                </a:solidFill>
                <a:latin typeface="Calibri"/>
              </a:rPr>
              <a:t>US$ Mn, having compounded at</a:t>
            </a:r>
          </a:p>
        </p:txBody>
      </p:sp>
      <p:pic>
        <p:nvPicPr>
          <p:cNvPr id="45" name="Picture 44" descr="lock.png"/>
          <p:cNvPicPr>
            <a:picLocks noChangeAspect="1"/>
          </p:cNvPicPr>
          <p:nvPr/>
        </p:nvPicPr>
        <p:blipFill>
          <a:blip r:embed="rId4"/>
          <a:stretch>
            <a:fillRect/>
          </a:stretch>
        </p:blipFill>
        <p:spPr>
          <a:xfrm>
            <a:off x="6964179" y="2721632"/>
            <a:ext cx="123551" cy="179710"/>
          </a:xfrm>
          <a:prstGeom prst="rect">
            <a:avLst/>
          </a:prstGeom>
        </p:spPr>
      </p:pic>
      <p:sp>
        <p:nvSpPr>
          <p:cNvPr id="46" name="TextBox 45"/>
          <p:cNvSpPr txBox="1"/>
          <p:nvPr/>
        </p:nvSpPr>
        <p:spPr>
          <a:xfrm>
            <a:off x="7124975" y="2731020"/>
            <a:ext cx="2310788" cy="179984"/>
          </a:xfrm>
          <a:prstGeom prst="rect">
            <a:avLst/>
          </a:prstGeom>
          <a:noFill/>
        </p:spPr>
        <p:txBody>
          <a:bodyPr wrap="none" lIns="0" rIns="0" tIns="0" bIns="0">
            <a:spAutoFit/>
          </a:bodyPr>
          <a:lstStyle/>
          <a:p>
            <a:r>
              <a:rPr sz="1055" b="0">
                <a:solidFill>
                  <a:srgbClr val="2E2E2E"/>
                </a:solidFill>
                <a:latin typeface="Calibri"/>
              </a:rPr>
              <a:t>across 2021–2025. 'North America' holds</a:t>
            </a:r>
          </a:p>
        </p:txBody>
      </p:sp>
      <p:pic>
        <p:nvPicPr>
          <p:cNvPr id="47" name="Picture 46" descr="lock.png"/>
          <p:cNvPicPr>
            <a:picLocks noChangeAspect="1"/>
          </p:cNvPicPr>
          <p:nvPr/>
        </p:nvPicPr>
        <p:blipFill>
          <a:blip r:embed="rId4"/>
          <a:stretch>
            <a:fillRect/>
          </a:stretch>
        </p:blipFill>
        <p:spPr>
          <a:xfrm>
            <a:off x="9382846" y="2721632"/>
            <a:ext cx="123551" cy="179710"/>
          </a:xfrm>
          <a:prstGeom prst="rect">
            <a:avLst/>
          </a:prstGeom>
        </p:spPr>
      </p:pic>
      <p:sp>
        <p:nvSpPr>
          <p:cNvPr id="48" name="TextBox 47"/>
          <p:cNvSpPr txBox="1"/>
          <p:nvPr/>
        </p:nvSpPr>
        <p:spPr>
          <a:xfrm>
            <a:off x="9543642" y="2731020"/>
            <a:ext cx="1896665" cy="179984"/>
          </a:xfrm>
          <a:prstGeom prst="rect">
            <a:avLst/>
          </a:prstGeom>
          <a:noFill/>
        </p:spPr>
        <p:txBody>
          <a:bodyPr wrap="none" lIns="0" rIns="0" tIns="0" bIns="0">
            <a:spAutoFit/>
          </a:bodyPr>
          <a:lstStyle/>
          <a:p>
            <a:r>
              <a:rPr sz="1055" b="0">
                <a:solidFill>
                  <a:srgbClr val="2E2E2E"/>
                </a:solidFill>
                <a:latin typeface="Calibri"/>
              </a:rPr>
              <a:t>of value across 6 regions, and the</a:t>
            </a:r>
          </a:p>
        </p:txBody>
      </p:sp>
      <p:sp>
        <p:nvSpPr>
          <p:cNvPr id="49" name="TextBox 48"/>
          <p:cNvSpPr txBox="1"/>
          <p:nvPr/>
        </p:nvSpPr>
        <p:spPr>
          <a:xfrm>
            <a:off x="1743075" y="2891954"/>
            <a:ext cx="4221622" cy="179984"/>
          </a:xfrm>
          <a:prstGeom prst="rect">
            <a:avLst/>
          </a:prstGeom>
          <a:noFill/>
        </p:spPr>
        <p:txBody>
          <a:bodyPr wrap="none" lIns="0" rIns="0" tIns="0" bIns="0">
            <a:spAutoFit/>
          </a:bodyPr>
          <a:lstStyle/>
          <a:p>
            <a:r>
              <a:rPr sz="1055" b="0">
                <a:solidFill>
                  <a:srgbClr val="2E2E2E"/>
                </a:solidFill>
                <a:latin typeface="Calibri"/>
              </a:rPr>
              <a:t>forecast is built from 21 segment breakdowns covering 2 product type lines.</a:t>
            </a:r>
          </a:p>
        </p:txBody>
      </p:sp>
      <p:sp>
        <p:nvSpPr>
          <p:cNvPr id="50" name="TextBox 49"/>
          <p:cNvSpPr txBox="1"/>
          <p:nvPr/>
        </p:nvSpPr>
        <p:spPr>
          <a:xfrm>
            <a:off x="1743075" y="3780609"/>
            <a:ext cx="1089374" cy="179984"/>
          </a:xfrm>
          <a:prstGeom prst="rect">
            <a:avLst/>
          </a:prstGeom>
          <a:noFill/>
        </p:spPr>
        <p:txBody>
          <a:bodyPr wrap="none" lIns="0" rIns="0" tIns="0" bIns="0">
            <a:spAutoFit/>
          </a:bodyPr>
          <a:lstStyle/>
          <a:p>
            <a:r>
              <a:rPr sz="1055" b="0">
                <a:solidFill>
                  <a:srgbClr val="2E2E2E"/>
                </a:solidFill>
                <a:latin typeface="Calibri"/>
              </a:rPr>
              <a:t>The market passes</a:t>
            </a:r>
          </a:p>
        </p:txBody>
      </p:sp>
      <p:pic>
        <p:nvPicPr>
          <p:cNvPr id="51" name="Picture 50" descr="lock.png"/>
          <p:cNvPicPr>
            <a:picLocks noChangeAspect="1"/>
          </p:cNvPicPr>
          <p:nvPr/>
        </p:nvPicPr>
        <p:blipFill>
          <a:blip r:embed="rId4"/>
          <a:stretch>
            <a:fillRect/>
          </a:stretch>
        </p:blipFill>
        <p:spPr>
          <a:xfrm>
            <a:off x="2779530" y="3771221"/>
            <a:ext cx="123551" cy="179710"/>
          </a:xfrm>
          <a:prstGeom prst="rect">
            <a:avLst/>
          </a:prstGeom>
        </p:spPr>
      </p:pic>
      <p:sp>
        <p:nvSpPr>
          <p:cNvPr id="52" name="TextBox 51"/>
          <p:cNvSpPr txBox="1"/>
          <p:nvPr/>
        </p:nvSpPr>
        <p:spPr>
          <a:xfrm>
            <a:off x="2940326" y="3780609"/>
            <a:ext cx="2945201" cy="179984"/>
          </a:xfrm>
          <a:prstGeom prst="rect">
            <a:avLst/>
          </a:prstGeom>
          <a:noFill/>
        </p:spPr>
        <p:txBody>
          <a:bodyPr wrap="none" lIns="0" rIns="0" tIns="0" bIns="0">
            <a:spAutoFit/>
          </a:bodyPr>
          <a:lstStyle/>
          <a:p>
            <a:r>
              <a:rPr sz="1055" b="0">
                <a:solidFill>
                  <a:srgbClr val="2E2E2E"/>
                </a:solidFill>
                <a:latin typeface="Calibri"/>
              </a:rPr>
              <a:t>US$ Mn one and a half times the 2026 base reaching</a:t>
            </a:r>
          </a:p>
        </p:txBody>
      </p:sp>
      <p:pic>
        <p:nvPicPr>
          <p:cNvPr id="53" name="Picture 52" descr="lock.png"/>
          <p:cNvPicPr>
            <a:picLocks noChangeAspect="1"/>
          </p:cNvPicPr>
          <p:nvPr/>
        </p:nvPicPr>
        <p:blipFill>
          <a:blip r:embed="rId4"/>
          <a:stretch>
            <a:fillRect/>
          </a:stretch>
        </p:blipFill>
        <p:spPr>
          <a:xfrm>
            <a:off x="5832609" y="3771221"/>
            <a:ext cx="123551" cy="179710"/>
          </a:xfrm>
          <a:prstGeom prst="rect">
            <a:avLst/>
          </a:prstGeom>
        </p:spPr>
      </p:pic>
      <p:sp>
        <p:nvSpPr>
          <p:cNvPr id="54" name="TextBox 53"/>
          <p:cNvSpPr txBox="1"/>
          <p:nvPr/>
        </p:nvSpPr>
        <p:spPr>
          <a:xfrm>
            <a:off x="5993405" y="3780609"/>
            <a:ext cx="3176754" cy="179984"/>
          </a:xfrm>
          <a:prstGeom prst="rect">
            <a:avLst/>
          </a:prstGeom>
          <a:noFill/>
        </p:spPr>
        <p:txBody>
          <a:bodyPr wrap="none" lIns="0" rIns="0" tIns="0" bIns="0">
            <a:spAutoFit/>
          </a:bodyPr>
          <a:lstStyle/>
          <a:p>
            <a:r>
              <a:rPr sz="1055" b="0">
                <a:solidFill>
                  <a:srgbClr val="2E2E2E"/>
                </a:solidFill>
                <a:latin typeface="Calibri"/>
              </a:rPr>
              <a:t>US$ Mn. Growth by this point is led by 'Sweet muffins' at</a:t>
            </a:r>
          </a:p>
        </p:txBody>
      </p:sp>
      <p:pic>
        <p:nvPicPr>
          <p:cNvPr id="55" name="Picture 54" descr="lock.png"/>
          <p:cNvPicPr>
            <a:picLocks noChangeAspect="1"/>
          </p:cNvPicPr>
          <p:nvPr/>
        </p:nvPicPr>
        <p:blipFill>
          <a:blip r:embed="rId4"/>
          <a:stretch>
            <a:fillRect/>
          </a:stretch>
        </p:blipFill>
        <p:spPr>
          <a:xfrm>
            <a:off x="9117241" y="3771221"/>
            <a:ext cx="123551" cy="179710"/>
          </a:xfrm>
          <a:prstGeom prst="rect">
            <a:avLst/>
          </a:prstGeom>
        </p:spPr>
      </p:pic>
      <p:sp>
        <p:nvSpPr>
          <p:cNvPr id="56" name="TextBox 55"/>
          <p:cNvSpPr txBox="1"/>
          <p:nvPr/>
        </p:nvSpPr>
        <p:spPr>
          <a:xfrm>
            <a:off x="9278037" y="3780609"/>
            <a:ext cx="2351110" cy="179984"/>
          </a:xfrm>
          <a:prstGeom prst="rect">
            <a:avLst/>
          </a:prstGeom>
          <a:noFill/>
        </p:spPr>
        <p:txBody>
          <a:bodyPr wrap="none" lIns="0" rIns="0" tIns="0" bIns="0">
            <a:spAutoFit/>
          </a:bodyPr>
          <a:lstStyle/>
          <a:p>
            <a:r>
              <a:rPr sz="1055" b="0">
                <a:solidFill>
                  <a:srgbClr val="2E2E2E"/>
                </a:solidFill>
                <a:latin typeface="Calibri"/>
              </a:rPr>
              <a:t>CAGR and by 'South Asia &amp; Pacific' among</a:t>
            </a:r>
          </a:p>
        </p:txBody>
      </p:sp>
      <p:sp>
        <p:nvSpPr>
          <p:cNvPr id="57" name="TextBox 56"/>
          <p:cNvSpPr txBox="1"/>
          <p:nvPr/>
        </p:nvSpPr>
        <p:spPr>
          <a:xfrm>
            <a:off x="1743075" y="3941543"/>
            <a:ext cx="617100" cy="179984"/>
          </a:xfrm>
          <a:prstGeom prst="rect">
            <a:avLst/>
          </a:prstGeom>
          <a:noFill/>
        </p:spPr>
        <p:txBody>
          <a:bodyPr wrap="none" lIns="0" rIns="0" tIns="0" bIns="0">
            <a:spAutoFit/>
          </a:bodyPr>
          <a:lstStyle/>
          <a:p>
            <a:r>
              <a:rPr sz="1055" b="0">
                <a:solidFill>
                  <a:srgbClr val="2E2E2E"/>
                </a:solidFill>
                <a:latin typeface="Calibri"/>
              </a:rPr>
              <a:t>regions at</a:t>
            </a:r>
          </a:p>
        </p:txBody>
      </p:sp>
      <p:pic>
        <p:nvPicPr>
          <p:cNvPr id="58" name="Picture 57" descr="lock.png"/>
          <p:cNvPicPr>
            <a:picLocks noChangeAspect="1"/>
          </p:cNvPicPr>
          <p:nvPr/>
        </p:nvPicPr>
        <p:blipFill>
          <a:blip r:embed="rId4"/>
          <a:stretch>
            <a:fillRect/>
          </a:stretch>
        </p:blipFill>
        <p:spPr>
          <a:xfrm>
            <a:off x="2307257" y="3932155"/>
            <a:ext cx="123551" cy="179710"/>
          </a:xfrm>
          <a:prstGeom prst="rect">
            <a:avLst/>
          </a:prstGeom>
        </p:spPr>
      </p:pic>
      <p:sp>
        <p:nvSpPr>
          <p:cNvPr id="59" name="TextBox 58"/>
          <p:cNvSpPr txBox="1"/>
          <p:nvPr/>
        </p:nvSpPr>
        <p:spPr>
          <a:xfrm>
            <a:off x="2468053" y="3941543"/>
            <a:ext cx="3178063" cy="179984"/>
          </a:xfrm>
          <a:prstGeom prst="rect">
            <a:avLst/>
          </a:prstGeom>
          <a:noFill/>
        </p:spPr>
        <p:txBody>
          <a:bodyPr wrap="none" lIns="0" rIns="0" tIns="0" bIns="0">
            <a:spAutoFit/>
          </a:bodyPr>
          <a:lstStyle/>
          <a:p>
            <a:r>
              <a:rPr sz="1055" b="0">
                <a:solidFill>
                  <a:srgbClr val="2E2E2E"/>
                </a:solidFill>
                <a:latin typeface="Calibri"/>
              </a:rPr>
              <a:t>, with 3 of 6 regions running at or above the market rate.</a:t>
            </a:r>
          </a:p>
        </p:txBody>
      </p:sp>
      <p:sp>
        <p:nvSpPr>
          <p:cNvPr id="60" name="TextBox 59"/>
          <p:cNvSpPr txBox="1"/>
          <p:nvPr/>
        </p:nvSpPr>
        <p:spPr>
          <a:xfrm>
            <a:off x="1743075" y="4830195"/>
            <a:ext cx="2190297" cy="179984"/>
          </a:xfrm>
          <a:prstGeom prst="rect">
            <a:avLst/>
          </a:prstGeom>
          <a:noFill/>
        </p:spPr>
        <p:txBody>
          <a:bodyPr wrap="none" lIns="0" rIns="0" tIns="0" bIns="0">
            <a:spAutoFit/>
          </a:bodyPr>
          <a:lstStyle/>
          <a:p>
            <a:r>
              <a:rPr sz="1055" b="0">
                <a:solidFill>
                  <a:srgbClr val="2E2E2E"/>
                </a:solidFill>
                <a:latin typeface="Calibri"/>
              </a:rPr>
              <a:t>Mid-horizon checkpoint: value reaches</a:t>
            </a:r>
          </a:p>
        </p:txBody>
      </p:sp>
      <p:pic>
        <p:nvPicPr>
          <p:cNvPr id="61" name="Picture 60" descr="lock.png"/>
          <p:cNvPicPr>
            <a:picLocks noChangeAspect="1"/>
          </p:cNvPicPr>
          <p:nvPr/>
        </p:nvPicPr>
        <p:blipFill>
          <a:blip r:embed="rId4"/>
          <a:stretch>
            <a:fillRect/>
          </a:stretch>
        </p:blipFill>
        <p:spPr>
          <a:xfrm>
            <a:off x="3880454" y="4820807"/>
            <a:ext cx="123551" cy="179710"/>
          </a:xfrm>
          <a:prstGeom prst="rect">
            <a:avLst/>
          </a:prstGeom>
        </p:spPr>
      </p:pic>
      <p:sp>
        <p:nvSpPr>
          <p:cNvPr id="62" name="TextBox 61"/>
          <p:cNvSpPr txBox="1"/>
          <p:nvPr/>
        </p:nvSpPr>
        <p:spPr>
          <a:xfrm>
            <a:off x="4041250" y="4830195"/>
            <a:ext cx="541139" cy="179984"/>
          </a:xfrm>
          <a:prstGeom prst="rect">
            <a:avLst/>
          </a:prstGeom>
          <a:noFill/>
        </p:spPr>
        <p:txBody>
          <a:bodyPr wrap="none" lIns="0" rIns="0" tIns="0" bIns="0">
            <a:spAutoFit/>
          </a:bodyPr>
          <a:lstStyle/>
          <a:p>
            <a:r>
              <a:rPr sz="1055" b="0">
                <a:solidFill>
                  <a:srgbClr val="2E2E2E"/>
                </a:solidFill>
                <a:latin typeface="Calibri"/>
              </a:rPr>
              <a:t>US$ Mn,</a:t>
            </a:r>
          </a:p>
        </p:txBody>
      </p:sp>
      <p:pic>
        <p:nvPicPr>
          <p:cNvPr id="63" name="Picture 62" descr="lock.png"/>
          <p:cNvPicPr>
            <a:picLocks noChangeAspect="1"/>
          </p:cNvPicPr>
          <p:nvPr/>
        </p:nvPicPr>
        <p:blipFill>
          <a:blip r:embed="rId4"/>
          <a:stretch>
            <a:fillRect/>
          </a:stretch>
        </p:blipFill>
        <p:spPr>
          <a:xfrm>
            <a:off x="4529470" y="4820807"/>
            <a:ext cx="123551" cy="179710"/>
          </a:xfrm>
          <a:prstGeom prst="rect">
            <a:avLst/>
          </a:prstGeom>
        </p:spPr>
      </p:pic>
      <p:sp>
        <p:nvSpPr>
          <p:cNvPr id="64" name="TextBox 63"/>
          <p:cNvSpPr txBox="1"/>
          <p:nvPr/>
        </p:nvSpPr>
        <p:spPr>
          <a:xfrm>
            <a:off x="4690266" y="4830195"/>
            <a:ext cx="2581333" cy="179984"/>
          </a:xfrm>
          <a:prstGeom prst="rect">
            <a:avLst/>
          </a:prstGeom>
          <a:noFill/>
        </p:spPr>
        <p:txBody>
          <a:bodyPr wrap="none" lIns="0" rIns="0" tIns="0" bIns="0">
            <a:spAutoFit/>
          </a:bodyPr>
          <a:lstStyle/>
          <a:p>
            <a:r>
              <a:rPr sz="1055" b="0">
                <a:solidFill>
                  <a:srgbClr val="2E2E2E"/>
                </a:solidFill>
                <a:latin typeface="Calibri"/>
              </a:rPr>
              <a:t>× the 2026 base. Average realisation stands at</a:t>
            </a:r>
          </a:p>
        </p:txBody>
      </p:sp>
      <p:pic>
        <p:nvPicPr>
          <p:cNvPr id="65" name="Picture 64" descr="lock.png"/>
          <p:cNvPicPr>
            <a:picLocks noChangeAspect="1"/>
          </p:cNvPicPr>
          <p:nvPr/>
        </p:nvPicPr>
        <p:blipFill>
          <a:blip r:embed="rId4"/>
          <a:stretch>
            <a:fillRect/>
          </a:stretch>
        </p:blipFill>
        <p:spPr>
          <a:xfrm>
            <a:off x="7218681" y="4820807"/>
            <a:ext cx="123551" cy="179710"/>
          </a:xfrm>
          <a:prstGeom prst="rect">
            <a:avLst/>
          </a:prstGeom>
        </p:spPr>
      </p:pic>
      <p:sp>
        <p:nvSpPr>
          <p:cNvPr id="66" name="TextBox 65"/>
          <p:cNvSpPr txBox="1"/>
          <p:nvPr/>
        </p:nvSpPr>
        <p:spPr>
          <a:xfrm>
            <a:off x="7379477" y="4830195"/>
            <a:ext cx="1740288" cy="179984"/>
          </a:xfrm>
          <a:prstGeom prst="rect">
            <a:avLst/>
          </a:prstGeom>
          <a:noFill/>
        </p:spPr>
        <p:txBody>
          <a:bodyPr wrap="none" lIns="0" rIns="0" tIns="0" bIns="0">
            <a:spAutoFit/>
          </a:bodyPr>
          <a:lstStyle/>
          <a:p>
            <a:r>
              <a:rPr sz="1055" b="0">
                <a:solidFill>
                  <a:srgbClr val="2E2E2E"/>
                </a:solidFill>
                <a:latin typeface="Calibri"/>
              </a:rPr>
              <a:t>US$/MT, and mix has moved +</a:t>
            </a:r>
          </a:p>
        </p:txBody>
      </p:sp>
      <p:pic>
        <p:nvPicPr>
          <p:cNvPr id="67" name="Picture 66" descr="lock.png"/>
          <p:cNvPicPr>
            <a:picLocks noChangeAspect="1"/>
          </p:cNvPicPr>
          <p:nvPr/>
        </p:nvPicPr>
        <p:blipFill>
          <a:blip r:embed="rId4"/>
          <a:stretch>
            <a:fillRect/>
          </a:stretch>
        </p:blipFill>
        <p:spPr>
          <a:xfrm>
            <a:off x="9066848" y="4820807"/>
            <a:ext cx="123551" cy="179710"/>
          </a:xfrm>
          <a:prstGeom prst="rect">
            <a:avLst/>
          </a:prstGeom>
        </p:spPr>
      </p:pic>
      <p:sp>
        <p:nvSpPr>
          <p:cNvPr id="68" name="TextBox 67"/>
          <p:cNvSpPr txBox="1"/>
          <p:nvPr/>
        </p:nvSpPr>
        <p:spPr>
          <a:xfrm>
            <a:off x="9227644" y="4830195"/>
            <a:ext cx="1898237" cy="179984"/>
          </a:xfrm>
          <a:prstGeom prst="rect">
            <a:avLst/>
          </a:prstGeom>
          <a:noFill/>
        </p:spPr>
        <p:txBody>
          <a:bodyPr wrap="none" lIns="0" rIns="0" tIns="0" bIns="0">
            <a:spAutoFit/>
          </a:bodyPr>
          <a:lstStyle/>
          <a:p>
            <a:r>
              <a:rPr sz="1055" b="0">
                <a:solidFill>
                  <a:srgbClr val="2E2E2E"/>
                </a:solidFill>
                <a:latin typeface="Calibri"/>
              </a:rPr>
              <a:t>BPS toward 'Sweet muffins' while</a:t>
            </a:r>
          </a:p>
        </p:txBody>
      </p:sp>
      <p:sp>
        <p:nvSpPr>
          <p:cNvPr id="69" name="TextBox 68"/>
          <p:cNvSpPr txBox="1"/>
          <p:nvPr/>
        </p:nvSpPr>
        <p:spPr>
          <a:xfrm>
            <a:off x="1743075" y="4991129"/>
            <a:ext cx="1489352" cy="179984"/>
          </a:xfrm>
          <a:prstGeom prst="rect">
            <a:avLst/>
          </a:prstGeom>
          <a:noFill/>
        </p:spPr>
        <p:txBody>
          <a:bodyPr wrap="none" lIns="0" rIns="0" tIns="0" bIns="0">
            <a:spAutoFit/>
          </a:bodyPr>
          <a:lstStyle/>
          <a:p>
            <a:r>
              <a:rPr sz="1055" b="0">
                <a:solidFill>
                  <a:srgbClr val="2E2E2E"/>
                </a:solidFill>
                <a:latin typeface="Calibri"/>
              </a:rPr>
              <a:t>'Savoury muffins' gives up</a:t>
            </a:r>
          </a:p>
        </p:txBody>
      </p:sp>
      <p:pic>
        <p:nvPicPr>
          <p:cNvPr id="70" name="Picture 69" descr="lock.png"/>
          <p:cNvPicPr>
            <a:picLocks noChangeAspect="1"/>
          </p:cNvPicPr>
          <p:nvPr/>
        </p:nvPicPr>
        <p:blipFill>
          <a:blip r:embed="rId4"/>
          <a:stretch>
            <a:fillRect/>
          </a:stretch>
        </p:blipFill>
        <p:spPr>
          <a:xfrm>
            <a:off x="3179509" y="4981741"/>
            <a:ext cx="123551" cy="179710"/>
          </a:xfrm>
          <a:prstGeom prst="rect">
            <a:avLst/>
          </a:prstGeom>
        </p:spPr>
      </p:pic>
      <p:sp>
        <p:nvSpPr>
          <p:cNvPr id="71" name="TextBox 70"/>
          <p:cNvSpPr txBox="1"/>
          <p:nvPr/>
        </p:nvSpPr>
        <p:spPr>
          <a:xfrm>
            <a:off x="3340305" y="4991129"/>
            <a:ext cx="314039" cy="179984"/>
          </a:xfrm>
          <a:prstGeom prst="rect">
            <a:avLst/>
          </a:prstGeom>
          <a:noFill/>
        </p:spPr>
        <p:txBody>
          <a:bodyPr wrap="none" lIns="0" rIns="0" tIns="0" bIns="0">
            <a:spAutoFit/>
          </a:bodyPr>
          <a:lstStyle/>
          <a:p>
            <a:r>
              <a:rPr sz="1055" b="0">
                <a:solidFill>
                  <a:srgbClr val="2E2E2E"/>
                </a:solidFill>
                <a:latin typeface="Calibri"/>
              </a:rPr>
              <a:t>BPS.</a:t>
            </a:r>
          </a:p>
        </p:txBody>
      </p:sp>
      <p:sp>
        <p:nvSpPr>
          <p:cNvPr id="72" name="TextBox 71"/>
          <p:cNvSpPr txBox="1"/>
          <p:nvPr/>
        </p:nvSpPr>
        <p:spPr>
          <a:xfrm>
            <a:off x="1743075" y="5879784"/>
            <a:ext cx="2544146" cy="179984"/>
          </a:xfrm>
          <a:prstGeom prst="rect">
            <a:avLst/>
          </a:prstGeom>
          <a:noFill/>
        </p:spPr>
        <p:txBody>
          <a:bodyPr wrap="none" lIns="0" rIns="0" tIns="0" bIns="0">
            <a:spAutoFit/>
          </a:bodyPr>
          <a:lstStyle/>
          <a:p>
            <a:r>
              <a:rPr sz="1055" b="0">
                <a:solidFill>
                  <a:srgbClr val="2E2E2E"/>
                </a:solidFill>
                <a:latin typeface="Calibri"/>
              </a:rPr>
              <a:t>Forecast outcome: the global market reaches</a:t>
            </a:r>
          </a:p>
        </p:txBody>
      </p:sp>
      <p:pic>
        <p:nvPicPr>
          <p:cNvPr id="73" name="Picture 72" descr="lock.png"/>
          <p:cNvPicPr>
            <a:picLocks noChangeAspect="1"/>
          </p:cNvPicPr>
          <p:nvPr/>
        </p:nvPicPr>
        <p:blipFill>
          <a:blip r:embed="rId4"/>
          <a:stretch>
            <a:fillRect/>
          </a:stretch>
        </p:blipFill>
        <p:spPr>
          <a:xfrm>
            <a:off x="4234303" y="5870396"/>
            <a:ext cx="123551" cy="179710"/>
          </a:xfrm>
          <a:prstGeom prst="rect">
            <a:avLst/>
          </a:prstGeom>
        </p:spPr>
      </p:pic>
      <p:sp>
        <p:nvSpPr>
          <p:cNvPr id="74" name="TextBox 73"/>
          <p:cNvSpPr txBox="1"/>
          <p:nvPr/>
        </p:nvSpPr>
        <p:spPr>
          <a:xfrm>
            <a:off x="4395098" y="5879784"/>
            <a:ext cx="635698" cy="179984"/>
          </a:xfrm>
          <a:prstGeom prst="rect">
            <a:avLst/>
          </a:prstGeom>
          <a:noFill/>
        </p:spPr>
        <p:txBody>
          <a:bodyPr wrap="none" lIns="0" rIns="0" tIns="0" bIns="0">
            <a:spAutoFit/>
          </a:bodyPr>
          <a:lstStyle/>
          <a:p>
            <a:r>
              <a:rPr sz="1055" b="0">
                <a:solidFill>
                  <a:srgbClr val="2E2E2E"/>
                </a:solidFill>
                <a:latin typeface="Calibri"/>
              </a:rPr>
              <a:t>US$ Mn, a</a:t>
            </a:r>
          </a:p>
        </p:txBody>
      </p:sp>
      <p:pic>
        <p:nvPicPr>
          <p:cNvPr id="75" name="Picture 74" descr="lock.png"/>
          <p:cNvPicPr>
            <a:picLocks noChangeAspect="1"/>
          </p:cNvPicPr>
          <p:nvPr/>
        </p:nvPicPr>
        <p:blipFill>
          <a:blip r:embed="rId4"/>
          <a:stretch>
            <a:fillRect/>
          </a:stretch>
        </p:blipFill>
        <p:spPr>
          <a:xfrm>
            <a:off x="4977879" y="5870396"/>
            <a:ext cx="123551" cy="179710"/>
          </a:xfrm>
          <a:prstGeom prst="rect">
            <a:avLst/>
          </a:prstGeom>
        </p:spPr>
      </p:pic>
      <p:sp>
        <p:nvSpPr>
          <p:cNvPr id="76" name="TextBox 75"/>
          <p:cNvSpPr txBox="1"/>
          <p:nvPr/>
        </p:nvSpPr>
        <p:spPr>
          <a:xfrm>
            <a:off x="5138675" y="5879784"/>
            <a:ext cx="1437751" cy="179984"/>
          </a:xfrm>
          <a:prstGeom prst="rect">
            <a:avLst/>
          </a:prstGeom>
          <a:noFill/>
        </p:spPr>
        <p:txBody>
          <a:bodyPr wrap="none" lIns="0" rIns="0" tIns="0" bIns="0">
            <a:spAutoFit/>
          </a:bodyPr>
          <a:lstStyle/>
          <a:p>
            <a:r>
              <a:rPr sz="1055" b="0">
                <a:solidFill>
                  <a:srgbClr val="2E2E2E"/>
                </a:solidFill>
                <a:latin typeface="Calibri"/>
              </a:rPr>
              <a:t>× expansion on 2026 and</a:t>
            </a:r>
          </a:p>
        </p:txBody>
      </p:sp>
      <p:pic>
        <p:nvPicPr>
          <p:cNvPr id="77" name="Picture 76" descr="lock.png"/>
          <p:cNvPicPr>
            <a:picLocks noChangeAspect="1"/>
          </p:cNvPicPr>
          <p:nvPr/>
        </p:nvPicPr>
        <p:blipFill>
          <a:blip r:embed="rId4"/>
          <a:stretch>
            <a:fillRect/>
          </a:stretch>
        </p:blipFill>
        <p:spPr>
          <a:xfrm>
            <a:off x="6523507" y="5870396"/>
            <a:ext cx="123551" cy="179710"/>
          </a:xfrm>
          <a:prstGeom prst="rect">
            <a:avLst/>
          </a:prstGeom>
        </p:spPr>
      </p:pic>
      <p:sp>
        <p:nvSpPr>
          <p:cNvPr id="78" name="TextBox 77"/>
          <p:cNvSpPr txBox="1"/>
          <p:nvPr/>
        </p:nvSpPr>
        <p:spPr>
          <a:xfrm>
            <a:off x="6684303" y="5879784"/>
            <a:ext cx="1799224" cy="179984"/>
          </a:xfrm>
          <a:prstGeom prst="rect">
            <a:avLst/>
          </a:prstGeom>
          <a:noFill/>
        </p:spPr>
        <p:txBody>
          <a:bodyPr wrap="none" lIns="0" rIns="0" tIns="0" bIns="0">
            <a:spAutoFit/>
          </a:bodyPr>
          <a:lstStyle/>
          <a:p>
            <a:r>
              <a:rPr sz="1055" b="0">
                <a:solidFill>
                  <a:srgbClr val="2E2E2E"/>
                </a:solidFill>
                <a:latin typeface="Calibri"/>
              </a:rPr>
              <a:t>US$ Mn of incremental value at</a:t>
            </a:r>
          </a:p>
        </p:txBody>
      </p:sp>
      <p:pic>
        <p:nvPicPr>
          <p:cNvPr id="79" name="Picture 78" descr="lock.png"/>
          <p:cNvPicPr>
            <a:picLocks noChangeAspect="1"/>
          </p:cNvPicPr>
          <p:nvPr/>
        </p:nvPicPr>
        <p:blipFill>
          <a:blip r:embed="rId4"/>
          <a:stretch>
            <a:fillRect/>
          </a:stretch>
        </p:blipFill>
        <p:spPr>
          <a:xfrm>
            <a:off x="8430610" y="5870396"/>
            <a:ext cx="123551" cy="179710"/>
          </a:xfrm>
          <a:prstGeom prst="rect">
            <a:avLst/>
          </a:prstGeom>
        </p:spPr>
      </p:pic>
      <p:sp>
        <p:nvSpPr>
          <p:cNvPr id="80" name="TextBox 79"/>
          <p:cNvSpPr txBox="1"/>
          <p:nvPr/>
        </p:nvSpPr>
        <p:spPr>
          <a:xfrm>
            <a:off x="8591406" y="5879784"/>
            <a:ext cx="1678717" cy="179984"/>
          </a:xfrm>
          <a:prstGeom prst="rect">
            <a:avLst/>
          </a:prstGeom>
          <a:noFill/>
        </p:spPr>
        <p:txBody>
          <a:bodyPr wrap="none" lIns="0" rIns="0" tIns="0" bIns="0">
            <a:spAutoFit/>
          </a:bodyPr>
          <a:lstStyle/>
          <a:p>
            <a:r>
              <a:rPr sz="1055" b="0">
                <a:solidFill>
                  <a:srgbClr val="2E2E2E"/>
                </a:solidFill>
                <a:latin typeface="Calibri"/>
              </a:rPr>
              <a:t>CAGR. Volume compounds at</a:t>
            </a:r>
          </a:p>
        </p:txBody>
      </p:sp>
      <p:pic>
        <p:nvPicPr>
          <p:cNvPr id="81" name="Picture 80" descr="lock.png"/>
          <p:cNvPicPr>
            <a:picLocks noChangeAspect="1"/>
          </p:cNvPicPr>
          <p:nvPr/>
        </p:nvPicPr>
        <p:blipFill>
          <a:blip r:embed="rId4"/>
          <a:stretch>
            <a:fillRect/>
          </a:stretch>
        </p:blipFill>
        <p:spPr>
          <a:xfrm>
            <a:off x="10217204" y="5870396"/>
            <a:ext cx="123551" cy="179710"/>
          </a:xfrm>
          <a:prstGeom prst="rect">
            <a:avLst/>
          </a:prstGeom>
        </p:spPr>
      </p:pic>
      <p:sp>
        <p:nvSpPr>
          <p:cNvPr id="82" name="TextBox 81"/>
          <p:cNvSpPr txBox="1"/>
          <p:nvPr/>
        </p:nvSpPr>
        <p:spPr>
          <a:xfrm>
            <a:off x="10378000" y="5879784"/>
            <a:ext cx="854678" cy="179984"/>
          </a:xfrm>
          <a:prstGeom prst="rect">
            <a:avLst/>
          </a:prstGeom>
          <a:noFill/>
        </p:spPr>
        <p:txBody>
          <a:bodyPr wrap="none" lIns="0" rIns="0" tIns="0" bIns="0">
            <a:spAutoFit/>
          </a:bodyPr>
          <a:lstStyle/>
          <a:p>
            <a:r>
              <a:rPr sz="1055" b="0">
                <a:solidFill>
                  <a:srgbClr val="2E2E2E"/>
                </a:solidFill>
                <a:latin typeface="Calibri"/>
              </a:rPr>
              <a:t>over the same</a:t>
            </a:r>
          </a:p>
        </p:txBody>
      </p:sp>
      <p:sp>
        <p:nvSpPr>
          <p:cNvPr id="83" name="TextBox 82"/>
          <p:cNvSpPr txBox="1"/>
          <p:nvPr/>
        </p:nvSpPr>
        <p:spPr>
          <a:xfrm>
            <a:off x="1743075" y="6040718"/>
            <a:ext cx="1565052" cy="179984"/>
          </a:xfrm>
          <a:prstGeom prst="rect">
            <a:avLst/>
          </a:prstGeom>
          <a:noFill/>
        </p:spPr>
        <p:txBody>
          <a:bodyPr wrap="none" lIns="0" rIns="0" tIns="0" bIns="0">
            <a:spAutoFit/>
          </a:bodyPr>
          <a:lstStyle/>
          <a:p>
            <a:r>
              <a:rPr sz="1055" b="0">
                <a:solidFill>
                  <a:srgbClr val="2E2E2E"/>
                </a:solidFill>
                <a:latin typeface="Calibri"/>
              </a:rPr>
              <a:t>window, leaving realisation</a:t>
            </a:r>
          </a:p>
        </p:txBody>
      </p:sp>
      <p:pic>
        <p:nvPicPr>
          <p:cNvPr id="84" name="Picture 83" descr="lock.png"/>
          <p:cNvPicPr>
            <a:picLocks noChangeAspect="1"/>
          </p:cNvPicPr>
          <p:nvPr/>
        </p:nvPicPr>
        <p:blipFill>
          <a:blip r:embed="rId4"/>
          <a:stretch>
            <a:fillRect/>
          </a:stretch>
        </p:blipFill>
        <p:spPr>
          <a:xfrm>
            <a:off x="3255209" y="6031330"/>
            <a:ext cx="123551" cy="179710"/>
          </a:xfrm>
          <a:prstGeom prst="rect">
            <a:avLst/>
          </a:prstGeom>
        </p:spPr>
      </p:pic>
      <p:sp>
        <p:nvSpPr>
          <p:cNvPr id="85" name="TextBox 84"/>
          <p:cNvSpPr txBox="1"/>
          <p:nvPr/>
        </p:nvSpPr>
        <p:spPr>
          <a:xfrm>
            <a:off x="3416005" y="6040718"/>
            <a:ext cx="4255412" cy="179984"/>
          </a:xfrm>
          <a:prstGeom prst="rect">
            <a:avLst/>
          </a:prstGeom>
          <a:noFill/>
        </p:spPr>
        <p:txBody>
          <a:bodyPr wrap="none" lIns="0" rIns="0" t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5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Packaged Muffins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2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2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5010150" y="3480637"/>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5010150" y="4165151"/>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5" name="TextBox 54"/>
          <p:cNvSpPr txBox="1"/>
          <p:nvPr/>
        </p:nvSpPr>
        <p:spPr>
          <a:xfrm>
            <a:off x="977265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6" name="TextBox 55"/>
          <p:cNvSpPr txBox="1"/>
          <p:nvPr/>
        </p:nvSpPr>
        <p:spPr>
          <a:xfrm>
            <a:off x="9772650" y="434768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171450" y="1069470"/>
            <a:ext cx="10006359" cy="186689"/>
          </a:xfrm>
          <a:prstGeom prst="rect">
            <a:avLst/>
          </a:prstGeom>
          <a:noFill/>
        </p:spPr>
        <p:txBody>
          <a:bodyPr wrap="none" lIns="0" rIns="0" tIns="0" bIns="0">
            <a:spAutoFit/>
          </a:bodyPr>
          <a:lstStyle/>
          <a:p>
            <a:r>
              <a:rPr sz="1100" b="0">
                <a:solidFill>
                  <a:srgbClr val="6C7A89"/>
                </a:solidFill>
                <a:latin typeface="Calibri"/>
              </a:rPr>
              <a:t>Supplier power, buyer power, competitive intensity, substitution and entry barriers scored from the global dataset 2 product type lines, 3 sales channel routes and 6 regions at</a:t>
            </a:r>
          </a:p>
        </p:txBody>
      </p:sp>
      <p:pic>
        <p:nvPicPr>
          <p:cNvPr id="59" name="Picture 58" descr="lock.png"/>
          <p:cNvPicPr>
            <a:picLocks noChangeAspect="1"/>
          </p:cNvPicPr>
          <p:nvPr/>
        </p:nvPicPr>
        <p:blipFill>
          <a:blip r:embed="rId4"/>
          <a:stretch>
            <a:fillRect/>
          </a:stretch>
        </p:blipFill>
        <p:spPr>
          <a:xfrm>
            <a:off x="10125861" y="1059691"/>
            <a:ext cx="128699" cy="187198"/>
          </a:xfrm>
          <a:prstGeom prst="rect">
            <a:avLst/>
          </a:prstGeom>
        </p:spPr>
      </p:pic>
      <p:sp>
        <p:nvSpPr>
          <p:cNvPr id="60" name="TextBox 59"/>
          <p:cNvSpPr txBox="1"/>
          <p:nvPr/>
        </p:nvSpPr>
        <p:spPr>
          <a:xfrm>
            <a:off x="10293357" y="1069470"/>
            <a:ext cx="430617" cy="186689"/>
          </a:xfrm>
          <a:prstGeom prst="rect">
            <a:avLst/>
          </a:prstGeom>
          <a:noFill/>
        </p:spPr>
        <p:txBody>
          <a:bodyPr wrap="none" lIns="0" rIns="0" tIns="0" bIns="0">
            <a:spAutoFit/>
          </a:bodyPr>
          <a:lstStyle/>
          <a:p>
            <a:r>
              <a:rPr sz="1100" b="0">
                <a:solidFill>
                  <a:srgbClr val="6C7A89"/>
                </a:solidFill>
                <a:latin typeface="Calibri"/>
              </a:rPr>
              <a:t>CAGR.</a:t>
            </a:r>
          </a:p>
        </p:txBody>
      </p:sp>
      <p:sp>
        <p:nvSpPr>
          <p:cNvPr id="61" name="TextBox 60"/>
          <p:cNvSpPr txBox="1"/>
          <p:nvPr/>
        </p:nvSpPr>
        <p:spPr>
          <a:xfrm>
            <a:off x="276225" y="2848734"/>
            <a:ext cx="2114550" cy="186689"/>
          </a:xfrm>
          <a:prstGeom prst="rect">
            <a:avLst/>
          </a:prstGeom>
          <a:noFill/>
        </p:spPr>
        <p:txBody>
          <a:bodyPr wrap="none" lIns="0" rIns="0" tIns="0" bIns="0">
            <a:spAutoFit/>
          </a:bodyPr>
          <a:lstStyle/>
          <a:p>
            <a:r>
              <a:rPr sz="1100" b="0">
                <a:solidFill>
                  <a:srgbClr val="2E2E2E"/>
                </a:solidFill>
                <a:latin typeface="Calibri"/>
              </a:rPr>
              <a:t>▸ Assessed moderate to high. 'North</a:t>
            </a:r>
          </a:p>
        </p:txBody>
      </p:sp>
      <p:sp>
        <p:nvSpPr>
          <p:cNvPr id="62" name="TextBox 61"/>
          <p:cNvSpPr txBox="1"/>
          <p:nvPr/>
        </p:nvSpPr>
        <p:spPr>
          <a:xfrm>
            <a:off x="276225" y="3016374"/>
            <a:ext cx="1071016" cy="186689"/>
          </a:xfrm>
          <a:prstGeom prst="rect">
            <a:avLst/>
          </a:prstGeom>
          <a:noFill/>
        </p:spPr>
        <p:txBody>
          <a:bodyPr wrap="none" lIns="0" rIns="0" tIns="0" bIns="0">
            <a:spAutoFit/>
          </a:bodyPr>
          <a:lstStyle/>
          <a:p>
            <a:r>
              <a:rPr sz="1100" b="0">
                <a:solidFill>
                  <a:srgbClr val="2E2E2E"/>
                </a:solidFill>
                <a:latin typeface="Calibri"/>
              </a:rPr>
              <a:t>America' supplies</a:t>
            </a:r>
          </a:p>
        </p:txBody>
      </p:sp>
      <p:pic>
        <p:nvPicPr>
          <p:cNvPr id="63" name="Picture 62" descr="lock.png"/>
          <p:cNvPicPr>
            <a:picLocks noChangeAspect="1"/>
          </p:cNvPicPr>
          <p:nvPr/>
        </p:nvPicPr>
        <p:blipFill>
          <a:blip r:embed="rId4"/>
          <a:stretch>
            <a:fillRect/>
          </a:stretch>
        </p:blipFill>
        <p:spPr>
          <a:xfrm>
            <a:off x="1295293" y="3006595"/>
            <a:ext cx="128699" cy="187198"/>
          </a:xfrm>
          <a:prstGeom prst="rect">
            <a:avLst/>
          </a:prstGeom>
        </p:spPr>
      </p:pic>
      <p:sp>
        <p:nvSpPr>
          <p:cNvPr id="64" name="TextBox 63"/>
          <p:cNvSpPr txBox="1"/>
          <p:nvPr/>
        </p:nvSpPr>
        <p:spPr>
          <a:xfrm>
            <a:off x="1462789" y="3016374"/>
            <a:ext cx="844549"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65" name="TextBox 64"/>
          <p:cNvSpPr txBox="1"/>
          <p:nvPr/>
        </p:nvSpPr>
        <p:spPr>
          <a:xfrm>
            <a:off x="276225" y="3184014"/>
            <a:ext cx="1842095" cy="186689"/>
          </a:xfrm>
          <a:prstGeom prst="rect">
            <a:avLst/>
          </a:prstGeom>
          <a:noFill/>
        </p:spPr>
        <p:txBody>
          <a:bodyPr wrap="none" lIns="0" rIns="0" tIns="0" bIns="0">
            <a:spAutoFit/>
          </a:bodyPr>
          <a:lstStyle/>
          <a:p>
            <a:r>
              <a:rPr sz="1100" b="0">
                <a:solidFill>
                  <a:srgbClr val="2E2E2E"/>
                </a:solidFill>
                <a:latin typeface="Calibri"/>
              </a:rPr>
              <a:t>across 6 regions, concentrating</a:t>
            </a:r>
          </a:p>
        </p:txBody>
      </p:sp>
      <p:sp>
        <p:nvSpPr>
          <p:cNvPr id="66" name="TextBox 65"/>
          <p:cNvSpPr txBox="1"/>
          <p:nvPr/>
        </p:nvSpPr>
        <p:spPr>
          <a:xfrm>
            <a:off x="276225" y="3351654"/>
            <a:ext cx="1173608" cy="186689"/>
          </a:xfrm>
          <a:prstGeom prst="rect">
            <a:avLst/>
          </a:prstGeom>
          <a:noFill/>
        </p:spPr>
        <p:txBody>
          <a:bodyPr wrap="none" lIns="0" rIns="0" tIns="0" bIns="0">
            <a:spAutoFit/>
          </a:bodyPr>
          <a:lstStyle/>
          <a:p>
            <a:r>
              <a:rPr sz="1100" b="0">
                <a:solidFill>
                  <a:srgbClr val="2E2E2E"/>
                </a:solidFill>
                <a:latin typeface="Calibri"/>
              </a:rPr>
              <a:t>upstream leverage.</a:t>
            </a:r>
          </a:p>
        </p:txBody>
      </p:sp>
      <p:sp>
        <p:nvSpPr>
          <p:cNvPr id="67" name="TextBox 66"/>
          <p:cNvSpPr txBox="1"/>
          <p:nvPr/>
        </p:nvSpPr>
        <p:spPr>
          <a:xfrm>
            <a:off x="276225" y="3799605"/>
            <a:ext cx="1676163" cy="186689"/>
          </a:xfrm>
          <a:prstGeom prst="rect">
            <a:avLst/>
          </a:prstGeom>
          <a:noFill/>
        </p:spPr>
        <p:txBody>
          <a:bodyPr wrap="none" lIns="0" rIns="0" tIns="0" bIns="0">
            <a:spAutoFit/>
          </a:bodyPr>
          <a:lstStyle/>
          <a:p>
            <a:r>
              <a:rPr sz="1100" b="0">
                <a:solidFill>
                  <a:srgbClr val="2E2E2E"/>
                </a:solidFill>
                <a:latin typeface="Calibri"/>
              </a:rPr>
              <a:t>▸ Average realisation moves</a:t>
            </a:r>
          </a:p>
        </p:txBody>
      </p:sp>
      <p:pic>
        <p:nvPicPr>
          <p:cNvPr id="68" name="Picture 67" descr="lock.png"/>
          <p:cNvPicPr>
            <a:picLocks noChangeAspect="1"/>
          </p:cNvPicPr>
          <p:nvPr/>
        </p:nvPicPr>
        <p:blipFill>
          <a:blip r:embed="rId4"/>
          <a:stretch>
            <a:fillRect/>
          </a:stretch>
        </p:blipFill>
        <p:spPr>
          <a:xfrm>
            <a:off x="1900439" y="3789826"/>
            <a:ext cx="128699" cy="187198"/>
          </a:xfrm>
          <a:prstGeom prst="rect">
            <a:avLst/>
          </a:prstGeom>
        </p:spPr>
      </p:pic>
      <p:sp>
        <p:nvSpPr>
          <p:cNvPr id="69" name="TextBox 68"/>
          <p:cNvSpPr txBox="1"/>
          <p:nvPr/>
        </p:nvSpPr>
        <p:spPr>
          <a:xfrm>
            <a:off x="2067935" y="3799605"/>
            <a:ext cx="143048" cy="186689"/>
          </a:xfrm>
          <a:prstGeom prst="rect">
            <a:avLst/>
          </a:prstGeom>
          <a:noFill/>
        </p:spPr>
        <p:txBody>
          <a:bodyPr wrap="none" lIns="0" rIns="0" tIns="0" bIns="0">
            <a:spAutoFit/>
          </a:bodyPr>
          <a:lstStyle/>
          <a:p>
            <a:r>
              <a:rPr sz="1100" b="0">
                <a:solidFill>
                  <a:srgbClr val="2E2E2E"/>
                </a:solidFill>
                <a:latin typeface="Calibri"/>
              </a:rPr>
              <a:t>a</a:t>
            </a:r>
          </a:p>
        </p:txBody>
      </p:sp>
      <p:sp>
        <p:nvSpPr>
          <p:cNvPr id="70" name="TextBox 69"/>
          <p:cNvSpPr txBox="1"/>
          <p:nvPr/>
        </p:nvSpPr>
        <p:spPr>
          <a:xfrm>
            <a:off x="276225" y="3967245"/>
            <a:ext cx="2031181" cy="186689"/>
          </a:xfrm>
          <a:prstGeom prst="rect">
            <a:avLst/>
          </a:prstGeom>
          <a:noFill/>
        </p:spPr>
        <p:txBody>
          <a:bodyPr wrap="none" lIns="0" rIns="0" tIns="0" bIns="0">
            <a:spAutoFit/>
          </a:bodyPr>
          <a:lstStyle/>
          <a:p>
            <a:r>
              <a:rPr sz="1100" b="0">
                <a:solidFill>
                  <a:srgbClr val="2E2E2E"/>
                </a:solidFill>
                <a:latin typeface="Calibri"/>
              </a:rPr>
              <a:t>year (2026–2036), indicating input</a:t>
            </a:r>
          </a:p>
        </p:txBody>
      </p:sp>
      <p:sp>
        <p:nvSpPr>
          <p:cNvPr id="71" name="TextBox 70"/>
          <p:cNvSpPr txBox="1"/>
          <p:nvPr/>
        </p:nvSpPr>
        <p:spPr>
          <a:xfrm>
            <a:off x="276225" y="4134885"/>
            <a:ext cx="1874291" cy="186689"/>
          </a:xfrm>
          <a:prstGeom prst="rect">
            <a:avLst/>
          </a:prstGeom>
          <a:noFill/>
        </p:spPr>
        <p:txBody>
          <a:bodyPr wrap="none" lIns="0" rIns="0" tIns="0" bIns="0">
            <a:spAutoFit/>
          </a:bodyPr>
          <a:lstStyle/>
          <a:p>
            <a:r>
              <a:rPr sz="1100" b="0">
                <a:solidFill>
                  <a:srgbClr val="2E2E2E"/>
                </a:solidFill>
                <a:latin typeface="Calibri"/>
              </a:rPr>
              <a:t>costs are being passed through.</a:t>
            </a:r>
          </a:p>
        </p:txBody>
      </p:sp>
      <p:sp>
        <p:nvSpPr>
          <p:cNvPr id="72" name="TextBox 71"/>
          <p:cNvSpPr txBox="1"/>
          <p:nvPr/>
        </p:nvSpPr>
        <p:spPr>
          <a:xfrm>
            <a:off x="2657475" y="2848734"/>
            <a:ext cx="1830089" cy="186689"/>
          </a:xfrm>
          <a:prstGeom prst="rect">
            <a:avLst/>
          </a:prstGeom>
          <a:noFill/>
        </p:spPr>
        <p:txBody>
          <a:bodyPr wrap="none" lIns="0" rIns="0" tIns="0" bIns="0">
            <a:spAutoFit/>
          </a:bodyPr>
          <a:lstStyle/>
          <a:p>
            <a:r>
              <a:rPr sz="1100" b="0">
                <a:solidFill>
                  <a:srgbClr val="2E2E2E"/>
                </a:solidFill>
                <a:latin typeface="Calibri"/>
              </a:rPr>
              <a:t>▸ Assessed moderate. Demand</a:t>
            </a:r>
          </a:p>
        </p:txBody>
      </p:sp>
      <p:sp>
        <p:nvSpPr>
          <p:cNvPr id="73" name="TextBox 72"/>
          <p:cNvSpPr txBox="1"/>
          <p:nvPr/>
        </p:nvSpPr>
        <p:spPr>
          <a:xfrm>
            <a:off x="2657475" y="3016374"/>
            <a:ext cx="1821904" cy="186689"/>
          </a:xfrm>
          <a:prstGeom prst="rect">
            <a:avLst/>
          </a:prstGeom>
          <a:noFill/>
        </p:spPr>
        <p:txBody>
          <a:bodyPr wrap="none" lIns="0" rIns="0" tIns="0" bIns="0">
            <a:spAutoFit/>
          </a:bodyPr>
          <a:lstStyle/>
          <a:p>
            <a:r>
              <a:rPr sz="1100" b="0">
                <a:solidFill>
                  <a:srgbClr val="2E2E2E"/>
                </a:solidFill>
                <a:latin typeface="Calibri"/>
              </a:rPr>
              <a:t>routes through 3 sales channel</a:t>
            </a:r>
          </a:p>
        </p:txBody>
      </p:sp>
      <p:sp>
        <p:nvSpPr>
          <p:cNvPr id="74" name="TextBox 73"/>
          <p:cNvSpPr txBox="1"/>
          <p:nvPr/>
        </p:nvSpPr>
        <p:spPr>
          <a:xfrm>
            <a:off x="2657475" y="3184014"/>
            <a:ext cx="1516310" cy="186689"/>
          </a:xfrm>
          <a:prstGeom prst="rect">
            <a:avLst/>
          </a:prstGeom>
          <a:noFill/>
        </p:spPr>
        <p:txBody>
          <a:bodyPr wrap="none" lIns="0" rIns="0" tIns="0" bIns="0">
            <a:spAutoFit/>
          </a:bodyPr>
          <a:lstStyle/>
          <a:p>
            <a:r>
              <a:rPr sz="1100" b="0">
                <a:solidFill>
                  <a:srgbClr val="2E2E2E"/>
                </a:solidFill>
                <a:latin typeface="Calibri"/>
              </a:rPr>
              <a:t>channels led by 'Retail' at</a:t>
            </a:r>
          </a:p>
        </p:txBody>
      </p:sp>
      <p:pic>
        <p:nvPicPr>
          <p:cNvPr id="75" name="Picture 74" descr="lock.png"/>
          <p:cNvPicPr>
            <a:picLocks noChangeAspect="1"/>
          </p:cNvPicPr>
          <p:nvPr/>
        </p:nvPicPr>
        <p:blipFill>
          <a:blip r:embed="rId4"/>
          <a:stretch>
            <a:fillRect/>
          </a:stretch>
        </p:blipFill>
        <p:spPr>
          <a:xfrm>
            <a:off x="4121837" y="3174235"/>
            <a:ext cx="128699" cy="187198"/>
          </a:xfrm>
          <a:prstGeom prst="rect">
            <a:avLst/>
          </a:prstGeom>
        </p:spPr>
      </p:pic>
      <p:sp>
        <p:nvSpPr>
          <p:cNvPr id="76" name="TextBox 75"/>
          <p:cNvSpPr txBox="1"/>
          <p:nvPr/>
        </p:nvSpPr>
        <p:spPr>
          <a:xfrm>
            <a:off x="4289332" y="3184014"/>
            <a:ext cx="475108" cy="186689"/>
          </a:xfrm>
          <a:prstGeom prst="rect">
            <a:avLst/>
          </a:prstGeom>
          <a:noFill/>
        </p:spPr>
        <p:txBody>
          <a:bodyPr wrap="none" lIns="0" rIns="0" tIns="0" bIns="0">
            <a:spAutoFit/>
          </a:bodyPr>
          <a:lstStyle/>
          <a:p>
            <a:r>
              <a:rPr sz="1100" b="0">
                <a:solidFill>
                  <a:srgbClr val="2E2E2E"/>
                </a:solidFill>
                <a:latin typeface="Calibri"/>
              </a:rPr>
              <a:t>, giving</a:t>
            </a:r>
          </a:p>
        </p:txBody>
      </p:sp>
      <p:sp>
        <p:nvSpPr>
          <p:cNvPr id="77" name="TextBox 76"/>
          <p:cNvSpPr txBox="1"/>
          <p:nvPr/>
        </p:nvSpPr>
        <p:spPr>
          <a:xfrm>
            <a:off x="2657475" y="3351654"/>
            <a:ext cx="1123404" cy="186689"/>
          </a:xfrm>
          <a:prstGeom prst="rect">
            <a:avLst/>
          </a:prstGeom>
          <a:noFill/>
        </p:spPr>
        <p:txBody>
          <a:bodyPr wrap="none" lIns="0" rIns="0" tIns="0" bIns="0">
            <a:spAutoFit/>
          </a:bodyPr>
          <a:lstStyle/>
          <a:p>
            <a:r>
              <a:rPr sz="1100" b="0">
                <a:solidFill>
                  <a:srgbClr val="2E2E2E"/>
                </a:solidFill>
                <a:latin typeface="Calibri"/>
              </a:rPr>
              <a:t>large buyers scale.</a:t>
            </a:r>
          </a:p>
        </p:txBody>
      </p:sp>
      <p:sp>
        <p:nvSpPr>
          <p:cNvPr id="78" name="TextBox 77"/>
          <p:cNvSpPr txBox="1"/>
          <p:nvPr/>
        </p:nvSpPr>
        <p:spPr>
          <a:xfrm>
            <a:off x="2657475" y="3708336"/>
            <a:ext cx="2062013" cy="186689"/>
          </a:xfrm>
          <a:prstGeom prst="rect">
            <a:avLst/>
          </a:prstGeom>
          <a:noFill/>
        </p:spPr>
        <p:txBody>
          <a:bodyPr wrap="none" lIns="0" rIns="0" tIns="0" bIns="0">
            <a:spAutoFit/>
          </a:bodyPr>
          <a:lstStyle/>
          <a:p>
            <a:r>
              <a:rPr sz="1100" b="0">
                <a:solidFill>
                  <a:srgbClr val="2E2E2E"/>
                </a:solidFill>
                <a:latin typeface="Calibri"/>
              </a:rPr>
              <a:t>▸ Price sensitivity tracks realisation</a:t>
            </a:r>
          </a:p>
        </p:txBody>
      </p:sp>
      <p:sp>
        <p:nvSpPr>
          <p:cNvPr id="79" name="TextBox 78"/>
          <p:cNvSpPr txBox="1"/>
          <p:nvPr/>
        </p:nvSpPr>
        <p:spPr>
          <a:xfrm>
            <a:off x="2657475" y="3875976"/>
            <a:ext cx="495845" cy="186689"/>
          </a:xfrm>
          <a:prstGeom prst="rect">
            <a:avLst/>
          </a:prstGeom>
          <a:noFill/>
        </p:spPr>
        <p:txBody>
          <a:bodyPr wrap="none" lIns="0" rIns="0" tIns="0" bIns="0">
            <a:spAutoFit/>
          </a:bodyPr>
          <a:lstStyle/>
          <a:p>
            <a:r>
              <a:rPr sz="1100" b="0">
                <a:solidFill>
                  <a:srgbClr val="2E2E2E"/>
                </a:solidFill>
                <a:latin typeface="Calibri"/>
              </a:rPr>
              <a:t>moving</a:t>
            </a:r>
          </a:p>
        </p:txBody>
      </p:sp>
      <p:pic>
        <p:nvPicPr>
          <p:cNvPr id="80" name="Picture 79" descr="lock.png"/>
          <p:cNvPicPr>
            <a:picLocks noChangeAspect="1"/>
          </p:cNvPicPr>
          <p:nvPr/>
        </p:nvPicPr>
        <p:blipFill>
          <a:blip r:embed="rId4"/>
          <a:stretch>
            <a:fillRect/>
          </a:stretch>
        </p:blipFill>
        <p:spPr>
          <a:xfrm>
            <a:off x="3101372" y="3866197"/>
            <a:ext cx="128699" cy="187198"/>
          </a:xfrm>
          <a:prstGeom prst="rect">
            <a:avLst/>
          </a:prstGeom>
        </p:spPr>
      </p:pic>
      <p:sp>
        <p:nvSpPr>
          <p:cNvPr id="81" name="TextBox 80"/>
          <p:cNvSpPr txBox="1"/>
          <p:nvPr/>
        </p:nvSpPr>
        <p:spPr>
          <a:xfrm>
            <a:off x="3268868" y="3875976"/>
            <a:ext cx="1316583" cy="186689"/>
          </a:xfrm>
          <a:prstGeom prst="rect">
            <a:avLst/>
          </a:prstGeom>
          <a:noFill/>
        </p:spPr>
        <p:txBody>
          <a:bodyPr wrap="none" lIns="0" rIns="0" tIns="0" bIns="0">
            <a:spAutoFit/>
          </a:bodyPr>
          <a:lstStyle/>
          <a:p>
            <a:r>
              <a:rPr sz="1100" b="0">
                <a:solidFill>
                  <a:srgbClr val="2E2E2E"/>
                </a:solidFill>
                <a:latin typeface="Calibri"/>
              </a:rPr>
              <a:t>a year against volume</a:t>
            </a:r>
          </a:p>
        </p:txBody>
      </p:sp>
      <p:sp>
        <p:nvSpPr>
          <p:cNvPr id="82" name="TextBox 81"/>
          <p:cNvSpPr txBox="1"/>
          <p:nvPr/>
        </p:nvSpPr>
        <p:spPr>
          <a:xfrm>
            <a:off x="2657475" y="4043616"/>
            <a:ext cx="632544" cy="186689"/>
          </a:xfrm>
          <a:prstGeom prst="rect">
            <a:avLst/>
          </a:prstGeom>
          <a:noFill/>
        </p:spPr>
        <p:txBody>
          <a:bodyPr wrap="none" lIns="0" rIns="0" tIns="0" bIns="0">
            <a:spAutoFit/>
          </a:bodyPr>
          <a:lstStyle/>
          <a:p>
            <a:r>
              <a:rPr sz="1100" b="0">
                <a:solidFill>
                  <a:srgbClr val="2E2E2E"/>
                </a:solidFill>
                <a:latin typeface="Calibri"/>
              </a:rPr>
              <a:t>growth of</a:t>
            </a:r>
          </a:p>
        </p:txBody>
      </p:sp>
      <p:pic>
        <p:nvPicPr>
          <p:cNvPr id="83" name="Picture 82" descr="lock.png"/>
          <p:cNvPicPr>
            <a:picLocks noChangeAspect="1"/>
          </p:cNvPicPr>
          <p:nvPr/>
        </p:nvPicPr>
        <p:blipFill>
          <a:blip r:embed="rId4"/>
          <a:stretch>
            <a:fillRect/>
          </a:stretch>
        </p:blipFill>
        <p:spPr>
          <a:xfrm>
            <a:off x="3238070" y="4033837"/>
            <a:ext cx="128699" cy="187198"/>
          </a:xfrm>
          <a:prstGeom prst="rect">
            <a:avLst/>
          </a:prstGeom>
        </p:spPr>
      </p:pic>
      <p:sp>
        <p:nvSpPr>
          <p:cNvPr id="84" name="TextBox 83"/>
          <p:cNvSpPr txBox="1"/>
          <p:nvPr/>
        </p:nvSpPr>
        <p:spPr>
          <a:xfrm>
            <a:off x="3405566" y="4043616"/>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5" name="TextBox 84"/>
          <p:cNvSpPr txBox="1"/>
          <p:nvPr/>
        </p:nvSpPr>
        <p:spPr>
          <a:xfrm>
            <a:off x="5038725" y="2841285"/>
            <a:ext cx="2114550" cy="186689"/>
          </a:xfrm>
          <a:prstGeom prst="rect">
            <a:avLst/>
          </a:prstGeom>
          <a:noFill/>
        </p:spPr>
        <p:txBody>
          <a:bodyPr wrap="none" lIns="0" rIns="0" tIns="0" bIns="0">
            <a:spAutoFit/>
          </a:bodyPr>
          <a:lstStyle/>
          <a:p>
            <a:r>
              <a:rPr sz="1100" b="0">
                <a:solidFill>
                  <a:srgbClr val="2E2E2E"/>
                </a:solidFill>
                <a:latin typeface="Calibri"/>
              </a:rPr>
              <a:t>▸ Assessed low. 2 product type lines</a:t>
            </a:r>
          </a:p>
        </p:txBody>
      </p:sp>
      <p:sp>
        <p:nvSpPr>
          <p:cNvPr id="86" name="TextBox 85"/>
          <p:cNvSpPr txBox="1"/>
          <p:nvPr/>
        </p:nvSpPr>
        <p:spPr>
          <a:xfrm>
            <a:off x="5038725" y="3008925"/>
            <a:ext cx="1950690" cy="186689"/>
          </a:xfrm>
          <a:prstGeom prst="rect">
            <a:avLst/>
          </a:prstGeom>
          <a:noFill/>
        </p:spPr>
        <p:txBody>
          <a:bodyPr wrap="none" lIns="0" rIns="0" tIns="0" bIns="0">
            <a:spAutoFit/>
          </a:bodyPr>
          <a:lstStyle/>
          <a:p>
            <a:r>
              <a:rPr sz="1100" b="0">
                <a:solidFill>
                  <a:srgbClr val="2E2E2E"/>
                </a:solidFill>
                <a:latin typeface="Calibri"/>
              </a:rPr>
              <a:t>compete inside the segment; the</a:t>
            </a:r>
          </a:p>
        </p:txBody>
      </p:sp>
      <p:sp>
        <p:nvSpPr>
          <p:cNvPr id="87" name="TextBox 86"/>
          <p:cNvSpPr txBox="1"/>
          <p:nvPr/>
        </p:nvSpPr>
        <p:spPr>
          <a:xfrm>
            <a:off x="5038725" y="3176565"/>
            <a:ext cx="775518" cy="186689"/>
          </a:xfrm>
          <a:prstGeom prst="rect">
            <a:avLst/>
          </a:prstGeom>
          <a:noFill/>
        </p:spPr>
        <p:txBody>
          <a:bodyPr wrap="none" lIns="0" rIns="0" tIns="0" bIns="0">
            <a:spAutoFit/>
          </a:bodyPr>
          <a:lstStyle/>
          <a:p>
            <a:r>
              <a:rPr sz="1100" b="0">
                <a:solidFill>
                  <a:srgbClr val="2E2E2E"/>
                </a:solidFill>
                <a:latin typeface="Calibri"/>
              </a:rPr>
              <a:t>leader holds</a:t>
            </a:r>
          </a:p>
        </p:txBody>
      </p:sp>
      <p:pic>
        <p:nvPicPr>
          <p:cNvPr id="88" name="Picture 87" descr="lock.png"/>
          <p:cNvPicPr>
            <a:picLocks noChangeAspect="1"/>
          </p:cNvPicPr>
          <p:nvPr/>
        </p:nvPicPr>
        <p:blipFill>
          <a:blip r:embed="rId4"/>
          <a:stretch>
            <a:fillRect/>
          </a:stretch>
        </p:blipFill>
        <p:spPr>
          <a:xfrm>
            <a:off x="5762295" y="3166786"/>
            <a:ext cx="128699" cy="187198"/>
          </a:xfrm>
          <a:prstGeom prst="rect">
            <a:avLst/>
          </a:prstGeom>
        </p:spPr>
      </p:pic>
      <p:sp>
        <p:nvSpPr>
          <p:cNvPr id="89" name="TextBox 88"/>
          <p:cNvSpPr txBox="1"/>
          <p:nvPr/>
        </p:nvSpPr>
        <p:spPr>
          <a:xfrm>
            <a:off x="5929790" y="317656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0" name="TextBox 89"/>
          <p:cNvSpPr txBox="1"/>
          <p:nvPr/>
        </p:nvSpPr>
        <p:spPr>
          <a:xfrm>
            <a:off x="5038725" y="3525799"/>
            <a:ext cx="1934046" cy="186689"/>
          </a:xfrm>
          <a:prstGeom prst="rect">
            <a:avLst/>
          </a:prstGeom>
          <a:noFill/>
        </p:spPr>
        <p:txBody>
          <a:bodyPr wrap="none" lIns="0" rIns="0" tIns="0" bIns="0">
            <a:spAutoFit/>
          </a:bodyPr>
          <a:lstStyle/>
          <a:p>
            <a:r>
              <a:rPr sz="1100" b="0">
                <a:solidFill>
                  <a:srgbClr val="2E2E2E"/>
                </a:solidFill>
                <a:latin typeface="Calibri"/>
              </a:rPr>
              <a:t>▸ Growth is unevenly distributed</a:t>
            </a:r>
          </a:p>
        </p:txBody>
      </p:sp>
      <p:sp>
        <p:nvSpPr>
          <p:cNvPr id="91" name="TextBox 90"/>
          <p:cNvSpPr txBox="1"/>
          <p:nvPr/>
        </p:nvSpPr>
        <p:spPr>
          <a:xfrm>
            <a:off x="5038725" y="3693439"/>
            <a:ext cx="1095300" cy="186689"/>
          </a:xfrm>
          <a:prstGeom prst="rect">
            <a:avLst/>
          </a:prstGeom>
          <a:noFill/>
        </p:spPr>
        <p:txBody>
          <a:bodyPr wrap="none" lIns="0" rIns="0" tIns="0" bIns="0">
            <a:spAutoFit/>
          </a:bodyPr>
          <a:lstStyle/>
          <a:p>
            <a:r>
              <a:rPr sz="1100" b="0">
                <a:solidFill>
                  <a:srgbClr val="2E2E2E"/>
                </a:solidFill>
                <a:latin typeface="Calibri"/>
              </a:rPr>
              <a:t>'Sweet muffins' at</a:t>
            </a:r>
          </a:p>
        </p:txBody>
      </p:sp>
      <p:pic>
        <p:nvPicPr>
          <p:cNvPr id="92" name="Picture 91" descr="lock.png"/>
          <p:cNvPicPr>
            <a:picLocks noChangeAspect="1"/>
          </p:cNvPicPr>
          <p:nvPr/>
        </p:nvPicPr>
        <p:blipFill>
          <a:blip r:embed="rId4"/>
          <a:stretch>
            <a:fillRect/>
          </a:stretch>
        </p:blipFill>
        <p:spPr>
          <a:xfrm>
            <a:off x="6082077" y="3683660"/>
            <a:ext cx="128699" cy="187198"/>
          </a:xfrm>
          <a:prstGeom prst="rect">
            <a:avLst/>
          </a:prstGeom>
        </p:spPr>
      </p:pic>
      <p:sp>
        <p:nvSpPr>
          <p:cNvPr id="93" name="TextBox 92"/>
          <p:cNvSpPr txBox="1"/>
          <p:nvPr/>
        </p:nvSpPr>
        <p:spPr>
          <a:xfrm>
            <a:off x="6249573" y="3693439"/>
            <a:ext cx="482748" cy="186689"/>
          </a:xfrm>
          <a:prstGeom prst="rect">
            <a:avLst/>
          </a:prstGeom>
          <a:noFill/>
        </p:spPr>
        <p:txBody>
          <a:bodyPr wrap="none" lIns="0" rIns="0" tIns="0" bIns="0">
            <a:spAutoFit/>
          </a:bodyPr>
          <a:lstStyle/>
          <a:p>
            <a:r>
              <a:rPr sz="1100" b="0">
                <a:solidFill>
                  <a:srgbClr val="2E2E2E"/>
                </a:solidFill>
                <a:latin typeface="Calibri"/>
              </a:rPr>
              <a:t>against</a:t>
            </a:r>
          </a:p>
        </p:txBody>
      </p:sp>
      <p:sp>
        <p:nvSpPr>
          <p:cNvPr id="94" name="TextBox 93"/>
          <p:cNvSpPr txBox="1"/>
          <p:nvPr/>
        </p:nvSpPr>
        <p:spPr>
          <a:xfrm>
            <a:off x="5038725" y="3861079"/>
            <a:ext cx="1198438" cy="186689"/>
          </a:xfrm>
          <a:prstGeom prst="rect">
            <a:avLst/>
          </a:prstGeom>
          <a:noFill/>
        </p:spPr>
        <p:txBody>
          <a:bodyPr wrap="none" lIns="0" rIns="0" tIns="0" bIns="0">
            <a:spAutoFit/>
          </a:bodyPr>
          <a:lstStyle/>
          <a:p>
            <a:r>
              <a:rPr sz="1100" b="0">
                <a:solidFill>
                  <a:srgbClr val="2E2E2E"/>
                </a:solidFill>
                <a:latin typeface="Calibri"/>
              </a:rPr>
              <a:t>'Savoury muffins' at</a:t>
            </a:r>
          </a:p>
        </p:txBody>
      </p:sp>
      <p:pic>
        <p:nvPicPr>
          <p:cNvPr id="95" name="Picture 94" descr="lock.png"/>
          <p:cNvPicPr>
            <a:picLocks noChangeAspect="1"/>
          </p:cNvPicPr>
          <p:nvPr/>
        </p:nvPicPr>
        <p:blipFill>
          <a:blip r:embed="rId4"/>
          <a:stretch>
            <a:fillRect/>
          </a:stretch>
        </p:blipFill>
        <p:spPr>
          <a:xfrm>
            <a:off x="6185215" y="3851300"/>
            <a:ext cx="128699" cy="187198"/>
          </a:xfrm>
          <a:prstGeom prst="rect">
            <a:avLst/>
          </a:prstGeom>
        </p:spPr>
      </p:pic>
      <p:sp>
        <p:nvSpPr>
          <p:cNvPr id="96" name="TextBox 95"/>
          <p:cNvSpPr txBox="1"/>
          <p:nvPr/>
        </p:nvSpPr>
        <p:spPr>
          <a:xfrm>
            <a:off x="6352710" y="3861079"/>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7" name="TextBox 96"/>
          <p:cNvSpPr txBox="1"/>
          <p:nvPr/>
        </p:nvSpPr>
        <p:spPr>
          <a:xfrm>
            <a:off x="5038725" y="4210313"/>
            <a:ext cx="2114550" cy="186689"/>
          </a:xfrm>
          <a:prstGeom prst="rect">
            <a:avLst/>
          </a:prstGeom>
          <a:noFill/>
        </p:spPr>
        <p:txBody>
          <a:bodyPr wrap="none" lIns="0" rIns="0" tIns="0" bIns="0">
            <a:spAutoFit/>
          </a:bodyPr>
          <a:lstStyle/>
          <a:p>
            <a:r>
              <a:rPr sz="1100" b="0">
                <a:solidFill>
                  <a:srgbClr val="2E2E2E"/>
                </a:solidFill>
                <a:latin typeface="Calibri"/>
              </a:rPr>
              <a:t>▸ 3 of 6 regions grow at or above the</a:t>
            </a:r>
          </a:p>
        </p:txBody>
      </p:sp>
      <p:pic>
        <p:nvPicPr>
          <p:cNvPr id="98" name="Picture 97" descr="lock.png"/>
          <p:cNvPicPr>
            <a:picLocks noChangeAspect="1"/>
          </p:cNvPicPr>
          <p:nvPr/>
        </p:nvPicPr>
        <p:blipFill>
          <a:blip r:embed="rId4"/>
          <a:stretch>
            <a:fillRect/>
          </a:stretch>
        </p:blipFill>
        <p:spPr>
          <a:xfrm>
            <a:off x="5025257" y="4368174"/>
            <a:ext cx="128699" cy="187198"/>
          </a:xfrm>
          <a:prstGeom prst="rect">
            <a:avLst/>
          </a:prstGeom>
        </p:spPr>
      </p:pic>
      <p:sp>
        <p:nvSpPr>
          <p:cNvPr id="99" name="TextBox 98"/>
          <p:cNvSpPr txBox="1"/>
          <p:nvPr/>
        </p:nvSpPr>
        <p:spPr>
          <a:xfrm>
            <a:off x="5192753" y="4377953"/>
            <a:ext cx="1643186" cy="186689"/>
          </a:xfrm>
          <a:prstGeom prst="rect">
            <a:avLst/>
          </a:prstGeom>
          <a:noFill/>
        </p:spPr>
        <p:txBody>
          <a:bodyPr wrap="none" lIns="0" rIns="0" tIns="0" bIns="0">
            <a:spAutoFit/>
          </a:bodyPr>
          <a:lstStyle/>
          <a:p>
            <a:r>
              <a:rPr sz="1100" b="0">
                <a:solidFill>
                  <a:srgbClr val="2E2E2E"/>
                </a:solidFill>
                <a:latin typeface="Calibri"/>
              </a:rPr>
              <a:t>market pace, keeping share</a:t>
            </a:r>
          </a:p>
        </p:txBody>
      </p:sp>
      <p:sp>
        <p:nvSpPr>
          <p:cNvPr id="100" name="TextBox 99"/>
          <p:cNvSpPr txBox="1"/>
          <p:nvPr/>
        </p:nvSpPr>
        <p:spPr>
          <a:xfrm>
            <a:off x="5038725" y="4545593"/>
            <a:ext cx="678656" cy="186689"/>
          </a:xfrm>
          <a:prstGeom prst="rect">
            <a:avLst/>
          </a:prstGeom>
          <a:noFill/>
        </p:spPr>
        <p:txBody>
          <a:bodyPr wrap="none" lIns="0" rIns="0" tIns="0" bIns="0">
            <a:spAutoFit/>
          </a:bodyPr>
          <a:lstStyle/>
          <a:p>
            <a:r>
              <a:rPr sz="1100" b="0">
                <a:solidFill>
                  <a:srgbClr val="2E2E2E"/>
                </a:solidFill>
                <a:latin typeface="Calibri"/>
              </a:rPr>
              <a:t>contested.</a:t>
            </a:r>
          </a:p>
        </p:txBody>
      </p:sp>
      <p:sp>
        <p:nvSpPr>
          <p:cNvPr id="101" name="TextBox 100"/>
          <p:cNvSpPr txBox="1"/>
          <p:nvPr/>
        </p:nvSpPr>
        <p:spPr>
          <a:xfrm>
            <a:off x="7419975" y="2944566"/>
            <a:ext cx="1833364" cy="186689"/>
          </a:xfrm>
          <a:prstGeom prst="rect">
            <a:avLst/>
          </a:prstGeom>
          <a:noFill/>
        </p:spPr>
        <p:txBody>
          <a:bodyPr wrap="none" lIns="0" rIns="0" tIns="0" bIns="0">
            <a:spAutoFit/>
          </a:bodyPr>
          <a:lstStyle/>
          <a:p>
            <a:r>
              <a:rPr sz="1100" b="0">
                <a:solidFill>
                  <a:srgbClr val="2E2E2E"/>
                </a:solidFill>
                <a:latin typeface="Calibri"/>
              </a:rPr>
              <a:t>▸ Assessed moderate. 'Savoury</a:t>
            </a:r>
          </a:p>
        </p:txBody>
      </p:sp>
      <p:sp>
        <p:nvSpPr>
          <p:cNvPr id="102" name="TextBox 101"/>
          <p:cNvSpPr txBox="1"/>
          <p:nvPr/>
        </p:nvSpPr>
        <p:spPr>
          <a:xfrm>
            <a:off x="7419975" y="3112206"/>
            <a:ext cx="853554" cy="186689"/>
          </a:xfrm>
          <a:prstGeom prst="rect">
            <a:avLst/>
          </a:prstGeom>
          <a:noFill/>
        </p:spPr>
        <p:txBody>
          <a:bodyPr wrap="none" lIns="0" rIns="0" tIns="0" bIns="0">
            <a:spAutoFit/>
          </a:bodyPr>
          <a:lstStyle/>
          <a:p>
            <a:r>
              <a:rPr sz="1100" b="0">
                <a:solidFill>
                  <a:srgbClr val="2E2E2E"/>
                </a:solidFill>
                <a:latin typeface="Calibri"/>
              </a:rPr>
              <a:t>muffins' loses</a:t>
            </a:r>
          </a:p>
        </p:txBody>
      </p:sp>
      <p:pic>
        <p:nvPicPr>
          <p:cNvPr id="103" name="Picture 102" descr="lock.png"/>
          <p:cNvPicPr>
            <a:picLocks noChangeAspect="1"/>
          </p:cNvPicPr>
          <p:nvPr/>
        </p:nvPicPr>
        <p:blipFill>
          <a:blip r:embed="rId4"/>
          <a:stretch>
            <a:fillRect/>
          </a:stretch>
        </p:blipFill>
        <p:spPr>
          <a:xfrm>
            <a:off x="8221580" y="3102427"/>
            <a:ext cx="128699" cy="187198"/>
          </a:xfrm>
          <a:prstGeom prst="rect">
            <a:avLst/>
          </a:prstGeom>
        </p:spPr>
      </p:pic>
      <p:sp>
        <p:nvSpPr>
          <p:cNvPr id="104" name="TextBox 103"/>
          <p:cNvSpPr txBox="1"/>
          <p:nvPr/>
        </p:nvSpPr>
        <p:spPr>
          <a:xfrm>
            <a:off x="8389076" y="3112206"/>
            <a:ext cx="933772" cy="186689"/>
          </a:xfrm>
          <a:prstGeom prst="rect">
            <a:avLst/>
          </a:prstGeom>
          <a:noFill/>
        </p:spPr>
        <p:txBody>
          <a:bodyPr wrap="none" lIns="0" rIns="0" tIns="0" bIns="0">
            <a:spAutoFit/>
          </a:bodyPr>
          <a:lstStyle/>
          <a:p>
            <a:r>
              <a:rPr sz="1100" b="0">
                <a:solidFill>
                  <a:srgbClr val="2E2E2E"/>
                </a:solidFill>
                <a:latin typeface="Calibri"/>
              </a:rPr>
              <a:t>BPS of share to</a:t>
            </a:r>
          </a:p>
        </p:txBody>
      </p:sp>
      <p:sp>
        <p:nvSpPr>
          <p:cNvPr id="105" name="TextBox 104"/>
          <p:cNvSpPr txBox="1"/>
          <p:nvPr/>
        </p:nvSpPr>
        <p:spPr>
          <a:xfrm>
            <a:off x="7419975" y="3279846"/>
            <a:ext cx="1093390" cy="186689"/>
          </a:xfrm>
          <a:prstGeom prst="rect">
            <a:avLst/>
          </a:prstGeom>
          <a:noFill/>
        </p:spPr>
        <p:txBody>
          <a:bodyPr wrap="none" lIns="0" rIns="0" tIns="0" bIns="0">
            <a:spAutoFit/>
          </a:bodyPr>
          <a:lstStyle/>
          <a:p>
            <a:r>
              <a:rPr sz="1100" b="0">
                <a:solidFill>
                  <a:srgbClr val="2E2E2E"/>
                </a:solidFill>
                <a:latin typeface="Calibri"/>
              </a:rPr>
              <a:t>'Sweet muffins' (+</a:t>
            </a:r>
          </a:p>
        </p:txBody>
      </p:sp>
      <p:pic>
        <p:nvPicPr>
          <p:cNvPr id="106" name="Picture 105" descr="lock.png"/>
          <p:cNvPicPr>
            <a:picLocks noChangeAspect="1"/>
          </p:cNvPicPr>
          <p:nvPr/>
        </p:nvPicPr>
        <p:blipFill>
          <a:blip r:embed="rId4"/>
          <a:stretch>
            <a:fillRect/>
          </a:stretch>
        </p:blipFill>
        <p:spPr>
          <a:xfrm>
            <a:off x="8461417" y="3270067"/>
            <a:ext cx="128699" cy="187198"/>
          </a:xfrm>
          <a:prstGeom prst="rect">
            <a:avLst/>
          </a:prstGeom>
        </p:spPr>
      </p:pic>
      <p:sp>
        <p:nvSpPr>
          <p:cNvPr id="107" name="TextBox 106"/>
          <p:cNvSpPr txBox="1"/>
          <p:nvPr/>
        </p:nvSpPr>
        <p:spPr>
          <a:xfrm>
            <a:off x="8628913" y="3279846"/>
            <a:ext cx="814809" cy="186689"/>
          </a:xfrm>
          <a:prstGeom prst="rect">
            <a:avLst/>
          </a:prstGeom>
          <a:noFill/>
        </p:spPr>
        <p:txBody>
          <a:bodyPr wrap="none" lIns="0" rIns="0" tIns="0" bIns="0">
            <a:spAutoFit/>
          </a:bodyPr>
          <a:lstStyle/>
          <a:p>
            <a:r>
              <a:rPr sz="1100" b="0">
                <a:solidFill>
                  <a:srgbClr val="2E2E2E"/>
                </a:solidFill>
                <a:latin typeface="Calibri"/>
              </a:rPr>
              <a:t>BPS) by 2036</a:t>
            </a:r>
          </a:p>
        </p:txBody>
      </p:sp>
      <p:sp>
        <p:nvSpPr>
          <p:cNvPr id="108" name="TextBox 107"/>
          <p:cNvSpPr txBox="1"/>
          <p:nvPr/>
        </p:nvSpPr>
        <p:spPr>
          <a:xfrm>
            <a:off x="7419975" y="3447486"/>
            <a:ext cx="2114550" cy="186689"/>
          </a:xfrm>
          <a:prstGeom prst="rect">
            <a:avLst/>
          </a:prstGeom>
          <a:noFill/>
        </p:spPr>
        <p:txBody>
          <a:bodyPr wrap="none" lIns="0" rIns="0" tIns="0" bIns="0">
            <a:spAutoFit/>
          </a:bodyPr>
          <a:lstStyle/>
          <a:p>
            <a:r>
              <a:rPr sz="1100" b="0">
                <a:solidFill>
                  <a:srgbClr val="2E2E2E"/>
                </a:solidFill>
                <a:latin typeface="Calibri"/>
              </a:rPr>
              <a:t>substitution is visible inside the mix.</a:t>
            </a:r>
          </a:p>
        </p:txBody>
      </p:sp>
      <p:sp>
        <p:nvSpPr>
          <p:cNvPr id="109" name="TextBox 108"/>
          <p:cNvSpPr txBox="1"/>
          <p:nvPr/>
        </p:nvSpPr>
        <p:spPr>
          <a:xfrm>
            <a:off x="7419975" y="3894694"/>
            <a:ext cx="1550384" cy="179984"/>
          </a:xfrm>
          <a:prstGeom prst="rect">
            <a:avLst/>
          </a:prstGeom>
          <a:noFill/>
        </p:spPr>
        <p:txBody>
          <a:bodyPr wrap="none" lIns="0" rIns="0" tIns="0" bIns="0">
            <a:spAutoFit/>
          </a:bodyPr>
          <a:lstStyle/>
          <a:p>
            <a:r>
              <a:rPr sz="1055" b="0">
                <a:solidFill>
                  <a:srgbClr val="2E2E2E"/>
                </a:solidFill>
                <a:latin typeface="Calibri"/>
              </a:rPr>
              <a:t>▸ The slowest line grows at</a:t>
            </a:r>
          </a:p>
        </p:txBody>
      </p:sp>
      <p:pic>
        <p:nvPicPr>
          <p:cNvPr id="110" name="Picture 109" descr="lock.png"/>
          <p:cNvPicPr>
            <a:picLocks noChangeAspect="1"/>
          </p:cNvPicPr>
          <p:nvPr/>
        </p:nvPicPr>
        <p:blipFill>
          <a:blip r:embed="rId4"/>
          <a:stretch>
            <a:fillRect/>
          </a:stretch>
        </p:blipFill>
        <p:spPr>
          <a:xfrm>
            <a:off x="8917440" y="3885306"/>
            <a:ext cx="123551" cy="179710"/>
          </a:xfrm>
          <a:prstGeom prst="rect">
            <a:avLst/>
          </a:prstGeom>
        </p:spPr>
      </p:pic>
      <p:sp>
        <p:nvSpPr>
          <p:cNvPr id="111" name="TextBox 110"/>
          <p:cNvSpPr txBox="1"/>
          <p:nvPr/>
        </p:nvSpPr>
        <p:spPr>
          <a:xfrm>
            <a:off x="9078236" y="3894694"/>
            <a:ext cx="181236" cy="179984"/>
          </a:xfrm>
          <a:prstGeom prst="rect">
            <a:avLst/>
          </a:prstGeom>
          <a:noFill/>
        </p:spPr>
        <p:txBody>
          <a:bodyPr wrap="none" lIns="0" rIns="0" tIns="0" bIns="0">
            <a:spAutoFit/>
          </a:bodyPr>
          <a:lstStyle/>
          <a:p>
            <a:r>
              <a:rPr sz="1055" b="0">
                <a:solidFill>
                  <a:srgbClr val="2E2E2E"/>
                </a:solidFill>
                <a:latin typeface="Calibri"/>
              </a:rPr>
              <a:t>, -</a:t>
            </a:r>
          </a:p>
        </p:txBody>
      </p:sp>
      <p:pic>
        <p:nvPicPr>
          <p:cNvPr id="112" name="Picture 111" descr="lock.png"/>
          <p:cNvPicPr>
            <a:picLocks noChangeAspect="1"/>
          </p:cNvPicPr>
          <p:nvPr/>
        </p:nvPicPr>
        <p:blipFill>
          <a:blip r:embed="rId4"/>
          <a:stretch>
            <a:fillRect/>
          </a:stretch>
        </p:blipFill>
        <p:spPr>
          <a:xfrm>
            <a:off x="9206555" y="3885306"/>
            <a:ext cx="123551" cy="179710"/>
          </a:xfrm>
          <a:prstGeom prst="rect">
            <a:avLst/>
          </a:prstGeom>
        </p:spPr>
      </p:pic>
      <p:sp>
        <p:nvSpPr>
          <p:cNvPr id="113" name="TextBox 112"/>
          <p:cNvSpPr txBox="1"/>
          <p:nvPr/>
        </p:nvSpPr>
        <p:spPr>
          <a:xfrm>
            <a:off x="7419975" y="4055628"/>
            <a:ext cx="1368861" cy="179984"/>
          </a:xfrm>
          <a:prstGeom prst="rect">
            <a:avLst/>
          </a:prstGeom>
          <a:noFill/>
        </p:spPr>
        <p:txBody>
          <a:bodyPr wrap="none" lIns="0" rIns="0" tIns="0" bIns="0">
            <a:spAutoFit/>
          </a:bodyPr>
          <a:lstStyle/>
          <a:p>
            <a:r>
              <a:rPr sz="1055" b="0">
                <a:solidFill>
                  <a:srgbClr val="2E2E2E"/>
                </a:solidFill>
                <a:latin typeface="Calibri"/>
              </a:rPr>
              <a:t>BPS against the market.</a:t>
            </a:r>
          </a:p>
        </p:txBody>
      </p:sp>
      <p:sp>
        <p:nvSpPr>
          <p:cNvPr id="114" name="TextBox 113"/>
          <p:cNvSpPr txBox="1"/>
          <p:nvPr/>
        </p:nvSpPr>
        <p:spPr>
          <a:xfrm>
            <a:off x="7419975" y="4392850"/>
            <a:ext cx="1254373" cy="186689"/>
          </a:xfrm>
          <a:prstGeom prst="rect">
            <a:avLst/>
          </a:prstGeom>
          <a:noFill/>
        </p:spPr>
        <p:txBody>
          <a:bodyPr wrap="none" lIns="0" rIns="0" tIns="0" bIns="0">
            <a:spAutoFit/>
          </a:bodyPr>
          <a:lstStyle/>
          <a:p>
            <a:r>
              <a:rPr sz="1100" b="0">
                <a:solidFill>
                  <a:srgbClr val="2E2E2E"/>
                </a:solidFill>
                <a:latin typeface="Calibri"/>
              </a:rPr>
              <a:t>▸ Realisation moving</a:t>
            </a:r>
          </a:p>
        </p:txBody>
      </p:sp>
      <p:pic>
        <p:nvPicPr>
          <p:cNvPr id="115" name="Picture 114" descr="lock.png"/>
          <p:cNvPicPr>
            <a:picLocks noChangeAspect="1"/>
          </p:cNvPicPr>
          <p:nvPr/>
        </p:nvPicPr>
        <p:blipFill>
          <a:blip r:embed="rId4"/>
          <a:stretch>
            <a:fillRect/>
          </a:stretch>
        </p:blipFill>
        <p:spPr>
          <a:xfrm>
            <a:off x="8622399" y="4383071"/>
            <a:ext cx="128699" cy="187198"/>
          </a:xfrm>
          <a:prstGeom prst="rect">
            <a:avLst/>
          </a:prstGeom>
        </p:spPr>
      </p:pic>
      <p:sp>
        <p:nvSpPr>
          <p:cNvPr id="116" name="TextBox 115"/>
          <p:cNvSpPr txBox="1"/>
          <p:nvPr/>
        </p:nvSpPr>
        <p:spPr>
          <a:xfrm>
            <a:off x="8789895" y="4392850"/>
            <a:ext cx="423267" cy="186689"/>
          </a:xfrm>
          <a:prstGeom prst="rect">
            <a:avLst/>
          </a:prstGeom>
          <a:noFill/>
        </p:spPr>
        <p:txBody>
          <a:bodyPr wrap="none" lIns="0" rIns="0" tIns="0" bIns="0">
            <a:spAutoFit/>
          </a:bodyPr>
          <a:lstStyle/>
          <a:p>
            <a:r>
              <a:rPr sz="1100" b="0">
                <a:solidFill>
                  <a:srgbClr val="2E2E2E"/>
                </a:solidFill>
                <a:latin typeface="Calibri"/>
              </a:rPr>
              <a:t>a year</a:t>
            </a:r>
          </a:p>
        </p:txBody>
      </p:sp>
      <p:sp>
        <p:nvSpPr>
          <p:cNvPr id="117" name="TextBox 116"/>
          <p:cNvSpPr txBox="1"/>
          <p:nvPr/>
        </p:nvSpPr>
        <p:spPr>
          <a:xfrm>
            <a:off x="7419975" y="4560490"/>
            <a:ext cx="1911399" cy="186689"/>
          </a:xfrm>
          <a:prstGeom prst="rect">
            <a:avLst/>
          </a:prstGeom>
          <a:noFill/>
        </p:spPr>
        <p:txBody>
          <a:bodyPr wrap="none" lIns="0" rIns="0" tIns="0" bIns="0">
            <a:spAutoFit/>
          </a:bodyPr>
          <a:lstStyle/>
          <a:p>
            <a:r>
              <a:rPr sz="1100" b="0">
                <a:solidFill>
                  <a:srgbClr val="2E2E2E"/>
                </a:solidFill>
                <a:latin typeface="Calibri"/>
              </a:rPr>
              <a:t>widens the price gap substitutes</a:t>
            </a:r>
          </a:p>
        </p:txBody>
      </p:sp>
      <p:sp>
        <p:nvSpPr>
          <p:cNvPr id="118" name="TextBox 117"/>
          <p:cNvSpPr txBox="1"/>
          <p:nvPr/>
        </p:nvSpPr>
        <p:spPr>
          <a:xfrm>
            <a:off x="7419975" y="4728130"/>
            <a:ext cx="718765" cy="186689"/>
          </a:xfrm>
          <a:prstGeom prst="rect">
            <a:avLst/>
          </a:prstGeom>
          <a:noFill/>
        </p:spPr>
        <p:txBody>
          <a:bodyPr wrap="none" lIns="0" rIns="0" tIns="0" bIns="0">
            <a:spAutoFit/>
          </a:bodyPr>
          <a:lstStyle/>
          <a:p>
            <a:r>
              <a:rPr sz="1100" b="0">
                <a:solidFill>
                  <a:srgbClr val="2E2E2E"/>
                </a:solidFill>
                <a:latin typeface="Calibri"/>
              </a:rPr>
              <a:t>must close.</a:t>
            </a:r>
          </a:p>
        </p:txBody>
      </p:sp>
      <p:sp>
        <p:nvSpPr>
          <p:cNvPr id="119" name="TextBox 118"/>
          <p:cNvSpPr txBox="1"/>
          <p:nvPr/>
        </p:nvSpPr>
        <p:spPr>
          <a:xfrm>
            <a:off x="9801225" y="2848734"/>
            <a:ext cx="1989162" cy="186689"/>
          </a:xfrm>
          <a:prstGeom prst="rect">
            <a:avLst/>
          </a:prstGeom>
          <a:noFill/>
        </p:spPr>
        <p:txBody>
          <a:bodyPr wrap="none" lIns="0" rIns="0" tIns="0" bIns="0">
            <a:spAutoFit/>
          </a:bodyPr>
          <a:lstStyle/>
          <a:p>
            <a:r>
              <a:rPr sz="1100" b="0">
                <a:solidFill>
                  <a:srgbClr val="2E2E2E"/>
                </a:solidFill>
                <a:latin typeface="Calibri"/>
              </a:rPr>
              <a:t>▸ Assessed moderate to high. The</a:t>
            </a:r>
          </a:p>
        </p:txBody>
      </p:sp>
      <p:sp>
        <p:nvSpPr>
          <p:cNvPr id="120" name="TextBox 119"/>
          <p:cNvSpPr txBox="1"/>
          <p:nvPr/>
        </p:nvSpPr>
        <p:spPr>
          <a:xfrm>
            <a:off x="9801225" y="3016374"/>
            <a:ext cx="1003349" cy="186689"/>
          </a:xfrm>
          <a:prstGeom prst="rect">
            <a:avLst/>
          </a:prstGeom>
          <a:noFill/>
        </p:spPr>
        <p:txBody>
          <a:bodyPr wrap="none" lIns="0" rIns="0" tIns="0" bIns="0">
            <a:spAutoFit/>
          </a:bodyPr>
          <a:lstStyle/>
          <a:p>
            <a:r>
              <a:rPr sz="1100" b="0">
                <a:solidFill>
                  <a:srgbClr val="2E2E2E"/>
                </a:solidFill>
                <a:latin typeface="Calibri"/>
              </a:rPr>
              <a:t>market grows at</a:t>
            </a:r>
          </a:p>
        </p:txBody>
      </p:sp>
      <p:pic>
        <p:nvPicPr>
          <p:cNvPr id="121" name="Picture 120" descr="lock.png"/>
          <p:cNvPicPr>
            <a:picLocks noChangeAspect="1"/>
          </p:cNvPicPr>
          <p:nvPr/>
        </p:nvPicPr>
        <p:blipFill>
          <a:blip r:embed="rId4"/>
          <a:stretch>
            <a:fillRect/>
          </a:stretch>
        </p:blipFill>
        <p:spPr>
          <a:xfrm>
            <a:off x="10752626" y="3006595"/>
            <a:ext cx="128699" cy="187198"/>
          </a:xfrm>
          <a:prstGeom prst="rect">
            <a:avLst/>
          </a:prstGeom>
        </p:spPr>
      </p:pic>
      <p:sp>
        <p:nvSpPr>
          <p:cNvPr id="122" name="TextBox 121"/>
          <p:cNvSpPr txBox="1"/>
          <p:nvPr/>
        </p:nvSpPr>
        <p:spPr>
          <a:xfrm>
            <a:off x="10920122" y="3016374"/>
            <a:ext cx="940576" cy="186689"/>
          </a:xfrm>
          <a:prstGeom prst="rect">
            <a:avLst/>
          </a:prstGeom>
          <a:noFill/>
        </p:spPr>
        <p:txBody>
          <a:bodyPr wrap="none" lIns="0" rIns="0" tIns="0" bIns="0">
            <a:spAutoFit/>
          </a:bodyPr>
          <a:lstStyle/>
          <a:p>
            <a:r>
              <a:rPr sz="1100" b="0">
                <a:solidFill>
                  <a:srgbClr val="2E2E2E"/>
                </a:solidFill>
                <a:latin typeface="Calibri"/>
              </a:rPr>
              <a:t>CAGR and adds</a:t>
            </a:r>
          </a:p>
        </p:txBody>
      </p:sp>
      <p:pic>
        <p:nvPicPr>
          <p:cNvPr id="123" name="Picture 122" descr="lock.png"/>
          <p:cNvPicPr>
            <a:picLocks noChangeAspect="1"/>
          </p:cNvPicPr>
          <p:nvPr/>
        </p:nvPicPr>
        <p:blipFill>
          <a:blip r:embed="rId4"/>
          <a:stretch>
            <a:fillRect/>
          </a:stretch>
        </p:blipFill>
        <p:spPr>
          <a:xfrm>
            <a:off x="9787757" y="3174235"/>
            <a:ext cx="128699" cy="187198"/>
          </a:xfrm>
          <a:prstGeom prst="rect">
            <a:avLst/>
          </a:prstGeom>
        </p:spPr>
      </p:pic>
      <p:sp>
        <p:nvSpPr>
          <p:cNvPr id="124" name="TextBox 123"/>
          <p:cNvSpPr txBox="1"/>
          <p:nvPr/>
        </p:nvSpPr>
        <p:spPr>
          <a:xfrm>
            <a:off x="9955253" y="3184014"/>
            <a:ext cx="1629816" cy="186689"/>
          </a:xfrm>
          <a:prstGeom prst="rect">
            <a:avLst/>
          </a:prstGeom>
          <a:noFill/>
        </p:spPr>
        <p:txBody>
          <a:bodyPr wrap="none" lIns="0" rIns="0" tIns="0" bIns="0">
            <a:spAutoFit/>
          </a:bodyPr>
          <a:lstStyle/>
          <a:p>
            <a:r>
              <a:rPr sz="1100" b="0">
                <a:solidFill>
                  <a:srgbClr val="2E2E2E"/>
                </a:solidFill>
                <a:latin typeface="Calibri"/>
              </a:rPr>
              <a:t>US$ Mn by 2036, attracting</a:t>
            </a:r>
          </a:p>
        </p:txBody>
      </p:sp>
      <p:sp>
        <p:nvSpPr>
          <p:cNvPr id="125" name="TextBox 124"/>
          <p:cNvSpPr txBox="1"/>
          <p:nvPr/>
        </p:nvSpPr>
        <p:spPr>
          <a:xfrm>
            <a:off x="9801225" y="3351654"/>
            <a:ext cx="413444" cy="186689"/>
          </a:xfrm>
          <a:prstGeom prst="rect">
            <a:avLst/>
          </a:prstGeom>
          <a:noFill/>
        </p:spPr>
        <p:txBody>
          <a:bodyPr wrap="none" lIns="0" rIns="0" tIns="0" bIns="0">
            <a:spAutoFit/>
          </a:bodyPr>
          <a:lstStyle/>
          <a:p>
            <a:r>
              <a:rPr sz="1100" b="0">
                <a:solidFill>
                  <a:srgbClr val="2E2E2E"/>
                </a:solidFill>
                <a:latin typeface="Calibri"/>
              </a:rPr>
              <a:t>entry.</a:t>
            </a:r>
          </a:p>
        </p:txBody>
      </p:sp>
      <p:sp>
        <p:nvSpPr>
          <p:cNvPr id="126" name="TextBox 125"/>
          <p:cNvSpPr txBox="1"/>
          <p:nvPr/>
        </p:nvSpPr>
        <p:spPr>
          <a:xfrm>
            <a:off x="9801225" y="3708336"/>
            <a:ext cx="1971426" cy="186689"/>
          </a:xfrm>
          <a:prstGeom prst="rect">
            <a:avLst/>
          </a:prstGeom>
          <a:noFill/>
        </p:spPr>
        <p:txBody>
          <a:bodyPr wrap="none" lIns="0" rIns="0" tIns="0" bIns="0">
            <a:spAutoFit/>
          </a:bodyPr>
          <a:lstStyle/>
          <a:p>
            <a:r>
              <a:rPr sz="1100" b="0">
                <a:solidFill>
                  <a:srgbClr val="2E2E2E"/>
                </a:solidFill>
                <a:latin typeface="Calibri"/>
              </a:rPr>
              <a:t>▸ Demand spreads over 6 regions</a:t>
            </a:r>
          </a:p>
        </p:txBody>
      </p:sp>
      <p:sp>
        <p:nvSpPr>
          <p:cNvPr id="127" name="TextBox 126"/>
          <p:cNvSpPr txBox="1"/>
          <p:nvPr/>
        </p:nvSpPr>
        <p:spPr>
          <a:xfrm>
            <a:off x="9801225" y="3875976"/>
            <a:ext cx="1493118" cy="186689"/>
          </a:xfrm>
          <a:prstGeom prst="rect">
            <a:avLst/>
          </a:prstGeom>
          <a:noFill/>
        </p:spPr>
        <p:txBody>
          <a:bodyPr wrap="none" lIns="0" rIns="0" tIns="0" bIns="0">
            <a:spAutoFit/>
          </a:bodyPr>
          <a:lstStyle/>
          <a:p>
            <a:r>
              <a:rPr sz="1100" b="0">
                <a:solidFill>
                  <a:srgbClr val="2E2E2E"/>
                </a:solidFill>
                <a:latin typeface="Calibri"/>
              </a:rPr>
              <a:t>with no single one above</a:t>
            </a:r>
          </a:p>
        </p:txBody>
      </p:sp>
      <p:pic>
        <p:nvPicPr>
          <p:cNvPr id="128" name="Picture 127" descr="lock.png"/>
          <p:cNvPicPr>
            <a:picLocks noChangeAspect="1"/>
          </p:cNvPicPr>
          <p:nvPr/>
        </p:nvPicPr>
        <p:blipFill>
          <a:blip r:embed="rId4"/>
          <a:stretch>
            <a:fillRect/>
          </a:stretch>
        </p:blipFill>
        <p:spPr>
          <a:xfrm>
            <a:off x="11242394" y="3866197"/>
            <a:ext cx="128699" cy="187198"/>
          </a:xfrm>
          <a:prstGeom prst="rect">
            <a:avLst/>
          </a:prstGeom>
        </p:spPr>
      </p:pic>
      <p:sp>
        <p:nvSpPr>
          <p:cNvPr id="129" name="TextBox 128"/>
          <p:cNvSpPr txBox="1"/>
          <p:nvPr/>
        </p:nvSpPr>
        <p:spPr>
          <a:xfrm>
            <a:off x="11409890" y="3875976"/>
            <a:ext cx="271016" cy="186689"/>
          </a:xfrm>
          <a:prstGeom prst="rect">
            <a:avLst/>
          </a:prstGeom>
          <a:noFill/>
        </p:spPr>
        <p:txBody>
          <a:bodyPr wrap="none" lIns="0" rIns="0" tIns="0" bIns="0">
            <a:spAutoFit/>
          </a:bodyPr>
          <a:lstStyle/>
          <a:p>
            <a:r>
              <a:rPr sz="1100" b="0">
                <a:solidFill>
                  <a:srgbClr val="2E2E2E"/>
                </a:solidFill>
                <a:latin typeface="Calibri"/>
              </a:rPr>
              <a:t>, so</a:t>
            </a:r>
          </a:p>
        </p:txBody>
      </p:sp>
      <p:sp>
        <p:nvSpPr>
          <p:cNvPr id="130" name="TextBox 129"/>
          <p:cNvSpPr txBox="1"/>
          <p:nvPr/>
        </p:nvSpPr>
        <p:spPr>
          <a:xfrm>
            <a:off x="9801225" y="4043616"/>
            <a:ext cx="1498575" cy="186689"/>
          </a:xfrm>
          <a:prstGeom prst="rect">
            <a:avLst/>
          </a:prstGeom>
          <a:noFill/>
        </p:spPr>
        <p:txBody>
          <a:bodyPr wrap="none" lIns="0" rIns="0" tIns="0" bIns="0">
            <a:spAutoFit/>
          </a:bodyPr>
          <a:lstStyle/>
          <a:p>
            <a:r>
              <a:rPr sz="1100" b="0">
                <a:solidFill>
                  <a:srgbClr val="2E2E2E"/>
                </a:solidFill>
                <a:latin typeface="Calibri"/>
              </a:rPr>
              <a:t>regional entry is feasible.</a:t>
            </a:r>
          </a:p>
        </p:txBody>
      </p:sp>
      <p:sp>
        <p:nvSpPr>
          <p:cNvPr id="131" name="TextBox 130"/>
          <p:cNvSpPr txBox="1"/>
          <p:nvPr/>
        </p:nvSpPr>
        <p:spPr>
          <a:xfrm>
            <a:off x="9801225" y="4400299"/>
            <a:ext cx="2114550" cy="186689"/>
          </a:xfrm>
          <a:prstGeom prst="rect">
            <a:avLst/>
          </a:prstGeom>
          <a:noFill/>
        </p:spPr>
        <p:txBody>
          <a:bodyPr wrap="none" lIns="0" rIns="0" tIns="0" bIns="0">
            <a:spAutoFit/>
          </a:bodyPr>
          <a:lstStyle/>
          <a:p>
            <a:r>
              <a:rPr sz="1100" b="0">
                <a:solidFill>
                  <a:srgbClr val="2E2E2E"/>
                </a:solidFill>
                <a:latin typeface="Calibri"/>
              </a:rPr>
              <a:t>▸ Incumbent scale in 'North America'</a:t>
            </a:r>
          </a:p>
        </p:txBody>
      </p:sp>
      <p:sp>
        <p:nvSpPr>
          <p:cNvPr id="132" name="TextBox 131"/>
          <p:cNvSpPr txBox="1"/>
          <p:nvPr/>
        </p:nvSpPr>
        <p:spPr>
          <a:xfrm>
            <a:off x="9801225" y="4567939"/>
            <a:ext cx="1269107" cy="186689"/>
          </a:xfrm>
          <a:prstGeom prst="rect">
            <a:avLst/>
          </a:prstGeom>
          <a:noFill/>
        </p:spPr>
        <p:txBody>
          <a:bodyPr wrap="none" lIns="0" rIns="0" tIns="0" bIns="0">
            <a:spAutoFit/>
          </a:bodyPr>
          <a:lstStyle/>
          <a:p>
            <a:r>
              <a:rPr sz="1100" b="0">
                <a:solidFill>
                  <a:srgbClr val="2E2E2E"/>
                </a:solidFill>
                <a:latin typeface="Calibri"/>
              </a:rPr>
              <a:t>and 'Sweet muffins' (</a:t>
            </a:r>
          </a:p>
        </p:txBody>
      </p:sp>
      <p:pic>
        <p:nvPicPr>
          <p:cNvPr id="133" name="Picture 132" descr="lock.png"/>
          <p:cNvPicPr>
            <a:picLocks noChangeAspect="1"/>
          </p:cNvPicPr>
          <p:nvPr/>
        </p:nvPicPr>
        <p:blipFill>
          <a:blip r:embed="rId4"/>
          <a:stretch>
            <a:fillRect/>
          </a:stretch>
        </p:blipFill>
        <p:spPr>
          <a:xfrm>
            <a:off x="11018383" y="4558160"/>
            <a:ext cx="128699" cy="187198"/>
          </a:xfrm>
          <a:prstGeom prst="rect">
            <a:avLst/>
          </a:prstGeom>
        </p:spPr>
      </p:pic>
      <p:sp>
        <p:nvSpPr>
          <p:cNvPr id="134" name="TextBox 133"/>
          <p:cNvSpPr txBox="1"/>
          <p:nvPr/>
        </p:nvSpPr>
        <p:spPr>
          <a:xfrm>
            <a:off x="11185879" y="4567939"/>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135" name="TextBox 134"/>
          <p:cNvSpPr txBox="1"/>
          <p:nvPr/>
        </p:nvSpPr>
        <p:spPr>
          <a:xfrm>
            <a:off x="9801225" y="4735579"/>
            <a:ext cx="1843459" cy="186689"/>
          </a:xfrm>
          <a:prstGeom prst="rect">
            <a:avLst/>
          </a:prstGeom>
          <a:noFill/>
        </p:spPr>
        <p:txBody>
          <a:bodyPr wrap="none" lIns="0" rIns="0" tIns="0" bIns="0">
            <a:spAutoFit/>
          </a:bodyPr>
          <a:lstStyle/>
          <a:p>
            <a:r>
              <a:rPr sz="1100" b="0">
                <a:solidFill>
                  <a:srgbClr val="2E2E2E"/>
                </a:solidFill>
                <a:latin typeface="Calibri"/>
              </a:rPr>
              <a:t>segment) remains the principal</a:t>
            </a:r>
          </a:p>
        </p:txBody>
      </p:sp>
      <p:sp>
        <p:nvSpPr>
          <p:cNvPr id="136" name="TextBox 135"/>
          <p:cNvSpPr txBox="1"/>
          <p:nvPr/>
        </p:nvSpPr>
        <p:spPr>
          <a:xfrm>
            <a:off x="9801225" y="4903219"/>
            <a:ext cx="499938" cy="186689"/>
          </a:xfrm>
          <a:prstGeom prst="rect">
            <a:avLst/>
          </a:prstGeom>
          <a:noFill/>
        </p:spPr>
        <p:txBody>
          <a:bodyPr wrap="none" lIns="0" rIns="0" tIns="0" bIns="0">
            <a:spAutoFit/>
          </a:bodyPr>
          <a:lstStyle/>
          <a:p>
            <a:r>
              <a:rPr sz="1100" b="0">
                <a:solidFill>
                  <a:srgbClr val="2E2E2E"/>
                </a:solidFill>
                <a:latin typeface="Calibri"/>
              </a:rPr>
              <a:t>barrier.</a:t>
            </a:r>
          </a:p>
        </p:txBody>
      </p:sp>
    </p:spTree>
  </p:cSld>
  <p:clrMapOvr>
    <a:masterClrMapping/>
  </p:clrMapOvr>
</p:sld>
</file>

<file path=ppt/slides/slide512.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51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Grupo Bimbo</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McKee Foods Corporation, Grupo Bimbo, Rich Products Corporation.</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447550" cy="186689"/>
          </a:xfrm>
          <a:prstGeom prst="rect">
            <a:avLst/>
          </a:prstGeom>
          <a:noFill/>
        </p:spPr>
        <p:txBody>
          <a:bodyPr wrap="none" lIns="0" rIns="0" tIns="0" bIns="0">
            <a:spAutoFit/>
          </a:bodyPr>
          <a:lstStyle/>
          <a:p>
            <a:r>
              <a:rPr sz="1100" b="1">
                <a:solidFill>
                  <a:srgbClr val="0F2D52"/>
                </a:solidFill>
                <a:latin typeface="Calibri"/>
              </a:rPr>
              <a:t>Retail,</a:t>
            </a:r>
          </a:p>
        </p:txBody>
      </p:sp>
      <p:pic>
        <p:nvPicPr>
          <p:cNvPr id="68" name="Picture 67" descr="lock.png"/>
          <p:cNvPicPr>
            <a:picLocks noChangeAspect="1"/>
          </p:cNvPicPr>
          <p:nvPr/>
        </p:nvPicPr>
        <p:blipFill>
          <a:blip r:embed="rId4"/>
          <a:stretch>
            <a:fillRect/>
          </a:stretch>
        </p:blipFill>
        <p:spPr>
          <a:xfrm>
            <a:off x="5100952" y="1295146"/>
            <a:ext cx="128699" cy="187198"/>
          </a:xfrm>
          <a:prstGeom prst="rect">
            <a:avLst/>
          </a:prstGeom>
        </p:spPr>
      </p:pic>
      <p:sp>
        <p:nvSpPr>
          <p:cNvPr id="69" name="TextBox 68"/>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2 companies lead the 5 sub-segments tracked; no</a:t>
            </a:r>
          </a:p>
        </p:txBody>
      </p:sp>
      <p:sp>
        <p:nvSpPr>
          <p:cNvPr id="72" name="TextBox 71"/>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3.</a:t>
            </a:r>
          </a:p>
        </p:txBody>
      </p:sp>
      <p:sp>
        <p:nvSpPr>
          <p:cNvPr id="73" name="TextBox 72"/>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8" name="TextBox 77"/>
          <p:cNvSpPr txBox="1"/>
          <p:nvPr/>
        </p:nvSpPr>
        <p:spPr>
          <a:xfrm>
            <a:off x="523875" y="4333875"/>
            <a:ext cx="4144962" cy="186689"/>
          </a:xfrm>
          <a:prstGeom prst="rect">
            <a:avLst/>
          </a:prstGeom>
          <a:noFill/>
        </p:spPr>
        <p:txBody>
          <a:bodyPr wrap="none" lIns="0" rIns="0" tIns="0" bIns="0">
            <a:spAutoFit/>
          </a:bodyPr>
          <a:lstStyle/>
          <a:p>
            <a:r>
              <a:rPr sz="1100" b="0">
                <a:solidFill>
                  <a:srgbClr val="1F2933"/>
                </a:solidFill>
                <a:latin typeface="Calibri"/>
              </a:rPr>
              <a:t>'Sweet muffins' is the largest line; 'Sweet muffins' compounds fastest at</a:t>
            </a:r>
          </a:p>
        </p:txBody>
      </p:sp>
      <p:pic>
        <p:nvPicPr>
          <p:cNvPr id="79" name="Picture 78" descr="lock.png"/>
          <p:cNvPicPr>
            <a:picLocks noChangeAspect="1"/>
          </p:cNvPicPr>
          <p:nvPr/>
        </p:nvPicPr>
        <p:blipFill>
          <a:blip r:embed="rId4"/>
          <a:stretch>
            <a:fillRect/>
          </a:stretch>
        </p:blipFill>
        <p:spPr>
          <a:xfrm>
            <a:off x="4616889" y="4324096"/>
            <a:ext cx="128699" cy="187198"/>
          </a:xfrm>
          <a:prstGeom prst="rect">
            <a:avLst/>
          </a:prstGeom>
        </p:spPr>
      </p:pic>
      <p:sp>
        <p:nvSpPr>
          <p:cNvPr id="80" name="TextBox 79"/>
          <p:cNvSpPr txBox="1"/>
          <p:nvPr/>
        </p:nvSpPr>
        <p:spPr>
          <a:xfrm>
            <a:off x="4784384" y="433387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5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433684"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757534" y="1257300"/>
            <a:ext cx="1459962"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3696" y="1257300"/>
            <a:ext cx="216621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Grupo Bimbo, McKee Foods Corporation, Hostess Brands</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Rich Products Corporation, ARYZTA / Aspire Bakeries</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Europastry, Bridor, Lantmännen Unibake, Flowers Foods, Premier Foods</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Sweet muffins</a:t>
            </a:r>
          </a:p>
        </p:txBody>
      </p:sp>
      <p:sp>
        <p:nvSpPr>
          <p:cNvPr id="30" name="TextBox 29"/>
          <p:cNvSpPr txBox="1"/>
          <p:nvPr/>
        </p:nvSpPr>
        <p:spPr>
          <a:xfrm>
            <a:off x="40957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Savoury muffins</a:t>
            </a:r>
          </a:p>
        </p:txBody>
      </p:sp>
      <p:sp>
        <p:nvSpPr>
          <p:cNvPr id="31" name="TextBox 30"/>
          <p:cNvSpPr txBox="1"/>
          <p:nvPr/>
        </p:nvSpPr>
        <p:spPr>
          <a:xfrm>
            <a:off x="60769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Retail</a:t>
            </a:r>
          </a:p>
        </p:txBody>
      </p:sp>
      <p:sp>
        <p:nvSpPr>
          <p:cNvPr id="32" name="TextBox 31"/>
          <p:cNvSpPr txBox="1"/>
          <p:nvPr/>
        </p:nvSpPr>
        <p:spPr>
          <a:xfrm>
            <a:off x="80581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Foodservice and institutional</a:t>
            </a:r>
          </a:p>
        </p:txBody>
      </p:sp>
      <p:sp>
        <p:nvSpPr>
          <p:cNvPr id="33" name="TextBox 32"/>
          <p:cNvSpPr txBox="1"/>
          <p:nvPr/>
        </p:nvSpPr>
        <p:spPr>
          <a:xfrm>
            <a:off x="100393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Vending</a:t>
            </a:r>
          </a:p>
        </p:txBody>
      </p:sp>
      <p:cxnSp>
        <p:nvCxnSpPr>
          <p:cNvPr id="34" name="Connector 33"/>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a:t>
            </a:r>
          </a:p>
        </p:txBody>
      </p:sp>
      <p:sp>
        <p:nvSpPr>
          <p:cNvPr id="37" name="TextBox 36"/>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Oval 37"/>
          <p:cNvSpPr/>
          <p:nvPr/>
        </p:nvSpPr>
        <p:spPr>
          <a:xfrm>
            <a:off x="30099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3086100"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Oval 39"/>
          <p:cNvSpPr/>
          <p:nvPr/>
        </p:nvSpPr>
        <p:spPr>
          <a:xfrm>
            <a:off x="49911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69723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89535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09347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a:t>
            </a:r>
          </a:p>
        </p:txBody>
      </p:sp>
      <p:sp>
        <p:nvSpPr>
          <p:cNvPr id="47" name="TextBox 46"/>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Oval 47"/>
          <p:cNvSpPr/>
          <p:nvPr/>
        </p:nvSpPr>
        <p:spPr>
          <a:xfrm>
            <a:off x="30099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30861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49911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50673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69723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70485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89535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109347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110109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7" name="Connector 56"/>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8" name="Rectangle 57"/>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a:t>
            </a:r>
          </a:p>
        </p:txBody>
      </p:sp>
      <p:sp>
        <p:nvSpPr>
          <p:cNvPr id="60" name="TextBox 59"/>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1" name="Oval 60"/>
          <p:cNvSpPr/>
          <p:nvPr/>
        </p:nvSpPr>
        <p:spPr>
          <a:xfrm>
            <a:off x="3009900"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49911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69723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89535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9029700"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934700"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8" name="Rectangle 67"/>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a:t>
            </a:r>
          </a:p>
        </p:txBody>
      </p:sp>
      <p:sp>
        <p:nvSpPr>
          <p:cNvPr id="70" name="TextBox 69"/>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1" name="Oval 70"/>
          <p:cNvSpPr/>
          <p:nvPr/>
        </p:nvSpPr>
        <p:spPr>
          <a:xfrm>
            <a:off x="30099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Oval 71"/>
          <p:cNvSpPr/>
          <p:nvPr/>
        </p:nvSpPr>
        <p:spPr>
          <a:xfrm>
            <a:off x="49911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Freeform 72"/>
          <p:cNvSpPr/>
          <p:nvPr/>
        </p:nvSpPr>
        <p:spPr>
          <a:xfrm>
            <a:off x="50673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69723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70485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89535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90297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109347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9" name="Connector 78"/>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a:t>
            </a:r>
          </a:p>
        </p:txBody>
      </p:sp>
      <p:sp>
        <p:nvSpPr>
          <p:cNvPr id="82" name="TextBox 81"/>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Oval 82"/>
          <p:cNvSpPr/>
          <p:nvPr/>
        </p:nvSpPr>
        <p:spPr>
          <a:xfrm>
            <a:off x="30099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Freeform 83"/>
          <p:cNvSpPr/>
          <p:nvPr/>
        </p:nvSpPr>
        <p:spPr>
          <a:xfrm>
            <a:off x="30861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49911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50673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69723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0485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9535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109347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110109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2" name="Connector 91"/>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3" name="Rectangle 92"/>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a:t>
            </a:r>
          </a:p>
        </p:txBody>
      </p:sp>
      <p:sp>
        <p:nvSpPr>
          <p:cNvPr id="95" name="TextBox 94"/>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6" name="Oval 95"/>
          <p:cNvSpPr/>
          <p:nvPr/>
        </p:nvSpPr>
        <p:spPr>
          <a:xfrm>
            <a:off x="30099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Freeform 96"/>
          <p:cNvSpPr/>
          <p:nvPr/>
        </p:nvSpPr>
        <p:spPr>
          <a:xfrm>
            <a:off x="30861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Oval 97"/>
          <p:cNvSpPr/>
          <p:nvPr/>
        </p:nvSpPr>
        <p:spPr>
          <a:xfrm>
            <a:off x="49911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Freeform 98"/>
          <p:cNvSpPr/>
          <p:nvPr/>
        </p:nvSpPr>
        <p:spPr>
          <a:xfrm>
            <a:off x="50673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Oval 99"/>
          <p:cNvSpPr/>
          <p:nvPr/>
        </p:nvSpPr>
        <p:spPr>
          <a:xfrm>
            <a:off x="69723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89535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90297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109347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110109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5" name="Connector 104"/>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6" name="Rectangle 105"/>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Bridor</a:t>
            </a:r>
          </a:p>
        </p:txBody>
      </p:sp>
      <p:sp>
        <p:nvSpPr>
          <p:cNvPr id="108" name="TextBox 107"/>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9" name="Oval 108"/>
          <p:cNvSpPr/>
          <p:nvPr/>
        </p:nvSpPr>
        <p:spPr>
          <a:xfrm>
            <a:off x="30099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0861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49911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69723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reeform 112"/>
          <p:cNvSpPr/>
          <p:nvPr/>
        </p:nvSpPr>
        <p:spPr>
          <a:xfrm>
            <a:off x="70485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89535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90297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109347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7" name="Connector 116"/>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a:t>
            </a:r>
          </a:p>
        </p:txBody>
      </p:sp>
      <p:sp>
        <p:nvSpPr>
          <p:cNvPr id="120" name="TextBox 119"/>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1" name="Oval 120"/>
          <p:cNvSpPr/>
          <p:nvPr/>
        </p:nvSpPr>
        <p:spPr>
          <a:xfrm>
            <a:off x="30099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49911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50673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69723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70485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89535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Oval 126"/>
          <p:cNvSpPr/>
          <p:nvPr/>
        </p:nvSpPr>
        <p:spPr>
          <a:xfrm>
            <a:off x="109347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Freeform 127"/>
          <p:cNvSpPr/>
          <p:nvPr/>
        </p:nvSpPr>
        <p:spPr>
          <a:xfrm>
            <a:off x="110109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9" name="Connector 128"/>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0" name="Rectangle 129"/>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285750" y="53721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a:t>
            </a:r>
          </a:p>
        </p:txBody>
      </p:sp>
      <p:sp>
        <p:nvSpPr>
          <p:cNvPr id="132" name="TextBox 131"/>
          <p:cNvSpPr txBox="1"/>
          <p:nvPr/>
        </p:nvSpPr>
        <p:spPr>
          <a:xfrm>
            <a:off x="285750" y="55340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3" name="Oval 132"/>
          <p:cNvSpPr/>
          <p:nvPr/>
        </p:nvSpPr>
        <p:spPr>
          <a:xfrm>
            <a:off x="30099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30861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49911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50673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69723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89535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Freeform 138"/>
          <p:cNvSpPr/>
          <p:nvPr/>
        </p:nvSpPr>
        <p:spPr>
          <a:xfrm>
            <a:off x="90297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Oval 139"/>
          <p:cNvSpPr/>
          <p:nvPr/>
        </p:nvSpPr>
        <p:spPr>
          <a:xfrm>
            <a:off x="109347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110109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2" name="Connector 141"/>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3" name="Rectangle 142"/>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85750" y="57150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a:t>
            </a:r>
          </a:p>
        </p:txBody>
      </p:sp>
      <p:sp>
        <p:nvSpPr>
          <p:cNvPr id="145" name="TextBox 144"/>
          <p:cNvSpPr txBox="1"/>
          <p:nvPr/>
        </p:nvSpPr>
        <p:spPr>
          <a:xfrm>
            <a:off x="285750" y="58769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6" name="Oval 145"/>
          <p:cNvSpPr/>
          <p:nvPr/>
        </p:nvSpPr>
        <p:spPr>
          <a:xfrm>
            <a:off x="30099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30861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49911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50673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69723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Freeform 150"/>
          <p:cNvSpPr/>
          <p:nvPr/>
        </p:nvSpPr>
        <p:spPr>
          <a:xfrm>
            <a:off x="70485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Oval 151"/>
          <p:cNvSpPr/>
          <p:nvPr/>
        </p:nvSpPr>
        <p:spPr>
          <a:xfrm>
            <a:off x="89535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Freeform 152"/>
          <p:cNvSpPr/>
          <p:nvPr/>
        </p:nvSpPr>
        <p:spPr>
          <a:xfrm>
            <a:off x="90297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Oval 153"/>
          <p:cNvSpPr/>
          <p:nvPr/>
        </p:nvSpPr>
        <p:spPr>
          <a:xfrm>
            <a:off x="109347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5" name="Connector 154"/>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6" name="Rectangle 155"/>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31432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58" name="Rectangle 157"/>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971550"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60" name="Rectangle 159"/>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162877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62" name="TextBox 161"/>
          <p:cNvSpPr txBox="1"/>
          <p:nvPr/>
        </p:nvSpPr>
        <p:spPr>
          <a:xfrm>
            <a:off x="190500" y="6286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63" name="TextBox 162"/>
          <p:cNvSpPr txBox="1"/>
          <p:nvPr/>
        </p:nvSpPr>
        <p:spPr>
          <a:xfrm>
            <a:off x="190500" y="64008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'Sweet muffins' is the most contested column (8 players active); 'Vending' is the most open (6).</a:t>
            </a:r>
          </a:p>
        </p:txBody>
      </p:sp>
      <p:sp>
        <p:nvSpPr>
          <p:cNvPr id="164" name="TextBox 1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65" name="TextBox 164"/>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166" name="Picture 165" descr="lock.png"/>
          <p:cNvPicPr>
            <a:picLocks noChangeAspect="1"/>
          </p:cNvPicPr>
          <p:nvPr/>
        </p:nvPicPr>
        <p:blipFill>
          <a:blip r:embed="rId4"/>
          <a:stretch>
            <a:fillRect/>
          </a:stretch>
        </p:blipFill>
        <p:spPr>
          <a:xfrm>
            <a:off x="622441" y="1297051"/>
            <a:ext cx="128699" cy="187198"/>
          </a:xfrm>
          <a:prstGeom prst="rect">
            <a:avLst/>
          </a:prstGeom>
        </p:spPr>
      </p:pic>
      <p:sp>
        <p:nvSpPr>
          <p:cNvPr id="167" name="TextBox 166"/>
          <p:cNvSpPr txBox="1"/>
          <p:nvPr/>
        </p:nvSpPr>
        <p:spPr>
          <a:xfrm>
            <a:off x="4786109"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168" name="Picture 167" descr="lock.png"/>
          <p:cNvPicPr>
            <a:picLocks noChangeAspect="1"/>
          </p:cNvPicPr>
          <p:nvPr/>
        </p:nvPicPr>
        <p:blipFill>
          <a:blip r:embed="rId4"/>
          <a:stretch>
            <a:fillRect/>
          </a:stretch>
        </p:blipFill>
        <p:spPr>
          <a:xfrm>
            <a:off x="5547332" y="1297051"/>
            <a:ext cx="128699" cy="187198"/>
          </a:xfrm>
          <a:prstGeom prst="rect">
            <a:avLst/>
          </a:prstGeom>
        </p:spPr>
      </p:pic>
      <p:sp>
        <p:nvSpPr>
          <p:cNvPr id="169" name="TextBox 168"/>
          <p:cNvSpPr txBox="1"/>
          <p:nvPr/>
        </p:nvSpPr>
        <p:spPr>
          <a:xfrm>
            <a:off x="632227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170" name="Picture 169" descr="lock.png"/>
          <p:cNvPicPr>
            <a:picLocks noChangeAspect="1"/>
          </p:cNvPicPr>
          <p:nvPr/>
        </p:nvPicPr>
        <p:blipFill>
          <a:blip r:embed="rId4"/>
          <a:stretch>
            <a:fillRect/>
          </a:stretch>
        </p:blipFill>
        <p:spPr>
          <a:xfrm>
            <a:off x="6890588" y="1297051"/>
            <a:ext cx="128699" cy="187198"/>
          </a:xfrm>
          <a:prstGeom prst="rect">
            <a:avLst/>
          </a:prstGeom>
        </p:spPr>
      </p:pic>
      <p:sp>
        <p:nvSpPr>
          <p:cNvPr id="171" name="TextBox 170"/>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172" name="Picture 171"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5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85750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314325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320040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320040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60960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615315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Sweet muffins, share</a:t>
            </a:r>
          </a:p>
        </p:txBody>
      </p:sp>
      <p:sp>
        <p:nvSpPr>
          <p:cNvPr id="17" name="TextBox 16"/>
          <p:cNvSpPr txBox="1"/>
          <p:nvPr/>
        </p:nvSpPr>
        <p:spPr>
          <a:xfrm>
            <a:off x="615315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904875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910590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Savoury muffins, share</a:t>
            </a:r>
          </a:p>
        </p:txBody>
      </p:sp>
      <p:sp>
        <p:nvSpPr>
          <p:cNvPr id="20" name="TextBox 19"/>
          <p:cNvSpPr txBox="1"/>
          <p:nvPr/>
        </p:nvSpPr>
        <p:spPr>
          <a:xfrm>
            <a:off x="910590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Rectangle 21"/>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Sweet muffins</a:t>
            </a:r>
          </a:p>
        </p:txBody>
      </p:sp>
      <p:sp>
        <p:nvSpPr>
          <p:cNvPr id="25" name="TextBox 24"/>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6" name="TextBox 25"/>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27" name="TextBox 26"/>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28" name="TextBox 27"/>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29" name="Connector 28"/>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1" name="TextBox 30"/>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Hostess Brands</a:t>
            </a:r>
          </a:p>
        </p:txBody>
      </p:sp>
      <p:sp>
        <p:nvSpPr>
          <p:cNvPr id="32" name="TextBox 31"/>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3" name="TextBox 32"/>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Grupo Bimbo</a:t>
            </a:r>
          </a:p>
        </p:txBody>
      </p:sp>
      <p:sp>
        <p:nvSpPr>
          <p:cNvPr id="34" name="TextBox 33"/>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McKee Foods Corporation</a:t>
            </a:r>
          </a:p>
        </p:txBody>
      </p:sp>
      <p:sp>
        <p:nvSpPr>
          <p:cNvPr id="35" name="TextBox 34"/>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ARYZTA / Aspire Bakeries</a:t>
            </a:r>
          </a:p>
        </p:txBody>
      </p:sp>
      <p:sp>
        <p:nvSpPr>
          <p:cNvPr id="36" name="TextBox 35"/>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Europastry</a:t>
            </a:r>
          </a:p>
        </p:txBody>
      </p:sp>
      <p:cxnSp>
        <p:nvCxnSpPr>
          <p:cNvPr id="37" name="Connector 36"/>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39" name="TextBox 38"/>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0" name="Connector 39"/>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1" name="Freeform 40"/>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Savoury muffins</a:t>
            </a:r>
          </a:p>
        </p:txBody>
      </p:sp>
      <p:sp>
        <p:nvSpPr>
          <p:cNvPr id="45" name="TextBox 44"/>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6" name="TextBox 45"/>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47" name="TextBox 46"/>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48" name="TextBox 47"/>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49" name="Connector 48"/>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1" name="TextBox 50"/>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Grupo Bimbo</a:t>
            </a:r>
          </a:p>
        </p:txBody>
      </p:sp>
      <p:sp>
        <p:nvSpPr>
          <p:cNvPr id="52" name="TextBox 51"/>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3" name="TextBox 52"/>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McKee Foods Corporation</a:t>
            </a:r>
          </a:p>
        </p:txBody>
      </p:sp>
      <p:sp>
        <p:nvSpPr>
          <p:cNvPr id="54" name="TextBox 53"/>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Rich Products Corporation</a:t>
            </a:r>
          </a:p>
        </p:txBody>
      </p:sp>
      <p:sp>
        <p:nvSpPr>
          <p:cNvPr id="55" name="TextBox 54"/>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ARYZTA / Aspire Bakeries</a:t>
            </a:r>
          </a:p>
        </p:txBody>
      </p:sp>
      <p:sp>
        <p:nvSpPr>
          <p:cNvPr id="56" name="TextBox 55"/>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Europastry</a:t>
            </a:r>
          </a:p>
        </p:txBody>
      </p:sp>
      <p:cxnSp>
        <p:nvCxnSpPr>
          <p:cNvPr id="57" name="Connector 56"/>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59" name="TextBox 58"/>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0" name="Connector 59"/>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1" name="Freeform 60"/>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4. Sales Channel</a:t>
            </a:r>
          </a:p>
        </p:txBody>
      </p:sp>
      <p:sp>
        <p:nvSpPr>
          <p:cNvPr id="65" name="TextBox 64"/>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66" name="TextBox 65"/>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67" name="Connector 66"/>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a:t>
            </a:r>
          </a:p>
        </p:txBody>
      </p:sp>
      <p:sp>
        <p:nvSpPr>
          <p:cNvPr id="69" name="Rectangle 68"/>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1" name="TextBox 70"/>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a:t>
            </a:r>
          </a:p>
        </p:txBody>
      </p:sp>
      <p:sp>
        <p:nvSpPr>
          <p:cNvPr id="72" name="Rectangle 71"/>
          <p:cNvSpPr/>
          <p:nvPr/>
        </p:nvSpPr>
        <p:spPr>
          <a:xfrm>
            <a:off x="10682288" y="2847975"/>
            <a:ext cx="417326"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37713"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4" name="TextBox 73"/>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Vending</a:t>
            </a:r>
          </a:p>
        </p:txBody>
      </p:sp>
      <p:sp>
        <p:nvSpPr>
          <p:cNvPr id="75" name="Rectangle 74"/>
          <p:cNvSpPr/>
          <p:nvPr/>
        </p:nvSpPr>
        <p:spPr>
          <a:xfrm>
            <a:off x="10682288" y="3171825"/>
            <a:ext cx="5294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10773336"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7" name="Connector 76"/>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79" name="TextBox 78"/>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0" name="Rectangle 79"/>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83" name="TextBox 82"/>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Sweet muffins Compounds Fastest Across the Product Type Mix  |  South Asia &amp; Pacific Emerges as the Growth Engine Among Regions  |  Premiumisation Lifts Average Realisation</a:t>
            </a:r>
          </a:p>
        </p:txBody>
      </p:sp>
      <p:sp>
        <p:nvSpPr>
          <p:cNvPr id="84" name="Rectangle 83"/>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87" name="TextBox 86"/>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Savoury muffins Lags the Category and Dilutes Blended Growth  |  Uneven Region Performance Caps the Blended Rate  |  Concentration Risk Limits Pricing and Sourcing Flexibility</a:t>
            </a:r>
          </a:p>
        </p:txBody>
      </p:sp>
      <p:sp>
        <p:nvSpPr>
          <p:cNvPr id="88" name="TextBox 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9" name="Picture 88" descr="lock.png"/>
          <p:cNvPicPr>
            <a:picLocks noChangeAspect="1"/>
          </p:cNvPicPr>
          <p:nvPr/>
        </p:nvPicPr>
        <p:blipFill>
          <a:blip r:embed="rId4"/>
          <a:stretch>
            <a:fillRect/>
          </a:stretch>
        </p:blipFill>
        <p:spPr>
          <a:xfrm>
            <a:off x="1612050" y="1258951"/>
            <a:ext cx="128699" cy="187198"/>
          </a:xfrm>
          <a:prstGeom prst="rect">
            <a:avLst/>
          </a:prstGeom>
        </p:spPr>
      </p:pic>
      <p:pic>
        <p:nvPicPr>
          <p:cNvPr id="90" name="Picture 89" descr="lock.png"/>
          <p:cNvPicPr>
            <a:picLocks noChangeAspect="1"/>
          </p:cNvPicPr>
          <p:nvPr/>
        </p:nvPicPr>
        <p:blipFill>
          <a:blip r:embed="rId4"/>
          <a:stretch>
            <a:fillRect/>
          </a:stretch>
        </p:blipFill>
        <p:spPr>
          <a:xfrm>
            <a:off x="4564800" y="1258951"/>
            <a:ext cx="128699" cy="187198"/>
          </a:xfrm>
          <a:prstGeom prst="rect">
            <a:avLst/>
          </a:prstGeom>
        </p:spPr>
      </p:pic>
      <p:pic>
        <p:nvPicPr>
          <p:cNvPr id="91" name="Picture 90" descr="lock.png"/>
          <p:cNvPicPr>
            <a:picLocks noChangeAspect="1"/>
          </p:cNvPicPr>
          <p:nvPr/>
        </p:nvPicPr>
        <p:blipFill>
          <a:blip r:embed="rId4"/>
          <a:stretch>
            <a:fillRect/>
          </a:stretch>
        </p:blipFill>
        <p:spPr>
          <a:xfrm>
            <a:off x="7517550" y="1258951"/>
            <a:ext cx="128699" cy="187198"/>
          </a:xfrm>
          <a:prstGeom prst="rect">
            <a:avLst/>
          </a:prstGeom>
        </p:spPr>
      </p:pic>
      <p:pic>
        <p:nvPicPr>
          <p:cNvPr id="92" name="Picture 91" descr="lock.png"/>
          <p:cNvPicPr>
            <a:picLocks noChangeAspect="1"/>
          </p:cNvPicPr>
          <p:nvPr/>
        </p:nvPicPr>
        <p:blipFill>
          <a:blip r:embed="rId4"/>
          <a:stretch>
            <a:fillRect/>
          </a:stretch>
        </p:blipFill>
        <p:spPr>
          <a:xfrm>
            <a:off x="10470300" y="1258951"/>
            <a:ext cx="128699" cy="187198"/>
          </a:xfrm>
          <a:prstGeom prst="rect">
            <a:avLst/>
          </a:prstGeom>
        </p:spPr>
      </p:pic>
      <p:pic>
        <p:nvPicPr>
          <p:cNvPr id="93" name="Picture 92" descr="lock.png"/>
          <p:cNvPicPr>
            <a:picLocks noChangeAspect="1"/>
          </p:cNvPicPr>
          <p:nvPr/>
        </p:nvPicPr>
        <p:blipFill>
          <a:blip r:embed="rId4"/>
          <a:stretch>
            <a:fillRect/>
          </a:stretch>
        </p:blipFill>
        <p:spPr>
          <a:xfrm>
            <a:off x="554775" y="1925701"/>
            <a:ext cx="128699" cy="187198"/>
          </a:xfrm>
          <a:prstGeom prst="rect">
            <a:avLst/>
          </a:prstGeom>
        </p:spPr>
      </p:pic>
      <p:pic>
        <p:nvPicPr>
          <p:cNvPr id="94" name="Picture 93" descr="lock.png"/>
          <p:cNvPicPr>
            <a:picLocks noChangeAspect="1"/>
          </p:cNvPicPr>
          <p:nvPr/>
        </p:nvPicPr>
        <p:blipFill>
          <a:blip r:embed="rId4"/>
          <a:stretch>
            <a:fillRect/>
          </a:stretch>
        </p:blipFill>
        <p:spPr>
          <a:xfrm>
            <a:off x="554775" y="2135251"/>
            <a:ext cx="128699" cy="187198"/>
          </a:xfrm>
          <a:prstGeom prst="rect">
            <a:avLst/>
          </a:prstGeom>
        </p:spPr>
      </p:pic>
      <p:pic>
        <p:nvPicPr>
          <p:cNvPr id="95" name="Picture 94" descr="lock.png"/>
          <p:cNvPicPr>
            <a:picLocks noChangeAspect="1"/>
          </p:cNvPicPr>
          <p:nvPr/>
        </p:nvPicPr>
        <p:blipFill>
          <a:blip r:embed="rId4"/>
          <a:stretch>
            <a:fillRect/>
          </a:stretch>
        </p:blipFill>
        <p:spPr>
          <a:xfrm>
            <a:off x="3569437" y="1925701"/>
            <a:ext cx="128699" cy="187198"/>
          </a:xfrm>
          <a:prstGeom prst="rect">
            <a:avLst/>
          </a:prstGeom>
        </p:spPr>
      </p:pic>
      <p:pic>
        <p:nvPicPr>
          <p:cNvPr id="96" name="Picture 95" descr="lock.png"/>
          <p:cNvPicPr>
            <a:picLocks noChangeAspect="1"/>
          </p:cNvPicPr>
          <p:nvPr/>
        </p:nvPicPr>
        <p:blipFill>
          <a:blip r:embed="rId4"/>
          <a:stretch>
            <a:fillRect/>
          </a:stretch>
        </p:blipFill>
        <p:spPr>
          <a:xfrm>
            <a:off x="3569437" y="2135251"/>
            <a:ext cx="128699" cy="187198"/>
          </a:xfrm>
          <a:prstGeom prst="rect">
            <a:avLst/>
          </a:prstGeom>
        </p:spPr>
      </p:pic>
      <p:pic>
        <p:nvPicPr>
          <p:cNvPr id="97" name="Picture 96" descr="lock.png"/>
          <p:cNvPicPr>
            <a:picLocks noChangeAspect="1"/>
          </p:cNvPicPr>
          <p:nvPr/>
        </p:nvPicPr>
        <p:blipFill>
          <a:blip r:embed="rId4"/>
          <a:stretch>
            <a:fillRect/>
          </a:stretch>
        </p:blipFill>
        <p:spPr>
          <a:xfrm>
            <a:off x="11660925" y="2487676"/>
            <a:ext cx="128699" cy="187198"/>
          </a:xfrm>
          <a:prstGeom prst="rect">
            <a:avLst/>
          </a:prstGeom>
        </p:spPr>
      </p:pic>
      <p:pic>
        <p:nvPicPr>
          <p:cNvPr id="98" name="Picture 97" descr="lock.png"/>
          <p:cNvPicPr>
            <a:picLocks noChangeAspect="1"/>
          </p:cNvPicPr>
          <p:nvPr/>
        </p:nvPicPr>
        <p:blipFill>
          <a:blip r:embed="rId4"/>
          <a:stretch>
            <a:fillRect/>
          </a:stretch>
        </p:blipFill>
        <p:spPr>
          <a:xfrm>
            <a:off x="11311488" y="2811526"/>
            <a:ext cx="128699" cy="187198"/>
          </a:xfrm>
          <a:prstGeom prst="rect">
            <a:avLst/>
          </a:prstGeom>
        </p:spPr>
      </p:pic>
      <p:pic>
        <p:nvPicPr>
          <p:cNvPr id="99" name="Picture 98" descr="lock.png"/>
          <p:cNvPicPr>
            <a:picLocks noChangeAspect="1"/>
          </p:cNvPicPr>
          <p:nvPr/>
        </p:nvPicPr>
        <p:blipFill>
          <a:blip r:embed="rId4"/>
          <a:stretch>
            <a:fillRect/>
          </a:stretch>
        </p:blipFill>
        <p:spPr>
          <a:xfrm>
            <a:off x="10947111" y="3135376"/>
            <a:ext cx="128699" cy="187198"/>
          </a:xfrm>
          <a:prstGeom prst="rect">
            <a:avLst/>
          </a:prstGeom>
        </p:spPr>
      </p:pic>
      <p:sp>
        <p:nvSpPr>
          <p:cNvPr id="100" name="TextBox 99"/>
          <p:cNvSpPr txBox="1"/>
          <p:nvPr/>
        </p:nvSpPr>
        <p:spPr>
          <a:xfrm>
            <a:off x="314325" y="4676775"/>
            <a:ext cx="2292573" cy="186689"/>
          </a:xfrm>
          <a:prstGeom prst="rect">
            <a:avLst/>
          </a:prstGeom>
          <a:noFill/>
        </p:spPr>
        <p:txBody>
          <a:bodyPr wrap="none" lIns="0" rIns="0" tIns="0" bIns="0">
            <a:spAutoFit/>
          </a:bodyPr>
          <a:lstStyle/>
          <a:p>
            <a:r>
              <a:rPr sz="1100" b="0">
                <a:solidFill>
                  <a:srgbClr val="1F2933"/>
                </a:solidFill>
                <a:latin typeface="Calibri"/>
              </a:rPr>
              <a:t>5 named players compete here; 'Sweet</a:t>
            </a:r>
          </a:p>
        </p:txBody>
      </p:sp>
      <p:sp>
        <p:nvSpPr>
          <p:cNvPr id="101" name="TextBox 100"/>
          <p:cNvSpPr txBox="1"/>
          <p:nvPr/>
        </p:nvSpPr>
        <p:spPr>
          <a:xfrm>
            <a:off x="314325" y="4844415"/>
            <a:ext cx="837183" cy="186689"/>
          </a:xfrm>
          <a:prstGeom prst="rect">
            <a:avLst/>
          </a:prstGeom>
          <a:noFill/>
        </p:spPr>
        <p:txBody>
          <a:bodyPr wrap="none" lIns="0" rIns="0" tIns="0" bIns="0">
            <a:spAutoFit/>
          </a:bodyPr>
          <a:lstStyle/>
          <a:p>
            <a:r>
              <a:rPr sz="1100" b="0">
                <a:solidFill>
                  <a:srgbClr val="1F2933"/>
                </a:solidFill>
                <a:latin typeface="Calibri"/>
              </a:rPr>
              <a:t>muffins' adds</a:t>
            </a:r>
          </a:p>
        </p:txBody>
      </p:sp>
      <p:pic>
        <p:nvPicPr>
          <p:cNvPr id="102" name="Picture 101" descr="lock.png"/>
          <p:cNvPicPr>
            <a:picLocks noChangeAspect="1"/>
          </p:cNvPicPr>
          <p:nvPr/>
        </p:nvPicPr>
        <p:blipFill>
          <a:blip r:embed="rId4"/>
          <a:stretch>
            <a:fillRect/>
          </a:stretch>
        </p:blipFill>
        <p:spPr>
          <a:xfrm>
            <a:off x="1099559" y="4834636"/>
            <a:ext cx="128699" cy="187198"/>
          </a:xfrm>
          <a:prstGeom prst="rect">
            <a:avLst/>
          </a:prstGeom>
        </p:spPr>
      </p:pic>
      <p:sp>
        <p:nvSpPr>
          <p:cNvPr id="103" name="TextBox 102"/>
          <p:cNvSpPr txBox="1"/>
          <p:nvPr/>
        </p:nvSpPr>
        <p:spPr>
          <a:xfrm>
            <a:off x="1267055"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04" name="TextBox 103"/>
          <p:cNvSpPr txBox="1"/>
          <p:nvPr/>
        </p:nvSpPr>
        <p:spPr>
          <a:xfrm>
            <a:off x="3328987" y="4676775"/>
            <a:ext cx="2395711" cy="186689"/>
          </a:xfrm>
          <a:prstGeom prst="rect">
            <a:avLst/>
          </a:prstGeom>
          <a:noFill/>
        </p:spPr>
        <p:txBody>
          <a:bodyPr wrap="none" lIns="0" rIns="0" tIns="0" bIns="0">
            <a:spAutoFit/>
          </a:bodyPr>
          <a:lstStyle/>
          <a:p>
            <a:r>
              <a:rPr sz="1100" b="0">
                <a:solidFill>
                  <a:srgbClr val="1F2933"/>
                </a:solidFill>
                <a:latin typeface="Calibri"/>
              </a:rPr>
              <a:t>5 named players compete here; 'Savoury</a:t>
            </a:r>
          </a:p>
        </p:txBody>
      </p:sp>
      <p:sp>
        <p:nvSpPr>
          <p:cNvPr id="105" name="TextBox 104"/>
          <p:cNvSpPr txBox="1"/>
          <p:nvPr/>
        </p:nvSpPr>
        <p:spPr>
          <a:xfrm>
            <a:off x="3328987" y="4844415"/>
            <a:ext cx="837183" cy="186689"/>
          </a:xfrm>
          <a:prstGeom prst="rect">
            <a:avLst/>
          </a:prstGeom>
          <a:noFill/>
        </p:spPr>
        <p:txBody>
          <a:bodyPr wrap="none" lIns="0" rIns="0" tIns="0" bIns="0">
            <a:spAutoFit/>
          </a:bodyPr>
          <a:lstStyle/>
          <a:p>
            <a:r>
              <a:rPr sz="1100" b="0">
                <a:solidFill>
                  <a:srgbClr val="1F2933"/>
                </a:solidFill>
                <a:latin typeface="Calibri"/>
              </a:rPr>
              <a:t>muffins' adds</a:t>
            </a:r>
          </a:p>
        </p:txBody>
      </p:sp>
      <p:pic>
        <p:nvPicPr>
          <p:cNvPr id="106" name="Picture 105" descr="lock.png"/>
          <p:cNvPicPr>
            <a:picLocks noChangeAspect="1"/>
          </p:cNvPicPr>
          <p:nvPr/>
        </p:nvPicPr>
        <p:blipFill>
          <a:blip r:embed="rId4"/>
          <a:stretch>
            <a:fillRect/>
          </a:stretch>
        </p:blipFill>
        <p:spPr>
          <a:xfrm>
            <a:off x="4114221" y="4834636"/>
            <a:ext cx="128699" cy="187198"/>
          </a:xfrm>
          <a:prstGeom prst="rect">
            <a:avLst/>
          </a:prstGeom>
        </p:spPr>
      </p:pic>
      <p:sp>
        <p:nvSpPr>
          <p:cNvPr id="107" name="TextBox 106"/>
          <p:cNvSpPr txBox="1"/>
          <p:nvPr/>
        </p:nvSpPr>
        <p:spPr>
          <a:xfrm>
            <a:off x="4281717"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08" name="TextBox 107"/>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09" name="Picture 108" descr="lock.png"/>
          <p:cNvPicPr>
            <a:picLocks noChangeAspect="1"/>
          </p:cNvPicPr>
          <p:nvPr/>
        </p:nvPicPr>
        <p:blipFill>
          <a:blip r:embed="rId4"/>
          <a:stretch>
            <a:fillRect/>
          </a:stretch>
        </p:blipFill>
        <p:spPr>
          <a:xfrm>
            <a:off x="11035226" y="4666996"/>
            <a:ext cx="128699" cy="187198"/>
          </a:xfrm>
          <a:prstGeom prst="rect">
            <a:avLst/>
          </a:prstGeom>
        </p:spPr>
      </p:pic>
      <p:sp>
        <p:nvSpPr>
          <p:cNvPr id="110" name="TextBox 109"/>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11" name="TextBox 110"/>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12" name="TextBox 111"/>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5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ARYZTA / Aspire Bakeries</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Europastry</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Bridor</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Lantmännen Unibake</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655050" y="3876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Flowers Foods</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655050" y="4067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Premier Foods</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94" name="TextBox 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99" name="Picture 98" descr="lock.png"/>
          <p:cNvPicPr>
            <a:picLocks noChangeAspect="1"/>
          </p:cNvPicPr>
          <p:nvPr/>
        </p:nvPicPr>
        <p:blipFill>
          <a:blip r:embed="rId4"/>
          <a:stretch>
            <a:fillRect/>
          </a:stretch>
        </p:blipFill>
        <p:spPr>
          <a:xfrm>
            <a:off x="1343736" y="5867145"/>
            <a:ext cx="128699" cy="187198"/>
          </a:xfrm>
          <a:prstGeom prst="rect">
            <a:avLst/>
          </a:prstGeom>
        </p:spPr>
      </p:pic>
      <p:sp>
        <p:nvSpPr>
          <p:cNvPr id="100" name="TextBox 99"/>
          <p:cNvSpPr txBox="1"/>
          <p:nvPr/>
        </p:nvSpPr>
        <p:spPr>
          <a:xfrm>
            <a:off x="151123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2" name="Picture 101" descr="lock.png"/>
          <p:cNvPicPr>
            <a:picLocks noChangeAspect="1"/>
          </p:cNvPicPr>
          <p:nvPr/>
        </p:nvPicPr>
        <p:blipFill>
          <a:blip r:embed="rId4"/>
          <a:stretch>
            <a:fillRect/>
          </a:stretch>
        </p:blipFill>
        <p:spPr>
          <a:xfrm>
            <a:off x="4344111" y="5867145"/>
            <a:ext cx="128699" cy="187198"/>
          </a:xfrm>
          <a:prstGeom prst="rect">
            <a:avLst/>
          </a:prstGeom>
        </p:spPr>
      </p:pic>
      <p:sp>
        <p:nvSpPr>
          <p:cNvPr id="103" name="TextBox 102"/>
          <p:cNvSpPr txBox="1"/>
          <p:nvPr/>
        </p:nvSpPr>
        <p:spPr>
          <a:xfrm>
            <a:off x="4511607"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5" name="Picture 104" descr="lock.png"/>
          <p:cNvPicPr>
            <a:picLocks noChangeAspect="1"/>
          </p:cNvPicPr>
          <p:nvPr/>
        </p:nvPicPr>
        <p:blipFill>
          <a:blip r:embed="rId4"/>
          <a:stretch>
            <a:fillRect/>
          </a:stretch>
        </p:blipFill>
        <p:spPr>
          <a:xfrm>
            <a:off x="7344486" y="5867145"/>
            <a:ext cx="128699" cy="187198"/>
          </a:xfrm>
          <a:prstGeom prst="rect">
            <a:avLst/>
          </a:prstGeom>
        </p:spPr>
      </p:pic>
      <p:sp>
        <p:nvSpPr>
          <p:cNvPr id="106" name="TextBox 105"/>
          <p:cNvSpPr txBox="1"/>
          <p:nvPr/>
        </p:nvSpPr>
        <p:spPr>
          <a:xfrm>
            <a:off x="751198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5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6181725" y="2324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TextBox 39"/>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1" name="Connector 40"/>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a:t>
            </a:r>
          </a:p>
        </p:txBody>
      </p:sp>
      <p:sp>
        <p:nvSpPr>
          <p:cNvPr id="44" name="TextBox 43"/>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5" name="TextBox 44"/>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6" name="TextBox 45"/>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7" name="Oval 46"/>
          <p:cNvSpPr/>
          <p:nvPr/>
        </p:nvSpPr>
        <p:spPr>
          <a:xfrm>
            <a:off x="6104467"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6181725" y="2667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TextBox 52"/>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4" name="Connector 5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a:t>
            </a:r>
          </a:p>
        </p:txBody>
      </p:sp>
      <p:sp>
        <p:nvSpPr>
          <p:cNvPr id="57" name="TextBox 5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9" name="TextBox 58"/>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60" name="Oval 59"/>
          <p:cNvSpPr/>
          <p:nvPr/>
        </p:nvSpPr>
        <p:spPr>
          <a:xfrm>
            <a:off x="6104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6181725" y="30099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7" name="TextBox 66"/>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8" name="Connector 6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a:t>
            </a:r>
          </a:p>
        </p:txBody>
      </p:sp>
      <p:sp>
        <p:nvSpPr>
          <p:cNvPr id="71" name="TextBox 7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2" name="TextBox 71"/>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TextBox 72"/>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4" name="Oval 73"/>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6181725" y="33528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reeform 78"/>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TextBox 80"/>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2" name="Connector 81"/>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3" name="Rectangle 82"/>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a:t>
            </a:r>
          </a:p>
        </p:txBody>
      </p:sp>
      <p:sp>
        <p:nvSpPr>
          <p:cNvPr id="85" name="TextBox 84"/>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6" name="TextBox 85"/>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7" name="TextBox 86"/>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8" name="Oval 87"/>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Freeform 94"/>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7" name="TextBox 96"/>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8" name="Connector 97"/>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9" name="Rectangle 98"/>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a:t>
            </a:r>
          </a:p>
        </p:txBody>
      </p:sp>
      <p:sp>
        <p:nvSpPr>
          <p:cNvPr id="101" name="TextBox 100"/>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2" name="TextBox 101"/>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TextBox 102"/>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4" name="Oval 103"/>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reeform 108"/>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a:t>
            </a:r>
          </a:p>
        </p:txBody>
      </p:sp>
      <p:sp>
        <p:nvSpPr>
          <p:cNvPr id="117" name="TextBox 116"/>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TextBox 117"/>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9" name="TextBox 118"/>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20" name="Oval 119"/>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618172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9" name="TextBox 128"/>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0" name="Connector 129"/>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Rectangle 130"/>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a:t>
            </a:r>
          </a:p>
        </p:txBody>
      </p:sp>
      <p:sp>
        <p:nvSpPr>
          <p:cNvPr id="133" name="TextBox 132"/>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4" name="TextBox 133"/>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6" name="Oval 135"/>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618172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Freeform 138"/>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Oval 139"/>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5" name="TextBox 144"/>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6" name="Connector 145"/>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7" name="Rectangle 146"/>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a:t>
            </a:r>
          </a:p>
        </p:txBody>
      </p:sp>
      <p:sp>
        <p:nvSpPr>
          <p:cNvPr id="149" name="TextBox 148"/>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0" name="TextBox 149"/>
          <p:cNvSpPr txBox="1"/>
          <p:nvPr/>
        </p:nvSpPr>
        <p:spPr>
          <a:xfrm>
            <a:off x="2000250" y="49720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51" name="TextBox 150"/>
          <p:cNvSpPr txBox="1"/>
          <p:nvPr/>
        </p:nvSpPr>
        <p:spPr>
          <a:xfrm>
            <a:off x="4419600" y="49720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52" name="Oval 151"/>
          <p:cNvSpPr/>
          <p:nvPr/>
        </p:nvSpPr>
        <p:spPr>
          <a:xfrm>
            <a:off x="6104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Freeform 152"/>
          <p:cNvSpPr/>
          <p:nvPr/>
        </p:nvSpPr>
        <p:spPr>
          <a:xfrm>
            <a:off x="618172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Oval 153"/>
          <p:cNvSpPr/>
          <p:nvPr/>
        </p:nvSpPr>
        <p:spPr>
          <a:xfrm>
            <a:off x="716280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Freeform 154"/>
          <p:cNvSpPr/>
          <p:nvPr/>
        </p:nvSpPr>
        <p:spPr>
          <a:xfrm>
            <a:off x="7239000"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Oval 155"/>
          <p:cNvSpPr/>
          <p:nvPr/>
        </p:nvSpPr>
        <p:spPr>
          <a:xfrm>
            <a:off x="8221133"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Freeform 156"/>
          <p:cNvSpPr/>
          <p:nvPr/>
        </p:nvSpPr>
        <p:spPr>
          <a:xfrm>
            <a:off x="8296275"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Oval 157"/>
          <p:cNvSpPr/>
          <p:nvPr/>
        </p:nvSpPr>
        <p:spPr>
          <a:xfrm>
            <a:off x="9279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Freeform 158"/>
          <p:cNvSpPr/>
          <p:nvPr/>
        </p:nvSpPr>
        <p:spPr>
          <a:xfrm>
            <a:off x="9353550"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9884833"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1" name="TextBox 160"/>
          <p:cNvSpPr txBox="1"/>
          <p:nvPr/>
        </p:nvSpPr>
        <p:spPr>
          <a:xfrm>
            <a:off x="10943167"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62" name="Connector 161"/>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3" name="Rectangle 162"/>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a:t>
            </a:r>
          </a:p>
        </p:txBody>
      </p:sp>
      <p:sp>
        <p:nvSpPr>
          <p:cNvPr id="165" name="TextBox 164"/>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66" name="TextBox 165"/>
          <p:cNvSpPr txBox="1"/>
          <p:nvPr/>
        </p:nvSpPr>
        <p:spPr>
          <a:xfrm>
            <a:off x="2000250" y="53149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7" name="TextBox 166"/>
          <p:cNvSpPr txBox="1"/>
          <p:nvPr/>
        </p:nvSpPr>
        <p:spPr>
          <a:xfrm>
            <a:off x="4419600" y="53149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68" name="Oval 167"/>
          <p:cNvSpPr/>
          <p:nvPr/>
        </p:nvSpPr>
        <p:spPr>
          <a:xfrm>
            <a:off x="6104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8172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716280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Freeform 170"/>
          <p:cNvSpPr/>
          <p:nvPr/>
        </p:nvSpPr>
        <p:spPr>
          <a:xfrm>
            <a:off x="7239000"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Oval 171"/>
          <p:cNvSpPr/>
          <p:nvPr/>
        </p:nvSpPr>
        <p:spPr>
          <a:xfrm>
            <a:off x="8221133"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Freeform 172"/>
          <p:cNvSpPr/>
          <p:nvPr/>
        </p:nvSpPr>
        <p:spPr>
          <a:xfrm>
            <a:off x="8296275"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Oval 173"/>
          <p:cNvSpPr/>
          <p:nvPr/>
        </p:nvSpPr>
        <p:spPr>
          <a:xfrm>
            <a:off x="9279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Freeform 174"/>
          <p:cNvSpPr/>
          <p:nvPr/>
        </p:nvSpPr>
        <p:spPr>
          <a:xfrm>
            <a:off x="9353550"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9884833"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77" name="TextBox 176"/>
          <p:cNvSpPr txBox="1"/>
          <p:nvPr/>
        </p:nvSpPr>
        <p:spPr>
          <a:xfrm>
            <a:off x="10943167"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78" name="Connector 177"/>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9" name="Oval 178"/>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81" name="Oval 180"/>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Freeform 181"/>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TextBox 182"/>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84" name="Oval 183"/>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Freeform 184"/>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87" name="Oval 186"/>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89" name="TextBox 188"/>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90" name="TextBox 189"/>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91" name="TextBox 1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92" name="TextBox 191"/>
          <p:cNvSpPr txBox="1"/>
          <p:nvPr/>
        </p:nvSpPr>
        <p:spPr>
          <a:xfrm>
            <a:off x="8893175" y="1666875"/>
            <a:ext cx="398983" cy="186689"/>
          </a:xfrm>
          <a:prstGeom prst="rect">
            <a:avLst/>
          </a:prstGeom>
          <a:noFill/>
        </p:spPr>
        <p:txBody>
          <a:bodyPr wrap="none" lIns="0" rIns="0" tIns="0" bIns="0">
            <a:spAutoFit/>
          </a:bodyPr>
          <a:lstStyle/>
          <a:p>
            <a:r>
              <a:rPr sz="1100" b="0">
                <a:solidFill>
                  <a:srgbClr val="5F6B7A"/>
                </a:solidFill>
                <a:latin typeface="Calibri"/>
              </a:rPr>
              <a:t>Share</a:t>
            </a:r>
          </a:p>
        </p:txBody>
      </p:sp>
      <p:pic>
        <p:nvPicPr>
          <p:cNvPr id="193" name="Picture 192" descr="lock.png"/>
          <p:cNvPicPr>
            <a:picLocks noChangeAspect="1"/>
          </p:cNvPicPr>
          <p:nvPr/>
        </p:nvPicPr>
        <p:blipFill>
          <a:blip r:embed="rId4"/>
          <a:stretch>
            <a:fillRect/>
          </a:stretch>
        </p:blipFill>
        <p:spPr>
          <a:xfrm>
            <a:off x="9240209" y="1657096"/>
            <a:ext cx="128699" cy="187198"/>
          </a:xfrm>
          <a:prstGeom prst="rect">
            <a:avLst/>
          </a:prstGeom>
        </p:spPr>
      </p:pic>
      <p:sp>
        <p:nvSpPr>
          <p:cNvPr id="194" name="TextBox 193"/>
          <p:cNvSpPr txBox="1"/>
          <p:nvPr/>
        </p:nvSpPr>
        <p:spPr>
          <a:xfrm>
            <a:off x="9407705" y="1666875"/>
            <a:ext cx="384522" cy="186689"/>
          </a:xfrm>
          <a:prstGeom prst="rect">
            <a:avLst/>
          </a:prstGeom>
          <a:noFill/>
        </p:spPr>
        <p:txBody>
          <a:bodyPr wrap="none" lIns="0" rIns="0" tIns="0" bIns="0">
            <a:spAutoFit/>
          </a:bodyPr>
          <a:lstStyle/>
          <a:p>
            <a:r>
              <a:rPr sz="1100" b="0">
                <a:solidFill>
                  <a:srgbClr val="5F6B7A"/>
                </a:solidFill>
                <a:latin typeface="Calibri"/>
              </a:rPr>
              <a:t>+ = 3,</a:t>
            </a:r>
          </a:p>
        </p:txBody>
      </p:sp>
      <p:pic>
        <p:nvPicPr>
          <p:cNvPr id="195" name="Picture 194" descr="lock.png"/>
          <p:cNvPicPr>
            <a:picLocks noChangeAspect="1"/>
          </p:cNvPicPr>
          <p:nvPr/>
        </p:nvPicPr>
        <p:blipFill>
          <a:blip r:embed="rId4"/>
          <a:stretch>
            <a:fillRect/>
          </a:stretch>
        </p:blipFill>
        <p:spPr>
          <a:xfrm>
            <a:off x="8879707" y="1824736"/>
            <a:ext cx="128699" cy="187198"/>
          </a:xfrm>
          <a:prstGeom prst="rect">
            <a:avLst/>
          </a:prstGeom>
        </p:spPr>
      </p:pic>
      <p:sp>
        <p:nvSpPr>
          <p:cNvPr id="196" name="TextBox 195"/>
          <p:cNvSpPr txBox="1"/>
          <p:nvPr/>
        </p:nvSpPr>
        <p:spPr>
          <a:xfrm>
            <a:off x="9047203" y="1834515"/>
            <a:ext cx="643458" cy="186689"/>
          </a:xfrm>
          <a:prstGeom prst="rect">
            <a:avLst/>
          </a:prstGeom>
          <a:noFill/>
        </p:spPr>
        <p:txBody>
          <a:bodyPr wrap="none" lIns="0" rIns="0" tIns="0" bIns="0">
            <a:spAutoFit/>
          </a:bodyPr>
          <a:lstStyle/>
          <a:p>
            <a:r>
              <a:rPr sz="1100" b="0">
                <a:solidFill>
                  <a:srgbClr val="5F6B7A"/>
                </a:solidFill>
                <a:latin typeface="Calibri"/>
              </a:rPr>
              <a:t>= 2, else 1</a:t>
            </a:r>
          </a:p>
        </p:txBody>
      </p:sp>
      <p:pic>
        <p:nvPicPr>
          <p:cNvPr id="197" name="Picture 196" descr="lock.png"/>
          <p:cNvPicPr>
            <a:picLocks noChangeAspect="1"/>
          </p:cNvPicPr>
          <p:nvPr/>
        </p:nvPicPr>
        <p:blipFill>
          <a:blip r:embed="rId4"/>
          <a:stretch>
            <a:fillRect/>
          </a:stretch>
        </p:blipFill>
        <p:spPr>
          <a:xfrm>
            <a:off x="3126525" y="23067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0349650" y="2306701"/>
            <a:ext cx="128699" cy="187198"/>
          </a:xfrm>
          <a:prstGeom prst="rect">
            <a:avLst/>
          </a:prstGeom>
        </p:spPr>
      </p:pic>
      <p:pic>
        <p:nvPicPr>
          <p:cNvPr id="199" name="Picture 198" descr="lock.png"/>
          <p:cNvPicPr>
            <a:picLocks noChangeAspect="1"/>
          </p:cNvPicPr>
          <p:nvPr/>
        </p:nvPicPr>
        <p:blipFill>
          <a:blip r:embed="rId4"/>
          <a:stretch>
            <a:fillRect/>
          </a:stretch>
        </p:blipFill>
        <p:spPr>
          <a:xfrm>
            <a:off x="11407984" y="2306701"/>
            <a:ext cx="128699" cy="187198"/>
          </a:xfrm>
          <a:prstGeom prst="rect">
            <a:avLst/>
          </a:prstGeom>
        </p:spPr>
      </p:pic>
      <p:pic>
        <p:nvPicPr>
          <p:cNvPr id="200" name="Picture 199" descr="lock.png"/>
          <p:cNvPicPr>
            <a:picLocks noChangeAspect="1"/>
          </p:cNvPicPr>
          <p:nvPr/>
        </p:nvPicPr>
        <p:blipFill>
          <a:blip r:embed="rId4"/>
          <a:stretch>
            <a:fillRect/>
          </a:stretch>
        </p:blipFill>
        <p:spPr>
          <a:xfrm>
            <a:off x="3126525" y="26496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0349650" y="2649601"/>
            <a:ext cx="128699" cy="187198"/>
          </a:xfrm>
          <a:prstGeom prst="rect">
            <a:avLst/>
          </a:prstGeom>
        </p:spPr>
      </p:pic>
      <p:pic>
        <p:nvPicPr>
          <p:cNvPr id="202" name="Picture 201" descr="lock.png"/>
          <p:cNvPicPr>
            <a:picLocks noChangeAspect="1"/>
          </p:cNvPicPr>
          <p:nvPr/>
        </p:nvPicPr>
        <p:blipFill>
          <a:blip r:embed="rId4"/>
          <a:stretch>
            <a:fillRect/>
          </a:stretch>
        </p:blipFill>
        <p:spPr>
          <a:xfrm>
            <a:off x="11407984" y="2649601"/>
            <a:ext cx="128699" cy="187198"/>
          </a:xfrm>
          <a:prstGeom prst="rect">
            <a:avLst/>
          </a:prstGeom>
        </p:spPr>
      </p:pic>
      <p:pic>
        <p:nvPicPr>
          <p:cNvPr id="203" name="Picture 202" descr="lock.png"/>
          <p:cNvPicPr>
            <a:picLocks noChangeAspect="1"/>
          </p:cNvPicPr>
          <p:nvPr/>
        </p:nvPicPr>
        <p:blipFill>
          <a:blip r:embed="rId4"/>
          <a:stretch>
            <a:fillRect/>
          </a:stretch>
        </p:blipFill>
        <p:spPr>
          <a:xfrm>
            <a:off x="3126525" y="29925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0349650" y="2992501"/>
            <a:ext cx="128699" cy="187198"/>
          </a:xfrm>
          <a:prstGeom prst="rect">
            <a:avLst/>
          </a:prstGeom>
        </p:spPr>
      </p:pic>
      <p:pic>
        <p:nvPicPr>
          <p:cNvPr id="205" name="Picture 204" descr="lock.png"/>
          <p:cNvPicPr>
            <a:picLocks noChangeAspect="1"/>
          </p:cNvPicPr>
          <p:nvPr/>
        </p:nvPicPr>
        <p:blipFill>
          <a:blip r:embed="rId4"/>
          <a:stretch>
            <a:fillRect/>
          </a:stretch>
        </p:blipFill>
        <p:spPr>
          <a:xfrm>
            <a:off x="11407984" y="2992501"/>
            <a:ext cx="128699" cy="187198"/>
          </a:xfrm>
          <a:prstGeom prst="rect">
            <a:avLst/>
          </a:prstGeom>
        </p:spPr>
      </p:pic>
      <p:pic>
        <p:nvPicPr>
          <p:cNvPr id="206" name="Picture 205" descr="lock.png"/>
          <p:cNvPicPr>
            <a:picLocks noChangeAspect="1"/>
          </p:cNvPicPr>
          <p:nvPr/>
        </p:nvPicPr>
        <p:blipFill>
          <a:blip r:embed="rId4"/>
          <a:stretch>
            <a:fillRect/>
          </a:stretch>
        </p:blipFill>
        <p:spPr>
          <a:xfrm>
            <a:off x="3126525" y="33354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0349650" y="3335401"/>
            <a:ext cx="128699" cy="187198"/>
          </a:xfrm>
          <a:prstGeom prst="rect">
            <a:avLst/>
          </a:prstGeom>
        </p:spPr>
      </p:pic>
      <p:pic>
        <p:nvPicPr>
          <p:cNvPr id="208" name="Picture 207" descr="lock.png"/>
          <p:cNvPicPr>
            <a:picLocks noChangeAspect="1"/>
          </p:cNvPicPr>
          <p:nvPr/>
        </p:nvPicPr>
        <p:blipFill>
          <a:blip r:embed="rId4"/>
          <a:stretch>
            <a:fillRect/>
          </a:stretch>
        </p:blipFill>
        <p:spPr>
          <a:xfrm>
            <a:off x="11407984" y="3335401"/>
            <a:ext cx="128699" cy="187198"/>
          </a:xfrm>
          <a:prstGeom prst="rect">
            <a:avLst/>
          </a:prstGeom>
        </p:spPr>
      </p:pic>
      <p:pic>
        <p:nvPicPr>
          <p:cNvPr id="209" name="Picture 208" descr="lock.png"/>
          <p:cNvPicPr>
            <a:picLocks noChangeAspect="1"/>
          </p:cNvPicPr>
          <p:nvPr/>
        </p:nvPicPr>
        <p:blipFill>
          <a:blip r:embed="rId4"/>
          <a:stretch>
            <a:fillRect/>
          </a:stretch>
        </p:blipFill>
        <p:spPr>
          <a:xfrm>
            <a:off x="3126525" y="36783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0349650" y="3678301"/>
            <a:ext cx="128699" cy="187198"/>
          </a:xfrm>
          <a:prstGeom prst="rect">
            <a:avLst/>
          </a:prstGeom>
        </p:spPr>
      </p:pic>
      <p:pic>
        <p:nvPicPr>
          <p:cNvPr id="211" name="Picture 210" descr="lock.png"/>
          <p:cNvPicPr>
            <a:picLocks noChangeAspect="1"/>
          </p:cNvPicPr>
          <p:nvPr/>
        </p:nvPicPr>
        <p:blipFill>
          <a:blip r:embed="rId4"/>
          <a:stretch>
            <a:fillRect/>
          </a:stretch>
        </p:blipFill>
        <p:spPr>
          <a:xfrm>
            <a:off x="11407984" y="3678301"/>
            <a:ext cx="128699" cy="187198"/>
          </a:xfrm>
          <a:prstGeom prst="rect">
            <a:avLst/>
          </a:prstGeom>
        </p:spPr>
      </p:pic>
      <p:pic>
        <p:nvPicPr>
          <p:cNvPr id="212" name="Picture 211" descr="lock.png"/>
          <p:cNvPicPr>
            <a:picLocks noChangeAspect="1"/>
          </p:cNvPicPr>
          <p:nvPr/>
        </p:nvPicPr>
        <p:blipFill>
          <a:blip r:embed="rId4"/>
          <a:stretch>
            <a:fillRect/>
          </a:stretch>
        </p:blipFill>
        <p:spPr>
          <a:xfrm>
            <a:off x="3126525" y="40212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0349650" y="4021201"/>
            <a:ext cx="128699" cy="187198"/>
          </a:xfrm>
          <a:prstGeom prst="rect">
            <a:avLst/>
          </a:prstGeom>
        </p:spPr>
      </p:pic>
      <p:pic>
        <p:nvPicPr>
          <p:cNvPr id="214" name="Picture 213" descr="lock.png"/>
          <p:cNvPicPr>
            <a:picLocks noChangeAspect="1"/>
          </p:cNvPicPr>
          <p:nvPr/>
        </p:nvPicPr>
        <p:blipFill>
          <a:blip r:embed="rId4"/>
          <a:stretch>
            <a:fillRect/>
          </a:stretch>
        </p:blipFill>
        <p:spPr>
          <a:xfrm>
            <a:off x="11407984" y="4021201"/>
            <a:ext cx="128699" cy="187198"/>
          </a:xfrm>
          <a:prstGeom prst="rect">
            <a:avLst/>
          </a:prstGeom>
        </p:spPr>
      </p:pic>
      <p:pic>
        <p:nvPicPr>
          <p:cNvPr id="215" name="Picture 214" descr="lock.png"/>
          <p:cNvPicPr>
            <a:picLocks noChangeAspect="1"/>
          </p:cNvPicPr>
          <p:nvPr/>
        </p:nvPicPr>
        <p:blipFill>
          <a:blip r:embed="rId4"/>
          <a:stretch>
            <a:fillRect/>
          </a:stretch>
        </p:blipFill>
        <p:spPr>
          <a:xfrm>
            <a:off x="3126525" y="43641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0349650" y="4364101"/>
            <a:ext cx="128699" cy="187198"/>
          </a:xfrm>
          <a:prstGeom prst="rect">
            <a:avLst/>
          </a:prstGeom>
        </p:spPr>
      </p:pic>
      <p:pic>
        <p:nvPicPr>
          <p:cNvPr id="217" name="Picture 216" descr="lock.png"/>
          <p:cNvPicPr>
            <a:picLocks noChangeAspect="1"/>
          </p:cNvPicPr>
          <p:nvPr/>
        </p:nvPicPr>
        <p:blipFill>
          <a:blip r:embed="rId4"/>
          <a:stretch>
            <a:fillRect/>
          </a:stretch>
        </p:blipFill>
        <p:spPr>
          <a:xfrm>
            <a:off x="11407984" y="4364101"/>
            <a:ext cx="128699" cy="187198"/>
          </a:xfrm>
          <a:prstGeom prst="rect">
            <a:avLst/>
          </a:prstGeom>
        </p:spPr>
      </p:pic>
      <p:pic>
        <p:nvPicPr>
          <p:cNvPr id="218" name="Picture 217" descr="lock.png"/>
          <p:cNvPicPr>
            <a:picLocks noChangeAspect="1"/>
          </p:cNvPicPr>
          <p:nvPr/>
        </p:nvPicPr>
        <p:blipFill>
          <a:blip r:embed="rId4"/>
          <a:stretch>
            <a:fillRect/>
          </a:stretch>
        </p:blipFill>
        <p:spPr>
          <a:xfrm>
            <a:off x="3126525" y="47070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0349650" y="4707001"/>
            <a:ext cx="128699" cy="187198"/>
          </a:xfrm>
          <a:prstGeom prst="rect">
            <a:avLst/>
          </a:prstGeom>
        </p:spPr>
      </p:pic>
      <p:pic>
        <p:nvPicPr>
          <p:cNvPr id="220" name="Picture 219" descr="lock.png"/>
          <p:cNvPicPr>
            <a:picLocks noChangeAspect="1"/>
          </p:cNvPicPr>
          <p:nvPr/>
        </p:nvPicPr>
        <p:blipFill>
          <a:blip r:embed="rId4"/>
          <a:stretch>
            <a:fillRect/>
          </a:stretch>
        </p:blipFill>
        <p:spPr>
          <a:xfrm>
            <a:off x="11407984" y="4707001"/>
            <a:ext cx="128699" cy="187198"/>
          </a:xfrm>
          <a:prstGeom prst="rect">
            <a:avLst/>
          </a:prstGeom>
        </p:spPr>
      </p:pic>
      <p:pic>
        <p:nvPicPr>
          <p:cNvPr id="221" name="Picture 220" descr="lock.png"/>
          <p:cNvPicPr>
            <a:picLocks noChangeAspect="1"/>
          </p:cNvPicPr>
          <p:nvPr/>
        </p:nvPicPr>
        <p:blipFill>
          <a:blip r:embed="rId4"/>
          <a:stretch>
            <a:fillRect/>
          </a:stretch>
        </p:blipFill>
        <p:spPr>
          <a:xfrm>
            <a:off x="3126525" y="50499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0349650" y="504990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407984" y="5049901"/>
            <a:ext cx="128699" cy="187198"/>
          </a:xfrm>
          <a:prstGeom prst="rect">
            <a:avLst/>
          </a:prstGeom>
        </p:spPr>
      </p:pic>
      <p:pic>
        <p:nvPicPr>
          <p:cNvPr id="224" name="Picture 223" descr="lock.png"/>
          <p:cNvPicPr>
            <a:picLocks noChangeAspect="1"/>
          </p:cNvPicPr>
          <p:nvPr/>
        </p:nvPicPr>
        <p:blipFill>
          <a:blip r:embed="rId4"/>
          <a:stretch>
            <a:fillRect/>
          </a:stretch>
        </p:blipFill>
        <p:spPr>
          <a:xfrm>
            <a:off x="3126525" y="5392801"/>
            <a:ext cx="128699" cy="187198"/>
          </a:xfrm>
          <a:prstGeom prst="rect">
            <a:avLst/>
          </a:prstGeom>
        </p:spPr>
      </p:pic>
      <p:pic>
        <p:nvPicPr>
          <p:cNvPr id="225" name="Picture 224" descr="lock.png"/>
          <p:cNvPicPr>
            <a:picLocks noChangeAspect="1"/>
          </p:cNvPicPr>
          <p:nvPr/>
        </p:nvPicPr>
        <p:blipFill>
          <a:blip r:embed="rId4"/>
          <a:stretch>
            <a:fillRect/>
          </a:stretch>
        </p:blipFill>
        <p:spPr>
          <a:xfrm>
            <a:off x="10349650" y="5392801"/>
            <a:ext cx="128699" cy="187198"/>
          </a:xfrm>
          <a:prstGeom prst="rect">
            <a:avLst/>
          </a:prstGeom>
        </p:spPr>
      </p:pic>
      <p:pic>
        <p:nvPicPr>
          <p:cNvPr id="226" name="Picture 225" descr="lock.png"/>
          <p:cNvPicPr>
            <a:picLocks noChangeAspect="1"/>
          </p:cNvPicPr>
          <p:nvPr/>
        </p:nvPicPr>
        <p:blipFill>
          <a:blip r:embed="rId4"/>
          <a:stretch>
            <a:fillRect/>
          </a:stretch>
        </p:blipFill>
        <p:spPr>
          <a:xfrm>
            <a:off x="11407984" y="5392801"/>
            <a:ext cx="128699" cy="187198"/>
          </a:xfrm>
          <a:prstGeom prst="rect">
            <a:avLst/>
          </a:prstGeom>
        </p:spPr>
      </p:pic>
    </p:spTree>
  </p:cSld>
  <p:clrMapOvr>
    <a:masterClrMapping/>
  </p:clrMapOvr>
</p:sld>
</file>

<file path=ppt/slides/slide5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a:t>
            </a:r>
          </a:p>
        </p:txBody>
      </p:sp>
      <p:sp>
        <p:nvSpPr>
          <p:cNvPr id="117" name="TextBox 116"/>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2659436"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413020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4210050"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4979894"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6744821"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123" name="TextBox 122"/>
          <p:cNvSpPr txBox="1"/>
          <p:nvPr/>
        </p:nvSpPr>
        <p:spPr>
          <a:xfrm>
            <a:off x="8471647"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4" name="TextBox 123"/>
          <p:cNvSpPr txBox="1"/>
          <p:nvPr/>
        </p:nvSpPr>
        <p:spPr>
          <a:xfrm>
            <a:off x="10236574"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a:t>
            </a:r>
          </a:p>
        </p:txBody>
      </p:sp>
      <p:sp>
        <p:nvSpPr>
          <p:cNvPr id="128" name="TextBox 127"/>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9" name="Oval 128"/>
          <p:cNvSpPr/>
          <p:nvPr/>
        </p:nvSpPr>
        <p:spPr>
          <a:xfrm>
            <a:off x="2659436"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Freeform 129"/>
          <p:cNvSpPr/>
          <p:nvPr/>
        </p:nvSpPr>
        <p:spPr>
          <a:xfrm>
            <a:off x="2733675" y="5410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413020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4979894"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6744821"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134" name="TextBox 133"/>
          <p:cNvSpPr txBox="1"/>
          <p:nvPr/>
        </p:nvSpPr>
        <p:spPr>
          <a:xfrm>
            <a:off x="8471647"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10236574"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289760"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054687" y="23067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289760" y="264960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054687" y="26496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289760" y="2992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054687" y="29925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289760" y="3335401"/>
            <a:ext cx="128699" cy="187198"/>
          </a:xfrm>
          <a:prstGeom prst="rect">
            <a:avLst/>
          </a:prstGeom>
        </p:spPr>
      </p:pic>
      <p:pic>
        <p:nvPicPr>
          <p:cNvPr id="157" name="Picture 156" descr="lock.png"/>
          <p:cNvPicPr>
            <a:picLocks noChangeAspect="1"/>
          </p:cNvPicPr>
          <p:nvPr/>
        </p:nvPicPr>
        <p:blipFill>
          <a:blip r:embed="rId4"/>
          <a:stretch>
            <a:fillRect/>
          </a:stretch>
        </p:blipFill>
        <p:spPr>
          <a:xfrm>
            <a:off x="11054687" y="3335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289760" y="3678301"/>
            <a:ext cx="128699" cy="187198"/>
          </a:xfrm>
          <a:prstGeom prst="rect">
            <a:avLst/>
          </a:prstGeom>
        </p:spPr>
      </p:pic>
      <p:pic>
        <p:nvPicPr>
          <p:cNvPr id="159" name="Picture 158" descr="lock.png"/>
          <p:cNvPicPr>
            <a:picLocks noChangeAspect="1"/>
          </p:cNvPicPr>
          <p:nvPr/>
        </p:nvPicPr>
        <p:blipFill>
          <a:blip r:embed="rId4"/>
          <a:stretch>
            <a:fillRect/>
          </a:stretch>
        </p:blipFill>
        <p:spPr>
          <a:xfrm>
            <a:off x="11054687" y="3678301"/>
            <a:ext cx="128699" cy="187198"/>
          </a:xfrm>
          <a:prstGeom prst="rect">
            <a:avLst/>
          </a:prstGeom>
        </p:spPr>
      </p:pic>
      <p:pic>
        <p:nvPicPr>
          <p:cNvPr id="160" name="Picture 159" descr="lock.png"/>
          <p:cNvPicPr>
            <a:picLocks noChangeAspect="1"/>
          </p:cNvPicPr>
          <p:nvPr/>
        </p:nvPicPr>
        <p:blipFill>
          <a:blip r:embed="rId4"/>
          <a:stretch>
            <a:fillRect/>
          </a:stretch>
        </p:blipFill>
        <p:spPr>
          <a:xfrm>
            <a:off x="9289760" y="4021201"/>
            <a:ext cx="128699" cy="187198"/>
          </a:xfrm>
          <a:prstGeom prst="rect">
            <a:avLst/>
          </a:prstGeom>
        </p:spPr>
      </p:pic>
      <p:pic>
        <p:nvPicPr>
          <p:cNvPr id="161" name="Picture 160" descr="lock.png"/>
          <p:cNvPicPr>
            <a:picLocks noChangeAspect="1"/>
          </p:cNvPicPr>
          <p:nvPr/>
        </p:nvPicPr>
        <p:blipFill>
          <a:blip r:embed="rId4"/>
          <a:stretch>
            <a:fillRect/>
          </a:stretch>
        </p:blipFill>
        <p:spPr>
          <a:xfrm>
            <a:off x="11054687" y="4021201"/>
            <a:ext cx="128699" cy="187198"/>
          </a:xfrm>
          <a:prstGeom prst="rect">
            <a:avLst/>
          </a:prstGeom>
        </p:spPr>
      </p:pic>
      <p:pic>
        <p:nvPicPr>
          <p:cNvPr id="162" name="Picture 161" descr="lock.png"/>
          <p:cNvPicPr>
            <a:picLocks noChangeAspect="1"/>
          </p:cNvPicPr>
          <p:nvPr/>
        </p:nvPicPr>
        <p:blipFill>
          <a:blip r:embed="rId4"/>
          <a:stretch>
            <a:fillRect/>
          </a:stretch>
        </p:blipFill>
        <p:spPr>
          <a:xfrm>
            <a:off x="9289760" y="43641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1054687" y="4364101"/>
            <a:ext cx="128699" cy="187198"/>
          </a:xfrm>
          <a:prstGeom prst="rect">
            <a:avLst/>
          </a:prstGeom>
        </p:spPr>
      </p:pic>
      <p:pic>
        <p:nvPicPr>
          <p:cNvPr id="164" name="Picture 163" descr="lock.png"/>
          <p:cNvPicPr>
            <a:picLocks noChangeAspect="1"/>
          </p:cNvPicPr>
          <p:nvPr/>
        </p:nvPicPr>
        <p:blipFill>
          <a:blip r:embed="rId4"/>
          <a:stretch>
            <a:fillRect/>
          </a:stretch>
        </p:blipFill>
        <p:spPr>
          <a:xfrm>
            <a:off x="9289760" y="4707001"/>
            <a:ext cx="128699" cy="187198"/>
          </a:xfrm>
          <a:prstGeom prst="rect">
            <a:avLst/>
          </a:prstGeom>
        </p:spPr>
      </p:pic>
      <p:pic>
        <p:nvPicPr>
          <p:cNvPr id="165" name="Picture 164" descr="lock.png"/>
          <p:cNvPicPr>
            <a:picLocks noChangeAspect="1"/>
          </p:cNvPicPr>
          <p:nvPr/>
        </p:nvPicPr>
        <p:blipFill>
          <a:blip r:embed="rId4"/>
          <a:stretch>
            <a:fillRect/>
          </a:stretch>
        </p:blipFill>
        <p:spPr>
          <a:xfrm>
            <a:off x="11054687" y="47070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289760"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054687" y="50499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289760" y="53928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1054687" y="5392801"/>
            <a:ext cx="128699" cy="187198"/>
          </a:xfrm>
          <a:prstGeom prst="rect">
            <a:avLst/>
          </a:prstGeom>
        </p:spPr>
      </p:pic>
    </p:spTree>
  </p:cSld>
  <p:clrMapOvr>
    <a:masterClrMapping/>
  </p:clrMapOvr>
</p:sld>
</file>

<file path=ppt/slides/slide5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a:t>
            </a:r>
          </a:p>
        </p:txBody>
      </p:sp>
      <p:sp>
        <p:nvSpPr>
          <p:cNvPr id="111" name="TextBox 110"/>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2" name="TextBox 111"/>
          <p:cNvSpPr txBox="1"/>
          <p:nvPr/>
        </p:nvSpPr>
        <p:spPr>
          <a:xfrm>
            <a:off x="2038350"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3765176"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4" name="Oval 113"/>
          <p:cNvSpPr/>
          <p:nvPr/>
        </p:nvSpPr>
        <p:spPr>
          <a:xfrm>
            <a:off x="6189289"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7000875"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8765801"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7" name="Oval 116"/>
          <p:cNvSpPr/>
          <p:nvPr/>
        </p:nvSpPr>
        <p:spPr>
          <a:xfrm>
            <a:off x="11189914"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126807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a:t>
            </a:r>
          </a:p>
        </p:txBody>
      </p:sp>
      <p:sp>
        <p:nvSpPr>
          <p:cNvPr id="122" name="TextBox 12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3" name="TextBox 122"/>
          <p:cNvSpPr txBox="1"/>
          <p:nvPr/>
        </p:nvSpPr>
        <p:spPr>
          <a:xfrm>
            <a:off x="2038350"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3765176"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5" name="Oval 124"/>
          <p:cNvSpPr/>
          <p:nvPr/>
        </p:nvSpPr>
        <p:spPr>
          <a:xfrm>
            <a:off x="6189289"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7038975"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8765801"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Oval 127"/>
          <p:cNvSpPr/>
          <p:nvPr/>
        </p:nvSpPr>
        <p:spPr>
          <a:xfrm>
            <a:off x="11189914"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112680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4583289"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7818988"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583914"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4583289"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583914"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4583289"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7818988"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83914"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583289"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83914"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583289"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7818988"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83914"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583289"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83914"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4583289"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7818988"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583914"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4583289"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583914"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4583289"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7818988"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583914"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4583289"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583914" y="5392801"/>
            <a:ext cx="128699" cy="187198"/>
          </a:xfrm>
          <a:prstGeom prst="rect">
            <a:avLst/>
          </a:prstGeom>
        </p:spPr>
      </p:pic>
    </p:spTree>
  </p:cSld>
  <p:clrMapOvr>
    <a:masterClrMapping/>
  </p:clrMapOvr>
</p:sld>
</file>

<file path=ppt/slides/slide5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McKee Foods Corporation</a:t>
            </a:r>
          </a:p>
        </p:txBody>
      </p:sp>
      <p:sp>
        <p:nvSpPr>
          <p:cNvPr id="30" name="Oval 29"/>
          <p:cNvSpPr/>
          <p:nvPr/>
        </p:nvSpPr>
        <p:spPr>
          <a:xfrm>
            <a:off x="2847975" y="1885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924175" y="1885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10420350" y="18954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114871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8" name="Connector 37"/>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Grupo Bimbo</a:t>
            </a:r>
          </a:p>
        </p:txBody>
      </p:sp>
      <p:sp>
        <p:nvSpPr>
          <p:cNvPr id="41" name="Oval 40"/>
          <p:cNvSpPr/>
          <p:nvPr/>
        </p:nvSpPr>
        <p:spPr>
          <a:xfrm>
            <a:off x="284797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92417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0420350" y="2200275"/>
            <a:ext cx="9715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114300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50" name="Connector 49"/>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Rich Products Corporation</a:t>
            </a:r>
          </a:p>
        </p:txBody>
      </p:sp>
      <p:sp>
        <p:nvSpPr>
          <p:cNvPr id="53" name="Oval 52"/>
          <p:cNvSpPr/>
          <p:nvPr/>
        </p:nvSpPr>
        <p:spPr>
          <a:xfrm>
            <a:off x="284797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924175" y="2495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78200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10420350" y="2505075"/>
            <a:ext cx="9144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137285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61" name="Connector 60"/>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2" name="Rectangle 61"/>
          <p:cNvSpPr/>
          <p:nvPr/>
        </p:nvSpPr>
        <p:spPr>
          <a:xfrm>
            <a:off x="190500" y="27622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Europastry</a:t>
            </a:r>
          </a:p>
        </p:txBody>
      </p:sp>
      <p:sp>
        <p:nvSpPr>
          <p:cNvPr id="64" name="Oval 63"/>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450532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458152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61626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62388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Oval 69"/>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Oval 70"/>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0420350" y="28098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3347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4" name="Connector 73"/>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5" name="Rectangle 74"/>
          <p:cNvSpPr/>
          <p:nvPr/>
        </p:nvSpPr>
        <p:spPr>
          <a:xfrm>
            <a:off x="190500" y="30670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Hostess Brands</a:t>
            </a:r>
          </a:p>
        </p:txBody>
      </p:sp>
      <p:sp>
        <p:nvSpPr>
          <p:cNvPr id="77" name="Oval 76"/>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2924175" y="3105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45053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61626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78200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78962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0420350" y="3114675"/>
            <a:ext cx="8572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31570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6" name="Connector 85"/>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ARYZTA / Aspire Bakeries</a:t>
            </a:r>
          </a:p>
        </p:txBody>
      </p:sp>
      <p:sp>
        <p:nvSpPr>
          <p:cNvPr id="89" name="Oval 88"/>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0" name="Connector 99"/>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1" name="Rectangle 100"/>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Premier Foods</a:t>
            </a:r>
          </a:p>
        </p:txBody>
      </p:sp>
      <p:sp>
        <p:nvSpPr>
          <p:cNvPr id="103" name="Oval 102"/>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3" name="Connector 112"/>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4" name="Rectangle 113"/>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Flowers Foods</a:t>
            </a:r>
          </a:p>
        </p:txBody>
      </p:sp>
      <p:sp>
        <p:nvSpPr>
          <p:cNvPr id="116" name="Oval 115"/>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Freeform 116"/>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Oval 117"/>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reeform 118"/>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Oval 119"/>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78200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789622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0420350" y="40290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1112520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7" name="Connector 126"/>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248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Lantmännen Unibake</a:t>
            </a:r>
          </a:p>
        </p:txBody>
      </p:sp>
      <p:sp>
        <p:nvSpPr>
          <p:cNvPr id="130" name="Oval 129"/>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29241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Freeform 134"/>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Oval 135"/>
          <p:cNvSpPr/>
          <p:nvPr/>
        </p:nvSpPr>
        <p:spPr>
          <a:xfrm>
            <a:off x="782002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420350" y="4333875"/>
            <a:ext cx="6096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11068050" y="4248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40" name="Connector 139"/>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1" name="Rectangle 140"/>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285750" y="4552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Bridor</a:t>
            </a:r>
          </a:p>
        </p:txBody>
      </p:sp>
      <p:sp>
        <p:nvSpPr>
          <p:cNvPr id="143" name="Oval 142"/>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Freeform 143"/>
          <p:cNvSpPr/>
          <p:nvPr/>
        </p:nvSpPr>
        <p:spPr>
          <a:xfrm>
            <a:off x="29241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Oval 144"/>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Freeform 145"/>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Oval 146"/>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Freeform 147"/>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Oval 148"/>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0420350" y="4638675"/>
            <a:ext cx="5524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010900" y="4552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54" name="Connector 153"/>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5" name="Oval 154"/>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38100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57" name="Oval 156"/>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2245995"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60" name="Oval 159"/>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385953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63" name="Oval 162"/>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528447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65" name="TextBox 164"/>
          <p:cNvSpPr txBox="1"/>
          <p:nvPr/>
        </p:nvSpPr>
        <p:spPr>
          <a:xfrm>
            <a:off x="190500" y="5143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66" name="Rectangle 165"/>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TextBox 166"/>
          <p:cNvSpPr txBox="1"/>
          <p:nvPr/>
        </p:nvSpPr>
        <p:spPr>
          <a:xfrm>
            <a:off x="190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68" name="TextBox 167"/>
          <p:cNvSpPr txBox="1"/>
          <p:nvPr/>
        </p:nvSpPr>
        <p:spPr>
          <a:xfrm>
            <a:off x="190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McKee Foods Corporation, Grupo Bimbo, Rich Products Corporation, Hostess Brands</a:t>
            </a:r>
          </a:p>
        </p:txBody>
      </p:sp>
      <p:sp>
        <p:nvSpPr>
          <p:cNvPr id="169" name="TextBox 168"/>
          <p:cNvSpPr txBox="1"/>
          <p:nvPr/>
        </p:nvSpPr>
        <p:spPr>
          <a:xfrm>
            <a:off x="190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segment breadth.</a:t>
            </a:r>
          </a:p>
        </p:txBody>
      </p:sp>
      <p:sp>
        <p:nvSpPr>
          <p:cNvPr id="170" name="Rectangle 169"/>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41910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72" name="TextBox 171"/>
          <p:cNvSpPr txBox="1"/>
          <p:nvPr/>
        </p:nvSpPr>
        <p:spPr>
          <a:xfrm>
            <a:off x="41910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Europastry, ARYZTA / Aspire Bakeries</a:t>
            </a:r>
          </a:p>
        </p:txBody>
      </p:sp>
      <p:sp>
        <p:nvSpPr>
          <p:cNvPr id="173" name="TextBox 172"/>
          <p:cNvSpPr txBox="1"/>
          <p:nvPr/>
        </p:nvSpPr>
        <p:spPr>
          <a:xfrm>
            <a:off x="41910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4" name="Rectangle 173"/>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8191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76" name="TextBox 175"/>
          <p:cNvSpPr txBox="1"/>
          <p:nvPr/>
        </p:nvSpPr>
        <p:spPr>
          <a:xfrm>
            <a:off x="8191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Premier Foods, Flowers Foods, Lantmännen Unibake, Bridor</a:t>
            </a:r>
          </a:p>
        </p:txBody>
      </p:sp>
      <p:sp>
        <p:nvSpPr>
          <p:cNvPr id="177" name="TextBox 176"/>
          <p:cNvSpPr txBox="1"/>
          <p:nvPr/>
        </p:nvSpPr>
        <p:spPr>
          <a:xfrm>
            <a:off x="8191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8" name="TextBox 17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9" name="Picture 178" descr="lock.png"/>
          <p:cNvPicPr>
            <a:picLocks noChangeAspect="1"/>
          </p:cNvPicPr>
          <p:nvPr/>
        </p:nvPicPr>
        <p:blipFill>
          <a:blip r:embed="rId4"/>
          <a:stretch>
            <a:fillRect/>
          </a:stretch>
        </p:blipFill>
        <p:spPr>
          <a:xfrm>
            <a:off x="11632350" y="18685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575200" y="21733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518050" y="24781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479950" y="27829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460900" y="30877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422800" y="33925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327550" y="3697351"/>
            <a:ext cx="128699" cy="187198"/>
          </a:xfrm>
          <a:prstGeom prst="rect">
            <a:avLst/>
          </a:prstGeom>
        </p:spPr>
      </p:pic>
      <p:pic>
        <p:nvPicPr>
          <p:cNvPr id="186" name="Picture 185" descr="lock.png"/>
          <p:cNvPicPr>
            <a:picLocks noChangeAspect="1"/>
          </p:cNvPicPr>
          <p:nvPr/>
        </p:nvPicPr>
        <p:blipFill>
          <a:blip r:embed="rId4"/>
          <a:stretch>
            <a:fillRect/>
          </a:stretch>
        </p:blipFill>
        <p:spPr>
          <a:xfrm>
            <a:off x="11270400" y="4002151"/>
            <a:ext cx="128699" cy="187198"/>
          </a:xfrm>
          <a:prstGeom prst="rect">
            <a:avLst/>
          </a:prstGeom>
        </p:spPr>
      </p:pic>
      <p:pic>
        <p:nvPicPr>
          <p:cNvPr id="187" name="Picture 186" descr="lock.png"/>
          <p:cNvPicPr>
            <a:picLocks noChangeAspect="1"/>
          </p:cNvPicPr>
          <p:nvPr/>
        </p:nvPicPr>
        <p:blipFill>
          <a:blip r:embed="rId4"/>
          <a:stretch>
            <a:fillRect/>
          </a:stretch>
        </p:blipFill>
        <p:spPr>
          <a:xfrm>
            <a:off x="11213250" y="4306951"/>
            <a:ext cx="128699" cy="187198"/>
          </a:xfrm>
          <a:prstGeom prst="rect">
            <a:avLst/>
          </a:prstGeom>
        </p:spPr>
      </p:pic>
      <p:pic>
        <p:nvPicPr>
          <p:cNvPr id="188" name="Picture 187" descr="lock.png"/>
          <p:cNvPicPr>
            <a:picLocks noChangeAspect="1"/>
          </p:cNvPicPr>
          <p:nvPr/>
        </p:nvPicPr>
        <p:blipFill>
          <a:blip r:embed="rId4"/>
          <a:stretch>
            <a:fillRect/>
          </a:stretch>
        </p:blipFill>
        <p:spPr>
          <a:xfrm>
            <a:off x="11156100" y="4611751"/>
            <a:ext cx="128699" cy="187198"/>
          </a:xfrm>
          <a:prstGeom prst="rect">
            <a:avLst/>
          </a:prstGeom>
        </p:spPr>
      </p:pic>
      <p:sp>
        <p:nvSpPr>
          <p:cNvPr id="189" name="TextBox 188"/>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0" name="Picture 189" descr="lock.png"/>
          <p:cNvPicPr>
            <a:picLocks noChangeAspect="1"/>
          </p:cNvPicPr>
          <p:nvPr/>
        </p:nvPicPr>
        <p:blipFill>
          <a:blip r:embed="rId4"/>
          <a:stretch>
            <a:fillRect/>
          </a:stretch>
        </p:blipFill>
        <p:spPr>
          <a:xfrm>
            <a:off x="2482959" y="1212159"/>
            <a:ext cx="92663" cy="134782"/>
          </a:xfrm>
          <a:prstGeom prst="rect">
            <a:avLst/>
          </a:prstGeom>
        </p:spPr>
      </p:pic>
      <p:sp>
        <p:nvSpPr>
          <p:cNvPr id="191" name="TextBox 190"/>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2" name="Picture 191" descr="lock.png"/>
          <p:cNvPicPr>
            <a:picLocks noChangeAspect="1"/>
          </p:cNvPicPr>
          <p:nvPr/>
        </p:nvPicPr>
        <p:blipFill>
          <a:blip r:embed="rId4"/>
          <a:stretch>
            <a:fillRect/>
          </a:stretch>
        </p:blipFill>
        <p:spPr>
          <a:xfrm>
            <a:off x="4140309" y="1212159"/>
            <a:ext cx="92663" cy="134782"/>
          </a:xfrm>
          <a:prstGeom prst="rect">
            <a:avLst/>
          </a:prstGeom>
        </p:spPr>
      </p:pic>
      <p:sp>
        <p:nvSpPr>
          <p:cNvPr id="193" name="TextBox 192"/>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4" name="Picture 193" descr="lock.png"/>
          <p:cNvPicPr>
            <a:picLocks noChangeAspect="1"/>
          </p:cNvPicPr>
          <p:nvPr/>
        </p:nvPicPr>
        <p:blipFill>
          <a:blip r:embed="rId4"/>
          <a:stretch>
            <a:fillRect/>
          </a:stretch>
        </p:blipFill>
        <p:spPr>
          <a:xfrm>
            <a:off x="5797659" y="1212159"/>
            <a:ext cx="92663" cy="134782"/>
          </a:xfrm>
          <a:prstGeom prst="rect">
            <a:avLst/>
          </a:prstGeom>
        </p:spPr>
      </p:pic>
      <p:sp>
        <p:nvSpPr>
          <p:cNvPr id="195" name="TextBox 194"/>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6" name="Picture 195" descr="lock.png"/>
          <p:cNvPicPr>
            <a:picLocks noChangeAspect="1"/>
          </p:cNvPicPr>
          <p:nvPr/>
        </p:nvPicPr>
        <p:blipFill>
          <a:blip r:embed="rId4"/>
          <a:stretch>
            <a:fillRect/>
          </a:stretch>
        </p:blipFill>
        <p:spPr>
          <a:xfrm>
            <a:off x="7455009" y="1212159"/>
            <a:ext cx="92663" cy="134782"/>
          </a:xfrm>
          <a:prstGeom prst="rect">
            <a:avLst/>
          </a:prstGeom>
        </p:spPr>
      </p:pic>
      <p:sp>
        <p:nvSpPr>
          <p:cNvPr id="197" name="TextBox 196"/>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8" name="Picture 197"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5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Grupo Bimbo</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McKee Foods Corporation</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Hostess Brands</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Rich Products Corporation</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Savoury muffins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ARYZTA / Aspire Bakeries</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Europastry</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Bridor</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Lantmännen Unibake</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Savoury muffins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266700" y="52482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Flowers Foods</a:t>
            </a:r>
          </a:p>
        </p:txBody>
      </p:sp>
      <p:sp>
        <p:nvSpPr>
          <p:cNvPr id="109" name="TextBox 108"/>
          <p:cNvSpPr txBox="1"/>
          <p:nvPr/>
        </p:nvSpPr>
        <p:spPr>
          <a:xfrm>
            <a:off x="1543050" y="52482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110" name="TextBox 109"/>
          <p:cNvSpPr txBox="1"/>
          <p:nvPr/>
        </p:nvSpPr>
        <p:spPr>
          <a:xfrm>
            <a:off x="3924300" y="52482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4514850" y="52768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66700" y="57435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Premier Foods</a:t>
            </a:r>
          </a:p>
        </p:txBody>
      </p:sp>
      <p:sp>
        <p:nvSpPr>
          <p:cNvPr id="120" name="TextBox 119"/>
          <p:cNvSpPr txBox="1"/>
          <p:nvPr/>
        </p:nvSpPr>
        <p:spPr>
          <a:xfrm>
            <a:off x="1543050" y="57435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121" name="TextBox 120"/>
          <p:cNvSpPr txBox="1"/>
          <p:nvPr/>
        </p:nvSpPr>
        <p:spPr>
          <a:xfrm>
            <a:off x="3924300" y="57435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4514850" y="57721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9050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9239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7241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38576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54578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75247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5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Grupo Bimbo</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McKee Foods Corporation</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Hostess Brands</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Rich Products Corporation</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ARYZTA / Aspire Bakeries</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Europastry</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Bridor</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Lantmännen Unibake</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35814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Flowers Foods</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38290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Premier Foods</a:t>
            </a:r>
          </a:p>
        </p:txBody>
      </p:sp>
      <p:sp>
        <p:nvSpPr>
          <p:cNvPr id="30" name="TextBox 29"/>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714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15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3365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3915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4466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2264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815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365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466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5207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6032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6858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7683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5207000" y="38385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6858000" y="38385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219" name="TextBox 218"/>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220" name="TextBox 219"/>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221" name="TextBox 220"/>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222" name="TextBox 221"/>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223" name="TextBox 222"/>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224" name="Rectangle 223"/>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TextBox 224"/>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6" name="Rectangle 225"/>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8" name="Rectangle 227"/>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6" name="Rectangle 235"/>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TextBox 236"/>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8" name="Rectangle 237"/>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TextBox 238"/>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0" name="Rectangle 239"/>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TextBox 244"/>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6" name="Rectangle 245"/>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TextBox 246"/>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8" name="Rectangle 247"/>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0" name="Rectangle 249"/>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TextBox 254"/>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6" name="Rectangle 255"/>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TextBox 256"/>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8" name="Rectangle 257"/>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0" name="Rectangle 259"/>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2" name="Rectangle 261"/>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67" name="Rectangle 266"/>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TextBox 267"/>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9" name="Rectangle 268"/>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1" name="Rectangle 270"/>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TextBox 271"/>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3" name="Rectangle 272"/>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TextBox 276"/>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78" name="Rectangle 277"/>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80" name="Rectangle 279"/>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TextBox 280"/>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2" name="Rectangle 281"/>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4" name="Rectangle 283"/>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TextBox 288"/>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90" name="Rectangle 289"/>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TextBox 290"/>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2" name="Rectangle 291"/>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4" name="Rectangle 293"/>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8709025"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9259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9809692" y="35909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9800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00" name="Rectangle 299"/>
          <p:cNvSpPr/>
          <p:nvPr/>
        </p:nvSpPr>
        <p:spPr>
          <a:xfrm>
            <a:off x="10360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TextBox 300"/>
          <p:cNvSpPr txBox="1"/>
          <p:nvPr/>
        </p:nvSpPr>
        <p:spPr>
          <a:xfrm>
            <a:off x="10350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2" name="Rectangle 301"/>
          <p:cNvSpPr/>
          <p:nvPr/>
        </p:nvSpPr>
        <p:spPr>
          <a:xfrm>
            <a:off x="10910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TextBox 302"/>
          <p:cNvSpPr txBox="1"/>
          <p:nvPr/>
        </p:nvSpPr>
        <p:spPr>
          <a:xfrm>
            <a:off x="10900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4" name="Rectangle 303"/>
          <p:cNvSpPr/>
          <p:nvPr/>
        </p:nvSpPr>
        <p:spPr>
          <a:xfrm>
            <a:off x="11460692"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8709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9259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9809692"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0360025"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TextBox 308"/>
          <p:cNvSpPr txBox="1"/>
          <p:nvPr/>
        </p:nvSpPr>
        <p:spPr>
          <a:xfrm>
            <a:off x="10350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10" name="Rectangle 309"/>
          <p:cNvSpPr/>
          <p:nvPr/>
        </p:nvSpPr>
        <p:spPr>
          <a:xfrm>
            <a:off x="10910358"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0900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2" name="Rectangle 311"/>
          <p:cNvSpPr/>
          <p:nvPr/>
        </p:nvSpPr>
        <p:spPr>
          <a:xfrm>
            <a:off x="11460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TextBox 312"/>
          <p:cNvSpPr txBox="1"/>
          <p:nvPr/>
        </p:nvSpPr>
        <p:spPr>
          <a:xfrm>
            <a:off x="11451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4" name="Rectangle 313"/>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4381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316" name="Rectangle 315"/>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TextBox 316"/>
          <p:cNvSpPr txBox="1"/>
          <p:nvPr/>
        </p:nvSpPr>
        <p:spPr>
          <a:xfrm>
            <a:off x="148590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318" name="Rectangle 317"/>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25336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320" name="TextBox 319"/>
          <p:cNvSpPr txBox="1"/>
          <p:nvPr/>
        </p:nvSpPr>
        <p:spPr>
          <a:xfrm>
            <a:off x="3524250" y="41338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321" name="Connector 320"/>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190500" y="44577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323" name="Rectangle 322"/>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2667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325" name="TextBox 324"/>
          <p:cNvSpPr txBox="1"/>
          <p:nvPr/>
        </p:nvSpPr>
        <p:spPr>
          <a:xfrm>
            <a:off x="1905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326" name="Rectangle 325"/>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22542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328" name="TextBox 327"/>
          <p:cNvSpPr txBox="1"/>
          <p:nvPr/>
        </p:nvSpPr>
        <p:spPr>
          <a:xfrm>
            <a:off x="21780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329" name="Rectangle 328"/>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TextBox 329"/>
          <p:cNvSpPr txBox="1"/>
          <p:nvPr/>
        </p:nvSpPr>
        <p:spPr>
          <a:xfrm>
            <a:off x="42418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331" name="TextBox 330"/>
          <p:cNvSpPr txBox="1"/>
          <p:nvPr/>
        </p:nvSpPr>
        <p:spPr>
          <a:xfrm>
            <a:off x="41656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332" name="Rectangle 331"/>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TextBox 332"/>
          <p:cNvSpPr txBox="1"/>
          <p:nvPr/>
        </p:nvSpPr>
        <p:spPr>
          <a:xfrm>
            <a:off x="62293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334" name="TextBox 333"/>
          <p:cNvSpPr txBox="1"/>
          <p:nvPr/>
        </p:nvSpPr>
        <p:spPr>
          <a:xfrm>
            <a:off x="61531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335" name="Rectangle 334"/>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82169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337" name="TextBox 336"/>
          <p:cNvSpPr txBox="1"/>
          <p:nvPr/>
        </p:nvSpPr>
        <p:spPr>
          <a:xfrm>
            <a:off x="81407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338" name="Rectangle 337"/>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TextBox 338"/>
          <p:cNvSpPr txBox="1"/>
          <p:nvPr/>
        </p:nvSpPr>
        <p:spPr>
          <a:xfrm>
            <a:off x="102044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340" name="TextBox 339"/>
          <p:cNvSpPr txBox="1"/>
          <p:nvPr/>
        </p:nvSpPr>
        <p:spPr>
          <a:xfrm>
            <a:off x="101282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341" name="TextBox 3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Packaged Muffins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Grupo Bimbo · McKee Foods Corporation · Hostess Brands · Rich Products Corporation</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ARYZTA / Aspire Bakeries · Europastry</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Bridor · Lantmännen Unibake · Flowers Foods · Premier Foods</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11475188" y="20590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160488"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8989162"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9817838"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10646512" y="22876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160488"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8989162"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9817838"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10646512" y="25162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160487"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8989163"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9817837"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10646513" y="27448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160487"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8989163"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9817837"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0646513"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11475187" y="29734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160488"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8989163"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9817838" y="3202051"/>
            <a:ext cx="128699" cy="187198"/>
          </a:xfrm>
          <a:prstGeom prst="rect">
            <a:avLst/>
          </a:prstGeom>
        </p:spPr>
      </p:pic>
      <p:pic>
        <p:nvPicPr>
          <p:cNvPr id="266" name="Picture 265" descr="lock.png"/>
          <p:cNvPicPr>
            <a:picLocks noChangeAspect="1"/>
          </p:cNvPicPr>
          <p:nvPr/>
        </p:nvPicPr>
        <p:blipFill>
          <a:blip r:embed="rId4"/>
          <a:stretch>
            <a:fillRect/>
          </a:stretch>
        </p:blipFill>
        <p:spPr>
          <a:xfrm>
            <a:off x="8160488"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8989162"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9817838" y="3478276"/>
            <a:ext cx="128699" cy="187198"/>
          </a:xfrm>
          <a:prstGeom prst="rect">
            <a:avLst/>
          </a:prstGeom>
        </p:spPr>
      </p:pic>
      <p:pic>
        <p:nvPicPr>
          <p:cNvPr id="269" name="Picture 268" descr="lock.png"/>
          <p:cNvPicPr>
            <a:picLocks noChangeAspect="1"/>
          </p:cNvPicPr>
          <p:nvPr/>
        </p:nvPicPr>
        <p:blipFill>
          <a:blip r:embed="rId4"/>
          <a:stretch>
            <a:fillRect/>
          </a:stretch>
        </p:blipFill>
        <p:spPr>
          <a:xfrm>
            <a:off x="10646512" y="3478276"/>
            <a:ext cx="128699" cy="187198"/>
          </a:xfrm>
          <a:prstGeom prst="rect">
            <a:avLst/>
          </a:prstGeom>
        </p:spPr>
      </p:pic>
      <p:sp>
        <p:nvSpPr>
          <p:cNvPr id="270" name="TextBox 269"/>
          <p:cNvSpPr txBox="1"/>
          <p:nvPr/>
        </p:nvSpPr>
        <p:spPr>
          <a:xfrm>
            <a:off x="266700" y="1344930"/>
            <a:ext cx="491480" cy="186689"/>
          </a:xfrm>
          <a:prstGeom prst="rect">
            <a:avLst/>
          </a:prstGeom>
          <a:noFill/>
        </p:spPr>
        <p:txBody>
          <a:bodyPr wrap="none" lIns="0" rIns="0" tIns="0" bIns="0">
            <a:spAutoFit/>
          </a:bodyPr>
          <a:lstStyle/>
          <a:p>
            <a:r>
              <a:rPr sz="1100" b="0">
                <a:solidFill>
                  <a:srgbClr val="6B7280"/>
                </a:solidFill>
                <a:latin typeface="Calibri"/>
              </a:rPr>
              <a:t>Market</a:t>
            </a:r>
          </a:p>
        </p:txBody>
      </p:sp>
      <p:pic>
        <p:nvPicPr>
          <p:cNvPr id="271" name="Picture 270" descr="lock.png"/>
          <p:cNvPicPr>
            <a:picLocks noChangeAspect="1"/>
          </p:cNvPicPr>
          <p:nvPr/>
        </p:nvPicPr>
        <p:blipFill>
          <a:blip r:embed="rId4"/>
          <a:stretch>
            <a:fillRect/>
          </a:stretch>
        </p:blipFill>
        <p:spPr>
          <a:xfrm>
            <a:off x="706231" y="1335151"/>
            <a:ext cx="128699" cy="187198"/>
          </a:xfrm>
          <a:prstGeom prst="rect">
            <a:avLst/>
          </a:prstGeom>
        </p:spPr>
      </p:pic>
      <p:sp>
        <p:nvSpPr>
          <p:cNvPr id="272" name="TextBox 271"/>
          <p:cNvSpPr txBox="1"/>
          <p:nvPr/>
        </p:nvSpPr>
        <p:spPr>
          <a:xfrm>
            <a:off x="873727" y="1344930"/>
            <a:ext cx="1290389" cy="186689"/>
          </a:xfrm>
          <a:prstGeom prst="rect">
            <a:avLst/>
          </a:prstGeom>
          <a:noFill/>
        </p:spPr>
        <p:txBody>
          <a:bodyPr wrap="none" lIns="0" rIns="0" tIns="0" bIns="0">
            <a:spAutoFit/>
          </a:bodyPr>
          <a:lstStyle/>
          <a:p>
            <a:r>
              <a:rPr sz="1100" b="0">
                <a:solidFill>
                  <a:srgbClr val="6B7280"/>
                </a:solidFill>
                <a:latin typeface="Calibri"/>
              </a:rPr>
              <a:t>US$ Mn · Tier 1 share</a:t>
            </a:r>
          </a:p>
        </p:txBody>
      </p:sp>
      <p:pic>
        <p:nvPicPr>
          <p:cNvPr id="273" name="Picture 272" descr="lock.png"/>
          <p:cNvPicPr>
            <a:picLocks noChangeAspect="1"/>
          </p:cNvPicPr>
          <p:nvPr/>
        </p:nvPicPr>
        <p:blipFill>
          <a:blip r:embed="rId4"/>
          <a:stretch>
            <a:fillRect/>
          </a:stretch>
        </p:blipFill>
        <p:spPr>
          <a:xfrm>
            <a:off x="2112168" y="1335151"/>
            <a:ext cx="128699" cy="187198"/>
          </a:xfrm>
          <a:prstGeom prst="rect">
            <a:avLst/>
          </a:prstGeom>
        </p:spPr>
      </p:pic>
      <p:sp>
        <p:nvSpPr>
          <p:cNvPr id="274" name="TextBox 273"/>
          <p:cNvSpPr txBox="1"/>
          <p:nvPr/>
        </p:nvSpPr>
        <p:spPr>
          <a:xfrm>
            <a:off x="2279664"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5" name="Picture 274" descr="lock.png"/>
          <p:cNvPicPr>
            <a:picLocks noChangeAspect="1"/>
          </p:cNvPicPr>
          <p:nvPr/>
        </p:nvPicPr>
        <p:blipFill>
          <a:blip r:embed="rId4"/>
          <a:stretch>
            <a:fillRect/>
          </a:stretch>
        </p:blipFill>
        <p:spPr>
          <a:xfrm>
            <a:off x="2430519" y="1335151"/>
            <a:ext cx="128699" cy="187198"/>
          </a:xfrm>
          <a:prstGeom prst="rect">
            <a:avLst/>
          </a:prstGeom>
        </p:spPr>
      </p:pic>
      <p:sp>
        <p:nvSpPr>
          <p:cNvPr id="276" name="TextBox 275"/>
          <p:cNvSpPr txBox="1"/>
          <p:nvPr/>
        </p:nvSpPr>
        <p:spPr>
          <a:xfrm>
            <a:off x="2598014"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7" name="Picture 276" descr="lock.png"/>
          <p:cNvPicPr>
            <a:picLocks noChangeAspect="1"/>
          </p:cNvPicPr>
          <p:nvPr/>
        </p:nvPicPr>
        <p:blipFill>
          <a:blip r:embed="rId4"/>
          <a:stretch>
            <a:fillRect/>
          </a:stretch>
        </p:blipFill>
        <p:spPr>
          <a:xfrm>
            <a:off x="1377182" y="1839976"/>
            <a:ext cx="128699" cy="187198"/>
          </a:xfrm>
          <a:prstGeom prst="rect">
            <a:avLst/>
          </a:prstGeom>
        </p:spPr>
      </p:pic>
      <p:sp>
        <p:nvSpPr>
          <p:cNvPr id="278" name="TextBox 277"/>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9" name="Picture 278" descr="lock.png"/>
          <p:cNvPicPr>
            <a:picLocks noChangeAspect="1"/>
          </p:cNvPicPr>
          <p:nvPr/>
        </p:nvPicPr>
        <p:blipFill>
          <a:blip r:embed="rId4"/>
          <a:stretch>
            <a:fillRect/>
          </a:stretch>
        </p:blipFill>
        <p:spPr>
          <a:xfrm>
            <a:off x="2922273" y="1839976"/>
            <a:ext cx="128699" cy="187198"/>
          </a:xfrm>
          <a:prstGeom prst="rect">
            <a:avLst/>
          </a:prstGeom>
        </p:spPr>
      </p:pic>
      <p:sp>
        <p:nvSpPr>
          <p:cNvPr id="280" name="TextBox 279"/>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1" name="Picture 280" descr="lock.png"/>
          <p:cNvPicPr>
            <a:picLocks noChangeAspect="1"/>
          </p:cNvPicPr>
          <p:nvPr/>
        </p:nvPicPr>
        <p:blipFill>
          <a:blip r:embed="rId4"/>
          <a:stretch>
            <a:fillRect/>
          </a:stretch>
        </p:blipFill>
        <p:spPr>
          <a:xfrm>
            <a:off x="1377182" y="2697226"/>
            <a:ext cx="128699" cy="187198"/>
          </a:xfrm>
          <a:prstGeom prst="rect">
            <a:avLst/>
          </a:prstGeom>
        </p:spPr>
      </p:pic>
      <p:sp>
        <p:nvSpPr>
          <p:cNvPr id="282" name="TextBox 281"/>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3" name="Picture 282" descr="lock.png"/>
          <p:cNvPicPr>
            <a:picLocks noChangeAspect="1"/>
          </p:cNvPicPr>
          <p:nvPr/>
        </p:nvPicPr>
        <p:blipFill>
          <a:blip r:embed="rId4"/>
          <a:stretch>
            <a:fillRect/>
          </a:stretch>
        </p:blipFill>
        <p:spPr>
          <a:xfrm>
            <a:off x="2922273" y="2697226"/>
            <a:ext cx="128699" cy="187198"/>
          </a:xfrm>
          <a:prstGeom prst="rect">
            <a:avLst/>
          </a:prstGeom>
        </p:spPr>
      </p:pic>
      <p:sp>
        <p:nvSpPr>
          <p:cNvPr id="284" name="TextBox 283"/>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5" name="Picture 284" descr="lock.png"/>
          <p:cNvPicPr>
            <a:picLocks noChangeAspect="1"/>
          </p:cNvPicPr>
          <p:nvPr/>
        </p:nvPicPr>
        <p:blipFill>
          <a:blip r:embed="rId4"/>
          <a:stretch>
            <a:fillRect/>
          </a:stretch>
        </p:blipFill>
        <p:spPr>
          <a:xfrm>
            <a:off x="1377182" y="3554476"/>
            <a:ext cx="128699" cy="187198"/>
          </a:xfrm>
          <a:prstGeom prst="rect">
            <a:avLst/>
          </a:prstGeom>
        </p:spPr>
      </p:pic>
      <p:sp>
        <p:nvSpPr>
          <p:cNvPr id="286" name="TextBox 285"/>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87" name="Picture 286" descr="lock.png"/>
          <p:cNvPicPr>
            <a:picLocks noChangeAspect="1"/>
          </p:cNvPicPr>
          <p:nvPr/>
        </p:nvPicPr>
        <p:blipFill>
          <a:blip r:embed="rId4"/>
          <a:stretch>
            <a:fillRect/>
          </a:stretch>
        </p:blipFill>
        <p:spPr>
          <a:xfrm>
            <a:off x="2922273" y="3554476"/>
            <a:ext cx="128699" cy="187198"/>
          </a:xfrm>
          <a:prstGeom prst="rect">
            <a:avLst/>
          </a:prstGeom>
        </p:spPr>
      </p:pic>
      <p:sp>
        <p:nvSpPr>
          <p:cNvPr id="288" name="TextBox 287"/>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9" name="Picture 288" descr="lock.png"/>
          <p:cNvPicPr>
            <a:picLocks noChangeAspect="1"/>
          </p:cNvPicPr>
          <p:nvPr/>
        </p:nvPicPr>
        <p:blipFill>
          <a:blip r:embed="rId4"/>
          <a:stretch>
            <a:fillRect/>
          </a:stretch>
        </p:blipFill>
        <p:spPr>
          <a:xfrm>
            <a:off x="1377182" y="4411726"/>
            <a:ext cx="128699" cy="187198"/>
          </a:xfrm>
          <a:prstGeom prst="rect">
            <a:avLst/>
          </a:prstGeom>
        </p:spPr>
      </p:pic>
      <p:sp>
        <p:nvSpPr>
          <p:cNvPr id="290" name="TextBox 289"/>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91" name="TextBox 290"/>
          <p:cNvSpPr txBox="1"/>
          <p:nvPr/>
        </p:nvSpPr>
        <p:spPr>
          <a:xfrm>
            <a:off x="1241169"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92" name="Picture 291" descr="lock.png"/>
          <p:cNvPicPr>
            <a:picLocks noChangeAspect="1"/>
          </p:cNvPicPr>
          <p:nvPr/>
        </p:nvPicPr>
        <p:blipFill>
          <a:blip r:embed="rId4"/>
          <a:stretch>
            <a:fillRect/>
          </a:stretch>
        </p:blipFill>
        <p:spPr>
          <a:xfrm>
            <a:off x="1682883" y="5792851"/>
            <a:ext cx="128699" cy="187198"/>
          </a:xfrm>
          <a:prstGeom prst="rect">
            <a:avLst/>
          </a:prstGeom>
        </p:spPr>
      </p:pic>
      <p:sp>
        <p:nvSpPr>
          <p:cNvPr id="293" name="TextBox 292"/>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4" name="Picture 293" descr="lock.png"/>
          <p:cNvPicPr>
            <a:picLocks noChangeAspect="1"/>
          </p:cNvPicPr>
          <p:nvPr/>
        </p:nvPicPr>
        <p:blipFill>
          <a:blip r:embed="rId4"/>
          <a:stretch>
            <a:fillRect/>
          </a:stretch>
        </p:blipFill>
        <p:spPr>
          <a:xfrm>
            <a:off x="1225147" y="6097651"/>
            <a:ext cx="128699" cy="187198"/>
          </a:xfrm>
          <a:prstGeom prst="rect">
            <a:avLst/>
          </a:prstGeom>
        </p:spPr>
      </p:pic>
      <p:sp>
        <p:nvSpPr>
          <p:cNvPr id="295" name="TextBox 294"/>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6" name="Picture 295" descr="lock.png"/>
          <p:cNvPicPr>
            <a:picLocks noChangeAspect="1"/>
          </p:cNvPicPr>
          <p:nvPr/>
        </p:nvPicPr>
        <p:blipFill>
          <a:blip r:embed="rId4"/>
          <a:stretch>
            <a:fillRect/>
          </a:stretch>
        </p:blipFill>
        <p:spPr>
          <a:xfrm>
            <a:off x="2408983" y="6097651"/>
            <a:ext cx="128699" cy="187198"/>
          </a:xfrm>
          <a:prstGeom prst="rect">
            <a:avLst/>
          </a:prstGeom>
        </p:spPr>
      </p:pic>
      <p:sp>
        <p:nvSpPr>
          <p:cNvPr id="297" name="TextBox 296"/>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8" name="Picture 297" descr="lock.png"/>
          <p:cNvPicPr>
            <a:picLocks noChangeAspect="1"/>
          </p:cNvPicPr>
          <p:nvPr/>
        </p:nvPicPr>
        <p:blipFill>
          <a:blip r:embed="rId4"/>
          <a:stretch>
            <a:fillRect/>
          </a:stretch>
        </p:blipFill>
        <p:spPr>
          <a:xfrm>
            <a:off x="3922150" y="6097651"/>
            <a:ext cx="128699" cy="187198"/>
          </a:xfrm>
          <a:prstGeom prst="rect">
            <a:avLst/>
          </a:prstGeom>
        </p:spPr>
      </p:pic>
      <p:sp>
        <p:nvSpPr>
          <p:cNvPr id="299" name="TextBox 298"/>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300" name="TextBox 299"/>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301" name="Picture 300" descr="lock.png"/>
          <p:cNvPicPr>
            <a:picLocks noChangeAspect="1"/>
          </p:cNvPicPr>
          <p:nvPr/>
        </p:nvPicPr>
        <p:blipFill>
          <a:blip r:embed="rId4"/>
          <a:stretch>
            <a:fillRect/>
          </a:stretch>
        </p:blipFill>
        <p:spPr>
          <a:xfrm>
            <a:off x="6791838" y="5467095"/>
            <a:ext cx="128699" cy="187198"/>
          </a:xfrm>
          <a:prstGeom prst="rect">
            <a:avLst/>
          </a:prstGeom>
        </p:spPr>
      </p:pic>
      <p:sp>
        <p:nvSpPr>
          <p:cNvPr id="302" name="TextBox 301"/>
          <p:cNvSpPr txBox="1"/>
          <p:nvPr/>
        </p:nvSpPr>
        <p:spPr>
          <a:xfrm>
            <a:off x="6959334" y="5476875"/>
            <a:ext cx="2550145"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a:t>
            </a:r>
          </a:p>
        </p:txBody>
      </p:sp>
      <p:pic>
        <p:nvPicPr>
          <p:cNvPr id="303" name="Picture 302" descr="lock.png"/>
          <p:cNvPicPr>
            <a:picLocks noChangeAspect="1"/>
          </p:cNvPicPr>
          <p:nvPr/>
        </p:nvPicPr>
        <p:blipFill>
          <a:blip r:embed="rId4"/>
          <a:stretch>
            <a:fillRect/>
          </a:stretch>
        </p:blipFill>
        <p:spPr>
          <a:xfrm>
            <a:off x="9457531" y="5467095"/>
            <a:ext cx="128699" cy="187198"/>
          </a:xfrm>
          <a:prstGeom prst="rect">
            <a:avLst/>
          </a:prstGeom>
        </p:spPr>
      </p:pic>
      <p:sp>
        <p:nvSpPr>
          <p:cNvPr id="304" name="TextBox 303"/>
          <p:cNvSpPr txBox="1"/>
          <p:nvPr/>
        </p:nvSpPr>
        <p:spPr>
          <a:xfrm>
            <a:off x="9625026" y="5476875"/>
            <a:ext cx="1259830" cy="186689"/>
          </a:xfrm>
          <a:prstGeom prst="rect">
            <a:avLst/>
          </a:prstGeom>
          <a:noFill/>
        </p:spPr>
        <p:txBody>
          <a:bodyPr wrap="none" lIns="0" rIns="0" tIns="0" bIns="0">
            <a:spAutoFit/>
          </a:bodyPr>
          <a:lstStyle/>
          <a:p>
            <a:r>
              <a:rPr sz="1100" b="0">
                <a:solidFill>
                  <a:srgbClr val="14213D"/>
                </a:solidFill>
                <a:latin typeface="Calibri"/>
              </a:rPr>
              <a:t>US$ Mn base; CR4 of</a:t>
            </a:r>
          </a:p>
        </p:txBody>
      </p:sp>
      <p:pic>
        <p:nvPicPr>
          <p:cNvPr id="305" name="Picture 304" descr="lock.png"/>
          <p:cNvPicPr>
            <a:picLocks noChangeAspect="1"/>
          </p:cNvPicPr>
          <p:nvPr/>
        </p:nvPicPr>
        <p:blipFill>
          <a:blip r:embed="rId4"/>
          <a:stretch>
            <a:fillRect/>
          </a:stretch>
        </p:blipFill>
        <p:spPr>
          <a:xfrm>
            <a:off x="10832908" y="5467095"/>
            <a:ext cx="128699" cy="187198"/>
          </a:xfrm>
          <a:prstGeom prst="rect">
            <a:avLst/>
          </a:prstGeom>
        </p:spPr>
      </p:pic>
      <p:sp>
        <p:nvSpPr>
          <p:cNvPr id="306" name="TextBox 305"/>
          <p:cNvSpPr txBox="1"/>
          <p:nvPr/>
        </p:nvSpPr>
        <p:spPr>
          <a:xfrm>
            <a:off x="11000404" y="5476875"/>
            <a:ext cx="678656" cy="186689"/>
          </a:xfrm>
          <a:prstGeom prst="rect">
            <a:avLst/>
          </a:prstGeom>
          <a:noFill/>
        </p:spPr>
        <p:txBody>
          <a:bodyPr wrap="none" lIns="0" rIns="0" tIns="0" bIns="0">
            <a:spAutoFit/>
          </a:bodyPr>
          <a:lstStyle/>
          <a:p>
            <a:r>
              <a:rPr sz="1100" b="0">
                <a:solidFill>
                  <a:srgbClr val="14213D"/>
                </a:solidFill>
                <a:latin typeface="Calibri"/>
              </a:rPr>
              <a:t>and HHI of</a:t>
            </a:r>
          </a:p>
        </p:txBody>
      </p:sp>
      <p:pic>
        <p:nvPicPr>
          <p:cNvPr id="307" name="Picture 306" descr="lock.png"/>
          <p:cNvPicPr>
            <a:picLocks noChangeAspect="1"/>
          </p:cNvPicPr>
          <p:nvPr/>
        </p:nvPicPr>
        <p:blipFill>
          <a:blip r:embed="rId4"/>
          <a:stretch>
            <a:fillRect/>
          </a:stretch>
        </p:blipFill>
        <p:spPr>
          <a:xfrm>
            <a:off x="6358757" y="5634735"/>
            <a:ext cx="128699" cy="187198"/>
          </a:xfrm>
          <a:prstGeom prst="rect">
            <a:avLst/>
          </a:prstGeom>
        </p:spPr>
      </p:pic>
      <p:sp>
        <p:nvSpPr>
          <p:cNvPr id="308" name="TextBox 307"/>
          <p:cNvSpPr txBox="1"/>
          <p:nvPr/>
        </p:nvSpPr>
        <p:spPr>
          <a:xfrm>
            <a:off x="6526253"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9" name="TextBox 308"/>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10" name="Picture 309" descr="lock.png"/>
          <p:cNvPicPr>
            <a:picLocks noChangeAspect="1"/>
          </p:cNvPicPr>
          <p:nvPr/>
        </p:nvPicPr>
        <p:blipFill>
          <a:blip r:embed="rId4"/>
          <a:stretch>
            <a:fillRect/>
          </a:stretch>
        </p:blipFill>
        <p:spPr>
          <a:xfrm>
            <a:off x="7651320" y="5848095"/>
            <a:ext cx="128699" cy="187198"/>
          </a:xfrm>
          <a:prstGeom prst="rect">
            <a:avLst/>
          </a:prstGeom>
        </p:spPr>
      </p:pic>
      <p:sp>
        <p:nvSpPr>
          <p:cNvPr id="311" name="TextBox 310"/>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12" name="Picture 311" descr="lock.png"/>
          <p:cNvPicPr>
            <a:picLocks noChangeAspect="1"/>
          </p:cNvPicPr>
          <p:nvPr/>
        </p:nvPicPr>
        <p:blipFill>
          <a:blip r:embed="rId4"/>
          <a:stretch>
            <a:fillRect/>
          </a:stretch>
        </p:blipFill>
        <p:spPr>
          <a:xfrm>
            <a:off x="8749737" y="5848095"/>
            <a:ext cx="128699" cy="187198"/>
          </a:xfrm>
          <a:prstGeom prst="rect">
            <a:avLst/>
          </a:prstGeom>
        </p:spPr>
      </p:pic>
      <p:sp>
        <p:nvSpPr>
          <p:cNvPr id="313" name="TextBox 312"/>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4" name="TextBox 313"/>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5" name="Picture 314" descr="lock.png"/>
          <p:cNvPicPr>
            <a:picLocks noChangeAspect="1"/>
          </p:cNvPicPr>
          <p:nvPr/>
        </p:nvPicPr>
        <p:blipFill>
          <a:blip r:embed="rId4"/>
          <a:stretch>
            <a:fillRect/>
          </a:stretch>
        </p:blipFill>
        <p:spPr>
          <a:xfrm>
            <a:off x="8481881" y="6067170"/>
            <a:ext cx="128699" cy="187198"/>
          </a:xfrm>
          <a:prstGeom prst="rect">
            <a:avLst/>
          </a:prstGeom>
        </p:spPr>
      </p:pic>
      <p:sp>
        <p:nvSpPr>
          <p:cNvPr id="316" name="TextBox 315"/>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7" name="Picture 316" descr="lock.png"/>
          <p:cNvPicPr>
            <a:picLocks noChangeAspect="1"/>
          </p:cNvPicPr>
          <p:nvPr/>
        </p:nvPicPr>
        <p:blipFill>
          <a:blip r:embed="rId4"/>
          <a:stretch>
            <a:fillRect/>
          </a:stretch>
        </p:blipFill>
        <p:spPr>
          <a:xfrm>
            <a:off x="10724926" y="6067170"/>
            <a:ext cx="128699" cy="187198"/>
          </a:xfrm>
          <a:prstGeom prst="rect">
            <a:avLst/>
          </a:prstGeom>
        </p:spPr>
      </p:pic>
      <p:sp>
        <p:nvSpPr>
          <p:cNvPr id="318" name="TextBox 317"/>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9" name="TextBox 318"/>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5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Packaged Muffins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3.0 / 5</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Consolidation towards Tier 1–2</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Switching costs (4 / 5) and buyer power (3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sp>
        <p:nvSpPr>
          <p:cNvPr id="135" name="TextBox 134"/>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36" name="Picture 135" descr="lock.png"/>
          <p:cNvPicPr>
            <a:picLocks noChangeAspect="1"/>
          </p:cNvPicPr>
          <p:nvPr/>
        </p:nvPicPr>
        <p:blipFill>
          <a:blip r:embed="rId4"/>
          <a:stretch>
            <a:fillRect/>
          </a:stretch>
        </p:blipFill>
        <p:spPr>
          <a:xfrm>
            <a:off x="1424204" y="1860931"/>
            <a:ext cx="128699" cy="187198"/>
          </a:xfrm>
          <a:prstGeom prst="rect">
            <a:avLst/>
          </a:prstGeom>
        </p:spPr>
      </p:pic>
      <p:sp>
        <p:nvSpPr>
          <p:cNvPr id="137" name="TextBox 136"/>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38" name="Picture 137" descr="lock.png"/>
          <p:cNvPicPr>
            <a:picLocks noChangeAspect="1"/>
          </p:cNvPicPr>
          <p:nvPr/>
        </p:nvPicPr>
        <p:blipFill>
          <a:blip r:embed="rId4"/>
          <a:stretch>
            <a:fillRect/>
          </a:stretch>
        </p:blipFill>
        <p:spPr>
          <a:xfrm>
            <a:off x="1742554" y="1860931"/>
            <a:ext cx="128699" cy="187198"/>
          </a:xfrm>
          <a:prstGeom prst="rect">
            <a:avLst/>
          </a:prstGeom>
        </p:spPr>
      </p:pic>
      <p:sp>
        <p:nvSpPr>
          <p:cNvPr id="139" name="TextBox 138"/>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0" name="TextBox 139"/>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1" name="Picture 140" descr="lock.png"/>
          <p:cNvPicPr>
            <a:picLocks noChangeAspect="1"/>
          </p:cNvPicPr>
          <p:nvPr/>
        </p:nvPicPr>
        <p:blipFill>
          <a:blip r:embed="rId4"/>
          <a:stretch>
            <a:fillRect/>
          </a:stretch>
        </p:blipFill>
        <p:spPr>
          <a:xfrm>
            <a:off x="4681754" y="1860931"/>
            <a:ext cx="128699" cy="187198"/>
          </a:xfrm>
          <a:prstGeom prst="rect">
            <a:avLst/>
          </a:prstGeom>
        </p:spPr>
      </p:pic>
      <p:sp>
        <p:nvSpPr>
          <p:cNvPr id="142" name="TextBox 141"/>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3" name="Picture 142" descr="lock.png"/>
          <p:cNvPicPr>
            <a:picLocks noChangeAspect="1"/>
          </p:cNvPicPr>
          <p:nvPr/>
        </p:nvPicPr>
        <p:blipFill>
          <a:blip r:embed="rId4"/>
          <a:stretch>
            <a:fillRect/>
          </a:stretch>
        </p:blipFill>
        <p:spPr>
          <a:xfrm>
            <a:off x="5000104" y="1860931"/>
            <a:ext cx="128699" cy="187198"/>
          </a:xfrm>
          <a:prstGeom prst="rect">
            <a:avLst/>
          </a:prstGeom>
        </p:spPr>
      </p:pic>
      <p:sp>
        <p:nvSpPr>
          <p:cNvPr id="144" name="TextBox 143"/>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5" name="TextBox 144"/>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4 → 4 players ·</a:t>
            </a:r>
          </a:p>
        </p:txBody>
      </p:sp>
      <p:pic>
        <p:nvPicPr>
          <p:cNvPr id="146" name="Picture 145" descr="lock.png"/>
          <p:cNvPicPr>
            <a:picLocks noChangeAspect="1"/>
          </p:cNvPicPr>
          <p:nvPr/>
        </p:nvPicPr>
        <p:blipFill>
          <a:blip r:embed="rId4"/>
          <a:stretch>
            <a:fillRect/>
          </a:stretch>
        </p:blipFill>
        <p:spPr>
          <a:xfrm>
            <a:off x="7939304" y="1860931"/>
            <a:ext cx="128699" cy="187198"/>
          </a:xfrm>
          <a:prstGeom prst="rect">
            <a:avLst/>
          </a:prstGeom>
        </p:spPr>
      </p:pic>
      <p:sp>
        <p:nvSpPr>
          <p:cNvPr id="147" name="TextBox 146"/>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8" name="Picture 147" descr="lock.png"/>
          <p:cNvPicPr>
            <a:picLocks noChangeAspect="1"/>
          </p:cNvPicPr>
          <p:nvPr/>
        </p:nvPicPr>
        <p:blipFill>
          <a:blip r:embed="rId4"/>
          <a:stretch>
            <a:fillRect/>
          </a:stretch>
        </p:blipFill>
        <p:spPr>
          <a:xfrm>
            <a:off x="8257654" y="1860931"/>
            <a:ext cx="128699" cy="187198"/>
          </a:xfrm>
          <a:prstGeom prst="rect">
            <a:avLst/>
          </a:prstGeom>
        </p:spPr>
      </p:pic>
      <p:sp>
        <p:nvSpPr>
          <p:cNvPr id="149" name="TextBox 148"/>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0" name="TextBox 149"/>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1" name="Picture 150" descr="lock.png"/>
          <p:cNvPicPr>
            <a:picLocks noChangeAspect="1"/>
          </p:cNvPicPr>
          <p:nvPr/>
        </p:nvPicPr>
        <p:blipFill>
          <a:blip r:embed="rId4"/>
          <a:stretch>
            <a:fillRect/>
          </a:stretch>
        </p:blipFill>
        <p:spPr>
          <a:xfrm>
            <a:off x="10872946" y="1944751"/>
            <a:ext cx="128699" cy="187198"/>
          </a:xfrm>
          <a:prstGeom prst="rect">
            <a:avLst/>
          </a:prstGeom>
        </p:spPr>
      </p:pic>
      <p:sp>
        <p:nvSpPr>
          <p:cNvPr id="152" name="TextBox 151"/>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3" name="Picture 152" descr="lock.png"/>
          <p:cNvPicPr>
            <a:picLocks noChangeAspect="1"/>
          </p:cNvPicPr>
          <p:nvPr/>
        </p:nvPicPr>
        <p:blipFill>
          <a:blip r:embed="rId4"/>
          <a:stretch>
            <a:fillRect/>
          </a:stretch>
        </p:blipFill>
        <p:spPr>
          <a:xfrm>
            <a:off x="11191297" y="1944751"/>
            <a:ext cx="128699" cy="187198"/>
          </a:xfrm>
          <a:prstGeom prst="rect">
            <a:avLst/>
          </a:prstGeom>
        </p:spPr>
      </p:pic>
      <p:sp>
        <p:nvSpPr>
          <p:cNvPr id="154" name="TextBox 153"/>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55" name="TextBox 154"/>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56" name="Picture 155" descr="lock.png"/>
          <p:cNvPicPr>
            <a:picLocks noChangeAspect="1"/>
          </p:cNvPicPr>
          <p:nvPr/>
        </p:nvPicPr>
        <p:blipFill>
          <a:blip r:embed="rId4"/>
          <a:stretch>
            <a:fillRect/>
          </a:stretch>
        </p:blipFill>
        <p:spPr>
          <a:xfrm>
            <a:off x="9434331" y="3847846"/>
            <a:ext cx="128699" cy="187198"/>
          </a:xfrm>
          <a:prstGeom prst="rect">
            <a:avLst/>
          </a:prstGeom>
        </p:spPr>
      </p:pic>
      <p:sp>
        <p:nvSpPr>
          <p:cNvPr id="157" name="TextBox 156"/>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58" name="TextBox 157"/>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59" name="Picture 158" descr="lock.png"/>
          <p:cNvPicPr>
            <a:picLocks noChangeAspect="1"/>
          </p:cNvPicPr>
          <p:nvPr/>
        </p:nvPicPr>
        <p:blipFill>
          <a:blip r:embed="rId4"/>
          <a:stretch>
            <a:fillRect/>
          </a:stretch>
        </p:blipFill>
        <p:spPr>
          <a:xfrm>
            <a:off x="9730921" y="4015486"/>
            <a:ext cx="128699" cy="187198"/>
          </a:xfrm>
          <a:prstGeom prst="rect">
            <a:avLst/>
          </a:prstGeom>
        </p:spPr>
      </p:pic>
      <p:sp>
        <p:nvSpPr>
          <p:cNvPr id="160" name="TextBox 159"/>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1" name="TextBox 160"/>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2" name="Picture 161" descr="lock.png"/>
          <p:cNvPicPr>
            <a:picLocks noChangeAspect="1"/>
          </p:cNvPicPr>
          <p:nvPr/>
        </p:nvPicPr>
        <p:blipFill>
          <a:blip r:embed="rId4"/>
          <a:stretch>
            <a:fillRect/>
          </a:stretch>
        </p:blipFill>
        <p:spPr>
          <a:xfrm>
            <a:off x="11077170" y="5009895"/>
            <a:ext cx="128699" cy="187198"/>
          </a:xfrm>
          <a:prstGeom prst="rect">
            <a:avLst/>
          </a:prstGeom>
        </p:spPr>
      </p:pic>
      <p:sp>
        <p:nvSpPr>
          <p:cNvPr id="163" name="TextBox 162"/>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64" name="TextBox 163"/>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5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Grupo Bimbo</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6" name="TextBox 45"/>
          <p:cNvSpPr txBox="1"/>
          <p:nvPr/>
        </p:nvSpPr>
        <p:spPr>
          <a:xfrm>
            <a:off x="13144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13239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585912"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4287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6383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8478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057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5335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17430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9526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McKee Foods Corporation</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4003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662238"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5050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7146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9241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133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6098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194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30289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Hostess Brands</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4766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7385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581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7909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0005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210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36861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957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41052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Rich Products Corporation</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3" name="TextBox 132"/>
          <p:cNvSpPr txBox="1"/>
          <p:nvPr/>
        </p:nvSpPr>
        <p:spPr>
          <a:xfrm>
            <a:off x="45434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45529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48148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4657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48672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50768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86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47625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49720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51816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ARYZTA / Aspire Bakeries</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56292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58912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5734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9436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1531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362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58388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60483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62579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Europastry</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TextBox 194"/>
          <p:cNvSpPr txBox="1"/>
          <p:nvPr/>
        </p:nvSpPr>
        <p:spPr>
          <a:xfrm>
            <a:off x="67056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69675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6810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70199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72294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7439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69151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71247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73342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Bridor</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20" name="TextBox 219"/>
          <p:cNvSpPr txBox="1"/>
          <p:nvPr/>
        </p:nvSpPr>
        <p:spPr>
          <a:xfrm>
            <a:off x="777240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77819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0438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7886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80962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83058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8515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79914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82010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84105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Lantmännen Unibake</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8582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91201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963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91725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93821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9591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90678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92773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94869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Flowers Foods</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99345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TextBox 286"/>
          <p:cNvSpPr txBox="1"/>
          <p:nvPr/>
        </p:nvSpPr>
        <p:spPr>
          <a:xfrm>
            <a:off x="101965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TextBox 289"/>
          <p:cNvSpPr txBox="1"/>
          <p:nvPr/>
        </p:nvSpPr>
        <p:spPr>
          <a:xfrm>
            <a:off x="10039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02489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TextBox 293"/>
          <p:cNvSpPr txBox="1"/>
          <p:nvPr/>
        </p:nvSpPr>
        <p:spPr>
          <a:xfrm>
            <a:off x="104584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06680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TextBox 297"/>
          <p:cNvSpPr txBox="1"/>
          <p:nvPr/>
        </p:nvSpPr>
        <p:spPr>
          <a:xfrm>
            <a:off x="101441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TextBox 299"/>
          <p:cNvSpPr txBox="1"/>
          <p:nvPr/>
        </p:nvSpPr>
        <p:spPr>
          <a:xfrm>
            <a:off x="103536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105632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Premier Foods</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307" name="TextBox 306"/>
          <p:cNvSpPr txBox="1"/>
          <p:nvPr/>
        </p:nvSpPr>
        <p:spPr>
          <a:xfrm>
            <a:off x="110013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10109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TextBox 315"/>
          <p:cNvSpPr txBox="1"/>
          <p:nvPr/>
        </p:nvSpPr>
        <p:spPr>
          <a:xfrm>
            <a:off x="112728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11115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TextBox 320"/>
          <p:cNvSpPr txBox="1"/>
          <p:nvPr/>
        </p:nvSpPr>
        <p:spPr>
          <a:xfrm>
            <a:off x="113252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TextBox 322"/>
          <p:cNvSpPr txBox="1"/>
          <p:nvPr/>
        </p:nvSpPr>
        <p:spPr>
          <a:xfrm>
            <a:off x="115347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TextBox 324"/>
          <p:cNvSpPr txBox="1"/>
          <p:nvPr/>
        </p:nvSpPr>
        <p:spPr>
          <a:xfrm>
            <a:off x="117443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112204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TextBox 328"/>
          <p:cNvSpPr txBox="1"/>
          <p:nvPr/>
        </p:nvSpPr>
        <p:spPr>
          <a:xfrm>
            <a:off x="114300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116395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TextBox 333"/>
          <p:cNvSpPr txBox="1"/>
          <p:nvPr/>
        </p:nvSpPr>
        <p:spPr>
          <a:xfrm>
            <a:off x="1535906" y="5716715"/>
            <a:ext cx="890588" cy="164283"/>
          </a:xfrm>
          <a:prstGeom prst="rect">
            <a:avLst/>
          </a:prstGeom>
          <a:noFill/>
        </p:spPr>
        <p:txBody>
          <a:bodyPr wrap="square" lIns="0" rIns="0" tIns="0" bIns="0" anchor="ctr">
            <a:spAutoFit/>
          </a:bodyPr>
          <a:lstStyle/>
          <a:p>
            <a:pPr algn="l"/>
            <a:r>
              <a:rPr sz="1100" b="0">
                <a:solidFill>
                  <a:srgbClr val="2E2E2E"/>
                </a:solidFill>
                <a:latin typeface="Calibri"/>
              </a:rPr>
              <a:t>Sweet muffins</a:t>
            </a:r>
          </a:p>
        </p:txBody>
      </p:sp>
      <p:sp>
        <p:nvSpPr>
          <p:cNvPr id="335" name="Rectangle 334"/>
          <p:cNvSpPr/>
          <p:nvPr/>
        </p:nvSpPr>
        <p:spPr>
          <a:xfrm>
            <a:off x="2483644"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2636044" y="5716715"/>
            <a:ext cx="997744" cy="164283"/>
          </a:xfrm>
          <a:prstGeom prst="rect">
            <a:avLst/>
          </a:prstGeom>
          <a:noFill/>
        </p:spPr>
        <p:txBody>
          <a:bodyPr wrap="square" lIns="0" rIns="0" tIns="0" bIns="0" anchor="ctr">
            <a:spAutoFit/>
          </a:bodyPr>
          <a:lstStyle/>
          <a:p>
            <a:pPr algn="l"/>
            <a:r>
              <a:rPr sz="1100" b="0">
                <a:solidFill>
                  <a:srgbClr val="2E2E2E"/>
                </a:solidFill>
                <a:latin typeface="Calibri"/>
              </a:rPr>
              <a:t>Savoury muffins</a:t>
            </a:r>
          </a:p>
        </p:txBody>
      </p:sp>
      <p:sp>
        <p:nvSpPr>
          <p:cNvPr id="337" name="Rectangle 336"/>
          <p:cNvSpPr/>
          <p:nvPr/>
        </p:nvSpPr>
        <p:spPr>
          <a:xfrm>
            <a:off x="3690938"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TextBox 337"/>
          <p:cNvSpPr txBox="1"/>
          <p:nvPr/>
        </p:nvSpPr>
        <p:spPr>
          <a:xfrm>
            <a:off x="3843338"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339" name="TextBox 338"/>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340" name="TextBox 339"/>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341" name="TextBox 340"/>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342" name="TextBox 341"/>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343" name="TextBox 342"/>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344" name="TextBox 343"/>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345" name="TextBox 344"/>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346" name="TextBox 345"/>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347" name="TextBox 346"/>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348" name="TextBox 347"/>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349" name="TextBox 348"/>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350" name="Oval 349"/>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TextBox 350"/>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52" name="TextBox 351"/>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353" name="Oval 352"/>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TextBox 353"/>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55" name="TextBox 354"/>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356" name="Oval 355"/>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TextBox 356"/>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58" name="TextBox 357"/>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59" name="Oval 358"/>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TextBox 359"/>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61" name="TextBox 360"/>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62" name="Oval 361"/>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TextBox 362"/>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64" name="TextBox 363"/>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65" name="Oval 364"/>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TextBox 365"/>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67" name="TextBox 366"/>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68" name="Oval 367"/>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TextBox 368"/>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70" name="TextBox 369"/>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71" name="TextBox 370"/>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72" name="TextBox 371"/>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73" name="TextBox 37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4" name="Picture 373" descr="lock.png"/>
          <p:cNvPicPr>
            <a:picLocks noChangeAspect="1"/>
          </p:cNvPicPr>
          <p:nvPr/>
        </p:nvPicPr>
        <p:blipFill>
          <a:blip r:embed="rId4"/>
          <a:stretch>
            <a:fillRect/>
          </a:stretch>
        </p:blipFill>
        <p:spPr>
          <a:xfrm>
            <a:off x="1769213" y="2702524"/>
            <a:ext cx="128699" cy="187198"/>
          </a:xfrm>
          <a:prstGeom prst="rect">
            <a:avLst/>
          </a:prstGeom>
        </p:spPr>
      </p:pic>
      <p:pic>
        <p:nvPicPr>
          <p:cNvPr id="375" name="Picture 374" descr="lock.png"/>
          <p:cNvPicPr>
            <a:picLocks noChangeAspect="1"/>
          </p:cNvPicPr>
          <p:nvPr/>
        </p:nvPicPr>
        <p:blipFill>
          <a:blip r:embed="rId4"/>
          <a:stretch>
            <a:fillRect/>
          </a:stretch>
        </p:blipFill>
        <p:spPr>
          <a:xfrm>
            <a:off x="1769213" y="3031091"/>
            <a:ext cx="128699" cy="187198"/>
          </a:xfrm>
          <a:prstGeom prst="rect">
            <a:avLst/>
          </a:prstGeom>
        </p:spPr>
      </p:pic>
      <p:pic>
        <p:nvPicPr>
          <p:cNvPr id="376" name="Picture 375" descr="lock.png"/>
          <p:cNvPicPr>
            <a:picLocks noChangeAspect="1"/>
          </p:cNvPicPr>
          <p:nvPr/>
        </p:nvPicPr>
        <p:blipFill>
          <a:blip r:embed="rId4"/>
          <a:stretch>
            <a:fillRect/>
          </a:stretch>
        </p:blipFill>
        <p:spPr>
          <a:xfrm>
            <a:off x="1769212" y="3560448"/>
            <a:ext cx="128699" cy="187198"/>
          </a:xfrm>
          <a:prstGeom prst="rect">
            <a:avLst/>
          </a:prstGeom>
        </p:spPr>
      </p:pic>
      <p:pic>
        <p:nvPicPr>
          <p:cNvPr id="377" name="Picture 376" descr="lock.png"/>
          <p:cNvPicPr>
            <a:picLocks noChangeAspect="1"/>
          </p:cNvPicPr>
          <p:nvPr/>
        </p:nvPicPr>
        <p:blipFill>
          <a:blip r:embed="rId4"/>
          <a:stretch>
            <a:fillRect/>
          </a:stretch>
        </p:blipFill>
        <p:spPr>
          <a:xfrm>
            <a:off x="2845538" y="2702524"/>
            <a:ext cx="128699" cy="187198"/>
          </a:xfrm>
          <a:prstGeom prst="rect">
            <a:avLst/>
          </a:prstGeom>
        </p:spPr>
      </p:pic>
      <p:pic>
        <p:nvPicPr>
          <p:cNvPr id="378" name="Picture 377" descr="lock.png"/>
          <p:cNvPicPr>
            <a:picLocks noChangeAspect="1"/>
          </p:cNvPicPr>
          <p:nvPr/>
        </p:nvPicPr>
        <p:blipFill>
          <a:blip r:embed="rId4"/>
          <a:stretch>
            <a:fillRect/>
          </a:stretch>
        </p:blipFill>
        <p:spPr>
          <a:xfrm>
            <a:off x="2845538" y="3031091"/>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3560448"/>
            <a:ext cx="128699" cy="187198"/>
          </a:xfrm>
          <a:prstGeom prst="rect">
            <a:avLst/>
          </a:prstGeom>
        </p:spPr>
      </p:pic>
      <p:pic>
        <p:nvPicPr>
          <p:cNvPr id="380" name="Picture 379" descr="lock.png"/>
          <p:cNvPicPr>
            <a:picLocks noChangeAspect="1"/>
          </p:cNvPicPr>
          <p:nvPr/>
        </p:nvPicPr>
        <p:blipFill>
          <a:blip r:embed="rId4"/>
          <a:stretch>
            <a:fillRect/>
          </a:stretch>
        </p:blipFill>
        <p:spPr>
          <a:xfrm>
            <a:off x="3921863" y="2702524"/>
            <a:ext cx="128699" cy="187198"/>
          </a:xfrm>
          <a:prstGeom prst="rect">
            <a:avLst/>
          </a:prstGeom>
        </p:spPr>
      </p:pic>
      <p:pic>
        <p:nvPicPr>
          <p:cNvPr id="381" name="Picture 380" descr="lock.png"/>
          <p:cNvPicPr>
            <a:picLocks noChangeAspect="1"/>
          </p:cNvPicPr>
          <p:nvPr/>
        </p:nvPicPr>
        <p:blipFill>
          <a:blip r:embed="rId4"/>
          <a:stretch>
            <a:fillRect/>
          </a:stretch>
        </p:blipFill>
        <p:spPr>
          <a:xfrm>
            <a:off x="3921863" y="3031091"/>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2" y="3560448"/>
            <a:ext cx="128699" cy="187198"/>
          </a:xfrm>
          <a:prstGeom prst="rect">
            <a:avLst/>
          </a:prstGeom>
        </p:spPr>
      </p:pic>
      <p:pic>
        <p:nvPicPr>
          <p:cNvPr id="383" name="Picture 382" descr="lock.png"/>
          <p:cNvPicPr>
            <a:picLocks noChangeAspect="1"/>
          </p:cNvPicPr>
          <p:nvPr/>
        </p:nvPicPr>
        <p:blipFill>
          <a:blip r:embed="rId4"/>
          <a:stretch>
            <a:fillRect/>
          </a:stretch>
        </p:blipFill>
        <p:spPr>
          <a:xfrm>
            <a:off x="4998188" y="2702524"/>
            <a:ext cx="128699" cy="187198"/>
          </a:xfrm>
          <a:prstGeom prst="rect">
            <a:avLst/>
          </a:prstGeom>
        </p:spPr>
      </p:pic>
      <p:pic>
        <p:nvPicPr>
          <p:cNvPr id="384" name="Picture 383" descr="lock.png"/>
          <p:cNvPicPr>
            <a:picLocks noChangeAspect="1"/>
          </p:cNvPicPr>
          <p:nvPr/>
        </p:nvPicPr>
        <p:blipFill>
          <a:blip r:embed="rId4"/>
          <a:stretch>
            <a:fillRect/>
          </a:stretch>
        </p:blipFill>
        <p:spPr>
          <a:xfrm>
            <a:off x="4998188" y="3031091"/>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3560448"/>
            <a:ext cx="128699" cy="187198"/>
          </a:xfrm>
          <a:prstGeom prst="rect">
            <a:avLst/>
          </a:prstGeom>
        </p:spPr>
      </p:pic>
      <p:pic>
        <p:nvPicPr>
          <p:cNvPr id="386" name="Picture 385" descr="lock.png"/>
          <p:cNvPicPr>
            <a:picLocks noChangeAspect="1"/>
          </p:cNvPicPr>
          <p:nvPr/>
        </p:nvPicPr>
        <p:blipFill>
          <a:blip r:embed="rId4"/>
          <a:stretch>
            <a:fillRect/>
          </a:stretch>
        </p:blipFill>
        <p:spPr>
          <a:xfrm>
            <a:off x="6074513" y="2702524"/>
            <a:ext cx="128699" cy="187198"/>
          </a:xfrm>
          <a:prstGeom prst="rect">
            <a:avLst/>
          </a:prstGeom>
        </p:spPr>
      </p:pic>
      <p:pic>
        <p:nvPicPr>
          <p:cNvPr id="387" name="Picture 386" descr="lock.png"/>
          <p:cNvPicPr>
            <a:picLocks noChangeAspect="1"/>
          </p:cNvPicPr>
          <p:nvPr/>
        </p:nvPicPr>
        <p:blipFill>
          <a:blip r:embed="rId4"/>
          <a:stretch>
            <a:fillRect/>
          </a:stretch>
        </p:blipFill>
        <p:spPr>
          <a:xfrm>
            <a:off x="6074513" y="3031091"/>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2" y="3560448"/>
            <a:ext cx="128699" cy="187198"/>
          </a:xfrm>
          <a:prstGeom prst="rect">
            <a:avLst/>
          </a:prstGeom>
        </p:spPr>
      </p:pic>
      <p:pic>
        <p:nvPicPr>
          <p:cNvPr id="389" name="Picture 388" descr="lock.png"/>
          <p:cNvPicPr>
            <a:picLocks noChangeAspect="1"/>
          </p:cNvPicPr>
          <p:nvPr/>
        </p:nvPicPr>
        <p:blipFill>
          <a:blip r:embed="rId4"/>
          <a:stretch>
            <a:fillRect/>
          </a:stretch>
        </p:blipFill>
        <p:spPr>
          <a:xfrm>
            <a:off x="7150838" y="2702524"/>
            <a:ext cx="128699" cy="187198"/>
          </a:xfrm>
          <a:prstGeom prst="rect">
            <a:avLst/>
          </a:prstGeom>
        </p:spPr>
      </p:pic>
      <p:pic>
        <p:nvPicPr>
          <p:cNvPr id="390" name="Picture 389" descr="lock.png"/>
          <p:cNvPicPr>
            <a:picLocks noChangeAspect="1"/>
          </p:cNvPicPr>
          <p:nvPr/>
        </p:nvPicPr>
        <p:blipFill>
          <a:blip r:embed="rId4"/>
          <a:stretch>
            <a:fillRect/>
          </a:stretch>
        </p:blipFill>
        <p:spPr>
          <a:xfrm>
            <a:off x="7150838" y="3031091"/>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3560448"/>
            <a:ext cx="128699" cy="187198"/>
          </a:xfrm>
          <a:prstGeom prst="rect">
            <a:avLst/>
          </a:prstGeom>
        </p:spPr>
      </p:pic>
      <p:pic>
        <p:nvPicPr>
          <p:cNvPr id="392" name="Picture 391" descr="lock.png"/>
          <p:cNvPicPr>
            <a:picLocks noChangeAspect="1"/>
          </p:cNvPicPr>
          <p:nvPr/>
        </p:nvPicPr>
        <p:blipFill>
          <a:blip r:embed="rId4"/>
          <a:stretch>
            <a:fillRect/>
          </a:stretch>
        </p:blipFill>
        <p:spPr>
          <a:xfrm>
            <a:off x="8227163" y="2702524"/>
            <a:ext cx="128699" cy="187198"/>
          </a:xfrm>
          <a:prstGeom prst="rect">
            <a:avLst/>
          </a:prstGeom>
        </p:spPr>
      </p:pic>
      <p:pic>
        <p:nvPicPr>
          <p:cNvPr id="393" name="Picture 392" descr="lock.png"/>
          <p:cNvPicPr>
            <a:picLocks noChangeAspect="1"/>
          </p:cNvPicPr>
          <p:nvPr/>
        </p:nvPicPr>
        <p:blipFill>
          <a:blip r:embed="rId4"/>
          <a:stretch>
            <a:fillRect/>
          </a:stretch>
        </p:blipFill>
        <p:spPr>
          <a:xfrm>
            <a:off x="8227163" y="3031091"/>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2" y="3560448"/>
            <a:ext cx="128699" cy="187198"/>
          </a:xfrm>
          <a:prstGeom prst="rect">
            <a:avLst/>
          </a:prstGeom>
        </p:spPr>
      </p:pic>
      <p:pic>
        <p:nvPicPr>
          <p:cNvPr id="395" name="Picture 394" descr="lock.png"/>
          <p:cNvPicPr>
            <a:picLocks noChangeAspect="1"/>
          </p:cNvPicPr>
          <p:nvPr/>
        </p:nvPicPr>
        <p:blipFill>
          <a:blip r:embed="rId4"/>
          <a:stretch>
            <a:fillRect/>
          </a:stretch>
        </p:blipFill>
        <p:spPr>
          <a:xfrm>
            <a:off x="9303488" y="2702524"/>
            <a:ext cx="128699" cy="187198"/>
          </a:xfrm>
          <a:prstGeom prst="rect">
            <a:avLst/>
          </a:prstGeom>
        </p:spPr>
      </p:pic>
      <p:pic>
        <p:nvPicPr>
          <p:cNvPr id="396" name="Picture 395" descr="lock.png"/>
          <p:cNvPicPr>
            <a:picLocks noChangeAspect="1"/>
          </p:cNvPicPr>
          <p:nvPr/>
        </p:nvPicPr>
        <p:blipFill>
          <a:blip r:embed="rId4"/>
          <a:stretch>
            <a:fillRect/>
          </a:stretch>
        </p:blipFill>
        <p:spPr>
          <a:xfrm>
            <a:off x="9303488" y="3031091"/>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3560448"/>
            <a:ext cx="128699" cy="187198"/>
          </a:xfrm>
          <a:prstGeom prst="rect">
            <a:avLst/>
          </a:prstGeom>
        </p:spPr>
      </p:pic>
      <p:pic>
        <p:nvPicPr>
          <p:cNvPr id="398" name="Picture 397" descr="lock.png"/>
          <p:cNvPicPr>
            <a:picLocks noChangeAspect="1"/>
          </p:cNvPicPr>
          <p:nvPr/>
        </p:nvPicPr>
        <p:blipFill>
          <a:blip r:embed="rId4"/>
          <a:stretch>
            <a:fillRect/>
          </a:stretch>
        </p:blipFill>
        <p:spPr>
          <a:xfrm>
            <a:off x="10379813" y="2702524"/>
            <a:ext cx="128699" cy="187198"/>
          </a:xfrm>
          <a:prstGeom prst="rect">
            <a:avLst/>
          </a:prstGeom>
        </p:spPr>
      </p:pic>
      <p:pic>
        <p:nvPicPr>
          <p:cNvPr id="399" name="Picture 398" descr="lock.png"/>
          <p:cNvPicPr>
            <a:picLocks noChangeAspect="1"/>
          </p:cNvPicPr>
          <p:nvPr/>
        </p:nvPicPr>
        <p:blipFill>
          <a:blip r:embed="rId4"/>
          <a:stretch>
            <a:fillRect/>
          </a:stretch>
        </p:blipFill>
        <p:spPr>
          <a:xfrm>
            <a:off x="10379813" y="3031091"/>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2" y="3560448"/>
            <a:ext cx="128699" cy="187198"/>
          </a:xfrm>
          <a:prstGeom prst="rect">
            <a:avLst/>
          </a:prstGeom>
        </p:spPr>
      </p:pic>
      <p:pic>
        <p:nvPicPr>
          <p:cNvPr id="401" name="Picture 400" descr="lock.png"/>
          <p:cNvPicPr>
            <a:picLocks noChangeAspect="1"/>
          </p:cNvPicPr>
          <p:nvPr/>
        </p:nvPicPr>
        <p:blipFill>
          <a:blip r:embed="rId4"/>
          <a:stretch>
            <a:fillRect/>
          </a:stretch>
        </p:blipFill>
        <p:spPr>
          <a:xfrm>
            <a:off x="11456138" y="2702524"/>
            <a:ext cx="128699" cy="187198"/>
          </a:xfrm>
          <a:prstGeom prst="rect">
            <a:avLst/>
          </a:prstGeom>
        </p:spPr>
      </p:pic>
      <p:pic>
        <p:nvPicPr>
          <p:cNvPr id="402" name="Picture 401" descr="lock.png"/>
          <p:cNvPicPr>
            <a:picLocks noChangeAspect="1"/>
          </p:cNvPicPr>
          <p:nvPr/>
        </p:nvPicPr>
        <p:blipFill>
          <a:blip r:embed="rId4"/>
          <a:stretch>
            <a:fillRect/>
          </a:stretch>
        </p:blipFill>
        <p:spPr>
          <a:xfrm>
            <a:off x="11456138" y="3031091"/>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5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Packaged Muffins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572125"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'Sweet muffins') to lift blended ASP and</a:t>
            </a:r>
          </a:p>
        </p:txBody>
      </p:sp>
      <p:sp>
        <p:nvSpPr>
          <p:cNvPr id="33" name="TextBox 32"/>
          <p:cNvSpPr txBox="1"/>
          <p:nvPr/>
        </p:nvSpPr>
        <p:spPr>
          <a:xfrm>
            <a:off x="276225" y="2351539"/>
            <a:ext cx="2189646" cy="194310"/>
          </a:xfrm>
          <a:prstGeom prst="rect">
            <a:avLst/>
          </a:prstGeom>
          <a:noFill/>
        </p:spPr>
        <p:txBody>
          <a:bodyPr wrap="none" lIns="0" rIns="0" tIns="0" bIns="0">
            <a:spAutoFit/>
          </a:bodyPr>
          <a:lstStyle/>
          <a:p>
            <a:r>
              <a:rPr sz="1150" b="0">
                <a:solidFill>
                  <a:srgbClr val="2E2E2E"/>
                </a:solidFill>
                <a:latin typeface="Calibri"/>
              </a:rPr>
              <a:t>defend 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3038276" cy="194310"/>
          </a:xfrm>
          <a:prstGeom prst="rect">
            <a:avLst/>
          </a:prstGeom>
          <a:noFill/>
        </p:spPr>
        <p:txBody>
          <a:bodyPr wrap="none" lIns="0" rIns="0" tIns="0" bIns="0">
            <a:spAutoFit/>
          </a:bodyPr>
          <a:lstStyle/>
          <a:p>
            <a:r>
              <a:rPr sz="1150" b="0">
                <a:solidFill>
                  <a:srgbClr val="2E2E2E"/>
                </a:solidFill>
                <a:latin typeface="Calibri"/>
              </a:rPr>
              <a:t>▪ Benchmark relentlessly against 'Grupo Bimbo' (~</a:t>
            </a:r>
          </a:p>
        </p:txBody>
      </p:sp>
      <p:pic>
        <p:nvPicPr>
          <p:cNvPr id="43" name="Picture 42" descr="lock.png"/>
          <p:cNvPicPr>
            <a:picLocks noChangeAspect="1"/>
          </p:cNvPicPr>
          <p:nvPr/>
        </p:nvPicPr>
        <p:blipFill>
          <a:blip r:embed="rId4"/>
          <a:stretch>
            <a:fillRect/>
          </a:stretch>
        </p:blipFill>
        <p:spPr>
          <a:xfrm>
            <a:off x="9312030" y="4455378"/>
            <a:ext cx="134549" cy="195707"/>
          </a:xfrm>
          <a:prstGeom prst="rect">
            <a:avLst/>
          </a:prstGeom>
        </p:spPr>
      </p:pic>
      <p:sp>
        <p:nvSpPr>
          <p:cNvPr id="44" name="TextBox 43"/>
          <p:cNvSpPr txBox="1"/>
          <p:nvPr/>
        </p:nvSpPr>
        <p:spPr>
          <a:xfrm>
            <a:off x="9487139" y="4465602"/>
            <a:ext cx="2219597" cy="194310"/>
          </a:xfrm>
          <a:prstGeom prst="rect">
            <a:avLst/>
          </a:prstGeom>
          <a:noFill/>
        </p:spPr>
        <p:txBody>
          <a:bodyPr wrap="none" lIns="0" rIns="0" tIns="0" bIns="0">
            <a:spAutoFit/>
          </a:bodyPr>
          <a:lstStyle/>
          <a:p>
            <a:r>
              <a:rPr sz="1150" b="0">
                <a:solidFill>
                  <a:srgbClr val="2E2E2E"/>
                </a:solidFill>
                <a:latin typeface="Calibri"/>
              </a:rPr>
              <a:t>share) match on service and lead on</a:t>
            </a:r>
          </a:p>
        </p:txBody>
      </p:sp>
      <p:sp>
        <p:nvSpPr>
          <p:cNvPr id="45" name="TextBox 44"/>
          <p:cNvSpPr txBox="1"/>
          <p:nvPr/>
        </p:nvSpPr>
        <p:spPr>
          <a:xfrm>
            <a:off x="6324600" y="4640861"/>
            <a:ext cx="1560376" cy="194310"/>
          </a:xfrm>
          <a:prstGeom prst="rect">
            <a:avLst/>
          </a:prstGeom>
          <a:noFill/>
        </p:spPr>
        <p:txBody>
          <a:bodyPr wrap="none" lIns="0" rIns="0" tIns="0" bIns="0">
            <a:spAutoFit/>
          </a:bodyPr>
          <a:lstStyle/>
          <a:p>
            <a:r>
              <a:rPr sz="1150" b="0">
                <a:solidFill>
                  <a:srgbClr val="2E2E2E"/>
                </a:solidFill>
                <a:latin typeface="Calibri"/>
              </a:rPr>
              <a:t>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5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
            </a:r>
          </a:p>
          <a:p>
            <a:pPr algn="ctr"/>
            <a:r>
              <a:rPr sz="1300" b="1">
                <a:solidFill>
                  <a:srgbClr val="2E2E2E"/>
                </a:solidFill>
                <a:latin typeface="Calibri"/>
              </a:rPr>
              <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rIns="0" t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rIns="0" tIns="0" bIns="0">
            <a:spAutoFit/>
          </a:bodyPr>
          <a:lstStyle/>
          <a:p>
            <a:r>
              <a:rPr sz="935" b="1">
                <a:solidFill>
                  <a:srgbClr val="2E2E2E"/>
                </a:solidFill>
                <a:latin typeface="Calibri"/>
              </a:rPr>
              <a:t>US$ Mn</a:t>
            </a:r>
          </a:p>
        </p:txBody>
      </p:sp>
      <p:sp>
        <p:nvSpPr>
          <p:cNvPr id="25" name="TextBox 24"/>
          <p:cNvSpPr txBox="1"/>
          <p:nvPr/>
        </p:nvSpPr>
        <p:spPr>
          <a:xfrm>
            <a:off x="7934325" y="1773181"/>
            <a:ext cx="3573127" cy="194310"/>
          </a:xfrm>
          <a:prstGeom prst="rect">
            <a:avLst/>
          </a:prstGeom>
          <a:noFill/>
        </p:spPr>
        <p:txBody>
          <a:bodyPr wrap="none" lIns="0" rIns="0" tIns="0" bIns="0">
            <a:spAutoFit/>
          </a:bodyPr>
          <a:lstStyle/>
          <a:p>
            <a:r>
              <a:rPr sz="1150" b="0">
                <a:solidFill>
                  <a:srgbClr val="2E2E2E"/>
                </a:solidFill>
                <a:latin typeface="Calibri"/>
              </a:rPr>
              <a:t>▪ The Packaged Muffins Market is moderately consolidated</a:t>
            </a:r>
          </a:p>
        </p:txBody>
      </p:sp>
      <p:sp>
        <p:nvSpPr>
          <p:cNvPr id="26" name="TextBox 25"/>
          <p:cNvSpPr txBox="1"/>
          <p:nvPr/>
        </p:nvSpPr>
        <p:spPr>
          <a:xfrm>
            <a:off x="7934325" y="1948441"/>
            <a:ext cx="2261244" cy="194310"/>
          </a:xfrm>
          <a:prstGeom prst="rect">
            <a:avLst/>
          </a:prstGeom>
          <a:noFill/>
        </p:spPr>
        <p:txBody>
          <a:bodyPr wrap="none" lIns="0" rIns="0" tIns="0" bIns="0">
            <a:spAutoFit/>
          </a:bodyPr>
          <a:lstStyle/>
          <a:p>
            <a:r>
              <a:rPr sz="1150" b="0">
                <a:solidFill>
                  <a:srgbClr val="2E2E2E"/>
                </a:solidFill>
                <a:latin typeface="Calibri"/>
              </a:rPr>
              <a:t>globally: the top three players hold ~</a:t>
            </a:r>
          </a:p>
        </p:txBody>
      </p:sp>
      <p:pic>
        <p:nvPicPr>
          <p:cNvPr id="27" name="Picture 26" descr="lock.png"/>
          <p:cNvPicPr>
            <a:picLocks noChangeAspect="1"/>
          </p:cNvPicPr>
          <p:nvPr/>
        </p:nvPicPr>
        <p:blipFill>
          <a:blip r:embed="rId5"/>
          <a:stretch>
            <a:fillRect/>
          </a:stretch>
        </p:blipFill>
        <p:spPr>
          <a:xfrm>
            <a:off x="10144723" y="1938217"/>
            <a:ext cx="134549" cy="195707"/>
          </a:xfrm>
          <a:prstGeom prst="rect">
            <a:avLst/>
          </a:prstGeom>
        </p:spPr>
      </p:pic>
      <p:sp>
        <p:nvSpPr>
          <p:cNvPr id="28" name="TextBox 27"/>
          <p:cNvSpPr txBox="1"/>
          <p:nvPr/>
        </p:nvSpPr>
        <p:spPr>
          <a:xfrm>
            <a:off x="10319833" y="1948441"/>
            <a:ext cx="1552103" cy="194310"/>
          </a:xfrm>
          <a:prstGeom prst="rect">
            <a:avLst/>
          </a:prstGeom>
          <a:noFill/>
        </p:spPr>
        <p:txBody>
          <a:bodyPr wrap="none" lIns="0" rIns="0" tIns="0" bIns="0">
            <a:spAutoFit/>
          </a:bodyPr>
          <a:lstStyle/>
          <a:p>
            <a:r>
              <a:rPr sz="1150" b="0">
                <a:solidFill>
                  <a:srgbClr val="2E2E2E"/>
                </a:solidFill>
                <a:latin typeface="Calibri"/>
              </a:rPr>
              <a:t>of value, while a long tail</a:t>
            </a:r>
          </a:p>
        </p:txBody>
      </p:sp>
      <p:sp>
        <p:nvSpPr>
          <p:cNvPr id="29" name="TextBox 28"/>
          <p:cNvSpPr txBox="1"/>
          <p:nvPr/>
        </p:nvSpPr>
        <p:spPr>
          <a:xfrm>
            <a:off x="7934325" y="2123701"/>
            <a:ext cx="1507318" cy="194310"/>
          </a:xfrm>
          <a:prstGeom prst="rect">
            <a:avLst/>
          </a:prstGeom>
          <a:noFill/>
        </p:spPr>
        <p:txBody>
          <a:bodyPr wrap="none" lIns="0" rIns="0" tIns="0" bIns="0">
            <a:spAutoFit/>
          </a:bodyPr>
          <a:lstStyle/>
          <a:p>
            <a:r>
              <a:rPr sz="1150" b="0">
                <a:solidFill>
                  <a:srgbClr val="2E2E2E"/>
                </a:solidFill>
                <a:latin typeface="Calibri"/>
              </a:rPr>
              <a:t>('Others') accounts for ~</a:t>
            </a:r>
          </a:p>
        </p:txBody>
      </p:sp>
      <p:pic>
        <p:nvPicPr>
          <p:cNvPr id="30" name="Picture 29" descr="lock.png"/>
          <p:cNvPicPr>
            <a:picLocks noChangeAspect="1"/>
          </p:cNvPicPr>
          <p:nvPr/>
        </p:nvPicPr>
        <p:blipFill>
          <a:blip r:embed="rId5"/>
          <a:stretch>
            <a:fillRect/>
          </a:stretch>
        </p:blipFill>
        <p:spPr>
          <a:xfrm>
            <a:off x="9390797" y="2113477"/>
            <a:ext cx="134549" cy="195707"/>
          </a:xfrm>
          <a:prstGeom prst="rect">
            <a:avLst/>
          </a:prstGeom>
        </p:spPr>
      </p:pic>
      <p:sp>
        <p:nvSpPr>
          <p:cNvPr id="31" name="TextBox 30"/>
          <p:cNvSpPr txBox="1"/>
          <p:nvPr/>
        </p:nvSpPr>
        <p:spPr>
          <a:xfrm>
            <a:off x="9565907" y="2123701"/>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2" name="TextBox 31"/>
          <p:cNvSpPr txBox="1"/>
          <p:nvPr/>
        </p:nvSpPr>
        <p:spPr>
          <a:xfrm>
            <a:off x="7934325" y="2351539"/>
            <a:ext cx="1761765" cy="194310"/>
          </a:xfrm>
          <a:prstGeom prst="rect">
            <a:avLst/>
          </a:prstGeom>
          <a:noFill/>
        </p:spPr>
        <p:txBody>
          <a:bodyPr wrap="none" lIns="0" rIns="0" tIns="0" bIns="0">
            <a:spAutoFit/>
          </a:bodyPr>
          <a:lstStyle/>
          <a:p>
            <a:r>
              <a:rPr sz="1150" b="0">
                <a:solidFill>
                  <a:srgbClr val="2E2E2E"/>
                </a:solidFill>
                <a:latin typeface="Calibri"/>
              </a:rPr>
              <a:t>▪ 'Grupo Bimbo' leads with ~</a:t>
            </a:r>
          </a:p>
        </p:txBody>
      </p:sp>
      <p:pic>
        <p:nvPicPr>
          <p:cNvPr id="33" name="Picture 32" descr="lock.png"/>
          <p:cNvPicPr>
            <a:picLocks noChangeAspect="1"/>
          </p:cNvPicPr>
          <p:nvPr/>
        </p:nvPicPr>
        <p:blipFill>
          <a:blip r:embed="rId5"/>
          <a:stretch>
            <a:fillRect/>
          </a:stretch>
        </p:blipFill>
        <p:spPr>
          <a:xfrm>
            <a:off x="9645244" y="2341315"/>
            <a:ext cx="134549" cy="195707"/>
          </a:xfrm>
          <a:prstGeom prst="rect">
            <a:avLst/>
          </a:prstGeom>
        </p:spPr>
      </p:pic>
      <p:sp>
        <p:nvSpPr>
          <p:cNvPr id="34" name="TextBox 33"/>
          <p:cNvSpPr txBox="1"/>
          <p:nvPr/>
        </p:nvSpPr>
        <p:spPr>
          <a:xfrm>
            <a:off x="9820353" y="2351539"/>
            <a:ext cx="1855257" cy="194310"/>
          </a:xfrm>
          <a:prstGeom prst="rect">
            <a:avLst/>
          </a:prstGeom>
          <a:noFill/>
        </p:spPr>
        <p:txBody>
          <a:bodyPr wrap="none" lIns="0" rIns="0" tIns="0" bIns="0">
            <a:spAutoFit/>
          </a:bodyPr>
          <a:lstStyle/>
          <a:p>
            <a:r>
              <a:rPr sz="1150" b="0">
                <a:solidFill>
                  <a:srgbClr val="2E2E2E"/>
                </a:solidFill>
                <a:latin typeface="Calibri"/>
              </a:rPr>
              <a:t>share, ahead of 'McKee Foods</a:t>
            </a:r>
          </a:p>
        </p:txBody>
      </p:sp>
      <p:sp>
        <p:nvSpPr>
          <p:cNvPr id="35" name="TextBox 34"/>
          <p:cNvSpPr txBox="1"/>
          <p:nvPr/>
        </p:nvSpPr>
        <p:spPr>
          <a:xfrm>
            <a:off x="7934325" y="2526799"/>
            <a:ext cx="1083431" cy="194310"/>
          </a:xfrm>
          <a:prstGeom prst="rect">
            <a:avLst/>
          </a:prstGeom>
          <a:noFill/>
        </p:spPr>
        <p:txBody>
          <a:bodyPr wrap="none" lIns="0" rIns="0" tIns="0" bIns="0">
            <a:spAutoFit/>
          </a:bodyPr>
          <a:lstStyle/>
          <a:p>
            <a:r>
              <a:rPr sz="1150" b="0">
                <a:solidFill>
                  <a:srgbClr val="2E2E2E"/>
                </a:solidFill>
                <a:latin typeface="Calibri"/>
              </a:rPr>
              <a:t>Corporation' at ~</a:t>
            </a:r>
          </a:p>
        </p:txBody>
      </p:sp>
      <p:pic>
        <p:nvPicPr>
          <p:cNvPr id="36" name="Picture 35" descr="lock.png"/>
          <p:cNvPicPr>
            <a:picLocks noChangeAspect="1"/>
          </p:cNvPicPr>
          <p:nvPr/>
        </p:nvPicPr>
        <p:blipFill>
          <a:blip r:embed="rId5"/>
          <a:stretch>
            <a:fillRect/>
          </a:stretch>
        </p:blipFill>
        <p:spPr>
          <a:xfrm>
            <a:off x="8966910" y="2516575"/>
            <a:ext cx="134549" cy="195707"/>
          </a:xfrm>
          <a:prstGeom prst="rect">
            <a:avLst/>
          </a:prstGeom>
        </p:spPr>
      </p:pic>
      <p:sp>
        <p:nvSpPr>
          <p:cNvPr id="37" name="TextBox 36"/>
          <p:cNvSpPr txBox="1"/>
          <p:nvPr/>
        </p:nvSpPr>
        <p:spPr>
          <a:xfrm>
            <a:off x="9142019" y="2526799"/>
            <a:ext cx="2631789" cy="194310"/>
          </a:xfrm>
          <a:prstGeom prst="rect">
            <a:avLst/>
          </a:prstGeom>
          <a:noFill/>
        </p:spPr>
        <p:txBody>
          <a:bodyPr wrap="none" lIns="0" rIns="0" tIns="0" bIns="0">
            <a:spAutoFit/>
          </a:bodyPr>
          <a:lstStyle/>
          <a:p>
            <a:r>
              <a:rPr sz="1150" b="0">
                <a:solidFill>
                  <a:srgbClr val="2E2E2E"/>
                </a:solidFill>
                <a:latin typeface="Calibri"/>
              </a:rPr>
              <a:t>the two set the competitive benchmark for</a:t>
            </a:r>
          </a:p>
        </p:txBody>
      </p:sp>
      <p:sp>
        <p:nvSpPr>
          <p:cNvPr id="38" name="TextBox 37"/>
          <p:cNvSpPr txBox="1"/>
          <p:nvPr/>
        </p:nvSpPr>
        <p:spPr>
          <a:xfrm>
            <a:off x="7934325" y="2702058"/>
            <a:ext cx="1441425" cy="194310"/>
          </a:xfrm>
          <a:prstGeom prst="rect">
            <a:avLst/>
          </a:prstGeom>
          <a:noFill/>
        </p:spPr>
        <p:txBody>
          <a:bodyPr wrap="none" lIns="0" rIns="0" tIns="0" bIns="0">
            <a:spAutoFit/>
          </a:bodyPr>
          <a:lstStyle/>
          <a:p>
            <a:r>
              <a:rPr sz="1150" b="0">
                <a:solidFill>
                  <a:srgbClr val="2E2E2E"/>
                </a:solidFill>
                <a:latin typeface="Calibri"/>
              </a:rPr>
              <a:t>pricing and innovation.</a:t>
            </a:r>
          </a:p>
        </p:txBody>
      </p:sp>
      <p:sp>
        <p:nvSpPr>
          <p:cNvPr id="39" name="TextBox 38"/>
          <p:cNvSpPr txBox="1"/>
          <p:nvPr/>
        </p:nvSpPr>
        <p:spPr>
          <a:xfrm>
            <a:off x="7934325" y="2929896"/>
            <a:ext cx="2387041" cy="194310"/>
          </a:xfrm>
          <a:prstGeom prst="rect">
            <a:avLst/>
          </a:prstGeom>
          <a:noFill/>
        </p:spPr>
        <p:txBody>
          <a:bodyPr wrap="none" lIns="0" rIns="0" tIns="0" bIns="0">
            <a:spAutoFit/>
          </a:bodyPr>
          <a:lstStyle/>
          <a:p>
            <a:r>
              <a:rPr sz="1150" b="0">
                <a:solidFill>
                  <a:srgbClr val="2E2E2E"/>
                </a:solidFill>
                <a:latin typeface="Calibri"/>
              </a:rPr>
              <a:t>▪ Tier 1 players collectively command ~</a:t>
            </a:r>
          </a:p>
        </p:txBody>
      </p:sp>
      <p:pic>
        <p:nvPicPr>
          <p:cNvPr id="40" name="Picture 39" descr="lock.png"/>
          <p:cNvPicPr>
            <a:picLocks noChangeAspect="1"/>
          </p:cNvPicPr>
          <p:nvPr/>
        </p:nvPicPr>
        <p:blipFill>
          <a:blip r:embed="rId5"/>
          <a:stretch>
            <a:fillRect/>
          </a:stretch>
        </p:blipFill>
        <p:spPr>
          <a:xfrm>
            <a:off x="10270520" y="2919673"/>
            <a:ext cx="134549" cy="195707"/>
          </a:xfrm>
          <a:prstGeom prst="rect">
            <a:avLst/>
          </a:prstGeom>
        </p:spPr>
      </p:pic>
      <p:sp>
        <p:nvSpPr>
          <p:cNvPr id="41" name="TextBox 40"/>
          <p:cNvSpPr txBox="1"/>
          <p:nvPr/>
        </p:nvSpPr>
        <p:spPr>
          <a:xfrm>
            <a:off x="10445630" y="2929896"/>
            <a:ext cx="924830" cy="194310"/>
          </a:xfrm>
          <a:prstGeom prst="rect">
            <a:avLst/>
          </a:prstGeom>
          <a:noFill/>
        </p:spPr>
        <p:txBody>
          <a:bodyPr wrap="none" lIns="0" rIns="0" tIns="0" bIns="0">
            <a:spAutoFit/>
          </a:bodyPr>
          <a:lstStyle/>
          <a:p>
            <a:r>
              <a:rPr sz="1150" b="0">
                <a:solidFill>
                  <a:srgbClr val="2E2E2E"/>
                </a:solidFill>
                <a:latin typeface="Calibri"/>
              </a:rPr>
              <a:t>of the market,</a:t>
            </a:r>
          </a:p>
        </p:txBody>
      </p:sp>
      <p:sp>
        <p:nvSpPr>
          <p:cNvPr id="42" name="TextBox 41"/>
          <p:cNvSpPr txBox="1"/>
          <p:nvPr/>
        </p:nvSpPr>
        <p:spPr>
          <a:xfrm>
            <a:off x="7934325" y="3105156"/>
            <a:ext cx="2497720" cy="194310"/>
          </a:xfrm>
          <a:prstGeom prst="rect">
            <a:avLst/>
          </a:prstGeom>
          <a:noFill/>
        </p:spPr>
        <p:txBody>
          <a:bodyPr wrap="none" lIns="0" rIns="0" tIns="0" bIns="0">
            <a:spAutoFit/>
          </a:bodyPr>
          <a:lstStyle/>
          <a:p>
            <a:r>
              <a:rPr sz="1150" b="0">
                <a:solidFill>
                  <a:srgbClr val="2E2E2E"/>
                </a:solidFill>
                <a:latin typeface="Calibri"/>
              </a:rPr>
              <a:t>underlining meaningful barriers to entry.</a:t>
            </a:r>
          </a:p>
        </p:txBody>
      </p:sp>
      <p:sp>
        <p:nvSpPr>
          <p:cNvPr id="43" name="TextBox 42"/>
          <p:cNvSpPr txBox="1"/>
          <p:nvPr/>
        </p:nvSpPr>
        <p:spPr>
          <a:xfrm>
            <a:off x="7934325" y="3332994"/>
            <a:ext cx="3732584" cy="194310"/>
          </a:xfrm>
          <a:prstGeom prst="rect">
            <a:avLst/>
          </a:prstGeom>
          <a:noFill/>
        </p:spPr>
        <p:txBody>
          <a:bodyPr wrap="none" lIns="0" rIns="0" tIns="0" bIns="0">
            <a:spAutoFit/>
          </a:bodyPr>
          <a:lstStyle/>
          <a:p>
            <a:r>
              <a:rPr sz="1150" b="0">
                <a:solidFill>
                  <a:srgbClr val="2E2E2E"/>
                </a:solidFill>
                <a:latin typeface="Calibri"/>
              </a:rPr>
              <a:t>▪ Regional share differs from the global picture use the region</a:t>
            </a:r>
          </a:p>
        </p:txBody>
      </p:sp>
      <p:sp>
        <p:nvSpPr>
          <p:cNvPr id="44" name="TextBox 43"/>
          <p:cNvSpPr txBox="1"/>
          <p:nvPr/>
        </p:nvSpPr>
        <p:spPr>
          <a:xfrm>
            <a:off x="7934325" y="3508254"/>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45" name="TextBox 44"/>
          <p:cNvSpPr txBox="1"/>
          <p:nvPr/>
        </p:nvSpPr>
        <p:spPr>
          <a:xfrm>
            <a:off x="7934325" y="3736092"/>
            <a:ext cx="3700350" cy="194310"/>
          </a:xfrm>
          <a:prstGeom prst="rect">
            <a:avLst/>
          </a:prstGeom>
          <a:noFill/>
        </p:spPr>
        <p:txBody>
          <a:bodyPr wrap="none" lIns="0" rIns="0" tIns="0" bIns="0">
            <a:spAutoFit/>
          </a:bodyPr>
          <a:lstStyle/>
          <a:p>
            <a:r>
              <a:rPr sz="1150" b="0">
                <a:solidFill>
                  <a:srgbClr val="2E2E2E"/>
                </a:solidFill>
                <a:latin typeface="Calibri"/>
              </a:rPr>
              <a:t>▪ Share gains globally are being driven by capacity expansion,</a:t>
            </a:r>
          </a:p>
        </p:txBody>
      </p:sp>
      <p:sp>
        <p:nvSpPr>
          <p:cNvPr id="46" name="TextBox 45"/>
          <p:cNvSpPr txBox="1"/>
          <p:nvPr/>
        </p:nvSpPr>
        <p:spPr>
          <a:xfrm>
            <a:off x="7934325" y="3911352"/>
            <a:ext cx="3659274" cy="194310"/>
          </a:xfrm>
          <a:prstGeom prst="rect">
            <a:avLst/>
          </a:prstGeom>
          <a:noFill/>
        </p:spPr>
        <p:txBody>
          <a:bodyPr wrap="none" lIns="0" rIns="0" tIns="0" bIns="0">
            <a:spAutoFit/>
          </a:bodyPr>
          <a:lstStyle/>
          <a:p>
            <a:r>
              <a:rPr sz="1150" b="0">
                <a:solidFill>
                  <a:srgbClr val="2E2E2E"/>
                </a:solidFill>
                <a:latin typeface="Calibri"/>
              </a:rPr>
              <a:t>product development and selective M&amp;A among the leading</a:t>
            </a:r>
          </a:p>
        </p:txBody>
      </p:sp>
      <p:sp>
        <p:nvSpPr>
          <p:cNvPr id="47" name="TextBox 46"/>
          <p:cNvSpPr txBox="1"/>
          <p:nvPr/>
        </p:nvSpPr>
        <p:spPr>
          <a:xfrm>
            <a:off x="7934325" y="4086612"/>
            <a:ext cx="540308" cy="194310"/>
          </a:xfrm>
          <a:prstGeom prst="rect">
            <a:avLst/>
          </a:prstGeom>
          <a:noFill/>
        </p:spPr>
        <p:txBody>
          <a:bodyPr wrap="none" lIns="0" rIns="0" tIns="0" bIns="0">
            <a:spAutoFit/>
          </a:bodyPr>
          <a:lstStyle/>
          <a:p>
            <a:r>
              <a:rPr sz="1150" b="0">
                <a:solidFill>
                  <a:srgbClr val="2E2E2E"/>
                </a:solidFill>
                <a:latin typeface="Calibri"/>
              </a:rPr>
              <a:t>players.</a:t>
            </a:r>
          </a:p>
        </p:txBody>
      </p:sp>
      <p:sp>
        <p:nvSpPr>
          <p:cNvPr id="48"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Share by Product Type (Top 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Sweet muffins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Savoury muffins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19" name="Rectangle 18"/>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6"/>
          <a:stretch>
            <a:fillRect/>
          </a:stretch>
        </p:blipFill>
        <p:spPr>
          <a:xfrm>
            <a:off x="1233011" y="2619895"/>
            <a:ext cx="523875" cy="762000"/>
          </a:xfrm>
          <a:prstGeom prst="rect">
            <a:avLst/>
          </a:prstGeom>
        </p:spPr>
      </p:pic>
      <p:pic>
        <p:nvPicPr>
          <p:cNvPr id="23" name="Picture 22" descr="lock.png"/>
          <p:cNvPicPr>
            <a:picLocks noChangeAspect="1"/>
          </p:cNvPicPr>
          <p:nvPr/>
        </p:nvPicPr>
        <p:blipFill>
          <a:blip r:embed="rId6"/>
          <a:stretch>
            <a:fillRect/>
          </a:stretch>
        </p:blipFill>
        <p:spPr>
          <a:xfrm>
            <a:off x="5214461" y="2619895"/>
            <a:ext cx="523875" cy="762000"/>
          </a:xfrm>
          <a:prstGeom prst="rect">
            <a:avLst/>
          </a:prstGeom>
        </p:spPr>
      </p:pic>
      <p:sp>
        <p:nvSpPr>
          <p:cNvPr id="24" name="TextBox 23"/>
          <p:cNvSpPr txBox="1"/>
          <p:nvPr/>
        </p:nvSpPr>
        <p:spPr>
          <a:xfrm>
            <a:off x="276225" y="5022340"/>
            <a:ext cx="2537941" cy="194310"/>
          </a:xfrm>
          <a:prstGeom prst="rect">
            <a:avLst/>
          </a:prstGeom>
          <a:noFill/>
        </p:spPr>
        <p:txBody>
          <a:bodyPr wrap="none" lIns="0" rIns="0" tIns="0" bIns="0">
            <a:spAutoFit/>
          </a:bodyPr>
          <a:lstStyle/>
          <a:p>
            <a:r>
              <a:rPr sz="1150" b="0">
                <a:solidFill>
                  <a:srgbClr val="2E2E2E"/>
                </a:solidFill>
                <a:latin typeface="Calibri"/>
              </a:rPr>
              <a:t>▪ Sweet muffins: 'Grupo Bimbo' leads at ~</a:t>
            </a:r>
          </a:p>
        </p:txBody>
      </p:sp>
      <p:pic>
        <p:nvPicPr>
          <p:cNvPr id="25" name="Picture 24" descr="lock.png"/>
          <p:cNvPicPr>
            <a:picLocks noChangeAspect="1"/>
          </p:cNvPicPr>
          <p:nvPr/>
        </p:nvPicPr>
        <p:blipFill>
          <a:blip r:embed="rId6"/>
          <a:stretch>
            <a:fillRect/>
          </a:stretch>
        </p:blipFill>
        <p:spPr>
          <a:xfrm>
            <a:off x="2763320" y="5012116"/>
            <a:ext cx="134549" cy="195707"/>
          </a:xfrm>
          <a:prstGeom prst="rect">
            <a:avLst/>
          </a:prstGeom>
        </p:spPr>
      </p:pic>
      <p:sp>
        <p:nvSpPr>
          <p:cNvPr id="26" name="TextBox 25"/>
          <p:cNvSpPr txBox="1"/>
          <p:nvPr/>
        </p:nvSpPr>
        <p:spPr>
          <a:xfrm>
            <a:off x="2938429" y="5022340"/>
            <a:ext cx="2474044" cy="194310"/>
          </a:xfrm>
          <a:prstGeom prst="rect">
            <a:avLst/>
          </a:prstGeom>
          <a:noFill/>
        </p:spPr>
        <p:txBody>
          <a:bodyPr wrap="none" lIns="0" rIns="0" tIns="0" bIns="0">
            <a:spAutoFit/>
          </a:bodyPr>
          <a:lstStyle/>
          <a:p>
            <a:r>
              <a:rPr sz="1150" b="0">
                <a:solidFill>
                  <a:srgbClr val="2E2E2E"/>
                </a:solidFill>
                <a:latin typeface="Calibri"/>
              </a:rPr>
              <a:t>, ahead of 'Rich Products Corporation' (~</a:t>
            </a:r>
          </a:p>
        </p:txBody>
      </p:sp>
      <p:pic>
        <p:nvPicPr>
          <p:cNvPr id="27" name="Picture 26" descr="lock.png"/>
          <p:cNvPicPr>
            <a:picLocks noChangeAspect="1"/>
          </p:cNvPicPr>
          <p:nvPr/>
        </p:nvPicPr>
        <p:blipFill>
          <a:blip r:embed="rId6"/>
          <a:stretch>
            <a:fillRect/>
          </a:stretch>
        </p:blipFill>
        <p:spPr>
          <a:xfrm>
            <a:off x="5361627" y="5012116"/>
            <a:ext cx="134549" cy="195707"/>
          </a:xfrm>
          <a:prstGeom prst="rect">
            <a:avLst/>
          </a:prstGeom>
        </p:spPr>
      </p:pic>
      <p:sp>
        <p:nvSpPr>
          <p:cNvPr id="28" name="TextBox 27"/>
          <p:cNvSpPr txBox="1"/>
          <p:nvPr/>
        </p:nvSpPr>
        <p:spPr>
          <a:xfrm>
            <a:off x="5536736"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29" name="Picture 28" descr="lock.png"/>
          <p:cNvPicPr>
            <a:picLocks noChangeAspect="1"/>
          </p:cNvPicPr>
          <p:nvPr/>
        </p:nvPicPr>
        <p:blipFill>
          <a:blip r:embed="rId6"/>
          <a:stretch>
            <a:fillRect/>
          </a:stretch>
        </p:blipFill>
        <p:spPr>
          <a:xfrm>
            <a:off x="6871406" y="5012116"/>
            <a:ext cx="134549" cy="195707"/>
          </a:xfrm>
          <a:prstGeom prst="rect">
            <a:avLst/>
          </a:prstGeom>
        </p:spPr>
      </p:pic>
      <p:sp>
        <p:nvSpPr>
          <p:cNvPr id="30" name="TextBox 29"/>
          <p:cNvSpPr txBox="1"/>
          <p:nvPr/>
        </p:nvSpPr>
        <p:spPr>
          <a:xfrm>
            <a:off x="7046515"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1" name="Picture 30" descr="lock.png"/>
          <p:cNvPicPr>
            <a:picLocks noChangeAspect="1"/>
          </p:cNvPicPr>
          <p:nvPr/>
        </p:nvPicPr>
        <p:blipFill>
          <a:blip r:embed="rId6"/>
          <a:stretch>
            <a:fillRect/>
          </a:stretch>
        </p:blipFill>
        <p:spPr>
          <a:xfrm>
            <a:off x="8601971" y="5012116"/>
            <a:ext cx="134549" cy="195707"/>
          </a:xfrm>
          <a:prstGeom prst="rect">
            <a:avLst/>
          </a:prstGeom>
        </p:spPr>
      </p:pic>
      <p:sp>
        <p:nvSpPr>
          <p:cNvPr id="32" name="TextBox 31"/>
          <p:cNvSpPr txBox="1"/>
          <p:nvPr/>
        </p:nvSpPr>
        <p:spPr>
          <a:xfrm>
            <a:off x="8777080"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3" name="TextBox 32"/>
          <p:cNvSpPr txBox="1"/>
          <p:nvPr/>
        </p:nvSpPr>
        <p:spPr>
          <a:xfrm>
            <a:off x="276225" y="5250177"/>
            <a:ext cx="2760439" cy="194310"/>
          </a:xfrm>
          <a:prstGeom prst="rect">
            <a:avLst/>
          </a:prstGeom>
          <a:noFill/>
        </p:spPr>
        <p:txBody>
          <a:bodyPr wrap="none" lIns="0" rIns="0" tIns="0" bIns="0">
            <a:spAutoFit/>
          </a:bodyPr>
          <a:lstStyle/>
          <a:p>
            <a:r>
              <a:rPr sz="1150" b="0">
                <a:solidFill>
                  <a:srgbClr val="2E2E2E"/>
                </a:solidFill>
                <a:latin typeface="Calibri"/>
              </a:rPr>
              <a:t>▪ Savoury muffins: 'Hostess Brands' leads at ~</a:t>
            </a:r>
          </a:p>
        </p:txBody>
      </p:sp>
      <p:pic>
        <p:nvPicPr>
          <p:cNvPr id="34" name="Picture 33" descr="lock.png"/>
          <p:cNvPicPr>
            <a:picLocks noChangeAspect="1"/>
          </p:cNvPicPr>
          <p:nvPr/>
        </p:nvPicPr>
        <p:blipFill>
          <a:blip r:embed="rId6"/>
          <a:stretch>
            <a:fillRect/>
          </a:stretch>
        </p:blipFill>
        <p:spPr>
          <a:xfrm>
            <a:off x="2985818" y="5239954"/>
            <a:ext cx="134549" cy="195707"/>
          </a:xfrm>
          <a:prstGeom prst="rect">
            <a:avLst/>
          </a:prstGeom>
        </p:spPr>
      </p:pic>
      <p:sp>
        <p:nvSpPr>
          <p:cNvPr id="35" name="TextBox 34"/>
          <p:cNvSpPr txBox="1"/>
          <p:nvPr/>
        </p:nvSpPr>
        <p:spPr>
          <a:xfrm>
            <a:off x="3160927" y="5250177"/>
            <a:ext cx="2460280" cy="194310"/>
          </a:xfrm>
          <a:prstGeom prst="rect">
            <a:avLst/>
          </a:prstGeom>
          <a:noFill/>
        </p:spPr>
        <p:txBody>
          <a:bodyPr wrap="none" lIns="0" rIns="0" tIns="0" bIns="0">
            <a:spAutoFit/>
          </a:bodyPr>
          <a:lstStyle/>
          <a:p>
            <a:r>
              <a:rPr sz="1150" b="0">
                <a:solidFill>
                  <a:srgbClr val="2E2E2E"/>
                </a:solidFill>
                <a:latin typeface="Calibri"/>
              </a:rPr>
              <a:t>, ahead of 'McKee Foods Corporation' (~</a:t>
            </a:r>
          </a:p>
        </p:txBody>
      </p:sp>
      <p:pic>
        <p:nvPicPr>
          <p:cNvPr id="36" name="Picture 35" descr="lock.png"/>
          <p:cNvPicPr>
            <a:picLocks noChangeAspect="1"/>
          </p:cNvPicPr>
          <p:nvPr/>
        </p:nvPicPr>
        <p:blipFill>
          <a:blip r:embed="rId6"/>
          <a:stretch>
            <a:fillRect/>
          </a:stretch>
        </p:blipFill>
        <p:spPr>
          <a:xfrm>
            <a:off x="5570362" y="5239954"/>
            <a:ext cx="134549" cy="195707"/>
          </a:xfrm>
          <a:prstGeom prst="rect">
            <a:avLst/>
          </a:prstGeom>
        </p:spPr>
      </p:pic>
      <p:sp>
        <p:nvSpPr>
          <p:cNvPr id="37" name="TextBox 36"/>
          <p:cNvSpPr txBox="1"/>
          <p:nvPr/>
        </p:nvSpPr>
        <p:spPr>
          <a:xfrm>
            <a:off x="5745471"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8" name="Picture 37" descr="lock.png"/>
          <p:cNvPicPr>
            <a:picLocks noChangeAspect="1"/>
          </p:cNvPicPr>
          <p:nvPr/>
        </p:nvPicPr>
        <p:blipFill>
          <a:blip r:embed="rId6"/>
          <a:stretch>
            <a:fillRect/>
          </a:stretch>
        </p:blipFill>
        <p:spPr>
          <a:xfrm>
            <a:off x="7080140" y="5239954"/>
            <a:ext cx="134549" cy="195707"/>
          </a:xfrm>
          <a:prstGeom prst="rect">
            <a:avLst/>
          </a:prstGeom>
        </p:spPr>
      </p:pic>
      <p:sp>
        <p:nvSpPr>
          <p:cNvPr id="39" name="TextBox 38"/>
          <p:cNvSpPr txBox="1"/>
          <p:nvPr/>
        </p:nvSpPr>
        <p:spPr>
          <a:xfrm>
            <a:off x="7255250"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0" name="Picture 39" descr="lock.png"/>
          <p:cNvPicPr>
            <a:picLocks noChangeAspect="1"/>
          </p:cNvPicPr>
          <p:nvPr/>
        </p:nvPicPr>
        <p:blipFill>
          <a:blip r:embed="rId6"/>
          <a:stretch>
            <a:fillRect/>
          </a:stretch>
        </p:blipFill>
        <p:spPr>
          <a:xfrm>
            <a:off x="8810706" y="5239954"/>
            <a:ext cx="134549" cy="195707"/>
          </a:xfrm>
          <a:prstGeom prst="rect">
            <a:avLst/>
          </a:prstGeom>
        </p:spPr>
      </p:pic>
      <p:sp>
        <p:nvSpPr>
          <p:cNvPr id="41" name="TextBox 40"/>
          <p:cNvSpPr txBox="1"/>
          <p:nvPr/>
        </p:nvSpPr>
        <p:spPr>
          <a:xfrm>
            <a:off x="8985815"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2" name="TextBox 41"/>
          <p:cNvSpPr txBox="1"/>
          <p:nvPr/>
        </p:nvSpPr>
        <p:spPr>
          <a:xfrm>
            <a:off x="276225" y="5478015"/>
            <a:ext cx="8908516" cy="194310"/>
          </a:xfrm>
          <a:prstGeom prst="rect">
            <a:avLst/>
          </a:prstGeom>
          <a:noFill/>
        </p:spPr>
        <p:txBody>
          <a:bodyPr wrap="none" lIns="0" rIns="0" tIns="0" bIns="0">
            <a:spAutoFit/>
          </a:bodyPr>
          <a:lstStyle/>
          <a:p>
            <a:r>
              <a:rPr sz="1150" b="0">
                <a:solidFill>
                  <a:srgbClr val="2E2E2E"/>
                </a:solidFill>
                <a:latin typeface="Calibri"/>
              </a:rPr>
              <a:t>▪ Leadership shifts across formulations a strong position in one product type does not carry over to the others, so product-level targeting is essential.</a:t>
            </a:r>
          </a:p>
        </p:txBody>
      </p:sp>
      <p:sp>
        <p:nvSpPr>
          <p:cNvPr id="43" name="TextBox 42"/>
          <p:cNvSpPr txBox="1"/>
          <p:nvPr/>
        </p:nvSpPr>
        <p:spPr>
          <a:xfrm>
            <a:off x="276225" y="5705853"/>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44"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2560761" cy="194310"/>
          </a:xfrm>
          <a:prstGeom prst="rect">
            <a:avLst/>
          </a:prstGeom>
          <a:noFill/>
        </p:spPr>
        <p:txBody>
          <a:bodyPr wrap="none" lIns="0" rIns="0" tIns="0" bIns="0">
            <a:spAutoFit/>
          </a:bodyPr>
          <a:lstStyle/>
          <a:p>
            <a:r>
              <a:rPr sz="1150" b="0">
                <a:solidFill>
                  <a:srgbClr val="2E2E2E"/>
                </a:solidFill>
                <a:latin typeface="Calibri"/>
              </a:rPr>
              <a:t>▪ North America: 'Grupo Bimbo' leads at ~</a:t>
            </a:r>
          </a:p>
        </p:txBody>
      </p:sp>
      <p:pic>
        <p:nvPicPr>
          <p:cNvPr id="29" name="Picture 28" descr="lock.png"/>
          <p:cNvPicPr>
            <a:picLocks noChangeAspect="1"/>
          </p:cNvPicPr>
          <p:nvPr/>
        </p:nvPicPr>
        <p:blipFill>
          <a:blip r:embed="rId7"/>
          <a:stretch>
            <a:fillRect/>
          </a:stretch>
        </p:blipFill>
        <p:spPr>
          <a:xfrm>
            <a:off x="2786140" y="5012116"/>
            <a:ext cx="134549" cy="195707"/>
          </a:xfrm>
          <a:prstGeom prst="rect">
            <a:avLst/>
          </a:prstGeom>
        </p:spPr>
      </p:pic>
      <p:sp>
        <p:nvSpPr>
          <p:cNvPr id="30" name="TextBox 29"/>
          <p:cNvSpPr txBox="1"/>
          <p:nvPr/>
        </p:nvSpPr>
        <p:spPr>
          <a:xfrm>
            <a:off x="2961249" y="5022340"/>
            <a:ext cx="2460280" cy="194310"/>
          </a:xfrm>
          <a:prstGeom prst="rect">
            <a:avLst/>
          </a:prstGeom>
          <a:noFill/>
        </p:spPr>
        <p:txBody>
          <a:bodyPr wrap="none" lIns="0" rIns="0" tIns="0" bIns="0">
            <a:spAutoFit/>
          </a:bodyPr>
          <a:lstStyle/>
          <a:p>
            <a:r>
              <a:rPr sz="1150" b="0">
                <a:solidFill>
                  <a:srgbClr val="2E2E2E"/>
                </a:solidFill>
                <a:latin typeface="Calibri"/>
              </a:rPr>
              <a:t>, ahead of 'McKee Foods Corporation' (~</a:t>
            </a:r>
          </a:p>
        </p:txBody>
      </p:sp>
      <p:pic>
        <p:nvPicPr>
          <p:cNvPr id="31" name="Picture 30" descr="lock.png"/>
          <p:cNvPicPr>
            <a:picLocks noChangeAspect="1"/>
          </p:cNvPicPr>
          <p:nvPr/>
        </p:nvPicPr>
        <p:blipFill>
          <a:blip r:embed="rId7"/>
          <a:stretch>
            <a:fillRect/>
          </a:stretch>
        </p:blipFill>
        <p:spPr>
          <a:xfrm>
            <a:off x="5370684" y="5012116"/>
            <a:ext cx="134549" cy="195707"/>
          </a:xfrm>
          <a:prstGeom prst="rect">
            <a:avLst/>
          </a:prstGeom>
        </p:spPr>
      </p:pic>
      <p:sp>
        <p:nvSpPr>
          <p:cNvPr id="32" name="TextBox 31"/>
          <p:cNvSpPr txBox="1"/>
          <p:nvPr/>
        </p:nvSpPr>
        <p:spPr>
          <a:xfrm>
            <a:off x="5545793"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880463" y="5012116"/>
            <a:ext cx="134549" cy="195707"/>
          </a:xfrm>
          <a:prstGeom prst="rect">
            <a:avLst/>
          </a:prstGeom>
        </p:spPr>
      </p:pic>
      <p:sp>
        <p:nvSpPr>
          <p:cNvPr id="34" name="TextBox 33"/>
          <p:cNvSpPr txBox="1"/>
          <p:nvPr/>
        </p:nvSpPr>
        <p:spPr>
          <a:xfrm>
            <a:off x="7055572"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611028" y="5012116"/>
            <a:ext cx="134549" cy="195707"/>
          </a:xfrm>
          <a:prstGeom prst="rect">
            <a:avLst/>
          </a:prstGeom>
        </p:spPr>
      </p:pic>
      <p:sp>
        <p:nvSpPr>
          <p:cNvPr id="36" name="TextBox 35"/>
          <p:cNvSpPr txBox="1"/>
          <p:nvPr/>
        </p:nvSpPr>
        <p:spPr>
          <a:xfrm>
            <a:off x="8786137"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7" name="TextBox 36"/>
          <p:cNvSpPr txBox="1"/>
          <p:nvPr/>
        </p:nvSpPr>
        <p:spPr>
          <a:xfrm>
            <a:off x="276225" y="5250177"/>
            <a:ext cx="2114624" cy="194310"/>
          </a:xfrm>
          <a:prstGeom prst="rect">
            <a:avLst/>
          </a:prstGeom>
          <a:noFill/>
        </p:spPr>
        <p:txBody>
          <a:bodyPr wrap="none" lIns="0" rIns="0" tIns="0" bIns="0">
            <a:spAutoFit/>
          </a:bodyPr>
          <a:lstStyle/>
          <a:p>
            <a:r>
              <a:rPr sz="1150" b="0">
                <a:solidFill>
                  <a:srgbClr val="2E2E2E"/>
                </a:solidFill>
                <a:latin typeface="Calibri"/>
              </a:rPr>
              <a:t>▪ Europe: 'Grupo Bimbo' leads at ~</a:t>
            </a:r>
          </a:p>
        </p:txBody>
      </p:sp>
      <p:pic>
        <p:nvPicPr>
          <p:cNvPr id="38" name="Picture 37" descr="lock.png"/>
          <p:cNvPicPr>
            <a:picLocks noChangeAspect="1"/>
          </p:cNvPicPr>
          <p:nvPr/>
        </p:nvPicPr>
        <p:blipFill>
          <a:blip r:embed="rId7"/>
          <a:stretch>
            <a:fillRect/>
          </a:stretch>
        </p:blipFill>
        <p:spPr>
          <a:xfrm>
            <a:off x="2340003" y="5239954"/>
            <a:ext cx="134549" cy="195707"/>
          </a:xfrm>
          <a:prstGeom prst="rect">
            <a:avLst/>
          </a:prstGeom>
        </p:spPr>
      </p:pic>
      <p:sp>
        <p:nvSpPr>
          <p:cNvPr id="39" name="TextBox 38"/>
          <p:cNvSpPr txBox="1"/>
          <p:nvPr/>
        </p:nvSpPr>
        <p:spPr>
          <a:xfrm>
            <a:off x="2515112" y="5250177"/>
            <a:ext cx="2474044" cy="194310"/>
          </a:xfrm>
          <a:prstGeom prst="rect">
            <a:avLst/>
          </a:prstGeom>
          <a:noFill/>
        </p:spPr>
        <p:txBody>
          <a:bodyPr wrap="none" lIns="0" rIns="0" tIns="0" bIns="0">
            <a:spAutoFit/>
          </a:bodyPr>
          <a:lstStyle/>
          <a:p>
            <a:r>
              <a:rPr sz="1150" b="0">
                <a:solidFill>
                  <a:srgbClr val="2E2E2E"/>
                </a:solidFill>
                <a:latin typeface="Calibri"/>
              </a:rPr>
              <a:t>, ahead of 'Rich Products Corporation' (~</a:t>
            </a:r>
          </a:p>
        </p:txBody>
      </p:sp>
      <p:pic>
        <p:nvPicPr>
          <p:cNvPr id="40" name="Picture 39" descr="lock.png"/>
          <p:cNvPicPr>
            <a:picLocks noChangeAspect="1"/>
          </p:cNvPicPr>
          <p:nvPr/>
        </p:nvPicPr>
        <p:blipFill>
          <a:blip r:embed="rId7"/>
          <a:stretch>
            <a:fillRect/>
          </a:stretch>
        </p:blipFill>
        <p:spPr>
          <a:xfrm>
            <a:off x="4938310" y="5239954"/>
            <a:ext cx="134549" cy="195707"/>
          </a:xfrm>
          <a:prstGeom prst="rect">
            <a:avLst/>
          </a:prstGeom>
        </p:spPr>
      </p:pic>
      <p:sp>
        <p:nvSpPr>
          <p:cNvPr id="41" name="TextBox 40"/>
          <p:cNvSpPr txBox="1"/>
          <p:nvPr/>
        </p:nvSpPr>
        <p:spPr>
          <a:xfrm>
            <a:off x="5113420"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6448089" y="5239954"/>
            <a:ext cx="134549" cy="195707"/>
          </a:xfrm>
          <a:prstGeom prst="rect">
            <a:avLst/>
          </a:prstGeom>
        </p:spPr>
      </p:pic>
      <p:sp>
        <p:nvSpPr>
          <p:cNvPr id="43" name="TextBox 42"/>
          <p:cNvSpPr txBox="1"/>
          <p:nvPr/>
        </p:nvSpPr>
        <p:spPr>
          <a:xfrm>
            <a:off x="6623198"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8178654" y="5239954"/>
            <a:ext cx="134549" cy="195707"/>
          </a:xfrm>
          <a:prstGeom prst="rect">
            <a:avLst/>
          </a:prstGeom>
        </p:spPr>
      </p:pic>
      <p:sp>
        <p:nvSpPr>
          <p:cNvPr id="45" name="TextBox 44"/>
          <p:cNvSpPr txBox="1"/>
          <p:nvPr/>
        </p:nvSpPr>
        <p:spPr>
          <a:xfrm>
            <a:off x="8353763"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478015"/>
            <a:ext cx="2975235" cy="194310"/>
          </a:xfrm>
          <a:prstGeom prst="rect">
            <a:avLst/>
          </a:prstGeom>
          <a:noFill/>
        </p:spPr>
        <p:txBody>
          <a:bodyPr wrap="none" lIns="0" rIns="0" tIns="0" bIns="0">
            <a:spAutoFit/>
          </a:bodyPr>
          <a:lstStyle/>
          <a:p>
            <a:r>
              <a:rPr sz="1150" b="0">
                <a:solidFill>
                  <a:srgbClr val="2E2E2E"/>
                </a:solidFill>
                <a:latin typeface="Calibri"/>
              </a:rPr>
              <a:t>▪ South Asia &amp; Pacific: 'Hostess Brands' leads at ~</a:t>
            </a:r>
          </a:p>
        </p:txBody>
      </p:sp>
      <p:pic>
        <p:nvPicPr>
          <p:cNvPr id="47" name="Picture 46" descr="lock.png"/>
          <p:cNvPicPr>
            <a:picLocks noChangeAspect="1"/>
          </p:cNvPicPr>
          <p:nvPr/>
        </p:nvPicPr>
        <p:blipFill>
          <a:blip r:embed="rId7"/>
          <a:stretch>
            <a:fillRect/>
          </a:stretch>
        </p:blipFill>
        <p:spPr>
          <a:xfrm>
            <a:off x="3200614" y="5467792"/>
            <a:ext cx="134549" cy="195707"/>
          </a:xfrm>
          <a:prstGeom prst="rect">
            <a:avLst/>
          </a:prstGeom>
        </p:spPr>
      </p:pic>
      <p:sp>
        <p:nvSpPr>
          <p:cNvPr id="48" name="TextBox 47"/>
          <p:cNvSpPr txBox="1"/>
          <p:nvPr/>
        </p:nvSpPr>
        <p:spPr>
          <a:xfrm>
            <a:off x="3375723" y="5478015"/>
            <a:ext cx="2460280" cy="194310"/>
          </a:xfrm>
          <a:prstGeom prst="rect">
            <a:avLst/>
          </a:prstGeom>
          <a:noFill/>
        </p:spPr>
        <p:txBody>
          <a:bodyPr wrap="none" lIns="0" rIns="0" tIns="0" bIns="0">
            <a:spAutoFit/>
          </a:bodyPr>
          <a:lstStyle/>
          <a:p>
            <a:r>
              <a:rPr sz="1150" b="0">
                <a:solidFill>
                  <a:srgbClr val="2E2E2E"/>
                </a:solidFill>
                <a:latin typeface="Calibri"/>
              </a:rPr>
              <a:t>, ahead of 'McKee Foods Corporation' (~</a:t>
            </a:r>
          </a:p>
        </p:txBody>
      </p:sp>
      <p:pic>
        <p:nvPicPr>
          <p:cNvPr id="49" name="Picture 48" descr="lock.png"/>
          <p:cNvPicPr>
            <a:picLocks noChangeAspect="1"/>
          </p:cNvPicPr>
          <p:nvPr/>
        </p:nvPicPr>
        <p:blipFill>
          <a:blip r:embed="rId7"/>
          <a:stretch>
            <a:fillRect/>
          </a:stretch>
        </p:blipFill>
        <p:spPr>
          <a:xfrm>
            <a:off x="5785158" y="5467792"/>
            <a:ext cx="134549" cy="195707"/>
          </a:xfrm>
          <a:prstGeom prst="rect">
            <a:avLst/>
          </a:prstGeom>
        </p:spPr>
      </p:pic>
      <p:sp>
        <p:nvSpPr>
          <p:cNvPr id="50" name="TextBox 49"/>
          <p:cNvSpPr txBox="1"/>
          <p:nvPr/>
        </p:nvSpPr>
        <p:spPr>
          <a:xfrm>
            <a:off x="5960267" y="5478015"/>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7294937" y="5467792"/>
            <a:ext cx="134549" cy="195707"/>
          </a:xfrm>
          <a:prstGeom prst="rect">
            <a:avLst/>
          </a:prstGeom>
        </p:spPr>
      </p:pic>
      <p:sp>
        <p:nvSpPr>
          <p:cNvPr id="52" name="TextBox 51"/>
          <p:cNvSpPr txBox="1"/>
          <p:nvPr/>
        </p:nvSpPr>
        <p:spPr>
          <a:xfrm>
            <a:off x="7470046" y="5478015"/>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9025502" y="5467792"/>
            <a:ext cx="134549" cy="195707"/>
          </a:xfrm>
          <a:prstGeom prst="rect">
            <a:avLst/>
          </a:prstGeom>
        </p:spPr>
      </p:pic>
      <p:sp>
        <p:nvSpPr>
          <p:cNvPr id="54" name="TextBox 53"/>
          <p:cNvSpPr txBox="1"/>
          <p:nvPr/>
        </p:nvSpPr>
        <p:spPr>
          <a:xfrm>
            <a:off x="9200611" y="547801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276225" y="5705853"/>
            <a:ext cx="9705801" cy="194310"/>
          </a:xfrm>
          <a:prstGeom prst="rect">
            <a:avLst/>
          </a:prstGeom>
          <a:noFill/>
        </p:spPr>
        <p:txBody>
          <a:bodyPr wrap="none" lIns="0" rIns="0" tIns="0" bIns="0">
            <a:spAutoFit/>
          </a:bodyPr>
          <a:lstStyle/>
          <a:p>
            <a:r>
              <a:rPr sz="1150" b="0">
                <a:solidFill>
                  <a:srgbClr val="2E2E2E"/>
                </a:solidFill>
                <a:latin typeface="Calibri"/>
              </a:rPr>
              <a:t>▪ Leadership is not uniform across geographies a strong position in one region does not carry over to the others, so region-level go-to-market planning is essential.</a:t>
            </a:r>
          </a:p>
        </p:txBody>
      </p:sp>
      <p:sp>
        <p:nvSpPr>
          <p:cNvPr id="56" name="TextBox 55"/>
          <p:cNvSpPr txBox="1"/>
          <p:nvPr/>
        </p:nvSpPr>
        <p:spPr>
          <a:xfrm>
            <a:off x="276225" y="5933691"/>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Packaged Muffins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Grupo Bimbo</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McKee Foods Corporation</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Hostess Brands</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Rich Products Corporation</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ARYZTA / Aspire Bakeries</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5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Grupo Bimbo: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624658" cy="194310"/>
          </a:xfrm>
          <a:prstGeom prst="rect">
            <a:avLst/>
          </a:prstGeom>
          <a:noFill/>
        </p:spPr>
        <p:txBody>
          <a:bodyPr wrap="none" lIns="0" rIns="0" tIns="0" bIns="0">
            <a:spAutoFit/>
          </a:bodyPr>
          <a:lstStyle/>
          <a:p>
            <a:r>
              <a:rPr sz="1150" b="0">
                <a:solidFill>
                  <a:srgbClr val="2E2E2E"/>
                </a:solidFill>
                <a:latin typeface="Calibri"/>
              </a:rPr>
              <a:t>▪ Market Position: Grupo Bimbo captures ~</a:t>
            </a:r>
          </a:p>
        </p:txBody>
      </p:sp>
      <p:pic>
        <p:nvPicPr>
          <p:cNvPr id="41" name="Picture 40" descr="lock.png"/>
          <p:cNvPicPr>
            <a:picLocks noChangeAspect="1"/>
          </p:cNvPicPr>
          <p:nvPr/>
        </p:nvPicPr>
        <p:blipFill>
          <a:blip r:embed="rId7"/>
          <a:stretch>
            <a:fillRect/>
          </a:stretch>
        </p:blipFill>
        <p:spPr>
          <a:xfrm>
            <a:off x="2850037" y="5194653"/>
            <a:ext cx="134549" cy="195707"/>
          </a:xfrm>
          <a:prstGeom prst="rect">
            <a:avLst/>
          </a:prstGeom>
        </p:spPr>
      </p:pic>
      <p:sp>
        <p:nvSpPr>
          <p:cNvPr id="42" name="TextBox 41"/>
          <p:cNvSpPr txBox="1"/>
          <p:nvPr/>
        </p:nvSpPr>
        <p:spPr>
          <a:xfrm>
            <a:off x="3025146" y="5204877"/>
            <a:ext cx="3557153"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'Retail'.</a:t>
            </a:r>
          </a:p>
        </p:txBody>
      </p:sp>
      <p:sp>
        <p:nvSpPr>
          <p:cNvPr id="43" name="TextBox 42"/>
          <p:cNvSpPr txBox="1"/>
          <p:nvPr/>
        </p:nvSpPr>
        <p:spPr>
          <a:xfrm>
            <a:off x="276225" y="5432715"/>
            <a:ext cx="7141368" cy="194310"/>
          </a:xfrm>
          <a:prstGeom prst="rect">
            <a:avLst/>
          </a:prstGeom>
          <a:noFill/>
        </p:spPr>
        <p:txBody>
          <a:bodyPr wrap="none" lIns="0" rIns="0" tIns="0" bIns="0">
            <a:spAutoFit/>
          </a:bodyPr>
          <a:lstStyle/>
          <a:p>
            <a:r>
              <a:rPr sz="1150" b="0">
                <a:solidFill>
                  <a:srgbClr val="2E2E2E"/>
                </a:solidFill>
                <a:latin typeface="Calibri"/>
              </a:rPr>
              <a:t>▪ Geographic Balance: 'North America' is the largest SOM region; 'Rest of Global' shows the highest SAM penetration (~</a:t>
            </a:r>
          </a:p>
        </p:txBody>
      </p:sp>
      <p:pic>
        <p:nvPicPr>
          <p:cNvPr id="44" name="Picture 43" descr="lock.png"/>
          <p:cNvPicPr>
            <a:picLocks noChangeAspect="1"/>
          </p:cNvPicPr>
          <p:nvPr/>
        </p:nvPicPr>
        <p:blipFill>
          <a:blip r:embed="rId7"/>
          <a:stretch>
            <a:fillRect/>
          </a:stretch>
        </p:blipFill>
        <p:spPr>
          <a:xfrm>
            <a:off x="7366747" y="5422491"/>
            <a:ext cx="134549" cy="195707"/>
          </a:xfrm>
          <a:prstGeom prst="rect">
            <a:avLst/>
          </a:prstGeom>
        </p:spPr>
      </p:pic>
      <p:sp>
        <p:nvSpPr>
          <p:cNvPr id="45" name="TextBox 44"/>
          <p:cNvSpPr txBox="1"/>
          <p:nvPr/>
        </p:nvSpPr>
        <p:spPr>
          <a:xfrm>
            <a:off x="7541856"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Grupo Bimbo: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Grupo Bimbo</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456016" cy="186689"/>
          </a:xfrm>
          <a:prstGeom prst="rect">
            <a:avLst/>
          </a:prstGeom>
          <a:noFill/>
        </p:spPr>
        <p:txBody>
          <a:bodyPr wrap="none" lIns="0" rIns="0" tIns="0" bIns="0">
            <a:spAutoFit/>
          </a:bodyPr>
          <a:lstStyle/>
          <a:p>
            <a:r>
              <a:rPr sz="1100" b="0">
                <a:solidFill>
                  <a:srgbClr val="2E2E2E"/>
                </a:solidFill>
                <a:latin typeface="Calibri"/>
              </a:rPr>
              <a:t>▪ Regional Opportunity: 'Rest of Global'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Grupo Bimbo: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Grupo Bimbo: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Global',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5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Grupo Bimbo's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Grupo Bimbo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Pricing Analysis (US$/MT)</a:t>
            </a:r>
          </a:p>
        </p:txBody>
      </p:sp>
      <p:graphicFrame>
        <p:nvGraphicFramePr>
          <p:cNvPr id="21" name="Table 20"/>
          <p:cNvGraphicFramePr>
            <a:graphicFrameLocks noGrp="1"/>
          </p:cNvGraphicFramePr>
          <p:nvPr/>
        </p:nvGraphicFramePr>
        <p:xfrm>
          <a:off x="6210300" y="1611256"/>
          <a:ext cx="5829300" cy="477208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26298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26298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853662"/>
            <a:ext cx="366712" cy="533400"/>
          </a:xfrm>
          <a:prstGeom prst="rect">
            <a:avLst/>
          </a:prstGeom>
        </p:spPr>
      </p:pic>
    </p:spTree>
  </p:cSld>
  <p:clrMapOvr>
    <a:masterClrMapping/>
  </p:clrMapOvr>
</p:sld>
</file>

<file path=ppt/slides/slide5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Grupo Bimbo's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Grupo Bimbo: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551933" cy="194310"/>
          </a:xfrm>
          <a:prstGeom prst="rect">
            <a:avLst/>
          </a:prstGeom>
          <a:noFill/>
        </p:spPr>
        <p:txBody>
          <a:bodyPr wrap="none" lIns="0" rIns="0" tIns="0" bIns="0">
            <a:spAutoFit/>
          </a:bodyPr>
          <a:lstStyle/>
          <a:p>
            <a:r>
              <a:rPr sz="1150" b="0">
                <a:solidFill>
                  <a:srgbClr val="2E2E2E"/>
                </a:solidFill>
                <a:latin typeface="Calibri"/>
              </a:rPr>
              <a:t>▪ Defend and extend leadership in 'Retail' Grupo Bimbo's strongest end-market while scaling</a:t>
            </a:r>
          </a:p>
        </p:txBody>
      </p:sp>
      <p:sp>
        <p:nvSpPr>
          <p:cNvPr id="31" name="TextBox 30"/>
          <p:cNvSpPr txBox="1"/>
          <p:nvPr/>
        </p:nvSpPr>
        <p:spPr>
          <a:xfrm>
            <a:off x="276225" y="2678589"/>
            <a:ext cx="1655936" cy="194310"/>
          </a:xfrm>
          <a:prstGeom prst="rect">
            <a:avLst/>
          </a:prstGeom>
          <a:noFill/>
        </p:spPr>
        <p:txBody>
          <a:bodyPr wrap="none" lIns="0" rIns="0" tIns="0" bIns="0">
            <a:spAutoFit/>
          </a:bodyPr>
          <a:lstStyle/>
          <a:p>
            <a:r>
              <a:rPr sz="1150" b="0">
                <a:solidFill>
                  <a:srgbClr val="2E2E2E"/>
                </a:solidFill>
                <a:latin typeface="Calibri"/>
              </a:rPr>
              <a:t>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077356" cy="194310"/>
          </a:xfrm>
          <a:prstGeom prst="rect">
            <a:avLst/>
          </a:prstGeom>
          <a:noFill/>
        </p:spPr>
        <p:txBody>
          <a:bodyPr wrap="none" lIns="0" rIns="0" tIns="0" bIns="0">
            <a:spAutoFit/>
          </a:bodyPr>
          <a:lstStyle/>
          <a:p>
            <a:r>
              <a:rPr sz="1150" b="0">
                <a:solidFill>
                  <a:srgbClr val="2E2E2E"/>
                </a:solidFill>
                <a:latin typeface="Calibri"/>
              </a:rPr>
              <a:t>▪ Raise SAM penetration beyond 'Rest of Global' (~</a:t>
            </a:r>
          </a:p>
        </p:txBody>
      </p:sp>
      <p:pic>
        <p:nvPicPr>
          <p:cNvPr id="39" name="Picture 38" descr="lock.png"/>
          <p:cNvPicPr>
            <a:picLocks noChangeAspect="1"/>
          </p:cNvPicPr>
          <p:nvPr/>
        </p:nvPicPr>
        <p:blipFill>
          <a:blip r:embed="rId4"/>
          <a:stretch>
            <a:fillRect/>
          </a:stretch>
        </p:blipFill>
        <p:spPr>
          <a:xfrm>
            <a:off x="3302735" y="3299301"/>
            <a:ext cx="134549" cy="195707"/>
          </a:xfrm>
          <a:prstGeom prst="rect">
            <a:avLst/>
          </a:prstGeom>
        </p:spPr>
      </p:pic>
      <p:sp>
        <p:nvSpPr>
          <p:cNvPr id="40" name="TextBox 39"/>
          <p:cNvSpPr txBox="1"/>
          <p:nvPr/>
        </p:nvSpPr>
        <p:spPr>
          <a:xfrm>
            <a:off x="3477844"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6" name="TextBox 45"/>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7" name="TextBox 46"/>
          <p:cNvSpPr txBox="1"/>
          <p:nvPr/>
        </p:nvSpPr>
        <p:spPr>
          <a:xfrm>
            <a:off x="6334125" y="2906426"/>
            <a:ext cx="5219613" cy="194310"/>
          </a:xfrm>
          <a:prstGeom prst="rect">
            <a:avLst/>
          </a:prstGeom>
          <a:noFill/>
        </p:spPr>
        <p:txBody>
          <a:bodyPr wrap="none" lIns="0" rIns="0" t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5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McKee Foods Corporation: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3380509" cy="194310"/>
          </a:xfrm>
          <a:prstGeom prst="rect">
            <a:avLst/>
          </a:prstGeom>
          <a:noFill/>
        </p:spPr>
        <p:txBody>
          <a:bodyPr wrap="none" lIns="0" rIns="0" tIns="0" bIns="0">
            <a:spAutoFit/>
          </a:bodyPr>
          <a:lstStyle/>
          <a:p>
            <a:r>
              <a:rPr sz="1150" b="0">
                <a:solidFill>
                  <a:srgbClr val="2E2E2E"/>
                </a:solidFill>
                <a:latin typeface="Calibri"/>
              </a:rPr>
              <a:t>▪ Market Position: McKee Foods Corporation captures ~</a:t>
            </a:r>
          </a:p>
        </p:txBody>
      </p:sp>
      <p:pic>
        <p:nvPicPr>
          <p:cNvPr id="41" name="Picture 40" descr="lock.png"/>
          <p:cNvPicPr>
            <a:picLocks noChangeAspect="1"/>
          </p:cNvPicPr>
          <p:nvPr/>
        </p:nvPicPr>
        <p:blipFill>
          <a:blip r:embed="rId7"/>
          <a:stretch>
            <a:fillRect/>
          </a:stretch>
        </p:blipFill>
        <p:spPr>
          <a:xfrm>
            <a:off x="3605888" y="5194653"/>
            <a:ext cx="134549" cy="195707"/>
          </a:xfrm>
          <a:prstGeom prst="rect">
            <a:avLst/>
          </a:prstGeom>
        </p:spPr>
      </p:pic>
      <p:sp>
        <p:nvSpPr>
          <p:cNvPr id="42" name="TextBox 41"/>
          <p:cNvSpPr txBox="1"/>
          <p:nvPr/>
        </p:nvSpPr>
        <p:spPr>
          <a:xfrm>
            <a:off x="3780998" y="5204877"/>
            <a:ext cx="3707196"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'Vending'.</a:t>
            </a:r>
          </a:p>
        </p:txBody>
      </p:sp>
      <p:sp>
        <p:nvSpPr>
          <p:cNvPr id="43" name="TextBox 42"/>
          <p:cNvSpPr txBox="1"/>
          <p:nvPr/>
        </p:nvSpPr>
        <p:spPr>
          <a:xfrm>
            <a:off x="276225" y="5432715"/>
            <a:ext cx="7098580" cy="194310"/>
          </a:xfrm>
          <a:prstGeom prst="rect">
            <a:avLst/>
          </a:prstGeom>
          <a:noFill/>
        </p:spPr>
        <p:txBody>
          <a:bodyPr wrap="none" lIns="0" rIns="0" tIns="0" bIns="0">
            <a:spAutoFit/>
          </a:bodyPr>
          <a:lstStyle/>
          <a:p>
            <a:r>
              <a:rPr sz="1150" b="0">
                <a:solidFill>
                  <a:srgbClr val="2E2E2E"/>
                </a:solidFill>
                <a:latin typeface="Calibri"/>
              </a:rPr>
              <a:t>▪ Geographic Balance: 'Rest of Global' is the largest SOM region; 'Rest of Global' shows the highest SAM penetration (~</a:t>
            </a:r>
          </a:p>
        </p:txBody>
      </p:sp>
      <p:pic>
        <p:nvPicPr>
          <p:cNvPr id="44" name="Picture 43" descr="lock.png"/>
          <p:cNvPicPr>
            <a:picLocks noChangeAspect="1"/>
          </p:cNvPicPr>
          <p:nvPr/>
        </p:nvPicPr>
        <p:blipFill>
          <a:blip r:embed="rId7"/>
          <a:stretch>
            <a:fillRect/>
          </a:stretch>
        </p:blipFill>
        <p:spPr>
          <a:xfrm>
            <a:off x="7323959" y="5422491"/>
            <a:ext cx="134549" cy="195707"/>
          </a:xfrm>
          <a:prstGeom prst="rect">
            <a:avLst/>
          </a:prstGeom>
        </p:spPr>
      </p:pic>
      <p:sp>
        <p:nvSpPr>
          <p:cNvPr id="45" name="TextBox 44"/>
          <p:cNvSpPr txBox="1"/>
          <p:nvPr/>
        </p:nvSpPr>
        <p:spPr>
          <a:xfrm>
            <a:off x="7499068"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McKee Foods Corporation: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McKee Foods Corporation</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456016" cy="186689"/>
          </a:xfrm>
          <a:prstGeom prst="rect">
            <a:avLst/>
          </a:prstGeom>
          <a:noFill/>
        </p:spPr>
        <p:txBody>
          <a:bodyPr wrap="none" lIns="0" rIns="0" tIns="0" bIns="0">
            <a:spAutoFit/>
          </a:bodyPr>
          <a:lstStyle/>
          <a:p>
            <a:r>
              <a:rPr sz="1100" b="0">
                <a:solidFill>
                  <a:srgbClr val="2E2E2E"/>
                </a:solidFill>
                <a:latin typeface="Calibri"/>
              </a:rPr>
              <a:t>▪ Regional Opportunity: 'Rest of Global'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McKee Foods Corporation: strengths, weaknesses, opportunities and threats shaping its competitive…</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McKee Foods Corporation: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Global'.</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Global',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5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McKee Foods Corporation's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McKee Foods Corporation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Pricing Analysis (US$/MT)</a:t>
            </a:r>
          </a:p>
        </p:txBody>
      </p:sp>
      <p:graphicFrame>
        <p:nvGraphicFramePr>
          <p:cNvPr id="21" name="Table 20"/>
          <p:cNvGraphicFramePr>
            <a:graphicFrameLocks noGrp="1"/>
          </p:cNvGraphicFramePr>
          <p:nvPr/>
        </p:nvGraphicFramePr>
        <p:xfrm>
          <a:off x="6210300" y="1611256"/>
          <a:ext cx="5829300" cy="477208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26298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26298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853662"/>
            <a:ext cx="366712" cy="533400"/>
          </a:xfrm>
          <a:prstGeom prst="rect">
            <a:avLst/>
          </a:prstGeom>
        </p:spPr>
      </p:pic>
    </p:spTree>
  </p:cSld>
  <p:clrMapOvr>
    <a:masterClrMapping/>
  </p:clrMapOvr>
</p:sld>
</file>

<file path=ppt/slides/slide5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McKee Foods Corporation's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McKee Foods Corporation: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619750" cy="194310"/>
          </a:xfrm>
          <a:prstGeom prst="rect">
            <a:avLst/>
          </a:prstGeom>
          <a:noFill/>
        </p:spPr>
        <p:txBody>
          <a:bodyPr wrap="none" lIns="0" rIns="0" tIns="0" bIns="0">
            <a:spAutoFit/>
          </a:bodyPr>
          <a:lstStyle/>
          <a:p>
            <a:r>
              <a:rPr sz="1150" b="0">
                <a:solidFill>
                  <a:srgbClr val="2E2E2E"/>
                </a:solidFill>
                <a:latin typeface="Calibri"/>
              </a:rPr>
              <a:t>▪ Defend and extend leadership in 'Vending' McKee Foods Corporation's strongest end-market</a:t>
            </a:r>
          </a:p>
        </p:txBody>
      </p:sp>
      <p:sp>
        <p:nvSpPr>
          <p:cNvPr id="31" name="TextBox 30"/>
          <p:cNvSpPr txBox="1"/>
          <p:nvPr/>
        </p:nvSpPr>
        <p:spPr>
          <a:xfrm>
            <a:off x="276225" y="2678589"/>
            <a:ext cx="2444948" cy="194310"/>
          </a:xfrm>
          <a:prstGeom prst="rect">
            <a:avLst/>
          </a:prstGeom>
          <a:noFill/>
        </p:spPr>
        <p:txBody>
          <a:bodyPr wrap="none" lIns="0" rIns="0" tIns="0" bIns="0">
            <a:spAutoFit/>
          </a:bodyPr>
          <a:lstStyle/>
          <a:p>
            <a:r>
              <a:rPr sz="1150" b="0">
                <a:solidFill>
                  <a:srgbClr val="2E2E2E"/>
                </a:solidFill>
                <a:latin typeface="Calibri"/>
              </a:rPr>
              <a:t>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077356" cy="194310"/>
          </a:xfrm>
          <a:prstGeom prst="rect">
            <a:avLst/>
          </a:prstGeom>
          <a:noFill/>
        </p:spPr>
        <p:txBody>
          <a:bodyPr wrap="none" lIns="0" rIns="0" tIns="0" bIns="0">
            <a:spAutoFit/>
          </a:bodyPr>
          <a:lstStyle/>
          <a:p>
            <a:r>
              <a:rPr sz="1150" b="0">
                <a:solidFill>
                  <a:srgbClr val="2E2E2E"/>
                </a:solidFill>
                <a:latin typeface="Calibri"/>
              </a:rPr>
              <a:t>▪ Raise SAM penetration beyond 'Rest of Global' (~</a:t>
            </a:r>
          </a:p>
        </p:txBody>
      </p:sp>
      <p:pic>
        <p:nvPicPr>
          <p:cNvPr id="39" name="Picture 38" descr="lock.png"/>
          <p:cNvPicPr>
            <a:picLocks noChangeAspect="1"/>
          </p:cNvPicPr>
          <p:nvPr/>
        </p:nvPicPr>
        <p:blipFill>
          <a:blip r:embed="rId4"/>
          <a:stretch>
            <a:fillRect/>
          </a:stretch>
        </p:blipFill>
        <p:spPr>
          <a:xfrm>
            <a:off x="3302735" y="3299301"/>
            <a:ext cx="134549" cy="195707"/>
          </a:xfrm>
          <a:prstGeom prst="rect">
            <a:avLst/>
          </a:prstGeom>
        </p:spPr>
      </p:pic>
      <p:sp>
        <p:nvSpPr>
          <p:cNvPr id="40" name="TextBox 39"/>
          <p:cNvSpPr txBox="1"/>
          <p:nvPr/>
        </p:nvSpPr>
        <p:spPr>
          <a:xfrm>
            <a:off x="3477844"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6" name="TextBox 45"/>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7" name="TextBox 46"/>
          <p:cNvSpPr txBox="1"/>
          <p:nvPr/>
        </p:nvSpPr>
        <p:spPr>
          <a:xfrm>
            <a:off x="6334125" y="2906426"/>
            <a:ext cx="5176825" cy="194310"/>
          </a:xfrm>
          <a:prstGeom prst="rect">
            <a:avLst/>
          </a:prstGeom>
          <a:noFill/>
        </p:spPr>
        <p:txBody>
          <a:bodyPr wrap="none" lIns="0" rIns="0" tIns="0" bIns="0">
            <a:spAutoFit/>
          </a:bodyPr>
          <a:lstStyle/>
          <a:p>
            <a:r>
              <a:rPr sz="1150" b="0">
                <a:solidFill>
                  <a:srgbClr val="2E2E2E"/>
                </a:solidFill>
                <a:latin typeface="Calibri"/>
              </a:rPr>
              <a:t>▪ Deepen presence in 'Rest of Global'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~90-day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5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Hostess Brands: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739330" cy="194310"/>
          </a:xfrm>
          <a:prstGeom prst="rect">
            <a:avLst/>
          </a:prstGeom>
          <a:noFill/>
        </p:spPr>
        <p:txBody>
          <a:bodyPr wrap="none" lIns="0" rIns="0" tIns="0" bIns="0">
            <a:spAutoFit/>
          </a:bodyPr>
          <a:lstStyle/>
          <a:p>
            <a:r>
              <a:rPr sz="1150" b="0">
                <a:solidFill>
                  <a:srgbClr val="2E2E2E"/>
                </a:solidFill>
                <a:latin typeface="Calibri"/>
              </a:rPr>
              <a:t>▪ Market Position: Hostess Brands captures ~</a:t>
            </a:r>
          </a:p>
        </p:txBody>
      </p:sp>
      <p:pic>
        <p:nvPicPr>
          <p:cNvPr id="41" name="Picture 40" descr="lock.png"/>
          <p:cNvPicPr>
            <a:picLocks noChangeAspect="1"/>
          </p:cNvPicPr>
          <p:nvPr/>
        </p:nvPicPr>
        <p:blipFill>
          <a:blip r:embed="rId7"/>
          <a:stretch>
            <a:fillRect/>
          </a:stretch>
        </p:blipFill>
        <p:spPr>
          <a:xfrm>
            <a:off x="2964709" y="5194653"/>
            <a:ext cx="134549" cy="195707"/>
          </a:xfrm>
          <a:prstGeom prst="rect">
            <a:avLst/>
          </a:prstGeom>
        </p:spPr>
      </p:pic>
      <p:sp>
        <p:nvSpPr>
          <p:cNvPr id="42" name="TextBox 41"/>
          <p:cNvSpPr txBox="1"/>
          <p:nvPr/>
        </p:nvSpPr>
        <p:spPr>
          <a:xfrm>
            <a:off x="3139818" y="5204877"/>
            <a:ext cx="3707196"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'Vending'.</a:t>
            </a:r>
          </a:p>
        </p:txBody>
      </p:sp>
      <p:sp>
        <p:nvSpPr>
          <p:cNvPr id="43" name="TextBox 42"/>
          <p:cNvSpPr txBox="1"/>
          <p:nvPr/>
        </p:nvSpPr>
        <p:spPr>
          <a:xfrm>
            <a:off x="276225" y="5432715"/>
            <a:ext cx="7098580" cy="194310"/>
          </a:xfrm>
          <a:prstGeom prst="rect">
            <a:avLst/>
          </a:prstGeom>
          <a:noFill/>
        </p:spPr>
        <p:txBody>
          <a:bodyPr wrap="none" lIns="0" rIns="0" tIns="0" bIns="0">
            <a:spAutoFit/>
          </a:bodyPr>
          <a:lstStyle/>
          <a:p>
            <a:r>
              <a:rPr sz="1150" b="0">
                <a:solidFill>
                  <a:srgbClr val="2E2E2E"/>
                </a:solidFill>
                <a:latin typeface="Calibri"/>
              </a:rPr>
              <a:t>▪ Geographic Balance: 'Rest of Global' is the largest SOM region; 'Rest of Global' shows the highest SAM penetration (~</a:t>
            </a:r>
          </a:p>
        </p:txBody>
      </p:sp>
      <p:pic>
        <p:nvPicPr>
          <p:cNvPr id="44" name="Picture 43" descr="lock.png"/>
          <p:cNvPicPr>
            <a:picLocks noChangeAspect="1"/>
          </p:cNvPicPr>
          <p:nvPr/>
        </p:nvPicPr>
        <p:blipFill>
          <a:blip r:embed="rId7"/>
          <a:stretch>
            <a:fillRect/>
          </a:stretch>
        </p:blipFill>
        <p:spPr>
          <a:xfrm>
            <a:off x="7323959" y="5422491"/>
            <a:ext cx="134549" cy="195707"/>
          </a:xfrm>
          <a:prstGeom prst="rect">
            <a:avLst/>
          </a:prstGeom>
        </p:spPr>
      </p:pic>
      <p:sp>
        <p:nvSpPr>
          <p:cNvPr id="45" name="TextBox 44"/>
          <p:cNvSpPr txBox="1"/>
          <p:nvPr/>
        </p:nvSpPr>
        <p:spPr>
          <a:xfrm>
            <a:off x="7499068"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Hostess Brands: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Hostess Brands</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456016" cy="186689"/>
          </a:xfrm>
          <a:prstGeom prst="rect">
            <a:avLst/>
          </a:prstGeom>
          <a:noFill/>
        </p:spPr>
        <p:txBody>
          <a:bodyPr wrap="none" lIns="0" rIns="0" tIns="0" bIns="0">
            <a:spAutoFit/>
          </a:bodyPr>
          <a:lstStyle/>
          <a:p>
            <a:r>
              <a:rPr sz="1100" b="0">
                <a:solidFill>
                  <a:srgbClr val="2E2E2E"/>
                </a:solidFill>
                <a:latin typeface="Calibri"/>
              </a:rPr>
              <a:t>▪ Regional Opportunity: 'Rest of Global'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Hostess Brands: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Hostess Brands: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Global'.</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Global',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5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Hostess Brands's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Hostess Brands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Pricing Analysis (US$/MT)</a:t>
            </a:r>
          </a:p>
        </p:txBody>
      </p:sp>
      <p:graphicFrame>
        <p:nvGraphicFramePr>
          <p:cNvPr id="21" name="Table 20"/>
          <p:cNvGraphicFramePr>
            <a:graphicFrameLocks noGrp="1"/>
          </p:cNvGraphicFramePr>
          <p:nvPr/>
        </p:nvGraphicFramePr>
        <p:xfrm>
          <a:off x="6210300" y="1611256"/>
          <a:ext cx="5829300" cy="477208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26298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26298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853662"/>
            <a:ext cx="366712" cy="533400"/>
          </a:xfrm>
          <a:prstGeom prst="rect">
            <a:avLst/>
          </a:prstGeom>
        </p:spPr>
      </p:pic>
    </p:spTree>
  </p:cSld>
  <p:clrMapOvr>
    <a:masterClrMapping/>
  </p:clrMapOvr>
</p:sld>
</file>

<file path=ppt/slides/slide5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Hostess Brands's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Hostess Brands: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381922" cy="194310"/>
          </a:xfrm>
          <a:prstGeom prst="rect">
            <a:avLst/>
          </a:prstGeom>
          <a:noFill/>
        </p:spPr>
        <p:txBody>
          <a:bodyPr wrap="none" lIns="0" rIns="0" tIns="0" bIns="0">
            <a:spAutoFit/>
          </a:bodyPr>
          <a:lstStyle/>
          <a:p>
            <a:r>
              <a:rPr sz="1150" b="0">
                <a:solidFill>
                  <a:srgbClr val="2E2E2E"/>
                </a:solidFill>
                <a:latin typeface="Calibri"/>
              </a:rPr>
              <a:t>▪ Defend and extend leadership in 'Vending' Hostess Brands's strongest end-market while</a:t>
            </a:r>
          </a:p>
        </p:txBody>
      </p:sp>
      <p:sp>
        <p:nvSpPr>
          <p:cNvPr id="31" name="TextBox 30"/>
          <p:cNvSpPr txBox="1"/>
          <p:nvPr/>
        </p:nvSpPr>
        <p:spPr>
          <a:xfrm>
            <a:off x="276225" y="2678589"/>
            <a:ext cx="2090663" cy="194310"/>
          </a:xfrm>
          <a:prstGeom prst="rect">
            <a:avLst/>
          </a:prstGeom>
          <a:noFill/>
        </p:spPr>
        <p:txBody>
          <a:bodyPr wrap="none" lIns="0" rIns="0" tIns="0" bIns="0">
            <a:spAutoFit/>
          </a:bodyPr>
          <a:lstStyle/>
          <a:p>
            <a:r>
              <a:rPr sz="1150" b="0">
                <a:solidFill>
                  <a:srgbClr val="2E2E2E"/>
                </a:solidFill>
                <a:latin typeface="Calibri"/>
              </a:rPr>
              <a:t>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077356" cy="194310"/>
          </a:xfrm>
          <a:prstGeom prst="rect">
            <a:avLst/>
          </a:prstGeom>
          <a:noFill/>
        </p:spPr>
        <p:txBody>
          <a:bodyPr wrap="none" lIns="0" rIns="0" tIns="0" bIns="0">
            <a:spAutoFit/>
          </a:bodyPr>
          <a:lstStyle/>
          <a:p>
            <a:r>
              <a:rPr sz="1150" b="0">
                <a:solidFill>
                  <a:srgbClr val="2E2E2E"/>
                </a:solidFill>
                <a:latin typeface="Calibri"/>
              </a:rPr>
              <a:t>▪ Raise SAM penetration beyond 'Rest of Global' (~</a:t>
            </a:r>
          </a:p>
        </p:txBody>
      </p:sp>
      <p:pic>
        <p:nvPicPr>
          <p:cNvPr id="39" name="Picture 38" descr="lock.png"/>
          <p:cNvPicPr>
            <a:picLocks noChangeAspect="1"/>
          </p:cNvPicPr>
          <p:nvPr/>
        </p:nvPicPr>
        <p:blipFill>
          <a:blip r:embed="rId4"/>
          <a:stretch>
            <a:fillRect/>
          </a:stretch>
        </p:blipFill>
        <p:spPr>
          <a:xfrm>
            <a:off x="3302735" y="3299301"/>
            <a:ext cx="134549" cy="195707"/>
          </a:xfrm>
          <a:prstGeom prst="rect">
            <a:avLst/>
          </a:prstGeom>
        </p:spPr>
      </p:pic>
      <p:sp>
        <p:nvSpPr>
          <p:cNvPr id="40" name="TextBox 39"/>
          <p:cNvSpPr txBox="1"/>
          <p:nvPr/>
        </p:nvSpPr>
        <p:spPr>
          <a:xfrm>
            <a:off x="3477844"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6" name="TextBox 45"/>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7" name="TextBox 46"/>
          <p:cNvSpPr txBox="1"/>
          <p:nvPr/>
        </p:nvSpPr>
        <p:spPr>
          <a:xfrm>
            <a:off x="6334125" y="2906426"/>
            <a:ext cx="5176825" cy="194310"/>
          </a:xfrm>
          <a:prstGeom prst="rect">
            <a:avLst/>
          </a:prstGeom>
          <a:noFill/>
        </p:spPr>
        <p:txBody>
          <a:bodyPr wrap="none" lIns="0" rIns="0" tIns="0" bIns="0">
            <a:spAutoFit/>
          </a:bodyPr>
          <a:lstStyle/>
          <a:p>
            <a:r>
              <a:rPr sz="1150" b="0">
                <a:solidFill>
                  <a:srgbClr val="2E2E2E"/>
                </a:solidFill>
                <a:latin typeface="Calibri"/>
              </a:rPr>
              <a:t>▪ Deepen presence in 'Rest of Global'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~85-day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