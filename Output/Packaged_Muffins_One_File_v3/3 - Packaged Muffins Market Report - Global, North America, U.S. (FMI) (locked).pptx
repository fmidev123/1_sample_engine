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00.xml" ContentType="application/vnd.openxmlformats-officedocument.drawingml.chart+xml"/>
  <Override PartName="/ppt/charts/chart101.xml" ContentType="application/vnd.openxmlformats-officedocument.drawingml.chart+xml"/>
  <Override PartName="/ppt/charts/chart102.xml" ContentType="application/vnd.openxmlformats-officedocument.drawingml.chart+xml"/>
  <Override PartName="/ppt/charts/chart103.xml" ContentType="application/vnd.openxmlformats-officedocument.drawingml.chart+xml"/>
  <Override PartName="/ppt/charts/chart104.xml" ContentType="application/vnd.openxmlformats-officedocument.drawingml.chart+xml"/>
  <Override PartName="/ppt/charts/chart105.xml" ContentType="application/vnd.openxmlformats-officedocument.drawingml.chart+xml"/>
  <Override PartName="/ppt/charts/chart106.xml" ContentType="application/vnd.openxmlformats-officedocument.drawingml.chart+xml"/>
  <Override PartName="/ppt/charts/chart107.xml" ContentType="application/vnd.openxmlformats-officedocument.drawingml.chart+xml"/>
  <Override PartName="/ppt/charts/chart108.xml" ContentType="application/vnd.openxmlformats-officedocument.drawingml.chart+xml"/>
  <Override PartName="/ppt/charts/chart109.xml" ContentType="application/vnd.openxmlformats-officedocument.drawingml.chart+xml"/>
  <Override PartName="/ppt/charts/chart11.xml" ContentType="application/vnd.openxmlformats-officedocument.drawingml.chart+xml"/>
  <Override PartName="/ppt/charts/chart110.xml" ContentType="application/vnd.openxmlformats-officedocument.drawingml.chart+xml"/>
  <Override PartName="/ppt/charts/chart111.xml" ContentType="application/vnd.openxmlformats-officedocument.drawingml.chart+xml"/>
  <Override PartName="/ppt/charts/chart112.xml" ContentType="application/vnd.openxmlformats-officedocument.drawingml.chart+xml"/>
  <Override PartName="/ppt/charts/chart113.xml" ContentType="application/vnd.openxmlformats-officedocument.drawingml.chart+xml"/>
  <Override PartName="/ppt/charts/chart114.xml" ContentType="application/vnd.openxmlformats-officedocument.drawingml.chart+xml"/>
  <Override PartName="/ppt/charts/chart115.xml" ContentType="application/vnd.openxmlformats-officedocument.drawingml.chart+xml"/>
  <Override PartName="/ppt/charts/chart116.xml" ContentType="application/vnd.openxmlformats-officedocument.drawingml.chart+xml"/>
  <Override PartName="/ppt/charts/chart117.xml" ContentType="application/vnd.openxmlformats-officedocument.drawingml.chart+xml"/>
  <Override PartName="/ppt/charts/chart118.xml" ContentType="application/vnd.openxmlformats-officedocument.drawingml.chart+xml"/>
  <Override PartName="/ppt/charts/chart119.xml" ContentType="application/vnd.openxmlformats-officedocument.drawingml.chart+xml"/>
  <Override PartName="/ppt/charts/chart12.xml" ContentType="application/vnd.openxmlformats-officedocument.drawingml.chart+xml"/>
  <Override PartName="/ppt/charts/chart120.xml" ContentType="application/vnd.openxmlformats-officedocument.drawingml.chart+xml"/>
  <Override PartName="/ppt/charts/chart121.xml" ContentType="application/vnd.openxmlformats-officedocument.drawingml.chart+xml"/>
  <Override PartName="/ppt/charts/chart122.xml" ContentType="application/vnd.openxmlformats-officedocument.drawingml.chart+xml"/>
  <Override PartName="/ppt/charts/chart123.xml" ContentType="application/vnd.openxmlformats-officedocument.drawingml.chart+xml"/>
  <Override PartName="/ppt/charts/chart124.xml" ContentType="application/vnd.openxmlformats-officedocument.drawingml.chart+xml"/>
  <Override PartName="/ppt/charts/chart125.xml" ContentType="application/vnd.openxmlformats-officedocument.drawingml.chart+xml"/>
  <Override PartName="/ppt/charts/chart126.xml" ContentType="application/vnd.openxmlformats-officedocument.drawingml.chart+xml"/>
  <Override PartName="/ppt/charts/chart127.xml" ContentType="application/vnd.openxmlformats-officedocument.drawingml.chart+xml"/>
  <Override PartName="/ppt/charts/chart128.xml" ContentType="application/vnd.openxmlformats-officedocument.drawingml.chart+xml"/>
  <Override PartName="/ppt/charts/chart129.xml" ContentType="application/vnd.openxmlformats-officedocument.drawingml.chart+xml"/>
  <Override PartName="/ppt/charts/chart13.xml" ContentType="application/vnd.openxmlformats-officedocument.drawingml.chart+xml"/>
  <Override PartName="/ppt/charts/chart130.xml" ContentType="application/vnd.openxmlformats-officedocument.drawingml.chart+xml"/>
  <Override PartName="/ppt/charts/chart131.xml" ContentType="application/vnd.openxmlformats-officedocument.drawingml.chart+xml"/>
  <Override PartName="/ppt/charts/chart132.xml" ContentType="application/vnd.openxmlformats-officedocument.drawingml.chart+xml"/>
  <Override PartName="/ppt/charts/chart133.xml" ContentType="application/vnd.openxmlformats-officedocument.drawingml.chart+xml"/>
  <Override PartName="/ppt/charts/chart134.xml" ContentType="application/vnd.openxmlformats-officedocument.drawingml.chart+xml"/>
  <Override PartName="/ppt/charts/chart135.xml" ContentType="application/vnd.openxmlformats-officedocument.drawingml.chart+xml"/>
  <Override PartName="/ppt/charts/chart136.xml" ContentType="application/vnd.openxmlformats-officedocument.drawingml.chart+xml"/>
  <Override PartName="/ppt/charts/chart137.xml" ContentType="application/vnd.openxmlformats-officedocument.drawingml.chart+xml"/>
  <Override PartName="/ppt/charts/chart138.xml" ContentType="application/vnd.openxmlformats-officedocument.drawingml.chart+xml"/>
  <Override PartName="/ppt/charts/chart139.xml" ContentType="application/vnd.openxmlformats-officedocument.drawingml.chart+xml"/>
  <Override PartName="/ppt/charts/chart14.xml" ContentType="application/vnd.openxmlformats-officedocument.drawingml.chart+xml"/>
  <Override PartName="/ppt/charts/chart140.xml" ContentType="application/vnd.openxmlformats-officedocument.drawingml.chart+xml"/>
  <Override PartName="/ppt/charts/chart141.xml" ContentType="application/vnd.openxmlformats-officedocument.drawingml.chart+xml"/>
  <Override PartName="/ppt/charts/chart142.xml" ContentType="application/vnd.openxmlformats-officedocument.drawingml.chart+xml"/>
  <Override PartName="/ppt/charts/chart143.xml" ContentType="application/vnd.openxmlformats-officedocument.drawingml.chart+xml"/>
  <Override PartName="/ppt/charts/chart144.xml" ContentType="application/vnd.openxmlformats-officedocument.drawingml.chart+xml"/>
  <Override PartName="/ppt/charts/chart145.xml" ContentType="application/vnd.openxmlformats-officedocument.drawingml.chart+xml"/>
  <Override PartName="/ppt/charts/chart146.xml" ContentType="application/vnd.openxmlformats-officedocument.drawingml.chart+xml"/>
  <Override PartName="/ppt/charts/chart147.xml" ContentType="application/vnd.openxmlformats-officedocument.drawingml.chart+xml"/>
  <Override PartName="/ppt/charts/chart148.xml" ContentType="application/vnd.openxmlformats-officedocument.drawingml.chart+xml"/>
  <Override PartName="/ppt/charts/chart149.xml" ContentType="application/vnd.openxmlformats-officedocument.drawingml.chart+xml"/>
  <Override PartName="/ppt/charts/chart15.xml" ContentType="application/vnd.openxmlformats-officedocument.drawingml.chart+xml"/>
  <Override PartName="/ppt/charts/chart150.xml" ContentType="application/vnd.openxmlformats-officedocument.drawingml.chart+xml"/>
  <Override PartName="/ppt/charts/chart151.xml" ContentType="application/vnd.openxmlformats-officedocument.drawingml.chart+xml"/>
  <Override PartName="/ppt/charts/chart152.xml" ContentType="application/vnd.openxmlformats-officedocument.drawingml.chart+xml"/>
  <Override PartName="/ppt/charts/chart153.xml" ContentType="application/vnd.openxmlformats-officedocument.drawingml.chart+xml"/>
  <Override PartName="/ppt/charts/chart154.xml" ContentType="application/vnd.openxmlformats-officedocument.drawingml.chart+xml"/>
  <Override PartName="/ppt/charts/chart155.xml" ContentType="application/vnd.openxmlformats-officedocument.drawingml.chart+xml"/>
  <Override PartName="/ppt/charts/chart156.xml" ContentType="application/vnd.openxmlformats-officedocument.drawingml.chart+xml"/>
  <Override PartName="/ppt/charts/chart157.xml" ContentType="application/vnd.openxmlformats-officedocument.drawingml.chart+xml"/>
  <Override PartName="/ppt/charts/chart158.xml" ContentType="application/vnd.openxmlformats-officedocument.drawingml.chart+xml"/>
  <Override PartName="/ppt/charts/chart159.xml" ContentType="application/vnd.openxmlformats-officedocument.drawingml.chart+xml"/>
  <Override PartName="/ppt/charts/chart16.xml" ContentType="application/vnd.openxmlformats-officedocument.drawingml.chart+xml"/>
  <Override PartName="/ppt/charts/chart160.xml" ContentType="application/vnd.openxmlformats-officedocument.drawingml.chart+xml"/>
  <Override PartName="/ppt/charts/chart161.xml" ContentType="application/vnd.openxmlformats-officedocument.drawingml.chart+xml"/>
  <Override PartName="/ppt/charts/chart162.xml" ContentType="application/vnd.openxmlformats-officedocument.drawingml.chart+xml"/>
  <Override PartName="/ppt/charts/chart163.xml" ContentType="application/vnd.openxmlformats-officedocument.drawingml.chart+xml"/>
  <Override PartName="/ppt/charts/chart164.xml" ContentType="application/vnd.openxmlformats-officedocument.drawingml.chart+xml"/>
  <Override PartName="/ppt/charts/chart165.xml" ContentType="application/vnd.openxmlformats-officedocument.drawingml.chart+xml"/>
  <Override PartName="/ppt/charts/chart166.xml" ContentType="application/vnd.openxmlformats-officedocument.drawingml.chart+xml"/>
  <Override PartName="/ppt/charts/chart167.xml" ContentType="application/vnd.openxmlformats-officedocument.drawingml.chart+xml"/>
  <Override PartName="/ppt/charts/chart168.xml" ContentType="application/vnd.openxmlformats-officedocument.drawingml.chart+xml"/>
  <Override PartName="/ppt/charts/chart169.xml" ContentType="application/vnd.openxmlformats-officedocument.drawingml.chart+xml"/>
  <Override PartName="/ppt/charts/chart17.xml" ContentType="application/vnd.openxmlformats-officedocument.drawingml.chart+xml"/>
  <Override PartName="/ppt/charts/chart170.xml" ContentType="application/vnd.openxmlformats-officedocument.drawingml.chart+xml"/>
  <Override PartName="/ppt/charts/chart171.xml" ContentType="application/vnd.openxmlformats-officedocument.drawingml.chart+xml"/>
  <Override PartName="/ppt/charts/chart172.xml" ContentType="application/vnd.openxmlformats-officedocument.drawingml.chart+xml"/>
  <Override PartName="/ppt/charts/chart173.xml" ContentType="application/vnd.openxmlformats-officedocument.drawingml.chart+xml"/>
  <Override PartName="/ppt/charts/chart174.xml" ContentType="application/vnd.openxmlformats-officedocument.drawingml.chart+xml"/>
  <Override PartName="/ppt/charts/chart175.xml" ContentType="application/vnd.openxmlformats-officedocument.drawingml.chart+xml"/>
  <Override PartName="/ppt/charts/chart176.xml" ContentType="application/vnd.openxmlformats-officedocument.drawingml.chart+xml"/>
  <Override PartName="/ppt/charts/chart177.xml" ContentType="application/vnd.openxmlformats-officedocument.drawingml.chart+xml"/>
  <Override PartName="/ppt/charts/chart178.xml" ContentType="application/vnd.openxmlformats-officedocument.drawingml.chart+xml"/>
  <Override PartName="/ppt/charts/chart179.xml" ContentType="application/vnd.openxmlformats-officedocument.drawingml.chart+xml"/>
  <Override PartName="/ppt/charts/chart18.xml" ContentType="application/vnd.openxmlformats-officedocument.drawingml.chart+xml"/>
  <Override PartName="/ppt/charts/chart180.xml" ContentType="application/vnd.openxmlformats-officedocument.drawingml.chart+xml"/>
  <Override PartName="/ppt/charts/chart181.xml" ContentType="application/vnd.openxmlformats-officedocument.drawingml.chart+xml"/>
  <Override PartName="/ppt/charts/chart182.xml" ContentType="application/vnd.openxmlformats-officedocument.drawingml.chart+xml"/>
  <Override PartName="/ppt/charts/chart183.xml" ContentType="application/vnd.openxmlformats-officedocument.drawingml.chart+xml"/>
  <Override PartName="/ppt/charts/chart184.xml" ContentType="application/vnd.openxmlformats-officedocument.drawingml.chart+xml"/>
  <Override PartName="/ppt/charts/chart185.xml" ContentType="application/vnd.openxmlformats-officedocument.drawingml.chart+xml"/>
  <Override PartName="/ppt/charts/chart186.xml" ContentType="application/vnd.openxmlformats-officedocument.drawingml.chart+xml"/>
  <Override PartName="/ppt/charts/chart187.xml" ContentType="application/vnd.openxmlformats-officedocument.drawingml.chart+xml"/>
  <Override PartName="/ppt/charts/chart188.xml" ContentType="application/vnd.openxmlformats-officedocument.drawingml.chart+xml"/>
  <Override PartName="/ppt/charts/chart189.xml" ContentType="application/vnd.openxmlformats-officedocument.drawingml.chart+xml"/>
  <Override PartName="/ppt/charts/chart19.xml" ContentType="application/vnd.openxmlformats-officedocument.drawingml.chart+xml"/>
  <Override PartName="/ppt/charts/chart190.xml" ContentType="application/vnd.openxmlformats-officedocument.drawingml.chart+xml"/>
  <Override PartName="/ppt/charts/chart191.xml" ContentType="application/vnd.openxmlformats-officedocument.drawingml.chart+xml"/>
  <Override PartName="/ppt/charts/chart192.xml" ContentType="application/vnd.openxmlformats-officedocument.drawingml.chart+xml"/>
  <Override PartName="/ppt/charts/chart193.xml" ContentType="application/vnd.openxmlformats-officedocument.drawingml.chart+xml"/>
  <Override PartName="/ppt/charts/chart194.xml" ContentType="application/vnd.openxmlformats-officedocument.drawingml.chart+xml"/>
  <Override PartName="/ppt/charts/chart195.xml" ContentType="application/vnd.openxmlformats-officedocument.drawingml.chart+xml"/>
  <Override PartName="/ppt/charts/chart196.xml" ContentType="application/vnd.openxmlformats-officedocument.drawingml.chart+xml"/>
  <Override PartName="/ppt/charts/chart197.xml" ContentType="application/vnd.openxmlformats-officedocument.drawingml.chart+xml"/>
  <Override PartName="/ppt/charts/chart198.xml" ContentType="application/vnd.openxmlformats-officedocument.drawingml.chart+xml"/>
  <Override PartName="/ppt/charts/chart19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00.xml" ContentType="application/vnd.openxmlformats-officedocument.drawingml.chart+xml"/>
  <Override PartName="/ppt/charts/chart201.xml" ContentType="application/vnd.openxmlformats-officedocument.drawingml.chart+xml"/>
  <Override PartName="/ppt/charts/chart202.xml" ContentType="application/vnd.openxmlformats-officedocument.drawingml.chart+xml"/>
  <Override PartName="/ppt/charts/chart203.xml" ContentType="application/vnd.openxmlformats-officedocument.drawingml.chart+xml"/>
  <Override PartName="/ppt/charts/chart204.xml" ContentType="application/vnd.openxmlformats-officedocument.drawingml.chart+xml"/>
  <Override PartName="/ppt/charts/chart205.xml" ContentType="application/vnd.openxmlformats-officedocument.drawingml.chart+xml"/>
  <Override PartName="/ppt/charts/chart206.xml" ContentType="application/vnd.openxmlformats-officedocument.drawingml.chart+xml"/>
  <Override PartName="/ppt/charts/chart207.xml" ContentType="application/vnd.openxmlformats-officedocument.drawingml.chart+xml"/>
  <Override PartName="/ppt/charts/chart208.xml" ContentType="application/vnd.openxmlformats-officedocument.drawingml.chart+xml"/>
  <Override PartName="/ppt/charts/chart209.xml" ContentType="application/vnd.openxmlformats-officedocument.drawingml.chart+xml"/>
  <Override PartName="/ppt/charts/chart21.xml" ContentType="application/vnd.openxmlformats-officedocument.drawingml.chart+xml"/>
  <Override PartName="/ppt/charts/chart210.xml" ContentType="application/vnd.openxmlformats-officedocument.drawingml.chart+xml"/>
  <Override PartName="/ppt/charts/chart211.xml" ContentType="application/vnd.openxmlformats-officedocument.drawingml.chart+xml"/>
  <Override PartName="/ppt/charts/chart212.xml" ContentType="application/vnd.openxmlformats-officedocument.drawingml.chart+xml"/>
  <Override PartName="/ppt/charts/chart213.xml" ContentType="application/vnd.openxmlformats-officedocument.drawingml.chart+xml"/>
  <Override PartName="/ppt/charts/chart214.xml" ContentType="application/vnd.openxmlformats-officedocument.drawingml.chart+xml"/>
  <Override PartName="/ppt/charts/chart215.xml" ContentType="application/vnd.openxmlformats-officedocument.drawingml.chart+xml"/>
  <Override PartName="/ppt/charts/chart216.xml" ContentType="application/vnd.openxmlformats-officedocument.drawingml.chart+xml"/>
  <Override PartName="/ppt/charts/chart217.xml" ContentType="application/vnd.openxmlformats-officedocument.drawingml.chart+xml"/>
  <Override PartName="/ppt/charts/chart218.xml" ContentType="application/vnd.openxmlformats-officedocument.drawingml.chart+xml"/>
  <Override PartName="/ppt/charts/chart219.xml" ContentType="application/vnd.openxmlformats-officedocument.drawingml.chart+xml"/>
  <Override PartName="/ppt/charts/chart22.xml" ContentType="application/vnd.openxmlformats-officedocument.drawingml.chart+xml"/>
  <Override PartName="/ppt/charts/chart220.xml" ContentType="application/vnd.openxmlformats-officedocument.drawingml.chart+xml"/>
  <Override PartName="/ppt/charts/chart221.xml" ContentType="application/vnd.openxmlformats-officedocument.drawingml.chart+xml"/>
  <Override PartName="/ppt/charts/chart222.xml" ContentType="application/vnd.openxmlformats-officedocument.drawingml.chart+xml"/>
  <Override PartName="/ppt/charts/chart223.xml" ContentType="application/vnd.openxmlformats-officedocument.drawingml.chart+xml"/>
  <Override PartName="/ppt/charts/chart224.xml" ContentType="application/vnd.openxmlformats-officedocument.drawingml.chart+xml"/>
  <Override PartName="/ppt/charts/chart225.xml" ContentType="application/vnd.openxmlformats-officedocument.drawingml.chart+xml"/>
  <Override PartName="/ppt/charts/chart226.xml" ContentType="application/vnd.openxmlformats-officedocument.drawingml.chart+xml"/>
  <Override PartName="/ppt/charts/chart227.xml" ContentType="application/vnd.openxmlformats-officedocument.drawingml.chart+xml"/>
  <Override PartName="/ppt/charts/chart228.xml" ContentType="application/vnd.openxmlformats-officedocument.drawingml.chart+xml"/>
  <Override PartName="/ppt/charts/chart229.xml" ContentType="application/vnd.openxmlformats-officedocument.drawingml.chart+xml"/>
  <Override PartName="/ppt/charts/chart23.xml" ContentType="application/vnd.openxmlformats-officedocument.drawingml.chart+xml"/>
  <Override PartName="/ppt/charts/chart230.xml" ContentType="application/vnd.openxmlformats-officedocument.drawingml.chart+xml"/>
  <Override PartName="/ppt/charts/chart231.xml" ContentType="application/vnd.openxmlformats-officedocument.drawingml.chart+xml"/>
  <Override PartName="/ppt/charts/chart232.xml" ContentType="application/vnd.openxmlformats-officedocument.drawingml.chart+xml"/>
  <Override PartName="/ppt/charts/chart233.xml" ContentType="application/vnd.openxmlformats-officedocument.drawingml.chart+xml"/>
  <Override PartName="/ppt/charts/chart234.xml" ContentType="application/vnd.openxmlformats-officedocument.drawingml.chart+xml"/>
  <Override PartName="/ppt/charts/chart235.xml" ContentType="application/vnd.openxmlformats-officedocument.drawingml.chart+xml"/>
  <Override PartName="/ppt/charts/chart236.xml" ContentType="application/vnd.openxmlformats-officedocument.drawingml.chart+xml"/>
  <Override PartName="/ppt/charts/chart237.xml" ContentType="application/vnd.openxmlformats-officedocument.drawingml.chart+xml"/>
  <Override PartName="/ppt/charts/chart238.xml" ContentType="application/vnd.openxmlformats-officedocument.drawingml.chart+xml"/>
  <Override PartName="/ppt/charts/chart239.xml" ContentType="application/vnd.openxmlformats-officedocument.drawingml.chart+xml"/>
  <Override PartName="/ppt/charts/chart24.xml" ContentType="application/vnd.openxmlformats-officedocument.drawingml.chart+xml"/>
  <Override PartName="/ppt/charts/chart240.xml" ContentType="application/vnd.openxmlformats-officedocument.drawingml.chart+xml"/>
  <Override PartName="/ppt/charts/chart241.xml" ContentType="application/vnd.openxmlformats-officedocument.drawingml.chart+xml"/>
  <Override PartName="/ppt/charts/chart242.xml" ContentType="application/vnd.openxmlformats-officedocument.drawingml.chart+xml"/>
  <Override PartName="/ppt/charts/chart243.xml" ContentType="application/vnd.openxmlformats-officedocument.drawingml.chart+xml"/>
  <Override PartName="/ppt/charts/chart244.xml" ContentType="application/vnd.openxmlformats-officedocument.drawingml.chart+xml"/>
  <Override PartName="/ppt/charts/chart245.xml" ContentType="application/vnd.openxmlformats-officedocument.drawingml.chart+xml"/>
  <Override PartName="/ppt/charts/chart246.xml" ContentType="application/vnd.openxmlformats-officedocument.drawingml.chart+xml"/>
  <Override PartName="/ppt/charts/chart247.xml" ContentType="application/vnd.openxmlformats-officedocument.drawingml.chart+xml"/>
  <Override PartName="/ppt/charts/chart248.xml" ContentType="application/vnd.openxmlformats-officedocument.drawingml.chart+xml"/>
  <Override PartName="/ppt/charts/chart249.xml" ContentType="application/vnd.openxmlformats-officedocument.drawingml.chart+xml"/>
  <Override PartName="/ppt/charts/chart25.xml" ContentType="application/vnd.openxmlformats-officedocument.drawingml.chart+xml"/>
  <Override PartName="/ppt/charts/chart250.xml" ContentType="application/vnd.openxmlformats-officedocument.drawingml.chart+xml"/>
  <Override PartName="/ppt/charts/chart251.xml" ContentType="application/vnd.openxmlformats-officedocument.drawingml.chart+xml"/>
  <Override PartName="/ppt/charts/chart252.xml" ContentType="application/vnd.openxmlformats-officedocument.drawingml.chart+xml"/>
  <Override PartName="/ppt/charts/chart253.xml" ContentType="application/vnd.openxmlformats-officedocument.drawingml.chart+xml"/>
  <Override PartName="/ppt/charts/chart254.xml" ContentType="application/vnd.openxmlformats-officedocument.drawingml.chart+xml"/>
  <Override PartName="/ppt/charts/chart255.xml" ContentType="application/vnd.openxmlformats-officedocument.drawingml.chart+xml"/>
  <Override PartName="/ppt/charts/chart256.xml" ContentType="application/vnd.openxmlformats-officedocument.drawingml.chart+xml"/>
  <Override PartName="/ppt/charts/chart257.xml" ContentType="application/vnd.openxmlformats-officedocument.drawingml.chart+xml"/>
  <Override PartName="/ppt/charts/chart258.xml" ContentType="application/vnd.openxmlformats-officedocument.drawingml.chart+xml"/>
  <Override PartName="/ppt/charts/chart259.xml" ContentType="application/vnd.openxmlformats-officedocument.drawingml.chart+xml"/>
  <Override PartName="/ppt/charts/chart26.xml" ContentType="application/vnd.openxmlformats-officedocument.drawingml.chart+xml"/>
  <Override PartName="/ppt/charts/chart260.xml" ContentType="application/vnd.openxmlformats-officedocument.drawingml.chart+xml"/>
  <Override PartName="/ppt/charts/chart261.xml" ContentType="application/vnd.openxmlformats-officedocument.drawingml.chart+xml"/>
  <Override PartName="/ppt/charts/chart262.xml" ContentType="application/vnd.openxmlformats-officedocument.drawingml.chart+xml"/>
  <Override PartName="/ppt/charts/chart263.xml" ContentType="application/vnd.openxmlformats-officedocument.drawingml.chart+xml"/>
  <Override PartName="/ppt/charts/chart264.xml" ContentType="application/vnd.openxmlformats-officedocument.drawingml.chart+xml"/>
  <Override PartName="/ppt/charts/chart265.xml" ContentType="application/vnd.openxmlformats-officedocument.drawingml.chart+xml"/>
  <Override PartName="/ppt/charts/chart266.xml" ContentType="application/vnd.openxmlformats-officedocument.drawingml.chart+xml"/>
  <Override PartName="/ppt/charts/chart267.xml" ContentType="application/vnd.openxmlformats-officedocument.drawingml.chart+xml"/>
  <Override PartName="/ppt/charts/chart268.xml" ContentType="application/vnd.openxmlformats-officedocument.drawingml.chart+xml"/>
  <Override PartName="/ppt/charts/chart269.xml" ContentType="application/vnd.openxmlformats-officedocument.drawingml.chart+xml"/>
  <Override PartName="/ppt/charts/chart27.xml" ContentType="application/vnd.openxmlformats-officedocument.drawingml.chart+xml"/>
  <Override PartName="/ppt/charts/chart270.xml" ContentType="application/vnd.openxmlformats-officedocument.drawingml.chart+xml"/>
  <Override PartName="/ppt/charts/chart271.xml" ContentType="application/vnd.openxmlformats-officedocument.drawingml.chart+xml"/>
  <Override PartName="/ppt/charts/chart272.xml" ContentType="application/vnd.openxmlformats-officedocument.drawingml.chart+xml"/>
  <Override PartName="/ppt/charts/chart273.xml" ContentType="application/vnd.openxmlformats-officedocument.drawingml.chart+xml"/>
  <Override PartName="/ppt/charts/chart274.xml" ContentType="application/vnd.openxmlformats-officedocument.drawingml.chart+xml"/>
  <Override PartName="/ppt/charts/chart275.xml" ContentType="application/vnd.openxmlformats-officedocument.drawingml.chart+xml"/>
  <Override PartName="/ppt/charts/chart276.xml" ContentType="application/vnd.openxmlformats-officedocument.drawingml.chart+xml"/>
  <Override PartName="/ppt/charts/chart277.xml" ContentType="application/vnd.openxmlformats-officedocument.drawingml.chart+xml"/>
  <Override PartName="/ppt/charts/chart278.xml" ContentType="application/vnd.openxmlformats-officedocument.drawingml.chart+xml"/>
  <Override PartName="/ppt/charts/chart279.xml" ContentType="application/vnd.openxmlformats-officedocument.drawingml.chart+xml"/>
  <Override PartName="/ppt/charts/chart28.xml" ContentType="application/vnd.openxmlformats-officedocument.drawingml.chart+xml"/>
  <Override PartName="/ppt/charts/chart280.xml" ContentType="application/vnd.openxmlformats-officedocument.drawingml.chart+xml"/>
  <Override PartName="/ppt/charts/chart281.xml" ContentType="application/vnd.openxmlformats-officedocument.drawingml.chart+xml"/>
  <Override PartName="/ppt/charts/chart282.xml" ContentType="application/vnd.openxmlformats-officedocument.drawingml.chart+xml"/>
  <Override PartName="/ppt/charts/chart283.xml" ContentType="application/vnd.openxmlformats-officedocument.drawingml.chart+xml"/>
  <Override PartName="/ppt/charts/chart284.xml" ContentType="application/vnd.openxmlformats-officedocument.drawingml.chart+xml"/>
  <Override PartName="/ppt/charts/chart285.xml" ContentType="application/vnd.openxmlformats-officedocument.drawingml.chart+xml"/>
  <Override PartName="/ppt/charts/chart286.xml" ContentType="application/vnd.openxmlformats-officedocument.drawingml.chart+xml"/>
  <Override PartName="/ppt/charts/chart287.xml" ContentType="application/vnd.openxmlformats-officedocument.drawingml.chart+xml"/>
  <Override PartName="/ppt/charts/chart288.xml" ContentType="application/vnd.openxmlformats-officedocument.drawingml.chart+xml"/>
  <Override PartName="/ppt/charts/chart289.xml" ContentType="application/vnd.openxmlformats-officedocument.drawingml.chart+xml"/>
  <Override PartName="/ppt/charts/chart29.xml" ContentType="application/vnd.openxmlformats-officedocument.drawingml.chart+xml"/>
  <Override PartName="/ppt/charts/chart290.xml" ContentType="application/vnd.openxmlformats-officedocument.drawingml.chart+xml"/>
  <Override PartName="/ppt/charts/chart291.xml" ContentType="application/vnd.openxmlformats-officedocument.drawingml.chart+xml"/>
  <Override PartName="/ppt/charts/chart292.xml" ContentType="application/vnd.openxmlformats-officedocument.drawingml.chart+xml"/>
  <Override PartName="/ppt/charts/chart293.xml" ContentType="application/vnd.openxmlformats-officedocument.drawingml.chart+xml"/>
  <Override PartName="/ppt/charts/chart294.xml" ContentType="application/vnd.openxmlformats-officedocument.drawingml.chart+xml"/>
  <Override PartName="/ppt/charts/chart295.xml" ContentType="application/vnd.openxmlformats-officedocument.drawingml.chart+xml"/>
  <Override PartName="/ppt/charts/chart296.xml" ContentType="application/vnd.openxmlformats-officedocument.drawingml.chart+xml"/>
  <Override PartName="/ppt/charts/chart297.xml" ContentType="application/vnd.openxmlformats-officedocument.drawingml.chart+xml"/>
  <Override PartName="/ppt/charts/chart298.xml" ContentType="application/vnd.openxmlformats-officedocument.drawingml.chart+xml"/>
  <Override PartName="/ppt/charts/chart29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00.xml" ContentType="application/vnd.openxmlformats-officedocument.drawingml.chart+xml"/>
  <Override PartName="/ppt/charts/chart301.xml" ContentType="application/vnd.openxmlformats-officedocument.drawingml.chart+xml"/>
  <Override PartName="/ppt/charts/chart302.xml" ContentType="application/vnd.openxmlformats-officedocument.drawingml.chart+xml"/>
  <Override PartName="/ppt/charts/chart303.xml" ContentType="application/vnd.openxmlformats-officedocument.drawingml.chart+xml"/>
  <Override PartName="/ppt/charts/chart304.xml" ContentType="application/vnd.openxmlformats-officedocument.drawingml.chart+xml"/>
  <Override PartName="/ppt/charts/chart305.xml" ContentType="application/vnd.openxmlformats-officedocument.drawingml.chart+xml"/>
  <Override PartName="/ppt/charts/chart306.xml" ContentType="application/vnd.openxmlformats-officedocument.drawingml.chart+xml"/>
  <Override PartName="/ppt/charts/chart307.xml" ContentType="application/vnd.openxmlformats-officedocument.drawingml.chart+xml"/>
  <Override PartName="/ppt/charts/chart308.xml" ContentType="application/vnd.openxmlformats-officedocument.drawingml.chart+xml"/>
  <Override PartName="/ppt/charts/chart309.xml" ContentType="application/vnd.openxmlformats-officedocument.drawingml.chart+xml"/>
  <Override PartName="/ppt/charts/chart31.xml" ContentType="application/vnd.openxmlformats-officedocument.drawingml.chart+xml"/>
  <Override PartName="/ppt/charts/chart310.xml" ContentType="application/vnd.openxmlformats-officedocument.drawingml.chart+xml"/>
  <Override PartName="/ppt/charts/chart311.xml" ContentType="application/vnd.openxmlformats-officedocument.drawingml.chart+xml"/>
  <Override PartName="/ppt/charts/chart312.xml" ContentType="application/vnd.openxmlformats-officedocument.drawingml.chart+xml"/>
  <Override PartName="/ppt/charts/chart313.xml" ContentType="application/vnd.openxmlformats-officedocument.drawingml.chart+xml"/>
  <Override PartName="/ppt/charts/chart314.xml" ContentType="application/vnd.openxmlformats-officedocument.drawingml.chart+xml"/>
  <Override PartName="/ppt/charts/chart315.xml" ContentType="application/vnd.openxmlformats-officedocument.drawingml.chart+xml"/>
  <Override PartName="/ppt/charts/chart316.xml" ContentType="application/vnd.openxmlformats-officedocument.drawingml.chart+xml"/>
  <Override PartName="/ppt/charts/chart317.xml" ContentType="application/vnd.openxmlformats-officedocument.drawingml.chart+xml"/>
  <Override PartName="/ppt/charts/chart318.xml" ContentType="application/vnd.openxmlformats-officedocument.drawingml.chart+xml"/>
  <Override PartName="/ppt/charts/chart319.xml" ContentType="application/vnd.openxmlformats-officedocument.drawingml.chart+xml"/>
  <Override PartName="/ppt/charts/chart32.xml" ContentType="application/vnd.openxmlformats-officedocument.drawingml.chart+xml"/>
  <Override PartName="/ppt/charts/chart320.xml" ContentType="application/vnd.openxmlformats-officedocument.drawingml.chart+xml"/>
  <Override PartName="/ppt/charts/chart321.xml" ContentType="application/vnd.openxmlformats-officedocument.drawingml.chart+xml"/>
  <Override PartName="/ppt/charts/chart322.xml" ContentType="application/vnd.openxmlformats-officedocument.drawingml.chart+xml"/>
  <Override PartName="/ppt/charts/chart323.xml" ContentType="application/vnd.openxmlformats-officedocument.drawingml.chart+xml"/>
  <Override PartName="/ppt/charts/chart324.xml" ContentType="application/vnd.openxmlformats-officedocument.drawingml.chart+xml"/>
  <Override PartName="/ppt/charts/chart325.xml" ContentType="application/vnd.openxmlformats-officedocument.drawingml.chart+xml"/>
  <Override PartName="/ppt/charts/chart326.xml" ContentType="application/vnd.openxmlformats-officedocument.drawingml.chart+xml"/>
  <Override PartName="/ppt/charts/chart327.xml" ContentType="application/vnd.openxmlformats-officedocument.drawingml.chart+xml"/>
  <Override PartName="/ppt/charts/chart328.xml" ContentType="application/vnd.openxmlformats-officedocument.drawingml.chart+xml"/>
  <Override PartName="/ppt/charts/chart329.xml" ContentType="application/vnd.openxmlformats-officedocument.drawingml.chart+xml"/>
  <Override PartName="/ppt/charts/chart33.xml" ContentType="application/vnd.openxmlformats-officedocument.drawingml.chart+xml"/>
  <Override PartName="/ppt/charts/chart330.xml" ContentType="application/vnd.openxmlformats-officedocument.drawingml.chart+xml"/>
  <Override PartName="/ppt/charts/chart331.xml" ContentType="application/vnd.openxmlformats-officedocument.drawingml.chart+xml"/>
  <Override PartName="/ppt/charts/chart332.xml" ContentType="application/vnd.openxmlformats-officedocument.drawingml.chart+xml"/>
  <Override PartName="/ppt/charts/chart333.xml" ContentType="application/vnd.openxmlformats-officedocument.drawingml.chart+xml"/>
  <Override PartName="/ppt/charts/chart334.xml" ContentType="application/vnd.openxmlformats-officedocument.drawingml.chart+xml"/>
  <Override PartName="/ppt/charts/chart335.xml" ContentType="application/vnd.openxmlformats-officedocument.drawingml.chart+xml"/>
  <Override PartName="/ppt/charts/chart336.xml" ContentType="application/vnd.openxmlformats-officedocument.drawingml.chart+xml"/>
  <Override PartName="/ppt/charts/chart337.xml" ContentType="application/vnd.openxmlformats-officedocument.drawingml.chart+xml"/>
  <Override PartName="/ppt/charts/chart338.xml" ContentType="application/vnd.openxmlformats-officedocument.drawingml.chart+xml"/>
  <Override PartName="/ppt/charts/chart339.xml" ContentType="application/vnd.openxmlformats-officedocument.drawingml.chart+xml"/>
  <Override PartName="/ppt/charts/chart34.xml" ContentType="application/vnd.openxmlformats-officedocument.drawingml.chart+xml"/>
  <Override PartName="/ppt/charts/chart340.xml" ContentType="application/vnd.openxmlformats-officedocument.drawingml.chart+xml"/>
  <Override PartName="/ppt/charts/chart341.xml" ContentType="application/vnd.openxmlformats-officedocument.drawingml.chart+xml"/>
  <Override PartName="/ppt/charts/chart342.xml" ContentType="application/vnd.openxmlformats-officedocument.drawingml.chart+xml"/>
  <Override PartName="/ppt/charts/chart343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85.xml" ContentType="application/vnd.openxmlformats-officedocument.drawingml.chart+xml"/>
  <Override PartName="/ppt/charts/chart86.xml" ContentType="application/vnd.openxmlformats-officedocument.drawingml.chart+xml"/>
  <Override PartName="/ppt/charts/chart87.xml" ContentType="application/vnd.openxmlformats-officedocument.drawingml.chart+xml"/>
  <Override PartName="/ppt/charts/chart88.xml" ContentType="application/vnd.openxmlformats-officedocument.drawingml.chart+xml"/>
  <Override PartName="/ppt/charts/chart89.xml" ContentType="application/vnd.openxmlformats-officedocument.drawingml.chart+xml"/>
  <Override PartName="/ppt/charts/chart9.xml" ContentType="application/vnd.openxmlformats-officedocument.drawingml.chart+xml"/>
  <Override PartName="/ppt/charts/chart90.xml" ContentType="application/vnd.openxmlformats-officedocument.drawingml.chart+xml"/>
  <Override PartName="/ppt/charts/chart91.xml" ContentType="application/vnd.openxmlformats-officedocument.drawingml.chart+xml"/>
  <Override PartName="/ppt/charts/chart92.xml" ContentType="application/vnd.openxmlformats-officedocument.drawingml.chart+xml"/>
  <Override PartName="/ppt/charts/chart93.xml" ContentType="application/vnd.openxmlformats-officedocument.drawingml.chart+xml"/>
  <Override PartName="/ppt/charts/chart94.xml" ContentType="application/vnd.openxmlformats-officedocument.drawingml.chart+xml"/>
  <Override PartName="/ppt/charts/chart95.xml" ContentType="application/vnd.openxmlformats-officedocument.drawingml.chart+xml"/>
  <Override PartName="/ppt/charts/chart96.xml" ContentType="application/vnd.openxmlformats-officedocument.drawingml.chart+xml"/>
  <Override PartName="/ppt/charts/chart97.xml" ContentType="application/vnd.openxmlformats-officedocument.drawingml.chart+xml"/>
  <Override PartName="/ppt/charts/chart98.xml" ContentType="application/vnd.openxmlformats-officedocument.drawingml.chart+xml"/>
  <Override PartName="/ppt/charts/chart99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notesSlides/notesSlide226.xml" ContentType="application/vnd.openxmlformats-officedocument.presentationml.notesSlide+xml"/>
  <Override PartName="/ppt/notesSlides/notesSlide227.xml" ContentType="application/vnd.openxmlformats-officedocument.presentationml.notesSlide+xml"/>
  <Override PartName="/ppt/notesSlides/notesSlide228.xml" ContentType="application/vnd.openxmlformats-officedocument.presentationml.notesSlide+xml"/>
  <Override PartName="/ppt/notesSlides/notesSlide229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30.xml" ContentType="application/vnd.openxmlformats-officedocument.presentationml.notesSlide+xml"/>
  <Override PartName="/ppt/notesSlides/notesSlide231.xml" ContentType="application/vnd.openxmlformats-officedocument.presentationml.notesSlide+xml"/>
  <Override PartName="/ppt/notesSlides/notesSlide232.xml" ContentType="application/vnd.openxmlformats-officedocument.presentationml.notesSlide+xml"/>
  <Override PartName="/ppt/notesSlides/notesSlide233.xml" ContentType="application/vnd.openxmlformats-officedocument.presentationml.notesSlide+xml"/>
  <Override PartName="/ppt/notesSlides/notesSlide234.xml" ContentType="application/vnd.openxmlformats-officedocument.presentationml.notesSlide+xml"/>
  <Override PartName="/ppt/notesSlides/notesSlide235.xml" ContentType="application/vnd.openxmlformats-officedocument.presentationml.notesSlide+xml"/>
  <Override PartName="/ppt/notesSlides/notesSlide236.xml" ContentType="application/vnd.openxmlformats-officedocument.presentationml.notesSlide+xml"/>
  <Override PartName="/ppt/notesSlides/notesSlide237.xml" ContentType="application/vnd.openxmlformats-officedocument.presentationml.notesSlide+xml"/>
  <Override PartName="/ppt/notesSlides/notesSlide238.xml" ContentType="application/vnd.openxmlformats-officedocument.presentationml.notesSlide+xml"/>
  <Override PartName="/ppt/notesSlides/notesSlide239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40.xml" ContentType="application/vnd.openxmlformats-officedocument.presentationml.notesSlide+xml"/>
  <Override PartName="/ppt/notesSlides/notesSlide241.xml" ContentType="application/vnd.openxmlformats-officedocument.presentationml.notesSlide+xml"/>
  <Override PartName="/ppt/notesSlides/notesSlide242.xml" ContentType="application/vnd.openxmlformats-officedocument.presentationml.notesSlide+xml"/>
  <Override PartName="/ppt/notesSlides/notesSlide243.xml" ContentType="application/vnd.openxmlformats-officedocument.presentationml.notesSlide+xml"/>
  <Override PartName="/ppt/notesSlides/notesSlide244.xml" ContentType="application/vnd.openxmlformats-officedocument.presentationml.notesSlide+xml"/>
  <Override PartName="/ppt/notesSlides/notesSlide245.xml" ContentType="application/vnd.openxmlformats-officedocument.presentationml.notesSlide+xml"/>
  <Override PartName="/ppt/notesSlides/notesSlide246.xml" ContentType="application/vnd.openxmlformats-officedocument.presentationml.notesSlide+xml"/>
  <Override PartName="/ppt/notesSlides/notesSlide247.xml" ContentType="application/vnd.openxmlformats-officedocument.presentationml.notesSlide+xml"/>
  <Override PartName="/ppt/notesSlides/notesSlide248.xml" ContentType="application/vnd.openxmlformats-officedocument.presentationml.notesSlide+xml"/>
  <Override PartName="/ppt/notesSlides/notesSlide249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50.xml" ContentType="application/vnd.openxmlformats-officedocument.presentationml.notesSlide+xml"/>
  <Override PartName="/ppt/notesSlides/notesSlide251.xml" ContentType="application/vnd.openxmlformats-officedocument.presentationml.notesSlide+xml"/>
  <Override PartName="/ppt/notesSlides/notesSlide252.xml" ContentType="application/vnd.openxmlformats-officedocument.presentationml.notesSlide+xml"/>
  <Override PartName="/ppt/notesSlides/notesSlide253.xml" ContentType="application/vnd.openxmlformats-officedocument.presentationml.notesSlide+xml"/>
  <Override PartName="/ppt/notesSlides/notesSlide254.xml" ContentType="application/vnd.openxmlformats-officedocument.presentationml.notesSlide+xml"/>
  <Override PartName="/ppt/notesSlides/notesSlide255.xml" ContentType="application/vnd.openxmlformats-officedocument.presentationml.notesSlide+xml"/>
  <Override PartName="/ppt/notesSlides/notesSlide256.xml" ContentType="application/vnd.openxmlformats-officedocument.presentationml.notesSlide+xml"/>
  <Override PartName="/ppt/notesSlides/notesSlide257.xml" ContentType="application/vnd.openxmlformats-officedocument.presentationml.notesSlide+xml"/>
  <Override PartName="/ppt/notesSlides/notesSlide258.xml" ContentType="application/vnd.openxmlformats-officedocument.presentationml.notesSlide+xml"/>
  <Override PartName="/ppt/notesSlides/notesSlide259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60.xml" ContentType="application/vnd.openxmlformats-officedocument.presentationml.notesSlide+xml"/>
  <Override PartName="/ppt/notesSlides/notesSlide261.xml" ContentType="application/vnd.openxmlformats-officedocument.presentationml.notesSlide+xml"/>
  <Override PartName="/ppt/notesSlides/notesSlide262.xml" ContentType="application/vnd.openxmlformats-officedocument.presentationml.notesSlide+xml"/>
  <Override PartName="/ppt/notesSlides/notesSlide263.xml" ContentType="application/vnd.openxmlformats-officedocument.presentationml.notesSlide+xml"/>
  <Override PartName="/ppt/notesSlides/notesSlide264.xml" ContentType="application/vnd.openxmlformats-officedocument.presentationml.notesSlide+xml"/>
  <Override PartName="/ppt/notesSlides/notesSlide265.xml" ContentType="application/vnd.openxmlformats-officedocument.presentationml.notesSlide+xml"/>
  <Override PartName="/ppt/notesSlides/notesSlide266.xml" ContentType="application/vnd.openxmlformats-officedocument.presentationml.notesSlide+xml"/>
  <Override PartName="/ppt/notesSlides/notesSlide267.xml" ContentType="application/vnd.openxmlformats-officedocument.presentationml.notesSlide+xml"/>
  <Override PartName="/ppt/notesSlides/notesSlide268.xml" ContentType="application/vnd.openxmlformats-officedocument.presentationml.notesSlide+xml"/>
  <Override PartName="/ppt/notesSlides/notesSlide269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70.xml" ContentType="application/vnd.openxmlformats-officedocument.presentationml.notesSlide+xml"/>
  <Override PartName="/ppt/notesSlides/notesSlide271.xml" ContentType="application/vnd.openxmlformats-officedocument.presentationml.notesSlide+xml"/>
  <Override PartName="/ppt/notesSlides/notesSlide272.xml" ContentType="application/vnd.openxmlformats-officedocument.presentationml.notesSlide+xml"/>
  <Override PartName="/ppt/notesSlides/notesSlide273.xml" ContentType="application/vnd.openxmlformats-officedocument.presentationml.notesSlide+xml"/>
  <Override PartName="/ppt/notesSlides/notesSlide274.xml" ContentType="application/vnd.openxmlformats-officedocument.presentationml.notesSlide+xml"/>
  <Override PartName="/ppt/notesSlides/notesSlide275.xml" ContentType="application/vnd.openxmlformats-officedocument.presentationml.notesSlide+xml"/>
  <Override PartName="/ppt/notesSlides/notesSlide276.xml" ContentType="application/vnd.openxmlformats-officedocument.presentationml.notesSlide+xml"/>
  <Override PartName="/ppt/notesSlides/notesSlide277.xml" ContentType="application/vnd.openxmlformats-officedocument.presentationml.notesSlide+xml"/>
  <Override PartName="/ppt/notesSlides/notesSlide278.xml" ContentType="application/vnd.openxmlformats-officedocument.presentationml.notesSlide+xml"/>
  <Override PartName="/ppt/notesSlides/notesSlide279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80.xml" ContentType="application/vnd.openxmlformats-officedocument.presentationml.notesSlide+xml"/>
  <Override PartName="/ppt/notesSlides/notesSlide281.xml" ContentType="application/vnd.openxmlformats-officedocument.presentationml.notesSlide+xml"/>
  <Override PartName="/ppt/notesSlides/notesSlide282.xml" ContentType="application/vnd.openxmlformats-officedocument.presentationml.notesSlide+xml"/>
  <Override PartName="/ppt/notesSlides/notesSlide283.xml" ContentType="application/vnd.openxmlformats-officedocument.presentationml.notesSlide+xml"/>
  <Override PartName="/ppt/notesSlides/notesSlide284.xml" ContentType="application/vnd.openxmlformats-officedocument.presentationml.notesSlide+xml"/>
  <Override PartName="/ppt/notesSlides/notesSlide285.xml" ContentType="application/vnd.openxmlformats-officedocument.presentationml.notesSlide+xml"/>
  <Override PartName="/ppt/notesSlides/notesSlide286.xml" ContentType="application/vnd.openxmlformats-officedocument.presentationml.notesSlide+xml"/>
  <Override PartName="/ppt/notesSlides/notesSlide287.xml" ContentType="application/vnd.openxmlformats-officedocument.presentationml.notesSlide+xml"/>
  <Override PartName="/ppt/notesSlides/notesSlide288.xml" ContentType="application/vnd.openxmlformats-officedocument.presentationml.notesSlide+xml"/>
  <Override PartName="/ppt/notesSlides/notesSlide289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290.xml" ContentType="application/vnd.openxmlformats-officedocument.presentationml.notesSlide+xml"/>
  <Override PartName="/ppt/notesSlides/notesSlide291.xml" ContentType="application/vnd.openxmlformats-officedocument.presentationml.notesSlide+xml"/>
  <Override PartName="/ppt/notesSlides/notesSlide292.xml" ContentType="application/vnd.openxmlformats-officedocument.presentationml.notesSlide+xml"/>
  <Override PartName="/ppt/notesSlides/notesSlide293.xml" ContentType="application/vnd.openxmlformats-officedocument.presentationml.notesSlide+xml"/>
  <Override PartName="/ppt/notesSlides/notesSlide294.xml" ContentType="application/vnd.openxmlformats-officedocument.presentationml.notesSlide+xml"/>
  <Override PartName="/ppt/notesSlides/notesSlide295.xml" ContentType="application/vnd.openxmlformats-officedocument.presentationml.notesSlide+xml"/>
  <Override PartName="/ppt/notesSlides/notesSlide296.xml" ContentType="application/vnd.openxmlformats-officedocument.presentationml.notesSlide+xml"/>
  <Override PartName="/ppt/notesSlides/notesSlide297.xml" ContentType="application/vnd.openxmlformats-officedocument.presentationml.notesSlide+xml"/>
  <Override PartName="/ppt/notesSlides/notesSlide298.xml" ContentType="application/vnd.openxmlformats-officedocument.presentationml.notesSlide+xml"/>
  <Override PartName="/ppt/notesSlides/notesSlide29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00.xml" ContentType="application/vnd.openxmlformats-officedocument.presentationml.notesSlide+xml"/>
  <Override PartName="/ppt/notesSlides/notesSlide301.xml" ContentType="application/vnd.openxmlformats-officedocument.presentationml.notesSlide+xml"/>
  <Override PartName="/ppt/notesSlides/notesSlide302.xml" ContentType="application/vnd.openxmlformats-officedocument.presentationml.notesSlide+xml"/>
  <Override PartName="/ppt/notesSlides/notesSlide303.xml" ContentType="application/vnd.openxmlformats-officedocument.presentationml.notesSlide+xml"/>
  <Override PartName="/ppt/notesSlides/notesSlide304.xml" ContentType="application/vnd.openxmlformats-officedocument.presentationml.notesSlide+xml"/>
  <Override PartName="/ppt/notesSlides/notesSlide305.xml" ContentType="application/vnd.openxmlformats-officedocument.presentationml.notesSlide+xml"/>
  <Override PartName="/ppt/notesSlides/notesSlide306.xml" ContentType="application/vnd.openxmlformats-officedocument.presentationml.notesSlide+xml"/>
  <Override PartName="/ppt/notesSlides/notesSlide307.xml" ContentType="application/vnd.openxmlformats-officedocument.presentationml.notesSlide+xml"/>
  <Override PartName="/ppt/notesSlides/notesSlide308.xml" ContentType="application/vnd.openxmlformats-officedocument.presentationml.notesSlide+xml"/>
  <Override PartName="/ppt/notesSlides/notesSlide309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10.xml" ContentType="application/vnd.openxmlformats-officedocument.presentationml.notesSlide+xml"/>
  <Override PartName="/ppt/notesSlides/notesSlide311.xml" ContentType="application/vnd.openxmlformats-officedocument.presentationml.notesSlide+xml"/>
  <Override PartName="/ppt/notesSlides/notesSlide312.xml" ContentType="application/vnd.openxmlformats-officedocument.presentationml.notesSlide+xml"/>
  <Override PartName="/ppt/notesSlides/notesSlide313.xml" ContentType="application/vnd.openxmlformats-officedocument.presentationml.notesSlide+xml"/>
  <Override PartName="/ppt/notesSlides/notesSlide314.xml" ContentType="application/vnd.openxmlformats-officedocument.presentationml.notesSlide+xml"/>
  <Override PartName="/ppt/notesSlides/notesSlide315.xml" ContentType="application/vnd.openxmlformats-officedocument.presentationml.notesSlide+xml"/>
  <Override PartName="/ppt/notesSlides/notesSlide316.xml" ContentType="application/vnd.openxmlformats-officedocument.presentationml.notesSlide+xml"/>
  <Override PartName="/ppt/notesSlides/notesSlide317.xml" ContentType="application/vnd.openxmlformats-officedocument.presentationml.notesSlide+xml"/>
  <Override PartName="/ppt/notesSlides/notesSlide318.xml" ContentType="application/vnd.openxmlformats-officedocument.presentationml.notesSlide+xml"/>
  <Override PartName="/ppt/notesSlides/notesSlide319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20.xml" ContentType="application/vnd.openxmlformats-officedocument.presentationml.notesSlide+xml"/>
  <Override PartName="/ppt/notesSlides/notesSlide321.xml" ContentType="application/vnd.openxmlformats-officedocument.presentationml.notesSlide+xml"/>
  <Override PartName="/ppt/notesSlides/notesSlide322.xml" ContentType="application/vnd.openxmlformats-officedocument.presentationml.notesSlide+xml"/>
  <Override PartName="/ppt/notesSlides/notesSlide323.xml" ContentType="application/vnd.openxmlformats-officedocument.presentationml.notesSlide+xml"/>
  <Override PartName="/ppt/notesSlides/notesSlide324.xml" ContentType="application/vnd.openxmlformats-officedocument.presentationml.notesSlide+xml"/>
  <Override PartName="/ppt/notesSlides/notesSlide325.xml" ContentType="application/vnd.openxmlformats-officedocument.presentationml.notesSlide+xml"/>
  <Override PartName="/ppt/notesSlides/notesSlide326.xml" ContentType="application/vnd.openxmlformats-officedocument.presentationml.notesSlide+xml"/>
  <Override PartName="/ppt/notesSlides/notesSlide327.xml" ContentType="application/vnd.openxmlformats-officedocument.presentationml.notesSlide+xml"/>
  <Override PartName="/ppt/notesSlides/notesSlide328.xml" ContentType="application/vnd.openxmlformats-officedocument.presentationml.notesSlide+xml"/>
  <Override PartName="/ppt/notesSlides/notesSlide329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30.xml" ContentType="application/vnd.openxmlformats-officedocument.presentationml.notesSlide+xml"/>
  <Override PartName="/ppt/notesSlides/notesSlide331.xml" ContentType="application/vnd.openxmlformats-officedocument.presentationml.notesSlide+xml"/>
  <Override PartName="/ppt/notesSlides/notesSlide332.xml" ContentType="application/vnd.openxmlformats-officedocument.presentationml.notesSlide+xml"/>
  <Override PartName="/ppt/notesSlides/notesSlide333.xml" ContentType="application/vnd.openxmlformats-officedocument.presentationml.notesSlide+xml"/>
  <Override PartName="/ppt/notesSlides/notesSlide334.xml" ContentType="application/vnd.openxmlformats-officedocument.presentationml.notesSlide+xml"/>
  <Override PartName="/ppt/notesSlides/notesSlide335.xml" ContentType="application/vnd.openxmlformats-officedocument.presentationml.notesSlide+xml"/>
  <Override PartName="/ppt/notesSlides/notesSlide336.xml" ContentType="application/vnd.openxmlformats-officedocument.presentationml.notesSlide+xml"/>
  <Override PartName="/ppt/notesSlides/notesSlide337.xml" ContentType="application/vnd.openxmlformats-officedocument.presentationml.notesSlide+xml"/>
  <Override PartName="/ppt/notesSlides/notesSlide338.xml" ContentType="application/vnd.openxmlformats-officedocument.presentationml.notesSlide+xml"/>
  <Override PartName="/ppt/notesSlides/notesSlide339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40.xml" ContentType="application/vnd.openxmlformats-officedocument.presentationml.notesSlide+xml"/>
  <Override PartName="/ppt/notesSlides/notesSlide341.xml" ContentType="application/vnd.openxmlformats-officedocument.presentationml.notesSlide+xml"/>
  <Override PartName="/ppt/notesSlides/notesSlide342.xml" ContentType="application/vnd.openxmlformats-officedocument.presentationml.notesSlide+xml"/>
  <Override PartName="/ppt/notesSlides/notesSlide343.xml" ContentType="application/vnd.openxmlformats-officedocument.presentationml.notesSlide+xml"/>
  <Override PartName="/ppt/notesSlides/notesSlide344.xml" ContentType="application/vnd.openxmlformats-officedocument.presentationml.notesSlide+xml"/>
  <Override PartName="/ppt/notesSlides/notesSlide345.xml" ContentType="application/vnd.openxmlformats-officedocument.presentationml.notesSlide+xml"/>
  <Override PartName="/ppt/notesSlides/notesSlide346.xml" ContentType="application/vnd.openxmlformats-officedocument.presentationml.notesSlide+xml"/>
  <Override PartName="/ppt/notesSlides/notesSlide347.xml" ContentType="application/vnd.openxmlformats-officedocument.presentationml.notesSlide+xml"/>
  <Override PartName="/ppt/notesSlides/notesSlide348.xml" ContentType="application/vnd.openxmlformats-officedocument.presentationml.notesSlide+xml"/>
  <Override PartName="/ppt/notesSlides/notesSlide349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50.xml" ContentType="application/vnd.openxmlformats-officedocument.presentationml.notesSlide+xml"/>
  <Override PartName="/ppt/notesSlides/notesSlide351.xml" ContentType="application/vnd.openxmlformats-officedocument.presentationml.notesSlide+xml"/>
  <Override PartName="/ppt/notesSlides/notesSlide352.xml" ContentType="application/vnd.openxmlformats-officedocument.presentationml.notesSlide+xml"/>
  <Override PartName="/ppt/notesSlides/notesSlide353.xml" ContentType="application/vnd.openxmlformats-officedocument.presentationml.notesSlide+xml"/>
  <Override PartName="/ppt/notesSlides/notesSlide354.xml" ContentType="application/vnd.openxmlformats-officedocument.presentationml.notesSlide+xml"/>
  <Override PartName="/ppt/notesSlides/notesSlide355.xml" ContentType="application/vnd.openxmlformats-officedocument.presentationml.notesSlide+xml"/>
  <Override PartName="/ppt/notesSlides/notesSlide356.xml" ContentType="application/vnd.openxmlformats-officedocument.presentationml.notesSlide+xml"/>
  <Override PartName="/ppt/notesSlides/notesSlide357.xml" ContentType="application/vnd.openxmlformats-officedocument.presentationml.notesSlide+xml"/>
  <Override PartName="/ppt/notesSlides/notesSlide358.xml" ContentType="application/vnd.openxmlformats-officedocument.presentationml.notesSlide+xml"/>
  <Override PartName="/ppt/notesSlides/notesSlide359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60.xml" ContentType="application/vnd.openxmlformats-officedocument.presentationml.notesSlide+xml"/>
  <Override PartName="/ppt/notesSlides/notesSlide361.xml" ContentType="application/vnd.openxmlformats-officedocument.presentationml.notesSlide+xml"/>
  <Override PartName="/ppt/notesSlides/notesSlide362.xml" ContentType="application/vnd.openxmlformats-officedocument.presentationml.notesSlide+xml"/>
  <Override PartName="/ppt/notesSlides/notesSlide363.xml" ContentType="application/vnd.openxmlformats-officedocument.presentationml.notesSlide+xml"/>
  <Override PartName="/ppt/notesSlides/notesSlide364.xml" ContentType="application/vnd.openxmlformats-officedocument.presentationml.notesSlide+xml"/>
  <Override PartName="/ppt/notesSlides/notesSlide365.xml" ContentType="application/vnd.openxmlformats-officedocument.presentationml.notesSlide+xml"/>
  <Override PartName="/ppt/notesSlides/notesSlide366.xml" ContentType="application/vnd.openxmlformats-officedocument.presentationml.notesSlide+xml"/>
  <Override PartName="/ppt/notesSlides/notesSlide367.xml" ContentType="application/vnd.openxmlformats-officedocument.presentationml.notesSlide+xml"/>
  <Override PartName="/ppt/notesSlides/notesSlide368.xml" ContentType="application/vnd.openxmlformats-officedocument.presentationml.notesSlide+xml"/>
  <Override PartName="/ppt/notesSlides/notesSlide369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70.xml" ContentType="application/vnd.openxmlformats-officedocument.presentationml.notesSlide+xml"/>
  <Override PartName="/ppt/notesSlides/notesSlide371.xml" ContentType="application/vnd.openxmlformats-officedocument.presentationml.notesSlide+xml"/>
  <Override PartName="/ppt/notesSlides/notesSlide372.xml" ContentType="application/vnd.openxmlformats-officedocument.presentationml.notesSlide+xml"/>
  <Override PartName="/ppt/notesSlides/notesSlide373.xml" ContentType="application/vnd.openxmlformats-officedocument.presentationml.notesSlide+xml"/>
  <Override PartName="/ppt/notesSlides/notesSlide374.xml" ContentType="application/vnd.openxmlformats-officedocument.presentationml.notesSlide+xml"/>
  <Override PartName="/ppt/notesSlides/notesSlide375.xml" ContentType="application/vnd.openxmlformats-officedocument.presentationml.notesSlide+xml"/>
  <Override PartName="/ppt/notesSlides/notesSlide376.xml" ContentType="application/vnd.openxmlformats-officedocument.presentationml.notesSlide+xml"/>
  <Override PartName="/ppt/notesSlides/notesSlide377.xml" ContentType="application/vnd.openxmlformats-officedocument.presentationml.notesSlide+xml"/>
  <Override PartName="/ppt/notesSlides/notesSlide378.xml" ContentType="application/vnd.openxmlformats-officedocument.presentationml.notesSlide+xml"/>
  <Override PartName="/ppt/notesSlides/notesSlide379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80.xml" ContentType="application/vnd.openxmlformats-officedocument.presentationml.notesSlide+xml"/>
  <Override PartName="/ppt/notesSlides/notesSlide381.xml" ContentType="application/vnd.openxmlformats-officedocument.presentationml.notesSlide+xml"/>
  <Override PartName="/ppt/notesSlides/notesSlide382.xml" ContentType="application/vnd.openxmlformats-officedocument.presentationml.notesSlide+xml"/>
  <Override PartName="/ppt/notesSlides/notesSlide383.xml" ContentType="application/vnd.openxmlformats-officedocument.presentationml.notesSlide+xml"/>
  <Override PartName="/ppt/notesSlides/notesSlide384.xml" ContentType="application/vnd.openxmlformats-officedocument.presentationml.notesSlide+xml"/>
  <Override PartName="/ppt/notesSlides/notesSlide385.xml" ContentType="application/vnd.openxmlformats-officedocument.presentationml.notesSlide+xml"/>
  <Override PartName="/ppt/notesSlides/notesSlide386.xml" ContentType="application/vnd.openxmlformats-officedocument.presentationml.notesSlide+xml"/>
  <Override PartName="/ppt/notesSlides/notesSlide387.xml" ContentType="application/vnd.openxmlformats-officedocument.presentationml.notesSlide+xml"/>
  <Override PartName="/ppt/notesSlides/notesSlide388.xml" ContentType="application/vnd.openxmlformats-officedocument.presentationml.notesSlide+xml"/>
  <Override PartName="/ppt/notesSlides/notesSlide389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390.xml" ContentType="application/vnd.openxmlformats-officedocument.presentationml.notesSlide+xml"/>
  <Override PartName="/ppt/notesSlides/notesSlide391.xml" ContentType="application/vnd.openxmlformats-officedocument.presentationml.notesSlide+xml"/>
  <Override PartName="/ppt/notesSlides/notesSlide392.xml" ContentType="application/vnd.openxmlformats-officedocument.presentationml.notesSlide+xml"/>
  <Override PartName="/ppt/notesSlides/notesSlide393.xml" ContentType="application/vnd.openxmlformats-officedocument.presentationml.notesSlide+xml"/>
  <Override PartName="/ppt/notesSlides/notesSlide394.xml" ContentType="application/vnd.openxmlformats-officedocument.presentationml.notesSlide+xml"/>
  <Override PartName="/ppt/notesSlides/notesSlide395.xml" ContentType="application/vnd.openxmlformats-officedocument.presentationml.notesSlide+xml"/>
  <Override PartName="/ppt/notesSlides/notesSlide396.xml" ContentType="application/vnd.openxmlformats-officedocument.presentationml.notesSlide+xml"/>
  <Override PartName="/ppt/notesSlides/notesSlide397.xml" ContentType="application/vnd.openxmlformats-officedocument.presentationml.notesSlide+xml"/>
  <Override PartName="/ppt/notesSlides/notesSlide398.xml" ContentType="application/vnd.openxmlformats-officedocument.presentationml.notesSlide+xml"/>
  <Override PartName="/ppt/notesSlides/notesSlide39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00.xml" ContentType="application/vnd.openxmlformats-officedocument.presentationml.notesSlide+xml"/>
  <Override PartName="/ppt/notesSlides/notesSlide401.xml" ContentType="application/vnd.openxmlformats-officedocument.presentationml.notesSlide+xml"/>
  <Override PartName="/ppt/notesSlides/notesSlide402.xml" ContentType="application/vnd.openxmlformats-officedocument.presentationml.notesSlide+xml"/>
  <Override PartName="/ppt/notesSlides/notesSlide403.xml" ContentType="application/vnd.openxmlformats-officedocument.presentationml.notesSlide+xml"/>
  <Override PartName="/ppt/notesSlides/notesSlide404.xml" ContentType="application/vnd.openxmlformats-officedocument.presentationml.notesSlide+xml"/>
  <Override PartName="/ppt/notesSlides/notesSlide405.xml" ContentType="application/vnd.openxmlformats-officedocument.presentationml.notesSlide+xml"/>
  <Override PartName="/ppt/notesSlides/notesSlide406.xml" ContentType="application/vnd.openxmlformats-officedocument.presentationml.notesSlide+xml"/>
  <Override PartName="/ppt/notesSlides/notesSlide407.xml" ContentType="application/vnd.openxmlformats-officedocument.presentationml.notesSlide+xml"/>
  <Override PartName="/ppt/notesSlides/notesSlide408.xml" ContentType="application/vnd.openxmlformats-officedocument.presentationml.notesSlide+xml"/>
  <Override PartName="/ppt/notesSlides/notesSlide409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10.xml" ContentType="application/vnd.openxmlformats-officedocument.presentationml.notesSlide+xml"/>
  <Override PartName="/ppt/notesSlides/notesSlide411.xml" ContentType="application/vnd.openxmlformats-officedocument.presentationml.notesSlide+xml"/>
  <Override PartName="/ppt/notesSlides/notesSlide412.xml" ContentType="application/vnd.openxmlformats-officedocument.presentationml.notesSlide+xml"/>
  <Override PartName="/ppt/notesSlides/notesSlide413.xml" ContentType="application/vnd.openxmlformats-officedocument.presentationml.notesSlide+xml"/>
  <Override PartName="/ppt/notesSlides/notesSlide414.xml" ContentType="application/vnd.openxmlformats-officedocument.presentationml.notesSlide+xml"/>
  <Override PartName="/ppt/notesSlides/notesSlide415.xml" ContentType="application/vnd.openxmlformats-officedocument.presentationml.notesSlide+xml"/>
  <Override PartName="/ppt/notesSlides/notesSlide416.xml" ContentType="application/vnd.openxmlformats-officedocument.presentationml.notesSlide+xml"/>
  <Override PartName="/ppt/notesSlides/notesSlide417.xml" ContentType="application/vnd.openxmlformats-officedocument.presentationml.notesSlide+xml"/>
  <Override PartName="/ppt/notesSlides/notesSlide418.xml" ContentType="application/vnd.openxmlformats-officedocument.presentationml.notesSlide+xml"/>
  <Override PartName="/ppt/notesSlides/notesSlide419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20.xml" ContentType="application/vnd.openxmlformats-officedocument.presentationml.notesSlide+xml"/>
  <Override PartName="/ppt/notesSlides/notesSlide421.xml" ContentType="application/vnd.openxmlformats-officedocument.presentationml.notesSlide+xml"/>
  <Override PartName="/ppt/notesSlides/notesSlide422.xml" ContentType="application/vnd.openxmlformats-officedocument.presentationml.notesSlide+xml"/>
  <Override PartName="/ppt/notesSlides/notesSlide423.xml" ContentType="application/vnd.openxmlformats-officedocument.presentationml.notesSlide+xml"/>
  <Override PartName="/ppt/notesSlides/notesSlide424.xml" ContentType="application/vnd.openxmlformats-officedocument.presentationml.notesSlide+xml"/>
  <Override PartName="/ppt/notesSlides/notesSlide425.xml" ContentType="application/vnd.openxmlformats-officedocument.presentationml.notesSlide+xml"/>
  <Override PartName="/ppt/notesSlides/notesSlide426.xml" ContentType="application/vnd.openxmlformats-officedocument.presentationml.notesSlide+xml"/>
  <Override PartName="/ppt/notesSlides/notesSlide427.xml" ContentType="application/vnd.openxmlformats-officedocument.presentationml.notesSlide+xml"/>
  <Override PartName="/ppt/notesSlides/notesSlide428.xml" ContentType="application/vnd.openxmlformats-officedocument.presentationml.notesSlide+xml"/>
  <Override PartName="/ppt/notesSlides/notesSlide429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30.xml" ContentType="application/vnd.openxmlformats-officedocument.presentationml.notesSlide+xml"/>
  <Override PartName="/ppt/notesSlides/notesSlide431.xml" ContentType="application/vnd.openxmlformats-officedocument.presentationml.notesSlide+xml"/>
  <Override PartName="/ppt/notesSlides/notesSlide432.xml" ContentType="application/vnd.openxmlformats-officedocument.presentationml.notesSlide+xml"/>
  <Override PartName="/ppt/notesSlides/notesSlide433.xml" ContentType="application/vnd.openxmlformats-officedocument.presentationml.notesSlide+xml"/>
  <Override PartName="/ppt/notesSlides/notesSlide434.xml" ContentType="application/vnd.openxmlformats-officedocument.presentationml.notesSlide+xml"/>
  <Override PartName="/ppt/notesSlides/notesSlide435.xml" ContentType="application/vnd.openxmlformats-officedocument.presentationml.notesSlide+xml"/>
  <Override PartName="/ppt/notesSlides/notesSlide436.xml" ContentType="application/vnd.openxmlformats-officedocument.presentationml.notesSlide+xml"/>
  <Override PartName="/ppt/notesSlides/notesSlide437.xml" ContentType="application/vnd.openxmlformats-officedocument.presentationml.notesSlide+xml"/>
  <Override PartName="/ppt/notesSlides/notesSlide438.xml" ContentType="application/vnd.openxmlformats-officedocument.presentationml.notesSlide+xml"/>
  <Override PartName="/ppt/notesSlides/notesSlide439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40.xml" ContentType="application/vnd.openxmlformats-officedocument.presentationml.notesSlide+xml"/>
  <Override PartName="/ppt/notesSlides/notesSlide441.xml" ContentType="application/vnd.openxmlformats-officedocument.presentationml.notesSlide+xml"/>
  <Override PartName="/ppt/notesSlides/notesSlide442.xml" ContentType="application/vnd.openxmlformats-officedocument.presentationml.notesSlide+xml"/>
  <Override PartName="/ppt/notesSlides/notesSlide443.xml" ContentType="application/vnd.openxmlformats-officedocument.presentationml.notesSlide+xml"/>
  <Override PartName="/ppt/notesSlides/notesSlide444.xml" ContentType="application/vnd.openxmlformats-officedocument.presentationml.notesSlide+xml"/>
  <Override PartName="/ppt/notesSlides/notesSlide445.xml" ContentType="application/vnd.openxmlformats-officedocument.presentationml.notesSlide+xml"/>
  <Override PartName="/ppt/notesSlides/notesSlide446.xml" ContentType="application/vnd.openxmlformats-officedocument.presentationml.notesSlide+xml"/>
  <Override PartName="/ppt/notesSlides/notesSlide447.xml" ContentType="application/vnd.openxmlformats-officedocument.presentationml.notesSlide+xml"/>
  <Override PartName="/ppt/notesSlides/notesSlide448.xml" ContentType="application/vnd.openxmlformats-officedocument.presentationml.notesSlide+xml"/>
  <Override PartName="/ppt/notesSlides/notesSlide449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50.xml" ContentType="application/vnd.openxmlformats-officedocument.presentationml.notesSlide+xml"/>
  <Override PartName="/ppt/notesSlides/notesSlide451.xml" ContentType="application/vnd.openxmlformats-officedocument.presentationml.notesSlide+xml"/>
  <Override PartName="/ppt/notesSlides/notesSlide452.xml" ContentType="application/vnd.openxmlformats-officedocument.presentationml.notesSlide+xml"/>
  <Override PartName="/ppt/notesSlides/notesSlide453.xml" ContentType="application/vnd.openxmlformats-officedocument.presentationml.notesSlide+xml"/>
  <Override PartName="/ppt/notesSlides/notesSlide454.xml" ContentType="application/vnd.openxmlformats-officedocument.presentationml.notesSlide+xml"/>
  <Override PartName="/ppt/notesSlides/notesSlide455.xml" ContentType="application/vnd.openxmlformats-officedocument.presentationml.notesSlide+xml"/>
  <Override PartName="/ppt/notesSlides/notesSlide456.xml" ContentType="application/vnd.openxmlformats-officedocument.presentationml.notesSlide+xml"/>
  <Override PartName="/ppt/notesSlides/notesSlide457.xml" ContentType="application/vnd.openxmlformats-officedocument.presentationml.notesSlide+xml"/>
  <Override PartName="/ppt/notesSlides/notesSlide458.xml" ContentType="application/vnd.openxmlformats-officedocument.presentationml.notesSlide+xml"/>
  <Override PartName="/ppt/notesSlides/notesSlide459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60.xml" ContentType="application/vnd.openxmlformats-officedocument.presentationml.notesSlide+xml"/>
  <Override PartName="/ppt/notesSlides/notesSlide461.xml" ContentType="application/vnd.openxmlformats-officedocument.presentationml.notesSlide+xml"/>
  <Override PartName="/ppt/notesSlides/notesSlide462.xml" ContentType="application/vnd.openxmlformats-officedocument.presentationml.notesSlide+xml"/>
  <Override PartName="/ppt/notesSlides/notesSlide463.xml" ContentType="application/vnd.openxmlformats-officedocument.presentationml.notesSlide+xml"/>
  <Override PartName="/ppt/notesSlides/notesSlide464.xml" ContentType="application/vnd.openxmlformats-officedocument.presentationml.notesSlide+xml"/>
  <Override PartName="/ppt/notesSlides/notesSlide465.xml" ContentType="application/vnd.openxmlformats-officedocument.presentationml.notesSlide+xml"/>
  <Override PartName="/ppt/notesSlides/notesSlide466.xml" ContentType="application/vnd.openxmlformats-officedocument.presentationml.notesSlide+xml"/>
  <Override PartName="/ppt/notesSlides/notesSlide467.xml" ContentType="application/vnd.openxmlformats-officedocument.presentationml.notesSlide+xml"/>
  <Override PartName="/ppt/notesSlides/notesSlide468.xml" ContentType="application/vnd.openxmlformats-officedocument.presentationml.notesSlide+xml"/>
  <Override PartName="/ppt/notesSlides/notesSlide469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70.xml" ContentType="application/vnd.openxmlformats-officedocument.presentationml.notesSlide+xml"/>
  <Override PartName="/ppt/notesSlides/notesSlide471.xml" ContentType="application/vnd.openxmlformats-officedocument.presentationml.notesSlide+xml"/>
  <Override PartName="/ppt/notesSlides/notesSlide472.xml" ContentType="application/vnd.openxmlformats-officedocument.presentationml.notesSlide+xml"/>
  <Override PartName="/ppt/notesSlides/notesSlide473.xml" ContentType="application/vnd.openxmlformats-officedocument.presentationml.notesSlide+xml"/>
  <Override PartName="/ppt/notesSlides/notesSlide474.xml" ContentType="application/vnd.openxmlformats-officedocument.presentationml.notesSlide+xml"/>
  <Override PartName="/ppt/notesSlides/notesSlide475.xml" ContentType="application/vnd.openxmlformats-officedocument.presentationml.notesSlide+xml"/>
  <Override PartName="/ppt/notesSlides/notesSlide476.xml" ContentType="application/vnd.openxmlformats-officedocument.presentationml.notesSlide+xml"/>
  <Override PartName="/ppt/notesSlides/notesSlide477.xml" ContentType="application/vnd.openxmlformats-officedocument.presentationml.notesSlide+xml"/>
  <Override PartName="/ppt/notesSlides/notesSlide478.xml" ContentType="application/vnd.openxmlformats-officedocument.presentationml.notesSlide+xml"/>
  <Override PartName="/ppt/notesSlides/notesSlide479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80.xml" ContentType="application/vnd.openxmlformats-officedocument.presentationml.notesSlide+xml"/>
  <Override PartName="/ppt/notesSlides/notesSlide481.xml" ContentType="application/vnd.openxmlformats-officedocument.presentationml.notesSlide+xml"/>
  <Override PartName="/ppt/notesSlides/notesSlide482.xml" ContentType="application/vnd.openxmlformats-officedocument.presentationml.notesSlide+xml"/>
  <Override PartName="/ppt/notesSlides/notesSlide483.xml" ContentType="application/vnd.openxmlformats-officedocument.presentationml.notesSlide+xml"/>
  <Override PartName="/ppt/notesSlides/notesSlide484.xml" ContentType="application/vnd.openxmlformats-officedocument.presentationml.notesSlide+xml"/>
  <Override PartName="/ppt/notesSlides/notesSlide485.xml" ContentType="application/vnd.openxmlformats-officedocument.presentationml.notesSlide+xml"/>
  <Override PartName="/ppt/notesSlides/notesSlide486.xml" ContentType="application/vnd.openxmlformats-officedocument.presentationml.notesSlide+xml"/>
  <Override PartName="/ppt/notesSlides/notesSlide487.xml" ContentType="application/vnd.openxmlformats-officedocument.presentationml.notesSlide+xml"/>
  <Override PartName="/ppt/notesSlides/notesSlide488.xml" ContentType="application/vnd.openxmlformats-officedocument.presentationml.notesSlide+xml"/>
  <Override PartName="/ppt/notesSlides/notesSlide489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490.xml" ContentType="application/vnd.openxmlformats-officedocument.presentationml.notesSlide+xml"/>
  <Override PartName="/ppt/notesSlides/notesSlide491.xml" ContentType="application/vnd.openxmlformats-officedocument.presentationml.notesSlide+xml"/>
  <Override PartName="/ppt/notesSlides/notesSlide492.xml" ContentType="application/vnd.openxmlformats-officedocument.presentationml.notesSlide+xml"/>
  <Override PartName="/ppt/notesSlides/notesSlide493.xml" ContentType="application/vnd.openxmlformats-officedocument.presentationml.notesSlide+xml"/>
  <Override PartName="/ppt/notesSlides/notesSlide494.xml" ContentType="application/vnd.openxmlformats-officedocument.presentationml.notesSlide+xml"/>
  <Override PartName="/ppt/notesSlides/notesSlide495.xml" ContentType="application/vnd.openxmlformats-officedocument.presentationml.notesSlide+xml"/>
  <Override PartName="/ppt/notesSlides/notesSlide496.xml" ContentType="application/vnd.openxmlformats-officedocument.presentationml.notesSlide+xml"/>
  <Override PartName="/ppt/notesSlides/notesSlide497.xml" ContentType="application/vnd.openxmlformats-officedocument.presentationml.notesSlide+xml"/>
  <Override PartName="/ppt/notesSlides/notesSlide498.xml" ContentType="application/vnd.openxmlformats-officedocument.presentationml.notesSlide+xml"/>
  <Override PartName="/ppt/notesSlides/notesSlide49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00.xml" ContentType="application/vnd.openxmlformats-officedocument.presentationml.notesSlide+xml"/>
  <Override PartName="/ppt/notesSlides/notesSlide501.xml" ContentType="application/vnd.openxmlformats-officedocument.presentationml.notesSlide+xml"/>
  <Override PartName="/ppt/notesSlides/notesSlide502.xml" ContentType="application/vnd.openxmlformats-officedocument.presentationml.notesSlide+xml"/>
  <Override PartName="/ppt/notesSlides/notesSlide503.xml" ContentType="application/vnd.openxmlformats-officedocument.presentationml.notesSlide+xml"/>
  <Override PartName="/ppt/notesSlides/notesSlide504.xml" ContentType="application/vnd.openxmlformats-officedocument.presentationml.notesSlide+xml"/>
  <Override PartName="/ppt/notesSlides/notesSlide505.xml" ContentType="application/vnd.openxmlformats-officedocument.presentationml.notesSlide+xml"/>
  <Override PartName="/ppt/notesSlides/notesSlide506.xml" ContentType="application/vnd.openxmlformats-officedocument.presentationml.notesSlide+xml"/>
  <Override PartName="/ppt/notesSlides/notesSlide507.xml" ContentType="application/vnd.openxmlformats-officedocument.presentationml.notesSlide+xml"/>
  <Override PartName="/ppt/notesSlides/notesSlide508.xml" ContentType="application/vnd.openxmlformats-officedocument.presentationml.notesSlide+xml"/>
  <Override PartName="/ppt/notesSlides/notesSlide509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10.xml" ContentType="application/vnd.openxmlformats-officedocument.presentationml.notesSlide+xml"/>
  <Override PartName="/ppt/notesSlides/notesSlide511.xml" ContentType="application/vnd.openxmlformats-officedocument.presentationml.notesSlide+xml"/>
  <Override PartName="/ppt/notesSlides/notesSlide512.xml" ContentType="application/vnd.openxmlformats-officedocument.presentationml.notesSlide+xml"/>
  <Override PartName="/ppt/notesSlides/notesSlide513.xml" ContentType="application/vnd.openxmlformats-officedocument.presentationml.notesSlide+xml"/>
  <Override PartName="/ppt/notesSlides/notesSlide514.xml" ContentType="application/vnd.openxmlformats-officedocument.presentationml.notesSlide+xml"/>
  <Override PartName="/ppt/notesSlides/notesSlide515.xml" ContentType="application/vnd.openxmlformats-officedocument.presentationml.notesSlide+xml"/>
  <Override PartName="/ppt/notesSlides/notesSlide516.xml" ContentType="application/vnd.openxmlformats-officedocument.presentationml.notesSlide+xml"/>
  <Override PartName="/ppt/notesSlides/notesSlide517.xml" ContentType="application/vnd.openxmlformats-officedocument.presentationml.notesSlide+xml"/>
  <Override PartName="/ppt/notesSlides/notesSlide518.xml" ContentType="application/vnd.openxmlformats-officedocument.presentationml.notesSlide+xml"/>
  <Override PartName="/ppt/notesSlides/notesSlide519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20.xml" ContentType="application/vnd.openxmlformats-officedocument.presentationml.notesSlide+xml"/>
  <Override PartName="/ppt/notesSlides/notesSlide521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843" r:id="rId595"/>
    <p:sldId id="831" r:id="rId583"/>
    <p:sldId id="832" r:id="rId584"/>
    <p:sldId id="833" r:id="rId585"/>
    <p:sldId id="834" r:id="rId586"/>
    <p:sldId id="835" r:id="rId587"/>
    <p:sldId id="836" r:id="rId588"/>
    <p:sldId id="837" r:id="rId589"/>
    <p:sldId id="838" r:id="rId590"/>
    <p:sldId id="839" r:id="rId591"/>
    <p:sldId id="840" r:id="rId592"/>
    <p:sldId id="841" r:id="rId593"/>
    <p:sldId id="842" r:id="rId594"/>
    <p:sldId id="852" r:id="rId604"/>
    <p:sldId id="844" r:id="rId596"/>
    <p:sldId id="845" r:id="rId597"/>
    <p:sldId id="846" r:id="rId598"/>
    <p:sldId id="847" r:id="rId599"/>
    <p:sldId id="848" r:id="rId600"/>
    <p:sldId id="849" r:id="rId601"/>
    <p:sldId id="850" r:id="rId602"/>
    <p:sldId id="851" r:id="rId603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  <p:sldId id="502" r:id="rId254"/>
    <p:sldId id="503" r:id="rId255"/>
    <p:sldId id="504" r:id="rId256"/>
    <p:sldId id="505" r:id="rId257"/>
    <p:sldId id="506" r:id="rId258"/>
    <p:sldId id="507" r:id="rId259"/>
    <p:sldId id="508" r:id="rId260"/>
    <p:sldId id="509" r:id="rId261"/>
    <p:sldId id="510" r:id="rId262"/>
    <p:sldId id="511" r:id="rId263"/>
    <p:sldId id="512" r:id="rId264"/>
    <p:sldId id="513" r:id="rId265"/>
    <p:sldId id="514" r:id="rId266"/>
    <p:sldId id="515" r:id="rId267"/>
    <p:sldId id="516" r:id="rId268"/>
    <p:sldId id="517" r:id="rId269"/>
    <p:sldId id="518" r:id="rId270"/>
    <p:sldId id="519" r:id="rId271"/>
    <p:sldId id="520" r:id="rId272"/>
    <p:sldId id="521" r:id="rId273"/>
    <p:sldId id="522" r:id="rId274"/>
    <p:sldId id="523" r:id="rId275"/>
    <p:sldId id="524" r:id="rId276"/>
    <p:sldId id="525" r:id="rId277"/>
    <p:sldId id="526" r:id="rId278"/>
    <p:sldId id="527" r:id="rId279"/>
    <p:sldId id="528" r:id="rId280"/>
    <p:sldId id="529" r:id="rId281"/>
    <p:sldId id="530" r:id="rId282"/>
    <p:sldId id="531" r:id="rId283"/>
    <p:sldId id="532" r:id="rId284"/>
    <p:sldId id="533" r:id="rId285"/>
    <p:sldId id="534" r:id="rId286"/>
    <p:sldId id="535" r:id="rId287"/>
    <p:sldId id="536" r:id="rId288"/>
    <p:sldId id="537" r:id="rId289"/>
    <p:sldId id="538" r:id="rId290"/>
    <p:sldId id="539" r:id="rId291"/>
    <p:sldId id="540" r:id="rId292"/>
    <p:sldId id="541" r:id="rId293"/>
    <p:sldId id="542" r:id="rId294"/>
    <p:sldId id="543" r:id="rId295"/>
    <p:sldId id="544" r:id="rId296"/>
    <p:sldId id="545" r:id="rId297"/>
    <p:sldId id="546" r:id="rId298"/>
    <p:sldId id="547" r:id="rId299"/>
    <p:sldId id="548" r:id="rId300"/>
    <p:sldId id="549" r:id="rId301"/>
    <p:sldId id="550" r:id="rId302"/>
    <p:sldId id="551" r:id="rId303"/>
    <p:sldId id="552" r:id="rId304"/>
    <p:sldId id="553" r:id="rId305"/>
    <p:sldId id="554" r:id="rId306"/>
    <p:sldId id="555" r:id="rId307"/>
    <p:sldId id="556" r:id="rId308"/>
    <p:sldId id="557" r:id="rId309"/>
    <p:sldId id="558" r:id="rId310"/>
    <p:sldId id="559" r:id="rId311"/>
    <p:sldId id="560" r:id="rId312"/>
    <p:sldId id="561" r:id="rId313"/>
    <p:sldId id="562" r:id="rId314"/>
    <p:sldId id="563" r:id="rId315"/>
    <p:sldId id="564" r:id="rId316"/>
    <p:sldId id="565" r:id="rId317"/>
    <p:sldId id="566" r:id="rId318"/>
    <p:sldId id="567" r:id="rId319"/>
    <p:sldId id="568" r:id="rId320"/>
    <p:sldId id="569" r:id="rId321"/>
    <p:sldId id="570" r:id="rId322"/>
    <p:sldId id="571" r:id="rId323"/>
    <p:sldId id="572" r:id="rId324"/>
    <p:sldId id="573" r:id="rId325"/>
    <p:sldId id="574" r:id="rId326"/>
    <p:sldId id="575" r:id="rId327"/>
    <p:sldId id="576" r:id="rId328"/>
    <p:sldId id="577" r:id="rId329"/>
    <p:sldId id="578" r:id="rId330"/>
    <p:sldId id="579" r:id="rId331"/>
    <p:sldId id="580" r:id="rId332"/>
    <p:sldId id="581" r:id="rId333"/>
    <p:sldId id="582" r:id="rId334"/>
    <p:sldId id="583" r:id="rId335"/>
    <p:sldId id="584" r:id="rId336"/>
    <p:sldId id="585" r:id="rId337"/>
    <p:sldId id="586" r:id="rId338"/>
    <p:sldId id="587" r:id="rId339"/>
    <p:sldId id="588" r:id="rId340"/>
    <p:sldId id="589" r:id="rId341"/>
    <p:sldId id="590" r:id="rId342"/>
    <p:sldId id="591" r:id="rId343"/>
    <p:sldId id="592" r:id="rId344"/>
    <p:sldId id="593" r:id="rId345"/>
    <p:sldId id="594" r:id="rId346"/>
    <p:sldId id="595" r:id="rId347"/>
    <p:sldId id="596" r:id="rId348"/>
    <p:sldId id="597" r:id="rId349"/>
    <p:sldId id="598" r:id="rId350"/>
    <p:sldId id="599" r:id="rId351"/>
    <p:sldId id="600" r:id="rId352"/>
    <p:sldId id="601" r:id="rId353"/>
    <p:sldId id="602" r:id="rId354"/>
    <p:sldId id="603" r:id="rId355"/>
    <p:sldId id="604" r:id="rId356"/>
    <p:sldId id="605" r:id="rId357"/>
    <p:sldId id="606" r:id="rId358"/>
    <p:sldId id="607" r:id="rId359"/>
    <p:sldId id="608" r:id="rId360"/>
    <p:sldId id="609" r:id="rId361"/>
    <p:sldId id="610" r:id="rId362"/>
    <p:sldId id="611" r:id="rId363"/>
    <p:sldId id="612" r:id="rId364"/>
    <p:sldId id="613" r:id="rId365"/>
    <p:sldId id="614" r:id="rId366"/>
    <p:sldId id="615" r:id="rId367"/>
    <p:sldId id="616" r:id="rId368"/>
    <p:sldId id="617" r:id="rId369"/>
    <p:sldId id="618" r:id="rId370"/>
    <p:sldId id="619" r:id="rId371"/>
    <p:sldId id="620" r:id="rId372"/>
    <p:sldId id="621" r:id="rId373"/>
    <p:sldId id="622" r:id="rId374"/>
    <p:sldId id="623" r:id="rId375"/>
    <p:sldId id="624" r:id="rId376"/>
    <p:sldId id="625" r:id="rId377"/>
    <p:sldId id="626" r:id="rId378"/>
    <p:sldId id="627" r:id="rId379"/>
    <p:sldId id="628" r:id="rId380"/>
    <p:sldId id="629" r:id="rId381"/>
    <p:sldId id="630" r:id="rId382"/>
    <p:sldId id="631" r:id="rId383"/>
    <p:sldId id="632" r:id="rId384"/>
    <p:sldId id="633" r:id="rId385"/>
    <p:sldId id="634" r:id="rId386"/>
    <p:sldId id="635" r:id="rId387"/>
    <p:sldId id="636" r:id="rId388"/>
    <p:sldId id="637" r:id="rId389"/>
    <p:sldId id="638" r:id="rId390"/>
    <p:sldId id="639" r:id="rId391"/>
    <p:sldId id="640" r:id="rId392"/>
    <p:sldId id="641" r:id="rId393"/>
    <p:sldId id="642" r:id="rId394"/>
    <p:sldId id="643" r:id="rId395"/>
    <p:sldId id="644" r:id="rId396"/>
    <p:sldId id="645" r:id="rId397"/>
    <p:sldId id="646" r:id="rId398"/>
    <p:sldId id="647" r:id="rId399"/>
    <p:sldId id="648" r:id="rId400"/>
    <p:sldId id="649" r:id="rId401"/>
    <p:sldId id="650" r:id="rId402"/>
    <p:sldId id="651" r:id="rId403"/>
    <p:sldId id="652" r:id="rId404"/>
    <p:sldId id="653" r:id="rId405"/>
    <p:sldId id="654" r:id="rId406"/>
    <p:sldId id="655" r:id="rId407"/>
    <p:sldId id="656" r:id="rId408"/>
    <p:sldId id="657" r:id="rId409"/>
    <p:sldId id="658" r:id="rId410"/>
    <p:sldId id="659" r:id="rId411"/>
    <p:sldId id="660" r:id="rId412"/>
    <p:sldId id="661" r:id="rId413"/>
    <p:sldId id="662" r:id="rId414"/>
    <p:sldId id="663" r:id="rId415"/>
    <p:sldId id="664" r:id="rId416"/>
    <p:sldId id="665" r:id="rId417"/>
    <p:sldId id="666" r:id="rId418"/>
    <p:sldId id="667" r:id="rId419"/>
    <p:sldId id="668" r:id="rId420"/>
    <p:sldId id="669" r:id="rId421"/>
    <p:sldId id="670" r:id="rId422"/>
    <p:sldId id="671" r:id="rId423"/>
    <p:sldId id="672" r:id="rId424"/>
    <p:sldId id="673" r:id="rId425"/>
    <p:sldId id="674" r:id="rId426"/>
    <p:sldId id="675" r:id="rId427"/>
    <p:sldId id="676" r:id="rId428"/>
    <p:sldId id="677" r:id="rId429"/>
    <p:sldId id="678" r:id="rId430"/>
    <p:sldId id="679" r:id="rId431"/>
    <p:sldId id="680" r:id="rId432"/>
    <p:sldId id="681" r:id="rId433"/>
    <p:sldId id="682" r:id="rId434"/>
    <p:sldId id="683" r:id="rId435"/>
    <p:sldId id="684" r:id="rId436"/>
    <p:sldId id="685" r:id="rId437"/>
    <p:sldId id="686" r:id="rId438"/>
    <p:sldId id="687" r:id="rId439"/>
    <p:sldId id="688" r:id="rId440"/>
    <p:sldId id="689" r:id="rId441"/>
    <p:sldId id="690" r:id="rId442"/>
    <p:sldId id="691" r:id="rId443"/>
    <p:sldId id="692" r:id="rId444"/>
    <p:sldId id="693" r:id="rId445"/>
    <p:sldId id="694" r:id="rId446"/>
    <p:sldId id="695" r:id="rId447"/>
    <p:sldId id="696" r:id="rId448"/>
    <p:sldId id="697" r:id="rId449"/>
    <p:sldId id="698" r:id="rId450"/>
    <p:sldId id="699" r:id="rId451"/>
    <p:sldId id="700" r:id="rId452"/>
    <p:sldId id="701" r:id="rId453"/>
    <p:sldId id="702" r:id="rId454"/>
    <p:sldId id="703" r:id="rId455"/>
    <p:sldId id="704" r:id="rId456"/>
    <p:sldId id="705" r:id="rId457"/>
    <p:sldId id="706" r:id="rId458"/>
    <p:sldId id="707" r:id="rId459"/>
    <p:sldId id="708" r:id="rId460"/>
    <p:sldId id="709" r:id="rId461"/>
    <p:sldId id="710" r:id="rId462"/>
    <p:sldId id="711" r:id="rId463"/>
    <p:sldId id="712" r:id="rId464"/>
    <p:sldId id="713" r:id="rId465"/>
    <p:sldId id="714" r:id="rId466"/>
    <p:sldId id="715" r:id="rId467"/>
    <p:sldId id="716" r:id="rId468"/>
    <p:sldId id="717" r:id="rId469"/>
    <p:sldId id="718" r:id="rId470"/>
    <p:sldId id="719" r:id="rId471"/>
    <p:sldId id="720" r:id="rId472"/>
    <p:sldId id="721" r:id="rId473"/>
    <p:sldId id="722" r:id="rId474"/>
    <p:sldId id="723" r:id="rId475"/>
    <p:sldId id="724" r:id="rId476"/>
    <p:sldId id="725" r:id="rId477"/>
    <p:sldId id="726" r:id="rId478"/>
    <p:sldId id="727" r:id="rId479"/>
    <p:sldId id="728" r:id="rId480"/>
    <p:sldId id="729" r:id="rId481"/>
    <p:sldId id="730" r:id="rId482"/>
    <p:sldId id="731" r:id="rId483"/>
    <p:sldId id="732" r:id="rId484"/>
    <p:sldId id="733" r:id="rId485"/>
    <p:sldId id="734" r:id="rId486"/>
    <p:sldId id="735" r:id="rId487"/>
    <p:sldId id="736" r:id="rId488"/>
    <p:sldId id="737" r:id="rId489"/>
    <p:sldId id="738" r:id="rId490"/>
    <p:sldId id="739" r:id="rId491"/>
    <p:sldId id="740" r:id="rId492"/>
    <p:sldId id="741" r:id="rId493"/>
    <p:sldId id="742" r:id="rId494"/>
    <p:sldId id="743" r:id="rId495"/>
    <p:sldId id="744" r:id="rId496"/>
    <p:sldId id="745" r:id="rId497"/>
    <p:sldId id="746" r:id="rId498"/>
    <p:sldId id="747" r:id="rId499"/>
    <p:sldId id="748" r:id="rId500"/>
    <p:sldId id="749" r:id="rId501"/>
    <p:sldId id="750" r:id="rId502"/>
    <p:sldId id="751" r:id="rId503"/>
    <p:sldId id="752" r:id="rId504"/>
    <p:sldId id="753" r:id="rId505"/>
    <p:sldId id="754" r:id="rId506"/>
    <p:sldId id="755" r:id="rId507"/>
    <p:sldId id="756" r:id="rId508"/>
    <p:sldId id="757" r:id="rId509"/>
    <p:sldId id="758" r:id="rId510"/>
    <p:sldId id="759" r:id="rId511"/>
    <p:sldId id="760" r:id="rId512"/>
    <p:sldId id="761" r:id="rId513"/>
    <p:sldId id="762" r:id="rId514"/>
    <p:sldId id="763" r:id="rId515"/>
    <p:sldId id="764" r:id="rId516"/>
    <p:sldId id="765" r:id="rId517"/>
    <p:sldId id="766" r:id="rId518"/>
    <p:sldId id="767" r:id="rId519"/>
    <p:sldId id="768" r:id="rId520"/>
    <p:sldId id="769" r:id="rId521"/>
    <p:sldId id="770" r:id="rId522"/>
    <p:sldId id="771" r:id="rId523"/>
    <p:sldId id="772" r:id="rId524"/>
    <p:sldId id="773" r:id="rId525"/>
    <p:sldId id="774" r:id="rId526"/>
    <p:sldId id="775" r:id="rId527"/>
    <p:sldId id="776" r:id="rId528"/>
    <p:sldId id="777" r:id="rId529"/>
    <p:sldId id="778" r:id="rId530"/>
    <p:sldId id="779" r:id="rId531"/>
    <p:sldId id="780" r:id="rId532"/>
    <p:sldId id="781" r:id="rId533"/>
    <p:sldId id="782" r:id="rId534"/>
    <p:sldId id="783" r:id="rId535"/>
    <p:sldId id="784" r:id="rId536"/>
    <p:sldId id="785" r:id="rId537"/>
    <p:sldId id="786" r:id="rId538"/>
    <p:sldId id="787" r:id="rId539"/>
    <p:sldId id="788" r:id="rId540"/>
    <p:sldId id="789" r:id="rId541"/>
    <p:sldId id="790" r:id="rId542"/>
    <p:sldId id="791" r:id="rId543"/>
    <p:sldId id="792" r:id="rId544"/>
    <p:sldId id="793" r:id="rId545"/>
    <p:sldId id="794" r:id="rId546"/>
    <p:sldId id="795" r:id="rId547"/>
    <p:sldId id="796" r:id="rId548"/>
    <p:sldId id="797" r:id="rId549"/>
    <p:sldId id="798" r:id="rId550"/>
    <p:sldId id="799" r:id="rId551"/>
    <p:sldId id="800" r:id="rId552"/>
    <p:sldId id="801" r:id="rId553"/>
    <p:sldId id="802" r:id="rId554"/>
    <p:sldId id="803" r:id="rId555"/>
    <p:sldId id="804" r:id="rId556"/>
    <p:sldId id="805" r:id="rId557"/>
    <p:sldId id="806" r:id="rId558"/>
    <p:sldId id="807" r:id="rId559"/>
    <p:sldId id="808" r:id="rId560"/>
    <p:sldId id="809" r:id="rId561"/>
    <p:sldId id="810" r:id="rId562"/>
    <p:sldId id="811" r:id="rId563"/>
    <p:sldId id="812" r:id="rId564"/>
    <p:sldId id="813" r:id="rId565"/>
    <p:sldId id="814" r:id="rId566"/>
    <p:sldId id="815" r:id="rId567"/>
    <p:sldId id="816" r:id="rId568"/>
    <p:sldId id="817" r:id="rId569"/>
    <p:sldId id="818" r:id="rId570"/>
    <p:sldId id="819" r:id="rId571"/>
    <p:sldId id="820" r:id="rId572"/>
    <p:sldId id="821" r:id="rId573"/>
    <p:sldId id="822" r:id="rId574"/>
    <p:sldId id="823" r:id="rId575"/>
    <p:sldId id="824" r:id="rId576"/>
    <p:sldId id="825" r:id="rId577"/>
    <p:sldId id="826" r:id="rId578"/>
    <p:sldId id="827" r:id="rId579"/>
    <p:sldId id="828" r:id="rId580"/>
    <p:sldId id="829" r:id="rId581"/>
    <p:sldId id="830" r:id="rId582"/>
  </p:sldIdLst>
  <p:sldSz cx="12192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33.xml"/><Relationship Id="rId19" Type="http://schemas.openxmlformats.org/officeDocument/2006/relationships/slide" Target="slides/slide34.xml"/><Relationship Id="rId20" Type="http://schemas.openxmlformats.org/officeDocument/2006/relationships/slide" Target="slides/slide35.xml"/><Relationship Id="rId21" Type="http://schemas.openxmlformats.org/officeDocument/2006/relationships/slide" Target="slides/slide36.xml"/><Relationship Id="rId22" Type="http://schemas.openxmlformats.org/officeDocument/2006/relationships/slide" Target="slides/slide37.xml"/><Relationship Id="rId23" Type="http://schemas.openxmlformats.org/officeDocument/2006/relationships/slide" Target="slides/slide38.xml"/><Relationship Id="rId24" Type="http://schemas.openxmlformats.org/officeDocument/2006/relationships/slide" Target="slides/slide39.xml"/><Relationship Id="rId25" Type="http://schemas.openxmlformats.org/officeDocument/2006/relationships/slide" Target="slides/slide40.xml"/><Relationship Id="rId26" Type="http://schemas.openxmlformats.org/officeDocument/2006/relationships/slide" Target="slides/slide41.xml"/><Relationship Id="rId27" Type="http://schemas.openxmlformats.org/officeDocument/2006/relationships/slide" Target="slides/slide42.xml"/><Relationship Id="rId28" Type="http://schemas.openxmlformats.org/officeDocument/2006/relationships/slide" Target="slides/slide43.xml"/><Relationship Id="rId29" Type="http://schemas.openxmlformats.org/officeDocument/2006/relationships/slide" Target="slides/slide44.xml"/><Relationship Id="rId30" Type="http://schemas.openxmlformats.org/officeDocument/2006/relationships/slide" Target="slides/slide45.xml"/><Relationship Id="rId31" Type="http://schemas.openxmlformats.org/officeDocument/2006/relationships/slide" Target="slides/slide46.xml"/><Relationship Id="rId32" Type="http://schemas.openxmlformats.org/officeDocument/2006/relationships/slide" Target="slides/slide47.xml"/><Relationship Id="rId33" Type="http://schemas.openxmlformats.org/officeDocument/2006/relationships/slide" Target="slides/slide48.xml"/><Relationship Id="rId34" Type="http://schemas.openxmlformats.org/officeDocument/2006/relationships/slide" Target="slides/slide49.xml"/><Relationship Id="rId35" Type="http://schemas.openxmlformats.org/officeDocument/2006/relationships/slide" Target="slides/slide50.xml"/><Relationship Id="rId36" Type="http://schemas.openxmlformats.org/officeDocument/2006/relationships/slide" Target="slides/slide51.xml"/><Relationship Id="rId37" Type="http://schemas.openxmlformats.org/officeDocument/2006/relationships/slide" Target="slides/slide52.xml"/><Relationship Id="rId38" Type="http://schemas.openxmlformats.org/officeDocument/2006/relationships/slide" Target="slides/slide53.xml"/><Relationship Id="rId39" Type="http://schemas.openxmlformats.org/officeDocument/2006/relationships/slide" Target="slides/slide54.xml"/><Relationship Id="rId40" Type="http://schemas.openxmlformats.org/officeDocument/2006/relationships/slide" Target="slides/slide55.xml"/><Relationship Id="rId41" Type="http://schemas.openxmlformats.org/officeDocument/2006/relationships/slide" Target="slides/slide56.xml"/><Relationship Id="rId42" Type="http://schemas.openxmlformats.org/officeDocument/2006/relationships/slide" Target="slides/slide57.xml"/><Relationship Id="rId43" Type="http://schemas.openxmlformats.org/officeDocument/2006/relationships/slide" Target="slides/slide58.xml"/><Relationship Id="rId44" Type="http://schemas.openxmlformats.org/officeDocument/2006/relationships/slide" Target="slides/slide59.xml"/><Relationship Id="rId45" Type="http://schemas.openxmlformats.org/officeDocument/2006/relationships/slide" Target="slides/slide60.xml"/><Relationship Id="rId46" Type="http://schemas.openxmlformats.org/officeDocument/2006/relationships/slide" Target="slides/slide61.xml"/><Relationship Id="rId47" Type="http://schemas.openxmlformats.org/officeDocument/2006/relationships/slide" Target="slides/slide62.xml"/><Relationship Id="rId48" Type="http://schemas.openxmlformats.org/officeDocument/2006/relationships/slide" Target="slides/slide63.xml"/><Relationship Id="rId49" Type="http://schemas.openxmlformats.org/officeDocument/2006/relationships/slide" Target="slides/slide64.xml"/><Relationship Id="rId50" Type="http://schemas.openxmlformats.org/officeDocument/2006/relationships/slide" Target="slides/slide65.xml"/><Relationship Id="rId51" Type="http://schemas.openxmlformats.org/officeDocument/2006/relationships/slide" Target="slides/slide66.xml"/><Relationship Id="rId52" Type="http://schemas.openxmlformats.org/officeDocument/2006/relationships/slide" Target="slides/slide67.xml"/><Relationship Id="rId53" Type="http://schemas.openxmlformats.org/officeDocument/2006/relationships/slide" Target="slides/slide68.xml"/><Relationship Id="rId54" Type="http://schemas.openxmlformats.org/officeDocument/2006/relationships/slide" Target="slides/slide69.xml"/><Relationship Id="rId55" Type="http://schemas.openxmlformats.org/officeDocument/2006/relationships/slide" Target="slides/slide70.xml"/><Relationship Id="rId56" Type="http://schemas.openxmlformats.org/officeDocument/2006/relationships/slide" Target="slides/slide71.xml"/><Relationship Id="rId57" Type="http://schemas.openxmlformats.org/officeDocument/2006/relationships/slide" Target="slides/slide72.xml"/><Relationship Id="rId58" Type="http://schemas.openxmlformats.org/officeDocument/2006/relationships/slide" Target="slides/slide73.xml"/><Relationship Id="rId59" Type="http://schemas.openxmlformats.org/officeDocument/2006/relationships/slide" Target="slides/slide74.xml"/><Relationship Id="rId60" Type="http://schemas.openxmlformats.org/officeDocument/2006/relationships/slide" Target="slides/slide75.xml"/><Relationship Id="rId61" Type="http://schemas.openxmlformats.org/officeDocument/2006/relationships/slide" Target="slides/slide76.xml"/><Relationship Id="rId62" Type="http://schemas.openxmlformats.org/officeDocument/2006/relationships/slide" Target="slides/slide77.xml"/><Relationship Id="rId63" Type="http://schemas.openxmlformats.org/officeDocument/2006/relationships/slide" Target="slides/slide78.xml"/><Relationship Id="rId64" Type="http://schemas.openxmlformats.org/officeDocument/2006/relationships/slide" Target="slides/slide79.xml"/><Relationship Id="rId65" Type="http://schemas.openxmlformats.org/officeDocument/2006/relationships/slide" Target="slides/slide80.xml"/><Relationship Id="rId66" Type="http://schemas.openxmlformats.org/officeDocument/2006/relationships/slide" Target="slides/slide81.xml"/><Relationship Id="rId67" Type="http://schemas.openxmlformats.org/officeDocument/2006/relationships/slide" Target="slides/slide82.xml"/><Relationship Id="rId68" Type="http://schemas.openxmlformats.org/officeDocument/2006/relationships/slide" Target="slides/slide83.xml"/><Relationship Id="rId69" Type="http://schemas.openxmlformats.org/officeDocument/2006/relationships/slide" Target="slides/slide84.xml"/><Relationship Id="rId70" Type="http://schemas.openxmlformats.org/officeDocument/2006/relationships/slide" Target="slides/slide85.xml"/><Relationship Id="rId71" Type="http://schemas.openxmlformats.org/officeDocument/2006/relationships/slide" Target="slides/slide86.xml"/><Relationship Id="rId72" Type="http://schemas.openxmlformats.org/officeDocument/2006/relationships/slide" Target="slides/slide87.xml"/><Relationship Id="rId73" Type="http://schemas.openxmlformats.org/officeDocument/2006/relationships/slide" Target="slides/slide88.xml"/><Relationship Id="rId74" Type="http://schemas.openxmlformats.org/officeDocument/2006/relationships/slide" Target="slides/slide89.xml"/><Relationship Id="rId75" Type="http://schemas.openxmlformats.org/officeDocument/2006/relationships/slide" Target="slides/slide90.xml"/><Relationship Id="rId76" Type="http://schemas.openxmlformats.org/officeDocument/2006/relationships/slide" Target="slides/slide91.xml"/><Relationship Id="rId77" Type="http://schemas.openxmlformats.org/officeDocument/2006/relationships/slide" Target="slides/slide92.xml"/><Relationship Id="rId78" Type="http://schemas.openxmlformats.org/officeDocument/2006/relationships/slide" Target="slides/slide93.xml"/><Relationship Id="rId79" Type="http://schemas.openxmlformats.org/officeDocument/2006/relationships/slide" Target="slides/slide94.xml"/><Relationship Id="rId80" Type="http://schemas.openxmlformats.org/officeDocument/2006/relationships/slide" Target="slides/slide95.xml"/><Relationship Id="rId81" Type="http://schemas.openxmlformats.org/officeDocument/2006/relationships/slide" Target="slides/slide96.xml"/><Relationship Id="rId82" Type="http://schemas.openxmlformats.org/officeDocument/2006/relationships/slide" Target="slides/slide97.xml"/><Relationship Id="rId83" Type="http://schemas.openxmlformats.org/officeDocument/2006/relationships/slide" Target="slides/slide98.xml"/><Relationship Id="rId84" Type="http://schemas.openxmlformats.org/officeDocument/2006/relationships/slide" Target="slides/slide99.xml"/><Relationship Id="rId85" Type="http://schemas.openxmlformats.org/officeDocument/2006/relationships/slide" Target="slides/slide100.xml"/><Relationship Id="rId86" Type="http://schemas.openxmlformats.org/officeDocument/2006/relationships/slide" Target="slides/slide101.xml"/><Relationship Id="rId87" Type="http://schemas.openxmlformats.org/officeDocument/2006/relationships/slide" Target="slides/slide102.xml"/><Relationship Id="rId88" Type="http://schemas.openxmlformats.org/officeDocument/2006/relationships/slide" Target="slides/slide103.xml"/><Relationship Id="rId89" Type="http://schemas.openxmlformats.org/officeDocument/2006/relationships/slide" Target="slides/slide104.xml"/><Relationship Id="rId90" Type="http://schemas.openxmlformats.org/officeDocument/2006/relationships/slide" Target="slides/slide105.xml"/><Relationship Id="rId91" Type="http://schemas.openxmlformats.org/officeDocument/2006/relationships/slide" Target="slides/slide106.xml"/><Relationship Id="rId92" Type="http://schemas.openxmlformats.org/officeDocument/2006/relationships/slide" Target="slides/slide107.xml"/><Relationship Id="rId93" Type="http://schemas.openxmlformats.org/officeDocument/2006/relationships/slide" Target="slides/slide108.xml"/><Relationship Id="rId94" Type="http://schemas.openxmlformats.org/officeDocument/2006/relationships/slide" Target="slides/slide109.xml"/><Relationship Id="rId95" Type="http://schemas.openxmlformats.org/officeDocument/2006/relationships/slide" Target="slides/slide110.xml"/><Relationship Id="rId96" Type="http://schemas.openxmlformats.org/officeDocument/2006/relationships/slide" Target="slides/slide111.xml"/><Relationship Id="rId97" Type="http://schemas.openxmlformats.org/officeDocument/2006/relationships/slide" Target="slides/slide112.xml"/><Relationship Id="rId98" Type="http://schemas.openxmlformats.org/officeDocument/2006/relationships/slide" Target="slides/slide113.xml"/><Relationship Id="rId99" Type="http://schemas.openxmlformats.org/officeDocument/2006/relationships/slide" Target="slides/slide114.xml"/><Relationship Id="rId100" Type="http://schemas.openxmlformats.org/officeDocument/2006/relationships/slide" Target="slides/slide115.xml"/><Relationship Id="rId101" Type="http://schemas.openxmlformats.org/officeDocument/2006/relationships/slide" Target="slides/slide116.xml"/><Relationship Id="rId102" Type="http://schemas.openxmlformats.org/officeDocument/2006/relationships/slide" Target="slides/slide117.xml"/><Relationship Id="rId103" Type="http://schemas.openxmlformats.org/officeDocument/2006/relationships/slide" Target="slides/slide118.xml"/><Relationship Id="rId104" Type="http://schemas.openxmlformats.org/officeDocument/2006/relationships/slide" Target="slides/slide119.xml"/><Relationship Id="rId105" Type="http://schemas.openxmlformats.org/officeDocument/2006/relationships/slide" Target="slides/slide120.xml"/><Relationship Id="rId106" Type="http://schemas.openxmlformats.org/officeDocument/2006/relationships/slide" Target="slides/slide121.xml"/><Relationship Id="rId107" Type="http://schemas.openxmlformats.org/officeDocument/2006/relationships/slide" Target="slides/slide122.xml"/><Relationship Id="rId108" Type="http://schemas.openxmlformats.org/officeDocument/2006/relationships/slide" Target="slides/slide123.xml"/><Relationship Id="rId109" Type="http://schemas.openxmlformats.org/officeDocument/2006/relationships/slide" Target="slides/slide124.xml"/><Relationship Id="rId110" Type="http://schemas.openxmlformats.org/officeDocument/2006/relationships/slide" Target="slides/slide125.xml"/><Relationship Id="rId111" Type="http://schemas.openxmlformats.org/officeDocument/2006/relationships/slide" Target="slides/slide126.xml"/><Relationship Id="rId112" Type="http://schemas.openxmlformats.org/officeDocument/2006/relationships/slide" Target="slides/slide127.xml"/><Relationship Id="rId113" Type="http://schemas.openxmlformats.org/officeDocument/2006/relationships/slide" Target="slides/slide128.xml"/><Relationship Id="rId114" Type="http://schemas.openxmlformats.org/officeDocument/2006/relationships/slide" Target="slides/slide129.xml"/><Relationship Id="rId115" Type="http://schemas.openxmlformats.org/officeDocument/2006/relationships/slide" Target="slides/slide130.xml"/><Relationship Id="rId116" Type="http://schemas.openxmlformats.org/officeDocument/2006/relationships/slide" Target="slides/slide131.xml"/><Relationship Id="rId117" Type="http://schemas.openxmlformats.org/officeDocument/2006/relationships/slide" Target="slides/slide132.xml"/><Relationship Id="rId118" Type="http://schemas.openxmlformats.org/officeDocument/2006/relationships/slide" Target="slides/slide133.xml"/><Relationship Id="rId119" Type="http://schemas.openxmlformats.org/officeDocument/2006/relationships/slide" Target="slides/slide134.xml"/><Relationship Id="rId120" Type="http://schemas.openxmlformats.org/officeDocument/2006/relationships/slide" Target="slides/slide135.xml"/><Relationship Id="rId121" Type="http://schemas.openxmlformats.org/officeDocument/2006/relationships/slide" Target="slides/slide136.xml"/><Relationship Id="rId122" Type="http://schemas.openxmlformats.org/officeDocument/2006/relationships/slide" Target="slides/slide137.xml"/><Relationship Id="rId123" Type="http://schemas.openxmlformats.org/officeDocument/2006/relationships/slide" Target="slides/slide138.xml"/><Relationship Id="rId124" Type="http://schemas.openxmlformats.org/officeDocument/2006/relationships/slide" Target="slides/slide139.xml"/><Relationship Id="rId125" Type="http://schemas.openxmlformats.org/officeDocument/2006/relationships/slide" Target="slides/slide140.xml"/><Relationship Id="rId126" Type="http://schemas.openxmlformats.org/officeDocument/2006/relationships/slide" Target="slides/slide141.xml"/><Relationship Id="rId127" Type="http://schemas.openxmlformats.org/officeDocument/2006/relationships/slide" Target="slides/slide142.xml"/><Relationship Id="rId128" Type="http://schemas.openxmlformats.org/officeDocument/2006/relationships/slide" Target="slides/slide143.xml"/><Relationship Id="rId129" Type="http://schemas.openxmlformats.org/officeDocument/2006/relationships/slide" Target="slides/slide144.xml"/><Relationship Id="rId130" Type="http://schemas.openxmlformats.org/officeDocument/2006/relationships/slide" Target="slides/slide145.xml"/><Relationship Id="rId131" Type="http://schemas.openxmlformats.org/officeDocument/2006/relationships/slide" Target="slides/slide146.xml"/><Relationship Id="rId132" Type="http://schemas.openxmlformats.org/officeDocument/2006/relationships/slide" Target="slides/slide147.xml"/><Relationship Id="rId133" Type="http://schemas.openxmlformats.org/officeDocument/2006/relationships/slide" Target="slides/slide148.xml"/><Relationship Id="rId134" Type="http://schemas.openxmlformats.org/officeDocument/2006/relationships/slide" Target="slides/slide149.xml"/><Relationship Id="rId135" Type="http://schemas.openxmlformats.org/officeDocument/2006/relationships/slide" Target="slides/slide150.xml"/><Relationship Id="rId136" Type="http://schemas.openxmlformats.org/officeDocument/2006/relationships/slide" Target="slides/slide151.xml"/><Relationship Id="rId137" Type="http://schemas.openxmlformats.org/officeDocument/2006/relationships/slide" Target="slides/slide152.xml"/><Relationship Id="rId138" Type="http://schemas.openxmlformats.org/officeDocument/2006/relationships/slide" Target="slides/slide153.xml"/><Relationship Id="rId139" Type="http://schemas.openxmlformats.org/officeDocument/2006/relationships/slide" Target="slides/slide154.xml"/><Relationship Id="rId140" Type="http://schemas.openxmlformats.org/officeDocument/2006/relationships/slide" Target="slides/slide155.xml"/><Relationship Id="rId141" Type="http://schemas.openxmlformats.org/officeDocument/2006/relationships/slide" Target="slides/slide156.xml"/><Relationship Id="rId142" Type="http://schemas.openxmlformats.org/officeDocument/2006/relationships/slide" Target="slides/slide157.xml"/><Relationship Id="rId143" Type="http://schemas.openxmlformats.org/officeDocument/2006/relationships/slide" Target="slides/slide158.xml"/><Relationship Id="rId144" Type="http://schemas.openxmlformats.org/officeDocument/2006/relationships/slide" Target="slides/slide159.xml"/><Relationship Id="rId145" Type="http://schemas.openxmlformats.org/officeDocument/2006/relationships/slide" Target="slides/slide160.xml"/><Relationship Id="rId146" Type="http://schemas.openxmlformats.org/officeDocument/2006/relationships/slide" Target="slides/slide161.xml"/><Relationship Id="rId147" Type="http://schemas.openxmlformats.org/officeDocument/2006/relationships/slide" Target="slides/slide162.xml"/><Relationship Id="rId148" Type="http://schemas.openxmlformats.org/officeDocument/2006/relationships/slide" Target="slides/slide163.xml"/><Relationship Id="rId149" Type="http://schemas.openxmlformats.org/officeDocument/2006/relationships/slide" Target="slides/slide164.xml"/><Relationship Id="rId150" Type="http://schemas.openxmlformats.org/officeDocument/2006/relationships/slide" Target="slides/slide165.xml"/><Relationship Id="rId151" Type="http://schemas.openxmlformats.org/officeDocument/2006/relationships/slide" Target="slides/slide166.xml"/><Relationship Id="rId152" Type="http://schemas.openxmlformats.org/officeDocument/2006/relationships/slide" Target="slides/slide167.xml"/><Relationship Id="rId153" Type="http://schemas.openxmlformats.org/officeDocument/2006/relationships/slide" Target="slides/slide168.xml"/><Relationship Id="rId154" Type="http://schemas.openxmlformats.org/officeDocument/2006/relationships/slide" Target="slides/slide169.xml"/><Relationship Id="rId155" Type="http://schemas.openxmlformats.org/officeDocument/2006/relationships/slide" Target="slides/slide170.xml"/><Relationship Id="rId156" Type="http://schemas.openxmlformats.org/officeDocument/2006/relationships/slide" Target="slides/slide171.xml"/><Relationship Id="rId157" Type="http://schemas.openxmlformats.org/officeDocument/2006/relationships/slide" Target="slides/slide172.xml"/><Relationship Id="rId158" Type="http://schemas.openxmlformats.org/officeDocument/2006/relationships/slide" Target="slides/slide173.xml"/><Relationship Id="rId159" Type="http://schemas.openxmlformats.org/officeDocument/2006/relationships/slide" Target="slides/slide174.xml"/><Relationship Id="rId160" Type="http://schemas.openxmlformats.org/officeDocument/2006/relationships/slide" Target="slides/slide175.xml"/><Relationship Id="rId161" Type="http://schemas.openxmlformats.org/officeDocument/2006/relationships/slide" Target="slides/slide176.xml"/><Relationship Id="rId162" Type="http://schemas.openxmlformats.org/officeDocument/2006/relationships/slide" Target="slides/slide177.xml"/><Relationship Id="rId163" Type="http://schemas.openxmlformats.org/officeDocument/2006/relationships/slide" Target="slides/slide178.xml"/><Relationship Id="rId164" Type="http://schemas.openxmlformats.org/officeDocument/2006/relationships/slide" Target="slides/slide179.xml"/><Relationship Id="rId165" Type="http://schemas.openxmlformats.org/officeDocument/2006/relationships/slide" Target="slides/slide180.xml"/><Relationship Id="rId166" Type="http://schemas.openxmlformats.org/officeDocument/2006/relationships/slide" Target="slides/slide181.xml"/><Relationship Id="rId167" Type="http://schemas.openxmlformats.org/officeDocument/2006/relationships/slide" Target="slides/slide182.xml"/><Relationship Id="rId168" Type="http://schemas.openxmlformats.org/officeDocument/2006/relationships/slide" Target="slides/slide183.xml"/><Relationship Id="rId169" Type="http://schemas.openxmlformats.org/officeDocument/2006/relationships/slide" Target="slides/slide184.xml"/><Relationship Id="rId170" Type="http://schemas.openxmlformats.org/officeDocument/2006/relationships/slide" Target="slides/slide185.xml"/><Relationship Id="rId171" Type="http://schemas.openxmlformats.org/officeDocument/2006/relationships/slide" Target="slides/slide186.xml"/><Relationship Id="rId172" Type="http://schemas.openxmlformats.org/officeDocument/2006/relationships/slide" Target="slides/slide187.xml"/><Relationship Id="rId173" Type="http://schemas.openxmlformats.org/officeDocument/2006/relationships/slide" Target="slides/slide188.xml"/><Relationship Id="rId174" Type="http://schemas.openxmlformats.org/officeDocument/2006/relationships/slide" Target="slides/slide189.xml"/><Relationship Id="rId175" Type="http://schemas.openxmlformats.org/officeDocument/2006/relationships/slide" Target="slides/slide190.xml"/><Relationship Id="rId176" Type="http://schemas.openxmlformats.org/officeDocument/2006/relationships/slide" Target="slides/slide191.xml"/><Relationship Id="rId177" Type="http://schemas.openxmlformats.org/officeDocument/2006/relationships/slide" Target="slides/slide192.xml"/><Relationship Id="rId178" Type="http://schemas.openxmlformats.org/officeDocument/2006/relationships/slide" Target="slides/slide193.xml"/><Relationship Id="rId179" Type="http://schemas.openxmlformats.org/officeDocument/2006/relationships/slide" Target="slides/slide194.xml"/><Relationship Id="rId180" Type="http://schemas.openxmlformats.org/officeDocument/2006/relationships/slide" Target="slides/slide195.xml"/><Relationship Id="rId181" Type="http://schemas.openxmlformats.org/officeDocument/2006/relationships/slide" Target="slides/slide196.xml"/><Relationship Id="rId182" Type="http://schemas.openxmlformats.org/officeDocument/2006/relationships/slide" Target="slides/slide197.xml"/><Relationship Id="rId183" Type="http://schemas.openxmlformats.org/officeDocument/2006/relationships/slide" Target="slides/slide198.xml"/><Relationship Id="rId184" Type="http://schemas.openxmlformats.org/officeDocument/2006/relationships/slide" Target="slides/slide199.xml"/><Relationship Id="rId185" Type="http://schemas.openxmlformats.org/officeDocument/2006/relationships/slide" Target="slides/slide200.xml"/><Relationship Id="rId186" Type="http://schemas.openxmlformats.org/officeDocument/2006/relationships/slide" Target="slides/slide201.xml"/><Relationship Id="rId187" Type="http://schemas.openxmlformats.org/officeDocument/2006/relationships/slide" Target="slides/slide202.xml"/><Relationship Id="rId188" Type="http://schemas.openxmlformats.org/officeDocument/2006/relationships/slide" Target="slides/slide203.xml"/><Relationship Id="rId189" Type="http://schemas.openxmlformats.org/officeDocument/2006/relationships/slide" Target="slides/slide204.xml"/><Relationship Id="rId190" Type="http://schemas.openxmlformats.org/officeDocument/2006/relationships/slide" Target="slides/slide205.xml"/><Relationship Id="rId191" Type="http://schemas.openxmlformats.org/officeDocument/2006/relationships/slide" Target="slides/slide206.xml"/><Relationship Id="rId192" Type="http://schemas.openxmlformats.org/officeDocument/2006/relationships/slide" Target="slides/slide207.xml"/><Relationship Id="rId193" Type="http://schemas.openxmlformats.org/officeDocument/2006/relationships/slide" Target="slides/slide208.xml"/><Relationship Id="rId194" Type="http://schemas.openxmlformats.org/officeDocument/2006/relationships/slide" Target="slides/slide209.xml"/><Relationship Id="rId195" Type="http://schemas.openxmlformats.org/officeDocument/2006/relationships/slide" Target="slides/slide210.xml"/><Relationship Id="rId196" Type="http://schemas.openxmlformats.org/officeDocument/2006/relationships/slide" Target="slides/slide211.xml"/><Relationship Id="rId197" Type="http://schemas.openxmlformats.org/officeDocument/2006/relationships/slide" Target="slides/slide212.xml"/><Relationship Id="rId198" Type="http://schemas.openxmlformats.org/officeDocument/2006/relationships/slide" Target="slides/slide213.xml"/><Relationship Id="rId199" Type="http://schemas.openxmlformats.org/officeDocument/2006/relationships/slide" Target="slides/slide214.xml"/><Relationship Id="rId200" Type="http://schemas.openxmlformats.org/officeDocument/2006/relationships/slide" Target="slides/slide215.xml"/><Relationship Id="rId201" Type="http://schemas.openxmlformats.org/officeDocument/2006/relationships/slide" Target="slides/slide216.xml"/><Relationship Id="rId202" Type="http://schemas.openxmlformats.org/officeDocument/2006/relationships/slide" Target="slides/slide217.xml"/><Relationship Id="rId203" Type="http://schemas.openxmlformats.org/officeDocument/2006/relationships/slide" Target="slides/slide218.xml"/><Relationship Id="rId204" Type="http://schemas.openxmlformats.org/officeDocument/2006/relationships/slide" Target="slides/slide219.xml"/><Relationship Id="rId205" Type="http://schemas.openxmlformats.org/officeDocument/2006/relationships/slide" Target="slides/slide220.xml"/><Relationship Id="rId206" Type="http://schemas.openxmlformats.org/officeDocument/2006/relationships/slide" Target="slides/slide221.xml"/><Relationship Id="rId207" Type="http://schemas.openxmlformats.org/officeDocument/2006/relationships/slide" Target="slides/slide222.xml"/><Relationship Id="rId208" Type="http://schemas.openxmlformats.org/officeDocument/2006/relationships/slide" Target="slides/slide223.xml"/><Relationship Id="rId209" Type="http://schemas.openxmlformats.org/officeDocument/2006/relationships/slide" Target="slides/slide224.xml"/><Relationship Id="rId210" Type="http://schemas.openxmlformats.org/officeDocument/2006/relationships/slide" Target="slides/slide225.xml"/><Relationship Id="rId211" Type="http://schemas.openxmlformats.org/officeDocument/2006/relationships/slide" Target="slides/slide226.xml"/><Relationship Id="rId212" Type="http://schemas.openxmlformats.org/officeDocument/2006/relationships/slide" Target="slides/slide227.xml"/><Relationship Id="rId213" Type="http://schemas.openxmlformats.org/officeDocument/2006/relationships/slide" Target="slides/slide228.xml"/><Relationship Id="rId214" Type="http://schemas.openxmlformats.org/officeDocument/2006/relationships/slide" Target="slides/slide229.xml"/><Relationship Id="rId215" Type="http://schemas.openxmlformats.org/officeDocument/2006/relationships/slide" Target="slides/slide230.xml"/><Relationship Id="rId216" Type="http://schemas.openxmlformats.org/officeDocument/2006/relationships/slide" Target="slides/slide231.xml"/><Relationship Id="rId217" Type="http://schemas.openxmlformats.org/officeDocument/2006/relationships/slide" Target="slides/slide232.xml"/><Relationship Id="rId218" Type="http://schemas.openxmlformats.org/officeDocument/2006/relationships/slide" Target="slides/slide233.xml"/><Relationship Id="rId219" Type="http://schemas.openxmlformats.org/officeDocument/2006/relationships/slide" Target="slides/slide234.xml"/><Relationship Id="rId220" Type="http://schemas.openxmlformats.org/officeDocument/2006/relationships/slide" Target="slides/slide235.xml"/><Relationship Id="rId221" Type="http://schemas.openxmlformats.org/officeDocument/2006/relationships/slide" Target="slides/slide236.xml"/><Relationship Id="rId222" Type="http://schemas.openxmlformats.org/officeDocument/2006/relationships/slide" Target="slides/slide237.xml"/><Relationship Id="rId223" Type="http://schemas.openxmlformats.org/officeDocument/2006/relationships/slide" Target="slides/slide238.xml"/><Relationship Id="rId224" Type="http://schemas.openxmlformats.org/officeDocument/2006/relationships/slide" Target="slides/slide239.xml"/><Relationship Id="rId225" Type="http://schemas.openxmlformats.org/officeDocument/2006/relationships/slide" Target="slides/slide240.xml"/><Relationship Id="rId226" Type="http://schemas.openxmlformats.org/officeDocument/2006/relationships/slide" Target="slides/slide241.xml"/><Relationship Id="rId227" Type="http://schemas.openxmlformats.org/officeDocument/2006/relationships/slide" Target="slides/slide242.xml"/><Relationship Id="rId228" Type="http://schemas.openxmlformats.org/officeDocument/2006/relationships/slide" Target="slides/slide243.xml"/><Relationship Id="rId229" Type="http://schemas.openxmlformats.org/officeDocument/2006/relationships/slide" Target="slides/slide244.xml"/><Relationship Id="rId230" Type="http://schemas.openxmlformats.org/officeDocument/2006/relationships/slide" Target="slides/slide245.xml"/><Relationship Id="rId231" Type="http://schemas.openxmlformats.org/officeDocument/2006/relationships/slide" Target="slides/slide246.xml"/><Relationship Id="rId232" Type="http://schemas.openxmlformats.org/officeDocument/2006/relationships/slide" Target="slides/slide247.xml"/><Relationship Id="rId233" Type="http://schemas.openxmlformats.org/officeDocument/2006/relationships/slide" Target="slides/slide248.xml"/><Relationship Id="rId234" Type="http://schemas.openxmlformats.org/officeDocument/2006/relationships/slide" Target="slides/slide249.xml"/><Relationship Id="rId235" Type="http://schemas.openxmlformats.org/officeDocument/2006/relationships/slide" Target="slides/slide250.xml"/><Relationship Id="rId236" Type="http://schemas.openxmlformats.org/officeDocument/2006/relationships/slide" Target="slides/slide251.xml"/><Relationship Id="rId237" Type="http://schemas.openxmlformats.org/officeDocument/2006/relationships/slide" Target="slides/slide252.xml"/><Relationship Id="rId238" Type="http://schemas.openxmlformats.org/officeDocument/2006/relationships/slide" Target="slides/slide253.xml"/><Relationship Id="rId239" Type="http://schemas.openxmlformats.org/officeDocument/2006/relationships/slide" Target="slides/slide254.xml"/><Relationship Id="rId240" Type="http://schemas.openxmlformats.org/officeDocument/2006/relationships/slide" Target="slides/slide255.xml"/><Relationship Id="rId241" Type="http://schemas.openxmlformats.org/officeDocument/2006/relationships/slide" Target="slides/slide256.xml"/><Relationship Id="rId242" Type="http://schemas.openxmlformats.org/officeDocument/2006/relationships/slide" Target="slides/slide257.xml"/><Relationship Id="rId243" Type="http://schemas.openxmlformats.org/officeDocument/2006/relationships/slide" Target="slides/slide258.xml"/><Relationship Id="rId244" Type="http://schemas.openxmlformats.org/officeDocument/2006/relationships/slide" Target="slides/slide259.xml"/><Relationship Id="rId245" Type="http://schemas.openxmlformats.org/officeDocument/2006/relationships/slide" Target="slides/slide260.xml"/><Relationship Id="rId246" Type="http://schemas.openxmlformats.org/officeDocument/2006/relationships/slide" Target="slides/slide261.xml"/><Relationship Id="rId247" Type="http://schemas.openxmlformats.org/officeDocument/2006/relationships/slide" Target="slides/slide262.xml"/><Relationship Id="rId248" Type="http://schemas.openxmlformats.org/officeDocument/2006/relationships/slide" Target="slides/slide263.xml"/><Relationship Id="rId249" Type="http://schemas.openxmlformats.org/officeDocument/2006/relationships/slide" Target="slides/slide264.xml"/><Relationship Id="rId250" Type="http://schemas.openxmlformats.org/officeDocument/2006/relationships/slide" Target="slides/slide265.xml"/><Relationship Id="rId251" Type="http://schemas.openxmlformats.org/officeDocument/2006/relationships/slide" Target="slides/slide266.xml"/><Relationship Id="rId252" Type="http://schemas.openxmlformats.org/officeDocument/2006/relationships/slide" Target="slides/slide267.xml"/><Relationship Id="rId253" Type="http://schemas.openxmlformats.org/officeDocument/2006/relationships/slide" Target="slides/slide268.xml"/><Relationship Id="rId254" Type="http://schemas.openxmlformats.org/officeDocument/2006/relationships/slide" Target="slides/slide269.xml"/><Relationship Id="rId255" Type="http://schemas.openxmlformats.org/officeDocument/2006/relationships/slide" Target="slides/slide270.xml"/><Relationship Id="rId256" Type="http://schemas.openxmlformats.org/officeDocument/2006/relationships/slide" Target="slides/slide271.xml"/><Relationship Id="rId257" Type="http://schemas.openxmlformats.org/officeDocument/2006/relationships/slide" Target="slides/slide272.xml"/><Relationship Id="rId258" Type="http://schemas.openxmlformats.org/officeDocument/2006/relationships/slide" Target="slides/slide273.xml"/><Relationship Id="rId259" Type="http://schemas.openxmlformats.org/officeDocument/2006/relationships/slide" Target="slides/slide274.xml"/><Relationship Id="rId260" Type="http://schemas.openxmlformats.org/officeDocument/2006/relationships/slide" Target="slides/slide275.xml"/><Relationship Id="rId261" Type="http://schemas.openxmlformats.org/officeDocument/2006/relationships/slide" Target="slides/slide276.xml"/><Relationship Id="rId262" Type="http://schemas.openxmlformats.org/officeDocument/2006/relationships/slide" Target="slides/slide277.xml"/><Relationship Id="rId263" Type="http://schemas.openxmlformats.org/officeDocument/2006/relationships/slide" Target="slides/slide278.xml"/><Relationship Id="rId264" Type="http://schemas.openxmlformats.org/officeDocument/2006/relationships/slide" Target="slides/slide279.xml"/><Relationship Id="rId265" Type="http://schemas.openxmlformats.org/officeDocument/2006/relationships/slide" Target="slides/slide280.xml"/><Relationship Id="rId266" Type="http://schemas.openxmlformats.org/officeDocument/2006/relationships/slide" Target="slides/slide281.xml"/><Relationship Id="rId267" Type="http://schemas.openxmlformats.org/officeDocument/2006/relationships/slide" Target="slides/slide282.xml"/><Relationship Id="rId268" Type="http://schemas.openxmlformats.org/officeDocument/2006/relationships/slide" Target="slides/slide283.xml"/><Relationship Id="rId269" Type="http://schemas.openxmlformats.org/officeDocument/2006/relationships/slide" Target="slides/slide284.xml"/><Relationship Id="rId270" Type="http://schemas.openxmlformats.org/officeDocument/2006/relationships/slide" Target="slides/slide285.xml"/><Relationship Id="rId271" Type="http://schemas.openxmlformats.org/officeDocument/2006/relationships/slide" Target="slides/slide286.xml"/><Relationship Id="rId272" Type="http://schemas.openxmlformats.org/officeDocument/2006/relationships/slide" Target="slides/slide287.xml"/><Relationship Id="rId273" Type="http://schemas.openxmlformats.org/officeDocument/2006/relationships/slide" Target="slides/slide288.xml"/><Relationship Id="rId274" Type="http://schemas.openxmlformats.org/officeDocument/2006/relationships/slide" Target="slides/slide289.xml"/><Relationship Id="rId275" Type="http://schemas.openxmlformats.org/officeDocument/2006/relationships/slide" Target="slides/slide290.xml"/><Relationship Id="rId276" Type="http://schemas.openxmlformats.org/officeDocument/2006/relationships/slide" Target="slides/slide291.xml"/><Relationship Id="rId277" Type="http://schemas.openxmlformats.org/officeDocument/2006/relationships/slide" Target="slides/slide292.xml"/><Relationship Id="rId278" Type="http://schemas.openxmlformats.org/officeDocument/2006/relationships/slide" Target="slides/slide293.xml"/><Relationship Id="rId279" Type="http://schemas.openxmlformats.org/officeDocument/2006/relationships/slide" Target="slides/slide294.xml"/><Relationship Id="rId280" Type="http://schemas.openxmlformats.org/officeDocument/2006/relationships/slide" Target="slides/slide295.xml"/><Relationship Id="rId281" Type="http://schemas.openxmlformats.org/officeDocument/2006/relationships/slide" Target="slides/slide296.xml"/><Relationship Id="rId282" Type="http://schemas.openxmlformats.org/officeDocument/2006/relationships/slide" Target="slides/slide297.xml"/><Relationship Id="rId283" Type="http://schemas.openxmlformats.org/officeDocument/2006/relationships/slide" Target="slides/slide298.xml"/><Relationship Id="rId284" Type="http://schemas.openxmlformats.org/officeDocument/2006/relationships/slide" Target="slides/slide299.xml"/><Relationship Id="rId285" Type="http://schemas.openxmlformats.org/officeDocument/2006/relationships/slide" Target="slides/slide300.xml"/><Relationship Id="rId286" Type="http://schemas.openxmlformats.org/officeDocument/2006/relationships/slide" Target="slides/slide301.xml"/><Relationship Id="rId287" Type="http://schemas.openxmlformats.org/officeDocument/2006/relationships/slide" Target="slides/slide302.xml"/><Relationship Id="rId288" Type="http://schemas.openxmlformats.org/officeDocument/2006/relationships/slide" Target="slides/slide303.xml"/><Relationship Id="rId289" Type="http://schemas.openxmlformats.org/officeDocument/2006/relationships/slide" Target="slides/slide304.xml"/><Relationship Id="rId290" Type="http://schemas.openxmlformats.org/officeDocument/2006/relationships/slide" Target="slides/slide305.xml"/><Relationship Id="rId291" Type="http://schemas.openxmlformats.org/officeDocument/2006/relationships/slide" Target="slides/slide306.xml"/><Relationship Id="rId292" Type="http://schemas.openxmlformats.org/officeDocument/2006/relationships/slide" Target="slides/slide307.xml"/><Relationship Id="rId293" Type="http://schemas.openxmlformats.org/officeDocument/2006/relationships/slide" Target="slides/slide308.xml"/><Relationship Id="rId294" Type="http://schemas.openxmlformats.org/officeDocument/2006/relationships/slide" Target="slides/slide309.xml"/><Relationship Id="rId295" Type="http://schemas.openxmlformats.org/officeDocument/2006/relationships/slide" Target="slides/slide310.xml"/><Relationship Id="rId296" Type="http://schemas.openxmlformats.org/officeDocument/2006/relationships/slide" Target="slides/slide311.xml"/><Relationship Id="rId297" Type="http://schemas.openxmlformats.org/officeDocument/2006/relationships/slide" Target="slides/slide312.xml"/><Relationship Id="rId298" Type="http://schemas.openxmlformats.org/officeDocument/2006/relationships/slide" Target="slides/slide313.xml"/><Relationship Id="rId299" Type="http://schemas.openxmlformats.org/officeDocument/2006/relationships/slide" Target="slides/slide314.xml"/><Relationship Id="rId300" Type="http://schemas.openxmlformats.org/officeDocument/2006/relationships/slide" Target="slides/slide315.xml"/><Relationship Id="rId301" Type="http://schemas.openxmlformats.org/officeDocument/2006/relationships/slide" Target="slides/slide316.xml"/><Relationship Id="rId302" Type="http://schemas.openxmlformats.org/officeDocument/2006/relationships/slide" Target="slides/slide317.xml"/><Relationship Id="rId303" Type="http://schemas.openxmlformats.org/officeDocument/2006/relationships/slide" Target="slides/slide318.xml"/><Relationship Id="rId304" Type="http://schemas.openxmlformats.org/officeDocument/2006/relationships/slide" Target="slides/slide319.xml"/><Relationship Id="rId305" Type="http://schemas.openxmlformats.org/officeDocument/2006/relationships/slide" Target="slides/slide320.xml"/><Relationship Id="rId306" Type="http://schemas.openxmlformats.org/officeDocument/2006/relationships/slide" Target="slides/slide321.xml"/><Relationship Id="rId307" Type="http://schemas.openxmlformats.org/officeDocument/2006/relationships/slide" Target="slides/slide322.xml"/><Relationship Id="rId308" Type="http://schemas.openxmlformats.org/officeDocument/2006/relationships/slide" Target="slides/slide323.xml"/><Relationship Id="rId309" Type="http://schemas.openxmlformats.org/officeDocument/2006/relationships/slide" Target="slides/slide324.xml"/><Relationship Id="rId310" Type="http://schemas.openxmlformats.org/officeDocument/2006/relationships/slide" Target="slides/slide325.xml"/><Relationship Id="rId311" Type="http://schemas.openxmlformats.org/officeDocument/2006/relationships/slide" Target="slides/slide326.xml"/><Relationship Id="rId312" Type="http://schemas.openxmlformats.org/officeDocument/2006/relationships/slide" Target="slides/slide327.xml"/><Relationship Id="rId313" Type="http://schemas.openxmlformats.org/officeDocument/2006/relationships/slide" Target="slides/slide328.xml"/><Relationship Id="rId314" Type="http://schemas.openxmlformats.org/officeDocument/2006/relationships/slide" Target="slides/slide329.xml"/><Relationship Id="rId315" Type="http://schemas.openxmlformats.org/officeDocument/2006/relationships/slide" Target="slides/slide330.xml"/><Relationship Id="rId316" Type="http://schemas.openxmlformats.org/officeDocument/2006/relationships/slide" Target="slides/slide331.xml"/><Relationship Id="rId317" Type="http://schemas.openxmlformats.org/officeDocument/2006/relationships/slide" Target="slides/slide332.xml"/><Relationship Id="rId318" Type="http://schemas.openxmlformats.org/officeDocument/2006/relationships/slide" Target="slides/slide333.xml"/><Relationship Id="rId319" Type="http://schemas.openxmlformats.org/officeDocument/2006/relationships/slide" Target="slides/slide334.xml"/><Relationship Id="rId320" Type="http://schemas.openxmlformats.org/officeDocument/2006/relationships/slide" Target="slides/slide335.xml"/><Relationship Id="rId321" Type="http://schemas.openxmlformats.org/officeDocument/2006/relationships/slide" Target="slides/slide336.xml"/><Relationship Id="rId322" Type="http://schemas.openxmlformats.org/officeDocument/2006/relationships/slide" Target="slides/slide337.xml"/><Relationship Id="rId323" Type="http://schemas.openxmlformats.org/officeDocument/2006/relationships/slide" Target="slides/slide338.xml"/><Relationship Id="rId324" Type="http://schemas.openxmlformats.org/officeDocument/2006/relationships/slide" Target="slides/slide339.xml"/><Relationship Id="rId325" Type="http://schemas.openxmlformats.org/officeDocument/2006/relationships/slide" Target="slides/slide340.xml"/><Relationship Id="rId326" Type="http://schemas.openxmlformats.org/officeDocument/2006/relationships/slide" Target="slides/slide341.xml"/><Relationship Id="rId327" Type="http://schemas.openxmlformats.org/officeDocument/2006/relationships/slide" Target="slides/slide342.xml"/><Relationship Id="rId328" Type="http://schemas.openxmlformats.org/officeDocument/2006/relationships/slide" Target="slides/slide343.xml"/><Relationship Id="rId329" Type="http://schemas.openxmlformats.org/officeDocument/2006/relationships/slide" Target="slides/slide344.xml"/><Relationship Id="rId330" Type="http://schemas.openxmlformats.org/officeDocument/2006/relationships/slide" Target="slides/slide345.xml"/><Relationship Id="rId331" Type="http://schemas.openxmlformats.org/officeDocument/2006/relationships/slide" Target="slides/slide346.xml"/><Relationship Id="rId332" Type="http://schemas.openxmlformats.org/officeDocument/2006/relationships/slide" Target="slides/slide347.xml"/><Relationship Id="rId333" Type="http://schemas.openxmlformats.org/officeDocument/2006/relationships/slide" Target="slides/slide348.xml"/><Relationship Id="rId334" Type="http://schemas.openxmlformats.org/officeDocument/2006/relationships/slide" Target="slides/slide349.xml"/><Relationship Id="rId335" Type="http://schemas.openxmlformats.org/officeDocument/2006/relationships/slide" Target="slides/slide350.xml"/><Relationship Id="rId336" Type="http://schemas.openxmlformats.org/officeDocument/2006/relationships/slide" Target="slides/slide351.xml"/><Relationship Id="rId337" Type="http://schemas.openxmlformats.org/officeDocument/2006/relationships/slide" Target="slides/slide352.xml"/><Relationship Id="rId338" Type="http://schemas.openxmlformats.org/officeDocument/2006/relationships/slide" Target="slides/slide353.xml"/><Relationship Id="rId339" Type="http://schemas.openxmlformats.org/officeDocument/2006/relationships/slide" Target="slides/slide354.xml"/><Relationship Id="rId340" Type="http://schemas.openxmlformats.org/officeDocument/2006/relationships/slide" Target="slides/slide355.xml"/><Relationship Id="rId341" Type="http://schemas.openxmlformats.org/officeDocument/2006/relationships/slide" Target="slides/slide356.xml"/><Relationship Id="rId342" Type="http://schemas.openxmlformats.org/officeDocument/2006/relationships/slide" Target="slides/slide357.xml"/><Relationship Id="rId343" Type="http://schemas.openxmlformats.org/officeDocument/2006/relationships/slide" Target="slides/slide358.xml"/><Relationship Id="rId344" Type="http://schemas.openxmlformats.org/officeDocument/2006/relationships/slide" Target="slides/slide359.xml"/><Relationship Id="rId345" Type="http://schemas.openxmlformats.org/officeDocument/2006/relationships/slide" Target="slides/slide360.xml"/><Relationship Id="rId346" Type="http://schemas.openxmlformats.org/officeDocument/2006/relationships/slide" Target="slides/slide361.xml"/><Relationship Id="rId347" Type="http://schemas.openxmlformats.org/officeDocument/2006/relationships/slide" Target="slides/slide362.xml"/><Relationship Id="rId348" Type="http://schemas.openxmlformats.org/officeDocument/2006/relationships/slide" Target="slides/slide363.xml"/><Relationship Id="rId349" Type="http://schemas.openxmlformats.org/officeDocument/2006/relationships/slide" Target="slides/slide364.xml"/><Relationship Id="rId350" Type="http://schemas.openxmlformats.org/officeDocument/2006/relationships/slide" Target="slides/slide365.xml"/><Relationship Id="rId351" Type="http://schemas.openxmlformats.org/officeDocument/2006/relationships/slide" Target="slides/slide366.xml"/><Relationship Id="rId352" Type="http://schemas.openxmlformats.org/officeDocument/2006/relationships/slide" Target="slides/slide367.xml"/><Relationship Id="rId353" Type="http://schemas.openxmlformats.org/officeDocument/2006/relationships/slide" Target="slides/slide368.xml"/><Relationship Id="rId354" Type="http://schemas.openxmlformats.org/officeDocument/2006/relationships/slide" Target="slides/slide369.xml"/><Relationship Id="rId355" Type="http://schemas.openxmlformats.org/officeDocument/2006/relationships/slide" Target="slides/slide370.xml"/><Relationship Id="rId356" Type="http://schemas.openxmlformats.org/officeDocument/2006/relationships/slide" Target="slides/slide371.xml"/><Relationship Id="rId357" Type="http://schemas.openxmlformats.org/officeDocument/2006/relationships/slide" Target="slides/slide372.xml"/><Relationship Id="rId358" Type="http://schemas.openxmlformats.org/officeDocument/2006/relationships/slide" Target="slides/slide373.xml"/><Relationship Id="rId359" Type="http://schemas.openxmlformats.org/officeDocument/2006/relationships/slide" Target="slides/slide374.xml"/><Relationship Id="rId360" Type="http://schemas.openxmlformats.org/officeDocument/2006/relationships/slide" Target="slides/slide375.xml"/><Relationship Id="rId361" Type="http://schemas.openxmlformats.org/officeDocument/2006/relationships/slide" Target="slides/slide376.xml"/><Relationship Id="rId362" Type="http://schemas.openxmlformats.org/officeDocument/2006/relationships/slide" Target="slides/slide377.xml"/><Relationship Id="rId363" Type="http://schemas.openxmlformats.org/officeDocument/2006/relationships/slide" Target="slides/slide378.xml"/><Relationship Id="rId364" Type="http://schemas.openxmlformats.org/officeDocument/2006/relationships/slide" Target="slides/slide379.xml"/><Relationship Id="rId365" Type="http://schemas.openxmlformats.org/officeDocument/2006/relationships/slide" Target="slides/slide380.xml"/><Relationship Id="rId366" Type="http://schemas.openxmlformats.org/officeDocument/2006/relationships/slide" Target="slides/slide381.xml"/><Relationship Id="rId367" Type="http://schemas.openxmlformats.org/officeDocument/2006/relationships/slide" Target="slides/slide382.xml"/><Relationship Id="rId368" Type="http://schemas.openxmlformats.org/officeDocument/2006/relationships/slide" Target="slides/slide383.xml"/><Relationship Id="rId369" Type="http://schemas.openxmlformats.org/officeDocument/2006/relationships/slide" Target="slides/slide384.xml"/><Relationship Id="rId370" Type="http://schemas.openxmlformats.org/officeDocument/2006/relationships/slide" Target="slides/slide385.xml"/><Relationship Id="rId371" Type="http://schemas.openxmlformats.org/officeDocument/2006/relationships/slide" Target="slides/slide386.xml"/><Relationship Id="rId372" Type="http://schemas.openxmlformats.org/officeDocument/2006/relationships/slide" Target="slides/slide387.xml"/><Relationship Id="rId373" Type="http://schemas.openxmlformats.org/officeDocument/2006/relationships/slide" Target="slides/slide388.xml"/><Relationship Id="rId374" Type="http://schemas.openxmlformats.org/officeDocument/2006/relationships/slide" Target="slides/slide389.xml"/><Relationship Id="rId375" Type="http://schemas.openxmlformats.org/officeDocument/2006/relationships/slide" Target="slides/slide390.xml"/><Relationship Id="rId376" Type="http://schemas.openxmlformats.org/officeDocument/2006/relationships/slide" Target="slides/slide391.xml"/><Relationship Id="rId377" Type="http://schemas.openxmlformats.org/officeDocument/2006/relationships/slide" Target="slides/slide392.xml"/><Relationship Id="rId378" Type="http://schemas.openxmlformats.org/officeDocument/2006/relationships/slide" Target="slides/slide393.xml"/><Relationship Id="rId379" Type="http://schemas.openxmlformats.org/officeDocument/2006/relationships/slide" Target="slides/slide394.xml"/><Relationship Id="rId380" Type="http://schemas.openxmlformats.org/officeDocument/2006/relationships/slide" Target="slides/slide395.xml"/><Relationship Id="rId381" Type="http://schemas.openxmlformats.org/officeDocument/2006/relationships/slide" Target="slides/slide396.xml"/><Relationship Id="rId382" Type="http://schemas.openxmlformats.org/officeDocument/2006/relationships/slide" Target="slides/slide397.xml"/><Relationship Id="rId383" Type="http://schemas.openxmlformats.org/officeDocument/2006/relationships/slide" Target="slides/slide398.xml"/><Relationship Id="rId384" Type="http://schemas.openxmlformats.org/officeDocument/2006/relationships/slide" Target="slides/slide399.xml"/><Relationship Id="rId385" Type="http://schemas.openxmlformats.org/officeDocument/2006/relationships/slide" Target="slides/slide400.xml"/><Relationship Id="rId386" Type="http://schemas.openxmlformats.org/officeDocument/2006/relationships/slide" Target="slides/slide401.xml"/><Relationship Id="rId387" Type="http://schemas.openxmlformats.org/officeDocument/2006/relationships/slide" Target="slides/slide402.xml"/><Relationship Id="rId388" Type="http://schemas.openxmlformats.org/officeDocument/2006/relationships/slide" Target="slides/slide403.xml"/><Relationship Id="rId389" Type="http://schemas.openxmlformats.org/officeDocument/2006/relationships/slide" Target="slides/slide404.xml"/><Relationship Id="rId390" Type="http://schemas.openxmlformats.org/officeDocument/2006/relationships/slide" Target="slides/slide405.xml"/><Relationship Id="rId391" Type="http://schemas.openxmlformats.org/officeDocument/2006/relationships/slide" Target="slides/slide406.xml"/><Relationship Id="rId392" Type="http://schemas.openxmlformats.org/officeDocument/2006/relationships/slide" Target="slides/slide407.xml"/><Relationship Id="rId393" Type="http://schemas.openxmlformats.org/officeDocument/2006/relationships/slide" Target="slides/slide408.xml"/><Relationship Id="rId394" Type="http://schemas.openxmlformats.org/officeDocument/2006/relationships/slide" Target="slides/slide409.xml"/><Relationship Id="rId395" Type="http://schemas.openxmlformats.org/officeDocument/2006/relationships/slide" Target="slides/slide410.xml"/><Relationship Id="rId396" Type="http://schemas.openxmlformats.org/officeDocument/2006/relationships/slide" Target="slides/slide411.xml"/><Relationship Id="rId397" Type="http://schemas.openxmlformats.org/officeDocument/2006/relationships/slide" Target="slides/slide412.xml"/><Relationship Id="rId398" Type="http://schemas.openxmlformats.org/officeDocument/2006/relationships/slide" Target="slides/slide413.xml"/><Relationship Id="rId399" Type="http://schemas.openxmlformats.org/officeDocument/2006/relationships/slide" Target="slides/slide414.xml"/><Relationship Id="rId400" Type="http://schemas.openxmlformats.org/officeDocument/2006/relationships/slide" Target="slides/slide415.xml"/><Relationship Id="rId401" Type="http://schemas.openxmlformats.org/officeDocument/2006/relationships/slide" Target="slides/slide416.xml"/><Relationship Id="rId402" Type="http://schemas.openxmlformats.org/officeDocument/2006/relationships/slide" Target="slides/slide417.xml"/><Relationship Id="rId403" Type="http://schemas.openxmlformats.org/officeDocument/2006/relationships/slide" Target="slides/slide418.xml"/><Relationship Id="rId404" Type="http://schemas.openxmlformats.org/officeDocument/2006/relationships/slide" Target="slides/slide419.xml"/><Relationship Id="rId405" Type="http://schemas.openxmlformats.org/officeDocument/2006/relationships/slide" Target="slides/slide420.xml"/><Relationship Id="rId406" Type="http://schemas.openxmlformats.org/officeDocument/2006/relationships/slide" Target="slides/slide421.xml"/><Relationship Id="rId407" Type="http://schemas.openxmlformats.org/officeDocument/2006/relationships/slide" Target="slides/slide422.xml"/><Relationship Id="rId408" Type="http://schemas.openxmlformats.org/officeDocument/2006/relationships/slide" Target="slides/slide423.xml"/><Relationship Id="rId409" Type="http://schemas.openxmlformats.org/officeDocument/2006/relationships/slide" Target="slides/slide424.xml"/><Relationship Id="rId410" Type="http://schemas.openxmlformats.org/officeDocument/2006/relationships/slide" Target="slides/slide425.xml"/><Relationship Id="rId411" Type="http://schemas.openxmlformats.org/officeDocument/2006/relationships/slide" Target="slides/slide426.xml"/><Relationship Id="rId412" Type="http://schemas.openxmlformats.org/officeDocument/2006/relationships/slide" Target="slides/slide427.xml"/><Relationship Id="rId413" Type="http://schemas.openxmlformats.org/officeDocument/2006/relationships/slide" Target="slides/slide428.xml"/><Relationship Id="rId414" Type="http://schemas.openxmlformats.org/officeDocument/2006/relationships/slide" Target="slides/slide429.xml"/><Relationship Id="rId415" Type="http://schemas.openxmlformats.org/officeDocument/2006/relationships/slide" Target="slides/slide430.xml"/><Relationship Id="rId416" Type="http://schemas.openxmlformats.org/officeDocument/2006/relationships/slide" Target="slides/slide431.xml"/><Relationship Id="rId417" Type="http://schemas.openxmlformats.org/officeDocument/2006/relationships/slide" Target="slides/slide432.xml"/><Relationship Id="rId418" Type="http://schemas.openxmlformats.org/officeDocument/2006/relationships/slide" Target="slides/slide433.xml"/><Relationship Id="rId419" Type="http://schemas.openxmlformats.org/officeDocument/2006/relationships/slide" Target="slides/slide434.xml"/><Relationship Id="rId420" Type="http://schemas.openxmlformats.org/officeDocument/2006/relationships/slide" Target="slides/slide435.xml"/><Relationship Id="rId421" Type="http://schemas.openxmlformats.org/officeDocument/2006/relationships/slide" Target="slides/slide436.xml"/><Relationship Id="rId422" Type="http://schemas.openxmlformats.org/officeDocument/2006/relationships/slide" Target="slides/slide437.xml"/><Relationship Id="rId423" Type="http://schemas.openxmlformats.org/officeDocument/2006/relationships/slide" Target="slides/slide438.xml"/><Relationship Id="rId424" Type="http://schemas.openxmlformats.org/officeDocument/2006/relationships/slide" Target="slides/slide439.xml"/><Relationship Id="rId425" Type="http://schemas.openxmlformats.org/officeDocument/2006/relationships/slide" Target="slides/slide440.xml"/><Relationship Id="rId426" Type="http://schemas.openxmlformats.org/officeDocument/2006/relationships/slide" Target="slides/slide441.xml"/><Relationship Id="rId427" Type="http://schemas.openxmlformats.org/officeDocument/2006/relationships/slide" Target="slides/slide442.xml"/><Relationship Id="rId428" Type="http://schemas.openxmlformats.org/officeDocument/2006/relationships/slide" Target="slides/slide443.xml"/><Relationship Id="rId429" Type="http://schemas.openxmlformats.org/officeDocument/2006/relationships/slide" Target="slides/slide444.xml"/><Relationship Id="rId430" Type="http://schemas.openxmlformats.org/officeDocument/2006/relationships/slide" Target="slides/slide445.xml"/><Relationship Id="rId431" Type="http://schemas.openxmlformats.org/officeDocument/2006/relationships/slide" Target="slides/slide446.xml"/><Relationship Id="rId432" Type="http://schemas.openxmlformats.org/officeDocument/2006/relationships/slide" Target="slides/slide447.xml"/><Relationship Id="rId433" Type="http://schemas.openxmlformats.org/officeDocument/2006/relationships/slide" Target="slides/slide448.xml"/><Relationship Id="rId434" Type="http://schemas.openxmlformats.org/officeDocument/2006/relationships/slide" Target="slides/slide449.xml"/><Relationship Id="rId435" Type="http://schemas.openxmlformats.org/officeDocument/2006/relationships/slide" Target="slides/slide450.xml"/><Relationship Id="rId436" Type="http://schemas.openxmlformats.org/officeDocument/2006/relationships/slide" Target="slides/slide451.xml"/><Relationship Id="rId437" Type="http://schemas.openxmlformats.org/officeDocument/2006/relationships/slide" Target="slides/slide452.xml"/><Relationship Id="rId438" Type="http://schemas.openxmlformats.org/officeDocument/2006/relationships/slide" Target="slides/slide453.xml"/><Relationship Id="rId439" Type="http://schemas.openxmlformats.org/officeDocument/2006/relationships/slide" Target="slides/slide454.xml"/><Relationship Id="rId440" Type="http://schemas.openxmlformats.org/officeDocument/2006/relationships/slide" Target="slides/slide455.xml"/><Relationship Id="rId441" Type="http://schemas.openxmlformats.org/officeDocument/2006/relationships/slide" Target="slides/slide456.xml"/><Relationship Id="rId442" Type="http://schemas.openxmlformats.org/officeDocument/2006/relationships/slide" Target="slides/slide457.xml"/><Relationship Id="rId443" Type="http://schemas.openxmlformats.org/officeDocument/2006/relationships/slide" Target="slides/slide458.xml"/><Relationship Id="rId444" Type="http://schemas.openxmlformats.org/officeDocument/2006/relationships/slide" Target="slides/slide459.xml"/><Relationship Id="rId445" Type="http://schemas.openxmlformats.org/officeDocument/2006/relationships/slide" Target="slides/slide460.xml"/><Relationship Id="rId446" Type="http://schemas.openxmlformats.org/officeDocument/2006/relationships/slide" Target="slides/slide461.xml"/><Relationship Id="rId447" Type="http://schemas.openxmlformats.org/officeDocument/2006/relationships/slide" Target="slides/slide462.xml"/><Relationship Id="rId448" Type="http://schemas.openxmlformats.org/officeDocument/2006/relationships/slide" Target="slides/slide463.xml"/><Relationship Id="rId449" Type="http://schemas.openxmlformats.org/officeDocument/2006/relationships/slide" Target="slides/slide464.xml"/><Relationship Id="rId450" Type="http://schemas.openxmlformats.org/officeDocument/2006/relationships/slide" Target="slides/slide465.xml"/><Relationship Id="rId451" Type="http://schemas.openxmlformats.org/officeDocument/2006/relationships/slide" Target="slides/slide466.xml"/><Relationship Id="rId452" Type="http://schemas.openxmlformats.org/officeDocument/2006/relationships/slide" Target="slides/slide467.xml"/><Relationship Id="rId453" Type="http://schemas.openxmlformats.org/officeDocument/2006/relationships/slide" Target="slides/slide468.xml"/><Relationship Id="rId454" Type="http://schemas.openxmlformats.org/officeDocument/2006/relationships/slide" Target="slides/slide469.xml"/><Relationship Id="rId455" Type="http://schemas.openxmlformats.org/officeDocument/2006/relationships/slide" Target="slides/slide470.xml"/><Relationship Id="rId456" Type="http://schemas.openxmlformats.org/officeDocument/2006/relationships/slide" Target="slides/slide471.xml"/><Relationship Id="rId457" Type="http://schemas.openxmlformats.org/officeDocument/2006/relationships/slide" Target="slides/slide472.xml"/><Relationship Id="rId458" Type="http://schemas.openxmlformats.org/officeDocument/2006/relationships/slide" Target="slides/slide473.xml"/><Relationship Id="rId459" Type="http://schemas.openxmlformats.org/officeDocument/2006/relationships/slide" Target="slides/slide474.xml"/><Relationship Id="rId460" Type="http://schemas.openxmlformats.org/officeDocument/2006/relationships/slide" Target="slides/slide475.xml"/><Relationship Id="rId461" Type="http://schemas.openxmlformats.org/officeDocument/2006/relationships/slide" Target="slides/slide476.xml"/><Relationship Id="rId462" Type="http://schemas.openxmlformats.org/officeDocument/2006/relationships/slide" Target="slides/slide477.xml"/><Relationship Id="rId463" Type="http://schemas.openxmlformats.org/officeDocument/2006/relationships/slide" Target="slides/slide478.xml"/><Relationship Id="rId464" Type="http://schemas.openxmlformats.org/officeDocument/2006/relationships/slide" Target="slides/slide479.xml"/><Relationship Id="rId465" Type="http://schemas.openxmlformats.org/officeDocument/2006/relationships/slide" Target="slides/slide480.xml"/><Relationship Id="rId466" Type="http://schemas.openxmlformats.org/officeDocument/2006/relationships/slide" Target="slides/slide481.xml"/><Relationship Id="rId467" Type="http://schemas.openxmlformats.org/officeDocument/2006/relationships/slide" Target="slides/slide482.xml"/><Relationship Id="rId468" Type="http://schemas.openxmlformats.org/officeDocument/2006/relationships/slide" Target="slides/slide483.xml"/><Relationship Id="rId469" Type="http://schemas.openxmlformats.org/officeDocument/2006/relationships/slide" Target="slides/slide484.xml"/><Relationship Id="rId470" Type="http://schemas.openxmlformats.org/officeDocument/2006/relationships/slide" Target="slides/slide485.xml"/><Relationship Id="rId471" Type="http://schemas.openxmlformats.org/officeDocument/2006/relationships/slide" Target="slides/slide486.xml"/><Relationship Id="rId472" Type="http://schemas.openxmlformats.org/officeDocument/2006/relationships/slide" Target="slides/slide487.xml"/><Relationship Id="rId473" Type="http://schemas.openxmlformats.org/officeDocument/2006/relationships/slide" Target="slides/slide488.xml"/><Relationship Id="rId474" Type="http://schemas.openxmlformats.org/officeDocument/2006/relationships/slide" Target="slides/slide489.xml"/><Relationship Id="rId475" Type="http://schemas.openxmlformats.org/officeDocument/2006/relationships/slide" Target="slides/slide490.xml"/><Relationship Id="rId476" Type="http://schemas.openxmlformats.org/officeDocument/2006/relationships/slide" Target="slides/slide491.xml"/><Relationship Id="rId477" Type="http://schemas.openxmlformats.org/officeDocument/2006/relationships/slide" Target="slides/slide492.xml"/><Relationship Id="rId478" Type="http://schemas.openxmlformats.org/officeDocument/2006/relationships/slide" Target="slides/slide493.xml"/><Relationship Id="rId479" Type="http://schemas.openxmlformats.org/officeDocument/2006/relationships/slide" Target="slides/slide494.xml"/><Relationship Id="rId480" Type="http://schemas.openxmlformats.org/officeDocument/2006/relationships/slide" Target="slides/slide495.xml"/><Relationship Id="rId481" Type="http://schemas.openxmlformats.org/officeDocument/2006/relationships/slide" Target="slides/slide496.xml"/><Relationship Id="rId482" Type="http://schemas.openxmlformats.org/officeDocument/2006/relationships/slide" Target="slides/slide497.xml"/><Relationship Id="rId483" Type="http://schemas.openxmlformats.org/officeDocument/2006/relationships/slide" Target="slides/slide498.xml"/><Relationship Id="rId484" Type="http://schemas.openxmlformats.org/officeDocument/2006/relationships/slide" Target="slides/slide499.xml"/><Relationship Id="rId485" Type="http://schemas.openxmlformats.org/officeDocument/2006/relationships/slide" Target="slides/slide500.xml"/><Relationship Id="rId486" Type="http://schemas.openxmlformats.org/officeDocument/2006/relationships/slide" Target="slides/slide501.xml"/><Relationship Id="rId487" Type="http://schemas.openxmlformats.org/officeDocument/2006/relationships/slide" Target="slides/slide502.xml"/><Relationship Id="rId488" Type="http://schemas.openxmlformats.org/officeDocument/2006/relationships/slide" Target="slides/slide503.xml"/><Relationship Id="rId489" Type="http://schemas.openxmlformats.org/officeDocument/2006/relationships/slide" Target="slides/slide504.xml"/><Relationship Id="rId490" Type="http://schemas.openxmlformats.org/officeDocument/2006/relationships/slide" Target="slides/slide505.xml"/><Relationship Id="rId491" Type="http://schemas.openxmlformats.org/officeDocument/2006/relationships/slide" Target="slides/slide506.xml"/><Relationship Id="rId492" Type="http://schemas.openxmlformats.org/officeDocument/2006/relationships/slide" Target="slides/slide507.xml"/><Relationship Id="rId493" Type="http://schemas.openxmlformats.org/officeDocument/2006/relationships/slide" Target="slides/slide508.xml"/><Relationship Id="rId494" Type="http://schemas.openxmlformats.org/officeDocument/2006/relationships/slide" Target="slides/slide509.xml"/><Relationship Id="rId495" Type="http://schemas.openxmlformats.org/officeDocument/2006/relationships/slide" Target="slides/slide510.xml"/><Relationship Id="rId496" Type="http://schemas.openxmlformats.org/officeDocument/2006/relationships/slide" Target="slides/slide511.xml"/><Relationship Id="rId497" Type="http://schemas.openxmlformats.org/officeDocument/2006/relationships/slide" Target="slides/slide512.xml"/><Relationship Id="rId498" Type="http://schemas.openxmlformats.org/officeDocument/2006/relationships/slide" Target="slides/slide513.xml"/><Relationship Id="rId499" Type="http://schemas.openxmlformats.org/officeDocument/2006/relationships/slide" Target="slides/slide514.xml"/><Relationship Id="rId500" Type="http://schemas.openxmlformats.org/officeDocument/2006/relationships/slide" Target="slides/slide515.xml"/><Relationship Id="rId501" Type="http://schemas.openxmlformats.org/officeDocument/2006/relationships/slide" Target="slides/slide516.xml"/><Relationship Id="rId502" Type="http://schemas.openxmlformats.org/officeDocument/2006/relationships/slide" Target="slides/slide517.xml"/><Relationship Id="rId503" Type="http://schemas.openxmlformats.org/officeDocument/2006/relationships/slide" Target="slides/slide518.xml"/><Relationship Id="rId504" Type="http://schemas.openxmlformats.org/officeDocument/2006/relationships/slide" Target="slides/slide519.xml"/><Relationship Id="rId505" Type="http://schemas.openxmlformats.org/officeDocument/2006/relationships/slide" Target="slides/slide520.xml"/><Relationship Id="rId506" Type="http://schemas.openxmlformats.org/officeDocument/2006/relationships/slide" Target="slides/slide521.xml"/><Relationship Id="rId507" Type="http://schemas.openxmlformats.org/officeDocument/2006/relationships/slide" Target="slides/slide522.xml"/><Relationship Id="rId508" Type="http://schemas.openxmlformats.org/officeDocument/2006/relationships/slide" Target="slides/slide523.xml"/><Relationship Id="rId509" Type="http://schemas.openxmlformats.org/officeDocument/2006/relationships/slide" Target="slides/slide524.xml"/><Relationship Id="rId510" Type="http://schemas.openxmlformats.org/officeDocument/2006/relationships/slide" Target="slides/slide525.xml"/><Relationship Id="rId511" Type="http://schemas.openxmlformats.org/officeDocument/2006/relationships/slide" Target="slides/slide526.xml"/><Relationship Id="rId512" Type="http://schemas.openxmlformats.org/officeDocument/2006/relationships/slide" Target="slides/slide527.xml"/><Relationship Id="rId513" Type="http://schemas.openxmlformats.org/officeDocument/2006/relationships/slide" Target="slides/slide528.xml"/><Relationship Id="rId514" Type="http://schemas.openxmlformats.org/officeDocument/2006/relationships/slide" Target="slides/slide529.xml"/><Relationship Id="rId515" Type="http://schemas.openxmlformats.org/officeDocument/2006/relationships/slide" Target="slides/slide530.xml"/><Relationship Id="rId516" Type="http://schemas.openxmlformats.org/officeDocument/2006/relationships/slide" Target="slides/slide531.xml"/><Relationship Id="rId517" Type="http://schemas.openxmlformats.org/officeDocument/2006/relationships/slide" Target="slides/slide532.xml"/><Relationship Id="rId518" Type="http://schemas.openxmlformats.org/officeDocument/2006/relationships/slide" Target="slides/slide533.xml"/><Relationship Id="rId519" Type="http://schemas.openxmlformats.org/officeDocument/2006/relationships/slide" Target="slides/slide534.xml"/><Relationship Id="rId520" Type="http://schemas.openxmlformats.org/officeDocument/2006/relationships/slide" Target="slides/slide535.xml"/><Relationship Id="rId521" Type="http://schemas.openxmlformats.org/officeDocument/2006/relationships/slide" Target="slides/slide536.xml"/><Relationship Id="rId522" Type="http://schemas.openxmlformats.org/officeDocument/2006/relationships/slide" Target="slides/slide537.xml"/><Relationship Id="rId523" Type="http://schemas.openxmlformats.org/officeDocument/2006/relationships/slide" Target="slides/slide538.xml"/><Relationship Id="rId524" Type="http://schemas.openxmlformats.org/officeDocument/2006/relationships/slide" Target="slides/slide539.xml"/><Relationship Id="rId525" Type="http://schemas.openxmlformats.org/officeDocument/2006/relationships/slide" Target="slides/slide540.xml"/><Relationship Id="rId526" Type="http://schemas.openxmlformats.org/officeDocument/2006/relationships/slide" Target="slides/slide541.xml"/><Relationship Id="rId527" Type="http://schemas.openxmlformats.org/officeDocument/2006/relationships/slide" Target="slides/slide542.xml"/><Relationship Id="rId528" Type="http://schemas.openxmlformats.org/officeDocument/2006/relationships/slide" Target="slides/slide543.xml"/><Relationship Id="rId529" Type="http://schemas.openxmlformats.org/officeDocument/2006/relationships/slide" Target="slides/slide544.xml"/><Relationship Id="rId530" Type="http://schemas.openxmlformats.org/officeDocument/2006/relationships/slide" Target="slides/slide545.xml"/><Relationship Id="rId531" Type="http://schemas.openxmlformats.org/officeDocument/2006/relationships/slide" Target="slides/slide546.xml"/><Relationship Id="rId532" Type="http://schemas.openxmlformats.org/officeDocument/2006/relationships/slide" Target="slides/slide547.xml"/><Relationship Id="rId533" Type="http://schemas.openxmlformats.org/officeDocument/2006/relationships/slide" Target="slides/slide548.xml"/><Relationship Id="rId534" Type="http://schemas.openxmlformats.org/officeDocument/2006/relationships/slide" Target="slides/slide549.xml"/><Relationship Id="rId535" Type="http://schemas.openxmlformats.org/officeDocument/2006/relationships/slide" Target="slides/slide550.xml"/><Relationship Id="rId536" Type="http://schemas.openxmlformats.org/officeDocument/2006/relationships/slide" Target="slides/slide551.xml"/><Relationship Id="rId537" Type="http://schemas.openxmlformats.org/officeDocument/2006/relationships/slide" Target="slides/slide552.xml"/><Relationship Id="rId538" Type="http://schemas.openxmlformats.org/officeDocument/2006/relationships/slide" Target="slides/slide553.xml"/><Relationship Id="rId539" Type="http://schemas.openxmlformats.org/officeDocument/2006/relationships/slide" Target="slides/slide554.xml"/><Relationship Id="rId540" Type="http://schemas.openxmlformats.org/officeDocument/2006/relationships/slide" Target="slides/slide555.xml"/><Relationship Id="rId541" Type="http://schemas.openxmlformats.org/officeDocument/2006/relationships/slide" Target="slides/slide556.xml"/><Relationship Id="rId542" Type="http://schemas.openxmlformats.org/officeDocument/2006/relationships/slide" Target="slides/slide557.xml"/><Relationship Id="rId543" Type="http://schemas.openxmlformats.org/officeDocument/2006/relationships/slide" Target="slides/slide558.xml"/><Relationship Id="rId544" Type="http://schemas.openxmlformats.org/officeDocument/2006/relationships/slide" Target="slides/slide559.xml"/><Relationship Id="rId545" Type="http://schemas.openxmlformats.org/officeDocument/2006/relationships/slide" Target="slides/slide560.xml"/><Relationship Id="rId546" Type="http://schemas.openxmlformats.org/officeDocument/2006/relationships/slide" Target="slides/slide561.xml"/><Relationship Id="rId547" Type="http://schemas.openxmlformats.org/officeDocument/2006/relationships/slide" Target="slides/slide562.xml"/><Relationship Id="rId548" Type="http://schemas.openxmlformats.org/officeDocument/2006/relationships/slide" Target="slides/slide563.xml"/><Relationship Id="rId549" Type="http://schemas.openxmlformats.org/officeDocument/2006/relationships/slide" Target="slides/slide564.xml"/><Relationship Id="rId550" Type="http://schemas.openxmlformats.org/officeDocument/2006/relationships/slide" Target="slides/slide565.xml"/><Relationship Id="rId551" Type="http://schemas.openxmlformats.org/officeDocument/2006/relationships/slide" Target="slides/slide566.xml"/><Relationship Id="rId552" Type="http://schemas.openxmlformats.org/officeDocument/2006/relationships/slide" Target="slides/slide567.xml"/><Relationship Id="rId553" Type="http://schemas.openxmlformats.org/officeDocument/2006/relationships/slide" Target="slides/slide568.xml"/><Relationship Id="rId554" Type="http://schemas.openxmlformats.org/officeDocument/2006/relationships/slide" Target="slides/slide569.xml"/><Relationship Id="rId555" Type="http://schemas.openxmlformats.org/officeDocument/2006/relationships/slide" Target="slides/slide570.xml"/><Relationship Id="rId556" Type="http://schemas.openxmlformats.org/officeDocument/2006/relationships/slide" Target="slides/slide571.xml"/><Relationship Id="rId557" Type="http://schemas.openxmlformats.org/officeDocument/2006/relationships/slide" Target="slides/slide572.xml"/><Relationship Id="rId558" Type="http://schemas.openxmlformats.org/officeDocument/2006/relationships/slide" Target="slides/slide573.xml"/><Relationship Id="rId559" Type="http://schemas.openxmlformats.org/officeDocument/2006/relationships/slide" Target="slides/slide574.xml"/><Relationship Id="rId560" Type="http://schemas.openxmlformats.org/officeDocument/2006/relationships/slide" Target="slides/slide575.xml"/><Relationship Id="rId561" Type="http://schemas.openxmlformats.org/officeDocument/2006/relationships/slide" Target="slides/slide576.xml"/><Relationship Id="rId562" Type="http://schemas.openxmlformats.org/officeDocument/2006/relationships/slide" Target="slides/slide577.xml"/><Relationship Id="rId563" Type="http://schemas.openxmlformats.org/officeDocument/2006/relationships/slide" Target="slides/slide578.xml"/><Relationship Id="rId564" Type="http://schemas.openxmlformats.org/officeDocument/2006/relationships/slide" Target="slides/slide579.xml"/><Relationship Id="rId565" Type="http://schemas.openxmlformats.org/officeDocument/2006/relationships/slide" Target="slides/slide580.xml"/><Relationship Id="rId566" Type="http://schemas.openxmlformats.org/officeDocument/2006/relationships/slide" Target="slides/slide581.xml"/><Relationship Id="rId567" Type="http://schemas.openxmlformats.org/officeDocument/2006/relationships/slide" Target="slides/slide582.xml"/><Relationship Id="rId568" Type="http://schemas.openxmlformats.org/officeDocument/2006/relationships/slide" Target="slides/slide583.xml"/><Relationship Id="rId569" Type="http://schemas.openxmlformats.org/officeDocument/2006/relationships/slide" Target="slides/slide584.xml"/><Relationship Id="rId570" Type="http://schemas.openxmlformats.org/officeDocument/2006/relationships/slide" Target="slides/slide585.xml"/><Relationship Id="rId571" Type="http://schemas.openxmlformats.org/officeDocument/2006/relationships/slide" Target="slides/slide586.xml"/><Relationship Id="rId572" Type="http://schemas.openxmlformats.org/officeDocument/2006/relationships/slide" Target="slides/slide587.xml"/><Relationship Id="rId573" Type="http://schemas.openxmlformats.org/officeDocument/2006/relationships/slide" Target="slides/slide588.xml"/><Relationship Id="rId574" Type="http://schemas.openxmlformats.org/officeDocument/2006/relationships/slide" Target="slides/slide589.xml"/><Relationship Id="rId575" Type="http://schemas.openxmlformats.org/officeDocument/2006/relationships/slide" Target="slides/slide590.xml"/><Relationship Id="rId576" Type="http://schemas.openxmlformats.org/officeDocument/2006/relationships/slide" Target="slides/slide591.xml"/><Relationship Id="rId577" Type="http://schemas.openxmlformats.org/officeDocument/2006/relationships/slide" Target="slides/slide592.xml"/><Relationship Id="rId578" Type="http://schemas.openxmlformats.org/officeDocument/2006/relationships/slide" Target="slides/slide593.xml"/><Relationship Id="rId579" Type="http://schemas.openxmlformats.org/officeDocument/2006/relationships/slide" Target="slides/slide594.xml"/><Relationship Id="rId580" Type="http://schemas.openxmlformats.org/officeDocument/2006/relationships/slide" Target="slides/slide595.xml"/><Relationship Id="rId581" Type="http://schemas.openxmlformats.org/officeDocument/2006/relationships/slide" Target="slides/slide596.xml"/><Relationship Id="rId582" Type="http://schemas.openxmlformats.org/officeDocument/2006/relationships/slide" Target="slides/slide597.xml"/><Relationship Id="rId583" Type="http://schemas.openxmlformats.org/officeDocument/2006/relationships/slide" Target="slides/slide12.xml"/><Relationship Id="rId584" Type="http://schemas.openxmlformats.org/officeDocument/2006/relationships/slide" Target="slides/slide13.xml"/><Relationship Id="rId585" Type="http://schemas.openxmlformats.org/officeDocument/2006/relationships/slide" Target="slides/slide14.xml"/><Relationship Id="rId586" Type="http://schemas.openxmlformats.org/officeDocument/2006/relationships/slide" Target="slides/slide15.xml"/><Relationship Id="rId587" Type="http://schemas.openxmlformats.org/officeDocument/2006/relationships/slide" Target="slides/slide16.xml"/><Relationship Id="rId588" Type="http://schemas.openxmlformats.org/officeDocument/2006/relationships/slide" Target="slides/slide17.xml"/><Relationship Id="rId589" Type="http://schemas.openxmlformats.org/officeDocument/2006/relationships/slide" Target="slides/slide18.xml"/><Relationship Id="rId590" Type="http://schemas.openxmlformats.org/officeDocument/2006/relationships/slide" Target="slides/slide19.xml"/><Relationship Id="rId591" Type="http://schemas.openxmlformats.org/officeDocument/2006/relationships/slide" Target="slides/slide20.xml"/><Relationship Id="rId592" Type="http://schemas.openxmlformats.org/officeDocument/2006/relationships/slide" Target="slides/slide21.xml"/><Relationship Id="rId593" Type="http://schemas.openxmlformats.org/officeDocument/2006/relationships/slide" Target="slides/slide22.xml"/><Relationship Id="rId594" Type="http://schemas.openxmlformats.org/officeDocument/2006/relationships/slide" Target="slides/slide23.xml"/><Relationship Id="rId595" Type="http://schemas.openxmlformats.org/officeDocument/2006/relationships/slide" Target="slides/slide11.xml"/><Relationship Id="rId596" Type="http://schemas.openxmlformats.org/officeDocument/2006/relationships/slide" Target="slides/slide25.xml"/><Relationship Id="rId597" Type="http://schemas.openxmlformats.org/officeDocument/2006/relationships/slide" Target="slides/slide26.xml"/><Relationship Id="rId598" Type="http://schemas.openxmlformats.org/officeDocument/2006/relationships/slide" Target="slides/slide27.xml"/><Relationship Id="rId599" Type="http://schemas.openxmlformats.org/officeDocument/2006/relationships/slide" Target="slides/slide28.xml"/><Relationship Id="rId600" Type="http://schemas.openxmlformats.org/officeDocument/2006/relationships/slide" Target="slides/slide29.xml"/><Relationship Id="rId601" Type="http://schemas.openxmlformats.org/officeDocument/2006/relationships/slide" Target="slides/slide30.xml"/><Relationship Id="rId602" Type="http://schemas.openxmlformats.org/officeDocument/2006/relationships/slide" Target="slides/slide31.xml"/><Relationship Id="rId603" Type="http://schemas.openxmlformats.org/officeDocument/2006/relationships/slide" Target="slides/slide32.xml"/><Relationship Id="rId604" Type="http://schemas.openxmlformats.org/officeDocument/2006/relationships/slide" Target="slides/slide24.xml"/></Relationships>
</file>

<file path=ppt/charts/_rels/chart1.xml.rels><?xml version='1.0' encoding='UTF-8' standalone='yes'?>
<Relationships xmlns="http://schemas.openxmlformats.org/package/2006/relationships"><Relationship Id="rId2" Type="http://schemas.openxmlformats.org/officeDocument/2006/relationships/image" Target="../media/image3.png"/></Relationships>
</file>

<file path=ppt/charts/_rels/chart3.xml.rels><?xml version='1.0' encoding='UTF-8' standalone='yes'?>
<Relationships xmlns="http://schemas.openxmlformats.org/package/2006/relationships"><Relationship Id="rId2" Type="http://schemas.openxmlformats.org/officeDocument/2006/relationships/image" Target="../media/image4.png"/></Relationships>
</file>

<file path=ppt/charts/_rels/chart5.xml.rels><?xml version='1.0' encoding='UTF-8' standalone='yes'?>
<Relationships xmlns="http://schemas.openxmlformats.org/package/2006/relationships"><Relationship Id="rId2" Type="http://schemas.openxmlformats.org/officeDocument/2006/relationships/image" Target="../media/image5.png"/><Relationship Id="rId3" Type="http://schemas.openxmlformats.org/officeDocument/2006/relationships/image" Target="../media/image6.png"/><Relationship Id="rId4" Type="http://schemas.openxmlformats.org/officeDocument/2006/relationships/image" Target="../media/image7.png"/><Relationship Id="rId5" Type="http://schemas.openxmlformats.org/officeDocument/2006/relationships/image" Target="../media/image8.png"/><Relationship Id="rId6" Type="http://schemas.openxmlformats.org/officeDocument/2006/relationships/image" Target="../media/image9.png"/><Relationship Id="rId7" Type="http://schemas.openxmlformats.org/officeDocument/2006/relationships/image" Target="../media/image10.png"/><Relationship Id="rId8" Type="http://schemas.openxmlformats.org/officeDocument/2006/relationships/image" Target="../media/image11.png"/><Relationship Id="rId9" Type="http://schemas.openxmlformats.org/officeDocument/2006/relationships/image" Target="../media/image12.png"/><Relationship Id="rId10" Type="http://schemas.openxmlformats.org/officeDocument/2006/relationships/image" Target="../media/image13.png"/><Relationship Id="rId11" Type="http://schemas.openxmlformats.org/officeDocument/2006/relationships/image" Target="../media/image14.png"/></Relationships>
</file>

<file path=ppt/charts/_rels/chart6.xml.rels><?xml version='1.0' encoding='UTF-8' standalone='yes'?>
<Relationships xmlns="http://schemas.openxmlformats.org/package/2006/relationships"><Relationship Id="rId2" Type="http://schemas.openxmlformats.org/officeDocument/2006/relationships/image" Target="../media/image15.png"/><Relationship Id="rId3" Type="http://schemas.openxmlformats.org/officeDocument/2006/relationships/image" Target="../media/image16.png"/><Relationship Id="rId4" Type="http://schemas.openxmlformats.org/officeDocument/2006/relationships/image" Target="../media/image17.png"/><Relationship Id="rId5" Type="http://schemas.openxmlformats.org/officeDocument/2006/relationships/image" Target="../media/image18.png"/><Relationship Id="rId6" Type="http://schemas.openxmlformats.org/officeDocument/2006/relationships/image" Target="../media/image19.png"/><Relationship Id="rId7" Type="http://schemas.openxmlformats.org/officeDocument/2006/relationships/image" Target="../media/image20.png"/><Relationship Id="rId8" Type="http://schemas.openxmlformats.org/officeDocument/2006/relationships/image" Target="../media/image21.png"/><Relationship Id="rId9" Type="http://schemas.openxmlformats.org/officeDocument/2006/relationships/image" Target="../media/image22.png"/><Relationship Id="rId10" Type="http://schemas.openxmlformats.org/officeDocument/2006/relationships/image" Target="../media/image23.png"/><Relationship Id="rId11" Type="http://schemas.openxmlformats.org/officeDocument/2006/relationships/image" Target="../media/image24.png"/><Relationship Id="rId12" Type="http://schemas.openxmlformats.org/officeDocument/2006/relationships/image" Target="../media/image25.png"/><Relationship Id="rId13" Type="http://schemas.openxmlformats.org/officeDocument/2006/relationships/image" Target="../media/image26.png"/><Relationship Id="rId14" Type="http://schemas.openxmlformats.org/officeDocument/2006/relationships/image" Target="../media/image27.png"/><Relationship Id="rId15" Type="http://schemas.openxmlformats.org/officeDocument/2006/relationships/image" Target="../media/image28.png"/><Relationship Id="rId16" Type="http://schemas.openxmlformats.org/officeDocument/2006/relationships/image" Target="../media/image29.png"/><Relationship Id="rId17" Type="http://schemas.openxmlformats.org/officeDocument/2006/relationships/image" Target="../media/image30.png"/><Relationship Id="rId18" Type="http://schemas.openxmlformats.org/officeDocument/2006/relationships/image" Target="../media/image31.png"/><Relationship Id="rId19" Type="http://schemas.openxmlformats.org/officeDocument/2006/relationships/image" Target="../media/image32.png"/><Relationship Id="rId20" Type="http://schemas.openxmlformats.org/officeDocument/2006/relationships/image" Target="../media/image33.png"/><Relationship Id="rId21" Type="http://schemas.openxmlformats.org/officeDocument/2006/relationships/image" Target="../media/image34.png"/><Relationship Id="rId22" Type="http://schemas.openxmlformats.org/officeDocument/2006/relationships/image" Target="../media/image35.png"/><Relationship Id="rId23" Type="http://schemas.openxmlformats.org/officeDocument/2006/relationships/image" Target="../media/image36.png"/></Relationships>
</file>

<file path=ppt/charts/_rels/chart7.xml.rels><?xml version='1.0' encoding='UTF-8' standalone='yes'?>
<Relationships xmlns="http://schemas.openxmlformats.org/package/2006/relationships"><Relationship Id="rId2" Type="http://schemas.openxmlformats.org/officeDocument/2006/relationships/image" Target="../media/image37.png"/><Relationship Id="rId3" Type="http://schemas.openxmlformats.org/officeDocument/2006/relationships/image" Target="../media/image38.png"/><Relationship Id="rId4" Type="http://schemas.openxmlformats.org/officeDocument/2006/relationships/image" Target="../media/image39.png"/><Relationship Id="rId5" Type="http://schemas.openxmlformats.org/officeDocument/2006/relationships/image" Target="../media/image40.png"/><Relationship Id="rId6" Type="http://schemas.openxmlformats.org/officeDocument/2006/relationships/image" Target="../media/image41.png"/><Relationship Id="rId7" Type="http://schemas.openxmlformats.org/officeDocument/2006/relationships/image" Target="../media/image42.png"/><Relationship Id="rId8" Type="http://schemas.openxmlformats.org/officeDocument/2006/relationships/image" Target="../media/image43.png"/><Relationship Id="rId9" Type="http://schemas.openxmlformats.org/officeDocument/2006/relationships/image" Target="../media/image44.png"/><Relationship Id="rId10" Type="http://schemas.openxmlformats.org/officeDocument/2006/relationships/image" Target="../media/image45.png"/><Relationship Id="rId11" Type="http://schemas.openxmlformats.org/officeDocument/2006/relationships/image" Target="../media/image46.png"/></Relationships>
</file>

<file path=ppt/charts/_rels/chart8.xml.rels><?xml version='1.0' encoding='UTF-8' standalone='yes'?>
<Relationships xmlns="http://schemas.openxmlformats.org/package/2006/relationships"><Relationship Id="rId2" Type="http://schemas.openxmlformats.org/officeDocument/2006/relationships/image" Target="../media/image47.png"/><Relationship Id="rId3" Type="http://schemas.openxmlformats.org/officeDocument/2006/relationships/image" Target="../media/image48.png"/><Relationship Id="rId4" Type="http://schemas.openxmlformats.org/officeDocument/2006/relationships/image" Target="../media/image49.png"/><Relationship Id="rId5" Type="http://schemas.openxmlformats.org/officeDocument/2006/relationships/image" Target="../media/image50.png"/><Relationship Id="rId6" Type="http://schemas.openxmlformats.org/officeDocument/2006/relationships/image" Target="../media/image51.png"/><Relationship Id="rId7" Type="http://schemas.openxmlformats.org/officeDocument/2006/relationships/image" Target="../media/image52.png"/><Relationship Id="rId8" Type="http://schemas.openxmlformats.org/officeDocument/2006/relationships/image" Target="../media/image53.png"/><Relationship Id="rId9" Type="http://schemas.openxmlformats.org/officeDocument/2006/relationships/image" Target="../media/image54.png"/><Relationship Id="rId10" Type="http://schemas.openxmlformats.org/officeDocument/2006/relationships/image" Target="../media/image55.png"/><Relationship Id="rId11" Type="http://schemas.openxmlformats.org/officeDocument/2006/relationships/image" Target="../media/image56.png"/></Relationships>
</file>

<file path=ppt/charts/_rels/chart9.xml.rels><?xml version='1.0' encoding='UTF-8' standalone='yes'?>
<Relationships xmlns="http://schemas.openxmlformats.org/package/2006/relationships"><Relationship Id="rId2" Type="http://schemas.openxmlformats.org/officeDocument/2006/relationships/image" Target="../media/image57.png"/><Relationship Id="rId3" Type="http://schemas.openxmlformats.org/officeDocument/2006/relationships/image" Target="../media/image58.png"/></Relationships>
</file>

<file path=ppt/charts/_rels/chart11.xml.rels><?xml version='1.0' encoding='UTF-8' standalone='yes'?>
<Relationships xmlns="http://schemas.openxmlformats.org/package/2006/relationships"><Relationship Id="rId2" Type="http://schemas.openxmlformats.org/officeDocument/2006/relationships/image" Target="../media/image77.png"/><Relationship Id="rId3" Type="http://schemas.openxmlformats.org/officeDocument/2006/relationships/image" Target="../media/image78.png"/><Relationship Id="rId4" Type="http://schemas.openxmlformats.org/officeDocument/2006/relationships/image" Target="../media/image79.png"/><Relationship Id="rId5" Type="http://schemas.openxmlformats.org/officeDocument/2006/relationships/image" Target="../media/image80.png"/><Relationship Id="rId6" Type="http://schemas.openxmlformats.org/officeDocument/2006/relationships/image" Target="../media/image81.png"/><Relationship Id="rId7" Type="http://schemas.openxmlformats.org/officeDocument/2006/relationships/image" Target="../media/image82.png"/><Relationship Id="rId8" Type="http://schemas.openxmlformats.org/officeDocument/2006/relationships/image" Target="../media/image83.png"/><Relationship Id="rId9" Type="http://schemas.openxmlformats.org/officeDocument/2006/relationships/image" Target="../media/image84.png"/><Relationship Id="rId10" Type="http://schemas.openxmlformats.org/officeDocument/2006/relationships/image" Target="../media/image85.png"/><Relationship Id="rId11" Type="http://schemas.openxmlformats.org/officeDocument/2006/relationships/image" Target="../media/image86.png"/></Relationships>
</file>

<file path=ppt/charts/_rels/chart12.xml.rels><?xml version='1.0' encoding='UTF-8' standalone='yes'?>
<Relationships xmlns="http://schemas.openxmlformats.org/package/2006/relationships"><Relationship Id="rId2" Type="http://schemas.openxmlformats.org/officeDocument/2006/relationships/image" Target="../media/image88.png"/><Relationship Id="rId3" Type="http://schemas.openxmlformats.org/officeDocument/2006/relationships/image" Target="../media/image89.png"/><Relationship Id="rId4" Type="http://schemas.openxmlformats.org/officeDocument/2006/relationships/image" Target="../media/image90.png"/><Relationship Id="rId5" Type="http://schemas.openxmlformats.org/officeDocument/2006/relationships/image" Target="../media/image91.png"/><Relationship Id="rId6" Type="http://schemas.openxmlformats.org/officeDocument/2006/relationships/image" Target="../media/image92.png"/><Relationship Id="rId7" Type="http://schemas.openxmlformats.org/officeDocument/2006/relationships/image" Target="../media/image93.png"/><Relationship Id="rId8" Type="http://schemas.openxmlformats.org/officeDocument/2006/relationships/image" Target="../media/image94.png"/><Relationship Id="rId9" Type="http://schemas.openxmlformats.org/officeDocument/2006/relationships/image" Target="../media/image95.png"/><Relationship Id="rId10" Type="http://schemas.openxmlformats.org/officeDocument/2006/relationships/image" Target="../media/image96.png"/><Relationship Id="rId11" Type="http://schemas.openxmlformats.org/officeDocument/2006/relationships/image" Target="../media/image97.png"/><Relationship Id="rId12" Type="http://schemas.openxmlformats.org/officeDocument/2006/relationships/image" Target="../media/image98.png"/></Relationships>
</file>

<file path=ppt/charts/_rels/chart13.xml.rels><?xml version='1.0' encoding='UTF-8' standalone='yes'?>
<Relationships xmlns="http://schemas.openxmlformats.org/package/2006/relationships"><Relationship Id="rId2" Type="http://schemas.openxmlformats.org/officeDocument/2006/relationships/image" Target="../media/image102.png"/></Relationships>
</file>

<file path=ppt/charts/_rels/chart14.xml.rels><?xml version='1.0' encoding='UTF-8' standalone='yes'?>
<Relationships xmlns="http://schemas.openxmlformats.org/package/2006/relationships"><Relationship Id="rId2" Type="http://schemas.openxmlformats.org/officeDocument/2006/relationships/image" Target="../media/image103.png"/></Relationships>
</file>

<file path=ppt/charts/_rels/chart15.xml.rels><?xml version='1.0' encoding='UTF-8' standalone='yes'?>
<Relationships xmlns="http://schemas.openxmlformats.org/package/2006/relationships"><Relationship Id="rId2" Type="http://schemas.openxmlformats.org/officeDocument/2006/relationships/image" Target="../media/image110.png"/><Relationship Id="rId3" Type="http://schemas.openxmlformats.org/officeDocument/2006/relationships/image" Target="../media/image111.png"/><Relationship Id="rId4" Type="http://schemas.openxmlformats.org/officeDocument/2006/relationships/image" Target="../media/image112.png"/><Relationship Id="rId5" Type="http://schemas.openxmlformats.org/officeDocument/2006/relationships/image" Target="../media/image113.png"/><Relationship Id="rId6" Type="http://schemas.openxmlformats.org/officeDocument/2006/relationships/image" Target="../media/image114.png"/><Relationship Id="rId7" Type="http://schemas.openxmlformats.org/officeDocument/2006/relationships/image" Target="../media/image115.png"/><Relationship Id="rId8" Type="http://schemas.openxmlformats.org/officeDocument/2006/relationships/image" Target="../media/image116.png"/><Relationship Id="rId9" Type="http://schemas.openxmlformats.org/officeDocument/2006/relationships/image" Target="../media/image117.png"/><Relationship Id="rId10" Type="http://schemas.openxmlformats.org/officeDocument/2006/relationships/image" Target="../media/image118.png"/><Relationship Id="rId11" Type="http://schemas.openxmlformats.org/officeDocument/2006/relationships/image" Target="../media/image119.png"/></Relationships>
</file>

<file path=ppt/charts/_rels/chart19.xml.rels><?xml version='1.0' encoding='UTF-8' standalone='yes'?>
<Relationships xmlns="http://schemas.openxmlformats.org/package/2006/relationships"><Relationship Id="rId2" Type="http://schemas.openxmlformats.org/officeDocument/2006/relationships/image" Target="../media/image120.png"/><Relationship Id="rId3" Type="http://schemas.openxmlformats.org/officeDocument/2006/relationships/image" Target="../media/image121.png"/><Relationship Id="rId4" Type="http://schemas.openxmlformats.org/officeDocument/2006/relationships/image" Target="../media/image122.png"/><Relationship Id="rId5" Type="http://schemas.openxmlformats.org/officeDocument/2006/relationships/image" Target="../media/image123.png"/><Relationship Id="rId6" Type="http://schemas.openxmlformats.org/officeDocument/2006/relationships/image" Target="../media/image124.png"/><Relationship Id="rId7" Type="http://schemas.openxmlformats.org/officeDocument/2006/relationships/image" Target="../media/image125.png"/></Relationships>
</file>

<file path=ppt/charts/_rels/chart20.xml.rels><?xml version='1.0' encoding='UTF-8' standalone='yes'?>
<Relationships xmlns="http://schemas.openxmlformats.org/package/2006/relationships"><Relationship Id="rId2" Type="http://schemas.openxmlformats.org/officeDocument/2006/relationships/image" Target="../media/image132.png"/><Relationship Id="rId3" Type="http://schemas.openxmlformats.org/officeDocument/2006/relationships/image" Target="../media/image133.png"/><Relationship Id="rId4" Type="http://schemas.openxmlformats.org/officeDocument/2006/relationships/image" Target="../media/image134.png"/><Relationship Id="rId5" Type="http://schemas.openxmlformats.org/officeDocument/2006/relationships/image" Target="../media/image135.png"/><Relationship Id="rId6" Type="http://schemas.openxmlformats.org/officeDocument/2006/relationships/image" Target="../media/image136.png"/><Relationship Id="rId7" Type="http://schemas.openxmlformats.org/officeDocument/2006/relationships/image" Target="../media/image137.png"/><Relationship Id="rId8" Type="http://schemas.openxmlformats.org/officeDocument/2006/relationships/image" Target="../media/image138.png"/><Relationship Id="rId9" Type="http://schemas.openxmlformats.org/officeDocument/2006/relationships/image" Target="../media/image139.png"/><Relationship Id="rId10" Type="http://schemas.openxmlformats.org/officeDocument/2006/relationships/image" Target="../media/image140.png"/><Relationship Id="rId11" Type="http://schemas.openxmlformats.org/officeDocument/2006/relationships/image" Target="../media/image141.png"/><Relationship Id="rId12" Type="http://schemas.openxmlformats.org/officeDocument/2006/relationships/image" Target="../media/image142.png"/><Relationship Id="rId13" Type="http://schemas.openxmlformats.org/officeDocument/2006/relationships/image" Target="../media/image143.png"/></Relationships>
</file>

<file path=ppt/charts/_rels/chart24.xml.rels><?xml version='1.0' encoding='UTF-8' standalone='yes'?>
<Relationships xmlns="http://schemas.openxmlformats.org/package/2006/relationships"><Relationship Id="rId2" Type="http://schemas.openxmlformats.org/officeDocument/2006/relationships/image" Target="../media/image144.png"/><Relationship Id="rId3" Type="http://schemas.openxmlformats.org/officeDocument/2006/relationships/image" Target="../media/image145.png"/><Relationship Id="rId4" Type="http://schemas.openxmlformats.org/officeDocument/2006/relationships/image" Target="../media/image146.png"/><Relationship Id="rId5" Type="http://schemas.openxmlformats.org/officeDocument/2006/relationships/image" Target="../media/image147.png"/><Relationship Id="rId6" Type="http://schemas.openxmlformats.org/officeDocument/2006/relationships/image" Target="../media/image148.png"/><Relationship Id="rId7" Type="http://schemas.openxmlformats.org/officeDocument/2006/relationships/image" Target="../media/image149.png"/></Relationships>
</file>

<file path=ppt/charts/_rels/chart25.xml.rels><?xml version='1.0' encoding='UTF-8' standalone='yes'?>
<Relationships xmlns="http://schemas.openxmlformats.org/package/2006/relationships"><Relationship Id="rId2" Type="http://schemas.openxmlformats.org/officeDocument/2006/relationships/image" Target="../media/image171.png"/><Relationship Id="rId3" Type="http://schemas.openxmlformats.org/officeDocument/2006/relationships/image" Target="../media/image172.png"/><Relationship Id="rId4" Type="http://schemas.openxmlformats.org/officeDocument/2006/relationships/image" Target="../media/image173.png"/><Relationship Id="rId5" Type="http://schemas.openxmlformats.org/officeDocument/2006/relationships/image" Target="../media/image174.png"/><Relationship Id="rId6" Type="http://schemas.openxmlformats.org/officeDocument/2006/relationships/image" Target="../media/image175.png"/><Relationship Id="rId7" Type="http://schemas.openxmlformats.org/officeDocument/2006/relationships/image" Target="../media/image176.png"/><Relationship Id="rId8" Type="http://schemas.openxmlformats.org/officeDocument/2006/relationships/image" Target="../media/image177.png"/><Relationship Id="rId9" Type="http://schemas.openxmlformats.org/officeDocument/2006/relationships/image" Target="../media/image178.png"/><Relationship Id="rId10" Type="http://schemas.openxmlformats.org/officeDocument/2006/relationships/image" Target="../media/image179.png"/><Relationship Id="rId11" Type="http://schemas.openxmlformats.org/officeDocument/2006/relationships/image" Target="../media/image180.png"/><Relationship Id="rId12" Type="http://schemas.openxmlformats.org/officeDocument/2006/relationships/image" Target="../media/image181.png"/><Relationship Id="rId13" Type="http://schemas.openxmlformats.org/officeDocument/2006/relationships/image" Target="../media/image182.png"/><Relationship Id="rId14" Type="http://schemas.openxmlformats.org/officeDocument/2006/relationships/image" Target="../media/image183.png"/><Relationship Id="rId15" Type="http://schemas.openxmlformats.org/officeDocument/2006/relationships/image" Target="../media/image184.png"/><Relationship Id="rId16" Type="http://schemas.openxmlformats.org/officeDocument/2006/relationships/image" Target="../media/image185.png"/><Relationship Id="rId17" Type="http://schemas.openxmlformats.org/officeDocument/2006/relationships/image" Target="../media/image186.png"/><Relationship Id="rId18" Type="http://schemas.openxmlformats.org/officeDocument/2006/relationships/image" Target="../media/image187.png"/><Relationship Id="rId19" Type="http://schemas.openxmlformats.org/officeDocument/2006/relationships/image" Target="../media/image188.png"/><Relationship Id="rId20" Type="http://schemas.openxmlformats.org/officeDocument/2006/relationships/image" Target="../media/image189.png"/><Relationship Id="rId21" Type="http://schemas.openxmlformats.org/officeDocument/2006/relationships/image" Target="../media/image190.png"/><Relationship Id="rId22" Type="http://schemas.openxmlformats.org/officeDocument/2006/relationships/image" Target="../media/image191.png"/><Relationship Id="rId23" Type="http://schemas.openxmlformats.org/officeDocument/2006/relationships/image" Target="../media/image192.png"/><Relationship Id="rId24" Type="http://schemas.openxmlformats.org/officeDocument/2006/relationships/image" Target="../media/image193.png"/><Relationship Id="rId25" Type="http://schemas.openxmlformats.org/officeDocument/2006/relationships/image" Target="../media/image194.png"/><Relationship Id="rId26" Type="http://schemas.openxmlformats.org/officeDocument/2006/relationships/image" Target="../media/image195.png"/><Relationship Id="rId27" Type="http://schemas.openxmlformats.org/officeDocument/2006/relationships/image" Target="../media/image196.png"/><Relationship Id="rId28" Type="http://schemas.openxmlformats.org/officeDocument/2006/relationships/image" Target="../media/image197.png"/><Relationship Id="rId29" Type="http://schemas.openxmlformats.org/officeDocument/2006/relationships/image" Target="../media/image198.png"/><Relationship Id="rId30" Type="http://schemas.openxmlformats.org/officeDocument/2006/relationships/image" Target="../media/image199.png"/><Relationship Id="rId31" Type="http://schemas.openxmlformats.org/officeDocument/2006/relationships/image" Target="../media/image200.png"/><Relationship Id="rId32" Type="http://schemas.openxmlformats.org/officeDocument/2006/relationships/image" Target="../media/image201.png"/><Relationship Id="rId33" Type="http://schemas.openxmlformats.org/officeDocument/2006/relationships/image" Target="../media/image202.png"/><Relationship Id="rId34" Type="http://schemas.openxmlformats.org/officeDocument/2006/relationships/image" Target="../media/image203.png"/><Relationship Id="rId35" Type="http://schemas.openxmlformats.org/officeDocument/2006/relationships/image" Target="../media/image204.png"/><Relationship Id="rId36" Type="http://schemas.openxmlformats.org/officeDocument/2006/relationships/image" Target="../media/image205.png"/><Relationship Id="rId37" Type="http://schemas.openxmlformats.org/officeDocument/2006/relationships/image" Target="../media/image206.png"/><Relationship Id="rId38" Type="http://schemas.openxmlformats.org/officeDocument/2006/relationships/image" Target="../media/image207.png"/><Relationship Id="rId39" Type="http://schemas.openxmlformats.org/officeDocument/2006/relationships/image" Target="../media/image208.png"/><Relationship Id="rId40" Type="http://schemas.openxmlformats.org/officeDocument/2006/relationships/image" Target="../media/image209.png"/><Relationship Id="rId41" Type="http://schemas.openxmlformats.org/officeDocument/2006/relationships/image" Target="../media/image210.png"/><Relationship Id="rId42" Type="http://schemas.openxmlformats.org/officeDocument/2006/relationships/image" Target="../media/image211.png"/><Relationship Id="rId43" Type="http://schemas.openxmlformats.org/officeDocument/2006/relationships/image" Target="../media/image212.png"/><Relationship Id="rId44" Type="http://schemas.openxmlformats.org/officeDocument/2006/relationships/image" Target="../media/image213.png"/></Relationships>
</file>

<file path=ppt/charts/_rels/chart35.xml.rels><?xml version='1.0' encoding='UTF-8' standalone='yes'?>
<Relationships xmlns="http://schemas.openxmlformats.org/package/2006/relationships"><Relationship Id="rId2" Type="http://schemas.openxmlformats.org/officeDocument/2006/relationships/image" Target="../media/image214.png"/><Relationship Id="rId3" Type="http://schemas.openxmlformats.org/officeDocument/2006/relationships/image" Target="../media/image215.png"/><Relationship Id="rId4" Type="http://schemas.openxmlformats.org/officeDocument/2006/relationships/image" Target="../media/image216.png"/><Relationship Id="rId5" Type="http://schemas.openxmlformats.org/officeDocument/2006/relationships/image" Target="../media/image217.png"/><Relationship Id="rId6" Type="http://schemas.openxmlformats.org/officeDocument/2006/relationships/image" Target="../media/image218.png"/><Relationship Id="rId7" Type="http://schemas.openxmlformats.org/officeDocument/2006/relationships/image" Target="../media/image219.png"/><Relationship Id="rId8" Type="http://schemas.openxmlformats.org/officeDocument/2006/relationships/image" Target="../media/image220.png"/><Relationship Id="rId9" Type="http://schemas.openxmlformats.org/officeDocument/2006/relationships/image" Target="../media/image221.png"/><Relationship Id="rId10" Type="http://schemas.openxmlformats.org/officeDocument/2006/relationships/image" Target="../media/image222.png"/><Relationship Id="rId11" Type="http://schemas.openxmlformats.org/officeDocument/2006/relationships/image" Target="../media/image223.png"/><Relationship Id="rId12" Type="http://schemas.openxmlformats.org/officeDocument/2006/relationships/image" Target="../media/image224.png"/><Relationship Id="rId13" Type="http://schemas.openxmlformats.org/officeDocument/2006/relationships/image" Target="../media/image225.png"/><Relationship Id="rId14" Type="http://schemas.openxmlformats.org/officeDocument/2006/relationships/image" Target="../media/image226.png"/><Relationship Id="rId15" Type="http://schemas.openxmlformats.org/officeDocument/2006/relationships/image" Target="../media/image227.png"/><Relationship Id="rId16" Type="http://schemas.openxmlformats.org/officeDocument/2006/relationships/image" Target="../media/image228.png"/><Relationship Id="rId17" Type="http://schemas.openxmlformats.org/officeDocument/2006/relationships/image" Target="../media/image229.png"/><Relationship Id="rId18" Type="http://schemas.openxmlformats.org/officeDocument/2006/relationships/image" Target="../media/image230.png"/><Relationship Id="rId19" Type="http://schemas.openxmlformats.org/officeDocument/2006/relationships/image" Target="../media/image231.png"/><Relationship Id="rId20" Type="http://schemas.openxmlformats.org/officeDocument/2006/relationships/image" Target="../media/image232.png"/><Relationship Id="rId21" Type="http://schemas.openxmlformats.org/officeDocument/2006/relationships/image" Target="../media/image233.png"/><Relationship Id="rId22" Type="http://schemas.openxmlformats.org/officeDocument/2006/relationships/image" Target="../media/image234.png"/></Relationships>
</file>

<file path=ppt/charts/_rels/chart36.xml.rels><?xml version='1.0' encoding='UTF-8' standalone='yes'?>
<Relationships xmlns="http://schemas.openxmlformats.org/package/2006/relationships"><Relationship Id="rId2" Type="http://schemas.openxmlformats.org/officeDocument/2006/relationships/image" Target="../media/image245.png"/><Relationship Id="rId3" Type="http://schemas.openxmlformats.org/officeDocument/2006/relationships/image" Target="../media/image246.png"/><Relationship Id="rId4" Type="http://schemas.openxmlformats.org/officeDocument/2006/relationships/image" Target="../media/image247.png"/><Relationship Id="rId5" Type="http://schemas.openxmlformats.org/officeDocument/2006/relationships/image" Target="../media/image248.png"/><Relationship Id="rId6" Type="http://schemas.openxmlformats.org/officeDocument/2006/relationships/image" Target="../media/image249.png"/><Relationship Id="rId7" Type="http://schemas.openxmlformats.org/officeDocument/2006/relationships/image" Target="../media/image250.png"/><Relationship Id="rId8" Type="http://schemas.openxmlformats.org/officeDocument/2006/relationships/image" Target="../media/image251.png"/><Relationship Id="rId9" Type="http://schemas.openxmlformats.org/officeDocument/2006/relationships/image" Target="../media/image252.png"/><Relationship Id="rId10" Type="http://schemas.openxmlformats.org/officeDocument/2006/relationships/image" Target="../media/image253.png"/><Relationship Id="rId11" Type="http://schemas.openxmlformats.org/officeDocument/2006/relationships/image" Target="../media/image254.png"/><Relationship Id="rId12" Type="http://schemas.openxmlformats.org/officeDocument/2006/relationships/image" Target="../media/image255.png"/><Relationship Id="rId13" Type="http://schemas.openxmlformats.org/officeDocument/2006/relationships/image" Target="../media/image256.png"/><Relationship Id="rId14" Type="http://schemas.openxmlformats.org/officeDocument/2006/relationships/image" Target="../media/image257.png"/><Relationship Id="rId15" Type="http://schemas.openxmlformats.org/officeDocument/2006/relationships/image" Target="../media/image258.png"/><Relationship Id="rId16" Type="http://schemas.openxmlformats.org/officeDocument/2006/relationships/image" Target="../media/image259.png"/><Relationship Id="rId17" Type="http://schemas.openxmlformats.org/officeDocument/2006/relationships/image" Target="../media/image260.png"/><Relationship Id="rId18" Type="http://schemas.openxmlformats.org/officeDocument/2006/relationships/image" Target="../media/image261.png"/><Relationship Id="rId19" Type="http://schemas.openxmlformats.org/officeDocument/2006/relationships/image" Target="../media/image262.png"/><Relationship Id="rId20" Type="http://schemas.openxmlformats.org/officeDocument/2006/relationships/image" Target="../media/image263.png"/><Relationship Id="rId21" Type="http://schemas.openxmlformats.org/officeDocument/2006/relationships/image" Target="../media/image264.png"/><Relationship Id="rId22" Type="http://schemas.openxmlformats.org/officeDocument/2006/relationships/image" Target="../media/image265.png"/><Relationship Id="rId23" Type="http://schemas.openxmlformats.org/officeDocument/2006/relationships/image" Target="../media/image266.png"/></Relationships>
</file>

<file path=ppt/charts/_rels/chart42.xml.rels><?xml version='1.0' encoding='UTF-8' standalone='yes'?>
<Relationships xmlns="http://schemas.openxmlformats.org/package/2006/relationships"><Relationship Id="rId2" Type="http://schemas.openxmlformats.org/officeDocument/2006/relationships/image" Target="../media/image267.png"/><Relationship Id="rId3" Type="http://schemas.openxmlformats.org/officeDocument/2006/relationships/image" Target="../media/image268.png"/><Relationship Id="rId4" Type="http://schemas.openxmlformats.org/officeDocument/2006/relationships/image" Target="../media/image269.png"/><Relationship Id="rId5" Type="http://schemas.openxmlformats.org/officeDocument/2006/relationships/image" Target="../media/image270.png"/><Relationship Id="rId6" Type="http://schemas.openxmlformats.org/officeDocument/2006/relationships/image" Target="../media/image271.png"/><Relationship Id="rId7" Type="http://schemas.openxmlformats.org/officeDocument/2006/relationships/image" Target="../media/image272.png"/><Relationship Id="rId8" Type="http://schemas.openxmlformats.org/officeDocument/2006/relationships/image" Target="../media/image273.png"/><Relationship Id="rId9" Type="http://schemas.openxmlformats.org/officeDocument/2006/relationships/image" Target="../media/image274.png"/><Relationship Id="rId10" Type="http://schemas.openxmlformats.org/officeDocument/2006/relationships/image" Target="../media/image275.png"/><Relationship Id="rId11" Type="http://schemas.openxmlformats.org/officeDocument/2006/relationships/image" Target="../media/image276.png"/><Relationship Id="rId12" Type="http://schemas.openxmlformats.org/officeDocument/2006/relationships/image" Target="../media/image277.png"/><Relationship Id="rId13" Type="http://schemas.openxmlformats.org/officeDocument/2006/relationships/image" Target="../media/image278.png"/></Relationships>
</file>

<file path=ppt/charts/_rels/chart43.xml.rels><?xml version='1.0' encoding='UTF-8' standalone='yes'?>
<Relationships xmlns="http://schemas.openxmlformats.org/package/2006/relationships"><Relationship Id="rId2" Type="http://schemas.openxmlformats.org/officeDocument/2006/relationships/image" Target="../media/image298.png"/><Relationship Id="rId3" Type="http://schemas.openxmlformats.org/officeDocument/2006/relationships/image" Target="../media/image299.png"/><Relationship Id="rId4" Type="http://schemas.openxmlformats.org/officeDocument/2006/relationships/image" Target="../media/image300.png"/><Relationship Id="rId5" Type="http://schemas.openxmlformats.org/officeDocument/2006/relationships/image" Target="../media/image301.png"/><Relationship Id="rId6" Type="http://schemas.openxmlformats.org/officeDocument/2006/relationships/image" Target="../media/image302.png"/><Relationship Id="rId7" Type="http://schemas.openxmlformats.org/officeDocument/2006/relationships/image" Target="../media/image303.png"/><Relationship Id="rId8" Type="http://schemas.openxmlformats.org/officeDocument/2006/relationships/image" Target="../media/image304.png"/><Relationship Id="rId9" Type="http://schemas.openxmlformats.org/officeDocument/2006/relationships/image" Target="../media/image305.png"/><Relationship Id="rId10" Type="http://schemas.openxmlformats.org/officeDocument/2006/relationships/image" Target="../media/image306.png"/><Relationship Id="rId11" Type="http://schemas.openxmlformats.org/officeDocument/2006/relationships/image" Target="../media/image307.png"/><Relationship Id="rId12" Type="http://schemas.openxmlformats.org/officeDocument/2006/relationships/image" Target="../media/image308.png"/><Relationship Id="rId13" Type="http://schemas.openxmlformats.org/officeDocument/2006/relationships/image" Target="../media/image309.png"/><Relationship Id="rId14" Type="http://schemas.openxmlformats.org/officeDocument/2006/relationships/image" Target="../media/image310.png"/><Relationship Id="rId15" Type="http://schemas.openxmlformats.org/officeDocument/2006/relationships/image" Target="../media/image311.png"/><Relationship Id="rId16" Type="http://schemas.openxmlformats.org/officeDocument/2006/relationships/image" Target="../media/image312.png"/><Relationship Id="rId17" Type="http://schemas.openxmlformats.org/officeDocument/2006/relationships/image" Target="../media/image313.png"/><Relationship Id="rId18" Type="http://schemas.openxmlformats.org/officeDocument/2006/relationships/image" Target="../media/image314.png"/><Relationship Id="rId19" Type="http://schemas.openxmlformats.org/officeDocument/2006/relationships/image" Target="../media/image315.png"/><Relationship Id="rId20" Type="http://schemas.openxmlformats.org/officeDocument/2006/relationships/image" Target="../media/image316.png"/><Relationship Id="rId21" Type="http://schemas.openxmlformats.org/officeDocument/2006/relationships/image" Target="../media/image317.png"/><Relationship Id="rId22" Type="http://schemas.openxmlformats.org/officeDocument/2006/relationships/image" Target="../media/image318.png"/><Relationship Id="rId23" Type="http://schemas.openxmlformats.org/officeDocument/2006/relationships/image" Target="../media/image319.png"/><Relationship Id="rId24" Type="http://schemas.openxmlformats.org/officeDocument/2006/relationships/image" Target="../media/image320.png"/><Relationship Id="rId25" Type="http://schemas.openxmlformats.org/officeDocument/2006/relationships/image" Target="../media/image321.png"/><Relationship Id="rId26" Type="http://schemas.openxmlformats.org/officeDocument/2006/relationships/image" Target="../media/image322.png"/><Relationship Id="rId27" Type="http://schemas.openxmlformats.org/officeDocument/2006/relationships/image" Target="../media/image323.png"/><Relationship Id="rId28" Type="http://schemas.openxmlformats.org/officeDocument/2006/relationships/image" Target="../media/image324.png"/><Relationship Id="rId29" Type="http://schemas.openxmlformats.org/officeDocument/2006/relationships/image" Target="../media/image325.png"/><Relationship Id="rId30" Type="http://schemas.openxmlformats.org/officeDocument/2006/relationships/image" Target="../media/image326.png"/><Relationship Id="rId31" Type="http://schemas.openxmlformats.org/officeDocument/2006/relationships/image" Target="../media/image327.png"/><Relationship Id="rId32" Type="http://schemas.openxmlformats.org/officeDocument/2006/relationships/image" Target="../media/image328.png"/><Relationship Id="rId33" Type="http://schemas.openxmlformats.org/officeDocument/2006/relationships/image" Target="../media/image329.png"/><Relationship Id="rId34" Type="http://schemas.openxmlformats.org/officeDocument/2006/relationships/image" Target="../media/image330.png"/><Relationship Id="rId35" Type="http://schemas.openxmlformats.org/officeDocument/2006/relationships/image" Target="../media/image331.png"/><Relationship Id="rId36" Type="http://schemas.openxmlformats.org/officeDocument/2006/relationships/image" Target="../media/image332.png"/><Relationship Id="rId37" Type="http://schemas.openxmlformats.org/officeDocument/2006/relationships/image" Target="../media/image333.png"/><Relationship Id="rId38" Type="http://schemas.openxmlformats.org/officeDocument/2006/relationships/image" Target="../media/image334.png"/><Relationship Id="rId39" Type="http://schemas.openxmlformats.org/officeDocument/2006/relationships/image" Target="../media/image335.png"/><Relationship Id="rId40" Type="http://schemas.openxmlformats.org/officeDocument/2006/relationships/image" Target="../media/image336.png"/><Relationship Id="rId41" Type="http://schemas.openxmlformats.org/officeDocument/2006/relationships/image" Target="../media/image337.png"/></Relationships>
</file>

<file path=ppt/charts/_rels/chart52.xml.rels><?xml version='1.0' encoding='UTF-8' standalone='yes'?>
<Relationships xmlns="http://schemas.openxmlformats.org/package/2006/relationships"><Relationship Id="rId2" Type="http://schemas.openxmlformats.org/officeDocument/2006/relationships/image" Target="../media/image338.png"/><Relationship Id="rId3" Type="http://schemas.openxmlformats.org/officeDocument/2006/relationships/image" Target="../media/image339.png"/><Relationship Id="rId4" Type="http://schemas.openxmlformats.org/officeDocument/2006/relationships/image" Target="../media/image340.png"/><Relationship Id="rId5" Type="http://schemas.openxmlformats.org/officeDocument/2006/relationships/image" Target="../media/image341.png"/><Relationship Id="rId6" Type="http://schemas.openxmlformats.org/officeDocument/2006/relationships/image" Target="../media/image342.png"/><Relationship Id="rId7" Type="http://schemas.openxmlformats.org/officeDocument/2006/relationships/image" Target="../media/image343.png"/><Relationship Id="rId8" Type="http://schemas.openxmlformats.org/officeDocument/2006/relationships/image" Target="../media/image344.png"/><Relationship Id="rId9" Type="http://schemas.openxmlformats.org/officeDocument/2006/relationships/image" Target="../media/image345.png"/><Relationship Id="rId10" Type="http://schemas.openxmlformats.org/officeDocument/2006/relationships/image" Target="../media/image346.png"/><Relationship Id="rId11" Type="http://schemas.openxmlformats.org/officeDocument/2006/relationships/image" Target="../media/image347.png"/><Relationship Id="rId12" Type="http://schemas.openxmlformats.org/officeDocument/2006/relationships/image" Target="../media/image348.png"/><Relationship Id="rId13" Type="http://schemas.openxmlformats.org/officeDocument/2006/relationships/image" Target="../media/image349.png"/><Relationship Id="rId14" Type="http://schemas.openxmlformats.org/officeDocument/2006/relationships/image" Target="../media/image350.png"/><Relationship Id="rId15" Type="http://schemas.openxmlformats.org/officeDocument/2006/relationships/image" Target="../media/image351.png"/><Relationship Id="rId16" Type="http://schemas.openxmlformats.org/officeDocument/2006/relationships/image" Target="../media/image352.png"/><Relationship Id="rId17" Type="http://schemas.openxmlformats.org/officeDocument/2006/relationships/image" Target="../media/image353.png"/><Relationship Id="rId18" Type="http://schemas.openxmlformats.org/officeDocument/2006/relationships/image" Target="../media/image354.png"/><Relationship Id="rId19" Type="http://schemas.openxmlformats.org/officeDocument/2006/relationships/image" Target="../media/image355.png"/><Relationship Id="rId20" Type="http://schemas.openxmlformats.org/officeDocument/2006/relationships/image" Target="../media/image356.png"/><Relationship Id="rId21" Type="http://schemas.openxmlformats.org/officeDocument/2006/relationships/image" Target="../media/image357.png"/><Relationship Id="rId22" Type="http://schemas.openxmlformats.org/officeDocument/2006/relationships/image" Target="../media/image358.png"/></Relationships>
</file>

<file path=ppt/charts/_rels/chart53.xml.rels><?xml version='1.0' encoding='UTF-8' standalone='yes'?>
<Relationships xmlns="http://schemas.openxmlformats.org/package/2006/relationships"><Relationship Id="rId2" Type="http://schemas.openxmlformats.org/officeDocument/2006/relationships/image" Target="../media/image367.png"/><Relationship Id="rId3" Type="http://schemas.openxmlformats.org/officeDocument/2006/relationships/image" Target="../media/image368.png"/><Relationship Id="rId4" Type="http://schemas.openxmlformats.org/officeDocument/2006/relationships/image" Target="../media/image369.png"/><Relationship Id="rId5" Type="http://schemas.openxmlformats.org/officeDocument/2006/relationships/image" Target="../media/image370.png"/><Relationship Id="rId6" Type="http://schemas.openxmlformats.org/officeDocument/2006/relationships/image" Target="../media/image371.png"/><Relationship Id="rId7" Type="http://schemas.openxmlformats.org/officeDocument/2006/relationships/image" Target="../media/image372.png"/><Relationship Id="rId8" Type="http://schemas.openxmlformats.org/officeDocument/2006/relationships/image" Target="../media/image373.png"/><Relationship Id="rId9" Type="http://schemas.openxmlformats.org/officeDocument/2006/relationships/image" Target="../media/image374.png"/><Relationship Id="rId10" Type="http://schemas.openxmlformats.org/officeDocument/2006/relationships/image" Target="../media/image375.png"/><Relationship Id="rId11" Type="http://schemas.openxmlformats.org/officeDocument/2006/relationships/image" Target="../media/image376.png"/><Relationship Id="rId12" Type="http://schemas.openxmlformats.org/officeDocument/2006/relationships/image" Target="../media/image377.png"/><Relationship Id="rId13" Type="http://schemas.openxmlformats.org/officeDocument/2006/relationships/image" Target="../media/image378.png"/><Relationship Id="rId14" Type="http://schemas.openxmlformats.org/officeDocument/2006/relationships/image" Target="../media/image379.png"/><Relationship Id="rId15" Type="http://schemas.openxmlformats.org/officeDocument/2006/relationships/image" Target="../media/image380.png"/><Relationship Id="rId16" Type="http://schemas.openxmlformats.org/officeDocument/2006/relationships/image" Target="../media/image381.png"/></Relationships>
</file>

<file path=ppt/charts/_rels/chart58.xml.rels><?xml version='1.0' encoding='UTF-8' standalone='yes'?>
<Relationships xmlns="http://schemas.openxmlformats.org/package/2006/relationships"><Relationship Id="rId2" Type="http://schemas.openxmlformats.org/officeDocument/2006/relationships/image" Target="../media/image382.png"/><Relationship Id="rId3" Type="http://schemas.openxmlformats.org/officeDocument/2006/relationships/image" Target="../media/image383.png"/><Relationship Id="rId4" Type="http://schemas.openxmlformats.org/officeDocument/2006/relationships/image" Target="../media/image384.png"/><Relationship Id="rId5" Type="http://schemas.openxmlformats.org/officeDocument/2006/relationships/image" Target="../media/image385.png"/><Relationship Id="rId6" Type="http://schemas.openxmlformats.org/officeDocument/2006/relationships/image" Target="../media/image386.png"/><Relationship Id="rId7" Type="http://schemas.openxmlformats.org/officeDocument/2006/relationships/image" Target="../media/image387.png"/><Relationship Id="rId8" Type="http://schemas.openxmlformats.org/officeDocument/2006/relationships/image" Target="../media/image388.png"/><Relationship Id="rId9" Type="http://schemas.openxmlformats.org/officeDocument/2006/relationships/image" Target="../media/image389.png"/><Relationship Id="rId10" Type="http://schemas.openxmlformats.org/officeDocument/2006/relationships/image" Target="../media/image390.png"/></Relationships>
</file>

<file path=ppt/charts/_rels/chart59.xml.rels><?xml version='1.0' encoding='UTF-8' standalone='yes'?>
<Relationships xmlns="http://schemas.openxmlformats.org/package/2006/relationships"><Relationship Id="rId2" Type="http://schemas.openxmlformats.org/officeDocument/2006/relationships/image" Target="../media/image395.png"/><Relationship Id="rId3" Type="http://schemas.openxmlformats.org/officeDocument/2006/relationships/image" Target="../media/image396.png"/><Relationship Id="rId4" Type="http://schemas.openxmlformats.org/officeDocument/2006/relationships/image" Target="../media/image397.png"/><Relationship Id="rId5" Type="http://schemas.openxmlformats.org/officeDocument/2006/relationships/image" Target="../media/image398.png"/><Relationship Id="rId6" Type="http://schemas.openxmlformats.org/officeDocument/2006/relationships/image" Target="../media/image399.png"/><Relationship Id="rId7" Type="http://schemas.openxmlformats.org/officeDocument/2006/relationships/image" Target="../media/image400.png"/><Relationship Id="rId8" Type="http://schemas.openxmlformats.org/officeDocument/2006/relationships/image" Target="../media/image401.png"/><Relationship Id="rId9" Type="http://schemas.openxmlformats.org/officeDocument/2006/relationships/image" Target="../media/image402.png"/><Relationship Id="rId10" Type="http://schemas.openxmlformats.org/officeDocument/2006/relationships/image" Target="../media/image403.png"/><Relationship Id="rId11" Type="http://schemas.openxmlformats.org/officeDocument/2006/relationships/image" Target="../media/image404.png"/><Relationship Id="rId12" Type="http://schemas.openxmlformats.org/officeDocument/2006/relationships/image" Target="../media/image405.png"/><Relationship Id="rId13" Type="http://schemas.openxmlformats.org/officeDocument/2006/relationships/image" Target="../media/image406.png"/></Relationships>
</file>

<file path=ppt/charts/_rels/chart63.xml.rels><?xml version='1.0' encoding='UTF-8' standalone='yes'?>
<Relationships xmlns="http://schemas.openxmlformats.org/package/2006/relationships"><Relationship Id="rId2" Type="http://schemas.openxmlformats.org/officeDocument/2006/relationships/image" Target="../media/image407.png"/><Relationship Id="rId3" Type="http://schemas.openxmlformats.org/officeDocument/2006/relationships/image" Target="../media/image408.png"/><Relationship Id="rId4" Type="http://schemas.openxmlformats.org/officeDocument/2006/relationships/image" Target="../media/image409.png"/><Relationship Id="rId5" Type="http://schemas.openxmlformats.org/officeDocument/2006/relationships/image" Target="../media/image410.png"/><Relationship Id="rId6" Type="http://schemas.openxmlformats.org/officeDocument/2006/relationships/image" Target="../media/image411.png"/><Relationship Id="rId7" Type="http://schemas.openxmlformats.org/officeDocument/2006/relationships/image" Target="../media/image412.png"/></Relationships>
</file>

<file path=ppt/charts/_rels/chart64.xml.rels><?xml version='1.0' encoding='UTF-8' standalone='yes'?>
<Relationships xmlns="http://schemas.openxmlformats.org/package/2006/relationships"><Relationship Id="rId2" Type="http://schemas.openxmlformats.org/officeDocument/2006/relationships/image" Target="../media/image430.png"/><Relationship Id="rId3" Type="http://schemas.openxmlformats.org/officeDocument/2006/relationships/image" Target="../media/image431.png"/><Relationship Id="rId4" Type="http://schemas.openxmlformats.org/officeDocument/2006/relationships/image" Target="../media/image432.png"/><Relationship Id="rId5" Type="http://schemas.openxmlformats.org/officeDocument/2006/relationships/image" Target="../media/image433.png"/><Relationship Id="rId6" Type="http://schemas.openxmlformats.org/officeDocument/2006/relationships/image" Target="../media/image434.png"/><Relationship Id="rId7" Type="http://schemas.openxmlformats.org/officeDocument/2006/relationships/image" Target="../media/image435.png"/><Relationship Id="rId8" Type="http://schemas.openxmlformats.org/officeDocument/2006/relationships/image" Target="../media/image436.png"/><Relationship Id="rId9" Type="http://schemas.openxmlformats.org/officeDocument/2006/relationships/image" Target="../media/image437.png"/><Relationship Id="rId10" Type="http://schemas.openxmlformats.org/officeDocument/2006/relationships/image" Target="../media/image438.png"/><Relationship Id="rId11" Type="http://schemas.openxmlformats.org/officeDocument/2006/relationships/image" Target="../media/image439.png"/><Relationship Id="rId12" Type="http://schemas.openxmlformats.org/officeDocument/2006/relationships/image" Target="../media/image440.png"/><Relationship Id="rId13" Type="http://schemas.openxmlformats.org/officeDocument/2006/relationships/image" Target="../media/image441.png"/><Relationship Id="rId14" Type="http://schemas.openxmlformats.org/officeDocument/2006/relationships/image" Target="../media/image442.png"/><Relationship Id="rId15" Type="http://schemas.openxmlformats.org/officeDocument/2006/relationships/image" Target="../media/image443.png"/><Relationship Id="rId16" Type="http://schemas.openxmlformats.org/officeDocument/2006/relationships/image" Target="../media/image444.png"/><Relationship Id="rId17" Type="http://schemas.openxmlformats.org/officeDocument/2006/relationships/image" Target="../media/image445.png"/><Relationship Id="rId18" Type="http://schemas.openxmlformats.org/officeDocument/2006/relationships/image" Target="../media/image446.png"/><Relationship Id="rId19" Type="http://schemas.openxmlformats.org/officeDocument/2006/relationships/image" Target="../media/image447.png"/><Relationship Id="rId20" Type="http://schemas.openxmlformats.org/officeDocument/2006/relationships/image" Target="../media/image448.png"/><Relationship Id="rId21" Type="http://schemas.openxmlformats.org/officeDocument/2006/relationships/image" Target="../media/image449.png"/><Relationship Id="rId22" Type="http://schemas.openxmlformats.org/officeDocument/2006/relationships/image" Target="../media/image450.png"/><Relationship Id="rId23" Type="http://schemas.openxmlformats.org/officeDocument/2006/relationships/image" Target="../media/image451.png"/><Relationship Id="rId24" Type="http://schemas.openxmlformats.org/officeDocument/2006/relationships/image" Target="../media/image452.png"/><Relationship Id="rId25" Type="http://schemas.openxmlformats.org/officeDocument/2006/relationships/image" Target="../media/image453.png"/><Relationship Id="rId26" Type="http://schemas.openxmlformats.org/officeDocument/2006/relationships/image" Target="../media/image454.png"/><Relationship Id="rId27" Type="http://schemas.openxmlformats.org/officeDocument/2006/relationships/image" Target="../media/image455.png"/><Relationship Id="rId28" Type="http://schemas.openxmlformats.org/officeDocument/2006/relationships/image" Target="../media/image456.png"/><Relationship Id="rId29" Type="http://schemas.openxmlformats.org/officeDocument/2006/relationships/image" Target="../media/image457.png"/><Relationship Id="rId30" Type="http://schemas.openxmlformats.org/officeDocument/2006/relationships/image" Target="../media/image458.png"/><Relationship Id="rId31" Type="http://schemas.openxmlformats.org/officeDocument/2006/relationships/image" Target="../media/image459.png"/><Relationship Id="rId32" Type="http://schemas.openxmlformats.org/officeDocument/2006/relationships/image" Target="../media/image460.png"/><Relationship Id="rId33" Type="http://schemas.openxmlformats.org/officeDocument/2006/relationships/image" Target="../media/image461.png"/><Relationship Id="rId34" Type="http://schemas.openxmlformats.org/officeDocument/2006/relationships/image" Target="../media/image462.png"/><Relationship Id="rId35" Type="http://schemas.openxmlformats.org/officeDocument/2006/relationships/image" Target="../media/image463.png"/><Relationship Id="rId36" Type="http://schemas.openxmlformats.org/officeDocument/2006/relationships/image" Target="../media/image464.png"/></Relationships>
</file>

<file path=ppt/charts/_rels/chart72.xml.rels><?xml version='1.0' encoding='UTF-8' standalone='yes'?>
<Relationships xmlns="http://schemas.openxmlformats.org/package/2006/relationships"><Relationship Id="rId2" Type="http://schemas.openxmlformats.org/officeDocument/2006/relationships/image" Target="../media/image465.png"/><Relationship Id="rId3" Type="http://schemas.openxmlformats.org/officeDocument/2006/relationships/image" Target="../media/image466.png"/><Relationship Id="rId4" Type="http://schemas.openxmlformats.org/officeDocument/2006/relationships/image" Target="../media/image467.png"/><Relationship Id="rId5" Type="http://schemas.openxmlformats.org/officeDocument/2006/relationships/image" Target="../media/image468.png"/><Relationship Id="rId6" Type="http://schemas.openxmlformats.org/officeDocument/2006/relationships/image" Target="../media/image469.png"/><Relationship Id="rId7" Type="http://schemas.openxmlformats.org/officeDocument/2006/relationships/image" Target="../media/image470.png"/><Relationship Id="rId8" Type="http://schemas.openxmlformats.org/officeDocument/2006/relationships/image" Target="../media/image471.png"/><Relationship Id="rId9" Type="http://schemas.openxmlformats.org/officeDocument/2006/relationships/image" Target="../media/image472.png"/><Relationship Id="rId10" Type="http://schemas.openxmlformats.org/officeDocument/2006/relationships/image" Target="../media/image473.png"/><Relationship Id="rId11" Type="http://schemas.openxmlformats.org/officeDocument/2006/relationships/image" Target="../media/image474.png"/><Relationship Id="rId12" Type="http://schemas.openxmlformats.org/officeDocument/2006/relationships/image" Target="../media/image475.png"/><Relationship Id="rId13" Type="http://schemas.openxmlformats.org/officeDocument/2006/relationships/image" Target="../media/image476.png"/><Relationship Id="rId14" Type="http://schemas.openxmlformats.org/officeDocument/2006/relationships/image" Target="../media/image477.png"/><Relationship Id="rId15" Type="http://schemas.openxmlformats.org/officeDocument/2006/relationships/image" Target="../media/image478.png"/><Relationship Id="rId16" Type="http://schemas.openxmlformats.org/officeDocument/2006/relationships/image" Target="../media/image479.png"/><Relationship Id="rId17" Type="http://schemas.openxmlformats.org/officeDocument/2006/relationships/image" Target="../media/image480.png"/></Relationships>
</file>

<file path=ppt/charts/_rels/chart73.xml.rels><?xml version='1.0' encoding='UTF-8' standalone='yes'?>
<Relationships xmlns="http://schemas.openxmlformats.org/package/2006/relationships"><Relationship Id="rId2" Type="http://schemas.openxmlformats.org/officeDocument/2006/relationships/image" Target="../media/image490.png"/><Relationship Id="rId3" Type="http://schemas.openxmlformats.org/officeDocument/2006/relationships/image" Target="../media/image491.png"/><Relationship Id="rId4" Type="http://schemas.openxmlformats.org/officeDocument/2006/relationships/image" Target="../media/image492.png"/><Relationship Id="rId5" Type="http://schemas.openxmlformats.org/officeDocument/2006/relationships/image" Target="../media/image493.png"/><Relationship Id="rId6" Type="http://schemas.openxmlformats.org/officeDocument/2006/relationships/image" Target="../media/image494.png"/><Relationship Id="rId7" Type="http://schemas.openxmlformats.org/officeDocument/2006/relationships/image" Target="../media/image495.png"/><Relationship Id="rId8" Type="http://schemas.openxmlformats.org/officeDocument/2006/relationships/image" Target="../media/image496.png"/><Relationship Id="rId9" Type="http://schemas.openxmlformats.org/officeDocument/2006/relationships/image" Target="../media/image497.png"/><Relationship Id="rId10" Type="http://schemas.openxmlformats.org/officeDocument/2006/relationships/image" Target="../media/image498.png"/><Relationship Id="rId11" Type="http://schemas.openxmlformats.org/officeDocument/2006/relationships/image" Target="../media/image499.png"/><Relationship Id="rId12" Type="http://schemas.openxmlformats.org/officeDocument/2006/relationships/image" Target="../media/image500.png"/><Relationship Id="rId13" Type="http://schemas.openxmlformats.org/officeDocument/2006/relationships/image" Target="../media/image501.png"/><Relationship Id="rId14" Type="http://schemas.openxmlformats.org/officeDocument/2006/relationships/image" Target="../media/image502.png"/><Relationship Id="rId15" Type="http://schemas.openxmlformats.org/officeDocument/2006/relationships/image" Target="../media/image503.png"/><Relationship Id="rId16" Type="http://schemas.openxmlformats.org/officeDocument/2006/relationships/image" Target="../media/image504.png"/><Relationship Id="rId17" Type="http://schemas.openxmlformats.org/officeDocument/2006/relationships/image" Target="../media/image505.png"/><Relationship Id="rId18" Type="http://schemas.openxmlformats.org/officeDocument/2006/relationships/image" Target="../media/image506.png"/><Relationship Id="rId19" Type="http://schemas.openxmlformats.org/officeDocument/2006/relationships/image" Target="../media/image507.png"/><Relationship Id="rId20" Type="http://schemas.openxmlformats.org/officeDocument/2006/relationships/image" Target="../media/image508.png"/><Relationship Id="rId21" Type="http://schemas.openxmlformats.org/officeDocument/2006/relationships/image" Target="../media/image509.png"/><Relationship Id="rId22" Type="http://schemas.openxmlformats.org/officeDocument/2006/relationships/image" Target="../media/image510.png"/><Relationship Id="rId23" Type="http://schemas.openxmlformats.org/officeDocument/2006/relationships/image" Target="../media/image511.png"/></Relationships>
</file>

<file path=ppt/charts/_rels/chart79.xml.rels><?xml version='1.0' encoding='UTF-8' standalone='yes'?>
<Relationships xmlns="http://schemas.openxmlformats.org/package/2006/relationships"><Relationship Id="rId2" Type="http://schemas.openxmlformats.org/officeDocument/2006/relationships/image" Target="../media/image512.png"/><Relationship Id="rId3" Type="http://schemas.openxmlformats.org/officeDocument/2006/relationships/image" Target="../media/image513.png"/><Relationship Id="rId4" Type="http://schemas.openxmlformats.org/officeDocument/2006/relationships/image" Target="../media/image514.png"/><Relationship Id="rId5" Type="http://schemas.openxmlformats.org/officeDocument/2006/relationships/image" Target="../media/image515.png"/><Relationship Id="rId6" Type="http://schemas.openxmlformats.org/officeDocument/2006/relationships/image" Target="../media/image516.png"/><Relationship Id="rId7" Type="http://schemas.openxmlformats.org/officeDocument/2006/relationships/image" Target="../media/image517.png"/><Relationship Id="rId8" Type="http://schemas.openxmlformats.org/officeDocument/2006/relationships/image" Target="../media/image518.png"/><Relationship Id="rId9" Type="http://schemas.openxmlformats.org/officeDocument/2006/relationships/image" Target="../media/image519.png"/><Relationship Id="rId10" Type="http://schemas.openxmlformats.org/officeDocument/2006/relationships/image" Target="../media/image520.png"/><Relationship Id="rId11" Type="http://schemas.openxmlformats.org/officeDocument/2006/relationships/image" Target="../media/image521.png"/></Relationships>
</file>

<file path=ppt/charts/_rels/chart80.xml.rels><?xml version='1.0' encoding='UTF-8' standalone='yes'?>
<Relationships xmlns="http://schemas.openxmlformats.org/package/2006/relationships"><Relationship Id="rId2" Type="http://schemas.openxmlformats.org/officeDocument/2006/relationships/image" Target="../media/image530.png"/><Relationship Id="rId3" Type="http://schemas.openxmlformats.org/officeDocument/2006/relationships/image" Target="../media/image531.png"/><Relationship Id="rId4" Type="http://schemas.openxmlformats.org/officeDocument/2006/relationships/image" Target="../media/image532.png"/><Relationship Id="rId5" Type="http://schemas.openxmlformats.org/officeDocument/2006/relationships/image" Target="../media/image533.png"/><Relationship Id="rId6" Type="http://schemas.openxmlformats.org/officeDocument/2006/relationships/image" Target="../media/image534.png"/><Relationship Id="rId7" Type="http://schemas.openxmlformats.org/officeDocument/2006/relationships/image" Target="../media/image535.png"/><Relationship Id="rId8" Type="http://schemas.openxmlformats.org/officeDocument/2006/relationships/image" Target="../media/image536.png"/><Relationship Id="rId9" Type="http://schemas.openxmlformats.org/officeDocument/2006/relationships/image" Target="../media/image537.png"/><Relationship Id="rId10" Type="http://schemas.openxmlformats.org/officeDocument/2006/relationships/image" Target="../media/image538.png"/><Relationship Id="rId11" Type="http://schemas.openxmlformats.org/officeDocument/2006/relationships/image" Target="../media/image539.png"/><Relationship Id="rId12" Type="http://schemas.openxmlformats.org/officeDocument/2006/relationships/image" Target="../media/image540.png"/><Relationship Id="rId13" Type="http://schemas.openxmlformats.org/officeDocument/2006/relationships/image" Target="../media/image541.png"/><Relationship Id="rId14" Type="http://schemas.openxmlformats.org/officeDocument/2006/relationships/image" Target="../media/image542.png"/><Relationship Id="rId15" Type="http://schemas.openxmlformats.org/officeDocument/2006/relationships/image" Target="../media/image543.png"/><Relationship Id="rId16" Type="http://schemas.openxmlformats.org/officeDocument/2006/relationships/image" Target="../media/image544.png"/><Relationship Id="rId17" Type="http://schemas.openxmlformats.org/officeDocument/2006/relationships/image" Target="../media/image545.png"/><Relationship Id="rId18" Type="http://schemas.openxmlformats.org/officeDocument/2006/relationships/image" Target="../media/image546.png"/><Relationship Id="rId19" Type="http://schemas.openxmlformats.org/officeDocument/2006/relationships/image" Target="../media/image547.png"/></Relationships>
</file>

<file path=ppt/charts/_rels/chart85.xml.rels><?xml version='1.0' encoding='UTF-8' standalone='yes'?>
<Relationships xmlns="http://schemas.openxmlformats.org/package/2006/relationships"><Relationship Id="rId2" Type="http://schemas.openxmlformats.org/officeDocument/2006/relationships/image" Target="../media/image548.png"/><Relationship Id="rId3" Type="http://schemas.openxmlformats.org/officeDocument/2006/relationships/image" Target="../media/image549.png"/><Relationship Id="rId4" Type="http://schemas.openxmlformats.org/officeDocument/2006/relationships/image" Target="../media/image550.png"/><Relationship Id="rId5" Type="http://schemas.openxmlformats.org/officeDocument/2006/relationships/image" Target="../media/image551.png"/><Relationship Id="rId6" Type="http://schemas.openxmlformats.org/officeDocument/2006/relationships/image" Target="../media/image552.png"/><Relationship Id="rId7" Type="http://schemas.openxmlformats.org/officeDocument/2006/relationships/image" Target="../media/image553.png"/><Relationship Id="rId8" Type="http://schemas.openxmlformats.org/officeDocument/2006/relationships/image" Target="../media/image554.png"/><Relationship Id="rId9" Type="http://schemas.openxmlformats.org/officeDocument/2006/relationships/image" Target="../media/image555.png"/><Relationship Id="rId10" Type="http://schemas.openxmlformats.org/officeDocument/2006/relationships/image" Target="../media/image556.png"/></Relationships>
</file>

<file path=ppt/charts/_rels/chart86.xml.rels><?xml version='1.0' encoding='UTF-8' standalone='yes'?>
<Relationships xmlns="http://schemas.openxmlformats.org/package/2006/relationships"><Relationship Id="rId2" Type="http://schemas.openxmlformats.org/officeDocument/2006/relationships/image" Target="../media/image567.png"/><Relationship Id="rId3" Type="http://schemas.openxmlformats.org/officeDocument/2006/relationships/image" Target="../media/image568.png"/><Relationship Id="rId4" Type="http://schemas.openxmlformats.org/officeDocument/2006/relationships/image" Target="../media/image569.png"/><Relationship Id="rId5" Type="http://schemas.openxmlformats.org/officeDocument/2006/relationships/image" Target="../media/image570.png"/><Relationship Id="rId6" Type="http://schemas.openxmlformats.org/officeDocument/2006/relationships/image" Target="../media/image571.png"/><Relationship Id="rId7" Type="http://schemas.openxmlformats.org/officeDocument/2006/relationships/image" Target="../media/image572.png"/><Relationship Id="rId8" Type="http://schemas.openxmlformats.org/officeDocument/2006/relationships/image" Target="../media/image573.png"/><Relationship Id="rId9" Type="http://schemas.openxmlformats.org/officeDocument/2006/relationships/image" Target="../media/image574.png"/><Relationship Id="rId10" Type="http://schemas.openxmlformats.org/officeDocument/2006/relationships/image" Target="../media/image575.png"/><Relationship Id="rId11" Type="http://schemas.openxmlformats.org/officeDocument/2006/relationships/image" Target="../media/image576.png"/><Relationship Id="rId12" Type="http://schemas.openxmlformats.org/officeDocument/2006/relationships/image" Target="../media/image577.png"/><Relationship Id="rId13" Type="http://schemas.openxmlformats.org/officeDocument/2006/relationships/image" Target="../media/image578.png"/><Relationship Id="rId14" Type="http://schemas.openxmlformats.org/officeDocument/2006/relationships/image" Target="../media/image579.png"/><Relationship Id="rId15" Type="http://schemas.openxmlformats.org/officeDocument/2006/relationships/image" Target="../media/image580.png"/><Relationship Id="rId16" Type="http://schemas.openxmlformats.org/officeDocument/2006/relationships/image" Target="../media/image581.png"/><Relationship Id="rId17" Type="http://schemas.openxmlformats.org/officeDocument/2006/relationships/image" Target="../media/image582.png"/><Relationship Id="rId18" Type="http://schemas.openxmlformats.org/officeDocument/2006/relationships/image" Target="../media/image583.png"/><Relationship Id="rId19" Type="http://schemas.openxmlformats.org/officeDocument/2006/relationships/image" Target="../media/image584.png"/><Relationship Id="rId20" Type="http://schemas.openxmlformats.org/officeDocument/2006/relationships/image" Target="../media/image585.png"/></Relationships>
</file>

<file path=ppt/charts/_rels/chart92.xml.rels><?xml version='1.0' encoding='UTF-8' standalone='yes'?>
<Relationships xmlns="http://schemas.openxmlformats.org/package/2006/relationships"><Relationship Id="rId2" Type="http://schemas.openxmlformats.org/officeDocument/2006/relationships/image" Target="../media/image586.png"/><Relationship Id="rId3" Type="http://schemas.openxmlformats.org/officeDocument/2006/relationships/image" Target="../media/image587.png"/><Relationship Id="rId4" Type="http://schemas.openxmlformats.org/officeDocument/2006/relationships/image" Target="../media/image588.png"/><Relationship Id="rId5" Type="http://schemas.openxmlformats.org/officeDocument/2006/relationships/image" Target="../media/image589.png"/><Relationship Id="rId6" Type="http://schemas.openxmlformats.org/officeDocument/2006/relationships/image" Target="../media/image590.png"/><Relationship Id="rId7" Type="http://schemas.openxmlformats.org/officeDocument/2006/relationships/image" Target="../media/image591.png"/><Relationship Id="rId8" Type="http://schemas.openxmlformats.org/officeDocument/2006/relationships/image" Target="../media/image592.png"/><Relationship Id="rId9" Type="http://schemas.openxmlformats.org/officeDocument/2006/relationships/image" Target="../media/image593.png"/><Relationship Id="rId10" Type="http://schemas.openxmlformats.org/officeDocument/2006/relationships/image" Target="../media/image594.png"/><Relationship Id="rId11" Type="http://schemas.openxmlformats.org/officeDocument/2006/relationships/image" Target="../media/image595.png"/><Relationship Id="rId12" Type="http://schemas.openxmlformats.org/officeDocument/2006/relationships/image" Target="../media/image596.png"/></Relationships>
</file>

<file path=ppt/charts/_rels/chart93.xml.rels><?xml version='1.0' encoding='UTF-8' standalone='yes'?>
<Relationships xmlns="http://schemas.openxmlformats.org/package/2006/relationships"><Relationship Id="rId2" Type="http://schemas.openxmlformats.org/officeDocument/2006/relationships/image" Target="../media/image607.png"/><Relationship Id="rId3" Type="http://schemas.openxmlformats.org/officeDocument/2006/relationships/image" Target="../media/image608.png"/><Relationship Id="rId4" Type="http://schemas.openxmlformats.org/officeDocument/2006/relationships/image" Target="../media/image609.png"/><Relationship Id="rId5" Type="http://schemas.openxmlformats.org/officeDocument/2006/relationships/image" Target="../media/image610.png"/><Relationship Id="rId6" Type="http://schemas.openxmlformats.org/officeDocument/2006/relationships/image" Target="../media/image611.png"/><Relationship Id="rId7" Type="http://schemas.openxmlformats.org/officeDocument/2006/relationships/image" Target="../media/image612.png"/><Relationship Id="rId8" Type="http://schemas.openxmlformats.org/officeDocument/2006/relationships/image" Target="../media/image613.png"/><Relationship Id="rId9" Type="http://schemas.openxmlformats.org/officeDocument/2006/relationships/image" Target="../media/image614.png"/><Relationship Id="rId10" Type="http://schemas.openxmlformats.org/officeDocument/2006/relationships/image" Target="../media/image615.png"/><Relationship Id="rId11" Type="http://schemas.openxmlformats.org/officeDocument/2006/relationships/image" Target="../media/image616.png"/><Relationship Id="rId12" Type="http://schemas.openxmlformats.org/officeDocument/2006/relationships/image" Target="../media/image617.png"/><Relationship Id="rId13" Type="http://schemas.openxmlformats.org/officeDocument/2006/relationships/image" Target="../media/image618.png"/><Relationship Id="rId14" Type="http://schemas.openxmlformats.org/officeDocument/2006/relationships/image" Target="../media/image619.png"/><Relationship Id="rId15" Type="http://schemas.openxmlformats.org/officeDocument/2006/relationships/image" Target="../media/image620.png"/><Relationship Id="rId16" Type="http://schemas.openxmlformats.org/officeDocument/2006/relationships/image" Target="../media/image621.png"/><Relationship Id="rId17" Type="http://schemas.openxmlformats.org/officeDocument/2006/relationships/image" Target="../media/image622.png"/><Relationship Id="rId18" Type="http://schemas.openxmlformats.org/officeDocument/2006/relationships/image" Target="../media/image623.png"/><Relationship Id="rId19" Type="http://schemas.openxmlformats.org/officeDocument/2006/relationships/image" Target="../media/image624.png"/><Relationship Id="rId20" Type="http://schemas.openxmlformats.org/officeDocument/2006/relationships/image" Target="../media/image625.png"/><Relationship Id="rId21" Type="http://schemas.openxmlformats.org/officeDocument/2006/relationships/image" Target="../media/image626.png"/><Relationship Id="rId22" Type="http://schemas.openxmlformats.org/officeDocument/2006/relationships/image" Target="../media/image627.png"/><Relationship Id="rId23" Type="http://schemas.openxmlformats.org/officeDocument/2006/relationships/image" Target="../media/image628.png"/><Relationship Id="rId24" Type="http://schemas.openxmlformats.org/officeDocument/2006/relationships/image" Target="../media/image629.png"/></Relationships>
</file>

<file path=ppt/charts/_rels/chart99.xml.rels><?xml version='1.0' encoding='UTF-8' standalone='yes'?>
<Relationships xmlns="http://schemas.openxmlformats.org/package/2006/relationships"><Relationship Id="rId2" Type="http://schemas.openxmlformats.org/officeDocument/2006/relationships/image" Target="../media/image630.png"/><Relationship Id="rId3" Type="http://schemas.openxmlformats.org/officeDocument/2006/relationships/image" Target="../media/image631.png"/><Relationship Id="rId4" Type="http://schemas.openxmlformats.org/officeDocument/2006/relationships/image" Target="../media/image632.png"/><Relationship Id="rId5" Type="http://schemas.openxmlformats.org/officeDocument/2006/relationships/image" Target="../media/image633.png"/><Relationship Id="rId6" Type="http://schemas.openxmlformats.org/officeDocument/2006/relationships/image" Target="../media/image634.png"/><Relationship Id="rId7" Type="http://schemas.openxmlformats.org/officeDocument/2006/relationships/image" Target="../media/image635.png"/><Relationship Id="rId8" Type="http://schemas.openxmlformats.org/officeDocument/2006/relationships/image" Target="../media/image636.png"/><Relationship Id="rId9" Type="http://schemas.openxmlformats.org/officeDocument/2006/relationships/image" Target="../media/image637.png"/><Relationship Id="rId10" Type="http://schemas.openxmlformats.org/officeDocument/2006/relationships/image" Target="../media/image638.png"/><Relationship Id="rId11" Type="http://schemas.openxmlformats.org/officeDocument/2006/relationships/image" Target="../media/image639.png"/><Relationship Id="rId12" Type="http://schemas.openxmlformats.org/officeDocument/2006/relationships/image" Target="../media/image640.png"/><Relationship Id="rId13" Type="http://schemas.openxmlformats.org/officeDocument/2006/relationships/image" Target="../media/image641.png"/></Relationships>
</file>

<file path=ppt/charts/_rels/chart100.xml.rels><?xml version='1.0' encoding='UTF-8' standalone='yes'?>
<Relationships xmlns="http://schemas.openxmlformats.org/package/2006/relationships"><Relationship Id="rId2" Type="http://schemas.openxmlformats.org/officeDocument/2006/relationships/image" Target="../media/image649.png"/><Relationship Id="rId3" Type="http://schemas.openxmlformats.org/officeDocument/2006/relationships/image" Target="../media/image650.png"/><Relationship Id="rId4" Type="http://schemas.openxmlformats.org/officeDocument/2006/relationships/image" Target="../media/image651.png"/><Relationship Id="rId5" Type="http://schemas.openxmlformats.org/officeDocument/2006/relationships/image" Target="../media/image652.png"/><Relationship Id="rId6" Type="http://schemas.openxmlformats.org/officeDocument/2006/relationships/image" Target="../media/image653.png"/><Relationship Id="rId7" Type="http://schemas.openxmlformats.org/officeDocument/2006/relationships/image" Target="../media/image654.png"/><Relationship Id="rId8" Type="http://schemas.openxmlformats.org/officeDocument/2006/relationships/image" Target="../media/image655.png"/><Relationship Id="rId9" Type="http://schemas.openxmlformats.org/officeDocument/2006/relationships/image" Target="../media/image656.png"/><Relationship Id="rId10" Type="http://schemas.openxmlformats.org/officeDocument/2006/relationships/image" Target="../media/image657.png"/><Relationship Id="rId11" Type="http://schemas.openxmlformats.org/officeDocument/2006/relationships/image" Target="../media/image658.png"/><Relationship Id="rId12" Type="http://schemas.openxmlformats.org/officeDocument/2006/relationships/image" Target="../media/image659.png"/><Relationship Id="rId13" Type="http://schemas.openxmlformats.org/officeDocument/2006/relationships/image" Target="../media/image660.png"/><Relationship Id="rId14" Type="http://schemas.openxmlformats.org/officeDocument/2006/relationships/image" Target="../media/image661.png"/><Relationship Id="rId15" Type="http://schemas.openxmlformats.org/officeDocument/2006/relationships/image" Target="../media/image662.png"/><Relationship Id="rId16" Type="http://schemas.openxmlformats.org/officeDocument/2006/relationships/image" Target="../media/image663.png"/><Relationship Id="rId17" Type="http://schemas.openxmlformats.org/officeDocument/2006/relationships/image" Target="../media/image664.png"/><Relationship Id="rId18" Type="http://schemas.openxmlformats.org/officeDocument/2006/relationships/image" Target="../media/image665.png"/><Relationship Id="rId19" Type="http://schemas.openxmlformats.org/officeDocument/2006/relationships/image" Target="../media/image666.png"/></Relationships>
</file>

<file path=ppt/charts/_rels/chart105.xml.rels><?xml version='1.0' encoding='UTF-8' standalone='yes'?>
<Relationships xmlns="http://schemas.openxmlformats.org/package/2006/relationships"><Relationship Id="rId2" Type="http://schemas.openxmlformats.org/officeDocument/2006/relationships/image" Target="../media/image667.png"/><Relationship Id="rId3" Type="http://schemas.openxmlformats.org/officeDocument/2006/relationships/image" Target="../media/image668.png"/><Relationship Id="rId4" Type="http://schemas.openxmlformats.org/officeDocument/2006/relationships/image" Target="../media/image669.png"/><Relationship Id="rId5" Type="http://schemas.openxmlformats.org/officeDocument/2006/relationships/image" Target="../media/image670.png"/><Relationship Id="rId6" Type="http://schemas.openxmlformats.org/officeDocument/2006/relationships/image" Target="../media/image671.png"/><Relationship Id="rId7" Type="http://schemas.openxmlformats.org/officeDocument/2006/relationships/image" Target="../media/image672.png"/><Relationship Id="rId8" Type="http://schemas.openxmlformats.org/officeDocument/2006/relationships/image" Target="../media/image673.png"/><Relationship Id="rId9" Type="http://schemas.openxmlformats.org/officeDocument/2006/relationships/image" Target="../media/image674.png"/><Relationship Id="rId10" Type="http://schemas.openxmlformats.org/officeDocument/2006/relationships/image" Target="../media/image675.png"/></Relationships>
</file>

<file path=ppt/charts/_rels/chart106.xml.rels><?xml version='1.0' encoding='UTF-8' standalone='yes'?>
<Relationships xmlns="http://schemas.openxmlformats.org/package/2006/relationships"><Relationship Id="rId2" Type="http://schemas.openxmlformats.org/officeDocument/2006/relationships/image" Target="../media/image680.png"/><Relationship Id="rId3" Type="http://schemas.openxmlformats.org/officeDocument/2006/relationships/image" Target="../media/image681.png"/><Relationship Id="rId4" Type="http://schemas.openxmlformats.org/officeDocument/2006/relationships/image" Target="../media/image682.png"/><Relationship Id="rId5" Type="http://schemas.openxmlformats.org/officeDocument/2006/relationships/image" Target="../media/image683.png"/><Relationship Id="rId6" Type="http://schemas.openxmlformats.org/officeDocument/2006/relationships/image" Target="../media/image684.png"/><Relationship Id="rId7" Type="http://schemas.openxmlformats.org/officeDocument/2006/relationships/image" Target="../media/image685.png"/><Relationship Id="rId8" Type="http://schemas.openxmlformats.org/officeDocument/2006/relationships/image" Target="../media/image686.png"/><Relationship Id="rId9" Type="http://schemas.openxmlformats.org/officeDocument/2006/relationships/image" Target="../media/image687.png"/><Relationship Id="rId10" Type="http://schemas.openxmlformats.org/officeDocument/2006/relationships/image" Target="../media/image688.png"/><Relationship Id="rId11" Type="http://schemas.openxmlformats.org/officeDocument/2006/relationships/image" Target="../media/image689.png"/><Relationship Id="rId12" Type="http://schemas.openxmlformats.org/officeDocument/2006/relationships/image" Target="../media/image690.png"/><Relationship Id="rId13" Type="http://schemas.openxmlformats.org/officeDocument/2006/relationships/image" Target="../media/image691.png"/></Relationships>
</file>

<file path=ppt/charts/_rels/chart110.xml.rels><?xml version='1.0' encoding='UTF-8' standalone='yes'?>
<Relationships xmlns="http://schemas.openxmlformats.org/package/2006/relationships"><Relationship Id="rId2" Type="http://schemas.openxmlformats.org/officeDocument/2006/relationships/image" Target="../media/image692.png"/><Relationship Id="rId3" Type="http://schemas.openxmlformats.org/officeDocument/2006/relationships/image" Target="../media/image693.png"/><Relationship Id="rId4" Type="http://schemas.openxmlformats.org/officeDocument/2006/relationships/image" Target="../media/image694.png"/><Relationship Id="rId5" Type="http://schemas.openxmlformats.org/officeDocument/2006/relationships/image" Target="../media/image695.png"/><Relationship Id="rId6" Type="http://schemas.openxmlformats.org/officeDocument/2006/relationships/image" Target="../media/image696.png"/><Relationship Id="rId7" Type="http://schemas.openxmlformats.org/officeDocument/2006/relationships/image" Target="../media/image697.png"/></Relationships>
</file>

<file path=ppt/charts/_rels/chart111.xml.rels><?xml version='1.0' encoding='UTF-8' standalone='yes'?>
<Relationships xmlns="http://schemas.openxmlformats.org/package/2006/relationships"><Relationship Id="rId2" Type="http://schemas.openxmlformats.org/officeDocument/2006/relationships/image" Target="../media/image710.png"/><Relationship Id="rId3" Type="http://schemas.openxmlformats.org/officeDocument/2006/relationships/image" Target="../media/image711.png"/><Relationship Id="rId4" Type="http://schemas.openxmlformats.org/officeDocument/2006/relationships/image" Target="../media/image712.png"/><Relationship Id="rId5" Type="http://schemas.openxmlformats.org/officeDocument/2006/relationships/image" Target="../media/image713.png"/><Relationship Id="rId6" Type="http://schemas.openxmlformats.org/officeDocument/2006/relationships/image" Target="../media/image714.png"/><Relationship Id="rId7" Type="http://schemas.openxmlformats.org/officeDocument/2006/relationships/image" Target="../media/image715.png"/><Relationship Id="rId8" Type="http://schemas.openxmlformats.org/officeDocument/2006/relationships/image" Target="../media/image716.png"/><Relationship Id="rId9" Type="http://schemas.openxmlformats.org/officeDocument/2006/relationships/image" Target="../media/image717.png"/><Relationship Id="rId10" Type="http://schemas.openxmlformats.org/officeDocument/2006/relationships/image" Target="../media/image718.png"/><Relationship Id="rId11" Type="http://schemas.openxmlformats.org/officeDocument/2006/relationships/image" Target="../media/image719.png"/><Relationship Id="rId12" Type="http://schemas.openxmlformats.org/officeDocument/2006/relationships/image" Target="../media/image720.png"/><Relationship Id="rId13" Type="http://schemas.openxmlformats.org/officeDocument/2006/relationships/image" Target="../media/image721.png"/><Relationship Id="rId14" Type="http://schemas.openxmlformats.org/officeDocument/2006/relationships/image" Target="../media/image722.png"/><Relationship Id="rId15" Type="http://schemas.openxmlformats.org/officeDocument/2006/relationships/image" Target="../media/image723.png"/><Relationship Id="rId16" Type="http://schemas.openxmlformats.org/officeDocument/2006/relationships/image" Target="../media/image724.png"/><Relationship Id="rId17" Type="http://schemas.openxmlformats.org/officeDocument/2006/relationships/image" Target="../media/image725.png"/><Relationship Id="rId18" Type="http://schemas.openxmlformats.org/officeDocument/2006/relationships/image" Target="../media/image726.png"/><Relationship Id="rId19" Type="http://schemas.openxmlformats.org/officeDocument/2006/relationships/image" Target="../media/image727.png"/><Relationship Id="rId20" Type="http://schemas.openxmlformats.org/officeDocument/2006/relationships/image" Target="../media/image728.png"/><Relationship Id="rId21" Type="http://schemas.openxmlformats.org/officeDocument/2006/relationships/image" Target="../media/image729.png"/><Relationship Id="rId22" Type="http://schemas.openxmlformats.org/officeDocument/2006/relationships/image" Target="../media/image730.png"/><Relationship Id="rId23" Type="http://schemas.openxmlformats.org/officeDocument/2006/relationships/image" Target="../media/image731.png"/><Relationship Id="rId24" Type="http://schemas.openxmlformats.org/officeDocument/2006/relationships/image" Target="../media/image732.png"/></Relationships>
</file>

<file path=ppt/charts/_rels/chart117.xml.rels><?xml version='1.0' encoding='UTF-8' standalone='yes'?>
<Relationships xmlns="http://schemas.openxmlformats.org/package/2006/relationships"><Relationship Id="rId2" Type="http://schemas.openxmlformats.org/officeDocument/2006/relationships/image" Target="../media/image733.png"/><Relationship Id="rId3" Type="http://schemas.openxmlformats.org/officeDocument/2006/relationships/image" Target="../media/image734.png"/><Relationship Id="rId4" Type="http://schemas.openxmlformats.org/officeDocument/2006/relationships/image" Target="../media/image735.png"/><Relationship Id="rId5" Type="http://schemas.openxmlformats.org/officeDocument/2006/relationships/image" Target="../media/image736.png"/><Relationship Id="rId6" Type="http://schemas.openxmlformats.org/officeDocument/2006/relationships/image" Target="../media/image737.png"/><Relationship Id="rId7" Type="http://schemas.openxmlformats.org/officeDocument/2006/relationships/image" Target="../media/image738.png"/><Relationship Id="rId8" Type="http://schemas.openxmlformats.org/officeDocument/2006/relationships/image" Target="../media/image739.png"/><Relationship Id="rId9" Type="http://schemas.openxmlformats.org/officeDocument/2006/relationships/image" Target="../media/image740.png"/><Relationship Id="rId10" Type="http://schemas.openxmlformats.org/officeDocument/2006/relationships/image" Target="../media/image741.png"/><Relationship Id="rId11" Type="http://schemas.openxmlformats.org/officeDocument/2006/relationships/image" Target="../media/image742.png"/><Relationship Id="rId12" Type="http://schemas.openxmlformats.org/officeDocument/2006/relationships/image" Target="../media/image743.png"/><Relationship Id="rId13" Type="http://schemas.openxmlformats.org/officeDocument/2006/relationships/image" Target="../media/image744.png"/></Relationships>
</file>

<file path=ppt/charts/_rels/chart118.xml.rels><?xml version='1.0' encoding='UTF-8' standalone='yes'?>
<Relationships xmlns="http://schemas.openxmlformats.org/package/2006/relationships"><Relationship Id="rId2" Type="http://schemas.openxmlformats.org/officeDocument/2006/relationships/image" Target="../media/image751.png"/><Relationship Id="rId3" Type="http://schemas.openxmlformats.org/officeDocument/2006/relationships/image" Target="../media/image752.png"/><Relationship Id="rId4" Type="http://schemas.openxmlformats.org/officeDocument/2006/relationships/image" Target="../media/image753.png"/><Relationship Id="rId5" Type="http://schemas.openxmlformats.org/officeDocument/2006/relationships/image" Target="../media/image754.png"/><Relationship Id="rId6" Type="http://schemas.openxmlformats.org/officeDocument/2006/relationships/image" Target="../media/image755.png"/><Relationship Id="rId7" Type="http://schemas.openxmlformats.org/officeDocument/2006/relationships/image" Target="../media/image756.png"/><Relationship Id="rId8" Type="http://schemas.openxmlformats.org/officeDocument/2006/relationships/image" Target="../media/image757.png"/><Relationship Id="rId9" Type="http://schemas.openxmlformats.org/officeDocument/2006/relationships/image" Target="../media/image758.png"/><Relationship Id="rId10" Type="http://schemas.openxmlformats.org/officeDocument/2006/relationships/image" Target="../media/image759.png"/><Relationship Id="rId11" Type="http://schemas.openxmlformats.org/officeDocument/2006/relationships/image" Target="../media/image760.png"/><Relationship Id="rId12" Type="http://schemas.openxmlformats.org/officeDocument/2006/relationships/image" Target="../media/image761.png"/><Relationship Id="rId13" Type="http://schemas.openxmlformats.org/officeDocument/2006/relationships/image" Target="../media/image762.png"/><Relationship Id="rId14" Type="http://schemas.openxmlformats.org/officeDocument/2006/relationships/image" Target="../media/image763.png"/><Relationship Id="rId15" Type="http://schemas.openxmlformats.org/officeDocument/2006/relationships/image" Target="../media/image764.png"/><Relationship Id="rId16" Type="http://schemas.openxmlformats.org/officeDocument/2006/relationships/image" Target="../media/image765.png"/><Relationship Id="rId17" Type="http://schemas.openxmlformats.org/officeDocument/2006/relationships/image" Target="../media/image766.png"/><Relationship Id="rId18" Type="http://schemas.openxmlformats.org/officeDocument/2006/relationships/image" Target="../media/image767.png"/></Relationships>
</file>

<file path=ppt/charts/_rels/chart123.xml.rels><?xml version='1.0' encoding='UTF-8' standalone='yes'?>
<Relationships xmlns="http://schemas.openxmlformats.org/package/2006/relationships"><Relationship Id="rId2" Type="http://schemas.openxmlformats.org/officeDocument/2006/relationships/image" Target="../media/image768.png"/><Relationship Id="rId3" Type="http://schemas.openxmlformats.org/officeDocument/2006/relationships/image" Target="../media/image769.png"/><Relationship Id="rId4" Type="http://schemas.openxmlformats.org/officeDocument/2006/relationships/image" Target="../media/image770.png"/><Relationship Id="rId5" Type="http://schemas.openxmlformats.org/officeDocument/2006/relationships/image" Target="../media/image771.png"/><Relationship Id="rId6" Type="http://schemas.openxmlformats.org/officeDocument/2006/relationships/image" Target="../media/image772.png"/><Relationship Id="rId7" Type="http://schemas.openxmlformats.org/officeDocument/2006/relationships/image" Target="../media/image773.png"/><Relationship Id="rId8" Type="http://schemas.openxmlformats.org/officeDocument/2006/relationships/image" Target="../media/image774.png"/><Relationship Id="rId9" Type="http://schemas.openxmlformats.org/officeDocument/2006/relationships/image" Target="../media/image775.png"/><Relationship Id="rId10" Type="http://schemas.openxmlformats.org/officeDocument/2006/relationships/image" Target="../media/image776.png"/></Relationships>
</file>

<file path=ppt/charts/_rels/chart124.xml.rels><?xml version='1.0' encoding='UTF-8' standalone='yes'?>
<Relationships xmlns="http://schemas.openxmlformats.org/package/2006/relationships"><Relationship Id="rId2" Type="http://schemas.openxmlformats.org/officeDocument/2006/relationships/image" Target="../media/image784.png"/><Relationship Id="rId3" Type="http://schemas.openxmlformats.org/officeDocument/2006/relationships/image" Target="../media/image785.png"/><Relationship Id="rId4" Type="http://schemas.openxmlformats.org/officeDocument/2006/relationships/image" Target="../media/image786.png"/><Relationship Id="rId5" Type="http://schemas.openxmlformats.org/officeDocument/2006/relationships/image" Target="../media/image787.png"/><Relationship Id="rId6" Type="http://schemas.openxmlformats.org/officeDocument/2006/relationships/image" Target="../media/image788.png"/><Relationship Id="rId7" Type="http://schemas.openxmlformats.org/officeDocument/2006/relationships/image" Target="../media/image789.png"/><Relationship Id="rId8" Type="http://schemas.openxmlformats.org/officeDocument/2006/relationships/image" Target="../media/image790.png"/><Relationship Id="rId9" Type="http://schemas.openxmlformats.org/officeDocument/2006/relationships/image" Target="../media/image791.png"/><Relationship Id="rId10" Type="http://schemas.openxmlformats.org/officeDocument/2006/relationships/image" Target="../media/image792.png"/><Relationship Id="rId11" Type="http://schemas.openxmlformats.org/officeDocument/2006/relationships/image" Target="../media/image793.png"/><Relationship Id="rId12" Type="http://schemas.openxmlformats.org/officeDocument/2006/relationships/image" Target="../media/image794.png"/><Relationship Id="rId13" Type="http://schemas.openxmlformats.org/officeDocument/2006/relationships/image" Target="../media/image795.png"/><Relationship Id="rId14" Type="http://schemas.openxmlformats.org/officeDocument/2006/relationships/image" Target="../media/image796.png"/><Relationship Id="rId15" Type="http://schemas.openxmlformats.org/officeDocument/2006/relationships/image" Target="../media/image797.png"/><Relationship Id="rId16" Type="http://schemas.openxmlformats.org/officeDocument/2006/relationships/image" Target="../media/image798.png"/><Relationship Id="rId17" Type="http://schemas.openxmlformats.org/officeDocument/2006/relationships/image" Target="../media/image799.png"/></Relationships>
</file>

<file path=ppt/charts/_rels/chart129.xml.rels><?xml version='1.0' encoding='UTF-8' standalone='yes'?>
<Relationships xmlns="http://schemas.openxmlformats.org/package/2006/relationships"><Relationship Id="rId2" Type="http://schemas.openxmlformats.org/officeDocument/2006/relationships/image" Target="../media/image800.png"/><Relationship Id="rId3" Type="http://schemas.openxmlformats.org/officeDocument/2006/relationships/image" Target="../media/image801.png"/><Relationship Id="rId4" Type="http://schemas.openxmlformats.org/officeDocument/2006/relationships/image" Target="../media/image802.png"/><Relationship Id="rId5" Type="http://schemas.openxmlformats.org/officeDocument/2006/relationships/image" Target="../media/image803.png"/><Relationship Id="rId6" Type="http://schemas.openxmlformats.org/officeDocument/2006/relationships/image" Target="../media/image804.png"/><Relationship Id="rId7" Type="http://schemas.openxmlformats.org/officeDocument/2006/relationships/image" Target="../media/image805.png"/><Relationship Id="rId8" Type="http://schemas.openxmlformats.org/officeDocument/2006/relationships/image" Target="../media/image806.png"/><Relationship Id="rId9" Type="http://schemas.openxmlformats.org/officeDocument/2006/relationships/image" Target="../media/image807.png"/></Relationships>
</file>

<file path=ppt/charts/_rels/chart134.xml.rels><?xml version='1.0' encoding='UTF-8' standalone='yes'?>
<Relationships xmlns="http://schemas.openxmlformats.org/package/2006/relationships"><Relationship Id="rId2" Type="http://schemas.openxmlformats.org/officeDocument/2006/relationships/image" Target="../media/image808.png"/></Relationships>
</file>

<file path=ppt/charts/_rels/chart136.xml.rels><?xml version='1.0' encoding='UTF-8' standalone='yes'?>
<Relationships xmlns="http://schemas.openxmlformats.org/package/2006/relationships"><Relationship Id="rId2" Type="http://schemas.openxmlformats.org/officeDocument/2006/relationships/image" Target="../media/image809.png"/></Relationships>
</file>

<file path=ppt/charts/_rels/chart138.xml.rels><?xml version='1.0' encoding='UTF-8' standalone='yes'?>
<Relationships xmlns="http://schemas.openxmlformats.org/package/2006/relationships"><Relationship Id="rId2" Type="http://schemas.openxmlformats.org/officeDocument/2006/relationships/image" Target="../media/image810.png"/><Relationship Id="rId3" Type="http://schemas.openxmlformats.org/officeDocument/2006/relationships/image" Target="../media/image811.png"/><Relationship Id="rId4" Type="http://schemas.openxmlformats.org/officeDocument/2006/relationships/image" Target="../media/image812.png"/><Relationship Id="rId5" Type="http://schemas.openxmlformats.org/officeDocument/2006/relationships/image" Target="../media/image813.png"/><Relationship Id="rId6" Type="http://schemas.openxmlformats.org/officeDocument/2006/relationships/image" Target="../media/image814.png"/><Relationship Id="rId7" Type="http://schemas.openxmlformats.org/officeDocument/2006/relationships/image" Target="../media/image815.png"/><Relationship Id="rId8" Type="http://schemas.openxmlformats.org/officeDocument/2006/relationships/image" Target="../media/image816.png"/><Relationship Id="rId9" Type="http://schemas.openxmlformats.org/officeDocument/2006/relationships/image" Target="../media/image817.png"/><Relationship Id="rId10" Type="http://schemas.openxmlformats.org/officeDocument/2006/relationships/image" Target="../media/image818.png"/><Relationship Id="rId11" Type="http://schemas.openxmlformats.org/officeDocument/2006/relationships/image" Target="../media/image819.png"/></Relationships>
</file>

<file path=ppt/charts/_rels/chart139.xml.rels><?xml version='1.0' encoding='UTF-8' standalone='yes'?>
<Relationships xmlns="http://schemas.openxmlformats.org/package/2006/relationships"><Relationship Id="rId2" Type="http://schemas.openxmlformats.org/officeDocument/2006/relationships/image" Target="../media/image820.png"/><Relationship Id="rId3" Type="http://schemas.openxmlformats.org/officeDocument/2006/relationships/image" Target="../media/image821.png"/><Relationship Id="rId4" Type="http://schemas.openxmlformats.org/officeDocument/2006/relationships/image" Target="../media/image822.png"/><Relationship Id="rId5" Type="http://schemas.openxmlformats.org/officeDocument/2006/relationships/image" Target="../media/image823.png"/><Relationship Id="rId6" Type="http://schemas.openxmlformats.org/officeDocument/2006/relationships/image" Target="../media/image824.png"/><Relationship Id="rId7" Type="http://schemas.openxmlformats.org/officeDocument/2006/relationships/image" Target="../media/image825.png"/><Relationship Id="rId8" Type="http://schemas.openxmlformats.org/officeDocument/2006/relationships/image" Target="../media/image826.png"/><Relationship Id="rId9" Type="http://schemas.openxmlformats.org/officeDocument/2006/relationships/image" Target="../media/image827.png"/><Relationship Id="rId10" Type="http://schemas.openxmlformats.org/officeDocument/2006/relationships/image" Target="../media/image828.png"/><Relationship Id="rId11" Type="http://schemas.openxmlformats.org/officeDocument/2006/relationships/image" Target="../media/image829.png"/><Relationship Id="rId12" Type="http://schemas.openxmlformats.org/officeDocument/2006/relationships/image" Target="../media/image830.png"/><Relationship Id="rId13" Type="http://schemas.openxmlformats.org/officeDocument/2006/relationships/image" Target="../media/image831.png"/><Relationship Id="rId14" Type="http://schemas.openxmlformats.org/officeDocument/2006/relationships/image" Target="../media/image832.png"/><Relationship Id="rId15" Type="http://schemas.openxmlformats.org/officeDocument/2006/relationships/image" Target="../media/image833.png"/><Relationship Id="rId16" Type="http://schemas.openxmlformats.org/officeDocument/2006/relationships/image" Target="../media/image834.png"/><Relationship Id="rId17" Type="http://schemas.openxmlformats.org/officeDocument/2006/relationships/image" Target="../media/image835.png"/><Relationship Id="rId18" Type="http://schemas.openxmlformats.org/officeDocument/2006/relationships/image" Target="../media/image836.png"/><Relationship Id="rId19" Type="http://schemas.openxmlformats.org/officeDocument/2006/relationships/image" Target="../media/image837.png"/><Relationship Id="rId20" Type="http://schemas.openxmlformats.org/officeDocument/2006/relationships/image" Target="../media/image838.png"/><Relationship Id="rId21" Type="http://schemas.openxmlformats.org/officeDocument/2006/relationships/image" Target="../media/image839.png"/><Relationship Id="rId22" Type="http://schemas.openxmlformats.org/officeDocument/2006/relationships/image" Target="../media/image840.png"/><Relationship Id="rId23" Type="http://schemas.openxmlformats.org/officeDocument/2006/relationships/image" Target="../media/image841.png"/></Relationships>
</file>

<file path=ppt/charts/_rels/chart140.xml.rels><?xml version='1.0' encoding='UTF-8' standalone='yes'?>
<Relationships xmlns="http://schemas.openxmlformats.org/package/2006/relationships"><Relationship Id="rId2" Type="http://schemas.openxmlformats.org/officeDocument/2006/relationships/image" Target="../media/image842.png"/><Relationship Id="rId3" Type="http://schemas.openxmlformats.org/officeDocument/2006/relationships/image" Target="../media/image843.png"/></Relationships>
</file>

<file path=ppt/charts/_rels/chart141.xml.rels><?xml version='1.0' encoding='UTF-8' standalone='yes'?>
<Relationships xmlns="http://schemas.openxmlformats.org/package/2006/relationships"><Relationship Id="rId2" Type="http://schemas.openxmlformats.org/officeDocument/2006/relationships/image" Target="../media/image844.png"/><Relationship Id="rId3" Type="http://schemas.openxmlformats.org/officeDocument/2006/relationships/image" Target="../media/image845.png"/></Relationships>
</file>

<file path=ppt/charts/_rels/chart142.xml.rels><?xml version='1.0' encoding='UTF-8' standalone='yes'?>
<Relationships xmlns="http://schemas.openxmlformats.org/package/2006/relationships"><Relationship Id="rId2" Type="http://schemas.openxmlformats.org/officeDocument/2006/relationships/image" Target="../media/image846.png"/><Relationship Id="rId3" Type="http://schemas.openxmlformats.org/officeDocument/2006/relationships/image" Target="../media/image847.png"/></Relationships>
</file>

<file path=ppt/charts/_rels/chart144.xml.rels><?xml version='1.0' encoding='UTF-8' standalone='yes'?>
<Relationships xmlns="http://schemas.openxmlformats.org/package/2006/relationships"><Relationship Id="rId2" Type="http://schemas.openxmlformats.org/officeDocument/2006/relationships/image" Target="../media/image852.png"/><Relationship Id="rId3" Type="http://schemas.openxmlformats.org/officeDocument/2006/relationships/image" Target="../media/image853.png"/><Relationship Id="rId4" Type="http://schemas.openxmlformats.org/officeDocument/2006/relationships/image" Target="../media/image854.png"/><Relationship Id="rId5" Type="http://schemas.openxmlformats.org/officeDocument/2006/relationships/image" Target="../media/image855.png"/></Relationships>
</file>

<file path=ppt/charts/_rels/chart145.xml.rels><?xml version='1.0' encoding='UTF-8' standalone='yes'?>
<Relationships xmlns="http://schemas.openxmlformats.org/package/2006/relationships"><Relationship Id="rId2" Type="http://schemas.openxmlformats.org/officeDocument/2006/relationships/image" Target="../media/image856.png"/><Relationship Id="rId3" Type="http://schemas.openxmlformats.org/officeDocument/2006/relationships/image" Target="../media/image857.png"/><Relationship Id="rId4" Type="http://schemas.openxmlformats.org/officeDocument/2006/relationships/image" Target="../media/image858.png"/><Relationship Id="rId5" Type="http://schemas.openxmlformats.org/officeDocument/2006/relationships/image" Target="../media/image859.png"/></Relationships>
</file>

<file path=ppt/charts/_rels/chart146.xml.rels><?xml version='1.0' encoding='UTF-8' standalone='yes'?>
<Relationships xmlns="http://schemas.openxmlformats.org/package/2006/relationships"><Relationship Id="rId2" Type="http://schemas.openxmlformats.org/officeDocument/2006/relationships/image" Target="../media/image860.png"/><Relationship Id="rId3" Type="http://schemas.openxmlformats.org/officeDocument/2006/relationships/image" Target="../media/image861.png"/><Relationship Id="rId4" Type="http://schemas.openxmlformats.org/officeDocument/2006/relationships/image" Target="../media/image862.png"/><Relationship Id="rId5" Type="http://schemas.openxmlformats.org/officeDocument/2006/relationships/image" Target="../media/image863.png"/><Relationship Id="rId6" Type="http://schemas.openxmlformats.org/officeDocument/2006/relationships/image" Target="../media/image864.png"/><Relationship Id="rId7" Type="http://schemas.openxmlformats.org/officeDocument/2006/relationships/image" Target="../media/image865.png"/><Relationship Id="rId8" Type="http://schemas.openxmlformats.org/officeDocument/2006/relationships/image" Target="../media/image866.png"/><Relationship Id="rId9" Type="http://schemas.openxmlformats.org/officeDocument/2006/relationships/image" Target="../media/image867.png"/><Relationship Id="rId10" Type="http://schemas.openxmlformats.org/officeDocument/2006/relationships/image" Target="../media/image868.png"/><Relationship Id="rId11" Type="http://schemas.openxmlformats.org/officeDocument/2006/relationships/image" Target="../media/image869.png"/><Relationship Id="rId12" Type="http://schemas.openxmlformats.org/officeDocument/2006/relationships/image" Target="../media/image870.png"/><Relationship Id="rId13" Type="http://schemas.openxmlformats.org/officeDocument/2006/relationships/image" Target="../media/image871.png"/><Relationship Id="rId14" Type="http://schemas.openxmlformats.org/officeDocument/2006/relationships/image" Target="../media/image872.png"/><Relationship Id="rId15" Type="http://schemas.openxmlformats.org/officeDocument/2006/relationships/image" Target="../media/image873.png"/><Relationship Id="rId16" Type="http://schemas.openxmlformats.org/officeDocument/2006/relationships/image" Target="../media/image874.png"/><Relationship Id="rId17" Type="http://schemas.openxmlformats.org/officeDocument/2006/relationships/image" Target="../media/image875.png"/><Relationship Id="rId18" Type="http://schemas.openxmlformats.org/officeDocument/2006/relationships/image" Target="../media/image876.png"/><Relationship Id="rId19" Type="http://schemas.openxmlformats.org/officeDocument/2006/relationships/image" Target="../media/image877.png"/><Relationship Id="rId20" Type="http://schemas.openxmlformats.org/officeDocument/2006/relationships/image" Target="../media/image878.png"/><Relationship Id="rId21" Type="http://schemas.openxmlformats.org/officeDocument/2006/relationships/image" Target="../media/image879.png"/><Relationship Id="rId22" Type="http://schemas.openxmlformats.org/officeDocument/2006/relationships/image" Target="../media/image880.png"/><Relationship Id="rId23" Type="http://schemas.openxmlformats.org/officeDocument/2006/relationships/image" Target="../media/image881.png"/><Relationship Id="rId24" Type="http://schemas.openxmlformats.org/officeDocument/2006/relationships/image" Target="../media/image882.png"/><Relationship Id="rId25" Type="http://schemas.openxmlformats.org/officeDocument/2006/relationships/image" Target="../media/image883.png"/><Relationship Id="rId26" Type="http://schemas.openxmlformats.org/officeDocument/2006/relationships/image" Target="../media/image884.png"/><Relationship Id="rId27" Type="http://schemas.openxmlformats.org/officeDocument/2006/relationships/image" Target="../media/image885.png"/><Relationship Id="rId28" Type="http://schemas.openxmlformats.org/officeDocument/2006/relationships/image" Target="../media/image886.png"/><Relationship Id="rId29" Type="http://schemas.openxmlformats.org/officeDocument/2006/relationships/image" Target="../media/image887.png"/><Relationship Id="rId30" Type="http://schemas.openxmlformats.org/officeDocument/2006/relationships/image" Target="../media/image888.png"/><Relationship Id="rId31" Type="http://schemas.openxmlformats.org/officeDocument/2006/relationships/image" Target="../media/image889.png"/><Relationship Id="rId32" Type="http://schemas.openxmlformats.org/officeDocument/2006/relationships/image" Target="../media/image890.png"/><Relationship Id="rId33" Type="http://schemas.openxmlformats.org/officeDocument/2006/relationships/image" Target="../media/image891.png"/></Relationships>
</file>

<file path=ppt/charts/_rels/chart147.xml.rels><?xml version='1.0' encoding='UTF-8' standalone='yes'?>
<Relationships xmlns="http://schemas.openxmlformats.org/package/2006/relationships"><Relationship Id="rId2" Type="http://schemas.openxmlformats.org/officeDocument/2006/relationships/image" Target="../media/image892.png"/><Relationship Id="rId3" Type="http://schemas.openxmlformats.org/officeDocument/2006/relationships/image" Target="../media/image893.png"/><Relationship Id="rId4" Type="http://schemas.openxmlformats.org/officeDocument/2006/relationships/image" Target="../media/image894.png"/><Relationship Id="rId5" Type="http://schemas.openxmlformats.org/officeDocument/2006/relationships/image" Target="../media/image895.png"/><Relationship Id="rId6" Type="http://schemas.openxmlformats.org/officeDocument/2006/relationships/image" Target="../media/image896.png"/><Relationship Id="rId7" Type="http://schemas.openxmlformats.org/officeDocument/2006/relationships/image" Target="../media/image897.png"/><Relationship Id="rId8" Type="http://schemas.openxmlformats.org/officeDocument/2006/relationships/image" Target="../media/image898.png"/><Relationship Id="rId9" Type="http://schemas.openxmlformats.org/officeDocument/2006/relationships/image" Target="../media/image899.png"/><Relationship Id="rId10" Type="http://schemas.openxmlformats.org/officeDocument/2006/relationships/image" Target="../media/image900.png"/><Relationship Id="rId11" Type="http://schemas.openxmlformats.org/officeDocument/2006/relationships/image" Target="../media/image901.png"/><Relationship Id="rId12" Type="http://schemas.openxmlformats.org/officeDocument/2006/relationships/image" Target="../media/image902.png"/><Relationship Id="rId13" Type="http://schemas.openxmlformats.org/officeDocument/2006/relationships/image" Target="../media/image903.png"/><Relationship Id="rId14" Type="http://schemas.openxmlformats.org/officeDocument/2006/relationships/image" Target="../media/image904.png"/><Relationship Id="rId15" Type="http://schemas.openxmlformats.org/officeDocument/2006/relationships/image" Target="../media/image905.png"/><Relationship Id="rId16" Type="http://schemas.openxmlformats.org/officeDocument/2006/relationships/image" Target="../media/image906.png"/><Relationship Id="rId17" Type="http://schemas.openxmlformats.org/officeDocument/2006/relationships/image" Target="../media/image907.png"/><Relationship Id="rId18" Type="http://schemas.openxmlformats.org/officeDocument/2006/relationships/image" Target="../media/image908.png"/><Relationship Id="rId19" Type="http://schemas.openxmlformats.org/officeDocument/2006/relationships/image" Target="../media/image909.png"/><Relationship Id="rId20" Type="http://schemas.openxmlformats.org/officeDocument/2006/relationships/image" Target="../media/image910.png"/><Relationship Id="rId21" Type="http://schemas.openxmlformats.org/officeDocument/2006/relationships/image" Target="../media/image911.png"/><Relationship Id="rId22" Type="http://schemas.openxmlformats.org/officeDocument/2006/relationships/image" Target="../media/image912.png"/><Relationship Id="rId23" Type="http://schemas.openxmlformats.org/officeDocument/2006/relationships/image" Target="../media/image913.png"/><Relationship Id="rId24" Type="http://schemas.openxmlformats.org/officeDocument/2006/relationships/image" Target="../media/image914.png"/><Relationship Id="rId25" Type="http://schemas.openxmlformats.org/officeDocument/2006/relationships/image" Target="../media/image915.png"/><Relationship Id="rId26" Type="http://schemas.openxmlformats.org/officeDocument/2006/relationships/image" Target="../media/image916.png"/><Relationship Id="rId27" Type="http://schemas.openxmlformats.org/officeDocument/2006/relationships/image" Target="../media/image917.png"/><Relationship Id="rId28" Type="http://schemas.openxmlformats.org/officeDocument/2006/relationships/image" Target="../media/image918.png"/><Relationship Id="rId29" Type="http://schemas.openxmlformats.org/officeDocument/2006/relationships/image" Target="../media/image919.png"/><Relationship Id="rId30" Type="http://schemas.openxmlformats.org/officeDocument/2006/relationships/image" Target="../media/image920.png"/><Relationship Id="rId31" Type="http://schemas.openxmlformats.org/officeDocument/2006/relationships/image" Target="../media/image921.png"/><Relationship Id="rId32" Type="http://schemas.openxmlformats.org/officeDocument/2006/relationships/image" Target="../media/image922.png"/><Relationship Id="rId33" Type="http://schemas.openxmlformats.org/officeDocument/2006/relationships/image" Target="../media/image923.png"/></Relationships>
</file>

<file path=ppt/charts/_rels/chart148.xml.rels><?xml version='1.0' encoding='UTF-8' standalone='yes'?>
<Relationships xmlns="http://schemas.openxmlformats.org/package/2006/relationships"><Relationship Id="rId2" Type="http://schemas.openxmlformats.org/officeDocument/2006/relationships/image" Target="../media/image929.png"/><Relationship Id="rId3" Type="http://schemas.openxmlformats.org/officeDocument/2006/relationships/image" Target="../media/image930.png"/><Relationship Id="rId4" Type="http://schemas.openxmlformats.org/officeDocument/2006/relationships/image" Target="../media/image931.png"/><Relationship Id="rId5" Type="http://schemas.openxmlformats.org/officeDocument/2006/relationships/image" Target="../media/image932.png"/></Relationships>
</file>

<file path=ppt/charts/_rels/chart152.xml.rels><?xml version='1.0' encoding='UTF-8' standalone='yes'?>
<Relationships xmlns="http://schemas.openxmlformats.org/package/2006/relationships"><Relationship Id="rId2" Type="http://schemas.openxmlformats.org/officeDocument/2006/relationships/image" Target="../media/image933.png"/><Relationship Id="rId3" Type="http://schemas.openxmlformats.org/officeDocument/2006/relationships/image" Target="../media/image934.png"/><Relationship Id="rId4" Type="http://schemas.openxmlformats.org/officeDocument/2006/relationships/image" Target="../media/image935.png"/><Relationship Id="rId5" Type="http://schemas.openxmlformats.org/officeDocument/2006/relationships/image" Target="../media/image936.png"/><Relationship Id="rId6" Type="http://schemas.openxmlformats.org/officeDocument/2006/relationships/image" Target="../media/image937.png"/><Relationship Id="rId7" Type="http://schemas.openxmlformats.org/officeDocument/2006/relationships/image" Target="../media/image938.png"/></Relationships>
</file>

<file path=ppt/charts/_rels/chart153.xml.rels><?xml version='1.0' encoding='UTF-8' standalone='yes'?>
<Relationships xmlns="http://schemas.openxmlformats.org/package/2006/relationships"><Relationship Id="rId2" Type="http://schemas.openxmlformats.org/officeDocument/2006/relationships/image" Target="../media/image943.png"/><Relationship Id="rId3" Type="http://schemas.openxmlformats.org/officeDocument/2006/relationships/image" Target="../media/image944.png"/><Relationship Id="rId4" Type="http://schemas.openxmlformats.org/officeDocument/2006/relationships/image" Target="../media/image945.png"/><Relationship Id="rId5" Type="http://schemas.openxmlformats.org/officeDocument/2006/relationships/image" Target="../media/image946.png"/></Relationships>
</file>

<file path=ppt/charts/_rels/chart157.xml.rels><?xml version='1.0' encoding='UTF-8' standalone='yes'?>
<Relationships xmlns="http://schemas.openxmlformats.org/package/2006/relationships"><Relationship Id="rId2" Type="http://schemas.openxmlformats.org/officeDocument/2006/relationships/image" Target="../media/image947.png"/><Relationship Id="rId3" Type="http://schemas.openxmlformats.org/officeDocument/2006/relationships/image" Target="../media/image948.png"/><Relationship Id="rId4" Type="http://schemas.openxmlformats.org/officeDocument/2006/relationships/image" Target="../media/image949.png"/><Relationship Id="rId5" Type="http://schemas.openxmlformats.org/officeDocument/2006/relationships/image" Target="../media/image950.png"/><Relationship Id="rId6" Type="http://schemas.openxmlformats.org/officeDocument/2006/relationships/image" Target="../media/image951.png"/><Relationship Id="rId7" Type="http://schemas.openxmlformats.org/officeDocument/2006/relationships/image" Target="../media/image952.png"/></Relationships>
</file>

<file path=ppt/charts/_rels/chart158.xml.rels><?xml version='1.0' encoding='UTF-8' standalone='yes'?>
<Relationships xmlns="http://schemas.openxmlformats.org/package/2006/relationships"><Relationship Id="rId2" Type="http://schemas.openxmlformats.org/officeDocument/2006/relationships/image" Target="../media/image971.png"/><Relationship Id="rId3" Type="http://schemas.openxmlformats.org/officeDocument/2006/relationships/image" Target="../media/image972.png"/><Relationship Id="rId4" Type="http://schemas.openxmlformats.org/officeDocument/2006/relationships/image" Target="../media/image973.png"/><Relationship Id="rId5" Type="http://schemas.openxmlformats.org/officeDocument/2006/relationships/image" Target="../media/image974.png"/><Relationship Id="rId6" Type="http://schemas.openxmlformats.org/officeDocument/2006/relationships/image" Target="../media/image975.png"/><Relationship Id="rId7" Type="http://schemas.openxmlformats.org/officeDocument/2006/relationships/image" Target="../media/image976.png"/><Relationship Id="rId8" Type="http://schemas.openxmlformats.org/officeDocument/2006/relationships/image" Target="../media/image977.png"/><Relationship Id="rId9" Type="http://schemas.openxmlformats.org/officeDocument/2006/relationships/image" Target="../media/image978.png"/><Relationship Id="rId10" Type="http://schemas.openxmlformats.org/officeDocument/2006/relationships/image" Target="../media/image979.png"/><Relationship Id="rId11" Type="http://schemas.openxmlformats.org/officeDocument/2006/relationships/image" Target="../media/image980.png"/><Relationship Id="rId12" Type="http://schemas.openxmlformats.org/officeDocument/2006/relationships/image" Target="../media/image981.png"/><Relationship Id="rId13" Type="http://schemas.openxmlformats.org/officeDocument/2006/relationships/image" Target="../media/image982.png"/><Relationship Id="rId14" Type="http://schemas.openxmlformats.org/officeDocument/2006/relationships/image" Target="../media/image983.png"/><Relationship Id="rId15" Type="http://schemas.openxmlformats.org/officeDocument/2006/relationships/image" Target="../media/image984.png"/><Relationship Id="rId16" Type="http://schemas.openxmlformats.org/officeDocument/2006/relationships/image" Target="../media/image985.png"/><Relationship Id="rId17" Type="http://schemas.openxmlformats.org/officeDocument/2006/relationships/image" Target="../media/image986.png"/></Relationships>
</file>

<file path=ppt/charts/_rels/chart168.xml.rels><?xml version='1.0' encoding='UTF-8' standalone='yes'?>
<Relationships xmlns="http://schemas.openxmlformats.org/package/2006/relationships"><Relationship Id="rId2" Type="http://schemas.openxmlformats.org/officeDocument/2006/relationships/image" Target="../media/image987.png"/><Relationship Id="rId3" Type="http://schemas.openxmlformats.org/officeDocument/2006/relationships/image" Target="../media/image988.png"/><Relationship Id="rId4" Type="http://schemas.openxmlformats.org/officeDocument/2006/relationships/image" Target="../media/image989.png"/><Relationship Id="rId5" Type="http://schemas.openxmlformats.org/officeDocument/2006/relationships/image" Target="../media/image990.png"/><Relationship Id="rId6" Type="http://schemas.openxmlformats.org/officeDocument/2006/relationships/image" Target="../media/image991.png"/><Relationship Id="rId7" Type="http://schemas.openxmlformats.org/officeDocument/2006/relationships/image" Target="../media/image992.png"/><Relationship Id="rId8" Type="http://schemas.openxmlformats.org/officeDocument/2006/relationships/image" Target="../media/image993.png"/><Relationship Id="rId9" Type="http://schemas.openxmlformats.org/officeDocument/2006/relationships/image" Target="../media/image994.png"/><Relationship Id="rId10" Type="http://schemas.openxmlformats.org/officeDocument/2006/relationships/image" Target="../media/image995.png"/><Relationship Id="rId11" Type="http://schemas.openxmlformats.org/officeDocument/2006/relationships/image" Target="../media/image996.png"/><Relationship Id="rId12" Type="http://schemas.openxmlformats.org/officeDocument/2006/relationships/image" Target="../media/image997.png"/><Relationship Id="rId13" Type="http://schemas.openxmlformats.org/officeDocument/2006/relationships/image" Target="../media/image998.png"/><Relationship Id="rId14" Type="http://schemas.openxmlformats.org/officeDocument/2006/relationships/image" Target="../media/image999.png"/><Relationship Id="rId15" Type="http://schemas.openxmlformats.org/officeDocument/2006/relationships/image" Target="../media/image1000.png"/><Relationship Id="rId16" Type="http://schemas.openxmlformats.org/officeDocument/2006/relationships/image" Target="../media/image1001.png"/><Relationship Id="rId17" Type="http://schemas.openxmlformats.org/officeDocument/2006/relationships/image" Target="../media/image1002.png"/><Relationship Id="rId18" Type="http://schemas.openxmlformats.org/officeDocument/2006/relationships/image" Target="../media/image1003.png"/><Relationship Id="rId19" Type="http://schemas.openxmlformats.org/officeDocument/2006/relationships/image" Target="../media/image1004.png"/><Relationship Id="rId20" Type="http://schemas.openxmlformats.org/officeDocument/2006/relationships/image" Target="../media/image1005.png"/><Relationship Id="rId21" Type="http://schemas.openxmlformats.org/officeDocument/2006/relationships/image" Target="../media/image1006.png"/><Relationship Id="rId22" Type="http://schemas.openxmlformats.org/officeDocument/2006/relationships/image" Target="../media/image1007.png"/><Relationship Id="rId23" Type="http://schemas.openxmlformats.org/officeDocument/2006/relationships/image" Target="../media/image1008.png"/></Relationships>
</file>

<file path=ppt/charts/_rels/chart169.xml.rels><?xml version='1.0' encoding='UTF-8' standalone='yes'?>
<Relationships xmlns="http://schemas.openxmlformats.org/package/2006/relationships"><Relationship Id="rId2" Type="http://schemas.openxmlformats.org/officeDocument/2006/relationships/image" Target="../media/image1018.png"/><Relationship Id="rId3" Type="http://schemas.openxmlformats.org/officeDocument/2006/relationships/image" Target="../media/image1019.png"/><Relationship Id="rId4" Type="http://schemas.openxmlformats.org/officeDocument/2006/relationships/image" Target="../media/image1020.png"/><Relationship Id="rId5" Type="http://schemas.openxmlformats.org/officeDocument/2006/relationships/image" Target="../media/image1021.png"/><Relationship Id="rId6" Type="http://schemas.openxmlformats.org/officeDocument/2006/relationships/image" Target="../media/image1022.png"/><Relationship Id="rId7" Type="http://schemas.openxmlformats.org/officeDocument/2006/relationships/image" Target="../media/image1023.png"/><Relationship Id="rId8" Type="http://schemas.openxmlformats.org/officeDocument/2006/relationships/image" Target="../media/image1024.png"/><Relationship Id="rId9" Type="http://schemas.openxmlformats.org/officeDocument/2006/relationships/image" Target="../media/image1025.png"/></Relationships>
</file>

<file path=ppt/charts/_rels/chart175.xml.rels><?xml version='1.0' encoding='UTF-8' standalone='yes'?>
<Relationships xmlns="http://schemas.openxmlformats.org/package/2006/relationships"><Relationship Id="rId2" Type="http://schemas.openxmlformats.org/officeDocument/2006/relationships/image" Target="../media/image1026.png"/><Relationship Id="rId3" Type="http://schemas.openxmlformats.org/officeDocument/2006/relationships/image" Target="../media/image1027.png"/><Relationship Id="rId4" Type="http://schemas.openxmlformats.org/officeDocument/2006/relationships/image" Target="../media/image1028.png"/><Relationship Id="rId5" Type="http://schemas.openxmlformats.org/officeDocument/2006/relationships/image" Target="../media/image1029.png"/><Relationship Id="rId6" Type="http://schemas.openxmlformats.org/officeDocument/2006/relationships/image" Target="../media/image1030.png"/><Relationship Id="rId7" Type="http://schemas.openxmlformats.org/officeDocument/2006/relationships/image" Target="../media/image1031.png"/><Relationship Id="rId8" Type="http://schemas.openxmlformats.org/officeDocument/2006/relationships/image" Target="../media/image1032.png"/><Relationship Id="rId9" Type="http://schemas.openxmlformats.org/officeDocument/2006/relationships/image" Target="../media/image1033.png"/><Relationship Id="rId10" Type="http://schemas.openxmlformats.org/officeDocument/2006/relationships/image" Target="../media/image1034.png"/><Relationship Id="rId11" Type="http://schemas.openxmlformats.org/officeDocument/2006/relationships/image" Target="../media/image1035.png"/><Relationship Id="rId12" Type="http://schemas.openxmlformats.org/officeDocument/2006/relationships/image" Target="../media/image1036.png"/><Relationship Id="rId13" Type="http://schemas.openxmlformats.org/officeDocument/2006/relationships/image" Target="../media/image1037.png"/></Relationships>
</file>

<file path=ppt/charts/_rels/chart176.xml.rels><?xml version='1.0' encoding='UTF-8' standalone='yes'?>
<Relationships xmlns="http://schemas.openxmlformats.org/package/2006/relationships"><Relationship Id="rId2" Type="http://schemas.openxmlformats.org/officeDocument/2006/relationships/image" Target="../media/image1055.png"/><Relationship Id="rId3" Type="http://schemas.openxmlformats.org/officeDocument/2006/relationships/image" Target="../media/image1056.png"/><Relationship Id="rId4" Type="http://schemas.openxmlformats.org/officeDocument/2006/relationships/image" Target="../media/image1057.png"/><Relationship Id="rId5" Type="http://schemas.openxmlformats.org/officeDocument/2006/relationships/image" Target="../media/image1058.png"/><Relationship Id="rId6" Type="http://schemas.openxmlformats.org/officeDocument/2006/relationships/image" Target="../media/image1059.png"/><Relationship Id="rId7" Type="http://schemas.openxmlformats.org/officeDocument/2006/relationships/image" Target="../media/image1060.png"/><Relationship Id="rId8" Type="http://schemas.openxmlformats.org/officeDocument/2006/relationships/image" Target="../media/image1061.png"/><Relationship Id="rId9" Type="http://schemas.openxmlformats.org/officeDocument/2006/relationships/image" Target="../media/image1062.png"/><Relationship Id="rId10" Type="http://schemas.openxmlformats.org/officeDocument/2006/relationships/image" Target="../media/image1063.png"/><Relationship Id="rId11" Type="http://schemas.openxmlformats.org/officeDocument/2006/relationships/image" Target="../media/image1064.png"/><Relationship Id="rId12" Type="http://schemas.openxmlformats.org/officeDocument/2006/relationships/image" Target="../media/image1065.png"/><Relationship Id="rId13" Type="http://schemas.openxmlformats.org/officeDocument/2006/relationships/image" Target="../media/image1066.png"/><Relationship Id="rId14" Type="http://schemas.openxmlformats.org/officeDocument/2006/relationships/image" Target="../media/image1067.png"/><Relationship Id="rId15" Type="http://schemas.openxmlformats.org/officeDocument/2006/relationships/image" Target="../media/image1068.png"/></Relationships>
</file>

<file path=ppt/charts/_rels/chart185.xml.rels><?xml version='1.0' encoding='UTF-8' standalone='yes'?>
<Relationships xmlns="http://schemas.openxmlformats.org/package/2006/relationships"><Relationship Id="rId2" Type="http://schemas.openxmlformats.org/officeDocument/2006/relationships/image" Target="../media/image1069.png"/><Relationship Id="rId3" Type="http://schemas.openxmlformats.org/officeDocument/2006/relationships/image" Target="../media/image1070.png"/><Relationship Id="rId4" Type="http://schemas.openxmlformats.org/officeDocument/2006/relationships/image" Target="../media/image1071.png"/><Relationship Id="rId5" Type="http://schemas.openxmlformats.org/officeDocument/2006/relationships/image" Target="../media/image1072.png"/><Relationship Id="rId6" Type="http://schemas.openxmlformats.org/officeDocument/2006/relationships/image" Target="../media/image1073.png"/><Relationship Id="rId7" Type="http://schemas.openxmlformats.org/officeDocument/2006/relationships/image" Target="../media/image1074.png"/><Relationship Id="rId8" Type="http://schemas.openxmlformats.org/officeDocument/2006/relationships/image" Target="../media/image1075.png"/><Relationship Id="rId9" Type="http://schemas.openxmlformats.org/officeDocument/2006/relationships/image" Target="../media/image1076.png"/><Relationship Id="rId10" Type="http://schemas.openxmlformats.org/officeDocument/2006/relationships/image" Target="../media/image1077.png"/><Relationship Id="rId11" Type="http://schemas.openxmlformats.org/officeDocument/2006/relationships/image" Target="../media/image1078.png"/><Relationship Id="rId12" Type="http://schemas.openxmlformats.org/officeDocument/2006/relationships/image" Target="../media/image1079.png"/><Relationship Id="rId13" Type="http://schemas.openxmlformats.org/officeDocument/2006/relationships/image" Target="../media/image1080.png"/><Relationship Id="rId14" Type="http://schemas.openxmlformats.org/officeDocument/2006/relationships/image" Target="../media/image1081.png"/><Relationship Id="rId15" Type="http://schemas.openxmlformats.org/officeDocument/2006/relationships/image" Target="../media/image1082.png"/><Relationship Id="rId16" Type="http://schemas.openxmlformats.org/officeDocument/2006/relationships/image" Target="../media/image1083.png"/><Relationship Id="rId17" Type="http://schemas.openxmlformats.org/officeDocument/2006/relationships/image" Target="../media/image1084.png"/><Relationship Id="rId18" Type="http://schemas.openxmlformats.org/officeDocument/2006/relationships/image" Target="../media/image1085.png"/><Relationship Id="rId19" Type="http://schemas.openxmlformats.org/officeDocument/2006/relationships/image" Target="../media/image1086.png"/><Relationship Id="rId20" Type="http://schemas.openxmlformats.org/officeDocument/2006/relationships/image" Target="../media/image1087.png"/><Relationship Id="rId21" Type="http://schemas.openxmlformats.org/officeDocument/2006/relationships/image" Target="../media/image1088.png"/></Relationships>
</file>

<file path=ppt/charts/_rels/chart186.xml.rels><?xml version='1.0' encoding='UTF-8' standalone='yes'?>
<Relationships xmlns="http://schemas.openxmlformats.org/package/2006/relationships"><Relationship Id="rId2" Type="http://schemas.openxmlformats.org/officeDocument/2006/relationships/image" Target="../media/image1095.png"/><Relationship Id="rId3" Type="http://schemas.openxmlformats.org/officeDocument/2006/relationships/image" Target="../media/image1096.png"/><Relationship Id="rId4" Type="http://schemas.openxmlformats.org/officeDocument/2006/relationships/image" Target="../media/image1097.png"/><Relationship Id="rId5" Type="http://schemas.openxmlformats.org/officeDocument/2006/relationships/image" Target="../media/image1098.png"/><Relationship Id="rId6" Type="http://schemas.openxmlformats.org/officeDocument/2006/relationships/image" Target="../media/image1099.png"/><Relationship Id="rId7" Type="http://schemas.openxmlformats.org/officeDocument/2006/relationships/image" Target="../media/image1100.png"/></Relationships>
</file>

<file path=ppt/charts/_rels/chart191.xml.rels><?xml version='1.0' encoding='UTF-8' standalone='yes'?>
<Relationships xmlns="http://schemas.openxmlformats.org/package/2006/relationships"><Relationship Id="rId2" Type="http://schemas.openxmlformats.org/officeDocument/2006/relationships/image" Target="../media/image1101.png"/><Relationship Id="rId3" Type="http://schemas.openxmlformats.org/officeDocument/2006/relationships/image" Target="../media/image1102.png"/><Relationship Id="rId4" Type="http://schemas.openxmlformats.org/officeDocument/2006/relationships/image" Target="../media/image1103.png"/><Relationship Id="rId5" Type="http://schemas.openxmlformats.org/officeDocument/2006/relationships/image" Target="../media/image1104.png"/><Relationship Id="rId6" Type="http://schemas.openxmlformats.org/officeDocument/2006/relationships/image" Target="../media/image1105.png"/><Relationship Id="rId7" Type="http://schemas.openxmlformats.org/officeDocument/2006/relationships/image" Target="../media/image1106.png"/><Relationship Id="rId8" Type="http://schemas.openxmlformats.org/officeDocument/2006/relationships/image" Target="../media/image1107.png"/><Relationship Id="rId9" Type="http://schemas.openxmlformats.org/officeDocument/2006/relationships/image" Target="../media/image1108.png"/><Relationship Id="rId10" Type="http://schemas.openxmlformats.org/officeDocument/2006/relationships/image" Target="../media/image1109.png"/></Relationships>
</file>

<file path=ppt/charts/_rels/chart192.xml.rels><?xml version='1.0' encoding='UTF-8' standalone='yes'?>
<Relationships xmlns="http://schemas.openxmlformats.org/package/2006/relationships"><Relationship Id="rId2" Type="http://schemas.openxmlformats.org/officeDocument/2006/relationships/image" Target="../media/image1115.png"/><Relationship Id="rId3" Type="http://schemas.openxmlformats.org/officeDocument/2006/relationships/image" Target="../media/image1116.png"/><Relationship Id="rId4" Type="http://schemas.openxmlformats.org/officeDocument/2006/relationships/image" Target="../media/image1117.png"/><Relationship Id="rId5" Type="http://schemas.openxmlformats.org/officeDocument/2006/relationships/image" Target="../media/image1118.png"/></Relationships>
</file>

<file path=ppt/charts/_rels/chart196.xml.rels><?xml version='1.0' encoding='UTF-8' standalone='yes'?>
<Relationships xmlns="http://schemas.openxmlformats.org/package/2006/relationships"><Relationship Id="rId2" Type="http://schemas.openxmlformats.org/officeDocument/2006/relationships/image" Target="../media/image1119.png"/><Relationship Id="rId3" Type="http://schemas.openxmlformats.org/officeDocument/2006/relationships/image" Target="../media/image1120.png"/><Relationship Id="rId4" Type="http://schemas.openxmlformats.org/officeDocument/2006/relationships/image" Target="../media/image1121.png"/><Relationship Id="rId5" Type="http://schemas.openxmlformats.org/officeDocument/2006/relationships/image" Target="../media/image1122.png"/><Relationship Id="rId6" Type="http://schemas.openxmlformats.org/officeDocument/2006/relationships/image" Target="../media/image1123.png"/><Relationship Id="rId7" Type="http://schemas.openxmlformats.org/officeDocument/2006/relationships/image" Target="../media/image1124.png"/></Relationships>
</file>

<file path=ppt/charts/_rels/chart197.xml.rels><?xml version='1.0' encoding='UTF-8' standalone='yes'?>
<Relationships xmlns="http://schemas.openxmlformats.org/package/2006/relationships"><Relationship Id="rId2" Type="http://schemas.openxmlformats.org/officeDocument/2006/relationships/image" Target="../media/image1139.png"/><Relationship Id="rId3" Type="http://schemas.openxmlformats.org/officeDocument/2006/relationships/image" Target="../media/image1140.png"/><Relationship Id="rId4" Type="http://schemas.openxmlformats.org/officeDocument/2006/relationships/image" Target="../media/image1141.png"/><Relationship Id="rId5" Type="http://schemas.openxmlformats.org/officeDocument/2006/relationships/image" Target="../media/image1142.png"/><Relationship Id="rId6" Type="http://schemas.openxmlformats.org/officeDocument/2006/relationships/image" Target="../media/image1143.png"/><Relationship Id="rId7" Type="http://schemas.openxmlformats.org/officeDocument/2006/relationships/image" Target="../media/image1144.png"/><Relationship Id="rId8" Type="http://schemas.openxmlformats.org/officeDocument/2006/relationships/image" Target="../media/image1145.png"/><Relationship Id="rId9" Type="http://schemas.openxmlformats.org/officeDocument/2006/relationships/image" Target="../media/image1146.png"/><Relationship Id="rId10" Type="http://schemas.openxmlformats.org/officeDocument/2006/relationships/image" Target="../media/image1147.png"/><Relationship Id="rId11" Type="http://schemas.openxmlformats.org/officeDocument/2006/relationships/image" Target="../media/image1148.png"/><Relationship Id="rId12" Type="http://schemas.openxmlformats.org/officeDocument/2006/relationships/image" Target="../media/image1149.png"/><Relationship Id="rId13" Type="http://schemas.openxmlformats.org/officeDocument/2006/relationships/image" Target="../media/image1150.png"/></Relationships>
</file>

<file path=ppt/charts/_rels/chart205.xml.rels><?xml version='1.0' encoding='UTF-8' standalone='yes'?>
<Relationships xmlns="http://schemas.openxmlformats.org/package/2006/relationships"><Relationship Id="rId2" Type="http://schemas.openxmlformats.org/officeDocument/2006/relationships/image" Target="../media/image1151.png"/><Relationship Id="rId3" Type="http://schemas.openxmlformats.org/officeDocument/2006/relationships/image" Target="../media/image1152.png"/><Relationship Id="rId4" Type="http://schemas.openxmlformats.org/officeDocument/2006/relationships/image" Target="../media/image1153.png"/><Relationship Id="rId5" Type="http://schemas.openxmlformats.org/officeDocument/2006/relationships/image" Target="../media/image1154.png"/><Relationship Id="rId6" Type="http://schemas.openxmlformats.org/officeDocument/2006/relationships/image" Target="../media/image1155.png"/><Relationship Id="rId7" Type="http://schemas.openxmlformats.org/officeDocument/2006/relationships/image" Target="../media/image1156.png"/><Relationship Id="rId8" Type="http://schemas.openxmlformats.org/officeDocument/2006/relationships/image" Target="../media/image1157.png"/><Relationship Id="rId9" Type="http://schemas.openxmlformats.org/officeDocument/2006/relationships/image" Target="../media/image1158.png"/><Relationship Id="rId10" Type="http://schemas.openxmlformats.org/officeDocument/2006/relationships/image" Target="../media/image1159.png"/><Relationship Id="rId11" Type="http://schemas.openxmlformats.org/officeDocument/2006/relationships/image" Target="../media/image1160.png"/><Relationship Id="rId12" Type="http://schemas.openxmlformats.org/officeDocument/2006/relationships/image" Target="../media/image1161.png"/><Relationship Id="rId13" Type="http://schemas.openxmlformats.org/officeDocument/2006/relationships/image" Target="../media/image1162.png"/><Relationship Id="rId14" Type="http://schemas.openxmlformats.org/officeDocument/2006/relationships/image" Target="../media/image1163.png"/><Relationship Id="rId15" Type="http://schemas.openxmlformats.org/officeDocument/2006/relationships/image" Target="../media/image1164.png"/><Relationship Id="rId16" Type="http://schemas.openxmlformats.org/officeDocument/2006/relationships/image" Target="../media/image1165.png"/><Relationship Id="rId17" Type="http://schemas.openxmlformats.org/officeDocument/2006/relationships/image" Target="../media/image1166.png"/><Relationship Id="rId18" Type="http://schemas.openxmlformats.org/officeDocument/2006/relationships/image" Target="../media/image1167.png"/></Relationships>
</file>

<file path=ppt/charts/_rels/chart206.xml.rels><?xml version='1.0' encoding='UTF-8' standalone='yes'?>
<Relationships xmlns="http://schemas.openxmlformats.org/package/2006/relationships"><Relationship Id="rId2" Type="http://schemas.openxmlformats.org/officeDocument/2006/relationships/image" Target="../media/image1177.png"/><Relationship Id="rId3" Type="http://schemas.openxmlformats.org/officeDocument/2006/relationships/image" Target="../media/image1178.png"/><Relationship Id="rId4" Type="http://schemas.openxmlformats.org/officeDocument/2006/relationships/image" Target="../media/image1179.png"/><Relationship Id="rId5" Type="http://schemas.openxmlformats.org/officeDocument/2006/relationships/image" Target="../media/image1180.png"/><Relationship Id="rId6" Type="http://schemas.openxmlformats.org/officeDocument/2006/relationships/image" Target="../media/image1181.png"/><Relationship Id="rId7" Type="http://schemas.openxmlformats.org/officeDocument/2006/relationships/image" Target="../media/image1182.png"/><Relationship Id="rId8" Type="http://schemas.openxmlformats.org/officeDocument/2006/relationships/image" Target="../media/image1183.png"/><Relationship Id="rId9" Type="http://schemas.openxmlformats.org/officeDocument/2006/relationships/image" Target="../media/image1184.png"/></Relationships>
</file>

<file path=ppt/charts/_rels/chart212.xml.rels><?xml version='1.0' encoding='UTF-8' standalone='yes'?>
<Relationships xmlns="http://schemas.openxmlformats.org/package/2006/relationships"><Relationship Id="rId2" Type="http://schemas.openxmlformats.org/officeDocument/2006/relationships/image" Target="../media/image1185.png"/><Relationship Id="rId3" Type="http://schemas.openxmlformats.org/officeDocument/2006/relationships/image" Target="../media/image1186.png"/><Relationship Id="rId4" Type="http://schemas.openxmlformats.org/officeDocument/2006/relationships/image" Target="../media/image1187.png"/><Relationship Id="rId5" Type="http://schemas.openxmlformats.org/officeDocument/2006/relationships/image" Target="../media/image1188.png"/><Relationship Id="rId6" Type="http://schemas.openxmlformats.org/officeDocument/2006/relationships/image" Target="../media/image1189.png"/><Relationship Id="rId7" Type="http://schemas.openxmlformats.org/officeDocument/2006/relationships/image" Target="../media/image1190.png"/><Relationship Id="rId8" Type="http://schemas.openxmlformats.org/officeDocument/2006/relationships/image" Target="../media/image1191.png"/><Relationship Id="rId9" Type="http://schemas.openxmlformats.org/officeDocument/2006/relationships/image" Target="../media/image1192.png"/><Relationship Id="rId10" Type="http://schemas.openxmlformats.org/officeDocument/2006/relationships/image" Target="../media/image1193.png"/><Relationship Id="rId11" Type="http://schemas.openxmlformats.org/officeDocument/2006/relationships/image" Target="../media/image1194.png"/></Relationships>
</file>

<file path=ppt/charts/_rels/chart213.xml.rels><?xml version='1.0' encoding='UTF-8' standalone='yes'?>
<Relationships xmlns="http://schemas.openxmlformats.org/package/2006/relationships"><Relationship Id="rId2" Type="http://schemas.openxmlformats.org/officeDocument/2006/relationships/image" Target="../media/image1202.png"/><Relationship Id="rId3" Type="http://schemas.openxmlformats.org/officeDocument/2006/relationships/image" Target="../media/image1203.png"/><Relationship Id="rId4" Type="http://schemas.openxmlformats.org/officeDocument/2006/relationships/image" Target="../media/image1204.png"/><Relationship Id="rId5" Type="http://schemas.openxmlformats.org/officeDocument/2006/relationships/image" Target="../media/image1205.png"/><Relationship Id="rId6" Type="http://schemas.openxmlformats.org/officeDocument/2006/relationships/image" Target="../media/image1206.png"/><Relationship Id="rId7" Type="http://schemas.openxmlformats.org/officeDocument/2006/relationships/image" Target="../media/image1207.png"/></Relationships>
</file>

<file path=ppt/charts/_rels/chart218.xml.rels><?xml version='1.0' encoding='UTF-8' standalone='yes'?>
<Relationships xmlns="http://schemas.openxmlformats.org/package/2006/relationships"><Relationship Id="rId2" Type="http://schemas.openxmlformats.org/officeDocument/2006/relationships/image" Target="../media/image1208.png"/><Relationship Id="rId3" Type="http://schemas.openxmlformats.org/officeDocument/2006/relationships/image" Target="../media/image1209.png"/><Relationship Id="rId4" Type="http://schemas.openxmlformats.org/officeDocument/2006/relationships/image" Target="../media/image1210.png"/><Relationship Id="rId5" Type="http://schemas.openxmlformats.org/officeDocument/2006/relationships/image" Target="../media/image1211.png"/><Relationship Id="rId6" Type="http://schemas.openxmlformats.org/officeDocument/2006/relationships/image" Target="../media/image1212.png"/><Relationship Id="rId7" Type="http://schemas.openxmlformats.org/officeDocument/2006/relationships/image" Target="../media/image1213.png"/><Relationship Id="rId8" Type="http://schemas.openxmlformats.org/officeDocument/2006/relationships/image" Target="../media/image1214.png"/><Relationship Id="rId9" Type="http://schemas.openxmlformats.org/officeDocument/2006/relationships/image" Target="../media/image1215.png"/><Relationship Id="rId10" Type="http://schemas.openxmlformats.org/officeDocument/2006/relationships/image" Target="../media/image1216.png"/></Relationships>
</file>

<file path=ppt/charts/_rels/chart219.xml.rels><?xml version='1.0' encoding='UTF-8' standalone='yes'?>
<Relationships xmlns="http://schemas.openxmlformats.org/package/2006/relationships"><Relationship Id="rId2" Type="http://schemas.openxmlformats.org/officeDocument/2006/relationships/image" Target="../media/image1226.png"/><Relationship Id="rId3" Type="http://schemas.openxmlformats.org/officeDocument/2006/relationships/image" Target="../media/image1227.png"/><Relationship Id="rId4" Type="http://schemas.openxmlformats.org/officeDocument/2006/relationships/image" Target="../media/image1228.png"/><Relationship Id="rId5" Type="http://schemas.openxmlformats.org/officeDocument/2006/relationships/image" Target="../media/image1229.png"/><Relationship Id="rId6" Type="http://schemas.openxmlformats.org/officeDocument/2006/relationships/image" Target="../media/image1230.png"/><Relationship Id="rId7" Type="http://schemas.openxmlformats.org/officeDocument/2006/relationships/image" Target="../media/image1231.png"/><Relationship Id="rId8" Type="http://schemas.openxmlformats.org/officeDocument/2006/relationships/image" Target="../media/image1232.png"/><Relationship Id="rId9" Type="http://schemas.openxmlformats.org/officeDocument/2006/relationships/image" Target="../media/image1233.png"/></Relationships>
</file>

<file path=ppt/charts/_rels/chart225.xml.rels><?xml version='1.0' encoding='UTF-8' standalone='yes'?>
<Relationships xmlns="http://schemas.openxmlformats.org/package/2006/relationships"><Relationship Id="rId2" Type="http://schemas.openxmlformats.org/officeDocument/2006/relationships/image" Target="../media/image1234.png"/><Relationship Id="rId3" Type="http://schemas.openxmlformats.org/officeDocument/2006/relationships/image" Target="../media/image1235.png"/><Relationship Id="rId4" Type="http://schemas.openxmlformats.org/officeDocument/2006/relationships/image" Target="../media/image1236.png"/><Relationship Id="rId5" Type="http://schemas.openxmlformats.org/officeDocument/2006/relationships/image" Target="../media/image1237.png"/><Relationship Id="rId6" Type="http://schemas.openxmlformats.org/officeDocument/2006/relationships/image" Target="../media/image1238.png"/><Relationship Id="rId7" Type="http://schemas.openxmlformats.org/officeDocument/2006/relationships/image" Target="../media/image1239.png"/><Relationship Id="rId8" Type="http://schemas.openxmlformats.org/officeDocument/2006/relationships/image" Target="../media/image1240.png"/><Relationship Id="rId9" Type="http://schemas.openxmlformats.org/officeDocument/2006/relationships/image" Target="../media/image1241.png"/><Relationship Id="rId10" Type="http://schemas.openxmlformats.org/officeDocument/2006/relationships/image" Target="../media/image1242.png"/><Relationship Id="rId11" Type="http://schemas.openxmlformats.org/officeDocument/2006/relationships/image" Target="../media/image1243.png"/><Relationship Id="rId12" Type="http://schemas.openxmlformats.org/officeDocument/2006/relationships/image" Target="../media/image1244.png"/><Relationship Id="rId13" Type="http://schemas.openxmlformats.org/officeDocument/2006/relationships/image" Target="../media/image1245.png"/></Relationships>
</file>

<file path=ppt/charts/_rels/chart226.xml.rels><?xml version='1.0' encoding='UTF-8' standalone='yes'?>
<Relationships xmlns="http://schemas.openxmlformats.org/package/2006/relationships"><Relationship Id="rId2" Type="http://schemas.openxmlformats.org/officeDocument/2006/relationships/image" Target="../media/image1254.png"/><Relationship Id="rId3" Type="http://schemas.openxmlformats.org/officeDocument/2006/relationships/image" Target="../media/image1255.png"/><Relationship Id="rId4" Type="http://schemas.openxmlformats.org/officeDocument/2006/relationships/image" Target="../media/image1256.png"/><Relationship Id="rId5" Type="http://schemas.openxmlformats.org/officeDocument/2006/relationships/image" Target="../media/image1257.png"/><Relationship Id="rId6" Type="http://schemas.openxmlformats.org/officeDocument/2006/relationships/image" Target="../media/image1258.png"/><Relationship Id="rId7" Type="http://schemas.openxmlformats.org/officeDocument/2006/relationships/image" Target="../media/image1259.png"/><Relationship Id="rId8" Type="http://schemas.openxmlformats.org/officeDocument/2006/relationships/image" Target="../media/image1260.png"/><Relationship Id="rId9" Type="http://schemas.openxmlformats.org/officeDocument/2006/relationships/image" Target="../media/image1261.png"/></Relationships>
</file>

<file path=ppt/charts/_rels/chart232.xml.rels><?xml version='1.0' encoding='UTF-8' standalone='yes'?>
<Relationships xmlns="http://schemas.openxmlformats.org/package/2006/relationships"><Relationship Id="rId2" Type="http://schemas.openxmlformats.org/officeDocument/2006/relationships/image" Target="../media/image1262.png"/><Relationship Id="rId3" Type="http://schemas.openxmlformats.org/officeDocument/2006/relationships/image" Target="../media/image1263.png"/><Relationship Id="rId4" Type="http://schemas.openxmlformats.org/officeDocument/2006/relationships/image" Target="../media/image1264.png"/><Relationship Id="rId5" Type="http://schemas.openxmlformats.org/officeDocument/2006/relationships/image" Target="../media/image1265.png"/><Relationship Id="rId6" Type="http://schemas.openxmlformats.org/officeDocument/2006/relationships/image" Target="../media/image1266.png"/><Relationship Id="rId7" Type="http://schemas.openxmlformats.org/officeDocument/2006/relationships/image" Target="../media/image1267.png"/><Relationship Id="rId8" Type="http://schemas.openxmlformats.org/officeDocument/2006/relationships/image" Target="../media/image1268.png"/><Relationship Id="rId9" Type="http://schemas.openxmlformats.org/officeDocument/2006/relationships/image" Target="../media/image1269.png"/><Relationship Id="rId10" Type="http://schemas.openxmlformats.org/officeDocument/2006/relationships/image" Target="../media/image1270.png"/><Relationship Id="rId11" Type="http://schemas.openxmlformats.org/officeDocument/2006/relationships/image" Target="../media/image1271.png"/><Relationship Id="rId12" Type="http://schemas.openxmlformats.org/officeDocument/2006/relationships/image" Target="../media/image1272.png"/><Relationship Id="rId13" Type="http://schemas.openxmlformats.org/officeDocument/2006/relationships/image" Target="../media/image1273.png"/></Relationships>
</file>

<file path=ppt/charts/_rels/chart233.xml.rels><?xml version='1.0' encoding='UTF-8' standalone='yes'?>
<Relationships xmlns="http://schemas.openxmlformats.org/package/2006/relationships"><Relationship Id="rId2" Type="http://schemas.openxmlformats.org/officeDocument/2006/relationships/image" Target="../media/image1280.png"/><Relationship Id="rId3" Type="http://schemas.openxmlformats.org/officeDocument/2006/relationships/image" Target="../media/image1281.png"/><Relationship Id="rId4" Type="http://schemas.openxmlformats.org/officeDocument/2006/relationships/image" Target="../media/image1282.png"/><Relationship Id="rId5" Type="http://schemas.openxmlformats.org/officeDocument/2006/relationships/image" Target="../media/image1283.png"/><Relationship Id="rId6" Type="http://schemas.openxmlformats.org/officeDocument/2006/relationships/image" Target="../media/image1284.png"/><Relationship Id="rId7" Type="http://schemas.openxmlformats.org/officeDocument/2006/relationships/image" Target="../media/image1285.png"/></Relationships>
</file>

<file path=ppt/charts/_rels/chart238.xml.rels><?xml version='1.0' encoding='UTF-8' standalone='yes'?>
<Relationships xmlns="http://schemas.openxmlformats.org/package/2006/relationships"><Relationship Id="rId2" Type="http://schemas.openxmlformats.org/officeDocument/2006/relationships/image" Target="../media/image1286.png"/><Relationship Id="rId3" Type="http://schemas.openxmlformats.org/officeDocument/2006/relationships/image" Target="../media/image1287.png"/><Relationship Id="rId4" Type="http://schemas.openxmlformats.org/officeDocument/2006/relationships/image" Target="../media/image1288.png"/><Relationship Id="rId5" Type="http://schemas.openxmlformats.org/officeDocument/2006/relationships/image" Target="../media/image1289.png"/><Relationship Id="rId6" Type="http://schemas.openxmlformats.org/officeDocument/2006/relationships/image" Target="../media/image1290.png"/><Relationship Id="rId7" Type="http://schemas.openxmlformats.org/officeDocument/2006/relationships/image" Target="../media/image1291.png"/><Relationship Id="rId8" Type="http://schemas.openxmlformats.org/officeDocument/2006/relationships/image" Target="../media/image1292.png"/><Relationship Id="rId9" Type="http://schemas.openxmlformats.org/officeDocument/2006/relationships/image" Target="../media/image1293.png"/><Relationship Id="rId10" Type="http://schemas.openxmlformats.org/officeDocument/2006/relationships/image" Target="../media/image1294.png"/></Relationships>
</file>

<file path=ppt/charts/_rels/chart239.xml.rels><?xml version='1.0' encoding='UTF-8' standalone='yes'?>
<Relationships xmlns="http://schemas.openxmlformats.org/package/2006/relationships"><Relationship Id="rId2" Type="http://schemas.openxmlformats.org/officeDocument/2006/relationships/image" Target="../media/image1299.png"/><Relationship Id="rId3" Type="http://schemas.openxmlformats.org/officeDocument/2006/relationships/image" Target="../media/image1300.png"/><Relationship Id="rId4" Type="http://schemas.openxmlformats.org/officeDocument/2006/relationships/image" Target="../media/image1301.png"/><Relationship Id="rId5" Type="http://schemas.openxmlformats.org/officeDocument/2006/relationships/image" Target="../media/image1302.png"/></Relationships>
</file>

<file path=ppt/charts/_rels/chart243.xml.rels><?xml version='1.0' encoding='UTF-8' standalone='yes'?>
<Relationships xmlns="http://schemas.openxmlformats.org/package/2006/relationships"><Relationship Id="rId2" Type="http://schemas.openxmlformats.org/officeDocument/2006/relationships/image" Target="../media/image1303.png"/><Relationship Id="rId3" Type="http://schemas.openxmlformats.org/officeDocument/2006/relationships/image" Target="../media/image1304.png"/><Relationship Id="rId4" Type="http://schemas.openxmlformats.org/officeDocument/2006/relationships/image" Target="../media/image1305.png"/><Relationship Id="rId5" Type="http://schemas.openxmlformats.org/officeDocument/2006/relationships/image" Target="../media/image1306.png"/><Relationship Id="rId6" Type="http://schemas.openxmlformats.org/officeDocument/2006/relationships/image" Target="../media/image1307.png"/><Relationship Id="rId7" Type="http://schemas.openxmlformats.org/officeDocument/2006/relationships/image" Target="../media/image1308.png"/></Relationships>
</file>

<file path=ppt/charts/_rels/chart244.xml.rels><?xml version='1.0' encoding='UTF-8' standalone='yes'?>
<Relationships xmlns="http://schemas.openxmlformats.org/package/2006/relationships"><Relationship Id="rId2" Type="http://schemas.openxmlformats.org/officeDocument/2006/relationships/image" Target="../media/image1319.png"/><Relationship Id="rId3" Type="http://schemas.openxmlformats.org/officeDocument/2006/relationships/image" Target="../media/image1320.png"/><Relationship Id="rId4" Type="http://schemas.openxmlformats.org/officeDocument/2006/relationships/image" Target="../media/image1321.png"/><Relationship Id="rId5" Type="http://schemas.openxmlformats.org/officeDocument/2006/relationships/image" Target="../media/image1322.png"/><Relationship Id="rId6" Type="http://schemas.openxmlformats.org/officeDocument/2006/relationships/image" Target="../media/image1323.png"/><Relationship Id="rId7" Type="http://schemas.openxmlformats.org/officeDocument/2006/relationships/image" Target="../media/image1324.png"/><Relationship Id="rId8" Type="http://schemas.openxmlformats.org/officeDocument/2006/relationships/image" Target="../media/image1325.png"/><Relationship Id="rId9" Type="http://schemas.openxmlformats.org/officeDocument/2006/relationships/image" Target="../media/image1326.png"/></Relationships>
</file>

<file path=ppt/charts/_rels/chart250.xml.rels><?xml version='1.0' encoding='UTF-8' standalone='yes'?>
<Relationships xmlns="http://schemas.openxmlformats.org/package/2006/relationships"><Relationship Id="rId2" Type="http://schemas.openxmlformats.org/officeDocument/2006/relationships/image" Target="../media/image1327.png"/><Relationship Id="rId3" Type="http://schemas.openxmlformats.org/officeDocument/2006/relationships/image" Target="../media/image1328.png"/><Relationship Id="rId4" Type="http://schemas.openxmlformats.org/officeDocument/2006/relationships/image" Target="../media/image1329.png"/><Relationship Id="rId5" Type="http://schemas.openxmlformats.org/officeDocument/2006/relationships/image" Target="../media/image1330.png"/><Relationship Id="rId6" Type="http://schemas.openxmlformats.org/officeDocument/2006/relationships/image" Target="../media/image1331.png"/><Relationship Id="rId7" Type="http://schemas.openxmlformats.org/officeDocument/2006/relationships/image" Target="../media/image1332.png"/><Relationship Id="rId8" Type="http://schemas.openxmlformats.org/officeDocument/2006/relationships/image" Target="../media/image1333.png"/><Relationship Id="rId9" Type="http://schemas.openxmlformats.org/officeDocument/2006/relationships/image" Target="../media/image1334.png"/><Relationship Id="rId10" Type="http://schemas.openxmlformats.org/officeDocument/2006/relationships/image" Target="../media/image1335.png"/><Relationship Id="rId11" Type="http://schemas.openxmlformats.org/officeDocument/2006/relationships/image" Target="../media/image1336.png"/><Relationship Id="rId12" Type="http://schemas.openxmlformats.org/officeDocument/2006/relationships/image" Target="../media/image1337.png"/><Relationship Id="rId13" Type="http://schemas.openxmlformats.org/officeDocument/2006/relationships/image" Target="../media/image1338.png"/></Relationships>
</file>

<file path=ppt/charts/_rels/chart251.xml.rels><?xml version='1.0' encoding='UTF-8' standalone='yes'?>
<Relationships xmlns="http://schemas.openxmlformats.org/package/2006/relationships"><Relationship Id="rId2" Type="http://schemas.openxmlformats.org/officeDocument/2006/relationships/image" Target="../media/image1345.png"/><Relationship Id="rId3" Type="http://schemas.openxmlformats.org/officeDocument/2006/relationships/image" Target="../media/image1346.png"/><Relationship Id="rId4" Type="http://schemas.openxmlformats.org/officeDocument/2006/relationships/image" Target="../media/image1347.png"/><Relationship Id="rId5" Type="http://schemas.openxmlformats.org/officeDocument/2006/relationships/image" Target="../media/image1348.png"/><Relationship Id="rId6" Type="http://schemas.openxmlformats.org/officeDocument/2006/relationships/image" Target="../media/image1349.png"/><Relationship Id="rId7" Type="http://schemas.openxmlformats.org/officeDocument/2006/relationships/image" Target="../media/image1350.png"/></Relationships>
</file>

<file path=ppt/charts/_rels/chart256.xml.rels><?xml version='1.0' encoding='UTF-8' standalone='yes'?>
<Relationships xmlns="http://schemas.openxmlformats.org/package/2006/relationships"><Relationship Id="rId2" Type="http://schemas.openxmlformats.org/officeDocument/2006/relationships/image" Target="../media/image1351.png"/><Relationship Id="rId3" Type="http://schemas.openxmlformats.org/officeDocument/2006/relationships/image" Target="../media/image1352.png"/><Relationship Id="rId4" Type="http://schemas.openxmlformats.org/officeDocument/2006/relationships/image" Target="../media/image1353.png"/><Relationship Id="rId5" Type="http://schemas.openxmlformats.org/officeDocument/2006/relationships/image" Target="../media/image1354.png"/><Relationship Id="rId6" Type="http://schemas.openxmlformats.org/officeDocument/2006/relationships/image" Target="../media/image1355.png"/><Relationship Id="rId7" Type="http://schemas.openxmlformats.org/officeDocument/2006/relationships/image" Target="../media/image1356.png"/><Relationship Id="rId8" Type="http://schemas.openxmlformats.org/officeDocument/2006/relationships/image" Target="../media/image1357.png"/><Relationship Id="rId9" Type="http://schemas.openxmlformats.org/officeDocument/2006/relationships/image" Target="../media/image1358.png"/><Relationship Id="rId10" Type="http://schemas.openxmlformats.org/officeDocument/2006/relationships/image" Target="../media/image1359.png"/></Relationships>
</file>

<file path=ppt/charts/_rels/chart257.xml.rels><?xml version='1.0' encoding='UTF-8' standalone='yes'?>
<Relationships xmlns="http://schemas.openxmlformats.org/package/2006/relationships"><Relationship Id="rId2" Type="http://schemas.openxmlformats.org/officeDocument/2006/relationships/image" Target="../media/image1366.png"/><Relationship Id="rId3" Type="http://schemas.openxmlformats.org/officeDocument/2006/relationships/image" Target="../media/image1367.png"/><Relationship Id="rId4" Type="http://schemas.openxmlformats.org/officeDocument/2006/relationships/image" Target="../media/image1368.png"/><Relationship Id="rId5" Type="http://schemas.openxmlformats.org/officeDocument/2006/relationships/image" Target="../media/image1369.png"/><Relationship Id="rId6" Type="http://schemas.openxmlformats.org/officeDocument/2006/relationships/image" Target="../media/image1370.png"/><Relationship Id="rId7" Type="http://schemas.openxmlformats.org/officeDocument/2006/relationships/image" Target="../media/image1371.png"/></Relationships>
</file>

<file path=ppt/charts/_rels/chart262.xml.rels><?xml version='1.0' encoding='UTF-8' standalone='yes'?>
<Relationships xmlns="http://schemas.openxmlformats.org/package/2006/relationships"><Relationship Id="rId2" Type="http://schemas.openxmlformats.org/officeDocument/2006/relationships/image" Target="../media/image1372.png"/><Relationship Id="rId3" Type="http://schemas.openxmlformats.org/officeDocument/2006/relationships/image" Target="../media/image1373.png"/><Relationship Id="rId4" Type="http://schemas.openxmlformats.org/officeDocument/2006/relationships/image" Target="../media/image1374.png"/><Relationship Id="rId5" Type="http://schemas.openxmlformats.org/officeDocument/2006/relationships/image" Target="../media/image1375.png"/><Relationship Id="rId6" Type="http://schemas.openxmlformats.org/officeDocument/2006/relationships/image" Target="../media/image1376.png"/><Relationship Id="rId7" Type="http://schemas.openxmlformats.org/officeDocument/2006/relationships/image" Target="../media/image1377.png"/><Relationship Id="rId8" Type="http://schemas.openxmlformats.org/officeDocument/2006/relationships/image" Target="../media/image1378.png"/><Relationship Id="rId9" Type="http://schemas.openxmlformats.org/officeDocument/2006/relationships/image" Target="../media/image1379.png"/></Relationships>
</file>

<file path=ppt/charts/_rels/chart326.xml.rels><?xml version='1.0' encoding='UTF-8' standalone='yes'?>
<Relationships xmlns="http://schemas.openxmlformats.org/package/2006/relationships"><Relationship Id="rId2" Type="http://schemas.openxmlformats.org/officeDocument/2006/relationships/image" Target="../media/image1380.png"/><Relationship Id="rId3" Type="http://schemas.openxmlformats.org/officeDocument/2006/relationships/image" Target="../media/image1381.png"/><Relationship Id="rId4" Type="http://schemas.openxmlformats.org/officeDocument/2006/relationships/image" Target="../media/image1382.png"/><Relationship Id="rId5" Type="http://schemas.openxmlformats.org/officeDocument/2006/relationships/image" Target="../media/image1383.png"/><Relationship Id="rId6" Type="http://schemas.openxmlformats.org/officeDocument/2006/relationships/image" Target="../media/image1384.png"/><Relationship Id="rId7" Type="http://schemas.openxmlformats.org/officeDocument/2006/relationships/image" Target="../media/image1385.png"/><Relationship Id="rId8" Type="http://schemas.openxmlformats.org/officeDocument/2006/relationships/image" Target="../media/image1386.png"/><Relationship Id="rId9" Type="http://schemas.openxmlformats.org/officeDocument/2006/relationships/image" Target="../media/image1387.png"/><Relationship Id="rId10" Type="http://schemas.openxmlformats.org/officeDocument/2006/relationships/image" Target="../media/image1388.png"/><Relationship Id="rId11" Type="http://schemas.openxmlformats.org/officeDocument/2006/relationships/image" Target="../media/image1389.png"/></Relationships>
</file>

<file path=ppt/charts/_rels/chart327.xml.rels><?xml version='1.0' encoding='UTF-8' standalone='yes'?>
<Relationships xmlns="http://schemas.openxmlformats.org/package/2006/relationships"><Relationship Id="rId2" Type="http://schemas.openxmlformats.org/officeDocument/2006/relationships/image" Target="../media/image1390.png"/><Relationship Id="rId3" Type="http://schemas.openxmlformats.org/officeDocument/2006/relationships/image" Target="../media/image1391.png"/><Relationship Id="rId4" Type="http://schemas.openxmlformats.org/officeDocument/2006/relationships/image" Target="../media/image1392.png"/><Relationship Id="rId5" Type="http://schemas.openxmlformats.org/officeDocument/2006/relationships/image" Target="../media/image1393.png"/><Relationship Id="rId6" Type="http://schemas.openxmlformats.org/officeDocument/2006/relationships/image" Target="../media/image1394.png"/><Relationship Id="rId7" Type="http://schemas.openxmlformats.org/officeDocument/2006/relationships/image" Target="../media/image1395.png"/><Relationship Id="rId8" Type="http://schemas.openxmlformats.org/officeDocument/2006/relationships/image" Target="../media/image1396.png"/><Relationship Id="rId9" Type="http://schemas.openxmlformats.org/officeDocument/2006/relationships/image" Target="../media/image1397.png"/><Relationship Id="rId10" Type="http://schemas.openxmlformats.org/officeDocument/2006/relationships/image" Target="../media/image1398.png"/><Relationship Id="rId11" Type="http://schemas.openxmlformats.org/officeDocument/2006/relationships/image" Target="../media/image1399.png"/><Relationship Id="rId12" Type="http://schemas.openxmlformats.org/officeDocument/2006/relationships/image" Target="../media/image1400.png"/></Relationships>
</file>

<file path=ppt/charts/_rels/chart328.xml.rels><?xml version='1.0' encoding='UTF-8' standalone='yes'?>
<Relationships xmlns="http://schemas.openxmlformats.org/package/2006/relationships"><Relationship Id="rId2" Type="http://schemas.openxmlformats.org/officeDocument/2006/relationships/image" Target="../media/image1401.png"/><Relationship Id="rId3" Type="http://schemas.openxmlformats.org/officeDocument/2006/relationships/image" Target="../media/image1402.png"/><Relationship Id="rId4" Type="http://schemas.openxmlformats.org/officeDocument/2006/relationships/image" Target="../media/image1403.png"/><Relationship Id="rId5" Type="http://schemas.openxmlformats.org/officeDocument/2006/relationships/image" Target="../media/image1404.png"/><Relationship Id="rId6" Type="http://schemas.openxmlformats.org/officeDocument/2006/relationships/image" Target="../media/image1405.png"/><Relationship Id="rId7" Type="http://schemas.openxmlformats.org/officeDocument/2006/relationships/image" Target="../media/image1406.png"/><Relationship Id="rId8" Type="http://schemas.openxmlformats.org/officeDocument/2006/relationships/image" Target="../media/image1407.png"/><Relationship Id="rId9" Type="http://schemas.openxmlformats.org/officeDocument/2006/relationships/image" Target="../media/image1408.png"/><Relationship Id="rId10" Type="http://schemas.openxmlformats.org/officeDocument/2006/relationships/image" Target="../media/image1409.png"/><Relationship Id="rId11" Type="http://schemas.openxmlformats.org/officeDocument/2006/relationships/image" Target="../media/image1410.png"/></Relationships>
</file>

<file path=ppt/charts/_rels/chart329.xml.rels><?xml version='1.0' encoding='UTF-8' standalone='yes'?>
<Relationships xmlns="http://schemas.openxmlformats.org/package/2006/relationships"><Relationship Id="rId2" Type="http://schemas.openxmlformats.org/officeDocument/2006/relationships/image" Target="../media/image1411.png"/><Relationship Id="rId3" Type="http://schemas.openxmlformats.org/officeDocument/2006/relationships/image" Target="../media/image1412.png"/><Relationship Id="rId4" Type="http://schemas.openxmlformats.org/officeDocument/2006/relationships/image" Target="../media/image1413.png"/><Relationship Id="rId5" Type="http://schemas.openxmlformats.org/officeDocument/2006/relationships/image" Target="../media/image1414.png"/><Relationship Id="rId6" Type="http://schemas.openxmlformats.org/officeDocument/2006/relationships/image" Target="../media/image1415.png"/><Relationship Id="rId7" Type="http://schemas.openxmlformats.org/officeDocument/2006/relationships/image" Target="../media/image1416.png"/><Relationship Id="rId8" Type="http://schemas.openxmlformats.org/officeDocument/2006/relationships/image" Target="../media/image1417.png"/><Relationship Id="rId9" Type="http://schemas.openxmlformats.org/officeDocument/2006/relationships/image" Target="../media/image1418.png"/><Relationship Id="rId10" Type="http://schemas.openxmlformats.org/officeDocument/2006/relationships/image" Target="../media/image1419.png"/><Relationship Id="rId11" Type="http://schemas.openxmlformats.org/officeDocument/2006/relationships/image" Target="../media/image1420.png"/></Relationships>
</file>

<file path=ppt/charts/_rels/chart330.xml.rels><?xml version='1.0' encoding='UTF-8' standalone='yes'?>
<Relationships xmlns="http://schemas.openxmlformats.org/package/2006/relationships"><Relationship Id="rId2" Type="http://schemas.openxmlformats.org/officeDocument/2006/relationships/image" Target="../media/image1421.png"/><Relationship Id="rId3" Type="http://schemas.openxmlformats.org/officeDocument/2006/relationships/image" Target="../media/image1422.png"/><Relationship Id="rId4" Type="http://schemas.openxmlformats.org/officeDocument/2006/relationships/image" Target="../media/image1423.png"/><Relationship Id="rId5" Type="http://schemas.openxmlformats.org/officeDocument/2006/relationships/image" Target="../media/image1424.png"/><Relationship Id="rId6" Type="http://schemas.openxmlformats.org/officeDocument/2006/relationships/image" Target="../media/image1425.png"/><Relationship Id="rId7" Type="http://schemas.openxmlformats.org/officeDocument/2006/relationships/image" Target="../media/image1426.png"/><Relationship Id="rId8" Type="http://schemas.openxmlformats.org/officeDocument/2006/relationships/image" Target="../media/image1427.png"/><Relationship Id="rId9" Type="http://schemas.openxmlformats.org/officeDocument/2006/relationships/image" Target="../media/image1428.png"/><Relationship Id="rId10" Type="http://schemas.openxmlformats.org/officeDocument/2006/relationships/image" Target="../media/image1429.png"/></Relationships>
</file>

<file path=ppt/charts/_rels/chart331.xml.rels><?xml version='1.0' encoding='UTF-8' standalone='yes'?>
<Relationships xmlns="http://schemas.openxmlformats.org/package/2006/relationships"><Relationship Id="rId2" Type="http://schemas.openxmlformats.org/officeDocument/2006/relationships/image" Target="../media/image1430.png"/><Relationship Id="rId3" Type="http://schemas.openxmlformats.org/officeDocument/2006/relationships/image" Target="../media/image1431.png"/><Relationship Id="rId4" Type="http://schemas.openxmlformats.org/officeDocument/2006/relationships/image" Target="../media/image1432.png"/><Relationship Id="rId5" Type="http://schemas.openxmlformats.org/officeDocument/2006/relationships/image" Target="../media/image1433.png"/><Relationship Id="rId6" Type="http://schemas.openxmlformats.org/officeDocument/2006/relationships/image" Target="../media/image1434.png"/><Relationship Id="rId7" Type="http://schemas.openxmlformats.org/officeDocument/2006/relationships/image" Target="../media/image1435.png"/><Relationship Id="rId8" Type="http://schemas.openxmlformats.org/officeDocument/2006/relationships/image" Target="../media/image1436.png"/><Relationship Id="rId9" Type="http://schemas.openxmlformats.org/officeDocument/2006/relationships/image" Target="../media/image1437.png"/><Relationship Id="rId10" Type="http://schemas.openxmlformats.org/officeDocument/2006/relationships/image" Target="../media/image1438.png"/><Relationship Id="rId11" Type="http://schemas.openxmlformats.org/officeDocument/2006/relationships/image" Target="../media/image1439.png"/><Relationship Id="rId12" Type="http://schemas.openxmlformats.org/officeDocument/2006/relationships/image" Target="../media/image1440.png"/></Relationships>
</file>

<file path=ppt/charts/_rels/chart332.xml.rels><?xml version='1.0' encoding='UTF-8' standalone='yes'?>
<Relationships xmlns="http://schemas.openxmlformats.org/package/2006/relationships"><Relationship Id="rId2" Type="http://schemas.openxmlformats.org/officeDocument/2006/relationships/image" Target="../media/image1441.png"/></Relationships>
</file>

<file path=ppt/charts/_rels/chart333.xml.rels><?xml version='1.0' encoding='UTF-8' standalone='yes'?>
<Relationships xmlns="http://schemas.openxmlformats.org/package/2006/relationships"><Relationship Id="rId2" Type="http://schemas.openxmlformats.org/officeDocument/2006/relationships/image" Target="../media/image1442.png"/><Relationship Id="rId3" Type="http://schemas.openxmlformats.org/officeDocument/2006/relationships/image" Target="../media/image1443.png"/><Relationship Id="rId4" Type="http://schemas.openxmlformats.org/officeDocument/2006/relationships/image" Target="../media/image1444.png"/><Relationship Id="rId5" Type="http://schemas.openxmlformats.org/officeDocument/2006/relationships/image" Target="../media/image1445.png"/><Relationship Id="rId6" Type="http://schemas.openxmlformats.org/officeDocument/2006/relationships/image" Target="../media/image1446.png"/></Relationships>
</file>

<file path=ppt/charts/_rels/chart334.xml.rels><?xml version='1.0' encoding='UTF-8' standalone='yes'?>
<Relationships xmlns="http://schemas.openxmlformats.org/package/2006/relationships"><Relationship Id="rId2" Type="http://schemas.openxmlformats.org/officeDocument/2006/relationships/image" Target="../media/image1447.png"/><Relationship Id="rId3" Type="http://schemas.openxmlformats.org/officeDocument/2006/relationships/image" Target="../media/image1448.png"/></Relationships>
</file>

<file path=ppt/charts/_rels/chart335.xml.rels><?xml version='1.0' encoding='UTF-8' standalone='yes'?>
<Relationships xmlns="http://schemas.openxmlformats.org/package/2006/relationships"><Relationship Id="rId2" Type="http://schemas.openxmlformats.org/officeDocument/2006/relationships/image" Target="../media/image1449.png"/><Relationship Id="rId3" Type="http://schemas.openxmlformats.org/officeDocument/2006/relationships/image" Target="../media/image1450.png"/><Relationship Id="rId4" Type="http://schemas.openxmlformats.org/officeDocument/2006/relationships/image" Target="../media/image1451.png"/><Relationship Id="rId5" Type="http://schemas.openxmlformats.org/officeDocument/2006/relationships/image" Target="../media/image1452.png"/><Relationship Id="rId6" Type="http://schemas.openxmlformats.org/officeDocument/2006/relationships/image" Target="../media/image1453.png"/><Relationship Id="rId7" Type="http://schemas.openxmlformats.org/officeDocument/2006/relationships/image" Target="../media/image1454.png"/><Relationship Id="rId8" Type="http://schemas.openxmlformats.org/officeDocument/2006/relationships/image" Target="../media/image1455.png"/><Relationship Id="rId9" Type="http://schemas.openxmlformats.org/officeDocument/2006/relationships/image" Target="../media/image1456.png"/><Relationship Id="rId10" Type="http://schemas.openxmlformats.org/officeDocument/2006/relationships/image" Target="../media/image1457.png"/><Relationship Id="rId11" Type="http://schemas.openxmlformats.org/officeDocument/2006/relationships/image" Target="../media/image1458.png"/></Relationships>
</file>

<file path=ppt/charts/_rels/chart336.xml.rels><?xml version='1.0' encoding='UTF-8' standalone='yes'?>
<Relationships xmlns="http://schemas.openxmlformats.org/package/2006/relationships"><Relationship Id="rId2" Type="http://schemas.openxmlformats.org/officeDocument/2006/relationships/image" Target="../media/image1459.png"/></Relationships>
</file>

<file path=ppt/charts/_rels/chart337.xml.rels><?xml version='1.0' encoding='UTF-8' standalone='yes'?>
<Relationships xmlns="http://schemas.openxmlformats.org/package/2006/relationships"><Relationship Id="rId2" Type="http://schemas.openxmlformats.org/officeDocument/2006/relationships/image" Target="../media/image1460.png"/><Relationship Id="rId3" Type="http://schemas.openxmlformats.org/officeDocument/2006/relationships/image" Target="../media/image1461.png"/><Relationship Id="rId4" Type="http://schemas.openxmlformats.org/officeDocument/2006/relationships/image" Target="../media/image1462.png"/><Relationship Id="rId5" Type="http://schemas.openxmlformats.org/officeDocument/2006/relationships/image" Target="../media/image1463.png"/><Relationship Id="rId6" Type="http://schemas.openxmlformats.org/officeDocument/2006/relationships/image" Target="../media/image1464.png"/></Relationships>
</file>

<file path=ppt/charts/_rels/chart338.xml.rels><?xml version='1.0' encoding='UTF-8' standalone='yes'?>
<Relationships xmlns="http://schemas.openxmlformats.org/package/2006/relationships"><Relationship Id="rId2" Type="http://schemas.openxmlformats.org/officeDocument/2006/relationships/image" Target="../media/image1465.png"/><Relationship Id="rId3" Type="http://schemas.openxmlformats.org/officeDocument/2006/relationships/image" Target="../media/image1466.png"/></Relationships>
</file>

<file path=ppt/charts/_rels/chart339.xml.rels><?xml version='1.0' encoding='UTF-8' standalone='yes'?>
<Relationships xmlns="http://schemas.openxmlformats.org/package/2006/relationships"><Relationship Id="rId2" Type="http://schemas.openxmlformats.org/officeDocument/2006/relationships/image" Target="../media/image1467.png"/><Relationship Id="rId3" Type="http://schemas.openxmlformats.org/officeDocument/2006/relationships/image" Target="../media/image1468.png"/><Relationship Id="rId4" Type="http://schemas.openxmlformats.org/officeDocument/2006/relationships/image" Target="../media/image1469.png"/><Relationship Id="rId5" Type="http://schemas.openxmlformats.org/officeDocument/2006/relationships/image" Target="../media/image1470.png"/><Relationship Id="rId6" Type="http://schemas.openxmlformats.org/officeDocument/2006/relationships/image" Target="../media/image1471.png"/><Relationship Id="rId7" Type="http://schemas.openxmlformats.org/officeDocument/2006/relationships/image" Target="../media/image1472.png"/><Relationship Id="rId8" Type="http://schemas.openxmlformats.org/officeDocument/2006/relationships/image" Target="../media/image1473.png"/><Relationship Id="rId9" Type="http://schemas.openxmlformats.org/officeDocument/2006/relationships/image" Target="../media/image1474.png"/><Relationship Id="rId10" Type="http://schemas.openxmlformats.org/officeDocument/2006/relationships/image" Target="../media/image1475.png"/><Relationship Id="rId11" Type="http://schemas.openxmlformats.org/officeDocument/2006/relationships/image" Target="../media/image1476.png"/></Relationships>
</file>

<file path=ppt/charts/_rels/chart340.xml.rels><?xml version='1.0' encoding='UTF-8' standalone='yes'?>
<Relationships xmlns="http://schemas.openxmlformats.org/package/2006/relationships"><Relationship Id="rId2" Type="http://schemas.openxmlformats.org/officeDocument/2006/relationships/image" Target="../media/image1477.png"/></Relationships>
</file>

<file path=ppt/charts/_rels/chart341.xml.rels><?xml version='1.0' encoding='UTF-8' standalone='yes'?>
<Relationships xmlns="http://schemas.openxmlformats.org/package/2006/relationships"><Relationship Id="rId2" Type="http://schemas.openxmlformats.org/officeDocument/2006/relationships/image" Target="../media/image1478.png"/><Relationship Id="rId3" Type="http://schemas.openxmlformats.org/officeDocument/2006/relationships/image" Target="../media/image1479.png"/><Relationship Id="rId4" Type="http://schemas.openxmlformats.org/officeDocument/2006/relationships/image" Target="../media/image1480.png"/><Relationship Id="rId5" Type="http://schemas.openxmlformats.org/officeDocument/2006/relationships/image" Target="../media/image1481.png"/><Relationship Id="rId6" Type="http://schemas.openxmlformats.org/officeDocument/2006/relationships/image" Target="../media/image1482.png"/></Relationships>
</file>

<file path=ppt/charts/_rels/chart342.xml.rels><?xml version='1.0' encoding='UTF-8' standalone='yes'?>
<Relationships xmlns="http://schemas.openxmlformats.org/package/2006/relationships"><Relationship Id="rId2" Type="http://schemas.openxmlformats.org/officeDocument/2006/relationships/image" Target="../media/image1483.png"/><Relationship Id="rId3" Type="http://schemas.openxmlformats.org/officeDocument/2006/relationships/image" Target="../media/image1484.png"/></Relationships>
</file>

<file path=ppt/charts/_rels/chart343.xml.rels><?xml version='1.0' encoding='UTF-8' standalone='yes'?>
<Relationships xmlns="http://schemas.openxmlformats.org/package/2006/relationships"><Relationship Id="rId2" Type="http://schemas.openxmlformats.org/officeDocument/2006/relationships/image" Target="../media/image1485.png"/><Relationship Id="rId3" Type="http://schemas.openxmlformats.org/officeDocument/2006/relationships/image" Target="../media/image1486.png"/><Relationship Id="rId4" Type="http://schemas.openxmlformats.org/officeDocument/2006/relationships/image" Target="../media/image1487.png"/><Relationship Id="rId5" Type="http://schemas.openxmlformats.org/officeDocument/2006/relationships/image" Target="../media/image1488.png"/><Relationship Id="rId6" Type="http://schemas.openxmlformats.org/officeDocument/2006/relationships/image" Target="../media/image1489.png"/><Relationship Id="rId7" Type="http://schemas.openxmlformats.org/officeDocument/2006/relationships/image" Target="../media/image1490.png"/><Relationship Id="rId8" Type="http://schemas.openxmlformats.org/officeDocument/2006/relationships/image" Target="../media/image1491.png"/><Relationship Id="rId9" Type="http://schemas.openxmlformats.org/officeDocument/2006/relationships/image" Target="../media/image1492.png"/><Relationship Id="rId10" Type="http://schemas.openxmlformats.org/officeDocument/2006/relationships/image" Target="../media/image1493.png"/><Relationship Id="rId11" Type="http://schemas.openxmlformats.org/officeDocument/2006/relationships/image" Target="../media/image1494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3.3257257001855445</c:v>
                </c:pt>
                <c:pt idx="1">
                  <c:v>4.198811629149746</c:v>
                </c:pt>
                <c:pt idx="2">
                  <c:v>3.9069663342705896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5.542431350477664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2240013.0409999997</c:v>
                </c:pt>
                <c:pt idx="2">
                  <c:v>0.0</c:v>
                </c:pt>
                <c:pt idx="3">
                  <c:v>2638109.8030000003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.0,,&quot;M&quot;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2240013.0409999997</c:v>
                </c:pt>
                <c:pt idx="1">
                  <c:v>398096.76200000057</c:v>
                </c:pt>
                <c:pt idx="2">
                  <c:v>2638109.8030000003</c:v>
                </c:pt>
                <c:pt idx="3">
                  <c:v>1342233.46</c:v>
                </c:pt>
                <c:pt idx="4">
                  <c:v>3980343.2630000003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,,&quot;M&quot;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4.1136781538467115</c:v>
                </c:pt>
                <c:pt idx="1">
                  <c:v>4.9944145569506215</c:v>
                </c:pt>
                <c:pt idx="2">
                  <c:v>4.700011022228323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.59262721517482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8910.202</c:v>
                </c:pt>
                <c:pt idx="2">
                  <c:v>0.0</c:v>
                </c:pt>
                <c:pt idx="3">
                  <c:v>10900.0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8910.202</c:v>
                </c:pt>
                <c:pt idx="1">
                  <c:v>1989.7980000000007</c:v>
                </c:pt>
                <c:pt idx="2">
                  <c:v>10900.0</c:v>
                </c:pt>
                <c:pt idx="3">
                  <c:v>6845.508999999998</c:v>
                </c:pt>
                <c:pt idx="4">
                  <c:v>17745.509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&quot;;&quot;MMMMMMMM&quot;;&quot;M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&quot;;&quot;MMMMMMMM&quot;;&quot;M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8910.202</c:v>
                </c:pt>
                <c:pt idx="1">
                  <c:v>9274.852</c:v>
                </c:pt>
                <c:pt idx="2">
                  <c:v>9655.396999999999</c:v>
                </c:pt>
                <c:pt idx="3">
                  <c:v>10052.589</c:v>
                </c:pt>
                <c:pt idx="4">
                  <c:v>10467.184000000001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MM&quot;;&quot;MMMMMMMMMMM&quot;;&quot;MMM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MM&quot;;&quot;MMMMMMMMMMM&quot;;&quot;MMM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MM&quot;;&quot;MMMMMMMMMMM&quot;;&quot;MMM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MM&quot;;&quot;MMMMMMMMMMM&quot;;&quot;MMM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MM&quot;;&quot;MMMMMMMMMMM&quot;;&quot;MMM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.0,,&quot;M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2240013.0409999997</c:v>
                </c:pt>
                <c:pt idx="1">
                  <c:v>2314048.926</c:v>
                </c:pt>
                <c:pt idx="2">
                  <c:v>2390768.506</c:v>
                </c:pt>
                <c:pt idx="3">
                  <c:v>2470277.571</c:v>
                </c:pt>
                <c:pt idx="4">
                  <c:v>2552686.3710000003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12351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3528517"/>
          <c:min val="0"/>
        </c:scaling>
        <c:delete val="0"/>
        <c:axPos val="r"/>
        <c:numFmt formatCode="#,##0,,&quot;M&quot;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M&quot;;&quot;MMMMMMMM&quot;;&quot;M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&quot;;&quot;MMMMMMMM&quot;;&quot;M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&quot;;&quot;MMMMMMMM&quot;;&quot;M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&quot;;&quot;MMMMMMMM&quot;;&quot;M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&quot;;&quot;MMMMMMMM&quot;;&quot;M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&quot;;&quot;MMMMMMMM&quot;;&quot;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&quot;;&quot;MMMMMMMM&quot;;&quot;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&quot;;&quot;MMMMMMMM&quot;;&quot;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&quot;;&quot;MMMMMMMM&quot;;&quot;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&quot;;&quot;MMMMMMMM&quot;;&quot;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&quot;;&quot;MMMMMMMM&quot;;&quot;M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10900.0</c:v>
                </c:pt>
                <c:pt idx="1">
                  <c:v>11439.086</c:v>
                </c:pt>
                <c:pt idx="2">
                  <c:v>12006.056</c:v>
                </c:pt>
                <c:pt idx="3">
                  <c:v>12602.421999999999</c:v>
                </c:pt>
                <c:pt idx="4">
                  <c:v>13229.767</c:v>
                </c:pt>
                <c:pt idx="5">
                  <c:v>13889.776999999998</c:v>
                </c:pt>
                <c:pt idx="6">
                  <c:v>14584.228</c:v>
                </c:pt>
                <c:pt idx="7">
                  <c:v>15314.991000000002</c:v>
                </c:pt>
                <c:pt idx="8">
                  <c:v>16084.041000000001</c:v>
                </c:pt>
                <c:pt idx="9">
                  <c:v>16893.478</c:v>
                </c:pt>
                <c:pt idx="10">
                  <c:v>17745.509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MM&quot;;&quot;MMMMMMMMMMM&quot;;&quot;MMM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MM&quot;;&quot;MMMMMMMMMMM&quot;;&quot;MMM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MM&quot;;&quot;MMMMMMMMMMM&quot;;&quot;MMM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MM&quot;;&quot;MMMMMMMMMMM&quot;;&quot;MMM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MM&quot;;&quot;MMMMMMMMMMM&quot;;&quot;MMMM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MMM&quot;;&quot;MMMMMMMMMMM&quot;;&quot;MMMMMMM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MMM&quot;;&quot;MMMMMMMMMMM&quot;;&quot;MMMMMMM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MMM&quot;;&quot;MMMMMMMMMMM&quot;;&quot;MMMMMMM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MMM&quot;;&quot;MMMMMMMMMMM&quot;;&quot;MMMMMMM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MMM&quot;;&quot;MMMMMMMMMMM&quot;;&quot;MMMMMMM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MMM&quot;;&quot;MMMMMMMMMMM&quot;;&quot;MMMMMMM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.0,,&quot;M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2638109.8030000003</c:v>
                </c:pt>
                <c:pt idx="1">
                  <c:v>2747625.829</c:v>
                </c:pt>
                <c:pt idx="2">
                  <c:v>2861974.708</c:v>
                </c:pt>
                <c:pt idx="3">
                  <c:v>2981382.3720000004</c:v>
                </c:pt>
                <c:pt idx="4">
                  <c:v>3106085.876</c:v>
                </c:pt>
                <c:pt idx="5">
                  <c:v>3236333.938</c:v>
                </c:pt>
                <c:pt idx="6">
                  <c:v>3372387.5530000003</c:v>
                </c:pt>
                <c:pt idx="7">
                  <c:v>3514520.619</c:v>
                </c:pt>
                <c:pt idx="8">
                  <c:v>3663020.605</c:v>
                </c:pt>
                <c:pt idx="9">
                  <c:v>3818189.238</c:v>
                </c:pt>
                <c:pt idx="10">
                  <c:v>3980343.2630000003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20940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5759094"/>
          <c:min val="0"/>
        </c:scaling>
        <c:delete val="0"/>
        <c:axPos val="r"/>
        <c:numFmt formatCode="#,##0,,&quot;M&quot;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0"/>
                <c:pt idx="0">
                  <c:v>China</c:v>
                </c:pt>
                <c:pt idx="1">
                  <c:v>Malaysia</c:v>
                </c:pt>
                <c:pt idx="2">
                  <c:v>Spain</c:v>
                </c:pt>
                <c:pt idx="3">
                  <c:v>Thailand</c:v>
                </c:pt>
                <c:pt idx="4">
                  <c:v>Brazil</c:v>
                </c:pt>
                <c:pt idx="5">
                  <c:v>France</c:v>
                </c:pt>
                <c:pt idx="6">
                  <c:v>Netherlands</c:v>
                </c:pt>
                <c:pt idx="7">
                  <c:v>Germany</c:v>
                </c:pt>
                <c:pt idx="8">
                  <c:v>Saudi Arabia</c:v>
                </c:pt>
                <c:pt idx="9">
                  <c:v>India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101.59839916154326</c:v>
                </c:pt>
                <c:pt idx="1">
                  <c:v>105.94801046294018</c:v>
                </c:pt>
                <c:pt idx="2">
                  <c:v>114.39906564440756</c:v>
                </c:pt>
                <c:pt idx="3">
                  <c:v>118.03481530341912</c:v>
                </c:pt>
                <c:pt idx="4">
                  <c:v>118.56183533314837</c:v>
                </c:pt>
                <c:pt idx="5">
                  <c:v>122.97427328206352</c:v>
                </c:pt>
                <c:pt idx="6">
                  <c:v>127.69086905692264</c:v>
                </c:pt>
                <c:pt idx="7">
                  <c:v>131.04241477228166</c:v>
                </c:pt>
                <c:pt idx="8">
                  <c:v>131.4246376031995</c:v>
                </c:pt>
                <c:pt idx="9">
                  <c:v>135.41754590509254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0"/>
                <c:pt idx="0">
                  <c:v>UAE</c:v>
                </c:pt>
                <c:pt idx="1">
                  <c:v>Japan</c:v>
                </c:pt>
                <c:pt idx="2">
                  <c:v>U.K.</c:v>
                </c:pt>
                <c:pt idx="3">
                  <c:v>France</c:v>
                </c:pt>
                <c:pt idx="4">
                  <c:v>Brazil</c:v>
                </c:pt>
                <c:pt idx="5">
                  <c:v>India</c:v>
                </c:pt>
                <c:pt idx="6">
                  <c:v>China</c:v>
                </c:pt>
                <c:pt idx="7">
                  <c:v>Canada</c:v>
                </c:pt>
                <c:pt idx="8">
                  <c:v>Germany</c:v>
                </c:pt>
                <c:pt idx="9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2.7732196393285005</c:v>
                </c:pt>
                <c:pt idx="1">
                  <c:v>3.0427686239255554</c:v>
                </c:pt>
                <c:pt idx="2">
                  <c:v>3.3640449526835785</c:v>
                </c:pt>
                <c:pt idx="3">
                  <c:v>3.71677255847593</c:v>
                </c:pt>
                <c:pt idx="4">
                  <c:v>6.167459570939138</c:v>
                </c:pt>
                <c:pt idx="5">
                  <c:v>7.168656121845723</c:v>
                </c:pt>
                <c:pt idx="6">
                  <c:v>7.648415917647614</c:v>
                </c:pt>
                <c:pt idx="7">
                  <c:v>9.150773156532262</c:v>
                </c:pt>
                <c:pt idx="8">
                  <c:v>14.278689868058022</c:v>
                </c:pt>
                <c:pt idx="9">
                  <c:v>16.5044995193199</c:v>
                </c:pt>
              </c:numCache>
            </c:numRef>
          </c:val>
        </c:ser>
        <c:dLbls>
          <c:numFmt formatCode="0.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Lbls>
            <c:dLbl>
              <c:idx val="0"/>
              <c:numFmt formatCode="&quot;MMMMMMMM&quot;;&quot;MMMMMMMM&quot;;&quot;M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10235.621</c:v>
                </c:pt>
                <c:pt idx="1">
                  <c:v>7509.888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lineChart>
        <c:grouping val="standard"/>
        <c:varyColors val="0"/>
        <c:ser>
          <c:idx val="0"/>
          <c:order val="0"/>
          <c:tx>
            <c:strRef>
              <c:strCache>
                <c:ptCount val="1"/>
                <c:pt idx="0">
                  <c:v>Optimistic Scenario</c:v>
                </c:pt>
              </c:strCache>
            </c:strRef>
          </c:tx>
          <c:spPr>
            <a:ln w="28575">
              <a:solidFill>
                <a:srgbClr val="2E5F8A"/>
              </a:solidFill>
            </a:ln>
          </c:spPr>
          <c:marker>
            <c:symbol val="circle"/>
            <c:size val="6"/>
            <c:spPr>
              <a:solidFill>
                <a:srgbClr val="2E5F8A"/>
              </a:solidFill>
              <a:ln>
                <a:solidFill>
                  <a:srgbClr val="2E5F8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0.05583517608325135</c:v>
                </c:pt>
                <c:pt idx="1">
                  <c:v>0.05696867431302756</c:v>
                </c:pt>
                <c:pt idx="2">
                  <c:v>0.05797748773752838</c:v>
                </c:pt>
                <c:pt idx="3">
                  <c:v>0.05948881871056332</c:v>
                </c:pt>
                <c:pt idx="4">
                  <c:v>0.06112483448887365</c:v>
                </c:pt>
                <c:pt idx="5">
                  <c:v>0.06288931339989194</c:v>
                </c:pt>
                <c:pt idx="6">
                  <c:v>0.06440064437292689</c:v>
                </c:pt>
                <c:pt idx="7">
                  <c:v>0.06500139843470829</c:v>
                </c:pt>
                <c:pt idx="8">
                  <c:v>0.06500139843470829</c:v>
                </c:pt>
                <c:pt idx="9">
                  <c:v>0.06404170326683109</c:v>
                </c:pt>
                <c:pt idx="10">
                  <c:v>0.06326336781571809</c:v>
                </c:pt>
              </c:numCache>
            </c:numRef>
          </c:val>
          <c:smooth val="0"/>
        </c:ser>
        <c:ser>
          <c:idx val="1"/>
          <c:order val="1"/>
          <c:tx>
            <c:strRef>
              <c:strCache>
                <c:ptCount val="1"/>
                <c:pt idx="0">
                  <c:v>Likely Scenario</c:v>
                </c:pt>
              </c:strCache>
            </c:strRef>
          </c:tx>
          <c:spPr>
            <a:ln w="28575">
              <a:solidFill>
                <a:srgbClr val="8B1A1A"/>
              </a:solidFill>
            </a:ln>
          </c:spPr>
          <c:marker>
            <c:symbol val="circle"/>
            <c:size val="6"/>
            <c:spPr>
              <a:solidFill>
                <a:srgbClr val="8B1A1A"/>
              </a:solidFill>
              <a:ln>
                <a:solidFill>
                  <a:srgbClr val="8B1A1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0.044007582150851154</c:v>
                </c:pt>
                <c:pt idx="1">
                  <c:v>0.04471976916618909</c:v>
                </c:pt>
                <c:pt idx="2">
                  <c:v>0.0457855595248067</c:v>
                </c:pt>
                <c:pt idx="3">
                  <c:v>0.04649276621136604</c:v>
                </c:pt>
                <c:pt idx="4">
                  <c:v>0.04724977618571126</c:v>
                </c:pt>
                <c:pt idx="5">
                  <c:v>0.04888830435386636</c:v>
                </c:pt>
                <c:pt idx="6">
                  <c:v>0.05000887832904842</c:v>
                </c:pt>
                <c:pt idx="7">
                  <c:v>0.051607563866974834</c:v>
                </c:pt>
                <c:pt idx="8">
                  <c:v>0.053290914994137226</c:v>
                </c:pt>
                <c:pt idx="9">
                  <c:v>0.053993141351917975</c:v>
                </c:pt>
                <c:pt idx="10">
                  <c:v>0.054785013627713305</c:v>
                </c:pt>
              </c:numCache>
            </c:numRef>
          </c:val>
          <c:smooth val="0"/>
        </c:ser>
        <c:ser>
          <c:idx val="2"/>
          <c:order val="2"/>
          <c:tx>
            <c:strRef>
              <c:strCache>
                <c:ptCount val="1"/>
                <c:pt idx="0">
                  <c:v>Conservative Scenario</c:v>
                </c:pt>
              </c:strCache>
            </c:strRef>
          </c:tx>
          <c:spPr>
            <a:ln w="28575">
              <a:solidFill>
                <a:srgbClr val="A08000"/>
              </a:solidFill>
            </a:ln>
          </c:spPr>
          <c:marker>
            <c:symbol val="circle"/>
            <c:size val="6"/>
            <c:spPr>
              <a:solidFill>
                <a:srgbClr val="A08000"/>
              </a:solidFill>
              <a:ln>
                <a:solidFill>
                  <a:srgbClr val="A08000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0.040800227156733704</c:v>
                </c:pt>
                <c:pt idx="1">
                  <c:v>0.04045243322392847</c:v>
                </c:pt>
                <c:pt idx="2">
                  <c:v>0.04005247020120245</c:v>
                </c:pt>
                <c:pt idx="3">
                  <c:v>0.03909603688598805</c:v>
                </c:pt>
                <c:pt idx="4">
                  <c:v>0.038246840033388595</c:v>
                </c:pt>
                <c:pt idx="5">
                  <c:v>0.03721794964883977</c:v>
                </c:pt>
                <c:pt idx="6">
                  <c:v>0.03596299320796754</c:v>
                </c:pt>
                <c:pt idx="7">
                  <c:v>0.034568919193973216</c:v>
                </c:pt>
                <c:pt idx="8">
                  <c:v>0.0347341213120557</c:v>
                </c:pt>
                <c:pt idx="9">
                  <c:v>0.033235709118219804</c:v>
                </c:pt>
                <c:pt idx="10">
                  <c:v>0.03125618198400333</c:v>
                </c:pt>
              </c:numCache>
            </c:numRef>
          </c:val>
          <c:smooth val="0"/>
        </c:ser>
        <c:marker val="1"/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40495176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2140495176"/>
        <c:scaling>
          <c:min val="0.0"/>
        </c:scaling>
        <c:delete val="0"/>
        <c:axPos val="l"/>
        <c:numFmt formatCode="0.00%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18791784"/>
        <c:crosses val="autoZero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North America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35.58616854887598</c:v>
                </c:pt>
                <c:pt idx="1">
                  <c:v>32.65375202892395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Europe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25.082456850261742</c:v>
                </c:pt>
                <c:pt idx="1">
                  <c:v>26.581809409134877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East Asia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12.959205398168944</c:v>
                </c:pt>
                <c:pt idx="1">
                  <c:v>12.804937396676985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South Asia &amp; Pacific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11.781534060733712</c:v>
                </c:pt>
                <c:pt idx="1">
                  <c:v>12.784653467712742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Latin America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7.792098636919398</c:v>
                </c:pt>
                <c:pt idx="1">
                  <c:v>8.422647114794833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Middle East &amp; Africa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6.798536505040234</c:v>
                </c:pt>
                <c:pt idx="1">
                  <c:v>6.752200582756624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North America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33.0</c:v>
                </c:pt>
                <c:pt idx="1">
                  <c:v>30.166697388054644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Europe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27.000009174311927</c:v>
                </c:pt>
                <c:pt idx="1">
                  <c:v>28.49338951055166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South Asia &amp; Pacific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11.999990825688075</c:v>
                </c:pt>
                <c:pt idx="1">
                  <c:v>13.041784262147683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East Asia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13.000009174311927</c:v>
                </c:pt>
                <c:pt idx="1">
                  <c:v>12.755469566976075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Latin America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7.999990825688073</c:v>
                </c:pt>
                <c:pt idx="1">
                  <c:v>8.60414880181797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Middle East &amp; Africa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7.000000000000001</c:v>
                </c:pt>
                <c:pt idx="1">
                  <c:v>6.938510470451989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North America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829578.725</c:v>
                </c:pt>
                <c:pt idx="1">
                  <c:v>850339.716</c:v>
                </c:pt>
                <c:pt idx="2">
                  <c:v>871628.714</c:v>
                </c:pt>
                <c:pt idx="3">
                  <c:v>893459.382</c:v>
                </c:pt>
                <c:pt idx="4">
                  <c:v>915845.747</c:v>
                </c:pt>
                <c:pt idx="5">
                  <c:v>938802.201</c:v>
                </c:pt>
                <c:pt idx="6">
                  <c:v>969801.731</c:v>
                </c:pt>
                <c:pt idx="7">
                  <c:v>1001834.583</c:v>
                </c:pt>
                <c:pt idx="8">
                  <c:v>1034935.551</c:v>
                </c:pt>
                <c:pt idx="9">
                  <c:v>1069140.613</c:v>
                </c:pt>
                <c:pt idx="10">
                  <c:v>1104486.97</c:v>
                </c:pt>
                <c:pt idx="11">
                  <c:v>1141013.091</c:v>
                </c:pt>
                <c:pt idx="12">
                  <c:v>1178758.755</c:v>
                </c:pt>
                <c:pt idx="13">
                  <c:v>1217765.098</c:v>
                </c:pt>
                <c:pt idx="14">
                  <c:v>1258074.657</c:v>
                </c:pt>
                <c:pt idx="15">
                  <c:v>1299731.419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Europe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546059.039</c:v>
                </c:pt>
                <c:pt idx="1">
                  <c:v>567303.39</c:v>
                </c:pt>
                <c:pt idx="2">
                  <c:v>589448.544</c:v>
                </c:pt>
                <c:pt idx="3">
                  <c:v>612534.948</c:v>
                </c:pt>
                <c:pt idx="4">
                  <c:v>636604.923</c:v>
                </c:pt>
                <c:pt idx="5">
                  <c:v>661702.753</c:v>
                </c:pt>
                <c:pt idx="6">
                  <c:v>693131.622</c:v>
                </c:pt>
                <c:pt idx="7">
                  <c:v>726140.823</c:v>
                </c:pt>
                <c:pt idx="8">
                  <c:v>760813.17</c:v>
                </c:pt>
                <c:pt idx="9">
                  <c:v>797235.958</c:v>
                </c:pt>
                <c:pt idx="10">
                  <c:v>835501.18</c:v>
                </c:pt>
                <c:pt idx="11">
                  <c:v>875705.805</c:v>
                </c:pt>
                <c:pt idx="12">
                  <c:v>917952.037</c:v>
                </c:pt>
                <c:pt idx="13">
                  <c:v>962347.617</c:v>
                </c:pt>
                <c:pt idx="14">
                  <c:v>1009006.113</c:v>
                </c:pt>
                <c:pt idx="15">
                  <c:v>1058047.26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East Asia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291064.227</c:v>
                </c:pt>
                <c:pt idx="1">
                  <c:v>300576.418</c:v>
                </c:pt>
                <c:pt idx="2">
                  <c:v>310403.204</c:v>
                </c:pt>
                <c:pt idx="3">
                  <c:v>320555.1</c:v>
                </c:pt>
                <c:pt idx="4">
                  <c:v>331042.977</c:v>
                </c:pt>
                <c:pt idx="5">
                  <c:v>341878.068</c:v>
                </c:pt>
                <c:pt idx="6">
                  <c:v>355788.001</c:v>
                </c:pt>
                <c:pt idx="7">
                  <c:v>370268.204</c:v>
                </c:pt>
                <c:pt idx="8">
                  <c:v>385342.219</c:v>
                </c:pt>
                <c:pt idx="9">
                  <c:v>401034.564</c:v>
                </c:pt>
                <c:pt idx="10">
                  <c:v>417370.776</c:v>
                </c:pt>
                <c:pt idx="11">
                  <c:v>434377.452</c:v>
                </c:pt>
                <c:pt idx="12">
                  <c:v>452082.3</c:v>
                </c:pt>
                <c:pt idx="13">
                  <c:v>470514.172</c:v>
                </c:pt>
                <c:pt idx="14">
                  <c:v>489703.124</c:v>
                </c:pt>
                <c:pt idx="15">
                  <c:v>509680.463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South Asia &amp; Pacific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253292.923</c:v>
                </c:pt>
                <c:pt idx="1">
                  <c:v>263816.859</c:v>
                </c:pt>
                <c:pt idx="2">
                  <c:v>274808.294</c:v>
                </c:pt>
                <c:pt idx="3">
                  <c:v>286288.929</c:v>
                </c:pt>
                <c:pt idx="4">
                  <c:v>298281.493</c:v>
                </c:pt>
                <c:pt idx="5">
                  <c:v>310809.805</c:v>
                </c:pt>
                <c:pt idx="6">
                  <c:v>326368.02</c:v>
                </c:pt>
                <c:pt idx="7">
                  <c:v>342740.682</c:v>
                </c:pt>
                <c:pt idx="8">
                  <c:v>359971.817</c:v>
                </c:pt>
                <c:pt idx="9">
                  <c:v>378107.892</c:v>
                </c:pt>
                <c:pt idx="10">
                  <c:v>397197.942</c:v>
                </c:pt>
                <c:pt idx="11">
                  <c:v>417293.72</c:v>
                </c:pt>
                <c:pt idx="12">
                  <c:v>438449.85</c:v>
                </c:pt>
                <c:pt idx="13">
                  <c:v>460723.987</c:v>
                </c:pt>
                <c:pt idx="14">
                  <c:v>484176.985</c:v>
                </c:pt>
                <c:pt idx="15">
                  <c:v>508873.093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Latin America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167338.713</c:v>
                </c:pt>
                <c:pt idx="1">
                  <c:v>174359.954</c:v>
                </c:pt>
                <c:pt idx="2">
                  <c:v>181679.95</c:v>
                </c:pt>
                <c:pt idx="3">
                  <c:v>189311.58</c:v>
                </c:pt>
                <c:pt idx="4">
                  <c:v>197268.292</c:v>
                </c:pt>
                <c:pt idx="5">
                  <c:v>205564.118</c:v>
                </c:pt>
                <c:pt idx="6">
                  <c:v>215846.788</c:v>
                </c:pt>
                <c:pt idx="7">
                  <c:v>226648.909</c:v>
                </c:pt>
                <c:pt idx="8">
                  <c:v>237996.978</c:v>
                </c:pt>
                <c:pt idx="9">
                  <c:v>249918.847</c:v>
                </c:pt>
                <c:pt idx="10">
                  <c:v>262443.808</c:v>
                </c:pt>
                <c:pt idx="11">
                  <c:v>275602.66</c:v>
                </c:pt>
                <c:pt idx="12">
                  <c:v>289427.787</c:v>
                </c:pt>
                <c:pt idx="13">
                  <c:v>303953.249</c:v>
                </c:pt>
                <c:pt idx="14">
                  <c:v>319214.855</c:v>
                </c:pt>
                <c:pt idx="15">
                  <c:v>335250.267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Middle East &amp; Africa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layout>
                <c:manualLayout>
                  <c:x val="0"/>
                  <c:y val="-0.0830"/>
                </c:manualLayout>
              </c:layout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8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9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152679.414</c:v>
                </c:pt>
                <c:pt idx="1">
                  <c:v>157652.589</c:v>
                </c:pt>
                <c:pt idx="2">
                  <c:v>162799.8</c:v>
                </c:pt>
                <c:pt idx="3">
                  <c:v>168127.632</c:v>
                </c:pt>
                <c:pt idx="4">
                  <c:v>173642.939</c:v>
                </c:pt>
                <c:pt idx="5">
                  <c:v>179352.858</c:v>
                </c:pt>
                <c:pt idx="6">
                  <c:v>186689.667</c:v>
                </c:pt>
                <c:pt idx="7">
                  <c:v>194341.507</c:v>
                </c:pt>
                <c:pt idx="8">
                  <c:v>202322.637</c:v>
                </c:pt>
                <c:pt idx="9">
                  <c:v>210648.002</c:v>
                </c:pt>
                <c:pt idx="10">
                  <c:v>219333.262</c:v>
                </c:pt>
                <c:pt idx="11">
                  <c:v>228394.825</c:v>
                </c:pt>
                <c:pt idx="12">
                  <c:v>237849.89</c:v>
                </c:pt>
                <c:pt idx="13">
                  <c:v>247716.482</c:v>
                </c:pt>
                <c:pt idx="14">
                  <c:v>258013.504</c:v>
                </c:pt>
                <c:pt idx="15">
                  <c:v>268760.761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,,&quot;M&quot;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North America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3065.726</c:v>
                </c:pt>
                <c:pt idx="1">
                  <c:v>3165.233</c:v>
                </c:pt>
                <c:pt idx="2">
                  <c:v>3268.003</c:v>
                </c:pt>
                <c:pt idx="3">
                  <c:v>3374.146</c:v>
                </c:pt>
                <c:pt idx="4">
                  <c:v>3483.774</c:v>
                </c:pt>
                <c:pt idx="5">
                  <c:v>3597.0</c:v>
                </c:pt>
                <c:pt idx="6">
                  <c:v>3742.722</c:v>
                </c:pt>
                <c:pt idx="7">
                  <c:v>3894.387</c:v>
                </c:pt>
                <c:pt idx="8">
                  <c:v>4052.241</c:v>
                </c:pt>
                <c:pt idx="9">
                  <c:v>4216.537</c:v>
                </c:pt>
                <c:pt idx="10">
                  <c:v>4387.542</c:v>
                </c:pt>
                <c:pt idx="11">
                  <c:v>4565.529</c:v>
                </c:pt>
                <c:pt idx="12">
                  <c:v>4750.786</c:v>
                </c:pt>
                <c:pt idx="13">
                  <c:v>4943.613</c:v>
                </c:pt>
                <c:pt idx="14">
                  <c:v>5144.321</c:v>
                </c:pt>
                <c:pt idx="15">
                  <c:v>5353.234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Europe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2342.875</c:v>
                </c:pt>
                <c:pt idx="1">
                  <c:v>2451.597</c:v>
                </c:pt>
                <c:pt idx="2">
                  <c:v>2565.686</c:v>
                </c:pt>
                <c:pt idx="3">
                  <c:v>2685.419</c:v>
                </c:pt>
                <c:pt idx="4">
                  <c:v>2811.088</c:v>
                </c:pt>
                <c:pt idx="5">
                  <c:v>2943.001</c:v>
                </c:pt>
                <c:pt idx="6">
                  <c:v>3105.025</c:v>
                </c:pt>
                <c:pt idx="7">
                  <c:v>3276.359</c:v>
                </c:pt>
                <c:pt idx="8">
                  <c:v>3457.56</c:v>
                </c:pt>
                <c:pt idx="9">
                  <c:v>3649.214</c:v>
                </c:pt>
                <c:pt idx="10">
                  <c:v>3851.941</c:v>
                </c:pt>
                <c:pt idx="11">
                  <c:v>4066.408</c:v>
                </c:pt>
                <c:pt idx="12">
                  <c:v>4293.309</c:v>
                </c:pt>
                <c:pt idx="13">
                  <c:v>4533.39</c:v>
                </c:pt>
                <c:pt idx="14">
                  <c:v>4787.442</c:v>
                </c:pt>
                <c:pt idx="15">
                  <c:v>5056.297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East Asia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1165.472</c:v>
                </c:pt>
                <c:pt idx="1">
                  <c:v>1211.894</c:v>
                </c:pt>
                <c:pt idx="2">
                  <c:v>1260.181</c:v>
                </c:pt>
                <c:pt idx="3">
                  <c:v>1310.408</c:v>
                </c:pt>
                <c:pt idx="4">
                  <c:v>1362.653</c:v>
                </c:pt>
                <c:pt idx="5">
                  <c:v>1417.001</c:v>
                </c:pt>
                <c:pt idx="6">
                  <c:v>1484.868</c:v>
                </c:pt>
                <c:pt idx="7">
                  <c:v>1556.006</c:v>
                </c:pt>
                <c:pt idx="8">
                  <c:v>1630.571</c:v>
                </c:pt>
                <c:pt idx="9">
                  <c:v>1708.73</c:v>
                </c:pt>
                <c:pt idx="10">
                  <c:v>1790.657</c:v>
                </c:pt>
                <c:pt idx="11">
                  <c:v>1876.535</c:v>
                </c:pt>
                <c:pt idx="12">
                  <c:v>1966.555</c:v>
                </c:pt>
                <c:pt idx="13">
                  <c:v>2060.917</c:v>
                </c:pt>
                <c:pt idx="14">
                  <c:v>2159.833</c:v>
                </c:pt>
                <c:pt idx="15">
                  <c:v>2263.523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South Asia &amp; Pacific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1025.065</c:v>
                </c:pt>
                <c:pt idx="1">
                  <c:v>1076.053</c:v>
                </c:pt>
                <c:pt idx="2">
                  <c:v>1129.694</c:v>
                </c:pt>
                <c:pt idx="3">
                  <c:v>1186.133</c:v>
                </c:pt>
                <c:pt idx="4">
                  <c:v>1245.514</c:v>
                </c:pt>
                <c:pt idx="5">
                  <c:v>1307.999</c:v>
                </c:pt>
                <c:pt idx="6">
                  <c:v>1384.22</c:v>
                </c:pt>
                <c:pt idx="7">
                  <c:v>1465.025</c:v>
                </c:pt>
                <c:pt idx="8">
                  <c:v>1550.696</c:v>
                </c:pt>
                <c:pt idx="9">
                  <c:v>1641.528</c:v>
                </c:pt>
                <c:pt idx="10">
                  <c:v>1737.848</c:v>
                </c:pt>
                <c:pt idx="11">
                  <c:v>1839.989</c:v>
                </c:pt>
                <c:pt idx="12">
                  <c:v>1948.315</c:v>
                </c:pt>
                <c:pt idx="13">
                  <c:v>2063.203</c:v>
                </c:pt>
                <c:pt idx="14">
                  <c:v>2185.064</c:v>
                </c:pt>
                <c:pt idx="15">
                  <c:v>2314.331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Latin America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685.04</c:v>
                </c:pt>
                <c:pt idx="1">
                  <c:v>718.882</c:v>
                </c:pt>
                <c:pt idx="2">
                  <c:v>754.41</c:v>
                </c:pt>
                <c:pt idx="3">
                  <c:v>791.714</c:v>
                </c:pt>
                <c:pt idx="4">
                  <c:v>830.878</c:v>
                </c:pt>
                <c:pt idx="5">
                  <c:v>871.999</c:v>
                </c:pt>
                <c:pt idx="6">
                  <c:v>922.153</c:v>
                </c:pt>
                <c:pt idx="7">
                  <c:v>975.211</c:v>
                </c:pt>
                <c:pt idx="8">
                  <c:v>1031.343</c:v>
                </c:pt>
                <c:pt idx="9">
                  <c:v>1090.731</c:v>
                </c:pt>
                <c:pt idx="10">
                  <c:v>1153.561</c:v>
                </c:pt>
                <c:pt idx="11">
                  <c:v>1220.038</c:v>
                </c:pt>
                <c:pt idx="12">
                  <c:v>1290.373</c:v>
                </c:pt>
                <c:pt idx="13">
                  <c:v>1364.792</c:v>
                </c:pt>
                <c:pt idx="14">
                  <c:v>1443.534</c:v>
                </c:pt>
                <c:pt idx="15">
                  <c:v>1526.85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Middle East &amp; Africa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layout>
                <c:manualLayout>
                  <c:x val="0"/>
                  <c:y val="-0.0830"/>
                </c:manualLayout>
              </c:layout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8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9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626.024</c:v>
                </c:pt>
                <c:pt idx="1">
                  <c:v>651.193</c:v>
                </c:pt>
                <c:pt idx="2">
                  <c:v>677.423</c:v>
                </c:pt>
                <c:pt idx="3">
                  <c:v>704.769</c:v>
                </c:pt>
                <c:pt idx="4">
                  <c:v>733.277</c:v>
                </c:pt>
                <c:pt idx="5">
                  <c:v>763.0</c:v>
                </c:pt>
                <c:pt idx="6">
                  <c:v>800.098</c:v>
                </c:pt>
                <c:pt idx="7">
                  <c:v>839.068</c:v>
                </c:pt>
                <c:pt idx="8">
                  <c:v>880.011</c:v>
                </c:pt>
                <c:pt idx="9">
                  <c:v>923.027</c:v>
                </c:pt>
                <c:pt idx="10">
                  <c:v>968.228</c:v>
                </c:pt>
                <c:pt idx="11">
                  <c:v>1015.729</c:v>
                </c:pt>
                <c:pt idx="12">
                  <c:v>1065.653</c:v>
                </c:pt>
                <c:pt idx="13">
                  <c:v>1118.126</c:v>
                </c:pt>
                <c:pt idx="14">
                  <c:v>1173.284</c:v>
                </c:pt>
                <c:pt idx="15">
                  <c:v>1231.274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57.58620745666684</c:v>
                </c:pt>
                <c:pt idx="1">
                  <c:v>55.98159609653863</c:v>
                </c:pt>
                <c:pt idx="2">
                  <c:v>57.08861805247837</c:v>
                </c:pt>
                <c:pt idx="3">
                  <c:v>58.14302275690038</c:v>
                </c:pt>
                <c:pt idx="4">
                  <c:v>58.31039988355114</c:v>
                </c:pt>
                <c:pt idx="5">
                  <c:v>57.640652360797226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42.41379254333317</c:v>
                </c:pt>
                <c:pt idx="1">
                  <c:v>44.018403903461376</c:v>
                </c:pt>
                <c:pt idx="2">
                  <c:v>42.91138194752163</c:v>
                </c:pt>
                <c:pt idx="3">
                  <c:v>41.85697724309962</c:v>
                </c:pt>
                <c:pt idx="4">
                  <c:v>41.68960011644885</c:v>
                </c:pt>
                <c:pt idx="5">
                  <c:v>42.359347639202774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Sweet muffins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107.99974077981456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111.06077064220183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10235.621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Savoury muffins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89.6096270615963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88.93922935779817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7509.888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30.0"/>
          <c:min val="7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6052.812</c:v>
                </c:pt>
                <c:pt idx="2">
                  <c:v>6718.45</c:v>
                </c:pt>
                <c:pt idx="3">
                  <c:v>7459.991</c:v>
                </c:pt>
                <c:pt idx="4">
                  <c:v>8286.444</c:v>
                </c:pt>
                <c:pt idx="5">
                  <c:v>9207.875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6052.812</c:v>
                </c:pt>
                <c:pt idx="1">
                  <c:v>665.6379999999999</c:v>
                </c:pt>
                <c:pt idx="2">
                  <c:v>741.5410000000002</c:v>
                </c:pt>
                <c:pt idx="3">
                  <c:v>826.4529999999995</c:v>
                </c:pt>
                <c:pt idx="4">
                  <c:v>921.4310000000005</c:v>
                </c:pt>
                <c:pt idx="5">
                  <c:v>1027.7459999999992</c:v>
                </c:pt>
                <c:pt idx="6">
                  <c:v>10235.621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4847.188</c:v>
                </c:pt>
                <c:pt idx="2">
                  <c:v>5287.606</c:v>
                </c:pt>
                <c:pt idx="3">
                  <c:v>5769.776</c:v>
                </c:pt>
                <c:pt idx="4">
                  <c:v>6297.784</c:v>
                </c:pt>
                <c:pt idx="5">
                  <c:v>6876.166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4847.188</c:v>
                </c:pt>
                <c:pt idx="1">
                  <c:v>440.41799999999967</c:v>
                </c:pt>
                <c:pt idx="2">
                  <c:v>482.1700000000001</c:v>
                </c:pt>
                <c:pt idx="3">
                  <c:v>528.0079999999998</c:v>
                </c:pt>
                <c:pt idx="4">
                  <c:v>578.3820000000005</c:v>
                </c:pt>
                <c:pt idx="5">
                  <c:v>633.7219999999998</c:v>
                </c:pt>
                <c:pt idx="6">
                  <c:v>7509.888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54.46273833073594</c:v>
                </c:pt>
                <c:pt idx="1">
                  <c:v>55.530385321100916</c:v>
                </c:pt>
                <c:pt idx="2">
                  <c:v>57.68006429119615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45.53726166926407</c:v>
                </c:pt>
                <c:pt idx="1">
                  <c:v>44.469614678899084</c:v>
                </c:pt>
                <c:pt idx="2">
                  <c:v>42.31993570880385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 Flavours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54.17518765116457</c:v>
                </c:pt>
                <c:pt idx="1">
                  <c:v>56.39715754658285</c:v>
                </c:pt>
                <c:pt idx="2">
                  <c:v>53.5493564677717</c:v>
                </c:pt>
                <c:pt idx="3">
                  <c:v>53.41271408454538</c:v>
                </c:pt>
                <c:pt idx="4">
                  <c:v>54.363895158848464</c:v>
                </c:pt>
                <c:pt idx="5">
                  <c:v>54.74483274969859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 Flavours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45.824812348835444</c:v>
                </c:pt>
                <c:pt idx="1">
                  <c:v>43.60284245341717</c:v>
                </c:pt>
                <c:pt idx="2">
                  <c:v>46.4506435322283</c:v>
                </c:pt>
                <c:pt idx="3">
                  <c:v>46.587285915454615</c:v>
                </c:pt>
                <c:pt idx="4">
                  <c:v>45.63610484115153</c:v>
                </c:pt>
                <c:pt idx="5">
                  <c:v>45.2551672503014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Sweet Muffins Flavours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88.32587040978127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115.05746788990825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9655.813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Savoury Muffins Flavours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114.93688503525155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84.94253211009175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8089.696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25.0"/>
          <c:min val="8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30.0"/>
          <c:min val="7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6270.632</c:v>
                </c:pt>
                <c:pt idx="2">
                  <c:v>6833.23</c:v>
                </c:pt>
                <c:pt idx="3">
                  <c:v>7447.88</c:v>
                </c:pt>
                <c:pt idx="4">
                  <c:v>8119.483</c:v>
                </c:pt>
                <c:pt idx="5">
                  <c:v>8853.508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6270.632</c:v>
                </c:pt>
                <c:pt idx="1">
                  <c:v>562.598</c:v>
                </c:pt>
                <c:pt idx="2">
                  <c:v>614.6500000000005</c:v>
                </c:pt>
                <c:pt idx="3">
                  <c:v>671.6030000000001</c:v>
                </c:pt>
                <c:pt idx="4">
                  <c:v>734.0249999999996</c:v>
                </c:pt>
                <c:pt idx="5">
                  <c:v>802.3050000000003</c:v>
                </c:pt>
                <c:pt idx="6">
                  <c:v>9655.813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4629.368</c:v>
                </c:pt>
                <c:pt idx="2">
                  <c:v>5172.826</c:v>
                </c:pt>
                <c:pt idx="3">
                  <c:v>5781.887</c:v>
                </c:pt>
                <c:pt idx="4">
                  <c:v>6464.745</c:v>
                </c:pt>
                <c:pt idx="5">
                  <c:v>7230.532999999999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4629.368</c:v>
                </c:pt>
                <c:pt idx="1">
                  <c:v>543.4579999999996</c:v>
                </c:pt>
                <c:pt idx="2">
                  <c:v>609.0609999999997</c:v>
                </c:pt>
                <c:pt idx="3">
                  <c:v>682.8580000000002</c:v>
                </c:pt>
                <c:pt idx="4">
                  <c:v>765.7879999999996</c:v>
                </c:pt>
                <c:pt idx="5">
                  <c:v>859.1630000000005</c:v>
                </c:pt>
                <c:pt idx="6">
                  <c:v>8089.696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 Flavours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59.044183285631455</c:v>
                </c:pt>
                <c:pt idx="1">
                  <c:v>57.528733944954126</c:v>
                </c:pt>
                <c:pt idx="2">
                  <c:v>54.41271366180593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 Flavours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40.95581671436854</c:v>
                </c:pt>
                <c:pt idx="1">
                  <c:v>42.471266055045874</c:v>
                </c:pt>
                <c:pt idx="2">
                  <c:v>45.587286338194076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Wheat-based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16.85230095007285</c:v>
                </c:pt>
                <c:pt idx="1">
                  <c:v>16.39800897272162</c:v>
                </c:pt>
                <c:pt idx="2">
                  <c:v>16.816793997675305</c:v>
                </c:pt>
                <c:pt idx="3">
                  <c:v>15.237621584812198</c:v>
                </c:pt>
                <c:pt idx="4">
                  <c:v>17.012806011988616</c:v>
                </c:pt>
                <c:pt idx="5">
                  <c:v>17.71004219131837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Oat-based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22.11863484488424</c:v>
                </c:pt>
                <c:pt idx="1">
                  <c:v>20.31450371680257</c:v>
                </c:pt>
                <c:pt idx="2">
                  <c:v>22.351529010308266</c:v>
                </c:pt>
                <c:pt idx="3">
                  <c:v>22.673420526277358</c:v>
                </c:pt>
                <c:pt idx="4">
                  <c:v>20.115392746905496</c:v>
                </c:pt>
                <c:pt idx="5">
                  <c:v>23.222934024554128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Rice-based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17.204618955650812</c:v>
                </c:pt>
                <c:pt idx="1">
                  <c:v>19.274322952483875</c:v>
                </c:pt>
                <c:pt idx="2">
                  <c:v>17.22014753108318</c:v>
                </c:pt>
                <c:pt idx="3">
                  <c:v>16.454301480643867</c:v>
                </c:pt>
                <c:pt idx="4">
                  <c:v>16.979184569260866</c:v>
                </c:pt>
                <c:pt idx="5">
                  <c:v>15.50868129433535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Corn-based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14.023523602382573</c:v>
                </c:pt>
                <c:pt idx="1">
                  <c:v>15.299931230965717</c:v>
                </c:pt>
                <c:pt idx="2">
                  <c:v>14.327797862005376</c:v>
                </c:pt>
                <c:pt idx="3">
                  <c:v>16.096401076596216</c:v>
                </c:pt>
                <c:pt idx="4">
                  <c:v>16.71525624384802</c:v>
                </c:pt>
                <c:pt idx="5">
                  <c:v>14.067963403056918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Millet-based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7.600176727519625</c:v>
                </c:pt>
                <c:pt idx="1">
                  <c:v>6.6822543144382225</c:v>
                </c:pt>
                <c:pt idx="2">
                  <c:v>9.005210019955618</c:v>
                </c:pt>
                <c:pt idx="3">
                  <c:v>7.809038551529578</c:v>
                </c:pt>
                <c:pt idx="4">
                  <c:v>8.52730763244327</c:v>
                </c:pt>
                <c:pt idx="5">
                  <c:v>7.946691663394501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Almond and other nut flour-based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2.364136658452952</c:v>
                </c:pt>
                <c:pt idx="1">
                  <c:v>2.4911418934407443</c:v>
                </c:pt>
                <c:pt idx="2">
                  <c:v>2.642031912200583</c:v>
                </c:pt>
                <c:pt idx="3">
                  <c:v>2.3958111436955214</c:v>
                </c:pt>
                <c:pt idx="4">
                  <c:v>2.8112865996597907</c:v>
                </c:pt>
                <c:pt idx="5">
                  <c:v>3.062728063073649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Other single-flour bases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3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3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13.981372139751183</c:v>
                </c:pt>
                <c:pt idx="1">
                  <c:v>13.177260372662673</c:v>
                </c:pt>
                <c:pt idx="2">
                  <c:v>12.00827206085381</c:v>
                </c:pt>
                <c:pt idx="3">
                  <c:v>13.394756411248002</c:v>
                </c:pt>
                <c:pt idx="4">
                  <c:v>12.427315879585397</c:v>
                </c:pt>
                <c:pt idx="5">
                  <c:v>13.318808779888942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Multigrain and blended flour bases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4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4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4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4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4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5.855236121285757</c:v>
                </c:pt>
                <c:pt idx="1">
                  <c:v>6.3625765464845925</c:v>
                </c:pt>
                <c:pt idx="2">
                  <c:v>5.628217605917854</c:v>
                </c:pt>
                <c:pt idx="3">
                  <c:v>5.93864922519726</c:v>
                </c:pt>
                <c:pt idx="4">
                  <c:v>5.4114503163085566</c:v>
                </c:pt>
                <c:pt idx="5">
                  <c:v>5.162150580378141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Wheat-based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102.71025982099815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133.4896880733945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2999.45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Oat-based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134.00924223017014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148.73174311926604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3873.455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Rice-based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73.0082838727054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152.1298348623853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2965.449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Corn-based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83.84179268872505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131.55163302752294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2701.376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Millet-based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136.06241881879652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54.64007339449542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1436.74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Almond and other nut flour-based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102.90525707784496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21.720293577981653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488.497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Other single-flour bases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114.3047335642003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96.74245871559633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2296.504</c:v>
                </c:pt>
              </c:numCache>
            </c:numRef>
          </c:bubbleSize>
          <c:bubble3D val="0"/>
        </c:ser>
        <c:ser>
          <c:idx val="7"/>
          <c:order val="7"/>
          <c:tx>
            <c:strRef>
              <c:strCache>
                <c:ptCount val="1"/>
                <c:pt idx="0">
                  <c:v>Multigrain and blended flour bases</c:v>
                </c:pt>
              </c:strCache>
            </c:strRef>
          </c:tx>
          <c:spPr>
            <a:solidFill>
              <a:srgbClr val="A86F0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34.12089990755227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60.9942752293578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984.038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70.0"/>
          <c:min val="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1818.797</c:v>
                </c:pt>
                <c:pt idx="2">
                  <c:v>2008.4930000000002</c:v>
                </c:pt>
                <c:pt idx="3">
                  <c:v>2218.904</c:v>
                </c:pt>
                <c:pt idx="4">
                  <c:v>2452.385</c:v>
                </c:pt>
                <c:pt idx="5">
                  <c:v>2711.585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1818.797</c:v>
                </c:pt>
                <c:pt idx="1">
                  <c:v>189.69600000000014</c:v>
                </c:pt>
                <c:pt idx="2">
                  <c:v>210.41099999999983</c:v>
                </c:pt>
                <c:pt idx="3">
                  <c:v>233.48100000000022</c:v>
                </c:pt>
                <c:pt idx="4">
                  <c:v>259.1999999999998</c:v>
                </c:pt>
                <c:pt idx="5">
                  <c:v>287.8649999999998</c:v>
                </c:pt>
                <c:pt idx="6">
                  <c:v>2999.45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2026.47</c:v>
                </c:pt>
                <c:pt idx="2">
                  <c:v>2311.307</c:v>
                </c:pt>
                <c:pt idx="3">
                  <c:v>2633.321</c:v>
                </c:pt>
                <c:pt idx="4">
                  <c:v>2997.294</c:v>
                </c:pt>
                <c:pt idx="5">
                  <c:v>3408.639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2026.47</c:v>
                </c:pt>
                <c:pt idx="1">
                  <c:v>284.83699999999976</c:v>
                </c:pt>
                <c:pt idx="2">
                  <c:v>322.0140000000001</c:v>
                </c:pt>
                <c:pt idx="3">
                  <c:v>363.97299999999996</c:v>
                </c:pt>
                <c:pt idx="4">
                  <c:v>411.34500000000025</c:v>
                </c:pt>
                <c:pt idx="5">
                  <c:v>464.8159999999998</c:v>
                </c:pt>
                <c:pt idx="6">
                  <c:v>3873.455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2072.769</c:v>
                </c:pt>
                <c:pt idx="2">
                  <c:v>2227.013</c:v>
                </c:pt>
                <c:pt idx="3">
                  <c:v>2392.619</c:v>
                </c:pt>
                <c:pt idx="4">
                  <c:v>2570.35</c:v>
                </c:pt>
                <c:pt idx="5">
                  <c:v>2761.009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2072.769</c:v>
                </c:pt>
                <c:pt idx="1">
                  <c:v>154.24400000000014</c:v>
                </c:pt>
                <c:pt idx="2">
                  <c:v>165.60600000000022</c:v>
                </c:pt>
                <c:pt idx="3">
                  <c:v>177.73099999999977</c:v>
                </c:pt>
                <c:pt idx="4">
                  <c:v>190.6590000000001</c:v>
                </c:pt>
                <c:pt idx="5">
                  <c:v>204.44000000000005</c:v>
                </c:pt>
                <c:pt idx="6">
                  <c:v>2965.449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1792.391</c:v>
                </c:pt>
                <c:pt idx="2">
                  <c:v>1944.444</c:v>
                </c:pt>
                <c:pt idx="3">
                  <c:v>2110.051</c:v>
                </c:pt>
                <c:pt idx="4">
                  <c:v>2290.473</c:v>
                </c:pt>
                <c:pt idx="5">
                  <c:v>2487.077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1792.391</c:v>
                </c:pt>
                <c:pt idx="1">
                  <c:v>152.05299999999988</c:v>
                </c:pt>
                <c:pt idx="2">
                  <c:v>165.60699999999997</c:v>
                </c:pt>
                <c:pt idx="3">
                  <c:v>180.42200000000003</c:v>
                </c:pt>
                <c:pt idx="4">
                  <c:v>196.60400000000027</c:v>
                </c:pt>
                <c:pt idx="5">
                  <c:v>214.29899999999998</c:v>
                </c:pt>
                <c:pt idx="6">
                  <c:v>2701.376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744.471</c:v>
                </c:pt>
                <c:pt idx="2">
                  <c:v>850.785</c:v>
                </c:pt>
                <c:pt idx="3">
                  <c:v>971.199</c:v>
                </c:pt>
                <c:pt idx="4">
                  <c:v>1107.559</c:v>
                </c:pt>
                <c:pt idx="5">
                  <c:v>1261.951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744.471</c:v>
                </c:pt>
                <c:pt idx="1">
                  <c:v>106.31399999999996</c:v>
                </c:pt>
                <c:pt idx="2">
                  <c:v>120.41399999999999</c:v>
                </c:pt>
                <c:pt idx="3">
                  <c:v>136.36</c:v>
                </c:pt>
                <c:pt idx="4">
                  <c:v>154.39200000000005</c:v>
                </c:pt>
                <c:pt idx="5">
                  <c:v>174.789</c:v>
                </c:pt>
                <c:pt idx="6">
                  <c:v>1436.74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295.939</c:v>
                </c:pt>
                <c:pt idx="2">
                  <c:v>326.878</c:v>
                </c:pt>
                <c:pt idx="3">
                  <c:v>361.191</c:v>
                </c:pt>
                <c:pt idx="4">
                  <c:v>399.269</c:v>
                </c:pt>
                <c:pt idx="5">
                  <c:v>441.546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295.939</c:v>
                </c:pt>
                <c:pt idx="1">
                  <c:v>30.938999999999965</c:v>
                </c:pt>
                <c:pt idx="2">
                  <c:v>34.31299999999999</c:v>
                </c:pt>
                <c:pt idx="3">
                  <c:v>38.07800000000003</c:v>
                </c:pt>
                <c:pt idx="4">
                  <c:v>42.27699999999999</c:v>
                </c:pt>
                <c:pt idx="5">
                  <c:v>46.95100000000002</c:v>
                </c:pt>
                <c:pt idx="6">
                  <c:v>488.497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1318.116</c:v>
                </c:pt>
                <c:pt idx="2">
                  <c:v>1472.417</c:v>
                </c:pt>
                <c:pt idx="3">
                  <c:v>1645.032</c:v>
                </c:pt>
                <c:pt idx="4">
                  <c:v>1838.196</c:v>
                </c:pt>
                <c:pt idx="5">
                  <c:v>2054.41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1318.116</c:v>
                </c:pt>
                <c:pt idx="1">
                  <c:v>154.30099999999993</c:v>
                </c:pt>
                <c:pt idx="2">
                  <c:v>172.615</c:v>
                </c:pt>
                <c:pt idx="3">
                  <c:v>193.164</c:v>
                </c:pt>
                <c:pt idx="4">
                  <c:v>216.21399999999994</c:v>
                </c:pt>
                <c:pt idx="5">
                  <c:v>242.09400000000005</c:v>
                </c:pt>
                <c:pt idx="6">
                  <c:v>2296.504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831.047</c:v>
                </c:pt>
                <c:pt idx="2">
                  <c:v>864.719</c:v>
                </c:pt>
                <c:pt idx="3">
                  <c:v>897.45</c:v>
                </c:pt>
                <c:pt idx="4">
                  <c:v>928.702</c:v>
                </c:pt>
                <c:pt idx="5">
                  <c:v>957.824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831.047</c:v>
                </c:pt>
                <c:pt idx="1">
                  <c:v>33.672000000000025</c:v>
                </c:pt>
                <c:pt idx="2">
                  <c:v>32.730999999999995</c:v>
                </c:pt>
                <c:pt idx="3">
                  <c:v>31.251999999999953</c:v>
                </c:pt>
                <c:pt idx="4">
                  <c:v>29.121999999999957</c:v>
                </c:pt>
                <c:pt idx="5">
                  <c:v>26.214000000000055</c:v>
                </c:pt>
                <c:pt idx="6">
                  <c:v>984.038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Oat-based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16.913320259181557</c:v>
                </c:pt>
                <c:pt idx="1">
                  <c:v>18.591467889908255</c:v>
                </c:pt>
                <c:pt idx="2">
                  <c:v>21.82780443209603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Wheat-based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16.580420960153315</c:v>
                </c:pt>
                <c:pt idx="1">
                  <c:v>16.68621100917431</c:v>
                </c:pt>
                <c:pt idx="2">
                  <c:v>16.90258645159178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Rice-based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20.197690243161716</c:v>
                </c:pt>
                <c:pt idx="1">
                  <c:v>19.016229357798164</c:v>
                </c:pt>
                <c:pt idx="2">
                  <c:v>16.710983043653467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Corn-based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17.074786856684057</c:v>
                </c:pt>
                <c:pt idx="1">
                  <c:v>16.443954128440367</c:v>
                </c:pt>
                <c:pt idx="2">
                  <c:v>15.222871319160248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Other single-flour bases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11.66160991636329</c:v>
                </c:pt>
                <c:pt idx="1">
                  <c:v>12.092807339449541</c:v>
                </c:pt>
                <c:pt idx="2">
                  <c:v>12.941325041733096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Millet-based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6.182250413626987</c:v>
                </c:pt>
                <c:pt idx="1">
                  <c:v>6.830009174311927</c:v>
                </c:pt>
                <c:pt idx="2">
                  <c:v>8.096358351851165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Multigrain and blended flour bases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8.693731073661407</c:v>
                </c:pt>
                <c:pt idx="1">
                  <c:v>7.624284403669725</c:v>
                </c:pt>
                <c:pt idx="2">
                  <c:v>5.545279090050334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Almond and other nut flour-based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2.6961902771676782</c:v>
                </c:pt>
                <c:pt idx="1">
                  <c:v>2.7150366972477067</c:v>
                </c:pt>
                <c:pt idx="2">
                  <c:v>2.7527922698638854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Conventional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17.57090623208157</c:v>
                </c:pt>
                <c:pt idx="1">
                  <c:v>16.844287258080364</c:v>
                </c:pt>
                <c:pt idx="2">
                  <c:v>19.96180290635439</c:v>
                </c:pt>
                <c:pt idx="3">
                  <c:v>17.624747713270054</c:v>
                </c:pt>
                <c:pt idx="4">
                  <c:v>19.143416614965457</c:v>
                </c:pt>
                <c:pt idx="5">
                  <c:v>18.19374979685177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Gluten-free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48.347727638202386</c:v>
                </c:pt>
                <c:pt idx="1">
                  <c:v>50.90329763892982</c:v>
                </c:pt>
                <c:pt idx="2">
                  <c:v>45.72915760078426</c:v>
                </c:pt>
                <c:pt idx="3">
                  <c:v>50.66829247847434</c:v>
                </c:pt>
                <c:pt idx="4">
                  <c:v>45.563344083624834</c:v>
                </c:pt>
                <c:pt idx="5">
                  <c:v>47.52706494802955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Vegan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5.074093987203499</c:v>
                </c:pt>
                <c:pt idx="1">
                  <c:v>3.8282738972394146</c:v>
                </c:pt>
                <c:pt idx="2">
                  <c:v>4.943090925075646</c:v>
                </c:pt>
                <c:pt idx="3">
                  <c:v>4.959835045203128</c:v>
                </c:pt>
                <c:pt idx="4">
                  <c:v>4.7425022699418165</c:v>
                </c:pt>
                <c:pt idx="5">
                  <c:v>5.03940235005606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Gluten-free and vegan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29.00727214251255</c:v>
                </c:pt>
                <c:pt idx="1">
                  <c:v>28.424141205750402</c:v>
                </c:pt>
                <c:pt idx="2">
                  <c:v>29.36594856778571</c:v>
                </c:pt>
                <c:pt idx="3">
                  <c:v>26.747124763052476</c:v>
                </c:pt>
                <c:pt idx="4">
                  <c:v>30.55073703146789</c:v>
                </c:pt>
                <c:pt idx="5">
                  <c:v>29.23978290506262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Conventional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123.11944327301727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66.17658715596329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3275.17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Gluten-free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109.08794041952822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181.96033027522935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8428.285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Vegan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43.6809565536532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25.349688073394493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857.169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Gluten-free and vegan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83.40176873790008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126.51339449541284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5184.885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50.0"/>
          <c:min val="2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1803.312</c:v>
                </c:pt>
                <c:pt idx="2">
                  <c:v>2037.598</c:v>
                </c:pt>
                <c:pt idx="3">
                  <c:v>2298.573</c:v>
                </c:pt>
                <c:pt idx="4">
                  <c:v>2589.404</c:v>
                </c:pt>
                <c:pt idx="5">
                  <c:v>2913.618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1803.312</c:v>
                </c:pt>
                <c:pt idx="1">
                  <c:v>234.28600000000006</c:v>
                </c:pt>
                <c:pt idx="2">
                  <c:v>260.9749999999999</c:v>
                </c:pt>
                <c:pt idx="3">
                  <c:v>290.83100000000013</c:v>
                </c:pt>
                <c:pt idx="4">
                  <c:v>324.21399999999994</c:v>
                </c:pt>
                <c:pt idx="5">
                  <c:v>361.55200000000013</c:v>
                </c:pt>
                <c:pt idx="6">
                  <c:v>3275.17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4958.419</c:v>
                </c:pt>
                <c:pt idx="2">
                  <c:v>5515.737</c:v>
                </c:pt>
                <c:pt idx="3">
                  <c:v>6134.021</c:v>
                </c:pt>
                <c:pt idx="4">
                  <c:v>6820.219</c:v>
                </c:pt>
                <c:pt idx="5">
                  <c:v>7582.078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4958.419</c:v>
                </c:pt>
                <c:pt idx="1">
                  <c:v>557.3180000000002</c:v>
                </c:pt>
                <c:pt idx="2">
                  <c:v>618.2839999999997</c:v>
                </c:pt>
                <c:pt idx="3">
                  <c:v>686.1980000000003</c:v>
                </c:pt>
                <c:pt idx="4">
                  <c:v>761.8590000000004</c:v>
                </c:pt>
                <c:pt idx="5">
                  <c:v>846.2069999999994</c:v>
                </c:pt>
                <c:pt idx="6">
                  <c:v>8428.285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690.779</c:v>
                </c:pt>
                <c:pt idx="2">
                  <c:v>720.308</c:v>
                </c:pt>
                <c:pt idx="3">
                  <c:v>751.648</c:v>
                </c:pt>
                <c:pt idx="4">
                  <c:v>784.858</c:v>
                </c:pt>
                <c:pt idx="5">
                  <c:v>820.013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690.779</c:v>
                </c:pt>
                <c:pt idx="1">
                  <c:v>29.528999999999996</c:v>
                </c:pt>
                <c:pt idx="2">
                  <c:v>31.340000000000032</c:v>
                </c:pt>
                <c:pt idx="3">
                  <c:v>33.20999999999992</c:v>
                </c:pt>
                <c:pt idx="4">
                  <c:v>35.155000000000086</c:v>
                </c:pt>
                <c:pt idx="5">
                  <c:v>37.15599999999995</c:v>
                </c:pt>
                <c:pt idx="6">
                  <c:v>857.169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3447.49</c:v>
                </c:pt>
                <c:pt idx="2">
                  <c:v>3732.413</c:v>
                </c:pt>
                <c:pt idx="3">
                  <c:v>4045.525</c:v>
                </c:pt>
                <c:pt idx="4">
                  <c:v>4389.747</c:v>
                </c:pt>
                <c:pt idx="5">
                  <c:v>4768.332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3447.49</c:v>
                </c:pt>
                <c:pt idx="1">
                  <c:v>284.92300000000023</c:v>
                </c:pt>
                <c:pt idx="2">
                  <c:v>313.1120000000001</c:v>
                </c:pt>
                <c:pt idx="3">
                  <c:v>344.2220000000002</c:v>
                </c:pt>
                <c:pt idx="4">
                  <c:v>378.58500000000004</c:v>
                </c:pt>
                <c:pt idx="5">
                  <c:v>416.5529999999999</c:v>
                </c:pt>
                <c:pt idx="6">
                  <c:v>5184.885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(base)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44.225102865232465</c:v>
                </c:pt>
                <c:pt idx="1">
                  <c:v>45.49008256880734</c:v>
                </c:pt>
                <c:pt idx="2">
                  <c:v>47.49531275772365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and vegan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33.139764957068316</c:v>
                </c:pt>
                <c:pt idx="1">
                  <c:v>31.62834862385321</c:v>
                </c:pt>
                <c:pt idx="2">
                  <c:v>29.218012286939754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Conventional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15.353131163580802</c:v>
                </c:pt>
                <c:pt idx="1">
                  <c:v>16.544146788990822</c:v>
                </c:pt>
                <c:pt idx="2">
                  <c:v>18.456331683695293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Vegan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7.282001014118424</c:v>
                </c:pt>
                <c:pt idx="1">
                  <c:v>6.337422018348623</c:v>
                </c:pt>
                <c:pt idx="2">
                  <c:v>4.830343271641292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Standard / indulgent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20.04094945560452</c:v>
                </c:pt>
                <c:pt idx="1">
                  <c:v>18.964731309558896</c:v>
                </c:pt>
                <c:pt idx="2">
                  <c:v>16.131446422236486</c:v>
                </c:pt>
                <c:pt idx="3">
                  <c:v>18.17657024859452</c:v>
                </c:pt>
                <c:pt idx="4">
                  <c:v>19.143772606711988</c:v>
                </c:pt>
                <c:pt idx="5">
                  <c:v>18.49700573522473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Protein-enriched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22.734663446154148</c:v>
                </c:pt>
                <c:pt idx="1">
                  <c:v>23.931492942987198</c:v>
                </c:pt>
                <c:pt idx="2">
                  <c:v>25.542218921566068</c:v>
                </c:pt>
                <c:pt idx="3">
                  <c:v>24.217624877340363</c:v>
                </c:pt>
                <c:pt idx="4">
                  <c:v>21.570311237650795</c:v>
                </c:pt>
                <c:pt idx="5">
                  <c:v>24.465920974125176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Fibre-enriched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4.410066321549874</c:v>
                </c:pt>
                <c:pt idx="1">
                  <c:v>3.2760258047614372</c:v>
                </c:pt>
                <c:pt idx="2">
                  <c:v>4.205302972401871</c:v>
                </c:pt>
                <c:pt idx="3">
                  <c:v>4.731345689099787</c:v>
                </c:pt>
                <c:pt idx="4">
                  <c:v>3.5536876097270387</c:v>
                </c:pt>
                <c:pt idx="5">
                  <c:v>3.89082562055012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Reduced-sugar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19.921154836372736</c:v>
                </c:pt>
                <c:pt idx="1">
                  <c:v>16.57104496184956</c:v>
                </c:pt>
                <c:pt idx="2">
                  <c:v>19.11069602562024</c:v>
                </c:pt>
                <c:pt idx="3">
                  <c:v>19.07328726962565</c:v>
                </c:pt>
                <c:pt idx="4">
                  <c:v>16.919298846566964</c:v>
                </c:pt>
                <c:pt idx="5">
                  <c:v>20.177522596621035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No-added-sugar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7.986849393392535</c:v>
                </c:pt>
                <c:pt idx="1">
                  <c:v>8.816059206863805</c:v>
                </c:pt>
                <c:pt idx="2">
                  <c:v>8.886677979415273</c:v>
                </c:pt>
                <c:pt idx="3">
                  <c:v>8.24523371980931</c:v>
                </c:pt>
                <c:pt idx="4">
                  <c:v>9.288299322607038</c:v>
                </c:pt>
                <c:pt idx="5">
                  <c:v>7.593727455216791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Reduced-fat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3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12.917677137663915</c:v>
                </c:pt>
                <c:pt idx="1">
                  <c:v>14.855290303566168</c:v>
                </c:pt>
                <c:pt idx="2">
                  <c:v>13.475409792610899</c:v>
                </c:pt>
                <c:pt idx="3">
                  <c:v>13.693374024718159</c:v>
                </c:pt>
                <c:pt idx="4">
                  <c:v>16.15615142860477</c:v>
                </c:pt>
                <c:pt idx="5">
                  <c:v>14.002021955326446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Other nutrition-focused formulations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3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3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4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4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11.988639409262278</c:v>
                </c:pt>
                <c:pt idx="1">
                  <c:v>13.585355470412944</c:v>
                </c:pt>
                <c:pt idx="2">
                  <c:v>12.648247886149155</c:v>
                </c:pt>
                <c:pt idx="3">
                  <c:v>11.862564170812211</c:v>
                </c:pt>
                <c:pt idx="4">
                  <c:v>13.36847894813141</c:v>
                </c:pt>
                <c:pt idx="5">
                  <c:v>11.372975662935715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Standard / indulgent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92.73917802414121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133.95116513761468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3280.281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Protein-enriched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124.62612336779469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146.91188990825688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4184.331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Fibre-enriched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148.0187284444254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21.935302752293577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696.977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Reduced-sugar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118.18928963853594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119.71573394495411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3307.933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No-added-sugar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87.55424254938319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62.8347614678899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1501.076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Reduced-fat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94.76374496425942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104.11022935779815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2574.263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Other nutrition-focused formulations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49.80094285914397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110.54091743119263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2200.648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80.0"/>
          <c:min val="2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2085.811</c:v>
                </c:pt>
                <c:pt idx="2">
                  <c:v>2282.78</c:v>
                </c:pt>
                <c:pt idx="3">
                  <c:v>2498.777</c:v>
                </c:pt>
                <c:pt idx="4">
                  <c:v>2735.648</c:v>
                </c:pt>
                <c:pt idx="5">
                  <c:v>2995.408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2085.811</c:v>
                </c:pt>
                <c:pt idx="1">
                  <c:v>196.96900000000005</c:v>
                </c:pt>
                <c:pt idx="2">
                  <c:v>215.99699999999984</c:v>
                </c:pt>
                <c:pt idx="3">
                  <c:v>236.8710000000001</c:v>
                </c:pt>
                <c:pt idx="4">
                  <c:v>259.75999999999976</c:v>
                </c:pt>
                <c:pt idx="5">
                  <c:v>284.87300000000005</c:v>
                </c:pt>
                <c:pt idx="6">
                  <c:v>3280.281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2287.628</c:v>
                </c:pt>
                <c:pt idx="2">
                  <c:v>2578.152</c:v>
                </c:pt>
                <c:pt idx="3">
                  <c:v>2907.291</c:v>
                </c:pt>
                <c:pt idx="4">
                  <c:v>3280.428</c:v>
                </c:pt>
                <c:pt idx="5">
                  <c:v>3703.755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2287.628</c:v>
                </c:pt>
                <c:pt idx="1">
                  <c:v>290.5239999999999</c:v>
                </c:pt>
                <c:pt idx="2">
                  <c:v>329.1390000000001</c:v>
                </c:pt>
                <c:pt idx="3">
                  <c:v>373.1369999999997</c:v>
                </c:pt>
                <c:pt idx="4">
                  <c:v>423.3270000000002</c:v>
                </c:pt>
                <c:pt idx="5">
                  <c:v>480.576</c:v>
                </c:pt>
                <c:pt idx="6">
                  <c:v>4184.331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341.564</c:v>
                </c:pt>
                <c:pt idx="2">
                  <c:v>394.141</c:v>
                </c:pt>
                <c:pt idx="3">
                  <c:v>454.664</c:v>
                </c:pt>
                <c:pt idx="4">
                  <c:v>524.34</c:v>
                </c:pt>
                <c:pt idx="5">
                  <c:v>604.569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341.564</c:v>
                </c:pt>
                <c:pt idx="1">
                  <c:v>52.577</c:v>
                </c:pt>
                <c:pt idx="2">
                  <c:v>60.52299999999997</c:v>
                </c:pt>
                <c:pt idx="3">
                  <c:v>69.67600000000004</c:v>
                </c:pt>
                <c:pt idx="4">
                  <c:v>80.22899999999993</c:v>
                </c:pt>
                <c:pt idx="5">
                  <c:v>92.40800000000002</c:v>
                </c:pt>
                <c:pt idx="6">
                  <c:v>696.977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1864.145</c:v>
                </c:pt>
                <c:pt idx="2">
                  <c:v>2088.042</c:v>
                </c:pt>
                <c:pt idx="3">
                  <c:v>2340.302</c:v>
                </c:pt>
                <c:pt idx="4">
                  <c:v>2624.716</c:v>
                </c:pt>
                <c:pt idx="5">
                  <c:v>2945.613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1864.145</c:v>
                </c:pt>
                <c:pt idx="1">
                  <c:v>223.89699999999993</c:v>
                </c:pt>
                <c:pt idx="2">
                  <c:v>252.26000000000022</c:v>
                </c:pt>
                <c:pt idx="3">
                  <c:v>284.41399999999976</c:v>
                </c:pt>
                <c:pt idx="4">
                  <c:v>320.89699999999993</c:v>
                </c:pt>
                <c:pt idx="5">
                  <c:v>362.32000000000016</c:v>
                </c:pt>
                <c:pt idx="6">
                  <c:v>3307.933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978.427</c:v>
                </c:pt>
                <c:pt idx="2">
                  <c:v>1066.03</c:v>
                </c:pt>
                <c:pt idx="3">
                  <c:v>1161.421</c:v>
                </c:pt>
                <c:pt idx="4">
                  <c:v>1265.256</c:v>
                </c:pt>
                <c:pt idx="5">
                  <c:v>1378.23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978.427</c:v>
                </c:pt>
                <c:pt idx="1">
                  <c:v>87.60299999999995</c:v>
                </c:pt>
                <c:pt idx="2">
                  <c:v>95.39100000000008</c:v>
                </c:pt>
                <c:pt idx="3">
                  <c:v>103.83500000000004</c:v>
                </c:pt>
                <c:pt idx="4">
                  <c:v>112.97399999999993</c:v>
                </c:pt>
                <c:pt idx="5">
                  <c:v>122.846</c:v>
                </c:pt>
                <c:pt idx="6">
                  <c:v>1501.076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1621.145</c:v>
                </c:pt>
                <c:pt idx="2">
                  <c:v>1777.388</c:v>
                </c:pt>
                <c:pt idx="3">
                  <c:v>1949.163</c:v>
                </c:pt>
                <c:pt idx="4">
                  <c:v>2138.053</c:v>
                </c:pt>
                <c:pt idx="5">
                  <c:v>2345.778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1621.145</c:v>
                </c:pt>
                <c:pt idx="1">
                  <c:v>156.24299999999994</c:v>
                </c:pt>
                <c:pt idx="2">
                  <c:v>171.7750000000001</c:v>
                </c:pt>
                <c:pt idx="3">
                  <c:v>188.88999999999987</c:v>
                </c:pt>
                <c:pt idx="4">
                  <c:v>207.7249999999999</c:v>
                </c:pt>
                <c:pt idx="5">
                  <c:v>228.48500000000013</c:v>
                </c:pt>
                <c:pt idx="6">
                  <c:v>2574.263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1721.28</c:v>
                </c:pt>
                <c:pt idx="2">
                  <c:v>1819.523</c:v>
                </c:pt>
                <c:pt idx="3">
                  <c:v>1918.149</c:v>
                </c:pt>
                <c:pt idx="4">
                  <c:v>2015.787</c:v>
                </c:pt>
                <c:pt idx="5">
                  <c:v>2110.688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1721.28</c:v>
                </c:pt>
                <c:pt idx="1">
                  <c:v>98.24299999999994</c:v>
                </c:pt>
                <c:pt idx="2">
                  <c:v>98.62599999999998</c:v>
                </c:pt>
                <c:pt idx="3">
                  <c:v>97.63800000000015</c:v>
                </c:pt>
                <c:pt idx="4">
                  <c:v>94.90100000000007</c:v>
                </c:pt>
                <c:pt idx="5">
                  <c:v>89.96000000000004</c:v>
                </c:pt>
                <c:pt idx="6">
                  <c:v>2200.648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Protein-enriched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19.83386010777309</c:v>
                </c:pt>
                <c:pt idx="1">
                  <c:v>20.987412844036697</c:v>
                </c:pt>
                <c:pt idx="2">
                  <c:v>23.579661761181377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Reduced-sugar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16.41477937312757</c:v>
                </c:pt>
                <c:pt idx="1">
                  <c:v>17.10224770642202</c:v>
                </c:pt>
                <c:pt idx="2">
                  <c:v>18.64095867861553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Standard / indulgent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19.426417044192714</c:v>
                </c:pt>
                <c:pt idx="1">
                  <c:v>19.135880733944955</c:v>
                </c:pt>
                <c:pt idx="2">
                  <c:v>18.485133337116448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Reduced-fat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15.036033975436247</c:v>
                </c:pt>
                <c:pt idx="1">
                  <c:v>14.87288990825688</c:v>
                </c:pt>
                <c:pt idx="2">
                  <c:v>14.506560504970581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Other nutrition-focused formulations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17.30235745497128</c:v>
                </c:pt>
                <c:pt idx="1">
                  <c:v>15.791559633027521</c:v>
                </c:pt>
                <c:pt idx="2">
                  <c:v>12.401154568178347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No-added-sugar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9.20745680064268</c:v>
                </c:pt>
                <c:pt idx="1">
                  <c:v>8.976394495412844</c:v>
                </c:pt>
                <c:pt idx="2">
                  <c:v>8.458906419646796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Fibre-enriched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2.7790952438564243</c:v>
                </c:pt>
                <c:pt idx="1">
                  <c:v>3.1336146788990824</c:v>
                </c:pt>
                <c:pt idx="2">
                  <c:v>3.927624730290914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Organic-certified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16.099665874533205</c:v>
                </c:pt>
                <c:pt idx="1">
                  <c:v>16.90428005370534</c:v>
                </c:pt>
                <c:pt idx="2">
                  <c:v>17.952899086954275</c:v>
                </c:pt>
                <c:pt idx="3">
                  <c:v>16.050729130794167</c:v>
                </c:pt>
                <c:pt idx="4">
                  <c:v>15.606163957536515</c:v>
                </c:pt>
                <c:pt idx="5">
                  <c:v>13.679730794506648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Conventional / non-organic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1.5092497689385138</c:v>
                </c:pt>
                <c:pt idx="1">
                  <c:v>1.5781510953924747</c:v>
                </c:pt>
                <c:pt idx="2">
                  <c:v>1.2939563680156994</c:v>
                </c:pt>
                <c:pt idx="3">
                  <c:v>1.724213174347144</c:v>
                </c:pt>
                <c:pt idx="4">
                  <c:v>1.6913761197176513</c:v>
                </c:pt>
                <c:pt idx="5">
                  <c:v>1.510376718073598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Additional claim mapping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82.39108435652828</c:v>
                </c:pt>
                <c:pt idx="1">
                  <c:v>81.51756885090218</c:v>
                </c:pt>
                <c:pt idx="2">
                  <c:v>80.75314454503003</c:v>
                </c:pt>
                <c:pt idx="3">
                  <c:v>82.22505769485868</c:v>
                </c:pt>
                <c:pt idx="4">
                  <c:v>82.70245992274585</c:v>
                </c:pt>
                <c:pt idx="5">
                  <c:v>84.80989248741975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Organic-certified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67.96817505042651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54.31593577981651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2755.571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Conventional / non-organic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61.66954799273161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5.654311926605505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278.247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Additional claim mapping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107.4824484430546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240.02975229357796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14711.691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20.0"/>
          <c:min val="5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3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1973.479</c:v>
                </c:pt>
                <c:pt idx="2">
                  <c:v>2113.133</c:v>
                </c:pt>
                <c:pt idx="3">
                  <c:v>2261.044</c:v>
                </c:pt>
                <c:pt idx="4">
                  <c:v>2417.372</c:v>
                </c:pt>
                <c:pt idx="5">
                  <c:v>2582.224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1973.479</c:v>
                </c:pt>
                <c:pt idx="1">
                  <c:v>139.65399999999977</c:v>
                </c:pt>
                <c:pt idx="2">
                  <c:v>147.91100000000006</c:v>
                </c:pt>
                <c:pt idx="3">
                  <c:v>156.32799999999997</c:v>
                </c:pt>
                <c:pt idx="4">
                  <c:v>164.85200000000032</c:v>
                </c:pt>
                <c:pt idx="5">
                  <c:v>173.34699999999975</c:v>
                </c:pt>
                <c:pt idx="6">
                  <c:v>2755.571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205.44</c:v>
                </c:pt>
                <c:pt idx="2">
                  <c:v>218.855</c:v>
                </c:pt>
                <c:pt idx="3">
                  <c:v>232.88</c:v>
                </c:pt>
                <c:pt idx="4">
                  <c:v>247.48</c:v>
                </c:pt>
                <c:pt idx="5">
                  <c:v>262.629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205.44</c:v>
                </c:pt>
                <c:pt idx="1">
                  <c:v>13.414999999999992</c:v>
                </c:pt>
                <c:pt idx="2">
                  <c:v>14.025000000000006</c:v>
                </c:pt>
                <c:pt idx="3">
                  <c:v>14.599999999999994</c:v>
                </c:pt>
                <c:pt idx="4">
                  <c:v>15.14900000000003</c:v>
                </c:pt>
                <c:pt idx="5">
                  <c:v>15.617999999999995</c:v>
                </c:pt>
                <c:pt idx="6">
                  <c:v>278.247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8721.081</c:v>
                </c:pt>
                <c:pt idx="2">
                  <c:v>9674.068</c:v>
                </c:pt>
                <c:pt idx="3">
                  <c:v>10735.843</c:v>
                </c:pt>
                <c:pt idx="4">
                  <c:v>11919.376</c:v>
                </c:pt>
                <c:pt idx="5">
                  <c:v>13239.188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8721.081</c:v>
                </c:pt>
                <c:pt idx="1">
                  <c:v>952.9869999999992</c:v>
                </c:pt>
                <c:pt idx="2">
                  <c:v>1061.7750000000015</c:v>
                </c:pt>
                <c:pt idx="3">
                  <c:v>1183.5329999999994</c:v>
                </c:pt>
                <c:pt idx="4">
                  <c:v>1319.812</c:v>
                </c:pt>
                <c:pt idx="5">
                  <c:v>1472.5030000000006</c:v>
                </c:pt>
                <c:pt idx="6">
                  <c:v>14711.691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Additional claim mapping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78.61890224262032</c:v>
                </c:pt>
                <c:pt idx="1">
                  <c:v>80.00991743119266</c:v>
                </c:pt>
                <c:pt idx="2">
                  <c:v>82.90374201157036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Organic-certified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19.3445670479749</c:v>
                </c:pt>
                <c:pt idx="1">
                  <c:v>18.105311926605506</c:v>
                </c:pt>
                <c:pt idx="2">
                  <c:v>15.528272533630902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Conventional / non-organic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2.0365307094047926</c:v>
                </c:pt>
                <c:pt idx="1">
                  <c:v>1.8847706422018349</c:v>
                </c:pt>
                <c:pt idx="2">
                  <c:v>1.5679854547987322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Unfilled muffins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36.21898943695717</c:v>
                </c:pt>
                <c:pt idx="1">
                  <c:v>35.53453187935946</c:v>
                </c:pt>
                <c:pt idx="2">
                  <c:v>37.44905618365706</c:v>
                </c:pt>
                <c:pt idx="3">
                  <c:v>38.515147573964136</c:v>
                </c:pt>
                <c:pt idx="4">
                  <c:v>37.10683925410236</c:v>
                </c:pt>
                <c:pt idx="5">
                  <c:v>35.655101196771895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Filled muffins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63.78101056304284</c:v>
                </c:pt>
                <c:pt idx="1">
                  <c:v>64.46546812064054</c:v>
                </c:pt>
                <c:pt idx="2">
                  <c:v>62.55094381634293</c:v>
                </c:pt>
                <c:pt idx="3">
                  <c:v>61.48485242603585</c:v>
                </c:pt>
                <c:pt idx="4">
                  <c:v>62.89316074589764</c:v>
                </c:pt>
                <c:pt idx="5">
                  <c:v>64.34489880322812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Unfilled muffins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95.19421257435849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75.09787155963302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6512.483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Filled muffins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102.84259429822207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124.90212844036697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11233.026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40.0"/>
          <c:min val="6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4092.834</c:v>
                </c:pt>
                <c:pt idx="2">
                  <c:v>4488.3060000000005</c:v>
                </c:pt>
                <c:pt idx="3">
                  <c:v>4923.603</c:v>
                </c:pt>
                <c:pt idx="4">
                  <c:v>5402.9</c:v>
                </c:pt>
                <c:pt idx="5">
                  <c:v>5930.817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4092.834</c:v>
                </c:pt>
                <c:pt idx="1">
                  <c:v>395.47200000000066</c:v>
                </c:pt>
                <c:pt idx="2">
                  <c:v>435.29699999999957</c:v>
                </c:pt>
                <c:pt idx="3">
                  <c:v>479.29699999999957</c:v>
                </c:pt>
                <c:pt idx="4">
                  <c:v>527.9170000000004</c:v>
                </c:pt>
                <c:pt idx="5">
                  <c:v>581.6660000000002</c:v>
                </c:pt>
                <c:pt idx="6">
                  <c:v>6512.483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6807.166</c:v>
                </c:pt>
                <c:pt idx="2">
                  <c:v>7517.75</c:v>
                </c:pt>
                <c:pt idx="3">
                  <c:v>8306.164</c:v>
                </c:pt>
                <c:pt idx="4">
                  <c:v>9181.328</c:v>
                </c:pt>
                <c:pt idx="5">
                  <c:v>10153.224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6807.166</c:v>
                </c:pt>
                <c:pt idx="1">
                  <c:v>710.5839999999998</c:v>
                </c:pt>
                <c:pt idx="2">
                  <c:v>788.4140000000007</c:v>
                </c:pt>
                <c:pt idx="3">
                  <c:v>875.1639999999989</c:v>
                </c:pt>
                <c:pt idx="4">
                  <c:v>971.8960000000006</c:v>
                </c:pt>
                <c:pt idx="5">
                  <c:v>1079.8019999999997</c:v>
                </c:pt>
                <c:pt idx="6">
                  <c:v>11233.026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Filled muffins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62.04832393249895</c:v>
                </c:pt>
                <c:pt idx="1">
                  <c:v>62.45106422018348</c:v>
                </c:pt>
                <c:pt idx="2">
                  <c:v>63.30066948206445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Unfilled muffins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37.95167606750105</c:v>
                </c:pt>
                <c:pt idx="1">
                  <c:v>37.54893577981651</c:v>
                </c:pt>
                <c:pt idx="2">
                  <c:v>36.69933051793556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Untopped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7.364567106915276</c:v>
                </c:pt>
                <c:pt idx="1">
                  <c:v>6.594491927825262</c:v>
                </c:pt>
                <c:pt idx="2">
                  <c:v>8.24975049955313</c:v>
                </c:pt>
                <c:pt idx="3">
                  <c:v>7.566160588092195</c:v>
                </c:pt>
                <c:pt idx="4">
                  <c:v>6.352850712685589</c:v>
                </c:pt>
                <c:pt idx="5">
                  <c:v>6.9924087009833675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Crumb / streusel-topped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4.417944340577321</c:v>
                </c:pt>
                <c:pt idx="1">
                  <c:v>4.618593836984642</c:v>
                </c:pt>
                <c:pt idx="2">
                  <c:v>5.654459883994993</c:v>
                </c:pt>
                <c:pt idx="3">
                  <c:v>4.93127387569021</c:v>
                </c:pt>
                <c:pt idx="4">
                  <c:v>4.330046276949317</c:v>
                </c:pt>
                <c:pt idx="5">
                  <c:v>5.54143532675762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Sugar-topped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8.452545899612922</c:v>
                </c:pt>
                <c:pt idx="1">
                  <c:v>8.870812457019353</c:v>
                </c:pt>
                <c:pt idx="2">
                  <c:v>9.310972320581676</c:v>
                </c:pt>
                <c:pt idx="3">
                  <c:v>7.830124558673759</c:v>
                </c:pt>
                <c:pt idx="4">
                  <c:v>8.268303859524075</c:v>
                </c:pt>
                <c:pt idx="5">
                  <c:v>8.891709198589115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Nut and seed-topped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34.79802221114066</c:v>
                </c:pt>
                <c:pt idx="1">
                  <c:v>42.820381831876084</c:v>
                </c:pt>
                <c:pt idx="2">
                  <c:v>37.27618407235093</c:v>
                </c:pt>
                <c:pt idx="3">
                  <c:v>36.57290162902368</c:v>
                </c:pt>
                <c:pt idx="4">
                  <c:v>41.751542680344926</c:v>
                </c:pt>
                <c:pt idx="5">
                  <c:v>36.834145490370865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Glazed / drizzled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34.58141729623138</c:v>
                </c:pt>
                <c:pt idx="1">
                  <c:v>26.12005108556833</c:v>
                </c:pt>
                <c:pt idx="2">
                  <c:v>27.695897059583668</c:v>
                </c:pt>
                <c:pt idx="3">
                  <c:v>31.088595365140076</c:v>
                </c:pt>
                <c:pt idx="4">
                  <c:v>28.802224236432316</c:v>
                </c:pt>
                <c:pt idx="5">
                  <c:v>32.12962482118286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Other toppings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3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10.385503145522442</c:v>
                </c:pt>
                <c:pt idx="1">
                  <c:v>10.975668860726334</c:v>
                </c:pt>
                <c:pt idx="2">
                  <c:v>11.8127361639356</c:v>
                </c:pt>
                <c:pt idx="3">
                  <c:v>12.010943983380077</c:v>
                </c:pt>
                <c:pt idx="4">
                  <c:v>10.495032234063782</c:v>
                </c:pt>
                <c:pt idx="5">
                  <c:v>9.61067646211617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Untopped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39.759596871487105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56.46814678899082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1248.746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Crumb / streusel-topped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46.15050211182437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38.68398165137615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882.618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Sugar-topped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48.945491448183375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65.9574495412844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1525.553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Nut and seed-topped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125.76702715783321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205.20302752293577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6855.335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Glazed / drizzled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103.94122561523156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177.4447155963303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5347.302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Other toppings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126.56116117411077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56.24267889908256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1885.955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50.0"/>
          <c:min val="1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1025.838</c:v>
                </c:pt>
                <c:pt idx="2">
                  <c:v>1071.744</c:v>
                </c:pt>
                <c:pt idx="3">
                  <c:v>1117.518</c:v>
                </c:pt>
                <c:pt idx="4">
                  <c:v>1162.677</c:v>
                </c:pt>
                <c:pt idx="5">
                  <c:v>1206.649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1025.838</c:v>
                </c:pt>
                <c:pt idx="1">
                  <c:v>45.90599999999995</c:v>
                </c:pt>
                <c:pt idx="2">
                  <c:v>45.774000000000115</c:v>
                </c:pt>
                <c:pt idx="3">
                  <c:v>45.15899999999988</c:v>
                </c:pt>
                <c:pt idx="4">
                  <c:v>43.97199999999998</c:v>
                </c:pt>
                <c:pt idx="5">
                  <c:v>42.09700000000021</c:v>
                </c:pt>
                <c:pt idx="6">
                  <c:v>1248.746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702.759</c:v>
                </c:pt>
                <c:pt idx="2">
                  <c:v>737.861</c:v>
                </c:pt>
                <c:pt idx="3">
                  <c:v>773.626</c:v>
                </c:pt>
                <c:pt idx="4">
                  <c:v>809.846</c:v>
                </c:pt>
                <c:pt idx="5">
                  <c:v>846.279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702.759</c:v>
                </c:pt>
                <c:pt idx="1">
                  <c:v>35.101999999999975</c:v>
                </c:pt>
                <c:pt idx="2">
                  <c:v>35.764999999999986</c:v>
                </c:pt>
                <c:pt idx="3">
                  <c:v>36.22000000000003</c:v>
                </c:pt>
                <c:pt idx="4">
                  <c:v>36.43299999999999</c:v>
                </c:pt>
                <c:pt idx="5">
                  <c:v>36.339000000000055</c:v>
                </c:pt>
                <c:pt idx="6">
                  <c:v>882.618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1198.227</c:v>
                </c:pt>
                <c:pt idx="2">
                  <c:v>1260.926</c:v>
                </c:pt>
                <c:pt idx="3">
                  <c:v>1325.309</c:v>
                </c:pt>
                <c:pt idx="4">
                  <c:v>1391.114</c:v>
                </c:pt>
                <c:pt idx="5">
                  <c:v>1457.998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1198.227</c:v>
                </c:pt>
                <c:pt idx="1">
                  <c:v>62.69899999999984</c:v>
                </c:pt>
                <c:pt idx="2">
                  <c:v>64.38300000000004</c:v>
                </c:pt>
                <c:pt idx="3">
                  <c:v>65.80500000000006</c:v>
                </c:pt>
                <c:pt idx="4">
                  <c:v>66.88400000000001</c:v>
                </c:pt>
                <c:pt idx="5">
                  <c:v>67.55500000000006</c:v>
                </c:pt>
                <c:pt idx="6">
                  <c:v>1525.553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3727.855</c:v>
                </c:pt>
                <c:pt idx="2">
                  <c:v>4214.889</c:v>
                </c:pt>
                <c:pt idx="3">
                  <c:v>4763.015</c:v>
                </c:pt>
                <c:pt idx="4">
                  <c:v>5379.885</c:v>
                </c:pt>
                <c:pt idx="5">
                  <c:v>6074.101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3727.855</c:v>
                </c:pt>
                <c:pt idx="1">
                  <c:v>487.0340000000001</c:v>
                </c:pt>
                <c:pt idx="2">
                  <c:v>548.1260000000002</c:v>
                </c:pt>
                <c:pt idx="3">
                  <c:v>616.8699999999999</c:v>
                </c:pt>
                <c:pt idx="4">
                  <c:v>694.2159999999994</c:v>
                </c:pt>
                <c:pt idx="5">
                  <c:v>781.2340000000004</c:v>
                </c:pt>
                <c:pt idx="6">
                  <c:v>6855.335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3223.579</c:v>
                </c:pt>
                <c:pt idx="2">
                  <c:v>3564.559</c:v>
                </c:pt>
                <c:pt idx="3">
                  <c:v>3942.917</c:v>
                </c:pt>
                <c:pt idx="4">
                  <c:v>4362.897</c:v>
                </c:pt>
                <c:pt idx="5">
                  <c:v>4829.254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3223.579</c:v>
                </c:pt>
                <c:pt idx="1">
                  <c:v>340.98</c:v>
                </c:pt>
                <c:pt idx="2">
                  <c:v>378.3579999999997</c:v>
                </c:pt>
                <c:pt idx="3">
                  <c:v>419.98</c:v>
                </c:pt>
                <c:pt idx="4">
                  <c:v>466.35699999999997</c:v>
                </c:pt>
                <c:pt idx="5">
                  <c:v>518.0479999999998</c:v>
                </c:pt>
                <c:pt idx="6">
                  <c:v>5347.302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1021.742</c:v>
                </c:pt>
                <c:pt idx="2">
                  <c:v>1156.077</c:v>
                </c:pt>
                <c:pt idx="3">
                  <c:v>1307.382</c:v>
                </c:pt>
                <c:pt idx="4">
                  <c:v>1477.809</c:v>
                </c:pt>
                <c:pt idx="5">
                  <c:v>1669.76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1021.742</c:v>
                </c:pt>
                <c:pt idx="1">
                  <c:v>134.33500000000004</c:v>
                </c:pt>
                <c:pt idx="2">
                  <c:v>151.30500000000006</c:v>
                </c:pt>
                <c:pt idx="3">
                  <c:v>170.4269999999999</c:v>
                </c:pt>
                <c:pt idx="4">
                  <c:v>191.95100000000002</c:v>
                </c:pt>
                <c:pt idx="5">
                  <c:v>216.19499999999994</c:v>
                </c:pt>
                <c:pt idx="6">
                  <c:v>1885.955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Nut and seed-topped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31.89185834395225</c:v>
                </c:pt>
                <c:pt idx="1">
                  <c:v>34.20050458715596</c:v>
                </c:pt>
                <c:pt idx="2">
                  <c:v>38.63137991702577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Glazed / drizzled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29.276867123775652</c:v>
                </c:pt>
                <c:pt idx="1">
                  <c:v>29.57411926605505</c:v>
                </c:pt>
                <c:pt idx="2">
                  <c:v>30.1332692119454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Other toppings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8.725402633969466</c:v>
                </c:pt>
                <c:pt idx="1">
                  <c:v>9.37377981651376</c:v>
                </c:pt>
                <c:pt idx="2">
                  <c:v>10.627787571492032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Sugar-topped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12.244548440091481</c:v>
                </c:pt>
                <c:pt idx="1">
                  <c:v>10.992908256880735</c:v>
                </c:pt>
                <c:pt idx="2">
                  <c:v>8.596839910311957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Untopped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10.64455104384839</c:v>
                </c:pt>
                <c:pt idx="1">
                  <c:v>9.411357798165138</c:v>
                </c:pt>
                <c:pt idx="2">
                  <c:v>7.036969184710341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Crumb / streusel-topped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7.216772414362772</c:v>
                </c:pt>
                <c:pt idx="1">
                  <c:v>6.447330275229358</c:v>
                </c:pt>
                <c:pt idx="2">
                  <c:v>4.973754204514506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Mini / bite-sized - below 30 g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7.776335730308609</c:v>
                </c:pt>
                <c:pt idx="1">
                  <c:v>7.4360284245341735</c:v>
                </c:pt>
                <c:pt idx="2">
                  <c:v>8.421120527602326</c:v>
                </c:pt>
                <c:pt idx="3">
                  <c:v>7.138175135708763</c:v>
                </c:pt>
                <c:pt idx="4">
                  <c:v>7.328386762090913</c:v>
                </c:pt>
                <c:pt idx="5">
                  <c:v>5.920346467200948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Small - 30 g to below 60 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23.245678865955107</c:v>
                </c:pt>
                <c:pt idx="1">
                  <c:v>26.295444870157514</c:v>
                </c:pt>
                <c:pt idx="2">
                  <c:v>24.361846555126675</c:v>
                </c:pt>
                <c:pt idx="3">
                  <c:v>21.657187325408508</c:v>
                </c:pt>
                <c:pt idx="4">
                  <c:v>24.036641834923856</c:v>
                </c:pt>
                <c:pt idx="5">
                  <c:v>22.23739892558405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Standard - 60 g to below 100 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40.892928787581</c:v>
                </c:pt>
                <c:pt idx="1">
                  <c:v>42.23152241543047</c:v>
                </c:pt>
                <c:pt idx="2">
                  <c:v>39.771807045919125</c:v>
                </c:pt>
                <c:pt idx="3">
                  <c:v>42.50649539759006</c:v>
                </c:pt>
                <c:pt idx="4">
                  <c:v>42.50403012323049</c:v>
                </c:pt>
                <c:pt idx="5">
                  <c:v>44.29238475284286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Large / jumbo - 100 g and above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28.085056616155303</c:v>
                </c:pt>
                <c:pt idx="1">
                  <c:v>24.037004289877856</c:v>
                </c:pt>
                <c:pt idx="2">
                  <c:v>27.44522587135187</c:v>
                </c:pt>
                <c:pt idx="3">
                  <c:v>28.698142141292664</c:v>
                </c:pt>
                <c:pt idx="4">
                  <c:v>26.130941279754726</c:v>
                </c:pt>
                <c:pt idx="5">
                  <c:v>27.54986985437214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Mini / bite-sized - below 30 g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135.79403545366864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23.847999999999995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1252.575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Small - 30 g to below 60 g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58.7513888589663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113.94040366972476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4146.149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Standard - 60 g to below 100 g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99.89370300994264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170.32649541284403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7552.506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Large / jumbo - 100 g and above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134.37984596113145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91.88510091743119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4794.279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60.0"/>
          <c:min val="3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649.858</c:v>
                </c:pt>
                <c:pt idx="2">
                  <c:v>740.886</c:v>
                </c:pt>
                <c:pt idx="3">
                  <c:v>844.705</c:v>
                </c:pt>
                <c:pt idx="4">
                  <c:v>963.141</c:v>
                </c:pt>
                <c:pt idx="5">
                  <c:v>1098.301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649.858</c:v>
                </c:pt>
                <c:pt idx="1">
                  <c:v>91.02800000000002</c:v>
                </c:pt>
                <c:pt idx="2">
                  <c:v>103.81900000000007</c:v>
                </c:pt>
                <c:pt idx="3">
                  <c:v>118.43599999999992</c:v>
                </c:pt>
                <c:pt idx="4">
                  <c:v>135.15999999999997</c:v>
                </c:pt>
                <c:pt idx="5">
                  <c:v>154.27400000000011</c:v>
                </c:pt>
                <c:pt idx="6">
                  <c:v>1252.575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3104.876</c:v>
                </c:pt>
                <c:pt idx="2">
                  <c:v>3302.679</c:v>
                </c:pt>
                <c:pt idx="3">
                  <c:v>3507.061</c:v>
                </c:pt>
                <c:pt idx="4">
                  <c:v>3716.877</c:v>
                </c:pt>
                <c:pt idx="5">
                  <c:v>3930.58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3104.876</c:v>
                </c:pt>
                <c:pt idx="1">
                  <c:v>197.80299999999988</c:v>
                </c:pt>
                <c:pt idx="2">
                  <c:v>204.38200000000006</c:v>
                </c:pt>
                <c:pt idx="3">
                  <c:v>209.8159999999998</c:v>
                </c:pt>
                <c:pt idx="4">
                  <c:v>213.70299999999997</c:v>
                </c:pt>
                <c:pt idx="5">
                  <c:v>215.56900000000041</c:v>
                </c:pt>
                <c:pt idx="6">
                  <c:v>4146.149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4641.397</c:v>
                </c:pt>
                <c:pt idx="2">
                  <c:v>5111.906</c:v>
                </c:pt>
                <c:pt idx="3">
                  <c:v>5632.394</c:v>
                </c:pt>
                <c:pt idx="4">
                  <c:v>6208.411</c:v>
                </c:pt>
                <c:pt idx="5">
                  <c:v>6846.14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4641.397</c:v>
                </c:pt>
                <c:pt idx="1">
                  <c:v>470.509</c:v>
                </c:pt>
                <c:pt idx="2">
                  <c:v>520.4880000000003</c:v>
                </c:pt>
                <c:pt idx="3">
                  <c:v>576.0169999999998</c:v>
                </c:pt>
                <c:pt idx="4">
                  <c:v>637.7290000000003</c:v>
                </c:pt>
                <c:pt idx="5">
                  <c:v>706.366</c:v>
                </c:pt>
                <c:pt idx="6">
                  <c:v>7552.506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2503.869</c:v>
                </c:pt>
                <c:pt idx="2">
                  <c:v>2850.585</c:v>
                </c:pt>
                <c:pt idx="3">
                  <c:v>3245.607</c:v>
                </c:pt>
                <c:pt idx="4">
                  <c:v>3695.799</c:v>
                </c:pt>
                <c:pt idx="5">
                  <c:v>4209.02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2503.869</c:v>
                </c:pt>
                <c:pt idx="1">
                  <c:v>346.7159999999999</c:v>
                </c:pt>
                <c:pt idx="2">
                  <c:v>395.02199999999993</c:v>
                </c:pt>
                <c:pt idx="3">
                  <c:v>450.192</c:v>
                </c:pt>
                <c:pt idx="4">
                  <c:v>513.2210000000005</c:v>
                </c:pt>
                <c:pt idx="5">
                  <c:v>585.259</c:v>
                </c:pt>
                <c:pt idx="6">
                  <c:v>4794.279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Standard - 60 g to below 100 g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42.590179212547596</c:v>
                </c:pt>
                <c:pt idx="1">
                  <c:v>42.581623853211006</c:v>
                </c:pt>
                <c:pt idx="2">
                  <c:v>42.56009788166685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Large / jumbo - 100 g and above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21.117366362737904</c:v>
                </c:pt>
                <c:pt idx="1">
                  <c:v>22.971275229357797</c:v>
                </c:pt>
                <c:pt idx="2">
                  <c:v>27.01685818085015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Small - 30 g to below 60 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30.83187115174269</c:v>
                </c:pt>
                <c:pt idx="1">
                  <c:v>28.485100917431193</c:v>
                </c:pt>
                <c:pt idx="2">
                  <c:v>23.36449746242838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Mini / bite-sized - below 30 g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5.460583272971814</c:v>
                </c:pt>
                <c:pt idx="1">
                  <c:v>5.961999999999999</c:v>
                </c:pt>
                <c:pt idx="2">
                  <c:v>7.0585464750546185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Ambient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14.390947912487393</c:v>
                </c:pt>
                <c:pt idx="1">
                  <c:v>17.925663948652453</c:v>
                </c:pt>
                <c:pt idx="2">
                  <c:v>15.654049020045303</c:v>
                </c:pt>
                <c:pt idx="3">
                  <c:v>14.710298570083536</c:v>
                </c:pt>
                <c:pt idx="4">
                  <c:v>15.055840272040982</c:v>
                </c:pt>
                <c:pt idx="5">
                  <c:v>11.387378171774294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Chilled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36.451431606612346</c:v>
                </c:pt>
                <c:pt idx="1">
                  <c:v>31.070373645086292</c:v>
                </c:pt>
                <c:pt idx="2">
                  <c:v>31.474564208095078</c:v>
                </c:pt>
                <c:pt idx="3">
                  <c:v>36.81055129970605</c:v>
                </c:pt>
                <c:pt idx="4">
                  <c:v>34.418508248229884</c:v>
                </c:pt>
                <c:pt idx="5">
                  <c:v>37.6850703705461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Frozen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49.15762048090027</c:v>
                </c:pt>
                <c:pt idx="1">
                  <c:v>51.00396240626126</c:v>
                </c:pt>
                <c:pt idx="2">
                  <c:v>52.87138677185962</c:v>
                </c:pt>
                <c:pt idx="3">
                  <c:v>48.479150130210414</c:v>
                </c:pt>
                <c:pt idx="4">
                  <c:v>50.52565147972914</c:v>
                </c:pt>
                <c:pt idx="5">
                  <c:v>50.9275514576796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Ambient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130.82600194522095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36.78024770642202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2516.529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Chilled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125.43612358252747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93.61588073394496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6245.239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Frozen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76.91912402326028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169.60387155963303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8983.741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45.0"/>
          <c:min val="6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1336.349</c:v>
                </c:pt>
                <c:pt idx="2">
                  <c:v>1516.529</c:v>
                </c:pt>
                <c:pt idx="3">
                  <c:v>1721.055</c:v>
                </c:pt>
                <c:pt idx="4">
                  <c:v>1953.269</c:v>
                </c:pt>
                <c:pt idx="5">
                  <c:v>2216.983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1336.349</c:v>
                </c:pt>
                <c:pt idx="1">
                  <c:v>180.18000000000006</c:v>
                </c:pt>
                <c:pt idx="2">
                  <c:v>204.52600000000007</c:v>
                </c:pt>
                <c:pt idx="3">
                  <c:v>232.21399999999994</c:v>
                </c:pt>
                <c:pt idx="4">
                  <c:v>263.71400000000017</c:v>
                </c:pt>
                <c:pt idx="5">
                  <c:v>299.5459999999998</c:v>
                </c:pt>
                <c:pt idx="6">
                  <c:v>2516.529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3401.377</c:v>
                </c:pt>
                <c:pt idx="2">
                  <c:v>3839.543</c:v>
                </c:pt>
                <c:pt idx="3">
                  <c:v>4334.853</c:v>
                </c:pt>
                <c:pt idx="4">
                  <c:v>4894.937</c:v>
                </c:pt>
                <c:pt idx="5">
                  <c:v>5528.448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3401.377</c:v>
                </c:pt>
                <c:pt idx="1">
                  <c:v>438.16600000000017</c:v>
                </c:pt>
                <c:pt idx="2">
                  <c:v>495.30999999999995</c:v>
                </c:pt>
                <c:pt idx="3">
                  <c:v>560.0839999999998</c:v>
                </c:pt>
                <c:pt idx="4">
                  <c:v>633.5110000000004</c:v>
                </c:pt>
                <c:pt idx="5">
                  <c:v>716.7909999999993</c:v>
                </c:pt>
                <c:pt idx="6">
                  <c:v>6245.239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6162.274</c:v>
                </c:pt>
                <c:pt idx="2">
                  <c:v>6649.984</c:v>
                </c:pt>
                <c:pt idx="3">
                  <c:v>7173.859</c:v>
                </c:pt>
                <c:pt idx="4">
                  <c:v>7736.022</c:v>
                </c:pt>
                <c:pt idx="5">
                  <c:v>8338.61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6162.274</c:v>
                </c:pt>
                <c:pt idx="1">
                  <c:v>487.71000000000004</c:v>
                </c:pt>
                <c:pt idx="2">
                  <c:v>523.875</c:v>
                </c:pt>
                <c:pt idx="3">
                  <c:v>562.1629999999996</c:v>
                </c:pt>
                <c:pt idx="4">
                  <c:v>602.5880000000006</c:v>
                </c:pt>
                <c:pt idx="5">
                  <c:v>645.1309999999994</c:v>
                </c:pt>
                <c:pt idx="6">
                  <c:v>8983.741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Frozen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59.32589407063947</c:v>
                </c:pt>
                <c:pt idx="1">
                  <c:v>56.53462385321101</c:v>
                </c:pt>
                <c:pt idx="2">
                  <c:v>50.62543430002487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Chilled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29.315631677037178</c:v>
                </c:pt>
                <c:pt idx="1">
                  <c:v>31.205293577981653</c:v>
                </c:pt>
                <c:pt idx="2">
                  <c:v>35.193349483522844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Ambient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11.358474252323349</c:v>
                </c:pt>
                <c:pt idx="1">
                  <c:v>12.260082568807338</c:v>
                </c:pt>
                <c:pt idx="2">
                  <c:v>14.181216216452288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Up to 7 days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59.18373976872735</c:v>
                </c:pt>
                <c:pt idx="1">
                  <c:v>58.77171955332875</c:v>
                </c:pt>
                <c:pt idx="2">
                  <c:v>62.12444052921043</c:v>
                </c:pt>
                <c:pt idx="3">
                  <c:v>58.53376202453322</c:v>
                </c:pt>
                <c:pt idx="4">
                  <c:v>62.757270785319776</c:v>
                </c:pt>
                <c:pt idx="5">
                  <c:v>57.88749380281153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8-30 days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11.562332998179121</c:v>
                </c:pt>
                <c:pt idx="1">
                  <c:v>10.352621410092674</c:v>
                </c:pt>
                <c:pt idx="2">
                  <c:v>11.770677832741262</c:v>
                </c:pt>
                <c:pt idx="3">
                  <c:v>11.928155479920548</c:v>
                </c:pt>
                <c:pt idx="4">
                  <c:v>10.897243575683945</c:v>
                </c:pt>
                <c:pt idx="5">
                  <c:v>14.931609565358059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31-90 days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14.607796477469675</c:v>
                </c:pt>
                <c:pt idx="1">
                  <c:v>16.493237711628517</c:v>
                </c:pt>
                <c:pt idx="2">
                  <c:v>15.054364369171418</c:v>
                </c:pt>
                <c:pt idx="3">
                  <c:v>14.635546946396172</c:v>
                </c:pt>
                <c:pt idx="4">
                  <c:v>14.939866071949492</c:v>
                </c:pt>
                <c:pt idx="5">
                  <c:v>15.25844003830208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More than 90 days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14.64613075562385</c:v>
                </c:pt>
                <c:pt idx="1">
                  <c:v>14.382421324950062</c:v>
                </c:pt>
                <c:pt idx="2">
                  <c:v>11.05051726887688</c:v>
                </c:pt>
                <c:pt idx="3">
                  <c:v>14.902535549150056</c:v>
                </c:pt>
                <c:pt idx="4">
                  <c:v>11.405619567046795</c:v>
                </c:pt>
                <c:pt idx="5">
                  <c:v>11.922456593528322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Up to 7 days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105.97279776830366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233.54242201834862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10658.983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8-30 days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52.111019884940326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62.249357798165136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2193.243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31-90 days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126.96584776574942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53.247743119266055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2683.387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More than 90 days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95.2180570669929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50.960477064220186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2209.896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50.0"/>
          <c:min val="3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3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6364.031</c:v>
                </c:pt>
                <c:pt idx="2">
                  <c:v>7049.275</c:v>
                </c:pt>
                <c:pt idx="3">
                  <c:v>7811.738</c:v>
                </c:pt>
                <c:pt idx="4">
                  <c:v>8660.501</c:v>
                </c:pt>
                <c:pt idx="5">
                  <c:v>9605.771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6364.031</c:v>
                </c:pt>
                <c:pt idx="1">
                  <c:v>685.2439999999997</c:v>
                </c:pt>
                <c:pt idx="2">
                  <c:v>762.4630000000006</c:v>
                </c:pt>
                <c:pt idx="3">
                  <c:v>848.7629999999999</c:v>
                </c:pt>
                <c:pt idx="4">
                  <c:v>945.2700000000004</c:v>
                </c:pt>
                <c:pt idx="5">
                  <c:v>1053.2119999999995</c:v>
                </c:pt>
                <c:pt idx="6">
                  <c:v>10658.983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1696.295</c:v>
                </c:pt>
                <c:pt idx="2">
                  <c:v>1793.376</c:v>
                </c:pt>
                <c:pt idx="3">
                  <c:v>1892.447</c:v>
                </c:pt>
                <c:pt idx="4">
                  <c:v>1992.788</c:v>
                </c:pt>
                <c:pt idx="5">
                  <c:v>2093.45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1696.295</c:v>
                </c:pt>
                <c:pt idx="1">
                  <c:v>97.0809999999999</c:v>
                </c:pt>
                <c:pt idx="2">
                  <c:v>99.07099999999991</c:v>
                </c:pt>
                <c:pt idx="3">
                  <c:v>100.34100000000012</c:v>
                </c:pt>
                <c:pt idx="4">
                  <c:v>100.66199999999981</c:v>
                </c:pt>
                <c:pt idx="5">
                  <c:v>99.79300000000012</c:v>
                </c:pt>
                <c:pt idx="6">
                  <c:v>2193.243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1451.001</c:v>
                </c:pt>
                <c:pt idx="2">
                  <c:v>1640.377</c:v>
                </c:pt>
                <c:pt idx="3">
                  <c:v>1854.717</c:v>
                </c:pt>
                <c:pt idx="4">
                  <c:v>2097.373</c:v>
                </c:pt>
                <c:pt idx="5">
                  <c:v>2372.144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1451.001</c:v>
                </c:pt>
                <c:pt idx="1">
                  <c:v>189.37599999999998</c:v>
                </c:pt>
                <c:pt idx="2">
                  <c:v>214.34000000000015</c:v>
                </c:pt>
                <c:pt idx="3">
                  <c:v>242.65599999999995</c:v>
                </c:pt>
                <c:pt idx="4">
                  <c:v>274.77099999999973</c:v>
                </c:pt>
                <c:pt idx="5">
                  <c:v>311.2430000000004</c:v>
                </c:pt>
                <c:pt idx="6">
                  <c:v>2683.387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1388.673</c:v>
                </c:pt>
                <c:pt idx="2">
                  <c:v>1523.028</c:v>
                </c:pt>
                <c:pt idx="3">
                  <c:v>1670.865</c:v>
                </c:pt>
                <c:pt idx="4">
                  <c:v>1833.566</c:v>
                </c:pt>
                <c:pt idx="5">
                  <c:v>2012.676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1388.673</c:v>
                </c:pt>
                <c:pt idx="1">
                  <c:v>134.35500000000002</c:v>
                </c:pt>
                <c:pt idx="2">
                  <c:v>147.837</c:v>
                </c:pt>
                <c:pt idx="3">
                  <c:v>162.70100000000002</c:v>
                </c:pt>
                <c:pt idx="4">
                  <c:v>179.1099999999999</c:v>
                </c:pt>
                <c:pt idx="5">
                  <c:v>197.22000000000025</c:v>
                </c:pt>
                <c:pt idx="6">
                  <c:v>2209.896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Up to 7 days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57.578896640053735</c:v>
                </c:pt>
                <c:pt idx="1">
                  <c:v>58.385605504587154</c:v>
                </c:pt>
                <c:pt idx="2">
                  <c:v>60.065805945605725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31-90 days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12.457181105433975</c:v>
                </c:pt>
                <c:pt idx="1">
                  <c:v>13.311935779816514</c:v>
                </c:pt>
                <c:pt idx="2">
                  <c:v>15.121499191710983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More than 90 days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12.870628522226546</c:v>
                </c:pt>
                <c:pt idx="1">
                  <c:v>12.740119266055046</c:v>
                </c:pt>
                <c:pt idx="2">
                  <c:v>12.453269162355388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8-30 days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17.09329373228576</c:v>
                </c:pt>
                <c:pt idx="1">
                  <c:v>15.562339449541284</c:v>
                </c:pt>
                <c:pt idx="2">
                  <c:v>12.359425700327895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Flexible 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13.060374863759</c:v>
                </c:pt>
                <c:pt idx="1">
                  <c:v>10.956217048171071</c:v>
                </c:pt>
                <c:pt idx="2">
                  <c:v>13.431054157611829</c:v>
                </c:pt>
                <c:pt idx="3">
                  <c:v>14.292769703210128</c:v>
                </c:pt>
                <c:pt idx="4">
                  <c:v>13.209469301348395</c:v>
                </c:pt>
                <c:pt idx="5">
                  <c:v>13.622307562120392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Rigid plastic 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49.22779170192824</c:v>
                </c:pt>
                <c:pt idx="1">
                  <c:v>49.432229754068835</c:v>
                </c:pt>
                <c:pt idx="2">
                  <c:v>47.59434739563062</c:v>
                </c:pt>
                <c:pt idx="3">
                  <c:v>50.45916076827386</c:v>
                </c:pt>
                <c:pt idx="4">
                  <c:v>48.96276860318925</c:v>
                </c:pt>
                <c:pt idx="5">
                  <c:v>48.7508859130761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Paperboard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32.39457667424147</c:v>
                </c:pt>
                <c:pt idx="1">
                  <c:v>33.7430657890428</c:v>
                </c:pt>
                <c:pt idx="2">
                  <c:v>32.3319003164536</c:v>
                </c:pt>
                <c:pt idx="3">
                  <c:v>29.38469043537852</c:v>
                </c:pt>
                <c:pt idx="4">
                  <c:v>32.47609861525144</c:v>
                </c:pt>
                <c:pt idx="5">
                  <c:v>31.991876312524358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Other packaging formats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5.317256760071276</c:v>
                </c:pt>
                <c:pt idx="1">
                  <c:v>5.868487408717294</c:v>
                </c:pt>
                <c:pt idx="2">
                  <c:v>6.642698130303956</c:v>
                </c:pt>
                <c:pt idx="3">
                  <c:v>5.8633790931375</c:v>
                </c:pt>
                <c:pt idx="4">
                  <c:v>5.351663480210913</c:v>
                </c:pt>
                <c:pt idx="5">
                  <c:v>5.634930212279158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Flexible packs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124.40976519919357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47.397247706422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2360.035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Rigid plastic packs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105.55742059554625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190.80836697247705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8691.438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Paperboard packs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73.72602553424416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145.2081100917431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5680.659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Other packaging formats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168.36922419998086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16.586275229357796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1013.377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200.0"/>
          <c:min val="5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1291.5749999999998</c:v>
                </c:pt>
                <c:pt idx="2">
                  <c:v>1454.871</c:v>
                </c:pt>
                <c:pt idx="3">
                  <c:v>1640.019</c:v>
                </c:pt>
                <c:pt idx="4">
                  <c:v>1850.136</c:v>
                </c:pt>
                <c:pt idx="5">
                  <c:v>2088.767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1291.5749999999998</c:v>
                </c:pt>
                <c:pt idx="1">
                  <c:v>163.29600000000028</c:v>
                </c:pt>
                <c:pt idx="2">
                  <c:v>185.1479999999999</c:v>
                </c:pt>
                <c:pt idx="3">
                  <c:v>210.11699999999996</c:v>
                </c:pt>
                <c:pt idx="4">
                  <c:v>238.63099999999986</c:v>
                </c:pt>
                <c:pt idx="5">
                  <c:v>271.26800000000003</c:v>
                </c:pt>
                <c:pt idx="6">
                  <c:v>2360.035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5199.528</c:v>
                </c:pt>
                <c:pt idx="2">
                  <c:v>5755.236000000001</c:v>
                </c:pt>
                <c:pt idx="3">
                  <c:v>6374.112</c:v>
                </c:pt>
                <c:pt idx="4">
                  <c:v>7063.8150000000005</c:v>
                </c:pt>
                <c:pt idx="5">
                  <c:v>7832.998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5199.528</c:v>
                </c:pt>
                <c:pt idx="1">
                  <c:v>555.7080000000005</c:v>
                </c:pt>
                <c:pt idx="2">
                  <c:v>618.8759999999993</c:v>
                </c:pt>
                <c:pt idx="3">
                  <c:v>689.7030000000004</c:v>
                </c:pt>
                <c:pt idx="4">
                  <c:v>769.1829999999991</c:v>
                </c:pt>
                <c:pt idx="5">
                  <c:v>858.4400000000005</c:v>
                </c:pt>
                <c:pt idx="6">
                  <c:v>8691.438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3956.9210000000003</c:v>
                </c:pt>
                <c:pt idx="2">
                  <c:v>4263.307</c:v>
                </c:pt>
                <c:pt idx="3">
                  <c:v>4588.929</c:v>
                </c:pt>
                <c:pt idx="4">
                  <c:v>4933.884</c:v>
                </c:pt>
                <c:pt idx="5">
                  <c:v>5297.999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3956.9210000000003</c:v>
                </c:pt>
                <c:pt idx="1">
                  <c:v>306.3859999999995</c:v>
                </c:pt>
                <c:pt idx="2">
                  <c:v>325.6220000000003</c:v>
                </c:pt>
                <c:pt idx="3">
                  <c:v>344.9549999999999</c:v>
                </c:pt>
                <c:pt idx="4">
                  <c:v>364.1149999999998</c:v>
                </c:pt>
                <c:pt idx="5">
                  <c:v>382.65999999999985</c:v>
                </c:pt>
                <c:pt idx="6">
                  <c:v>5680.659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451.976</c:v>
                </c:pt>
                <c:pt idx="2">
                  <c:v>532.642</c:v>
                </c:pt>
                <c:pt idx="3">
                  <c:v>626.707</c:v>
                </c:pt>
                <c:pt idx="4">
                  <c:v>736.393</c:v>
                </c:pt>
                <c:pt idx="5">
                  <c:v>864.277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451.976</c:v>
                </c:pt>
                <c:pt idx="1">
                  <c:v>80.66600000000005</c:v>
                </c:pt>
                <c:pt idx="2">
                  <c:v>94.06499999999994</c:v>
                </c:pt>
                <c:pt idx="3">
                  <c:v>109.68600000000004</c:v>
                </c:pt>
                <c:pt idx="4">
                  <c:v>127.88400000000001</c:v>
                </c:pt>
                <c:pt idx="5">
                  <c:v>149.0999999999999</c:v>
                </c:pt>
                <c:pt idx="6">
                  <c:v>1013.377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Rigid plastic 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47.15732595063502</c:v>
                </c:pt>
                <c:pt idx="1">
                  <c:v>47.70209174311927</c:v>
                </c:pt>
                <c:pt idx="2">
                  <c:v>48.97824007189651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Paperboard 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38.15809114091914</c:v>
                </c:pt>
                <c:pt idx="1">
                  <c:v>36.30202752293578</c:v>
                </c:pt>
                <c:pt idx="2">
                  <c:v>32.011812115392125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Flexible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11.218982465268464</c:v>
                </c:pt>
                <c:pt idx="1">
                  <c:v>11.849311926605504</c:v>
                </c:pt>
                <c:pt idx="2">
                  <c:v>13.299336750498394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Other packaging formats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3.465600443177382</c:v>
                </c:pt>
                <c:pt idx="1">
                  <c:v>4.146568807339449</c:v>
                </c:pt>
                <c:pt idx="2">
                  <c:v>5.710611062212981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Single-muffin 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28.53036773293353</c:v>
                </c:pt>
                <c:pt idx="1">
                  <c:v>26.129678750368402</c:v>
                </c:pt>
                <c:pt idx="2">
                  <c:v>26.151269503336174</c:v>
                </c:pt>
                <c:pt idx="3">
                  <c:v>26.47326592436432</c:v>
                </c:pt>
                <c:pt idx="4">
                  <c:v>25.65308169199713</c:v>
                </c:pt>
                <c:pt idx="5">
                  <c:v>29.15424582598108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Multipacks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60.390538580364726</c:v>
                </c:pt>
                <c:pt idx="1">
                  <c:v>62.58696008121295</c:v>
                </c:pt>
                <c:pt idx="2">
                  <c:v>61.18643371417034</c:v>
                </c:pt>
                <c:pt idx="3">
                  <c:v>61.85714143741756</c:v>
                </c:pt>
                <c:pt idx="4">
                  <c:v>61.99424203127308</c:v>
                </c:pt>
                <c:pt idx="5">
                  <c:v>58.39219806195658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Bulk foodservice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11.079093686701741</c:v>
                </c:pt>
                <c:pt idx="1">
                  <c:v>11.283361168418638</c:v>
                </c:pt>
                <c:pt idx="2">
                  <c:v>12.662296782493481</c:v>
                </c:pt>
                <c:pt idx="3">
                  <c:v>11.669592638218129</c:v>
                </c:pt>
                <c:pt idx="4">
                  <c:v>12.352676276729788</c:v>
                </c:pt>
                <c:pt idx="5">
                  <c:v>12.453556112062355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Single-muffin packs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83.78016655210156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87.91354128440368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4812.658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Multipacks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118.78130352238708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166.67543119266057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10776.214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Bulk foodservice packs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54.347359815952004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45.41102752293579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2156.637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40.0"/>
          <c:min val="3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3194.192</c:v>
                </c:pt>
                <c:pt idx="2">
                  <c:v>3467.663</c:v>
                </c:pt>
                <c:pt idx="3">
                  <c:v>3764.321</c:v>
                </c:pt>
                <c:pt idx="4">
                  <c:v>4086.025</c:v>
                </c:pt>
                <c:pt idx="5">
                  <c:v>4434.765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3194.192</c:v>
                </c:pt>
                <c:pt idx="1">
                  <c:v>273.471</c:v>
                </c:pt>
                <c:pt idx="2">
                  <c:v>296.6579999999999</c:v>
                </c:pt>
                <c:pt idx="3">
                  <c:v>321.7040000000002</c:v>
                </c:pt>
                <c:pt idx="4">
                  <c:v>348.74000000000024</c:v>
                </c:pt>
                <c:pt idx="5">
                  <c:v>377.89300000000003</c:v>
                </c:pt>
                <c:pt idx="6">
                  <c:v>4812.658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6055.874</c:v>
                </c:pt>
                <c:pt idx="2">
                  <c:v>6789.99</c:v>
                </c:pt>
                <c:pt idx="3">
                  <c:v>7616.267</c:v>
                </c:pt>
                <c:pt idx="4">
                  <c:v>8546.702000000001</c:v>
                </c:pt>
                <c:pt idx="5">
                  <c:v>9594.875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6055.874</c:v>
                </c:pt>
                <c:pt idx="1">
                  <c:v>734.116</c:v>
                </c:pt>
                <c:pt idx="2">
                  <c:v>826.277</c:v>
                </c:pt>
                <c:pt idx="3">
                  <c:v>930.4350000000013</c:v>
                </c:pt>
                <c:pt idx="4">
                  <c:v>1048.1729999999989</c:v>
                </c:pt>
                <c:pt idx="5">
                  <c:v>1181.339</c:v>
                </c:pt>
                <c:pt idx="6">
                  <c:v>10776.214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1649.934</c:v>
                </c:pt>
                <c:pt idx="2">
                  <c:v>1748.403</c:v>
                </c:pt>
                <c:pt idx="3">
                  <c:v>1849.179</c:v>
                </c:pt>
                <c:pt idx="4">
                  <c:v>1951.501</c:v>
                </c:pt>
                <c:pt idx="5">
                  <c:v>2054.401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1649.934</c:v>
                </c:pt>
                <c:pt idx="1">
                  <c:v>98.46900000000005</c:v>
                </c:pt>
                <c:pt idx="2">
                  <c:v>100.77600000000007</c:v>
                </c:pt>
                <c:pt idx="3">
                  <c:v>102.32199999999989</c:v>
                </c:pt>
                <c:pt idx="4">
                  <c:v>102.89999999999986</c:v>
                </c:pt>
                <c:pt idx="5">
                  <c:v>102.23600000000033</c:v>
                </c:pt>
                <c:pt idx="6">
                  <c:v>2156.637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Multipacks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53.14506898945726</c:v>
                </c:pt>
                <c:pt idx="1">
                  <c:v>55.55847706422018</c:v>
                </c:pt>
                <c:pt idx="2">
                  <c:v>60.72642943068017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Single-muffin 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30.328515560028823</c:v>
                </c:pt>
                <c:pt idx="1">
                  <c:v>29.304513761467888</c:v>
                </c:pt>
                <c:pt idx="2">
                  <c:v>27.12042804745696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Bulk foodservice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16.526415450513916</c:v>
                </c:pt>
                <c:pt idx="1">
                  <c:v>15.137009174311927</c:v>
                </c:pt>
                <c:pt idx="2">
                  <c:v>12.153142521862856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Individually wrapped muffins within an outer pack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49.03376502711826</c:v>
                </c:pt>
                <c:pt idx="1">
                  <c:v>49.504731964502085</c:v>
                </c:pt>
                <c:pt idx="2">
                  <c:v>50.32358849457239</c:v>
                </c:pt>
                <c:pt idx="3">
                  <c:v>45.94969345352934</c:v>
                </c:pt>
                <c:pt idx="4">
                  <c:v>44.87900928288033</c:v>
                </c:pt>
                <c:pt idx="5">
                  <c:v>55.47695094217813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Shared pack without individual wrapping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50.96623497288175</c:v>
                </c:pt>
                <c:pt idx="1">
                  <c:v>50.49526803549792</c:v>
                </c:pt>
                <c:pt idx="2">
                  <c:v>49.676411505427595</c:v>
                </c:pt>
                <c:pt idx="3">
                  <c:v>54.05030654647066</c:v>
                </c:pt>
                <c:pt idx="4">
                  <c:v>55.12099071711965</c:v>
                </c:pt>
                <c:pt idx="5">
                  <c:v>44.523049057821865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Individually wrapped muffins within an outer pack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103.60035816710888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97.50999999999999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8801.144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Shared pack without individual wrapping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96.52228825126711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102.49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8944.365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20.0"/>
          <c:min val="8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5314.295</c:v>
                </c:pt>
                <c:pt idx="2">
                  <c:v>5879.283</c:v>
                </c:pt>
                <c:pt idx="3">
                  <c:v>6503.39</c:v>
                </c:pt>
                <c:pt idx="4">
                  <c:v>7193.31</c:v>
                </c:pt>
                <c:pt idx="5">
                  <c:v>7956.464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5314.295</c:v>
                </c:pt>
                <c:pt idx="1">
                  <c:v>564.9880000000003</c:v>
                </c:pt>
                <c:pt idx="2">
                  <c:v>624.107</c:v>
                </c:pt>
                <c:pt idx="3">
                  <c:v>689.9200000000001</c:v>
                </c:pt>
                <c:pt idx="4">
                  <c:v>763.1539999999995</c:v>
                </c:pt>
                <c:pt idx="5">
                  <c:v>844.6800000000003</c:v>
                </c:pt>
                <c:pt idx="6">
                  <c:v>8801.144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5585.705</c:v>
                </c:pt>
                <c:pt idx="2">
                  <c:v>6126.773</c:v>
                </c:pt>
                <c:pt idx="3">
                  <c:v>6726.377</c:v>
                </c:pt>
                <c:pt idx="4">
                  <c:v>7390.918</c:v>
                </c:pt>
                <c:pt idx="5">
                  <c:v>8127.577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5585.705</c:v>
                </c:pt>
                <c:pt idx="1">
                  <c:v>541.0680000000002</c:v>
                </c:pt>
                <c:pt idx="2">
                  <c:v>599.6040000000003</c:v>
                </c:pt>
                <c:pt idx="3">
                  <c:v>664.5409999999993</c:v>
                </c:pt>
                <c:pt idx="4">
                  <c:v>736.6590000000006</c:v>
                </c:pt>
                <c:pt idx="5">
                  <c:v>816.7879999999996</c:v>
                </c:pt>
                <c:pt idx="6">
                  <c:v>8944.365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Shared pack without individual wrapping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51.92661176480623</c:v>
                </c:pt>
                <c:pt idx="1">
                  <c:v>51.245</c:v>
                </c:pt>
                <c:pt idx="2">
                  <c:v>50.4035415383126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Individually wrapped muffins within an outer pack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48.07338823519377</c:v>
                </c:pt>
                <c:pt idx="1">
                  <c:v>48.754999999999995</c:v>
                </c:pt>
                <c:pt idx="2">
                  <c:v>49.59645846168741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Economy / value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15.264758291005903</c:v>
                </c:pt>
                <c:pt idx="1">
                  <c:v>13.069325735992402</c:v>
                </c:pt>
                <c:pt idx="2">
                  <c:v>15.703617767524339</c:v>
                </c:pt>
                <c:pt idx="3">
                  <c:v>19.392818054115853</c:v>
                </c:pt>
                <c:pt idx="4">
                  <c:v>15.975960272903272</c:v>
                </c:pt>
                <c:pt idx="5">
                  <c:v>15.867361673336156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Mid-range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29.931112002689897</c:v>
                </c:pt>
                <c:pt idx="1">
                  <c:v>34.263876608704194</c:v>
                </c:pt>
                <c:pt idx="2">
                  <c:v>30.32109680352265</c:v>
                </c:pt>
                <c:pt idx="3">
                  <c:v>28.67878449538981</c:v>
                </c:pt>
                <c:pt idx="4">
                  <c:v>29.90637219293091</c:v>
                </c:pt>
                <c:pt idx="5">
                  <c:v>32.64226820647107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Premium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31.334861290013432</c:v>
                </c:pt>
                <c:pt idx="1">
                  <c:v>32.81337393981072</c:v>
                </c:pt>
                <c:pt idx="2">
                  <c:v>29.628680600992347</c:v>
                </c:pt>
                <c:pt idx="3">
                  <c:v>31.154359510372544</c:v>
                </c:pt>
                <c:pt idx="4">
                  <c:v>31.63099398631053</c:v>
                </c:pt>
                <c:pt idx="5">
                  <c:v>31.717275949454105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Super-premium / speciality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23.46926841629077</c:v>
                </c:pt>
                <c:pt idx="1">
                  <c:v>19.85342371549268</c:v>
                </c:pt>
                <c:pt idx="2">
                  <c:v>24.34660482796066</c:v>
                </c:pt>
                <c:pt idx="3">
                  <c:v>20.774037940121787</c:v>
                </c:pt>
                <c:pt idx="4">
                  <c:v>22.486673547855276</c:v>
                </c:pt>
                <c:pt idx="5">
                  <c:v>19.77309417073866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2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Economy / value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41.795492000783966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85.0353394495413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2848.978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Mid-range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150.93035664034667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97.60601834862386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5501.311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Premium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60.643342363194044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151.82785321100917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5575.753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Super-premium / speciality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158.16496336581196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65.53078899082568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3819.467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90.0"/>
          <c:min val="1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25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2317.213</c:v>
                </c:pt>
                <c:pt idx="2">
                  <c:v>2429.911</c:v>
                </c:pt>
                <c:pt idx="3">
                  <c:v>2541.306</c:v>
                </c:pt>
                <c:pt idx="4">
                  <c:v>2649.724</c:v>
                </c:pt>
                <c:pt idx="5">
                  <c:v>2753.119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2317.213</c:v>
                </c:pt>
                <c:pt idx="1">
                  <c:v>112.69799999999987</c:v>
                </c:pt>
                <c:pt idx="2">
                  <c:v>111.39499999999998</c:v>
                </c:pt>
                <c:pt idx="3">
                  <c:v>108.41800000000012</c:v>
                </c:pt>
                <c:pt idx="4">
                  <c:v>103.39499999999998</c:v>
                </c:pt>
                <c:pt idx="5">
                  <c:v>95.85899999999992</c:v>
                </c:pt>
                <c:pt idx="6">
                  <c:v>2848.978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2659.764</c:v>
                </c:pt>
                <c:pt idx="2">
                  <c:v>3085.432</c:v>
                </c:pt>
                <c:pt idx="3">
                  <c:v>3573.018</c:v>
                </c:pt>
                <c:pt idx="4">
                  <c:v>4131.286</c:v>
                </c:pt>
                <c:pt idx="5">
                  <c:v>4770.244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2659.764</c:v>
                </c:pt>
                <c:pt idx="1">
                  <c:v>425.66799999999967</c:v>
                </c:pt>
                <c:pt idx="2">
                  <c:v>487.58600000000024</c:v>
                </c:pt>
                <c:pt idx="3">
                  <c:v>558.268</c:v>
                </c:pt>
                <c:pt idx="4">
                  <c:v>638.9579999999996</c:v>
                </c:pt>
                <c:pt idx="5">
                  <c:v>731.067</c:v>
                </c:pt>
                <c:pt idx="6">
                  <c:v>5501.311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4137.309</c:v>
                </c:pt>
                <c:pt idx="2">
                  <c:v>4402.756</c:v>
                </c:pt>
                <c:pt idx="3">
                  <c:v>4679.993</c:v>
                </c:pt>
                <c:pt idx="4">
                  <c:v>4968.503</c:v>
                </c:pt>
                <c:pt idx="5">
                  <c:v>5267.466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4137.309</c:v>
                </c:pt>
                <c:pt idx="1">
                  <c:v>265.4470000000001</c:v>
                </c:pt>
                <c:pt idx="2">
                  <c:v>277.2370000000001</c:v>
                </c:pt>
                <c:pt idx="3">
                  <c:v>288.5099999999993</c:v>
                </c:pt>
                <c:pt idx="4">
                  <c:v>298.96300000000065</c:v>
                </c:pt>
                <c:pt idx="5">
                  <c:v>308.28699999999935</c:v>
                </c:pt>
                <c:pt idx="6">
                  <c:v>5575.753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1785.714</c:v>
                </c:pt>
                <c:pt idx="2">
                  <c:v>2087.957</c:v>
                </c:pt>
                <c:pt idx="3">
                  <c:v>2435.45</c:v>
                </c:pt>
                <c:pt idx="4">
                  <c:v>2834.715</c:v>
                </c:pt>
                <c:pt idx="5">
                  <c:v>3293.212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1785.714</c:v>
                </c:pt>
                <c:pt idx="1">
                  <c:v>302.24299999999994</c:v>
                </c:pt>
                <c:pt idx="2">
                  <c:v>347.49299999999994</c:v>
                </c:pt>
                <c:pt idx="3">
                  <c:v>399.2650000000003</c:v>
                </c:pt>
                <c:pt idx="4">
                  <c:v>458.49699999999984</c:v>
                </c:pt>
                <c:pt idx="5">
                  <c:v>526.2550000000001</c:v>
                </c:pt>
                <c:pt idx="6">
                  <c:v>3819.467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Premium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41.12623933778381</c:v>
                </c:pt>
                <c:pt idx="1">
                  <c:v>37.95696330275229</c:v>
                </c:pt>
                <c:pt idx="2">
                  <c:v>31.420642822924943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Mid-range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21.204715673112684</c:v>
                </c:pt>
                <c:pt idx="1">
                  <c:v>24.401504587155966</c:v>
                </c:pt>
                <c:pt idx="2">
                  <c:v>31.001145134805657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Super-premium / speciality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13.904039437040819</c:v>
                </c:pt>
                <c:pt idx="1">
                  <c:v>16.38269724770642</c:v>
                </c:pt>
                <c:pt idx="2">
                  <c:v>21.52356970994746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Economy / value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23.76500555206268</c:v>
                </c:pt>
                <c:pt idx="1">
                  <c:v>21.258834862385324</c:v>
                </c:pt>
                <c:pt idx="2">
                  <c:v>16.054642332321944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Manufacturer brands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41.03099716228882</c:v>
                </c:pt>
                <c:pt idx="1">
                  <c:v>42.258768051871506</c:v>
                </c:pt>
                <c:pt idx="2">
                  <c:v>41.19609122593409</c:v>
                </c:pt>
                <c:pt idx="3">
                  <c:v>46.07171575716697</c:v>
                </c:pt>
                <c:pt idx="4">
                  <c:v>42.94977134452346</c:v>
                </c:pt>
                <c:pt idx="5">
                  <c:v>39.132643930752884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Retailer private labels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42.925051613207124</c:v>
                </c:pt>
                <c:pt idx="1">
                  <c:v>43.602318498870225</c:v>
                </c:pt>
                <c:pt idx="2">
                  <c:v>45.0341790209333</c:v>
                </c:pt>
                <c:pt idx="3">
                  <c:v>39.36714324787595</c:v>
                </c:pt>
                <c:pt idx="4">
                  <c:v>43.005642271409286</c:v>
                </c:pt>
                <c:pt idx="5">
                  <c:v>44.37297155327041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Foodservice / operator brands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16.043951224504045</c:v>
                </c:pt>
                <c:pt idx="1">
                  <c:v>14.138913449258277</c:v>
                </c:pt>
                <c:pt idx="2">
                  <c:v>13.769729753132617</c:v>
                </c:pt>
                <c:pt idx="3">
                  <c:v>14.561140994957073</c:v>
                </c:pt>
                <c:pt idx="4">
                  <c:v>14.044586384067232</c:v>
                </c:pt>
                <c:pt idx="5">
                  <c:v>16.494384515976694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9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Manufacturer brands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94.03901539728679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128.97836697247706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7415.697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Retailer private labels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106.79201786662267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125.62596330275228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7674.594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Foodservice / operator brands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97.63842296952382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45.395669724770634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2655.218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7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4686.214</c:v>
                </c:pt>
                <c:pt idx="2">
                  <c:v>5129.111</c:v>
                </c:pt>
                <c:pt idx="3">
                  <c:v>5618.165</c:v>
                </c:pt>
                <c:pt idx="4">
                  <c:v>6158.433</c:v>
                </c:pt>
                <c:pt idx="5">
                  <c:v>6755.514999999999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4686.214</c:v>
                </c:pt>
                <c:pt idx="1">
                  <c:v>442.89699999999993</c:v>
                </c:pt>
                <c:pt idx="2">
                  <c:v>489.0540000000001</c:v>
                </c:pt>
                <c:pt idx="3">
                  <c:v>540.268</c:v>
                </c:pt>
                <c:pt idx="4">
                  <c:v>597.0819999999994</c:v>
                </c:pt>
                <c:pt idx="5">
                  <c:v>660.1820000000007</c:v>
                </c:pt>
                <c:pt idx="6">
                  <c:v>7415.697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4564.41</c:v>
                </c:pt>
                <c:pt idx="2">
                  <c:v>5064.439</c:v>
                </c:pt>
                <c:pt idx="3">
                  <c:v>5618.927</c:v>
                </c:pt>
                <c:pt idx="4">
                  <c:v>6234.037</c:v>
                </c:pt>
                <c:pt idx="5">
                  <c:v>6916.698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4564.41</c:v>
                </c:pt>
                <c:pt idx="1">
                  <c:v>500.02900000000045</c:v>
                </c:pt>
                <c:pt idx="2">
                  <c:v>554.4879999999994</c:v>
                </c:pt>
                <c:pt idx="3">
                  <c:v>615.1100000000006</c:v>
                </c:pt>
                <c:pt idx="4">
                  <c:v>682.6610000000001</c:v>
                </c:pt>
                <c:pt idx="5">
                  <c:v>757.8959999999997</c:v>
                </c:pt>
                <c:pt idx="6">
                  <c:v>7674.594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1649.376</c:v>
                </c:pt>
                <c:pt idx="2">
                  <c:v>1812.506</c:v>
                </c:pt>
                <c:pt idx="3">
                  <c:v>1992.675</c:v>
                </c:pt>
                <c:pt idx="4">
                  <c:v>2191.758</c:v>
                </c:pt>
                <c:pt idx="5">
                  <c:v>2411.828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1649.376</c:v>
                </c:pt>
                <c:pt idx="1">
                  <c:v>163.1300000000001</c:v>
                </c:pt>
                <c:pt idx="2">
                  <c:v>180.16899999999987</c:v>
                </c:pt>
                <c:pt idx="3">
                  <c:v>199.08299999999986</c:v>
                </c:pt>
                <c:pt idx="4">
                  <c:v>220.07000000000016</c:v>
                </c:pt>
                <c:pt idx="5">
                  <c:v>243.38999999999987</c:v>
                </c:pt>
                <c:pt idx="6">
                  <c:v>2655.218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Retailer private labels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41.01884558846141</c:v>
                </c:pt>
                <c:pt idx="1">
                  <c:v>41.87532110091743</c:v>
                </c:pt>
                <c:pt idx="2">
                  <c:v>43.24809167209575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Manufacturer brands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43.756718422320844</c:v>
                </c:pt>
                <c:pt idx="1">
                  <c:v>42.99278899082569</c:v>
                </c:pt>
                <c:pt idx="2">
                  <c:v>41.78914789088327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Foodservice / operator brands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15.224435989217755</c:v>
                </c:pt>
                <c:pt idx="1">
                  <c:v>15.131889908256879</c:v>
                </c:pt>
                <c:pt idx="2">
                  <c:v>14.962760437020995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Retail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57.561436365910424</c:v>
                </c:pt>
                <c:pt idx="1">
                  <c:v>57.28591544683499</c:v>
                </c:pt>
                <c:pt idx="2">
                  <c:v>58.407623867749514</c:v>
                </c:pt>
                <c:pt idx="3">
                  <c:v>57.90921868997996</c:v>
                </c:pt>
                <c:pt idx="4">
                  <c:v>58.86821917304304</c:v>
                </c:pt>
                <c:pt idx="5">
                  <c:v>57.75661964337818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Foodservice and institutional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38.12092190690293</c:v>
                </c:pt>
                <c:pt idx="1">
                  <c:v>38.639944984772576</c:v>
                </c:pt>
                <c:pt idx="2">
                  <c:v>37.83438471798166</c:v>
                </c:pt>
                <c:pt idx="3">
                  <c:v>38.10798887453869</c:v>
                </c:pt>
                <c:pt idx="4">
                  <c:v>36.75980663319421</c:v>
                </c:pt>
                <c:pt idx="5">
                  <c:v>37.89158105175301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Vending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4.317641727186637</c:v>
                </c:pt>
                <c:pt idx="1">
                  <c:v>4.074139568392442</c:v>
                </c:pt>
                <c:pt idx="2">
                  <c:v>3.757991414268819</c:v>
                </c:pt>
                <c:pt idx="3">
                  <c:v>3.982792435481355</c:v>
                </c:pt>
                <c:pt idx="4">
                  <c:v>4.371974193762748</c:v>
                </c:pt>
                <c:pt idx="5">
                  <c:v>4.351799304868795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5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Retail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86.52080631920465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185.95144954128443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10314.089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Foodservice and institutional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123.31791949480015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101.20783486238531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6684.792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Vending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96.3958161296475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12.840715596330277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746.628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35.0"/>
          <c:min val="7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6756.236</c:v>
                </c:pt>
                <c:pt idx="2">
                  <c:v>7347.257</c:v>
                </c:pt>
                <c:pt idx="3">
                  <c:v>7992.967</c:v>
                </c:pt>
                <c:pt idx="4">
                  <c:v>8698.666</c:v>
                </c:pt>
                <c:pt idx="5">
                  <c:v>9470.232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6756.236</c:v>
                </c:pt>
                <c:pt idx="1">
                  <c:v>591.0209999999997</c:v>
                </c:pt>
                <c:pt idx="2">
                  <c:v>645.71</c:v>
                </c:pt>
                <c:pt idx="3">
                  <c:v>705.6989999999996</c:v>
                </c:pt>
                <c:pt idx="4">
                  <c:v>771.5660000000007</c:v>
                </c:pt>
                <c:pt idx="5">
                  <c:v>843.857</c:v>
                </c:pt>
                <c:pt idx="6">
                  <c:v>10314.089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3677.218</c:v>
                </c:pt>
                <c:pt idx="2">
                  <c:v>4146.699</c:v>
                </c:pt>
                <c:pt idx="3">
                  <c:v>4674.46</c:v>
                </c:pt>
                <c:pt idx="4">
                  <c:v>5267.768</c:v>
                </c:pt>
                <c:pt idx="5">
                  <c:v>5934.8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3677.218</c:v>
                </c:pt>
                <c:pt idx="1">
                  <c:v>469.48099999999977</c:v>
                </c:pt>
                <c:pt idx="2">
                  <c:v>527.7610000000004</c:v>
                </c:pt>
                <c:pt idx="3">
                  <c:v>593.308</c:v>
                </c:pt>
                <c:pt idx="4">
                  <c:v>667.0320000000002</c:v>
                </c:pt>
                <c:pt idx="5">
                  <c:v>749.9920000000002</c:v>
                </c:pt>
                <c:pt idx="6">
                  <c:v>6684.792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466.546</c:v>
                </c:pt>
                <c:pt idx="2">
                  <c:v>512.1</c:v>
                </c:pt>
                <c:pt idx="3">
                  <c:v>562.34</c:v>
                </c:pt>
                <c:pt idx="4">
                  <c:v>617.794</c:v>
                </c:pt>
                <c:pt idx="5">
                  <c:v>679.009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466.546</c:v>
                </c:pt>
                <c:pt idx="1">
                  <c:v>45.55400000000003</c:v>
                </c:pt>
                <c:pt idx="2">
                  <c:v>50.24000000000001</c:v>
                </c:pt>
                <c:pt idx="3">
                  <c:v>55.45399999999995</c:v>
                </c:pt>
                <c:pt idx="4">
                  <c:v>61.21500000000003</c:v>
                </c:pt>
                <c:pt idx="5">
                  <c:v>67.61900000000003</c:v>
                </c:pt>
                <c:pt idx="6">
                  <c:v>746.628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Retail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63.98770757385746</c:v>
                </c:pt>
                <c:pt idx="1">
                  <c:v>61.98381651376147</c:v>
                </c:pt>
                <c:pt idx="2">
                  <c:v>58.12224940969571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Foodservice and institutional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31.693972819022516</c:v>
                </c:pt>
                <c:pt idx="1">
                  <c:v>33.73594495412844</c:v>
                </c:pt>
                <c:pt idx="2">
                  <c:v>37.670331124342496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Vending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4.318319607120018</c:v>
                </c:pt>
                <c:pt idx="1">
                  <c:v>4.280238532110092</c:v>
                </c:pt>
                <c:pt idx="2">
                  <c:v>4.207419465961782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 Flavours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58.761438689746406</c:v>
                </c:pt>
                <c:pt idx="1">
                  <c:v>55.989422318553004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 Flavours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41.238561310253594</c:v>
                </c:pt>
                <c:pt idx="1">
                  <c:v>44.010577681446996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Rigid plastic 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47.68416729282191</c:v>
                </c:pt>
                <c:pt idx="1">
                  <c:v>47.724495109329375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Paperboard 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36.129703020678654</c:v>
                </c:pt>
                <c:pt idx="1">
                  <c:v>36.517193061214044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Flexible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12.429280803699172</c:v>
                </c:pt>
                <c:pt idx="1">
                  <c:v>11.125089433296171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Other packaging formats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3.756848882800258</c:v>
                </c:pt>
                <c:pt idx="1">
                  <c:v>4.633222396160413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Retail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40.4317333602079</c:v>
                </c:pt>
                <c:pt idx="1">
                  <c:v>39.898044021381466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Foodservice and institutional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33.569945199006746</c:v>
                </c:pt>
                <c:pt idx="1">
                  <c:v>33.94331561172556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Quick-commerce platforms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9.291221763114981</c:v>
                </c:pt>
                <c:pt idx="1">
                  <c:v>8.917847247580557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Online marketplaces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5.602901792721067</c:v>
                </c:pt>
                <c:pt idx="1">
                  <c:v>5.519465917366557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Brand-owned direct-to-consumer websites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5.203417916637065</c:v>
                </c:pt>
                <c:pt idx="1">
                  <c:v>5.2463798613217145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Vending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3.9719898691682043</c:v>
                </c:pt>
                <c:pt idx="1">
                  <c:v>4.665135882851714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Retailer websites and apps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1.9287900991440339</c:v>
                </c:pt>
                <c:pt idx="1">
                  <c:v>1.8098114577724416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Standard - 60 g to below 100 g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43.14371568124039</c:v>
                </c:pt>
                <c:pt idx="1">
                  <c:v>41.879683643382506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Small - 30 g to below 60 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27.230087437045793</c:v>
                </c:pt>
                <c:pt idx="1">
                  <c:v>30.052310741815667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Large / jumbo - 100 g and above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23.72251112375537</c:v>
                </c:pt>
                <c:pt idx="1">
                  <c:v>22.03320770723149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Mini / bite-sized - below 30 g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5.90368575795845</c:v>
                </c:pt>
                <c:pt idx="1">
                  <c:v>6.034797907570328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2.5045866456656407</c:v>
                </c:pt>
                <c:pt idx="1">
                  <c:v>3.306572273902586</c:v>
                </c:pt>
                <c:pt idx="2">
                  <c:v>3.038548960537546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.3646754015514135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829578.725</c:v>
                </c:pt>
                <c:pt idx="2">
                  <c:v>0.0</c:v>
                </c:pt>
                <c:pt idx="3">
                  <c:v>938802.201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.0,,&quot;M&quot;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829578.725</c:v>
                </c:pt>
                <c:pt idx="1">
                  <c:v>109223.47600000002</c:v>
                </c:pt>
                <c:pt idx="2">
                  <c:v>938802.201</c:v>
                </c:pt>
                <c:pt idx="3">
                  <c:v>360929.218</c:v>
                </c:pt>
                <c:pt idx="4">
                  <c:v>1299731.419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,,&quot;M&quot;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3.247945887409953</c:v>
                </c:pt>
                <c:pt idx="1">
                  <c:v>4.056108237174105</c:v>
                </c:pt>
                <c:pt idx="2">
                  <c:v>3.7860203540756476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5.354062873069819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3065.726</c:v>
                </c:pt>
                <c:pt idx="2">
                  <c:v>0.0</c:v>
                </c:pt>
                <c:pt idx="3">
                  <c:v>3597.0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3065.726</c:v>
                </c:pt>
                <c:pt idx="1">
                  <c:v>531.2739999999999</c:v>
                </c:pt>
                <c:pt idx="2">
                  <c:v>3597.0</c:v>
                </c:pt>
                <c:pt idx="3">
                  <c:v>1756.2340000000004</c:v>
                </c:pt>
                <c:pt idx="4">
                  <c:v>5353.234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3065.726</c:v>
                </c:pt>
                <c:pt idx="1">
                  <c:v>3165.233</c:v>
                </c:pt>
                <c:pt idx="2">
                  <c:v>3268.003</c:v>
                </c:pt>
                <c:pt idx="3">
                  <c:v>3374.1459999999997</c:v>
                </c:pt>
                <c:pt idx="4">
                  <c:v>3483.7740000000003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829578.725</c:v>
                </c:pt>
                <c:pt idx="1">
                  <c:v>850339.716</c:v>
                </c:pt>
                <c:pt idx="2">
                  <c:v>871628.7139999999</c:v>
                </c:pt>
                <c:pt idx="3">
                  <c:v>893459.382</c:v>
                </c:pt>
                <c:pt idx="4">
                  <c:v>915845.747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4111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1264077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&quot;;&quot;MMMMMMM&quot;;&quot;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&quot;;&quot;MMMMMMM&quot;;&quot;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&quot;;&quot;MMMMMMM&quot;;&quot;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&quot;;&quot;MMMMMMM&quot;;&quot;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&quot;;&quot;MMMMMMM&quot;;&quot;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&quot;;&quot;MMMMMMM&quot;;&quot;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3597.0</c:v>
                </c:pt>
                <c:pt idx="1">
                  <c:v>3742.722</c:v>
                </c:pt>
                <c:pt idx="2">
                  <c:v>3894.3869999999997</c:v>
                </c:pt>
                <c:pt idx="3">
                  <c:v>4052.241</c:v>
                </c:pt>
                <c:pt idx="4">
                  <c:v>4216.537</c:v>
                </c:pt>
                <c:pt idx="5">
                  <c:v>4387.542</c:v>
                </c:pt>
                <c:pt idx="6">
                  <c:v>4565.529</c:v>
                </c:pt>
                <c:pt idx="7">
                  <c:v>4750.786</c:v>
                </c:pt>
                <c:pt idx="8">
                  <c:v>4943.612999999999</c:v>
                </c:pt>
                <c:pt idx="9">
                  <c:v>5144.321</c:v>
                </c:pt>
                <c:pt idx="10">
                  <c:v>5353.234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MM&quot;;&quot;MMMMMMMMMMM&quot;;&quot;MMM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MM&quot;;&quot;MMMMMMMMMMM&quot;;&quot;MMM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MM&quot;;&quot;MMMMMMMMMMM&quot;;&quot;MMMM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MMM&quot;;&quot;MMMMMMMMMMM&quot;;&quot;MMMMMMM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MMM&quot;;&quot;MMMMMMMMMMM&quot;;&quot;MMMMMMM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MMM&quot;;&quot;MMMMMMMMMMM&quot;;&quot;MMMMMMM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MMM&quot;;&quot;MMMMMMMMMMM&quot;;&quot;MMMMMMM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MMM&quot;;&quot;MMMMMMMMMMM&quot;;&quot;MMMMMMM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MMM&quot;;&quot;MMMMMMMMMMM&quot;;&quot;MMMMMMM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.0,,&quot;M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938802.201</c:v>
                </c:pt>
                <c:pt idx="1">
                  <c:v>969801.731</c:v>
                </c:pt>
                <c:pt idx="2">
                  <c:v>1001834.583</c:v>
                </c:pt>
                <c:pt idx="3">
                  <c:v>1034935.551</c:v>
                </c:pt>
                <c:pt idx="4">
                  <c:v>1069140.613</c:v>
                </c:pt>
                <c:pt idx="5">
                  <c:v>1104486.9700000002</c:v>
                </c:pt>
                <c:pt idx="6">
                  <c:v>1141013.091</c:v>
                </c:pt>
                <c:pt idx="7">
                  <c:v>1178758.755</c:v>
                </c:pt>
                <c:pt idx="8">
                  <c:v>1217765.098</c:v>
                </c:pt>
                <c:pt idx="9">
                  <c:v>1258074.6570000001</c:v>
                </c:pt>
                <c:pt idx="10">
                  <c:v>1299731.419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6317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1873481"/>
          <c:min val="0"/>
        </c:scaling>
        <c:delete val="0"/>
        <c:axPos val="r"/>
        <c:numFmt formatCode="#,##0,,&quot;M&quot;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U.S.</c:v>
                </c:pt>
                <c:pt idx="1">
                  <c:v>Canada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94.32280936141345</c:v>
                </c:pt>
                <c:pt idx="1">
                  <c:v>112.20893587921175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35.668196834818126</c:v>
                </c:pt>
                <c:pt idx="1">
                  <c:v>64.33180316518184</c:v>
                </c:pt>
              </c:numCache>
            </c:numRef>
          </c:val>
        </c:ser>
        <c:dLbls>
          <c:numFmt formatCode="0.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3085.639</c:v>
                </c:pt>
                <c:pt idx="1">
                  <c:v>2267.5950000000003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4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lineChart>
        <c:grouping val="standard"/>
        <c:varyColors val="0"/>
        <c:ser>
          <c:idx val="0"/>
          <c:order val="0"/>
          <c:tx>
            <c:strRef>
              <c:strCache>
                <c:ptCount val="1"/>
                <c:pt idx="0">
                  <c:v>Optimistic Scenario</c:v>
                </c:pt>
              </c:strCache>
            </c:strRef>
          </c:tx>
          <c:spPr>
            <a:ln w="28575">
              <a:solidFill>
                <a:srgbClr val="2E5F8A"/>
              </a:solidFill>
            </a:ln>
          </c:spPr>
          <c:marker>
            <c:symbol val="circle"/>
            <c:size val="6"/>
            <c:spPr>
              <a:solidFill>
                <a:srgbClr val="2E5F8A"/>
              </a:solidFill>
              <a:ln>
                <a:solidFill>
                  <a:srgbClr val="2E5F8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0.04725705582065938</c:v>
                </c:pt>
                <c:pt idx="1">
                  <c:v>0.050320207197637974</c:v>
                </c:pt>
                <c:pt idx="2">
                  <c:v>0.05329879304580428</c:v>
                </c:pt>
                <c:pt idx="3">
                  <c:v>0.05420552343806941</c:v>
                </c:pt>
                <c:pt idx="4">
                  <c:v>0.05346322601849485</c:v>
                </c:pt>
                <c:pt idx="5">
                  <c:v>0.0522370258507166</c:v>
                </c:pt>
                <c:pt idx="6">
                  <c:v>0.050357791877110106</c:v>
                </c:pt>
                <c:pt idx="7">
                  <c:v>0.048347011525351154</c:v>
                </c:pt>
                <c:pt idx="8">
                  <c:v>0.04694698221501431</c:v>
                </c:pt>
                <c:pt idx="9">
                  <c:v>0.04598857288847499</c:v>
                </c:pt>
                <c:pt idx="10">
                  <c:v>0.04522278504423035</c:v>
                </c:pt>
              </c:numCache>
            </c:numRef>
          </c:val>
          <c:smooth val="0"/>
        </c:ser>
        <c:ser>
          <c:idx val="1"/>
          <c:order val="1"/>
          <c:tx>
            <c:strRef>
              <c:strCache>
                <c:ptCount val="1"/>
                <c:pt idx="0">
                  <c:v>Likely Scenario</c:v>
                </c:pt>
              </c:strCache>
            </c:strRef>
          </c:tx>
          <c:spPr>
            <a:ln w="28575">
              <a:solidFill>
                <a:srgbClr val="8B1A1A"/>
              </a:solidFill>
            </a:ln>
          </c:spPr>
          <c:marker>
            <c:symbol val="circle"/>
            <c:size val="6"/>
            <c:spPr>
              <a:solidFill>
                <a:srgbClr val="8B1A1A"/>
              </a:solidFill>
              <a:ln>
                <a:solidFill>
                  <a:srgbClr val="8B1A1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0.03526561651233003</c:v>
                </c:pt>
                <c:pt idx="1">
                  <c:v>0.03766899284566956</c:v>
                </c:pt>
                <c:pt idx="2">
                  <c:v>0.040025626041245606</c:v>
                </c:pt>
                <c:pt idx="3">
                  <c:v>0.042397840282742814</c:v>
                </c:pt>
                <c:pt idx="4">
                  <c:v>0.04334438882245352</c:v>
                </c:pt>
                <c:pt idx="5">
                  <c:v>0.04298602476626675</c:v>
                </c:pt>
                <c:pt idx="6">
                  <c:v>0.04160320694076345</c:v>
                </c:pt>
                <c:pt idx="7">
                  <c:v>0.04008795022493026</c:v>
                </c:pt>
                <c:pt idx="8">
                  <c:v>0.03948028943400487</c:v>
                </c:pt>
                <c:pt idx="9">
                  <c:v>0.038272758375114665</c:v>
                </c:pt>
                <c:pt idx="10">
                  <c:v>0.03698342682513835</c:v>
                </c:pt>
              </c:numCache>
            </c:numRef>
          </c:val>
          <c:smooth val="0"/>
        </c:ser>
        <c:ser>
          <c:idx val="2"/>
          <c:order val="2"/>
          <c:tx>
            <c:strRef>
              <c:strCache>
                <c:ptCount val="1"/>
                <c:pt idx="0">
                  <c:v>Conservative Scenario</c:v>
                </c:pt>
              </c:strCache>
            </c:strRef>
          </c:tx>
          <c:spPr>
            <a:ln w="28575">
              <a:solidFill>
                <a:srgbClr val="A08000"/>
              </a:solidFill>
            </a:ln>
          </c:spPr>
          <c:marker>
            <c:symbol val="circle"/>
            <c:size val="6"/>
            <c:spPr>
              <a:solidFill>
                <a:srgbClr val="A08000"/>
              </a:solidFill>
              <a:ln>
                <a:solidFill>
                  <a:srgbClr val="A08000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0.025309855888910847</c:v>
                </c:pt>
                <c:pt idx="1">
                  <c:v>0.02636512377198206</c:v>
                </c:pt>
                <c:pt idx="2">
                  <c:v>0.02754176431892089</c:v>
                </c:pt>
                <c:pt idx="3">
                  <c:v>0.028657718533925913</c:v>
                </c:pt>
                <c:pt idx="4">
                  <c:v>0.029857959321061226</c:v>
                </c:pt>
                <c:pt idx="5">
                  <c:v>0.030269277793057034</c:v>
                </c:pt>
                <c:pt idx="6">
                  <c:v>0.030656996024856362</c:v>
                </c:pt>
                <c:pt idx="7">
                  <c:v>0.03104471425665569</c:v>
                </c:pt>
                <c:pt idx="8">
                  <c:v>0.03214381115723466</c:v>
                </c:pt>
                <c:pt idx="9">
                  <c:v>0.03295970517545585</c:v>
                </c:pt>
                <c:pt idx="10">
                  <c:v>0.03379582797098832</c:v>
                </c:pt>
              </c:numCache>
            </c:numRef>
          </c:val>
          <c:smooth val="0"/>
        </c:ser>
        <c:marker val="1"/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40495176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2140495176"/>
        <c:scaling>
          <c:min val="0.0"/>
        </c:scaling>
        <c:delete val="0"/>
        <c:axPos val="l"/>
        <c:numFmt formatCode="0.00%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18791784"/>
        <c:crosses val="autoZero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U.S.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72.52736212960797</c:v>
                </c:pt>
                <c:pt idx="1">
                  <c:v>71.11839534595416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Canada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27.47263787039204</c:v>
                </c:pt>
                <c:pt idx="1">
                  <c:v>28.881604654045834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U.S.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68.93577981651376</c:v>
                </c:pt>
                <c:pt idx="1">
                  <c:v>67.42535446797207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Canada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31.064220183486242</c:v>
                </c:pt>
                <c:pt idx="1">
                  <c:v>32.57464553202793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U.S.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M&quot;;&quot;MMMMMMMMM&quot;;&quot;M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M&quot;;&quot;MMMMMMMMM&quot;;&quot;M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M&quot;;&quot;MMMMMMMMM&quot;;&quot;M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M&quot;;&quot;MMMMMMMMM&quot;;&quot;M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M&quot;;&quot;MMMMMMMMM&quot;;&quot;M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M&quot;;&quot;MMMMMMMMM&quot;;&quot;MM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MMMM&quot;;&quot;MMMMMMMMM&quot;;&quot;M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MMMM&quot;;&quot;MMMMMMMMM&quot;;&quot;M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MMMM&quot;;&quot;MMMMMMMMM&quot;;&quot;M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MMMM&quot;;&quot;MMMMMMMMM&quot;;&quot;M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MMMM&quot;;&quot;MMMMMMMMM&quot;;&quot;MM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607424.963</c:v>
                </c:pt>
                <c:pt idx="1">
                  <c:v>621454.454</c:v>
                </c:pt>
                <c:pt idx="2">
                  <c:v>635807.98</c:v>
                </c:pt>
                <c:pt idx="3">
                  <c:v>650493.023</c:v>
                </c:pt>
                <c:pt idx="4">
                  <c:v>665517.243</c:v>
                </c:pt>
                <c:pt idx="5">
                  <c:v>680888.472</c:v>
                </c:pt>
                <c:pt idx="6">
                  <c:v>702023.968</c:v>
                </c:pt>
                <c:pt idx="7">
                  <c:v>723815.532</c:v>
                </c:pt>
                <c:pt idx="8">
                  <c:v>746283.529</c:v>
                </c:pt>
                <c:pt idx="9">
                  <c:v>769448.957</c:v>
                </c:pt>
                <c:pt idx="10">
                  <c:v>793333.464</c:v>
                </c:pt>
                <c:pt idx="11">
                  <c:v>817959.371</c:v>
                </c:pt>
                <c:pt idx="12">
                  <c:v>843349.692</c:v>
                </c:pt>
                <c:pt idx="13">
                  <c:v>869528.156</c:v>
                </c:pt>
                <c:pt idx="14">
                  <c:v>896519.227</c:v>
                </c:pt>
                <c:pt idx="15">
                  <c:v>924348.129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Canada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M&quot;;&quot;MMMMMMMMM&quot;;&quot;MMMMM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M&quot;;&quot;MMMMMMMMM&quot;;&quot;MMMMMM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M&quot;;&quot;MMMMMMMMM&quot;;&quot;MMMMMM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M&quot;;&quot;MMMMMMMMM&quot;;&quot;MMMMMM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M&quot;;&quot;MMMMMMMMM&quot;;&quot;MMMMMM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M&quot;;&quot;MMMMMMMMM&quot;;&quot;MMMMMM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MMMM&quot;;&quot;MMMMMMMMM&quot;;&quot;MMMMMM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MMMM&quot;;&quot;MMMMMMMMM&quot;;&quot;MMMMMM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MMMM&quot;;&quot;MMMMMMMMM&quot;;&quot;MMMMMM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MMMM&quot;;&quot;MMMMMMMMM&quot;;&quot;MMMMMM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MMMM&quot;;&quot;MMMMMMMMM&quot;;&quot;MMMMMM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222153.762</c:v>
                </c:pt>
                <c:pt idx="1">
                  <c:v>228885.262</c:v>
                </c:pt>
                <c:pt idx="2">
                  <c:v>235820.734</c:v>
                </c:pt>
                <c:pt idx="3">
                  <c:v>242966.359</c:v>
                </c:pt>
                <c:pt idx="4">
                  <c:v>250328.504</c:v>
                </c:pt>
                <c:pt idx="5">
                  <c:v>257913.729</c:v>
                </c:pt>
                <c:pt idx="6">
                  <c:v>267777.763</c:v>
                </c:pt>
                <c:pt idx="7">
                  <c:v>278019.051</c:v>
                </c:pt>
                <c:pt idx="8">
                  <c:v>288652.022</c:v>
                </c:pt>
                <c:pt idx="9">
                  <c:v>299691.656</c:v>
                </c:pt>
                <c:pt idx="10">
                  <c:v>311153.506</c:v>
                </c:pt>
                <c:pt idx="11">
                  <c:v>323053.72</c:v>
                </c:pt>
                <c:pt idx="12">
                  <c:v>335409.063</c:v>
                </c:pt>
                <c:pt idx="13">
                  <c:v>348236.942</c:v>
                </c:pt>
                <c:pt idx="14">
                  <c:v>361555.43</c:v>
                </c:pt>
                <c:pt idx="15">
                  <c:v>375383.29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U.S.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&quot;;&quot;MMMMMMM&quot;;&quot;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&quot;;&quot;MMMMMMM&quot;;&quot;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&quot;;&quot;MMMMMMM&quot;;&quot;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&quot;;&quot;MMMMMMM&quot;;&quot;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&quot;;&quot;MMMMMMM&quot;;&quot;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&quot;;&quot;MMMMMMM&quot;;&quot;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MM&quot;;&quot;MMMMMMM&quot;;&quot;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MM&quot;;&quot;MMMMMMM&quot;;&quot;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MM&quot;;&quot;MMMMMMM&quot;;&quot;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MM&quot;;&quot;MMMMMMM&quot;;&quot;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MM&quot;;&quot;MMMMMMM&quot;;&quot;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2136.262</c:v>
                </c:pt>
                <c:pt idx="1">
                  <c:v>2200.902</c:v>
                </c:pt>
                <c:pt idx="2">
                  <c:v>2267.497</c:v>
                </c:pt>
                <c:pt idx="3">
                  <c:v>2336.108</c:v>
                </c:pt>
                <c:pt idx="4">
                  <c:v>2406.795</c:v>
                </c:pt>
                <c:pt idx="5">
                  <c:v>2479.62</c:v>
                </c:pt>
                <c:pt idx="6">
                  <c:v>2574.487</c:v>
                </c:pt>
                <c:pt idx="7">
                  <c:v>2672.982</c:v>
                </c:pt>
                <c:pt idx="8">
                  <c:v>2775.246</c:v>
                </c:pt>
                <c:pt idx="9">
                  <c:v>2881.422</c:v>
                </c:pt>
                <c:pt idx="10">
                  <c:v>2991.661</c:v>
                </c:pt>
                <c:pt idx="11">
                  <c:v>3106.117</c:v>
                </c:pt>
                <c:pt idx="12">
                  <c:v>3224.952</c:v>
                </c:pt>
                <c:pt idx="13">
                  <c:v>3348.333</c:v>
                </c:pt>
                <c:pt idx="14">
                  <c:v>3476.435</c:v>
                </c:pt>
                <c:pt idx="15">
                  <c:v>3609.437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Canada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&quot;;&quot;MMMMMMM&quot;;&quot;MMM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&quot;;&quot;MMMMMMM&quot;;&quot;MMMM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&quot;;&quot;MMMMMMM&quot;;&quot;MMMM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&quot;;&quot;MMMMMMM&quot;;&quot;MMMM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&quot;;&quot;MMMMMMM&quot;;&quot;MMMM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&quot;;&quot;MMMMMMM&quot;;&quot;MMMM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MM&quot;;&quot;MMMMMMM&quot;;&quot;MMMM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MM&quot;;&quot;MMMMMMM&quot;;&quot;MMMM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MM&quot;;&quot;MMMMMMM&quot;;&quot;MMMM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MM&quot;;&quot;MMMMMMM&quot;;&quot;MMMM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MM&quot;;&quot;MMMMMMM&quot;;&quot;MMMM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929.464</c:v>
                </c:pt>
                <c:pt idx="1">
                  <c:v>964.331</c:v>
                </c:pt>
                <c:pt idx="2">
                  <c:v>1000.506</c:v>
                </c:pt>
                <c:pt idx="3">
                  <c:v>1038.038</c:v>
                </c:pt>
                <c:pt idx="4">
                  <c:v>1076.979</c:v>
                </c:pt>
                <c:pt idx="5">
                  <c:v>1117.38</c:v>
                </c:pt>
                <c:pt idx="6">
                  <c:v>1168.235</c:v>
                </c:pt>
                <c:pt idx="7">
                  <c:v>1221.405</c:v>
                </c:pt>
                <c:pt idx="8">
                  <c:v>1276.995</c:v>
                </c:pt>
                <c:pt idx="9">
                  <c:v>1335.115</c:v>
                </c:pt>
                <c:pt idx="10">
                  <c:v>1395.881</c:v>
                </c:pt>
                <c:pt idx="11">
                  <c:v>1459.412</c:v>
                </c:pt>
                <c:pt idx="12">
                  <c:v>1525.834</c:v>
                </c:pt>
                <c:pt idx="13">
                  <c:v>1595.28</c:v>
                </c:pt>
                <c:pt idx="14">
                  <c:v>1667.886</c:v>
                </c:pt>
                <c:pt idx="15">
                  <c:v>1743.797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59.937997370106736</c:v>
                </c:pt>
                <c:pt idx="1">
                  <c:v>56.530755350488185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40.06200262989327</c:v>
                </c:pt>
                <c:pt idx="1">
                  <c:v>43.469244649511815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9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Sweet muffins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109.68763689344068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111.01706978037254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3085.639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Savoury muffins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87.43256602517316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88.98293021962746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2267.5950000000003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20.0"/>
          <c:min val="8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30.0"/>
          <c:min val="7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1996.642</c:v>
                </c:pt>
                <c:pt idx="2">
                  <c:v>2178.276</c:v>
                </c:pt>
                <c:pt idx="3">
                  <c:v>2376.42</c:v>
                </c:pt>
                <c:pt idx="4">
                  <c:v>2592.578</c:v>
                </c:pt>
                <c:pt idx="5">
                  <c:v>2828.387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1996.642</c:v>
                </c:pt>
                <c:pt idx="1">
                  <c:v>181.6339999999998</c:v>
                </c:pt>
                <c:pt idx="2">
                  <c:v>198.14400000000023</c:v>
                </c:pt>
                <c:pt idx="3">
                  <c:v>216.1579999999999</c:v>
                </c:pt>
                <c:pt idx="4">
                  <c:v>235.8090000000002</c:v>
                </c:pt>
                <c:pt idx="5">
                  <c:v>257.25199999999995</c:v>
                </c:pt>
                <c:pt idx="6">
                  <c:v>3085.639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1600.358</c:v>
                </c:pt>
                <c:pt idx="2">
                  <c:v>1716.111</c:v>
                </c:pt>
                <c:pt idx="3">
                  <c:v>1840.1170000000002</c:v>
                </c:pt>
                <c:pt idx="4">
                  <c:v>1972.951</c:v>
                </c:pt>
                <c:pt idx="5">
                  <c:v>2115.2259999999997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1600.358</c:v>
                </c:pt>
                <c:pt idx="1">
                  <c:v>115.75300000000016</c:v>
                </c:pt>
                <c:pt idx="2">
                  <c:v>124.00600000000009</c:v>
                </c:pt>
                <c:pt idx="3">
                  <c:v>132.83399999999983</c:v>
                </c:pt>
                <c:pt idx="4">
                  <c:v>142.27499999999964</c:v>
                </c:pt>
                <c:pt idx="5">
                  <c:v>152.3690000000006</c:v>
                </c:pt>
                <c:pt idx="6">
                  <c:v>2267.5950000000003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54.44808179204534</c:v>
                </c:pt>
                <c:pt idx="1">
                  <c:v>55.50853489018627</c:v>
                </c:pt>
                <c:pt idx="2">
                  <c:v>57.640652360797226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45.55191820795466</c:v>
                </c:pt>
                <c:pt idx="1">
                  <c:v>44.49146510981373</c:v>
                </c:pt>
                <c:pt idx="2">
                  <c:v>42.359347639202774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 Flavours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53.099299975857285</c:v>
                </c:pt>
                <c:pt idx="1">
                  <c:v>55.53982518603316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 Flavours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46.900700024142715</c:v>
                </c:pt>
                <c:pt idx="1">
                  <c:v>44.46017481396683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4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Sweet Muffins Flavours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85.13831079659693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116.0393661384487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2930.619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Savoury Muffins Flavours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119.34294516651818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83.96063386155129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2422.615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30.0"/>
          <c:min val="7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30.0"/>
          <c:min val="7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2086.968</c:v>
                </c:pt>
                <c:pt idx="2">
                  <c:v>2234.406</c:v>
                </c:pt>
                <c:pt idx="3">
                  <c:v>2391.84</c:v>
                </c:pt>
                <c:pt idx="4">
                  <c:v>2559.9</c:v>
                </c:pt>
                <c:pt idx="5">
                  <c:v>2739.263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2086.968</c:v>
                </c:pt>
                <c:pt idx="1">
                  <c:v>147.4380000000001</c:v>
                </c:pt>
                <c:pt idx="2">
                  <c:v>157.4340000000002</c:v>
                </c:pt>
                <c:pt idx="3">
                  <c:v>168.05999999999995</c:v>
                </c:pt>
                <c:pt idx="4">
                  <c:v>179.36299999999983</c:v>
                </c:pt>
                <c:pt idx="5">
                  <c:v>191.35600000000022</c:v>
                </c:pt>
                <c:pt idx="6">
                  <c:v>2930.619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1510.032</c:v>
                </c:pt>
                <c:pt idx="2">
                  <c:v>1659.981</c:v>
                </c:pt>
                <c:pt idx="3">
                  <c:v>1824.697</c:v>
                </c:pt>
                <c:pt idx="4">
                  <c:v>2005.629</c:v>
                </c:pt>
                <c:pt idx="5">
                  <c:v>2204.35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1510.032</c:v>
                </c:pt>
                <c:pt idx="1">
                  <c:v>149.94900000000007</c:v>
                </c:pt>
                <c:pt idx="2">
                  <c:v>164.7159999999999</c:v>
                </c:pt>
                <c:pt idx="3">
                  <c:v>180.93200000000002</c:v>
                </c:pt>
                <c:pt idx="4">
                  <c:v>198.721</c:v>
                </c:pt>
                <c:pt idx="5">
                  <c:v>218.26499999999987</c:v>
                </c:pt>
                <c:pt idx="6">
                  <c:v>2422.615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 Flavours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59.6095671955028</c:v>
                </c:pt>
                <c:pt idx="1">
                  <c:v>58.01968306922435</c:v>
                </c:pt>
                <c:pt idx="2">
                  <c:v>54.74483274969859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 Flavours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40.39043280449721</c:v>
                </c:pt>
                <c:pt idx="1">
                  <c:v>41.98031693077564</c:v>
                </c:pt>
                <c:pt idx="2">
                  <c:v>45.2551672503014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Wheat-based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18.065864317922326</c:v>
                </c:pt>
                <c:pt idx="1">
                  <c:v>17.53813683408243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Oat-based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19.301214533572427</c:v>
                </c:pt>
                <c:pt idx="1">
                  <c:v>25.117601443105947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Rice-based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19.05204562228287</c:v>
                </c:pt>
                <c:pt idx="1">
                  <c:v>13.79680542976647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Corn-based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16.51763364657698</c:v>
                </c:pt>
                <c:pt idx="1">
                  <c:v>12.884474780969995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Millet-based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7.717928176272812</c:v>
                </c:pt>
                <c:pt idx="1">
                  <c:v>8.05721224667448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Almond and other nut flour-based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2.4240780320186355</c:v>
                </c:pt>
                <c:pt idx="1">
                  <c:v>3.371273691714247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Other single-flour bases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12.568894200414382</c:v>
                </c:pt>
                <c:pt idx="1">
                  <c:v>13.681108715846818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Multigrain and blended flour bases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4.352341470939565</c:v>
                </c:pt>
                <c:pt idx="1">
                  <c:v>5.553386857839602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9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Wheat-based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102.10894597362159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140.52087850986933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948.06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Oat-based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140.50622135313705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158.84392549346677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1243.178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Rice-based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65.85213207008712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141.86043925493468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830.216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Corn-based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78.11266911425861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122.61195440644981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753.091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Millet-based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141.81268895409318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54.083291631915486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425.405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Almond and other nut flour-based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102.77434831511454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24.238420906310814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163.955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Other single-flour bases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115.5796766942104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100.29068668334725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712.987</c:v>
                </c:pt>
              </c:numCache>
            </c:numRef>
          </c:bubbleSize>
          <c:bubble3D val="0"/>
        </c:ser>
        <c:ser>
          <c:idx val="7"/>
          <c:order val="7"/>
          <c:tx>
            <c:strRef>
              <c:strCache>
                <c:ptCount val="1"/>
                <c:pt idx="0">
                  <c:v>Multigrain and blended flour bases</c:v>
                </c:pt>
              </c:strCache>
            </c:strRef>
          </c:tx>
          <c:spPr>
            <a:solidFill>
              <a:srgbClr val="A86F0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16.259649403422724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57.55040311370587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276.342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80.0"/>
          <c:min val="-2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631.817</c:v>
                </c:pt>
                <c:pt idx="2">
                  <c:v>685.169</c:v>
                </c:pt>
                <c:pt idx="3">
                  <c:v>743.063</c:v>
                </c:pt>
                <c:pt idx="4">
                  <c:v>805.886</c:v>
                </c:pt>
                <c:pt idx="5">
                  <c:v>874.067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631.817</c:v>
                </c:pt>
                <c:pt idx="1">
                  <c:v>53.351999999999975</c:v>
                </c:pt>
                <c:pt idx="2">
                  <c:v>57.894000000000005</c:v>
                </c:pt>
                <c:pt idx="3">
                  <c:v>62.82299999999998</c:v>
                </c:pt>
                <c:pt idx="4">
                  <c:v>68.18100000000004</c:v>
                </c:pt>
                <c:pt idx="5">
                  <c:v>73.99299999999994</c:v>
                </c:pt>
                <c:pt idx="6">
                  <c:v>948.06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714.202</c:v>
                </c:pt>
                <c:pt idx="2">
                  <c:v>800.099</c:v>
                </c:pt>
                <c:pt idx="3">
                  <c:v>895.012</c:v>
                </c:pt>
                <c:pt idx="4">
                  <c:v>999.832</c:v>
                </c:pt>
                <c:pt idx="5">
                  <c:v>1115.529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714.202</c:v>
                </c:pt>
                <c:pt idx="1">
                  <c:v>85.89700000000005</c:v>
                </c:pt>
                <c:pt idx="2">
                  <c:v>94.9129999999999</c:v>
                </c:pt>
                <c:pt idx="3">
                  <c:v>104.82000000000005</c:v>
                </c:pt>
                <c:pt idx="4">
                  <c:v>115.697</c:v>
                </c:pt>
                <c:pt idx="5">
                  <c:v>127.64900000000011</c:v>
                </c:pt>
                <c:pt idx="6">
                  <c:v>1243.178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637.84</c:v>
                </c:pt>
                <c:pt idx="2">
                  <c:v>672.933</c:v>
                </c:pt>
                <c:pt idx="3">
                  <c:v>709.677</c:v>
                </c:pt>
                <c:pt idx="4">
                  <c:v>748.115</c:v>
                </c:pt>
                <c:pt idx="5">
                  <c:v>788.282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637.84</c:v>
                </c:pt>
                <c:pt idx="1">
                  <c:v>35.09299999999996</c:v>
                </c:pt>
                <c:pt idx="2">
                  <c:v>36.74400000000003</c:v>
                </c:pt>
                <c:pt idx="3">
                  <c:v>38.43799999999999</c:v>
                </c:pt>
                <c:pt idx="4">
                  <c:v>40.16700000000003</c:v>
                </c:pt>
                <c:pt idx="5">
                  <c:v>41.93399999999997</c:v>
                </c:pt>
                <c:pt idx="6">
                  <c:v>830.216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551.294</c:v>
                </c:pt>
                <c:pt idx="2">
                  <c:v>586.865</c:v>
                </c:pt>
                <c:pt idx="3">
                  <c:v>624.689</c:v>
                </c:pt>
                <c:pt idx="4">
                  <c:v>664.904</c:v>
                </c:pt>
                <c:pt idx="5">
                  <c:v>707.654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551.294</c:v>
                </c:pt>
                <c:pt idx="1">
                  <c:v>35.571000000000026</c:v>
                </c:pt>
                <c:pt idx="2">
                  <c:v>37.823999999999955</c:v>
                </c:pt>
                <c:pt idx="3">
                  <c:v>40.21500000000003</c:v>
                </c:pt>
                <c:pt idx="4">
                  <c:v>42.75</c:v>
                </c:pt>
                <c:pt idx="5">
                  <c:v>45.43700000000001</c:v>
                </c:pt>
                <c:pt idx="6">
                  <c:v>753.091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243.172</c:v>
                </c:pt>
                <c:pt idx="2">
                  <c:v>272.7</c:v>
                </c:pt>
                <c:pt idx="3">
                  <c:v>305.359</c:v>
                </c:pt>
                <c:pt idx="4">
                  <c:v>341.461</c:v>
                </c:pt>
                <c:pt idx="5">
                  <c:v>381.351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243.172</c:v>
                </c:pt>
                <c:pt idx="1">
                  <c:v>29.52799999999999</c:v>
                </c:pt>
                <c:pt idx="2">
                  <c:v>32.65899999999999</c:v>
                </c:pt>
                <c:pt idx="3">
                  <c:v>36.10200000000003</c:v>
                </c:pt>
                <c:pt idx="4">
                  <c:v>39.889999999999986</c:v>
                </c:pt>
                <c:pt idx="5">
                  <c:v>44.053999999999974</c:v>
                </c:pt>
                <c:pt idx="6">
                  <c:v>425.405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108.982</c:v>
                </c:pt>
                <c:pt idx="2">
                  <c:v>118.254</c:v>
                </c:pt>
                <c:pt idx="3">
                  <c:v>128.316</c:v>
                </c:pt>
                <c:pt idx="4">
                  <c:v>139.237</c:v>
                </c:pt>
                <c:pt idx="5">
                  <c:v>151.09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108.982</c:v>
                </c:pt>
                <c:pt idx="1">
                  <c:v>9.272000000000006</c:v>
                </c:pt>
                <c:pt idx="2">
                  <c:v>10.061999999999998</c:v>
                </c:pt>
                <c:pt idx="3">
                  <c:v>10.920999999999992</c:v>
                </c:pt>
                <c:pt idx="4">
                  <c:v>11.853000000000009</c:v>
                </c:pt>
                <c:pt idx="5">
                  <c:v>12.865000000000009</c:v>
                </c:pt>
                <c:pt idx="6">
                  <c:v>163.955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450.932</c:v>
                </c:pt>
                <c:pt idx="2">
                  <c:v>494.421</c:v>
                </c:pt>
                <c:pt idx="3">
                  <c:v>541.979</c:v>
                </c:pt>
                <c:pt idx="4">
                  <c:v>593.98</c:v>
                </c:pt>
                <c:pt idx="5">
                  <c:v>650.834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450.932</c:v>
                </c:pt>
                <c:pt idx="1">
                  <c:v>43.488999999999976</c:v>
                </c:pt>
                <c:pt idx="2">
                  <c:v>47.55800000000005</c:v>
                </c:pt>
                <c:pt idx="3">
                  <c:v>52.000999999999976</c:v>
                </c:pt>
                <c:pt idx="4">
                  <c:v>56.85399999999993</c:v>
                </c:pt>
                <c:pt idx="5">
                  <c:v>62.15300000000002</c:v>
                </c:pt>
                <c:pt idx="6">
                  <c:v>712.987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258.761</c:v>
                </c:pt>
                <c:pt idx="2">
                  <c:v>263.946</c:v>
                </c:pt>
                <c:pt idx="3">
                  <c:v>268.442</c:v>
                </c:pt>
                <c:pt idx="4">
                  <c:v>272.114</c:v>
                </c:pt>
                <c:pt idx="5">
                  <c:v>274.806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258.761</c:v>
                </c:pt>
                <c:pt idx="1">
                  <c:v>5.185000000000002</c:v>
                </c:pt>
                <c:pt idx="2">
                  <c:v>4.495999999999981</c:v>
                </c:pt>
                <c:pt idx="3">
                  <c:v>3.6719999999999686</c:v>
                </c:pt>
                <c:pt idx="4">
                  <c:v>2.6920000000000073</c:v>
                </c:pt>
                <c:pt idx="5">
                  <c:v>1.5360000000000014</c:v>
                </c:pt>
                <c:pt idx="6">
                  <c:v>276.342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Oat-based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18.095322282552324</c:v>
                </c:pt>
                <c:pt idx="1">
                  <c:v>19.855490686683346</c:v>
                </c:pt>
                <c:pt idx="2">
                  <c:v>23.222934024554128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Wheat-based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17.494192240271964</c:v>
                </c:pt>
                <c:pt idx="1">
                  <c:v>17.565109813733667</c:v>
                </c:pt>
                <c:pt idx="2">
                  <c:v>17.71004219131837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Rice-based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18.883683669055877</c:v>
                </c:pt>
                <c:pt idx="1">
                  <c:v>17.732554906866834</c:v>
                </c:pt>
                <c:pt idx="2">
                  <c:v>15.50868129433535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Corn-based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15.980978078275749</c:v>
                </c:pt>
                <c:pt idx="1">
                  <c:v>15.326494300806226</c:v>
                </c:pt>
                <c:pt idx="2">
                  <c:v>14.067963403056918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Other single-flour bases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12.131221120217528</c:v>
                </c:pt>
                <c:pt idx="1">
                  <c:v>12.536335835418406</c:v>
                </c:pt>
                <c:pt idx="2">
                  <c:v>13.318808779888942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Millet-based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6.144678291536817</c:v>
                </c:pt>
                <c:pt idx="1">
                  <c:v>6.760411453989436</c:v>
                </c:pt>
                <c:pt idx="2">
                  <c:v>7.946691663394501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Multigrain and blended flour bases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8.25716322985159</c:v>
                </c:pt>
                <c:pt idx="1">
                  <c:v>7.193800389213234</c:v>
                </c:pt>
                <c:pt idx="2">
                  <c:v>5.162150580378141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Almond and other nut flour-based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3.012761088238153</c:v>
                </c:pt>
                <c:pt idx="1">
                  <c:v>3.029802613288852</c:v>
                </c:pt>
                <c:pt idx="2">
                  <c:v>3.062728063073649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Conventional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17.062421830063933</c:v>
                </c:pt>
                <c:pt idx="1">
                  <c:v>18.74031878101765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Gluten-free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48.27677762950619</c:v>
                </c:pt>
                <c:pt idx="1">
                  <c:v>47.16486255335666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Vegan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3.827968507802227</c:v>
                </c:pt>
                <c:pt idx="1">
                  <c:v>5.624672213422759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Gluten-free and vegan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30.832832032627657</c:v>
                </c:pt>
                <c:pt idx="1">
                  <c:v>28.47014645220294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0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Conventional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127.94527740497182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65.30252988601612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973.954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Gluten-free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111.82630117821819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181.562635529608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2544.235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Vegan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30.540874509100746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26.524437030859048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269.771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Gluten-free and vegan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79.73921872118434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126.61039755351683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1565.274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60.0"/>
          <c:min val="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587.233</c:v>
                </c:pt>
                <c:pt idx="2">
                  <c:v>652.105</c:v>
                </c:pt>
                <c:pt idx="3">
                  <c:v>722.678</c:v>
                </c:pt>
                <c:pt idx="4">
                  <c:v>799.466</c:v>
                </c:pt>
                <c:pt idx="5">
                  <c:v>883.024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587.233</c:v>
                </c:pt>
                <c:pt idx="1">
                  <c:v>64.87200000000007</c:v>
                </c:pt>
                <c:pt idx="2">
                  <c:v>70.57299999999998</c:v>
                </c:pt>
                <c:pt idx="3">
                  <c:v>76.78800000000001</c:v>
                </c:pt>
                <c:pt idx="4">
                  <c:v>83.55799999999999</c:v>
                </c:pt>
                <c:pt idx="5">
                  <c:v>90.92999999999995</c:v>
                </c:pt>
                <c:pt idx="6">
                  <c:v>973.954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1632.702</c:v>
                </c:pt>
                <c:pt idx="2">
                  <c:v>1786.292</c:v>
                </c:pt>
                <c:pt idx="3">
                  <c:v>1953.045</c:v>
                </c:pt>
                <c:pt idx="4">
                  <c:v>2134.108</c:v>
                </c:pt>
                <c:pt idx="5">
                  <c:v>2330.72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1632.702</c:v>
                </c:pt>
                <c:pt idx="1">
                  <c:v>153.58999999999992</c:v>
                </c:pt>
                <c:pt idx="2">
                  <c:v>166.75300000000016</c:v>
                </c:pt>
                <c:pt idx="3">
                  <c:v>181.0630000000001</c:v>
                </c:pt>
                <c:pt idx="4">
                  <c:v>196.61199999999963</c:v>
                </c:pt>
                <c:pt idx="5">
                  <c:v>213.51500000000033</c:v>
                </c:pt>
                <c:pt idx="6">
                  <c:v>2544.235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238.521</c:v>
                </c:pt>
                <c:pt idx="2">
                  <c:v>244.352</c:v>
                </c:pt>
                <c:pt idx="3">
                  <c:v>250.404</c:v>
                </c:pt>
                <c:pt idx="4">
                  <c:v>256.666</c:v>
                </c:pt>
                <c:pt idx="5">
                  <c:v>263.127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238.521</c:v>
                </c:pt>
                <c:pt idx="1">
                  <c:v>5.831000000000017</c:v>
                </c:pt>
                <c:pt idx="2">
                  <c:v>6.0519999999999925</c:v>
                </c:pt>
                <c:pt idx="3">
                  <c:v>6.2620000000000005</c:v>
                </c:pt>
                <c:pt idx="4">
                  <c:v>6.461000000000013</c:v>
                </c:pt>
                <c:pt idx="5">
                  <c:v>6.6440000000000055</c:v>
                </c:pt>
                <c:pt idx="6">
                  <c:v>269.771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1138.544</c:v>
                </c:pt>
                <c:pt idx="2">
                  <c:v>1211.638</c:v>
                </c:pt>
                <c:pt idx="3">
                  <c:v>1290.41</c:v>
                </c:pt>
                <c:pt idx="4">
                  <c:v>1375.289</c:v>
                </c:pt>
                <c:pt idx="5">
                  <c:v>1466.742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1138.544</c:v>
                </c:pt>
                <c:pt idx="1">
                  <c:v>73.09399999999982</c:v>
                </c:pt>
                <c:pt idx="2">
                  <c:v>78.77200000000016</c:v>
                </c:pt>
                <c:pt idx="3">
                  <c:v>84.8789999999999</c:v>
                </c:pt>
                <c:pt idx="4">
                  <c:v>91.45299999999997</c:v>
                </c:pt>
                <c:pt idx="5">
                  <c:v>98.53199999999993</c:v>
                </c:pt>
                <c:pt idx="6">
                  <c:v>1565.274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(base)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44.05873192842413</c:v>
                </c:pt>
                <c:pt idx="1">
                  <c:v>45.390658882402</c:v>
                </c:pt>
                <c:pt idx="2">
                  <c:v>47.52706494802955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and vegan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33.160073666074524</c:v>
                </c:pt>
                <c:pt idx="1">
                  <c:v>31.65259938837921</c:v>
                </c:pt>
                <c:pt idx="2">
                  <c:v>29.23978290506262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Conventional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15.153833056183103</c:v>
                </c:pt>
                <c:pt idx="1">
                  <c:v>16.32563247150403</c:v>
                </c:pt>
                <c:pt idx="2">
                  <c:v>18.19374979685177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Vegan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7.627361349318236</c:v>
                </c:pt>
                <c:pt idx="1">
                  <c:v>6.631109257714762</c:v>
                </c:pt>
                <c:pt idx="2">
                  <c:v>5.03940235005606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Standard / indulgent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21.11266391672884</c:v>
                </c:pt>
                <c:pt idx="1">
                  <c:v>17.233324753971324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Protein-enriched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19.606123877951394</c:v>
                </c:pt>
                <c:pt idx="1">
                  <c:v>26.81379395179913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Fibre-enriched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4.484925710962917</c:v>
                </c:pt>
                <c:pt idx="1">
                  <c:v>3.6038030307773763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Reduced-sugar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22.037771598414267</c:v>
                </c:pt>
                <c:pt idx="1">
                  <c:v>19.278796111415712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No-added-sugar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7.356360860811208</c:v>
                </c:pt>
                <c:pt idx="1">
                  <c:v>7.708404385503889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Reduced-fat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15.146487807927187</c:v>
                </c:pt>
                <c:pt idx="1">
                  <c:v>13.449105774667904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Other nutrition-focused formulations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10.2556662272042</c:v>
                </c:pt>
                <c:pt idx="1">
                  <c:v>11.912771991864659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Standard / indulgent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89.91541165369776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134.68062274117318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990.188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Protein-enriched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128.13273231332042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153.56544342507647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1309.718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Fibre-enriched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158.44129512804915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21.74281345565749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208.285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Reduced-sugar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122.48688948395652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129.43869891576313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1080.15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No-added-sugar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82.57112115193229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56.906088407005825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406.51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Reduced-fat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91.53311929856372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101.30850708924102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749.561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Other nutrition-focused formulations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36.32820505201673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102.35782596608283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608.822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90.0"/>
          <c:min val="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692.066</c:v>
                </c:pt>
                <c:pt idx="2">
                  <c:v>743.856</c:v>
                </c:pt>
                <c:pt idx="3">
                  <c:v>799.328</c:v>
                </c:pt>
                <c:pt idx="4">
                  <c:v>858.711</c:v>
                </c:pt>
                <c:pt idx="5">
                  <c:v>922.247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692.066</c:v>
                </c:pt>
                <c:pt idx="1">
                  <c:v>51.789999999999964</c:v>
                </c:pt>
                <c:pt idx="2">
                  <c:v>55.47199999999998</c:v>
                </c:pt>
                <c:pt idx="3">
                  <c:v>59.38300000000004</c:v>
                </c:pt>
                <c:pt idx="4">
                  <c:v>63.535999999999945</c:v>
                </c:pt>
                <c:pt idx="5">
                  <c:v>67.94100000000003</c:v>
                </c:pt>
                <c:pt idx="6">
                  <c:v>990.188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789.107</c:v>
                </c:pt>
                <c:pt idx="2">
                  <c:v>872.962</c:v>
                </c:pt>
                <c:pt idx="3">
                  <c:v>965.884</c:v>
                </c:pt>
                <c:pt idx="4">
                  <c:v>1068.884</c:v>
                </c:pt>
                <c:pt idx="5">
                  <c:v>1183.078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789.107</c:v>
                </c:pt>
                <c:pt idx="1">
                  <c:v>83.85500000000002</c:v>
                </c:pt>
                <c:pt idx="2">
                  <c:v>92.92200000000003</c:v>
                </c:pt>
                <c:pt idx="3">
                  <c:v>103.0</c:v>
                </c:pt>
                <c:pt idx="4">
                  <c:v>114.19399999999996</c:v>
                </c:pt>
                <c:pt idx="5">
                  <c:v>126.6400000000001</c:v>
                </c:pt>
                <c:pt idx="6">
                  <c:v>1309.718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111.727</c:v>
                </c:pt>
                <c:pt idx="2">
                  <c:v>126.719</c:v>
                </c:pt>
                <c:pt idx="3">
                  <c:v>143.618</c:v>
                </c:pt>
                <c:pt idx="4">
                  <c:v>162.66</c:v>
                </c:pt>
                <c:pt idx="5">
                  <c:v>184.115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111.727</c:v>
                </c:pt>
                <c:pt idx="1">
                  <c:v>14.99199999999999</c:v>
                </c:pt>
                <c:pt idx="2">
                  <c:v>16.899</c:v>
                </c:pt>
                <c:pt idx="3">
                  <c:v>19.042</c:v>
                </c:pt>
                <c:pt idx="4">
                  <c:v>21.455000000000013</c:v>
                </c:pt>
                <c:pt idx="5">
                  <c:v>24.169999999999987</c:v>
                </c:pt>
                <c:pt idx="6">
                  <c:v>208.285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665.13</c:v>
                </c:pt>
                <c:pt idx="2">
                  <c:v>732.506</c:v>
                </c:pt>
                <c:pt idx="3">
                  <c:v>806.898</c:v>
                </c:pt>
                <c:pt idx="4">
                  <c:v>889.061</c:v>
                </c:pt>
                <c:pt idx="5">
                  <c:v>979.834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665.13</c:v>
                </c:pt>
                <c:pt idx="1">
                  <c:v>67.37599999999998</c:v>
                </c:pt>
                <c:pt idx="2">
                  <c:v>74.39200000000005</c:v>
                </c:pt>
                <c:pt idx="3">
                  <c:v>82.16300000000001</c:v>
                </c:pt>
                <c:pt idx="4">
                  <c:v>90.77299999999991</c:v>
                </c:pt>
                <c:pt idx="5">
                  <c:v>100.31600000000014</c:v>
                </c:pt>
                <c:pt idx="6">
                  <c:v>1080.15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292.416</c:v>
                </c:pt>
                <c:pt idx="2">
                  <c:v>312.649</c:v>
                </c:pt>
                <c:pt idx="3">
                  <c:v>334.124</c:v>
                </c:pt>
                <c:pt idx="4">
                  <c:v>356.893</c:v>
                </c:pt>
                <c:pt idx="5">
                  <c:v>381.007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292.416</c:v>
                </c:pt>
                <c:pt idx="1">
                  <c:v>20.233000000000004</c:v>
                </c:pt>
                <c:pt idx="2">
                  <c:v>21.475000000000023</c:v>
                </c:pt>
                <c:pt idx="3">
                  <c:v>22.76899999999995</c:v>
                </c:pt>
                <c:pt idx="4">
                  <c:v>24.114000000000033</c:v>
                </c:pt>
                <c:pt idx="5">
                  <c:v>25.502999999999986</c:v>
                </c:pt>
                <c:pt idx="6">
                  <c:v>406.51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520.581</c:v>
                </c:pt>
                <c:pt idx="2">
                  <c:v>560.175</c:v>
                </c:pt>
                <c:pt idx="3">
                  <c:v>602.669</c:v>
                </c:pt>
                <c:pt idx="4">
                  <c:v>648.259</c:v>
                </c:pt>
                <c:pt idx="5">
                  <c:v>697.15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520.581</c:v>
                </c:pt>
                <c:pt idx="1">
                  <c:v>39.59399999999994</c:v>
                </c:pt>
                <c:pt idx="2">
                  <c:v>42.49400000000003</c:v>
                </c:pt>
                <c:pt idx="3">
                  <c:v>45.59000000000003</c:v>
                </c:pt>
                <c:pt idx="4">
                  <c:v>48.89099999999996</c:v>
                </c:pt>
                <c:pt idx="5">
                  <c:v>52.41100000000006</c:v>
                </c:pt>
                <c:pt idx="6">
                  <c:v>749.561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525.973</c:v>
                </c:pt>
                <c:pt idx="2">
                  <c:v>545.52</c:v>
                </c:pt>
                <c:pt idx="3">
                  <c:v>564.016</c:v>
                </c:pt>
                <c:pt idx="4">
                  <c:v>581.061</c:v>
                </c:pt>
                <c:pt idx="5">
                  <c:v>596.182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525.973</c:v>
                </c:pt>
                <c:pt idx="1">
                  <c:v>19.547000000000025</c:v>
                </c:pt>
                <c:pt idx="2">
                  <c:v>18.49599999999998</c:v>
                </c:pt>
                <c:pt idx="3">
                  <c:v>17.045000000000073</c:v>
                </c:pt>
                <c:pt idx="4">
                  <c:v>15.120999999999981</c:v>
                </c:pt>
                <c:pt idx="5">
                  <c:v>12.639999999999986</c:v>
                </c:pt>
                <c:pt idx="6">
                  <c:v>608.822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Protein-enriched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20.797814286077752</c:v>
                </c:pt>
                <c:pt idx="1">
                  <c:v>21.937920489296637</c:v>
                </c:pt>
                <c:pt idx="2">
                  <c:v>24.465920974125176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Reduced-sugar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17.73380921843635</c:v>
                </c:pt>
                <c:pt idx="1">
                  <c:v>18.491242702251874</c:v>
                </c:pt>
                <c:pt idx="2">
                  <c:v>20.177522596621035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Standard / indulgent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19.569981139867032</c:v>
                </c:pt>
                <c:pt idx="1">
                  <c:v>19.240088963024743</c:v>
                </c:pt>
                <c:pt idx="2">
                  <c:v>18.497005735224725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Reduced-fat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14.682655919022118</c:v>
                </c:pt>
                <c:pt idx="1">
                  <c:v>14.472643869891577</c:v>
                </c:pt>
                <c:pt idx="2">
                  <c:v>14.002021955326443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Other nutrition-focused formulations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16.090185489505586</c:v>
                </c:pt>
                <c:pt idx="1">
                  <c:v>14.622546566583264</c:v>
                </c:pt>
                <c:pt idx="2">
                  <c:v>11.372975662935712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No-added-sugar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8.370937259233212</c:v>
                </c:pt>
                <c:pt idx="1">
                  <c:v>8.129441201000834</c:v>
                </c:pt>
                <c:pt idx="2">
                  <c:v>7.593727455216789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Fibre-enriched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2.754616687857949</c:v>
                </c:pt>
                <c:pt idx="1">
                  <c:v>3.1061162079510702</c:v>
                </c:pt>
                <c:pt idx="2">
                  <c:v>3.8908256205501193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Organic-certified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15.037300786731484</c:v>
                </c:pt>
                <c:pt idx="1">
                  <c:v>13.02385939967923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Conventional / non-organic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1.5877421511792944</c:v>
                </c:pt>
                <c:pt idx="1">
                  <c:v>1.472999805786886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Additional claim mapping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83.37495706208922</c:v>
                </c:pt>
                <c:pt idx="1">
                  <c:v>85.50314079453388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Organic-certified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59.69729305957804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48.080400333611344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732.308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Conventional / non-organic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50.61798119207507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5.503252710592159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80.854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Additional claim mapping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108.22297601619515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246.4163469557965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4540.072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25.0"/>
          <c:min val="3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3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576.484</c:v>
                </c:pt>
                <c:pt idx="2">
                  <c:v>606.137</c:v>
                </c:pt>
                <c:pt idx="3">
                  <c:v>636.636</c:v>
                </c:pt>
                <c:pt idx="4">
                  <c:v>667.902</c:v>
                </c:pt>
                <c:pt idx="5">
                  <c:v>699.832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576.484</c:v>
                </c:pt>
                <c:pt idx="1">
                  <c:v>29.652999999999906</c:v>
                </c:pt>
                <c:pt idx="2">
                  <c:v>30.499000000000024</c:v>
                </c:pt>
                <c:pt idx="3">
                  <c:v>31.266000000000076</c:v>
                </c:pt>
                <c:pt idx="4">
                  <c:v>31.92999999999995</c:v>
                </c:pt>
                <c:pt idx="5">
                  <c:v>32.476</c:v>
                </c:pt>
                <c:pt idx="6">
                  <c:v>732.308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65.984</c:v>
                </c:pt>
                <c:pt idx="2">
                  <c:v>68.951</c:v>
                </c:pt>
                <c:pt idx="3">
                  <c:v>71.942</c:v>
                </c:pt>
                <c:pt idx="4">
                  <c:v>74.938</c:v>
                </c:pt>
                <c:pt idx="5">
                  <c:v>77.918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65.984</c:v>
                </c:pt>
                <c:pt idx="1">
                  <c:v>2.9669999999999987</c:v>
                </c:pt>
                <c:pt idx="2">
                  <c:v>2.9909999999999997</c:v>
                </c:pt>
                <c:pt idx="3">
                  <c:v>2.9960000000000093</c:v>
                </c:pt>
                <c:pt idx="4">
                  <c:v>2.980000000000004</c:v>
                </c:pt>
                <c:pt idx="5">
                  <c:v>2.935999999999993</c:v>
                </c:pt>
                <c:pt idx="6">
                  <c:v>80.854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2954.532</c:v>
                </c:pt>
                <c:pt idx="2">
                  <c:v>3219.299</c:v>
                </c:pt>
                <c:pt idx="3">
                  <c:v>3507.959</c:v>
                </c:pt>
                <c:pt idx="4">
                  <c:v>3822.689</c:v>
                </c:pt>
                <c:pt idx="5">
                  <c:v>4165.863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2954.532</c:v>
                </c:pt>
                <c:pt idx="1">
                  <c:v>264.7669999999998</c:v>
                </c:pt>
                <c:pt idx="2">
                  <c:v>288.65999999999985</c:v>
                </c:pt>
                <c:pt idx="3">
                  <c:v>314.73</c:v>
                </c:pt>
                <c:pt idx="4">
                  <c:v>343.17400000000043</c:v>
                </c:pt>
                <c:pt idx="5">
                  <c:v>374.20899999999983</c:v>
                </c:pt>
                <c:pt idx="6">
                  <c:v>4540.072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Additional claim mapping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80.83954665224485</c:v>
                </c:pt>
                <c:pt idx="1">
                  <c:v>82.13878231859883</c:v>
                </c:pt>
                <c:pt idx="2">
                  <c:v>84.80989248741975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Organic-certified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17.168233560337747</c:v>
                </c:pt>
                <c:pt idx="1">
                  <c:v>16.02680011120378</c:v>
                </c:pt>
                <c:pt idx="2">
                  <c:v>13.679730794506648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Conventional / non-organic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1.9922197874174015</c:v>
                </c:pt>
                <c:pt idx="1">
                  <c:v>1.8344175701973866</c:v>
                </c:pt>
                <c:pt idx="2">
                  <c:v>1.510376718073598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Unfilled muffins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34.340121011792085</c:v>
                </c:pt>
                <c:pt idx="1">
                  <c:v>36.29039653552618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Filled muffins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65.65987898820791</c:v>
                </c:pt>
                <c:pt idx="1">
                  <c:v>63.709603464473815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3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Unfilled muffins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96.85364529681789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72.19071448429246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1908.701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Filled muffins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101.76192876506514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127.80928551570754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3444.5330000000004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50.0"/>
          <c:min val="5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1298.35</c:v>
                </c:pt>
                <c:pt idx="2">
                  <c:v>1402.373</c:v>
                </c:pt>
                <c:pt idx="3">
                  <c:v>1514.728</c:v>
                </c:pt>
                <c:pt idx="4">
                  <c:v>1636.079</c:v>
                </c:pt>
                <c:pt idx="5">
                  <c:v>1767.143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1298.35</c:v>
                </c:pt>
                <c:pt idx="1">
                  <c:v>104.02300000000014</c:v>
                </c:pt>
                <c:pt idx="2">
                  <c:v>112.35500000000002</c:v>
                </c:pt>
                <c:pt idx="3">
                  <c:v>121.35099999999989</c:v>
                </c:pt>
                <c:pt idx="4">
                  <c:v>131.06400000000008</c:v>
                </c:pt>
                <c:pt idx="5">
                  <c:v>141.558</c:v>
                </c:pt>
                <c:pt idx="6">
                  <c:v>1908.701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2298.65</c:v>
                </c:pt>
                <c:pt idx="2">
                  <c:v>2492.014</c:v>
                </c:pt>
                <c:pt idx="3">
                  <c:v>2701.809</c:v>
                </c:pt>
                <c:pt idx="4">
                  <c:v>2929.45</c:v>
                </c:pt>
                <c:pt idx="5">
                  <c:v>3176.47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2298.65</c:v>
                </c:pt>
                <c:pt idx="1">
                  <c:v>193.36400000000003</c:v>
                </c:pt>
                <c:pt idx="2">
                  <c:v>209.79500000000007</c:v>
                </c:pt>
                <c:pt idx="3">
                  <c:v>227.64099999999962</c:v>
                </c:pt>
                <c:pt idx="4">
                  <c:v>247.01999999999998</c:v>
                </c:pt>
                <c:pt idx="5">
                  <c:v>268.06300000000056</c:v>
                </c:pt>
                <c:pt idx="6">
                  <c:v>3444.5330000000004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Filled muffins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63.6977016210842</c:v>
                </c:pt>
                <c:pt idx="1">
                  <c:v>63.90464275785377</c:v>
                </c:pt>
                <c:pt idx="2">
                  <c:v>64.34489880322812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Unfilled muffins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36.30229837891579</c:v>
                </c:pt>
                <c:pt idx="1">
                  <c:v>36.09535724214623</c:v>
                </c:pt>
                <c:pt idx="2">
                  <c:v>35.655101196771895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Untopped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7.062175241728252</c:v>
                </c:pt>
                <c:pt idx="1">
                  <c:v>6.9587029777774205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Crumb / streusel-topped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5.0551755737623125</c:v>
                </c:pt>
                <c:pt idx="1">
                  <c:v>5.7763579195314945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Sugar-topped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6.161611701362028</c:v>
                </c:pt>
                <c:pt idx="1">
                  <c:v>10.21067828583793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Nut and seed-topped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41.83445664833694</c:v>
                </c:pt>
                <c:pt idx="1">
                  <c:v>34.41838713350586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Glazed / drizzled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30.76780152735668</c:v>
                </c:pt>
                <c:pt idx="1">
                  <c:v>32.787551077910486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Other toppings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9.118779307453792</c:v>
                </c:pt>
                <c:pt idx="1">
                  <c:v>9.848322605436802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8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Untopped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27.97184184596225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55.77731442869058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374.32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Crumb / streusel-topped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36.44554096971022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42.728607172643876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296.646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Sugar-topped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38.94725976243744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67.87989991659717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475.994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Nut and seed-topped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133.05777422547763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194.44487072560466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1971.818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Glazed / drizzled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106.08758649068241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188.26238532110094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1719.974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Other toppings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132.17420834259633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50.90692243536281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514.482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60.0"/>
          <c:min val="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334.385</c:v>
                </c:pt>
                <c:pt idx="2">
                  <c:v>343.791</c:v>
                </c:pt>
                <c:pt idx="3">
                  <c:v>352.643</c:v>
                </c:pt>
                <c:pt idx="4">
                  <c:v>360.795</c:v>
                </c:pt>
                <c:pt idx="5">
                  <c:v>368.083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334.385</c:v>
                </c:pt>
                <c:pt idx="1">
                  <c:v>9.406000000000006</c:v>
                </c:pt>
                <c:pt idx="2">
                  <c:v>8.851999999999975</c:v>
                </c:pt>
                <c:pt idx="3">
                  <c:v>8.152000000000044</c:v>
                </c:pt>
                <c:pt idx="4">
                  <c:v>7.288000000000011</c:v>
                </c:pt>
                <c:pt idx="5">
                  <c:v>6.236999999999966</c:v>
                </c:pt>
                <c:pt idx="6">
                  <c:v>374.32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256.158</c:v>
                </c:pt>
                <c:pt idx="2">
                  <c:v>264.815</c:v>
                </c:pt>
                <c:pt idx="3">
                  <c:v>273.282</c:v>
                </c:pt>
                <c:pt idx="4">
                  <c:v>281.474</c:v>
                </c:pt>
                <c:pt idx="5">
                  <c:v>289.298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256.158</c:v>
                </c:pt>
                <c:pt idx="1">
                  <c:v>8.656999999999982</c:v>
                </c:pt>
                <c:pt idx="2">
                  <c:v>8.466999999999985</c:v>
                </c:pt>
                <c:pt idx="3">
                  <c:v>8.192000000000007</c:v>
                </c:pt>
                <c:pt idx="4">
                  <c:v>7.824000000000012</c:v>
                </c:pt>
                <c:pt idx="5">
                  <c:v>7.348000000000013</c:v>
                </c:pt>
                <c:pt idx="6">
                  <c:v>296.646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406.94</c:v>
                </c:pt>
                <c:pt idx="2">
                  <c:v>421.352</c:v>
                </c:pt>
                <c:pt idx="3">
                  <c:v>435.586</c:v>
                </c:pt>
                <c:pt idx="4">
                  <c:v>449.528</c:v>
                </c:pt>
                <c:pt idx="5">
                  <c:v>463.047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406.94</c:v>
                </c:pt>
                <c:pt idx="1">
                  <c:v>14.411999999999978</c:v>
                </c:pt>
                <c:pt idx="2">
                  <c:v>14.234000000000037</c:v>
                </c:pt>
                <c:pt idx="3">
                  <c:v>13.942000000000007</c:v>
                </c:pt>
                <c:pt idx="4">
                  <c:v>13.519000000000005</c:v>
                </c:pt>
                <c:pt idx="5">
                  <c:v>12.947000000000003</c:v>
                </c:pt>
                <c:pt idx="6">
                  <c:v>475.994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1165.697</c:v>
                </c:pt>
                <c:pt idx="2">
                  <c:v>1297.112</c:v>
                </c:pt>
                <c:pt idx="3">
                  <c:v>1442.041</c:v>
                </c:pt>
                <c:pt idx="4">
                  <c:v>1601.813</c:v>
                </c:pt>
                <c:pt idx="5">
                  <c:v>1777.876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1165.697</c:v>
                </c:pt>
                <c:pt idx="1">
                  <c:v>131.4150000000002</c:v>
                </c:pt>
                <c:pt idx="2">
                  <c:v>144.92899999999986</c:v>
                </c:pt>
                <c:pt idx="3">
                  <c:v>159.77200000000016</c:v>
                </c:pt>
                <c:pt idx="4">
                  <c:v>176.06299999999987</c:v>
                </c:pt>
                <c:pt idx="5">
                  <c:v>193.942</c:v>
                </c:pt>
                <c:pt idx="6">
                  <c:v>1971.818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1128.633</c:v>
                </c:pt>
                <c:pt idx="2">
                  <c:v>1227.956</c:v>
                </c:pt>
                <c:pt idx="3">
                  <c:v>1335.962</c:v>
                </c:pt>
                <c:pt idx="4">
                  <c:v>1453.409</c:v>
                </c:pt>
                <c:pt idx="5">
                  <c:v>1581.114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1128.633</c:v>
                </c:pt>
                <c:pt idx="1">
                  <c:v>99.32299999999987</c:v>
                </c:pt>
                <c:pt idx="2">
                  <c:v>108.00600000000009</c:v>
                </c:pt>
                <c:pt idx="3">
                  <c:v>117.44700000000012</c:v>
                </c:pt>
                <c:pt idx="4">
                  <c:v>127.70499999999993</c:v>
                </c:pt>
                <c:pt idx="5">
                  <c:v>138.8599999999999</c:v>
                </c:pt>
                <c:pt idx="6">
                  <c:v>1719.974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305.187</c:v>
                </c:pt>
                <c:pt idx="2">
                  <c:v>339.361</c:v>
                </c:pt>
                <c:pt idx="3">
                  <c:v>377.023</c:v>
                </c:pt>
                <c:pt idx="4">
                  <c:v>418.51</c:v>
                </c:pt>
                <c:pt idx="5">
                  <c:v>464.195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305.187</c:v>
                </c:pt>
                <c:pt idx="1">
                  <c:v>34.17399999999998</c:v>
                </c:pt>
                <c:pt idx="2">
                  <c:v>37.662000000000035</c:v>
                </c:pt>
                <c:pt idx="3">
                  <c:v>41.486999999999966</c:v>
                </c:pt>
                <c:pt idx="4">
                  <c:v>45.685</c:v>
                </c:pt>
                <c:pt idx="5">
                  <c:v>50.28699999999998</c:v>
                </c:pt>
                <c:pt idx="6">
                  <c:v>514.482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Nut and seed-topped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30.12578423512081</c:v>
                </c:pt>
                <c:pt idx="1">
                  <c:v>32.40747845426744</c:v>
                </c:pt>
                <c:pt idx="2">
                  <c:v>36.834145490370865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Glazed / drizzled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30.982449181694644</c:v>
                </c:pt>
                <c:pt idx="1">
                  <c:v>31.377064220183488</c:v>
                </c:pt>
                <c:pt idx="2">
                  <c:v>32.12962482118286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Other toppings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7.900771301805837</c:v>
                </c:pt>
                <c:pt idx="1">
                  <c:v>8.484487072560468</c:v>
                </c:pt>
                <c:pt idx="2">
                  <c:v>9.61067646211617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Sugar-topped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12.569453369283492</c:v>
                </c:pt>
                <c:pt idx="1">
                  <c:v>11.313316652766193</c:v>
                </c:pt>
                <c:pt idx="2">
                  <c:v>8.891709198589115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Untopped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10.484009334167501</c:v>
                </c:pt>
                <c:pt idx="1">
                  <c:v>9.296219071448428</c:v>
                </c:pt>
                <c:pt idx="2">
                  <c:v>6.9924087009833675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Crumb / streusel-topped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7.937532577927707</c:v>
                </c:pt>
                <c:pt idx="1">
                  <c:v>7.121434528773979</c:v>
                </c:pt>
                <c:pt idx="2">
                  <c:v>5.54143532675762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Mini / bite-sized - below 30 g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7.363242395760516</c:v>
                </c:pt>
                <c:pt idx="1">
                  <c:v>5.2232522689826695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Small - 30 g to below 60 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16.413493084344108</c:v>
                </c:pt>
                <c:pt idx="1">
                  <c:v>25.051053668480712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Standard - 60 g to below 100 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46.39823328059401</c:v>
                </c:pt>
                <c:pt idx="1">
                  <c:v>43.27500383023724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Large / jumbo - 100 g and above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29.825031239301364</c:v>
                </c:pt>
                <c:pt idx="1">
                  <c:v>26.45069023229939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Mini / bite-sized - below 30 g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143.0261289845739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20.052710592160132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316.93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Small - 30 g to below 60 g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48.61670346150754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108.89619127050318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1190.42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Standard - 60 g to below 100 g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99.8311605714356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177.2861829302196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2371.075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Large / jumbo - 100 g and above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141.76823086619729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93.76491520711704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1474.809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70.0"/>
          <c:min val="2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180.324</c:v>
                </c:pt>
                <c:pt idx="2">
                  <c:v>201.973</c:v>
                </c:pt>
                <c:pt idx="3">
                  <c:v>226.15</c:v>
                </c:pt>
                <c:pt idx="4">
                  <c:v>253.145</c:v>
                </c:pt>
                <c:pt idx="5">
                  <c:v>283.284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180.324</c:v>
                </c:pt>
                <c:pt idx="1">
                  <c:v>21.649</c:v>
                </c:pt>
                <c:pt idx="2">
                  <c:v>24.176999999999992</c:v>
                </c:pt>
                <c:pt idx="3">
                  <c:v>26.995000000000005</c:v>
                </c:pt>
                <c:pt idx="4">
                  <c:v>30.13899999999998</c:v>
                </c:pt>
                <c:pt idx="5">
                  <c:v>33.646000000000015</c:v>
                </c:pt>
                <c:pt idx="6">
                  <c:v>316.93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979.249</c:v>
                </c:pt>
                <c:pt idx="2">
                  <c:v>1023.043</c:v>
                </c:pt>
                <c:pt idx="3">
                  <c:v>1066.553</c:v>
                </c:pt>
                <c:pt idx="4">
                  <c:v>1109.328</c:v>
                </c:pt>
                <c:pt idx="5">
                  <c:v>1150.829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979.249</c:v>
                </c:pt>
                <c:pt idx="1">
                  <c:v>43.79399999999998</c:v>
                </c:pt>
                <c:pt idx="2">
                  <c:v>43.510000000000105</c:v>
                </c:pt>
                <c:pt idx="3">
                  <c:v>42.774999999999864</c:v>
                </c:pt>
                <c:pt idx="4">
                  <c:v>41.500999999999976</c:v>
                </c:pt>
                <c:pt idx="5">
                  <c:v>39.59100000000012</c:v>
                </c:pt>
                <c:pt idx="6">
                  <c:v>1190.42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1594.246</c:v>
                </c:pt>
                <c:pt idx="2">
                  <c:v>1725.923</c:v>
                </c:pt>
                <c:pt idx="3">
                  <c:v>1868.501</c:v>
                </c:pt>
                <c:pt idx="4">
                  <c:v>2022.887</c:v>
                </c:pt>
                <c:pt idx="5">
                  <c:v>2190.059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1594.246</c:v>
                </c:pt>
                <c:pt idx="1">
                  <c:v>131.6769999999999</c:v>
                </c:pt>
                <c:pt idx="2">
                  <c:v>142.57799999999997</c:v>
                </c:pt>
                <c:pt idx="3">
                  <c:v>154.38599999999997</c:v>
                </c:pt>
                <c:pt idx="4">
                  <c:v>167.17200000000025</c:v>
                </c:pt>
                <c:pt idx="5">
                  <c:v>181.01599999999962</c:v>
                </c:pt>
                <c:pt idx="6">
                  <c:v>2371.075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843.181</c:v>
                </c:pt>
                <c:pt idx="2">
                  <c:v>943.448</c:v>
                </c:pt>
                <c:pt idx="3">
                  <c:v>1055.333</c:v>
                </c:pt>
                <c:pt idx="4">
                  <c:v>1180.169</c:v>
                </c:pt>
                <c:pt idx="5">
                  <c:v>1319.441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843.181</c:v>
                </c:pt>
                <c:pt idx="1">
                  <c:v>100.26699999999994</c:v>
                </c:pt>
                <c:pt idx="2">
                  <c:v>111.8850000000001</c:v>
                </c:pt>
                <c:pt idx="3">
                  <c:v>124.83600000000001</c:v>
                </c:pt>
                <c:pt idx="4">
                  <c:v>139.27199999999993</c:v>
                </c:pt>
                <c:pt idx="5">
                  <c:v>155.36799999999994</c:v>
                </c:pt>
                <c:pt idx="6">
                  <c:v>1474.809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Standard - 60 g to below 100 g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44.32450910485803</c:v>
                </c:pt>
                <c:pt idx="1">
                  <c:v>44.32154573255491</c:v>
                </c:pt>
                <c:pt idx="2">
                  <c:v>44.292384752842864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Large / jumbo - 100 g and above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21.554405057725315</c:v>
                </c:pt>
                <c:pt idx="1">
                  <c:v>23.441228801779264</c:v>
                </c:pt>
                <c:pt idx="2">
                  <c:v>27.549869854372144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Small - 30 g to below 60 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29.52383872531335</c:v>
                </c:pt>
                <c:pt idx="1">
                  <c:v>27.224047817625802</c:v>
                </c:pt>
                <c:pt idx="2">
                  <c:v>22.237398925584053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Mini / bite-sized - below 30 g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4.597247112103299</c:v>
                </c:pt>
                <c:pt idx="1">
                  <c:v>5.013177648040034</c:v>
                </c:pt>
                <c:pt idx="2">
                  <c:v>5.9203464672009485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Ambient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11.115341980746612</c:v>
                </c:pt>
                <c:pt idx="1">
                  <c:v>11.518804733258955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Chilled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40.323500957967006</c:v>
                </c:pt>
                <c:pt idx="1">
                  <c:v>36.410387547974935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Frozen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48.56115706128637</c:v>
                </c:pt>
                <c:pt idx="1">
                  <c:v>52.07080771876611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4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Ambient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136.3676791379061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29.676396997497918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609.593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Chilled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132.6716557803469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99.6163469557965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2017.37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Frozen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71.69812531201684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170.7072560467056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2726.271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60.0"/>
          <c:min val="5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355.82</c:v>
                </c:pt>
                <c:pt idx="2">
                  <c:v>396.529</c:v>
                </c:pt>
                <c:pt idx="3">
                  <c:v>441.743</c:v>
                </c:pt>
                <c:pt idx="4">
                  <c:v>491.954</c:v>
                </c:pt>
                <c:pt idx="5">
                  <c:v>547.703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355.82</c:v>
                </c:pt>
                <c:pt idx="1">
                  <c:v>40.709</c:v>
                </c:pt>
                <c:pt idx="2">
                  <c:v>45.214</c:v>
                </c:pt>
                <c:pt idx="3">
                  <c:v>50.21100000000001</c:v>
                </c:pt>
                <c:pt idx="4">
                  <c:v>55.74899999999997</c:v>
                </c:pt>
                <c:pt idx="5">
                  <c:v>61.889999999999986</c:v>
                </c:pt>
                <c:pt idx="6">
                  <c:v>609.593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1194.4</c:v>
                </c:pt>
                <c:pt idx="2">
                  <c:v>1326.938</c:v>
                </c:pt>
                <c:pt idx="3">
                  <c:v>1473.873</c:v>
                </c:pt>
                <c:pt idx="4">
                  <c:v>1636.751</c:v>
                </c:pt>
                <c:pt idx="5">
                  <c:v>1817.284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1194.4</c:v>
                </c:pt>
                <c:pt idx="1">
                  <c:v>132.538</c:v>
                </c:pt>
                <c:pt idx="2">
                  <c:v>146.93499999999995</c:v>
                </c:pt>
                <c:pt idx="3">
                  <c:v>162.87799999999993</c:v>
                </c:pt>
                <c:pt idx="4">
                  <c:v>180.53300000000013</c:v>
                </c:pt>
                <c:pt idx="5">
                  <c:v>200.08599999999979</c:v>
                </c:pt>
                <c:pt idx="6">
                  <c:v>2017.37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2046.78</c:v>
                </c:pt>
                <c:pt idx="2">
                  <c:v>2170.92</c:v>
                </c:pt>
                <c:pt idx="3">
                  <c:v>2300.921</c:v>
                </c:pt>
                <c:pt idx="4">
                  <c:v>2436.824</c:v>
                </c:pt>
                <c:pt idx="5">
                  <c:v>2578.626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2046.78</c:v>
                </c:pt>
                <c:pt idx="1">
                  <c:v>124.1400000000001</c:v>
                </c:pt>
                <c:pt idx="2">
                  <c:v>130.00099999999975</c:v>
                </c:pt>
                <c:pt idx="3">
                  <c:v>135.90300000000025</c:v>
                </c:pt>
                <c:pt idx="4">
                  <c:v>141.80200000000013</c:v>
                </c:pt>
                <c:pt idx="5">
                  <c:v>147.64499999999998</c:v>
                </c:pt>
                <c:pt idx="6">
                  <c:v>2726.271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Frozen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59.7190355563413</c:v>
                </c:pt>
                <c:pt idx="1">
                  <c:v>56.9024186822352</c:v>
                </c:pt>
                <c:pt idx="2">
                  <c:v>50.9275514576796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Chilled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31.094657513424227</c:v>
                </c:pt>
                <c:pt idx="1">
                  <c:v>33.2054489852655</c:v>
                </c:pt>
                <c:pt idx="2">
                  <c:v>37.6850703705461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Ambient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9.186306930234469</c:v>
                </c:pt>
                <c:pt idx="1">
                  <c:v>9.892132332499305</c:v>
                </c:pt>
                <c:pt idx="2">
                  <c:v>11.387378171774294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Up to 7 days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60.177589478591834</c:v>
                </c:pt>
                <c:pt idx="1">
                  <c:v>56.781099102159146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8-30 days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12.922547750684283</c:v>
                </c:pt>
                <c:pt idx="1">
                  <c:v>15.902230735707537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31-90 days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16.07320118110078</c:v>
                </c:pt>
                <c:pt idx="1">
                  <c:v>14.86481132653098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More than 90 days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10.826661589623104</c:v>
                </c:pt>
                <c:pt idx="1">
                  <c:v>12.451858835602339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0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Up to 7 days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108.98999315385554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223.58999165971642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3098.853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8-30 days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44.84156096461652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74.22696691687517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799.324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31-90 days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134.30067097877142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53.4426466499861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816.82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More than 90 days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94.41602694796015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48.740394773422295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638.237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60.0"/>
          <c:min val="2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7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2010.633</c:v>
                </c:pt>
                <c:pt idx="2">
                  <c:v>2191.85</c:v>
                </c:pt>
                <c:pt idx="3">
                  <c:v>2389.661</c:v>
                </c:pt>
                <c:pt idx="4">
                  <c:v>2605.612</c:v>
                </c:pt>
                <c:pt idx="5">
                  <c:v>2841.391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2010.633</c:v>
                </c:pt>
                <c:pt idx="1">
                  <c:v>181.21699999999987</c:v>
                </c:pt>
                <c:pt idx="2">
                  <c:v>197.81100000000015</c:v>
                </c:pt>
                <c:pt idx="3">
                  <c:v>215.95100000000002</c:v>
                </c:pt>
                <c:pt idx="4">
                  <c:v>235.779</c:v>
                </c:pt>
                <c:pt idx="5">
                  <c:v>257.462</c:v>
                </c:pt>
                <c:pt idx="6">
                  <c:v>3098.853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667.486</c:v>
                </c:pt>
                <c:pt idx="2">
                  <c:v>695.408</c:v>
                </c:pt>
                <c:pt idx="3">
                  <c:v>722.901</c:v>
                </c:pt>
                <c:pt idx="4">
                  <c:v>749.646</c:v>
                </c:pt>
                <c:pt idx="5">
                  <c:v>775.268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667.486</c:v>
                </c:pt>
                <c:pt idx="1">
                  <c:v>27.922000000000025</c:v>
                </c:pt>
                <c:pt idx="2">
                  <c:v>27.492999999999938</c:v>
                </c:pt>
                <c:pt idx="3">
                  <c:v>26.745000000000005</c:v>
                </c:pt>
                <c:pt idx="4">
                  <c:v>25.62200000000007</c:v>
                </c:pt>
                <c:pt idx="5">
                  <c:v>24.055999999999926</c:v>
                </c:pt>
                <c:pt idx="6">
                  <c:v>799.324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480.583</c:v>
                </c:pt>
                <c:pt idx="2">
                  <c:v>534.564</c:v>
                </c:pt>
                <c:pt idx="3">
                  <c:v>594.492</c:v>
                </c:pt>
                <c:pt idx="4">
                  <c:v>661.016</c:v>
                </c:pt>
                <c:pt idx="5">
                  <c:v>734.859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480.583</c:v>
                </c:pt>
                <c:pt idx="1">
                  <c:v>53.98099999999994</c:v>
                </c:pt>
                <c:pt idx="2">
                  <c:v>59.928</c:v>
                </c:pt>
                <c:pt idx="3">
                  <c:v>66.524</c:v>
                </c:pt>
                <c:pt idx="4">
                  <c:v>73.84300000000007</c:v>
                </c:pt>
                <c:pt idx="5">
                  <c:v>81.96100000000001</c:v>
                </c:pt>
                <c:pt idx="6">
                  <c:v>816.82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438.298</c:v>
                </c:pt>
                <c:pt idx="2">
                  <c:v>472.565</c:v>
                </c:pt>
                <c:pt idx="3">
                  <c:v>509.483</c:v>
                </c:pt>
                <c:pt idx="4">
                  <c:v>549.255</c:v>
                </c:pt>
                <c:pt idx="5">
                  <c:v>592.095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438.298</c:v>
                </c:pt>
                <c:pt idx="1">
                  <c:v>34.266999999999996</c:v>
                </c:pt>
                <c:pt idx="2">
                  <c:v>36.918000000000006</c:v>
                </c:pt>
                <c:pt idx="3">
                  <c:v>39.77199999999999</c:v>
                </c:pt>
                <c:pt idx="4">
                  <c:v>42.84000000000003</c:v>
                </c:pt>
                <c:pt idx="5">
                  <c:v>46.14199999999994</c:v>
                </c:pt>
                <c:pt idx="6">
                  <c:v>638.237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Up to 7 days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54.96247870814287</c:v>
                </c:pt>
                <c:pt idx="1">
                  <c:v>55.897497914929104</c:v>
                </c:pt>
                <c:pt idx="2">
                  <c:v>57.88749380281153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31-90 days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12.474011049911178</c:v>
                </c:pt>
                <c:pt idx="1">
                  <c:v>13.360661662496526</c:v>
                </c:pt>
                <c:pt idx="2">
                  <c:v>15.25844003830208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8-30 days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20.25591980496626</c:v>
                </c:pt>
                <c:pt idx="1">
                  <c:v>18.556741729218793</c:v>
                </c:pt>
                <c:pt idx="2">
                  <c:v>14.931609565358059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More than 90 days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12.307590436979691</c:v>
                </c:pt>
                <c:pt idx="1">
                  <c:v>12.185098693355574</c:v>
                </c:pt>
                <c:pt idx="2">
                  <c:v>11.922456593528322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Flexible 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15.081170572033328</c:v>
                </c:pt>
                <c:pt idx="1">
                  <c:v>12.91749932191641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Rigid plastic 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43.45528751339749</c:v>
                </c:pt>
                <c:pt idx="1">
                  <c:v>51.30930391637255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Paperboard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36.60752943146478</c:v>
                </c:pt>
                <c:pt idx="1">
                  <c:v>29.761954565213355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Other packaging formats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4.856012483104398</c:v>
                </c:pt>
                <c:pt idx="1">
                  <c:v>6.011242196497681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Flexible packs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130.89522489265656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48.341618015012514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729.2339999999999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Rigid plastic packs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106.05847867967395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190.457603558521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2609.749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Paperboard packs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68.57978550079467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144.75006950236306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1712.6000000000001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Other packaging formats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182.0732057500901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16.45070892410342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301.651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220.0"/>
          <c:min val="4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434.712</c:v>
                </c:pt>
                <c:pt idx="2">
                  <c:v>481.714</c:v>
                </c:pt>
                <c:pt idx="3">
                  <c:v>534.0</c:v>
                </c:pt>
                <c:pt idx="4">
                  <c:v>592.2</c:v>
                </c:pt>
                <c:pt idx="5">
                  <c:v>657.013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434.712</c:v>
                </c:pt>
                <c:pt idx="1">
                  <c:v>47.00200000000001</c:v>
                </c:pt>
                <c:pt idx="2">
                  <c:v>52.286</c:v>
                </c:pt>
                <c:pt idx="3">
                  <c:v>58.200000000000045</c:v>
                </c:pt>
                <c:pt idx="4">
                  <c:v>64.81299999999999</c:v>
                </c:pt>
                <c:pt idx="5">
                  <c:v>72.22099999999989</c:v>
                </c:pt>
                <c:pt idx="6">
                  <c:v>729.2339999999999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1712.69</c:v>
                </c:pt>
                <c:pt idx="2">
                  <c:v>1862.4989999999998</c:v>
                </c:pt>
                <c:pt idx="3">
                  <c:v>2025.784</c:v>
                </c:pt>
                <c:pt idx="4">
                  <c:v>2203.807</c:v>
                </c:pt>
                <c:pt idx="5">
                  <c:v>2397.9539999999997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1712.69</c:v>
                </c:pt>
                <c:pt idx="1">
                  <c:v>149.80899999999974</c:v>
                </c:pt>
                <c:pt idx="2">
                  <c:v>163.2850000000003</c:v>
                </c:pt>
                <c:pt idx="3">
                  <c:v>178.02299999999968</c:v>
                </c:pt>
                <c:pt idx="4">
                  <c:v>194.14699999999993</c:v>
                </c:pt>
                <c:pt idx="5">
                  <c:v>211.79500000000007</c:v>
                </c:pt>
                <c:pt idx="6">
                  <c:v>2609.749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1301.665</c:v>
                </c:pt>
                <c:pt idx="2">
                  <c:v>1378.991</c:v>
                </c:pt>
                <c:pt idx="3">
                  <c:v>1459.0500000000002</c:v>
                </c:pt>
                <c:pt idx="4">
                  <c:v>1541.585</c:v>
                </c:pt>
                <c:pt idx="5">
                  <c:v>1626.252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1301.665</c:v>
                </c:pt>
                <c:pt idx="1">
                  <c:v>77.32600000000002</c:v>
                </c:pt>
                <c:pt idx="2">
                  <c:v>80.0590000000002</c:v>
                </c:pt>
                <c:pt idx="3">
                  <c:v>82.53499999999985</c:v>
                </c:pt>
                <c:pt idx="4">
                  <c:v>84.66699999999992</c:v>
                </c:pt>
                <c:pt idx="5">
                  <c:v>86.34800000000018</c:v>
                </c:pt>
                <c:pt idx="6">
                  <c:v>1712.6000000000001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147.933</c:v>
                </c:pt>
                <c:pt idx="2">
                  <c:v>171.183</c:v>
                </c:pt>
                <c:pt idx="3">
                  <c:v>197.703</c:v>
                </c:pt>
                <c:pt idx="4">
                  <c:v>227.937</c:v>
                </c:pt>
                <c:pt idx="5">
                  <c:v>262.394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147.933</c:v>
                </c:pt>
                <c:pt idx="1">
                  <c:v>23.25</c:v>
                </c:pt>
                <c:pt idx="2">
                  <c:v>26.52000000000001</c:v>
                </c:pt>
                <c:pt idx="3">
                  <c:v>30.23400000000001</c:v>
                </c:pt>
                <c:pt idx="4">
                  <c:v>34.456999999999994</c:v>
                </c:pt>
                <c:pt idx="5">
                  <c:v>39.257000000000005</c:v>
                </c:pt>
                <c:pt idx="6">
                  <c:v>301.651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Rigid plastic 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47.11914893894627</c:v>
                </c:pt>
                <c:pt idx="1">
                  <c:v>47.61440088963025</c:v>
                </c:pt>
                <c:pt idx="2">
                  <c:v>48.7508859130761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Paperboard 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38.01546517855803</c:v>
                </c:pt>
                <c:pt idx="1">
                  <c:v>36.187517375590765</c:v>
                </c:pt>
                <c:pt idx="2">
                  <c:v>31.991876312524358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Flexible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11.419383206457457</c:v>
                </c:pt>
                <c:pt idx="1">
                  <c:v>12.085404503753129</c:v>
                </c:pt>
                <c:pt idx="2">
                  <c:v>13.622307562120392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Other packaging formats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3.4460026760382365</c:v>
                </c:pt>
                <c:pt idx="1">
                  <c:v>4.112677231025855</c:v>
                </c:pt>
                <c:pt idx="2">
                  <c:v>5.634930212279158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Single-muffin 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27.627527745488724</c:v>
                </c:pt>
                <c:pt idx="1">
                  <c:v>29.89183631685496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Multipacks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60.41987685493208</c:v>
                </c:pt>
                <c:pt idx="1">
                  <c:v>57.4125826271521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Bulk foodservice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11.952595399579193</c:v>
                </c:pt>
                <c:pt idx="1">
                  <c:v>12.695581055992944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4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Single-muffin packs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83.03553696888744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93.46246872393661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1560.695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Multipacks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122.97558434367066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160.23386155129273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3125.871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Bulk foodservice packs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45.53198464762059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46.30366972477065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666.668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50.0"/>
          <c:min val="2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1120.615</c:v>
                </c:pt>
                <c:pt idx="2">
                  <c:v>1198.34</c:v>
                </c:pt>
                <c:pt idx="3">
                  <c:v>1280.968</c:v>
                </c:pt>
                <c:pt idx="4">
                  <c:v>1368.74</c:v>
                </c:pt>
                <c:pt idx="5">
                  <c:v>1461.901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1120.615</c:v>
                </c:pt>
                <c:pt idx="1">
                  <c:v>77.72499999999991</c:v>
                </c:pt>
                <c:pt idx="2">
                  <c:v>82.62800000000016</c:v>
                </c:pt>
                <c:pt idx="3">
                  <c:v>87.77199999999993</c:v>
                </c:pt>
                <c:pt idx="4">
                  <c:v>93.16100000000006</c:v>
                </c:pt>
                <c:pt idx="5">
                  <c:v>98.79399999999987</c:v>
                </c:pt>
                <c:pt idx="6">
                  <c:v>1560.695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1921.204</c:v>
                </c:pt>
                <c:pt idx="2">
                  <c:v>2117.234</c:v>
                </c:pt>
                <c:pt idx="3">
                  <c:v>2333.486</c:v>
                </c:pt>
                <c:pt idx="4">
                  <c:v>2572.0769999999998</c:v>
                </c:pt>
                <c:pt idx="5">
                  <c:v>2835.342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1921.204</c:v>
                </c:pt>
                <c:pt idx="1">
                  <c:v>196.02999999999997</c:v>
                </c:pt>
                <c:pt idx="2">
                  <c:v>216.25199999999995</c:v>
                </c:pt>
                <c:pt idx="3">
                  <c:v>238.5909999999999</c:v>
                </c:pt>
                <c:pt idx="4">
                  <c:v>263.2650000000003</c:v>
                </c:pt>
                <c:pt idx="5">
                  <c:v>290.529</c:v>
                </c:pt>
                <c:pt idx="6">
                  <c:v>3125.871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555.181</c:v>
                </c:pt>
                <c:pt idx="2">
                  <c:v>578.813</c:v>
                </c:pt>
                <c:pt idx="3">
                  <c:v>602.083</c:v>
                </c:pt>
                <c:pt idx="4">
                  <c:v>624.712</c:v>
                </c:pt>
                <c:pt idx="5">
                  <c:v>646.37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555.181</c:v>
                </c:pt>
                <c:pt idx="1">
                  <c:v>23.631999999999948</c:v>
                </c:pt>
                <c:pt idx="2">
                  <c:v>23.269999999999982</c:v>
                </c:pt>
                <c:pt idx="3">
                  <c:v>22.62900000000002</c:v>
                </c:pt>
                <c:pt idx="4">
                  <c:v>21.658000000000015</c:v>
                </c:pt>
                <c:pt idx="5">
                  <c:v>20.298000000000002</c:v>
                </c:pt>
                <c:pt idx="6">
                  <c:v>666.668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Multipacks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51.107470139210086</c:v>
                </c:pt>
                <c:pt idx="1">
                  <c:v>53.411287183764244</c:v>
                </c:pt>
                <c:pt idx="2">
                  <c:v>58.39219806195657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Single-muffin 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32.07811135111227</c:v>
                </c:pt>
                <c:pt idx="1">
                  <c:v>31.154156241312204</c:v>
                </c:pt>
                <c:pt idx="2">
                  <c:v>29.15424582598108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Bulk foodservice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16.814418509677644</c:v>
                </c:pt>
                <c:pt idx="1">
                  <c:v>15.43455657492355</c:v>
                </c:pt>
                <c:pt idx="2">
                  <c:v>12.453556112062353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Individually wrapped muffins within an outer pack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50.75900463184648</c:v>
                </c:pt>
                <c:pt idx="1">
                  <c:v>57.756292740391366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Shared pack without individual wrapping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49.24099536815352</c:v>
                </c:pt>
                <c:pt idx="1">
                  <c:v>42.243707259608634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0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Individually wrapped muffins within an outer pack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104.7664814596207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108.9133166527662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2969.811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Shared pack without individual wrapping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94.19400450117462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91.0866833472338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2383.423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20.0"/>
          <c:min val="8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1958.806</c:v>
                </c:pt>
                <c:pt idx="2">
                  <c:v>2130.502</c:v>
                </c:pt>
                <c:pt idx="3">
                  <c:v>2316.178</c:v>
                </c:pt>
                <c:pt idx="4">
                  <c:v>2517.059</c:v>
                </c:pt>
                <c:pt idx="5">
                  <c:v>2734.462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1958.806</c:v>
                </c:pt>
                <c:pt idx="1">
                  <c:v>171.6959999999999</c:v>
                </c:pt>
                <c:pt idx="2">
                  <c:v>185.67599999999993</c:v>
                </c:pt>
                <c:pt idx="3">
                  <c:v>200.8810000000003</c:v>
                </c:pt>
                <c:pt idx="4">
                  <c:v>217.4029999999998</c:v>
                </c:pt>
                <c:pt idx="5">
                  <c:v>235.34900000000016</c:v>
                </c:pt>
                <c:pt idx="6">
                  <c:v>2969.811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1638.194</c:v>
                </c:pt>
                <c:pt idx="2">
                  <c:v>1763.885</c:v>
                </c:pt>
                <c:pt idx="3">
                  <c:v>1900.359</c:v>
                </c:pt>
                <c:pt idx="4">
                  <c:v>2048.47</c:v>
                </c:pt>
                <c:pt idx="5">
                  <c:v>2209.151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1638.194</c:v>
                </c:pt>
                <c:pt idx="1">
                  <c:v>125.69100000000003</c:v>
                </c:pt>
                <c:pt idx="2">
                  <c:v>136.47399999999993</c:v>
                </c:pt>
                <c:pt idx="3">
                  <c:v>148.11099999999988</c:v>
                </c:pt>
                <c:pt idx="4">
                  <c:v>160.68100000000004</c:v>
                </c:pt>
                <c:pt idx="5">
                  <c:v>174.27199999999993</c:v>
                </c:pt>
                <c:pt idx="6">
                  <c:v>2383.423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Individually wrapped muffins within an outer pack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53.68294492071372</c:v>
                </c:pt>
                <c:pt idx="1">
                  <c:v>54.4566583263831</c:v>
                </c:pt>
                <c:pt idx="2">
                  <c:v>55.47695094217813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Shared pack without individual wrapping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46.31705507928628</c:v>
                </c:pt>
                <c:pt idx="1">
                  <c:v>45.5433416736169</c:v>
                </c:pt>
                <c:pt idx="2">
                  <c:v>44.523049057821865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Economy / value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12.990961677305329</c:v>
                </c:pt>
                <c:pt idx="1">
                  <c:v>17.25701265876091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Mid-range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33.94643986656703</c:v>
                </c:pt>
                <c:pt idx="1">
                  <c:v>32.01219469961659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Premium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31.79779527089449</c:v>
                </c:pt>
                <c:pt idx="1">
                  <c:v>31.67837532557017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Super-premium / speciality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21.264803185233145</c:v>
                </c:pt>
                <c:pt idx="1">
                  <c:v>19.052417316052335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5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Economy / value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27.440931691899245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84.5608006672227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849.417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Mid-range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163.17445189518108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102.3738671114818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1747.417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Premium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52.544322986715784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152.91320544898525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1697.9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Super-premium / speciality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171.1956670915998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60.152126772310254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1058.5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210.0"/>
          <c:min val="-1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25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760.413</c:v>
                </c:pt>
                <c:pt idx="2">
                  <c:v>782.937</c:v>
                </c:pt>
                <c:pt idx="3">
                  <c:v>803.631</c:v>
                </c:pt>
                <c:pt idx="4">
                  <c:v>822.003</c:v>
                </c:pt>
                <c:pt idx="5">
                  <c:v>837.481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760.413</c:v>
                </c:pt>
                <c:pt idx="1">
                  <c:v>22.524</c:v>
                </c:pt>
                <c:pt idx="2">
                  <c:v>20.69399999999996</c:v>
                </c:pt>
                <c:pt idx="3">
                  <c:v>18.37200000000007</c:v>
                </c:pt>
                <c:pt idx="4">
                  <c:v>15.477999999999952</c:v>
                </c:pt>
                <c:pt idx="5">
                  <c:v>11.936000000000035</c:v>
                </c:pt>
                <c:pt idx="6">
                  <c:v>849.417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920.597</c:v>
                </c:pt>
                <c:pt idx="2">
                  <c:v>1050.57</c:v>
                </c:pt>
                <c:pt idx="3">
                  <c:v>1196.35</c:v>
                </c:pt>
                <c:pt idx="4">
                  <c:v>1359.727</c:v>
                </c:pt>
                <c:pt idx="5">
                  <c:v>1542.682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920.597</c:v>
                </c:pt>
                <c:pt idx="1">
                  <c:v>129.97299999999996</c:v>
                </c:pt>
                <c:pt idx="2">
                  <c:v>145.77999999999997</c:v>
                </c:pt>
                <c:pt idx="3">
                  <c:v>163.37700000000018</c:v>
                </c:pt>
                <c:pt idx="4">
                  <c:v>182.95499999999993</c:v>
                </c:pt>
                <c:pt idx="5">
                  <c:v>204.7349999999999</c:v>
                </c:pt>
                <c:pt idx="6">
                  <c:v>1747.417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1375.072</c:v>
                </c:pt>
                <c:pt idx="2">
                  <c:v>1439.077</c:v>
                </c:pt>
                <c:pt idx="3">
                  <c:v>1503.776</c:v>
                </c:pt>
                <c:pt idx="4">
                  <c:v>1568.792</c:v>
                </c:pt>
                <c:pt idx="5">
                  <c:v>1633.678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1375.072</c:v>
                </c:pt>
                <c:pt idx="1">
                  <c:v>64.00500000000011</c:v>
                </c:pt>
                <c:pt idx="2">
                  <c:v>64.69900000000007</c:v>
                </c:pt>
                <c:pt idx="3">
                  <c:v>65.01599999999985</c:v>
                </c:pt>
                <c:pt idx="4">
                  <c:v>64.8860000000002</c:v>
                </c:pt>
                <c:pt idx="5">
                  <c:v>64.22199999999998</c:v>
                </c:pt>
                <c:pt idx="6">
                  <c:v>1697.9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540.918</c:v>
                </c:pt>
                <c:pt idx="2">
                  <c:v>621.803</c:v>
                </c:pt>
                <c:pt idx="3">
                  <c:v>712.78</c:v>
                </c:pt>
                <c:pt idx="4">
                  <c:v>815.007</c:v>
                </c:pt>
                <c:pt idx="5">
                  <c:v>929.772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540.918</c:v>
                </c:pt>
                <c:pt idx="1">
                  <c:v>80.88499999999999</c:v>
                </c:pt>
                <c:pt idx="2">
                  <c:v>90.97699999999998</c:v>
                </c:pt>
                <c:pt idx="3">
                  <c:v>102.22699999999998</c:v>
                </c:pt>
                <c:pt idx="4">
                  <c:v>114.7650000000001</c:v>
                </c:pt>
                <c:pt idx="5">
                  <c:v>128.72799999999995</c:v>
                </c:pt>
                <c:pt idx="6">
                  <c:v>1058.5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Mid-range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22.19294875014923</c:v>
                </c:pt>
                <c:pt idx="1">
                  <c:v>25.59346677787045</c:v>
                </c:pt>
                <c:pt idx="2">
                  <c:v>32.64226820647107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Premium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41.3607739243494</c:v>
                </c:pt>
                <c:pt idx="1">
                  <c:v>38.22830136224631</c:v>
                </c:pt>
                <c:pt idx="2">
                  <c:v>31.717275949454105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Super-premium / speciality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12.755738771175244</c:v>
                </c:pt>
                <c:pt idx="1">
                  <c:v>15.038031693077563</c:v>
                </c:pt>
                <c:pt idx="2">
                  <c:v>19.77309417073866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Economy / value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23.69053855432612</c:v>
                </c:pt>
                <c:pt idx="1">
                  <c:v>21.140200166805673</c:v>
                </c:pt>
                <c:pt idx="2">
                  <c:v>15.867361673336156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Manufacturer brands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42.04950461550283</c:v>
                </c:pt>
                <c:pt idx="1">
                  <c:v>37.72344551241648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Retailer private labels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45.537582642933785</c:v>
                </c:pt>
                <c:pt idx="1">
                  <c:v>43.81032277333002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Foodservice / operator brands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12.412912741563382</c:v>
                </c:pt>
                <c:pt idx="1">
                  <c:v>18.466231714253496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2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Manufacturer brands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92.47528159738725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120.8975813177648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2094.862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Retailer private labels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107.76646172408739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129.15521267723102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2375.389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Foodservice / operator brands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97.60648263179793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49.94720600500416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882.983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7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1449.562</c:v>
                </c:pt>
                <c:pt idx="2">
                  <c:v>1559.172</c:v>
                </c:pt>
                <c:pt idx="3">
                  <c:v>1677.744</c:v>
                </c:pt>
                <c:pt idx="4">
                  <c:v>1806.01</c:v>
                </c:pt>
                <c:pt idx="5">
                  <c:v>1944.761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1449.562</c:v>
                </c:pt>
                <c:pt idx="1">
                  <c:v>109.61000000000013</c:v>
                </c:pt>
                <c:pt idx="2">
                  <c:v>118.57199999999989</c:v>
                </c:pt>
                <c:pt idx="3">
                  <c:v>128.26600000000008</c:v>
                </c:pt>
                <c:pt idx="4">
                  <c:v>138.75099999999998</c:v>
                </c:pt>
                <c:pt idx="5">
                  <c:v>150.1010000000001</c:v>
                </c:pt>
                <c:pt idx="6">
                  <c:v>2094.862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1548.571</c:v>
                </c:pt>
                <c:pt idx="2">
                  <c:v>1688.098</c:v>
                </c:pt>
                <c:pt idx="3">
                  <c:v>1839.478</c:v>
                </c:pt>
                <c:pt idx="4">
                  <c:v>2003.733</c:v>
                </c:pt>
                <c:pt idx="5">
                  <c:v>2181.97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1548.571</c:v>
                </c:pt>
                <c:pt idx="1">
                  <c:v>139.52700000000004</c:v>
                </c:pt>
                <c:pt idx="2">
                  <c:v>151.3800000000001</c:v>
                </c:pt>
                <c:pt idx="3">
                  <c:v>164.25499999999988</c:v>
                </c:pt>
                <c:pt idx="4">
                  <c:v>178.23699999999985</c:v>
                </c:pt>
                <c:pt idx="5">
                  <c:v>193.41900000000032</c:v>
                </c:pt>
                <c:pt idx="6">
                  <c:v>2375.389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598.867</c:v>
                </c:pt>
                <c:pt idx="2">
                  <c:v>647.117</c:v>
                </c:pt>
                <c:pt idx="3">
                  <c:v>699.315</c:v>
                </c:pt>
                <c:pt idx="4">
                  <c:v>755.786</c:v>
                </c:pt>
                <c:pt idx="5">
                  <c:v>816.882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598.867</c:v>
                </c:pt>
                <c:pt idx="1">
                  <c:v>48.25</c:v>
                </c:pt>
                <c:pt idx="2">
                  <c:v>52.19800000000009</c:v>
                </c:pt>
                <c:pt idx="3">
                  <c:v>56.47099999999989</c:v>
                </c:pt>
                <c:pt idx="4">
                  <c:v>61.096000000000004</c:v>
                </c:pt>
                <c:pt idx="5">
                  <c:v>66.101</c:v>
                </c:pt>
                <c:pt idx="6">
                  <c:v>882.983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Retailer private labels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42.22875756019945</c:v>
                </c:pt>
                <c:pt idx="1">
                  <c:v>43.05173755907701</c:v>
                </c:pt>
                <c:pt idx="2">
                  <c:v>44.37297155327041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Manufacturer brands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41.03670712907807</c:v>
                </c:pt>
                <c:pt idx="1">
                  <c:v>40.29919377258827</c:v>
                </c:pt>
                <c:pt idx="2">
                  <c:v>39.132643930752884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Foodservice / operator brands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16.734535310722485</c:v>
                </c:pt>
                <c:pt idx="1">
                  <c:v>16.64906866833472</c:v>
                </c:pt>
                <c:pt idx="2">
                  <c:v>16.494384515976694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Retail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55.75562981241509</c:v>
                </c:pt>
                <c:pt idx="1">
                  <c:v>58.7233410639942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Foodservice and institutional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39.62817919746392</c:v>
                </c:pt>
                <c:pt idx="1">
                  <c:v>37.052592966714755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Vending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4.616190990120983</c:v>
                </c:pt>
                <c:pt idx="1">
                  <c:v>4.224065969291056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8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Retail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83.71306032744499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184.66422018348624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3091.8469999999998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Foodservice and institutional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127.74872523060168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102.08006672226857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2028.425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Vending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96.09662301638339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13.255713094245205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232.962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40.0"/>
          <c:min val="7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2214.124</c:v>
                </c:pt>
                <c:pt idx="2">
                  <c:v>2366.899</c:v>
                </c:pt>
                <c:pt idx="3">
                  <c:v>2530.288</c:v>
                </c:pt>
                <c:pt idx="4">
                  <c:v>2705.042</c:v>
                </c:pt>
                <c:pt idx="5">
                  <c:v>2891.945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2214.124</c:v>
                </c:pt>
                <c:pt idx="1">
                  <c:v>152.7750000000001</c:v>
                </c:pt>
                <c:pt idx="2">
                  <c:v>163.38900000000012</c:v>
                </c:pt>
                <c:pt idx="3">
                  <c:v>174.7539999999999</c:v>
                </c:pt>
                <c:pt idx="4">
                  <c:v>186.90300000000025</c:v>
                </c:pt>
                <c:pt idx="5">
                  <c:v>199.9019999999996</c:v>
                </c:pt>
                <c:pt idx="6">
                  <c:v>3091.8469999999998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1223.94</c:v>
                </c:pt>
                <c:pt idx="2">
                  <c:v>1355.945</c:v>
                </c:pt>
                <c:pt idx="3">
                  <c:v>1501.086</c:v>
                </c:pt>
                <c:pt idx="4">
                  <c:v>1660.608</c:v>
                </c:pt>
                <c:pt idx="5">
                  <c:v>1835.8890000000001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1223.94</c:v>
                </c:pt>
                <c:pt idx="1">
                  <c:v>132.00499999999988</c:v>
                </c:pt>
                <c:pt idx="2">
                  <c:v>145.14100000000008</c:v>
                </c:pt>
                <c:pt idx="3">
                  <c:v>159.52199999999993</c:v>
                </c:pt>
                <c:pt idx="4">
                  <c:v>175.28100000000018</c:v>
                </c:pt>
                <c:pt idx="5">
                  <c:v>192.53599999999983</c:v>
                </c:pt>
                <c:pt idx="6">
                  <c:v>2028.425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158.936</c:v>
                </c:pt>
                <c:pt idx="2">
                  <c:v>171.543</c:v>
                </c:pt>
                <c:pt idx="3">
                  <c:v>185.163</c:v>
                </c:pt>
                <c:pt idx="4">
                  <c:v>199.879</c:v>
                </c:pt>
                <c:pt idx="5">
                  <c:v>215.779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158.936</c:v>
                </c:pt>
                <c:pt idx="1">
                  <c:v>12.607</c:v>
                </c:pt>
                <c:pt idx="2">
                  <c:v>13.620000000000005</c:v>
                </c:pt>
                <c:pt idx="3">
                  <c:v>14.71599999999998</c:v>
                </c:pt>
                <c:pt idx="4">
                  <c:v>15.900000000000006</c:v>
                </c:pt>
                <c:pt idx="5">
                  <c:v>17.182999999999993</c:v>
                </c:pt>
                <c:pt idx="6">
                  <c:v>232.962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Retail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63.53995758264111</c:v>
                </c:pt>
                <c:pt idx="1">
                  <c:v>61.55474006116207</c:v>
                </c:pt>
                <c:pt idx="2">
                  <c:v>57.756619643378194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Foodservice and institutional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32.0064806835314</c:v>
                </c:pt>
                <c:pt idx="1">
                  <c:v>34.02668890742285</c:v>
                </c:pt>
                <c:pt idx="2">
                  <c:v>37.89158105175302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Vending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4.453561733827485</c:v>
                </c:pt>
                <c:pt idx="1">
                  <c:v>4.418571031415068</c:v>
                </c:pt>
                <c:pt idx="2">
                  <c:v>4.351799304868796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delete val="1"/>
              <c:numFmt formatCode="&quot;&quot;" sourceLinked="0"/>
            </c:dLbl>
            <c:dLbl>
              <c:idx val="2"/>
              <c:delete val="1"/>
              <c:numFmt formatCode="&quot;&quot;" sourceLinked="0"/>
            </c:dLbl>
            <c:dLbl>
              <c:idx val="3"/>
              <c:delete val="1"/>
              <c:numFmt formatCode="&quot;&quot;" sourceLinked="0"/>
            </c:dLbl>
            <c:dLbl>
              <c:idx val="4"/>
              <c:delete val="1"/>
              <c:numFmt formatCode="&quot;&quot;" sourceLinked="0"/>
            </c:dLbl>
            <c:dLbl>
              <c:idx val="5"/>
              <c:delete val="1"/>
              <c:numFmt formatCode="&quot;&quot;" sourceLinked="0"/>
            </c:dLbl>
            <c:dLbl>
              <c:idx val="6"/>
              <c:delete val="1"/>
              <c:numFmt formatCode="&quot;&quot;" sourceLinked="0"/>
            </c:dLbl>
            <c:dLbl>
              <c:idx val="7"/>
              <c:delete val="1"/>
              <c:numFmt formatCode="&quot;&quot;" sourceLinked="0"/>
            </c:dLbl>
            <c:dLbl>
              <c:idx val="8"/>
              <c:delete val="1"/>
              <c:numFmt formatCode="&quot;&quot;" sourceLinked="0"/>
            </c:dLbl>
            <c:dLbl>
              <c:idx val="9"/>
              <c:delete val="1"/>
              <c:numFmt formatCode="&quot;&quot;" sourceLinked="0"/>
            </c:dLbl>
            <c:dLbl>
              <c:idx val="10"/>
              <c:delete val="1"/>
              <c:numFmt formatCode="&quot;&quot;" sourceLinked="0"/>
            </c:dLbl>
            <c:dLbl>
              <c:idx val="11"/>
              <c:delete val="1"/>
              <c:numFmt formatCode="&quot;&quot;" sourceLinked="0"/>
            </c:dLbl>
            <c:dLbl>
              <c:idx val="12"/>
              <c:delete val="1"/>
              <c:numFmt formatCode="&quot;&quot;" sourceLinked="0"/>
            </c:dLbl>
            <c:dLbl>
              <c:idx val="13"/>
              <c:delete val="1"/>
              <c:numFmt formatCode="&quot;&quot;" sourceLinked="0"/>
            </c:dLbl>
            <c:dLbl>
              <c:idx val="14"/>
              <c:delete val="1"/>
              <c:numFmt formatCode="&quot;&quot;" sourceLinked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607424.963</c:v>
                </c:pt>
                <c:pt idx="1">
                  <c:v>621454.454</c:v>
                </c:pt>
                <c:pt idx="2">
                  <c:v>635807.98</c:v>
                </c:pt>
                <c:pt idx="3">
                  <c:v>650493.023</c:v>
                </c:pt>
                <c:pt idx="4">
                  <c:v>665517.243</c:v>
                </c:pt>
                <c:pt idx="5">
                  <c:v>680888.4720000001</c:v>
                </c:pt>
                <c:pt idx="6">
                  <c:v>702023.9680000001</c:v>
                </c:pt>
                <c:pt idx="7">
                  <c:v>723815.532</c:v>
                </c:pt>
                <c:pt idx="8">
                  <c:v>746283.5289999999</c:v>
                </c:pt>
                <c:pt idx="9">
                  <c:v>769448.957</c:v>
                </c:pt>
                <c:pt idx="10">
                  <c:v>793333.4639999999</c:v>
                </c:pt>
                <c:pt idx="11">
                  <c:v>817959.371</c:v>
                </c:pt>
                <c:pt idx="12">
                  <c:v>843349.692</c:v>
                </c:pt>
                <c:pt idx="13">
                  <c:v>869528.156</c:v>
                </c:pt>
                <c:pt idx="14">
                  <c:v>896519.227</c:v>
                </c:pt>
                <c:pt idx="15">
                  <c:v>924348.129</c:v>
                </c:pt>
              </c:numCache>
            </c:numRef>
          </c:val>
        </c:ser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CAGR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3D85C6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%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Global</c:v>
                </c:pt>
                <c:pt idx="1">
                  <c:v>North America</c:v>
                </c:pt>
                <c:pt idx="2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0.04198811629149746</c:v>
                </c:pt>
                <c:pt idx="1">
                  <c:v>0.03306572273902586</c:v>
                </c:pt>
                <c:pt idx="2">
                  <c:v>0.031041054362116016</c:v>
                </c:pt>
              </c:numCache>
            </c:numRef>
          </c:val>
        </c:ser>
        <c:gapWidth val="6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0.05668395699352157"/>
          <c:min val="0.0"/>
        </c:scaling>
        <c:delete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0.0</c:v>
                </c:pt>
                <c:pt idx="1">
                  <c:v>680888.4720000001</c:v>
                </c:pt>
                <c:pt idx="2">
                  <c:v>702023.9680000001</c:v>
                </c:pt>
                <c:pt idx="3">
                  <c:v>723815.532</c:v>
                </c:pt>
                <c:pt idx="4">
                  <c:v>746283.5289999999</c:v>
                </c:pt>
                <c:pt idx="5">
                  <c:v>769448.957</c:v>
                </c:pt>
                <c:pt idx="6">
                  <c:v>793333.4639999999</c:v>
                </c:pt>
                <c:pt idx="7">
                  <c:v>817959.371</c:v>
                </c:pt>
                <c:pt idx="8">
                  <c:v>843349.692</c:v>
                </c:pt>
                <c:pt idx="9">
                  <c:v>869528.156</c:v>
                </c:pt>
                <c:pt idx="10">
                  <c:v>896519.227</c:v>
                </c:pt>
                <c:pt idx="11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08189"/>
              </a:solidFill>
            </c:spPr>
          </c:dPt>
          <c:dPt>
            <c:idx val="10"/>
            <c:spPr>
              <a:solidFill>
                <a:srgbClr val="008189"/>
              </a:solidFill>
            </c:spPr>
          </c:dPt>
          <c:dPt>
            <c:idx val="11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680888.4720000001</c:v>
                </c:pt>
                <c:pt idx="1">
                  <c:v>21135.496000000043</c:v>
                </c:pt>
                <c:pt idx="2">
                  <c:v>21791.563999999897</c:v>
                </c:pt>
                <c:pt idx="3">
                  <c:v>22467.996999999858</c:v>
                </c:pt>
                <c:pt idx="4">
                  <c:v>23165.42800000019</c:v>
                </c:pt>
                <c:pt idx="5">
                  <c:v>23884.506999999867</c:v>
                </c:pt>
                <c:pt idx="6">
                  <c:v>24625.907000000123</c:v>
                </c:pt>
                <c:pt idx="7">
                  <c:v>25390.320999999996</c:v>
                </c:pt>
                <c:pt idx="8">
                  <c:v>26178.46399999992</c:v>
                </c:pt>
                <c:pt idx="9">
                  <c:v>26991.070999999996</c:v>
                </c:pt>
                <c:pt idx="10">
                  <c:v>27828.902000000002</c:v>
                </c:pt>
                <c:pt idx="11">
                  <c:v>924348.129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U.S.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Share of North America</c:v>
                </c:pt>
                <c:pt idx="1">
                  <c:v>Share of Global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72.52736212960798</c:v>
                </c:pt>
                <c:pt idx="1">
                  <c:v>25.809709331495934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Rest of the market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Share of North America</c:v>
                </c:pt>
                <c:pt idx="1">
                  <c:v>Share of Global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27.47263787039202</c:v>
                </c:pt>
                <c:pt idx="1">
                  <c:v>74.19029066850406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delete val="1"/>
              <c:numFmt formatCode="&quot;&quot;" sourceLinked="0"/>
            </c:dLbl>
            <c:dLbl>
              <c:idx val="2"/>
              <c:delete val="1"/>
              <c:numFmt formatCode="&quot;&quot;" sourceLinked="0"/>
            </c:dLbl>
            <c:dLbl>
              <c:idx val="3"/>
              <c:delete val="1"/>
              <c:numFmt formatCode="&quot;&quot;" sourceLinked="0"/>
            </c:dLbl>
            <c:dLbl>
              <c:idx val="4"/>
              <c:delete val="1"/>
              <c:numFmt formatCode="&quot;&quot;" sourceLinked="0"/>
            </c:dLbl>
            <c:dLbl>
              <c:idx val="5"/>
              <c:delete val="1"/>
              <c:numFmt formatCode="&quot;&quot;" sourceLinked="0"/>
            </c:dLbl>
            <c:dLbl>
              <c:idx val="6"/>
              <c:delete val="1"/>
              <c:numFmt formatCode="&quot;&quot;" sourceLinked="0"/>
            </c:dLbl>
            <c:dLbl>
              <c:idx val="7"/>
              <c:delete val="1"/>
              <c:numFmt formatCode="&quot;&quot;" sourceLinked="0"/>
            </c:dLbl>
            <c:dLbl>
              <c:idx val="8"/>
              <c:delete val="1"/>
              <c:numFmt formatCode="&quot;&quot;" sourceLinked="0"/>
            </c:dLbl>
            <c:dLbl>
              <c:idx val="9"/>
              <c:delete val="1"/>
              <c:numFmt formatCode="&quot;&quot;" sourceLinked="0"/>
            </c:dLbl>
            <c:dLbl>
              <c:idx val="10"/>
              <c:delete val="1"/>
              <c:numFmt formatCode="&quot;&quot;" sourceLinked="0"/>
            </c:dLbl>
            <c:dLbl>
              <c:idx val="11"/>
              <c:delete val="1"/>
              <c:numFmt formatCode="&quot;&quot;" sourceLinked="0"/>
            </c:dLbl>
            <c:dLbl>
              <c:idx val="12"/>
              <c:delete val="1"/>
              <c:numFmt formatCode="&quot;&quot;" sourceLinked="0"/>
            </c:dLbl>
            <c:dLbl>
              <c:idx val="13"/>
              <c:delete val="1"/>
              <c:numFmt formatCode="&quot;&quot;" sourceLinked="0"/>
            </c:dLbl>
            <c:dLbl>
              <c:idx val="14"/>
              <c:delete val="1"/>
              <c:numFmt formatCode="&quot;&quot;" sourceLinked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2136.262</c:v>
                </c:pt>
                <c:pt idx="1">
                  <c:v>2200.902</c:v>
                </c:pt>
                <c:pt idx="2">
                  <c:v>2267.497</c:v>
                </c:pt>
                <c:pt idx="3">
                  <c:v>2336.108</c:v>
                </c:pt>
                <c:pt idx="4">
                  <c:v>2406.795</c:v>
                </c:pt>
                <c:pt idx="5">
                  <c:v>2479.62</c:v>
                </c:pt>
                <c:pt idx="6">
                  <c:v>2574.4869999999996</c:v>
                </c:pt>
                <c:pt idx="7">
                  <c:v>2672.982</c:v>
                </c:pt>
                <c:pt idx="8">
                  <c:v>2775.246</c:v>
                </c:pt>
                <c:pt idx="9">
                  <c:v>2881.4219999999996</c:v>
                </c:pt>
                <c:pt idx="10">
                  <c:v>2991.661</c:v>
                </c:pt>
                <c:pt idx="11">
                  <c:v>3106.117</c:v>
                </c:pt>
                <c:pt idx="12">
                  <c:v>3224.952</c:v>
                </c:pt>
                <c:pt idx="13">
                  <c:v>3348.333</c:v>
                </c:pt>
                <c:pt idx="14">
                  <c:v>3476.435</c:v>
                </c:pt>
                <c:pt idx="15">
                  <c:v>3609.437</c:v>
                </c:pt>
              </c:numCache>
            </c:numRef>
          </c:val>
        </c:ser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CAGR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3D85C6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%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Global</c:v>
                </c:pt>
                <c:pt idx="1">
                  <c:v>North America</c:v>
                </c:pt>
                <c:pt idx="2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0.049944145569506215</c:v>
                </c:pt>
                <c:pt idx="1">
                  <c:v>0.04056108237174105</c:v>
                </c:pt>
                <c:pt idx="2">
                  <c:v>0.03825835240042319</c:v>
                </c:pt>
              </c:numCache>
            </c:numRef>
          </c:val>
        </c:ser>
        <c:gapWidth val="6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0.0674245965188334"/>
          <c:min val="0.0"/>
        </c:scaling>
        <c:delete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0.0</c:v>
                </c:pt>
                <c:pt idx="1">
                  <c:v>2479.62</c:v>
                </c:pt>
                <c:pt idx="2">
                  <c:v>2574.4869999999996</c:v>
                </c:pt>
                <c:pt idx="3">
                  <c:v>2672.982</c:v>
                </c:pt>
                <c:pt idx="4">
                  <c:v>2775.246</c:v>
                </c:pt>
                <c:pt idx="5">
                  <c:v>2881.4219999999996</c:v>
                </c:pt>
                <c:pt idx="6">
                  <c:v>2991.661</c:v>
                </c:pt>
                <c:pt idx="7">
                  <c:v>3106.117</c:v>
                </c:pt>
                <c:pt idx="8">
                  <c:v>3224.952</c:v>
                </c:pt>
                <c:pt idx="9">
                  <c:v>3348.333</c:v>
                </c:pt>
                <c:pt idx="10">
                  <c:v>3476.435</c:v>
                </c:pt>
                <c:pt idx="11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08189"/>
              </a:solidFill>
            </c:spPr>
          </c:dPt>
          <c:dPt>
            <c:idx val="10"/>
            <c:spPr>
              <a:solidFill>
                <a:srgbClr val="008189"/>
              </a:solidFill>
            </c:spPr>
          </c:dPt>
          <c:dPt>
            <c:idx val="11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2479.62</c:v>
                </c:pt>
                <c:pt idx="1">
                  <c:v>94.86699999999973</c:v>
                </c:pt>
                <c:pt idx="2">
                  <c:v>98.49500000000035</c:v>
                </c:pt>
                <c:pt idx="3">
                  <c:v>102.26400000000012</c:v>
                </c:pt>
                <c:pt idx="4">
                  <c:v>106.17599999999948</c:v>
                </c:pt>
                <c:pt idx="5">
                  <c:v>110.23900000000049</c:v>
                </c:pt>
                <c:pt idx="6">
                  <c:v>114.45600000000013</c:v>
                </c:pt>
                <c:pt idx="7">
                  <c:v>118.83500000000004</c:v>
                </c:pt>
                <c:pt idx="8">
                  <c:v>123.38099999999986</c:v>
                </c:pt>
                <c:pt idx="9">
                  <c:v>128.10199999999986</c:v>
                </c:pt>
                <c:pt idx="10">
                  <c:v>133.00199999999995</c:v>
                </c:pt>
                <c:pt idx="11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U.S.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Share of North America</c:v>
                </c:pt>
                <c:pt idx="1">
                  <c:v>Share of Global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68.93577981651376</c:v>
                </c:pt>
                <c:pt idx="1">
                  <c:v>22.748807339449538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Rest of the market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Share of North America</c:v>
                </c:pt>
                <c:pt idx="1">
                  <c:v>Share of Global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31.064220183486242</c:v>
                </c:pt>
                <c:pt idx="1">
                  <c:v>77.25119266055046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FFFFFF"/>
              </a:solidFill>
            </c:spPr>
          </c:dPt>
          <c:dPt>
            <c:idx val="6"/>
            <c:spPr>
              <a:solidFill>
                <a:srgbClr val="9EC6DE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      </c:v>
                </c:pt>
                <c:pt idx="6">
                  <c:v>Savoury muffins</c:v>
                </c:pt>
                <c:pt idx="7">
                  <c:v>Sweet muffins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6">
                  <c:v>1128.777</c:v>
                </c:pt>
                <c:pt idx="7">
                  <c:v>1350.843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810.1296200000002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FFFFFF"/>
              </a:solidFill>
            </c:spPr>
          </c:dPt>
          <c:dPt>
            <c:idx val="6"/>
            <c:spPr>
              <a:solidFill>
                <a:srgbClr val="9DABB6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      </c:v>
                </c:pt>
                <c:pt idx="6">
                  <c:v>Savoury Muffins Flavo…</c:v>
                </c:pt>
                <c:pt idx="7">
                  <c:v>Sweet Muffins Flavours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6">
                  <c:v>1023.264</c:v>
                </c:pt>
                <c:pt idx="7">
                  <c:v>1456.356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951.5170400000002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C5B1E6"/>
              </a:solidFill>
            </c:spPr>
          </c:dPt>
          <c:dPt>
            <c:idx val="1"/>
            <c:spPr>
              <a:solidFill>
                <a:srgbClr val="B9A0E1"/>
              </a:solidFill>
            </c:spPr>
          </c:dPt>
          <c:dPt>
            <c:idx val="2"/>
            <c:spPr>
              <a:solidFill>
                <a:srgbClr val="AC8FDC"/>
              </a:solidFill>
            </c:spPr>
          </c:dPt>
          <c:dPt>
            <c:idx val="3"/>
            <c:spPr>
              <a:solidFill>
                <a:srgbClr val="A07ED6"/>
              </a:solidFill>
            </c:spPr>
          </c:dPt>
          <c:dPt>
            <c:idx val="4"/>
            <c:spPr>
              <a:solidFill>
                <a:srgbClr val="946ED1"/>
              </a:solidFill>
            </c:spPr>
          </c:dPt>
          <c:dPt>
            <c:idx val="5"/>
            <c:spPr>
              <a:solidFill>
                <a:srgbClr val="875DCC"/>
              </a:solidFill>
            </c:spPr>
          </c:dPt>
          <c:dPt>
            <c:idx val="6"/>
            <c:spPr>
              <a:solidFill>
                <a:srgbClr val="7B4CC7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Almond and other nut…</c:v>
                </c:pt>
                <c:pt idx="1">
                  <c:v>Millet-based</c:v>
                </c:pt>
                <c:pt idx="2">
                  <c:v>Multigrain and blende…</c:v>
                </c:pt>
                <c:pt idx="3">
                  <c:v>Other single-flour ba…</c:v>
                </c:pt>
                <c:pt idx="4">
                  <c:v>Corn-based</c:v>
                </c:pt>
                <c:pt idx="5">
                  <c:v>Rice-based</c:v>
                </c:pt>
                <c:pt idx="6">
                  <c:v>Wheat-based</c:v>
                </c:pt>
                <c:pt idx="7">
                  <c:v>Oat-based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82.645</c:v>
                </c:pt>
                <c:pt idx="1">
                  <c:v>170.703</c:v>
                </c:pt>
                <c:pt idx="2">
                  <c:v>192.052</c:v>
                </c:pt>
                <c:pt idx="3">
                  <c:v>320.454</c:v>
                </c:pt>
                <c:pt idx="4">
                  <c:v>351.552</c:v>
                </c:pt>
                <c:pt idx="5">
                  <c:v>395.679</c:v>
                </c:pt>
                <c:pt idx="6">
                  <c:v>433.775</c:v>
                </c:pt>
                <c:pt idx="7">
                  <c:v>532.76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713.8984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DABAA0"/>
              </a:solidFill>
            </c:spPr>
          </c:dPt>
          <c:dPt>
            <c:idx val="5"/>
            <c:spPr>
              <a:solidFill>
                <a:srgbClr val="C79771"/>
              </a:solidFill>
            </c:spPr>
          </c:dPt>
          <c:dPt>
            <c:idx val="6"/>
            <c:spPr>
              <a:solidFill>
                <a:srgbClr val="B57542"/>
              </a:solidFill>
            </c:spPr>
          </c:dPt>
          <c:dPt>
            <c:idx val="7"/>
            <c:spPr>
              <a:solidFill>
                <a:srgbClr val="A35313"/>
              </a:solidFill>
            </c:spPr>
          </c:dPt>
          <c:dLbls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Vegan</c:v>
                </c:pt>
                <c:pt idx="5">
                  <c:v>Conventional</c:v>
                </c:pt>
                <c:pt idx="6">
                  <c:v>and vegan</c:v>
                </c:pt>
                <c:pt idx="7">
                  <c:v>(base)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4">
                  <c:v>182.44</c:v>
                </c:pt>
                <c:pt idx="5">
                  <c:v>416.113</c:v>
                </c:pt>
                <c:pt idx="6">
                  <c:v>764.555</c:v>
                </c:pt>
                <c:pt idx="7">
                  <c:v>1116.512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496.12608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DCC599"/>
              </a:solidFill>
            </c:spPr>
          </c:dPt>
          <c:dPt>
            <c:idx val="2"/>
            <c:spPr>
              <a:solidFill>
                <a:srgbClr val="D3B77F"/>
              </a:solidFill>
            </c:spPr>
          </c:dPt>
          <c:dPt>
            <c:idx val="3"/>
            <c:spPr>
              <a:solidFill>
                <a:srgbClr val="CAA865"/>
              </a:solidFill>
            </c:spPr>
          </c:dPt>
          <c:dPt>
            <c:idx val="4"/>
            <c:spPr>
              <a:solidFill>
                <a:srgbClr val="C29A4C"/>
              </a:solidFill>
            </c:spPr>
          </c:dPt>
          <c:dPt>
            <c:idx val="5"/>
            <c:spPr>
              <a:solidFill>
                <a:srgbClr val="B98B32"/>
              </a:solidFill>
            </c:spPr>
          </c:dPt>
          <c:dPt>
            <c:idx val="6"/>
            <c:spPr>
              <a:solidFill>
                <a:srgbClr val="B07D19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Lbls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Fibre-enriched</c:v>
                </c:pt>
                <c:pt idx="2">
                  <c:v>No-added-sugar</c:v>
                </c:pt>
                <c:pt idx="3">
                  <c:v>Reduced-fat</c:v>
                </c:pt>
                <c:pt idx="4">
                  <c:v>Other nutrition-focus…</c:v>
                </c:pt>
                <c:pt idx="5">
                  <c:v>Reduced-sugar</c:v>
                </c:pt>
                <c:pt idx="6">
                  <c:v>Standard / indulgent</c:v>
                </c:pt>
                <c:pt idx="7">
                  <c:v>Protein-enriched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1">
                  <c:v>71.611</c:v>
                </c:pt>
                <c:pt idx="2">
                  <c:v>204.547</c:v>
                </c:pt>
                <c:pt idx="3">
                  <c:v>345.455</c:v>
                </c:pt>
                <c:pt idx="4">
                  <c:v>379.075</c:v>
                </c:pt>
                <c:pt idx="5">
                  <c:v>439.16</c:v>
                </c:pt>
                <c:pt idx="6">
                  <c:v>446.073</c:v>
                </c:pt>
                <c:pt idx="7">
                  <c:v>593.699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795.55666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E59999"/>
              </a:solidFill>
            </c:spPr>
          </c:dPt>
          <c:dPt>
            <c:idx val="6"/>
            <c:spPr>
              <a:solidFill>
                <a:srgbClr val="D24C4C"/>
              </a:solidFill>
            </c:spPr>
          </c:dPt>
          <c:dPt>
            <c:idx val="7"/>
            <c:spPr>
              <a:solidFill>
                <a:srgbClr val="C00000"/>
              </a:solidFill>
            </c:spPr>
          </c:dPt>
          <c:dLbls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Conventional / non-or…</c:v>
                </c:pt>
                <c:pt idx="6">
                  <c:v>Organic-certified</c:v>
                </c:pt>
                <c:pt idx="7">
                  <c:v>Additional claim mapp…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44.658</c:v>
                </c:pt>
                <c:pt idx="6">
                  <c:v>381.398</c:v>
                </c:pt>
                <c:pt idx="7">
                  <c:v>2053.564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751.77576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FFFFFF"/>
              </a:solidFill>
            </c:spPr>
          </c:dPt>
          <c:dPt>
            <c:idx val="6"/>
            <c:spPr>
              <a:solidFill>
                <a:srgbClr val="C4C9CF"/>
              </a:solidFill>
            </c:spPr>
          </c:dPt>
          <c:dPt>
            <c:idx val="7"/>
            <c:spPr>
              <a:solidFill>
                <a:srgbClr val="6C7A89"/>
              </a:solidFill>
            </c:spPr>
          </c:dPt>
          <c:dLbls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      </c:v>
                </c:pt>
                <c:pt idx="6">
                  <c:v>Unfilled muffins</c:v>
                </c:pt>
                <c:pt idx="7">
                  <c:v>Filled muffins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6">
                  <c:v>901.825</c:v>
                </c:pt>
                <c:pt idx="7">
                  <c:v>1577.795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114.2453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9EC6DE"/>
              </a:solidFill>
            </c:spPr>
          </c:dPt>
          <c:dPt>
            <c:idx val="3"/>
            <c:spPr>
              <a:solidFill>
                <a:srgbClr val="81B5D4"/>
              </a:solidFill>
            </c:spPr>
          </c:dPt>
          <c:dPt>
            <c:idx val="4"/>
            <c:spPr>
              <a:solidFill>
                <a:srgbClr val="64A4CB"/>
              </a:solidFill>
            </c:spPr>
          </c:dPt>
          <c:dPt>
            <c:idx val="5"/>
            <c:spPr>
              <a:solidFill>
                <a:srgbClr val="4793C1"/>
              </a:solidFill>
            </c:spPr>
          </c:dPt>
          <c:dPt>
            <c:idx val="6"/>
            <c:spPr>
              <a:solidFill>
                <a:srgbClr val="2A82B7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Crumb / streusel-topp…</c:v>
                </c:pt>
                <c:pt idx="3">
                  <c:v>Other toppings</c:v>
                </c:pt>
                <c:pt idx="4">
                  <c:v>Untopped</c:v>
                </c:pt>
                <c:pt idx="5">
                  <c:v>Sugar-topped</c:v>
                </c:pt>
                <c:pt idx="6">
                  <c:v>Nut and seed-topped</c:v>
                </c:pt>
                <c:pt idx="7">
                  <c:v>Glazed / drizzled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182.667</c:v>
                </c:pt>
                <c:pt idx="3">
                  <c:v>214.067</c:v>
                </c:pt>
                <c:pt idx="4">
                  <c:v>228.007</c:v>
                </c:pt>
                <c:pt idx="5">
                  <c:v>318.565</c:v>
                </c:pt>
                <c:pt idx="6">
                  <c:v>747.831</c:v>
                </c:pt>
                <c:pt idx="7">
                  <c:v>788.483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56.56722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9DABB6"/>
              </a:solidFill>
            </c:spPr>
          </c:dPt>
          <c:dPt>
            <c:idx val="5"/>
            <c:spPr>
              <a:solidFill>
                <a:srgbClr val="6C8192"/>
              </a:solidFill>
            </c:spPr>
          </c:dPt>
          <c:dPt>
            <c:idx val="6"/>
            <c:spPr>
              <a:solidFill>
                <a:srgbClr val="3B576E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Mini / bite-sized - b…</c:v>
                </c:pt>
                <c:pt idx="5">
                  <c:v>Large / jumbog…</c:v>
                </c:pt>
                <c:pt idx="6">
                  <c:v>Smallg to below…</c:v>
                </c:pt>
                <c:pt idx="7">
                  <c:v>Standardg to be…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4">
                  <c:v>109.1</c:v>
                </c:pt>
                <c:pt idx="5">
                  <c:v>553.93</c:v>
                </c:pt>
                <c:pt idx="6">
                  <c:v>751.29</c:v>
                </c:pt>
                <c:pt idx="7">
                  <c:v>1065.3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427.502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C5B1E6"/>
              </a:solidFill>
            </c:spPr>
          </c:dPt>
          <c:dPt>
            <c:idx val="6"/>
            <c:spPr>
              <a:solidFill>
                <a:srgbClr val="9A76D4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Ambient</c:v>
                </c:pt>
                <c:pt idx="6">
                  <c:v>Chilled</c:v>
                </c:pt>
                <c:pt idx="7">
                  <c:v>Frozen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247.371</c:v>
                </c:pt>
                <c:pt idx="6">
                  <c:v>794.599</c:v>
                </c:pt>
                <c:pt idx="7">
                  <c:v>1437.65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926.4510000000002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DABAA0"/>
              </a:solidFill>
            </c:spPr>
          </c:dPt>
          <c:dPt>
            <c:idx val="5"/>
            <c:spPr>
              <a:solidFill>
                <a:srgbClr val="C79771"/>
              </a:solidFill>
            </c:spPr>
          </c:dPt>
          <c:dPt>
            <c:idx val="6"/>
            <c:spPr>
              <a:solidFill>
                <a:srgbClr val="B57542"/>
              </a:solidFill>
            </c:spPr>
          </c:dPt>
          <c:dPt>
            <c:idx val="7"/>
            <c:spPr>
              <a:solidFill>
                <a:srgbClr val="A35313"/>
              </a:solidFill>
            </c:spPr>
          </c:dPt>
          <c:dLbls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More than 90 days</c:v>
                </c:pt>
                <c:pt idx="5">
                  <c:v>31-90 days</c:v>
                </c:pt>
                <c:pt idx="6">
                  <c:v>8-30 days</c:v>
                </c:pt>
                <c:pt idx="7">
                  <c:v>Up to 7 days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4">
                  <c:v>314.013</c:v>
                </c:pt>
                <c:pt idx="5">
                  <c:v>322.06</c:v>
                </c:pt>
                <c:pt idx="6">
                  <c:v>487.247</c:v>
                </c:pt>
                <c:pt idx="7">
                  <c:v>1356.3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817.442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DCC599"/>
              </a:solidFill>
            </c:spPr>
          </c:dPt>
          <c:dPt>
            <c:idx val="5"/>
            <c:spPr>
              <a:solidFill>
                <a:srgbClr val="CAA865"/>
              </a:solidFill>
            </c:spPr>
          </c:dPt>
          <c:dPt>
            <c:idx val="6"/>
            <c:spPr>
              <a:solidFill>
                <a:srgbClr val="B98B32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Lbls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Other packaging forma…</c:v>
                </c:pt>
                <c:pt idx="5">
                  <c:v>Flexible packs</c:v>
                </c:pt>
                <c:pt idx="6">
                  <c:v>Paperboard packs</c:v>
                </c:pt>
                <c:pt idx="7">
                  <c:v>Rigid plastic packs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4">
                  <c:v>109.09</c:v>
                </c:pt>
                <c:pt idx="5">
                  <c:v>286.822</c:v>
                </c:pt>
                <c:pt idx="6">
                  <c:v>845.916</c:v>
                </c:pt>
                <c:pt idx="7">
                  <c:v>1237.792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658.64128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E59999"/>
              </a:solidFill>
            </c:spPr>
          </c:dPt>
          <c:dPt>
            <c:idx val="6"/>
            <c:spPr>
              <a:solidFill>
                <a:srgbClr val="D24C4C"/>
              </a:solidFill>
            </c:spPr>
          </c:dPt>
          <c:dPt>
            <c:idx val="7"/>
            <c:spPr>
              <a:solidFill>
                <a:srgbClr val="C00000"/>
              </a:solidFill>
            </c:spPr>
          </c:dPt>
          <c:dLbls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Bulk foodservice packs</c:v>
                </c:pt>
                <c:pt idx="6">
                  <c:v>Single-muffin packs</c:v>
                </c:pt>
                <c:pt idx="7">
                  <c:v>Multipacks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387.777</c:v>
                </c:pt>
                <c:pt idx="6">
                  <c:v>787.058</c:v>
                </c:pt>
                <c:pt idx="7">
                  <c:v>1304.785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748.4119000000003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FFFFFF"/>
              </a:solidFill>
            </c:spPr>
          </c:dPt>
          <c:dPt>
            <c:idx val="6"/>
            <c:spPr>
              <a:solidFill>
                <a:srgbClr val="C4C9CF"/>
              </a:solidFill>
            </c:spPr>
          </c:dPt>
          <c:dPt>
            <c:idx val="7"/>
            <c:spPr>
              <a:solidFill>
                <a:srgbClr val="6C7A89"/>
              </a:solidFill>
            </c:spPr>
          </c:dPt>
          <c:dLbls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      </c:v>
                </c:pt>
                <c:pt idx="6">
                  <c:v>Shared pack without i…</c:v>
                </c:pt>
                <c:pt idx="7">
                  <c:v>Individually wrapped…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6">
                  <c:v>1075.221</c:v>
                </c:pt>
                <c:pt idx="7">
                  <c:v>1404.399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881.89466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9EC6DE"/>
              </a:solidFill>
            </c:spPr>
          </c:dPt>
          <c:dPt>
            <c:idx val="5"/>
            <c:spPr>
              <a:solidFill>
                <a:srgbClr val="6EAACE"/>
              </a:solidFill>
            </c:spPr>
          </c:dPt>
          <c:dPt>
            <c:idx val="6"/>
            <c:spPr>
              <a:solidFill>
                <a:srgbClr val="3E8EBE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Super-premium / speci…</c:v>
                </c:pt>
                <c:pt idx="5">
                  <c:v>Economy / value</c:v>
                </c:pt>
                <c:pt idx="6">
                  <c:v>Mid-range</c:v>
                </c:pt>
                <c:pt idx="7">
                  <c:v>Premium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4">
                  <c:v>357.083</c:v>
                </c:pt>
                <c:pt idx="5">
                  <c:v>564.426</c:v>
                </c:pt>
                <c:pt idx="6">
                  <c:v>618.212</c:v>
                </c:pt>
                <c:pt idx="7">
                  <c:v>939.899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259.46466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9DABB6"/>
              </a:solidFill>
            </c:spPr>
          </c:dPt>
          <c:dPt>
            <c:idx val="6"/>
            <c:spPr>
              <a:solidFill>
                <a:srgbClr val="546C80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Foodservice / operato…</c:v>
                </c:pt>
                <c:pt idx="6">
                  <c:v>Manufacturer brands</c:v>
                </c:pt>
                <c:pt idx="7">
                  <c:v>Retailer private labe…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459.926</c:v>
                </c:pt>
                <c:pt idx="6">
                  <c:v>965.595</c:v>
                </c:pt>
                <c:pt idx="7">
                  <c:v>1054.0990000000002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412.4926600000003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C5B1E6"/>
              </a:solidFill>
            </c:spPr>
          </c:dPt>
          <c:dPt>
            <c:idx val="6"/>
            <c:spPr>
              <a:solidFill>
                <a:srgbClr val="9A76D4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Vending</c:v>
                </c:pt>
                <c:pt idx="6">
                  <c:v>Foodservice and insti…</c:v>
                </c:pt>
                <c:pt idx="7">
                  <c:v>Retail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106.428</c:v>
                </c:pt>
                <c:pt idx="6">
                  <c:v>827.254</c:v>
                </c:pt>
                <c:pt idx="7">
                  <c:v>1545.938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071.5569200000004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2026</c:v>
                </c:pt>
                <c:pt idx="1">
                  <c:v>Sweet muffins</c:v>
                </c:pt>
                <c:pt idx="2">
                  <c:v>Savoury muffins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2479.62</c:v>
                </c:pt>
                <c:pt idx="2">
                  <c:v>3169.219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2026</c:v>
                </c:pt>
                <c:pt idx="1">
                  <c:v>Sweet muffins</c:v>
                </c:pt>
                <c:pt idx="2">
                  <c:v>Savoury muffins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2479.62</c:v>
                </c:pt>
                <c:pt idx="1">
                  <c:v>689.5989999999999</c:v>
                </c:pt>
                <c:pt idx="2">
                  <c:v>440.21799999999985</c:v>
                </c:pt>
                <c:pt idx="3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3"/>
                <c:pt idx="0">
                  <c:v>Sweet muffins</c:v>
                </c:pt>
                <c:pt idx="1">
                  <c:v>Savoury muffins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</c:v>
                </c:pt>
                <c:pt idx="1">
                  <c:v>689.5989999999999</c:v>
                </c:pt>
                <c:pt idx="2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Sweet muffins</c:v>
                </c:pt>
                <c:pt idx="1">
                  <c:v>Savoury muffins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689.5989999999999</c:v>
                </c:pt>
                <c:pt idx="1">
                  <c:v>440.21799999999985</c:v>
                </c:pt>
                <c:pt idx="2">
                  <c:v>1129.8169999999998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2026</c:v>
                </c:pt>
                <c:pt idx="1">
                  <c:v>Sweet Muffins Flavours</c:v>
                </c:pt>
                <c:pt idx="2">
                  <c:v>Savoury Muffins Flavours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2479.62</c:v>
                </c:pt>
                <c:pt idx="2">
                  <c:v>3027.939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2026</c:v>
                </c:pt>
                <c:pt idx="1">
                  <c:v>Sweet Muffins Flavours</c:v>
                </c:pt>
                <c:pt idx="2">
                  <c:v>Savoury Muffins Flavours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2479.62</c:v>
                </c:pt>
                <c:pt idx="1">
                  <c:v>548.319</c:v>
                </c:pt>
                <c:pt idx="2">
                  <c:v>581.4979999999999</c:v>
                </c:pt>
                <c:pt idx="3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3"/>
                <c:pt idx="0">
                  <c:v>Sweet Muffins Flavours</c:v>
                </c:pt>
                <c:pt idx="1">
                  <c:v>Savoury Muffins Flavours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</c:v>
                </c:pt>
                <c:pt idx="1">
                  <c:v>548.319</c:v>
                </c:pt>
                <c:pt idx="2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Sweet Muffins Flavours</c:v>
                </c:pt>
                <c:pt idx="1">
                  <c:v>Savoury Muffins Flavours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548.319</c:v>
                </c:pt>
                <c:pt idx="1">
                  <c:v>581.4979999999999</c:v>
                </c:pt>
                <c:pt idx="2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0"/>
                <c:pt idx="0">
                  <c:v>2026</c:v>
                </c:pt>
                <c:pt idx="1">
                  <c:v>Wheat-based</c:v>
                </c:pt>
                <c:pt idx="2">
                  <c:v>Oat-based</c:v>
                </c:pt>
                <c:pt idx="3">
                  <c:v>Rice-based</c:v>
                </c:pt>
                <c:pt idx="4">
                  <c:v>Corn-based</c:v>
                </c:pt>
                <c:pt idx="5">
                  <c:v>Millet-based</c:v>
                </c:pt>
                <c:pt idx="6">
                  <c:v>Almond and other nut flour-based</c:v>
                </c:pt>
                <c:pt idx="7">
                  <c:v>Other single-flour bases</c:v>
                </c:pt>
                <c:pt idx="8">
                  <c:v>Multigrain and blended flour bases</c:v>
                </c:pt>
                <c:pt idx="9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0.0</c:v>
                </c:pt>
                <c:pt idx="1">
                  <c:v>2479.62</c:v>
                </c:pt>
                <c:pt idx="2">
                  <c:v>2678.8729999999996</c:v>
                </c:pt>
                <c:pt idx="3">
                  <c:v>3052.7169999999996</c:v>
                </c:pt>
                <c:pt idx="4">
                  <c:v>3155.0249999999996</c:v>
                </c:pt>
                <c:pt idx="5">
                  <c:v>3268.5299999999997</c:v>
                </c:pt>
                <c:pt idx="6">
                  <c:v>3388.647</c:v>
                </c:pt>
                <c:pt idx="7">
                  <c:v>3427.686</c:v>
                </c:pt>
                <c:pt idx="8">
                  <c:v>3601.043</c:v>
                </c:pt>
                <c:pt idx="9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0"/>
                <c:pt idx="0">
                  <c:v>2026</c:v>
                </c:pt>
                <c:pt idx="1">
                  <c:v>Wheat-based</c:v>
                </c:pt>
                <c:pt idx="2">
                  <c:v>Oat-based</c:v>
                </c:pt>
                <c:pt idx="3">
                  <c:v>Rice-based</c:v>
                </c:pt>
                <c:pt idx="4">
                  <c:v>Corn-based</c:v>
                </c:pt>
                <c:pt idx="5">
                  <c:v>Millet-based</c:v>
                </c:pt>
                <c:pt idx="6">
                  <c:v>Almond and other nut flour-based</c:v>
                </c:pt>
                <c:pt idx="7">
                  <c:v>Other single-flour bases</c:v>
                </c:pt>
                <c:pt idx="8">
                  <c:v>Multigrain and blended flour bases</c:v>
                </c:pt>
                <c:pt idx="9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2479.62</c:v>
                </c:pt>
                <c:pt idx="1">
                  <c:v>199.25299999999993</c:v>
                </c:pt>
                <c:pt idx="2">
                  <c:v>373.84400000000005</c:v>
                </c:pt>
                <c:pt idx="3">
                  <c:v>102.30800000000005</c:v>
                </c:pt>
                <c:pt idx="4">
                  <c:v>113.505</c:v>
                </c:pt>
                <c:pt idx="5">
                  <c:v>120.11699999999999</c:v>
                </c:pt>
                <c:pt idx="6">
                  <c:v>39.039</c:v>
                </c:pt>
                <c:pt idx="7">
                  <c:v>173.35699999999997</c:v>
                </c:pt>
                <c:pt idx="8">
                  <c:v>8.394000000000005</c:v>
                </c:pt>
                <c:pt idx="9">
                  <c:v>3609.4370000000004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9"/>
                <c:pt idx="0">
                  <c:v>Wheat-based</c:v>
                </c:pt>
                <c:pt idx="1">
                  <c:v>Oat-based</c:v>
                </c:pt>
                <c:pt idx="2">
                  <c:v>Rice-based</c:v>
                </c:pt>
                <c:pt idx="3">
                  <c:v>Corn-based</c:v>
                </c:pt>
                <c:pt idx="4">
                  <c:v>Millet-based</c:v>
                </c:pt>
                <c:pt idx="5">
                  <c:v>Almond and other nut flour-based</c:v>
                </c:pt>
                <c:pt idx="6">
                  <c:v>Other single-flour bases</c:v>
                </c:pt>
                <c:pt idx="7">
                  <c:v>Multigrain and blended flour bases</c:v>
                </c:pt>
                <c:pt idx="8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0.0</c:v>
                </c:pt>
                <c:pt idx="1">
                  <c:v>199.25299999999993</c:v>
                </c:pt>
                <c:pt idx="2">
                  <c:v>573.097</c:v>
                </c:pt>
                <c:pt idx="3">
                  <c:v>675.405</c:v>
                </c:pt>
                <c:pt idx="4">
                  <c:v>788.91</c:v>
                </c:pt>
                <c:pt idx="5">
                  <c:v>909.0269999999999</c:v>
                </c:pt>
                <c:pt idx="6">
                  <c:v>948.0659999999999</c:v>
                </c:pt>
                <c:pt idx="7">
                  <c:v>1121.4229999999998</c:v>
                </c:pt>
                <c:pt idx="8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Wheat-based</c:v>
                </c:pt>
                <c:pt idx="1">
                  <c:v>Oat-based</c:v>
                </c:pt>
                <c:pt idx="2">
                  <c:v>Rice-based</c:v>
                </c:pt>
                <c:pt idx="3">
                  <c:v>Corn-based</c:v>
                </c:pt>
                <c:pt idx="4">
                  <c:v>Millet-based</c:v>
                </c:pt>
                <c:pt idx="5">
                  <c:v>Almond and other nut flour-based</c:v>
                </c:pt>
                <c:pt idx="6">
                  <c:v>Other single-flour bases</c:v>
                </c:pt>
                <c:pt idx="7">
                  <c:v>Multigrain and blended flour bases</c:v>
                </c:pt>
                <c:pt idx="8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199.25299999999993</c:v>
                </c:pt>
                <c:pt idx="1">
                  <c:v>373.84400000000005</c:v>
                </c:pt>
                <c:pt idx="2">
                  <c:v>102.30800000000005</c:v>
                </c:pt>
                <c:pt idx="3">
                  <c:v>113.505</c:v>
                </c:pt>
                <c:pt idx="4">
                  <c:v>120.11699999999999</c:v>
                </c:pt>
                <c:pt idx="5">
                  <c:v>39.039</c:v>
                </c:pt>
                <c:pt idx="6">
                  <c:v>173.35699999999997</c:v>
                </c:pt>
                <c:pt idx="7">
                  <c:v>8.394000000000005</c:v>
                </c:pt>
                <c:pt idx="8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2026</c:v>
                </c:pt>
                <c:pt idx="1">
                  <c:v>Conventional</c:v>
                </c:pt>
                <c:pt idx="2">
                  <c:v>Gluten-free</c:v>
                </c:pt>
                <c:pt idx="3">
                  <c:v>Vegan</c:v>
                </c:pt>
                <c:pt idx="4">
                  <c:v>Gluten-free and vegan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2479.62</c:v>
                </c:pt>
                <c:pt idx="2">
                  <c:v>2739.9269999999997</c:v>
                </c:pt>
                <c:pt idx="3">
                  <c:v>3325.8009999999995</c:v>
                </c:pt>
                <c:pt idx="4">
                  <c:v>3346.3799999999997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2026</c:v>
                </c:pt>
                <c:pt idx="1">
                  <c:v>Conventional</c:v>
                </c:pt>
                <c:pt idx="2">
                  <c:v>Gluten-free</c:v>
                </c:pt>
                <c:pt idx="3">
                  <c:v>Vegan</c:v>
                </c:pt>
                <c:pt idx="4">
                  <c:v>Gluten-free and vegan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2479.62</c:v>
                </c:pt>
                <c:pt idx="1">
                  <c:v>260.30699999999996</c:v>
                </c:pt>
                <c:pt idx="2">
                  <c:v>585.874</c:v>
                </c:pt>
                <c:pt idx="3">
                  <c:v>20.579000000000008</c:v>
                </c:pt>
                <c:pt idx="4">
                  <c:v>263.05700000000013</c:v>
                </c:pt>
                <c:pt idx="5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Conventional</c:v>
                </c:pt>
                <c:pt idx="1">
                  <c:v>Gluten-free</c:v>
                </c:pt>
                <c:pt idx="2">
                  <c:v>Vegan</c:v>
                </c:pt>
                <c:pt idx="3">
                  <c:v>Gluten-free and vegan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260.30699999999996</c:v>
                </c:pt>
                <c:pt idx="2">
                  <c:v>846.181</c:v>
                </c:pt>
                <c:pt idx="3">
                  <c:v>866.76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Conventional</c:v>
                </c:pt>
                <c:pt idx="1">
                  <c:v>Gluten-free</c:v>
                </c:pt>
                <c:pt idx="2">
                  <c:v>Vegan</c:v>
                </c:pt>
                <c:pt idx="3">
                  <c:v>Gluten-free and vegan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260.30699999999996</c:v>
                </c:pt>
                <c:pt idx="1">
                  <c:v>585.874</c:v>
                </c:pt>
                <c:pt idx="2">
                  <c:v>20.579000000000008</c:v>
                </c:pt>
                <c:pt idx="3">
                  <c:v>263.05700000000013</c:v>
                </c:pt>
                <c:pt idx="4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9"/>
                <c:pt idx="0">
                  <c:v>2026</c:v>
                </c:pt>
                <c:pt idx="1">
                  <c:v>Standard / indulgent</c:v>
                </c:pt>
                <c:pt idx="2">
                  <c:v>Protein-enriched</c:v>
                </c:pt>
                <c:pt idx="3">
                  <c:v>Fibre-enriched</c:v>
                </c:pt>
                <c:pt idx="4">
                  <c:v>Reduced-sugar</c:v>
                </c:pt>
                <c:pt idx="5">
                  <c:v>No-added-sugar</c:v>
                </c:pt>
                <c:pt idx="6">
                  <c:v>Reduced-fat</c:v>
                </c:pt>
                <c:pt idx="7">
                  <c:v>Other nutrition-focused formulations</c:v>
                </c:pt>
                <c:pt idx="8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0.0</c:v>
                </c:pt>
                <c:pt idx="1">
                  <c:v>2479.62</c:v>
                </c:pt>
                <c:pt idx="2">
                  <c:v>2655.573</c:v>
                </c:pt>
                <c:pt idx="3">
                  <c:v>3029.701</c:v>
                </c:pt>
                <c:pt idx="4">
                  <c:v>3088.167</c:v>
                </c:pt>
                <c:pt idx="5">
                  <c:v>3344.863</c:v>
                </c:pt>
                <c:pt idx="6">
                  <c:v>3418.546</c:v>
                </c:pt>
                <c:pt idx="7">
                  <c:v>3558.528</c:v>
                </c:pt>
                <c:pt idx="8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2026</c:v>
                </c:pt>
                <c:pt idx="1">
                  <c:v>Standard / indulgent</c:v>
                </c:pt>
                <c:pt idx="2">
                  <c:v>Protein-enriched</c:v>
                </c:pt>
                <c:pt idx="3">
                  <c:v>Fibre-enriched</c:v>
                </c:pt>
                <c:pt idx="4">
                  <c:v>Reduced-sugar</c:v>
                </c:pt>
                <c:pt idx="5">
                  <c:v>No-added-sugar</c:v>
                </c:pt>
                <c:pt idx="6">
                  <c:v>Reduced-fat</c:v>
                </c:pt>
                <c:pt idx="7">
                  <c:v>Other nutrition-focused formulations</c:v>
                </c:pt>
                <c:pt idx="8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2479.62</c:v>
                </c:pt>
                <c:pt idx="1">
                  <c:v>175.95299999999997</c:v>
                </c:pt>
                <c:pt idx="2">
                  <c:v>374.12800000000004</c:v>
                </c:pt>
                <c:pt idx="3">
                  <c:v>58.465999999999994</c:v>
                </c:pt>
                <c:pt idx="4">
                  <c:v>256.69599999999997</c:v>
                </c:pt>
                <c:pt idx="5">
                  <c:v>73.68300000000002</c:v>
                </c:pt>
                <c:pt idx="6">
                  <c:v>139.98200000000003</c:v>
                </c:pt>
                <c:pt idx="7">
                  <c:v>50.90899999999999</c:v>
                </c:pt>
                <c:pt idx="8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8"/>
                <c:pt idx="0">
                  <c:v>Standard / indulgent</c:v>
                </c:pt>
                <c:pt idx="1">
                  <c:v>Protein-enriched</c:v>
                </c:pt>
                <c:pt idx="2">
                  <c:v>Fibre-enriched</c:v>
                </c:pt>
                <c:pt idx="3">
                  <c:v>Reduced-sugar</c:v>
                </c:pt>
                <c:pt idx="4">
                  <c:v>No-added-sugar</c:v>
                </c:pt>
                <c:pt idx="5">
                  <c:v>Reduced-fat</c:v>
                </c:pt>
                <c:pt idx="6">
                  <c:v>Other nutrition-focused formulations</c:v>
                </c:pt>
                <c:pt idx="7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0.0</c:v>
                </c:pt>
                <c:pt idx="1">
                  <c:v>175.95299999999997</c:v>
                </c:pt>
                <c:pt idx="2">
                  <c:v>550.081</c:v>
                </c:pt>
                <c:pt idx="3">
                  <c:v>608.547</c:v>
                </c:pt>
                <c:pt idx="4">
                  <c:v>865.2429999999999</c:v>
                </c:pt>
                <c:pt idx="5">
                  <c:v>938.9259999999999</c:v>
                </c:pt>
                <c:pt idx="6">
                  <c:v>1078.908</c:v>
                </c:pt>
                <c:pt idx="7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Standard / indulgent</c:v>
                </c:pt>
                <c:pt idx="1">
                  <c:v>Protein-enriched</c:v>
                </c:pt>
                <c:pt idx="2">
                  <c:v>Fibre-enriched</c:v>
                </c:pt>
                <c:pt idx="3">
                  <c:v>Reduced-sugar</c:v>
                </c:pt>
                <c:pt idx="4">
                  <c:v>No-added-sugar</c:v>
                </c:pt>
                <c:pt idx="5">
                  <c:v>Reduced-fat</c:v>
                </c:pt>
                <c:pt idx="6">
                  <c:v>Other nutrition-focused formulations</c:v>
                </c:pt>
                <c:pt idx="7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175.95299999999997</c:v>
                </c:pt>
                <c:pt idx="1">
                  <c:v>374.12800000000004</c:v>
                </c:pt>
                <c:pt idx="2">
                  <c:v>58.465999999999994</c:v>
                </c:pt>
                <c:pt idx="3">
                  <c:v>256.69599999999997</c:v>
                </c:pt>
                <c:pt idx="4">
                  <c:v>73.68300000000002</c:v>
                </c:pt>
                <c:pt idx="5">
                  <c:v>139.98200000000003</c:v>
                </c:pt>
                <c:pt idx="6">
                  <c:v>50.90899999999999</c:v>
                </c:pt>
                <c:pt idx="7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Organic-certified</c:v>
                </c:pt>
                <c:pt idx="2">
                  <c:v>Conventional / non-organic</c:v>
                </c:pt>
                <c:pt idx="3">
                  <c:v>Additional claim mapping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2479.62</c:v>
                </c:pt>
                <c:pt idx="2">
                  <c:v>2568.31</c:v>
                </c:pt>
                <c:pt idx="3">
                  <c:v>2576.819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Organic-certified</c:v>
                </c:pt>
                <c:pt idx="2">
                  <c:v>Conventional / non-organic</c:v>
                </c:pt>
                <c:pt idx="3">
                  <c:v>Additional claim mapping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2479.62</c:v>
                </c:pt>
                <c:pt idx="1">
                  <c:v>88.69</c:v>
                </c:pt>
                <c:pt idx="2">
                  <c:v>8.509</c:v>
                </c:pt>
                <c:pt idx="3">
                  <c:v>1032.618</c:v>
                </c:pt>
                <c:pt idx="4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Organic-certified</c:v>
                </c:pt>
                <c:pt idx="1">
                  <c:v>Conventional / non-organic</c:v>
                </c:pt>
                <c:pt idx="2">
                  <c:v>Additional claim mapping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88.69</c:v>
                </c:pt>
                <c:pt idx="2">
                  <c:v>97.199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Organic-certified</c:v>
                </c:pt>
                <c:pt idx="1">
                  <c:v>Conventional / non-organic</c:v>
                </c:pt>
                <c:pt idx="2">
                  <c:v>Additional claim mapping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88.69</c:v>
                </c:pt>
                <c:pt idx="1">
                  <c:v>8.509</c:v>
                </c:pt>
                <c:pt idx="2">
                  <c:v>1032.618</c:v>
                </c:pt>
                <c:pt idx="3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2026</c:v>
                </c:pt>
                <c:pt idx="1">
                  <c:v>Unfilled muffins</c:v>
                </c:pt>
                <c:pt idx="2">
                  <c:v>Filled muffins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2479.62</c:v>
                </c:pt>
                <c:pt idx="2">
                  <c:v>2887.674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2026</c:v>
                </c:pt>
                <c:pt idx="1">
                  <c:v>Unfilled muffins</c:v>
                </c:pt>
                <c:pt idx="2">
                  <c:v>Filled muffins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2479.62</c:v>
                </c:pt>
                <c:pt idx="1">
                  <c:v>408.05399999999986</c:v>
                </c:pt>
                <c:pt idx="2">
                  <c:v>721.7629999999999</c:v>
                </c:pt>
                <c:pt idx="3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3"/>
                <c:pt idx="0">
                  <c:v>Unfilled muffins</c:v>
                </c:pt>
                <c:pt idx="1">
                  <c:v>Filled muffins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</c:v>
                </c:pt>
                <c:pt idx="1">
                  <c:v>408.05399999999986</c:v>
                </c:pt>
                <c:pt idx="2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Unfilled muffins</c:v>
                </c:pt>
                <c:pt idx="1">
                  <c:v>Filled muffins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408.05399999999986</c:v>
                </c:pt>
                <c:pt idx="1">
                  <c:v>721.7629999999999</c:v>
                </c:pt>
                <c:pt idx="2">
                  <c:v>1129.8169999999998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8"/>
                <c:pt idx="0">
                  <c:v>2026</c:v>
                </c:pt>
                <c:pt idx="1">
                  <c:v>Untopped</c:v>
                </c:pt>
                <c:pt idx="2">
                  <c:v>Crumb / streusel-topped</c:v>
                </c:pt>
                <c:pt idx="3">
                  <c:v>Sugar-topped</c:v>
                </c:pt>
                <c:pt idx="4">
                  <c:v>Nut and seed-topped</c:v>
                </c:pt>
                <c:pt idx="5">
                  <c:v>Glazed / drizzled</c:v>
                </c:pt>
                <c:pt idx="6">
                  <c:v>Other toppings</c:v>
                </c:pt>
                <c:pt idx="7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0.0</c:v>
                </c:pt>
                <c:pt idx="1">
                  <c:v>2479.62</c:v>
                </c:pt>
                <c:pt idx="2">
                  <c:v>2502.783</c:v>
                </c:pt>
                <c:pt idx="3">
                  <c:v>2528.6099999999997</c:v>
                </c:pt>
                <c:pt idx="4">
                  <c:v>2578.593</c:v>
                </c:pt>
                <c:pt idx="5">
                  <c:v>3073.0719999999997</c:v>
                </c:pt>
                <c:pt idx="6">
                  <c:v>3468.035</c:v>
                </c:pt>
                <c:pt idx="7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2026</c:v>
                </c:pt>
                <c:pt idx="1">
                  <c:v>Untopped</c:v>
                </c:pt>
                <c:pt idx="2">
                  <c:v>Crumb / streusel-topped</c:v>
                </c:pt>
                <c:pt idx="3">
                  <c:v>Sugar-topped</c:v>
                </c:pt>
                <c:pt idx="4">
                  <c:v>Nut and seed-topped</c:v>
                </c:pt>
                <c:pt idx="5">
                  <c:v>Glazed / drizzled</c:v>
                </c:pt>
                <c:pt idx="6">
                  <c:v>Other toppings</c:v>
                </c:pt>
                <c:pt idx="7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2479.62</c:v>
                </c:pt>
                <c:pt idx="1">
                  <c:v>23.162999999999982</c:v>
                </c:pt>
                <c:pt idx="2">
                  <c:v>25.826999999999998</c:v>
                </c:pt>
                <c:pt idx="3">
                  <c:v>49.983000000000004</c:v>
                </c:pt>
                <c:pt idx="4">
                  <c:v>494.4789999999999</c:v>
                </c:pt>
                <c:pt idx="5">
                  <c:v>394.96299999999997</c:v>
                </c:pt>
                <c:pt idx="6">
                  <c:v>141.402</c:v>
                </c:pt>
                <c:pt idx="7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Untopped</c:v>
                </c:pt>
                <c:pt idx="1">
                  <c:v>Crumb / streusel-topped</c:v>
                </c:pt>
                <c:pt idx="2">
                  <c:v>Sugar-topped</c:v>
                </c:pt>
                <c:pt idx="3">
                  <c:v>Nut and seed-topped</c:v>
                </c:pt>
                <c:pt idx="4">
                  <c:v>Glazed / drizzled</c:v>
                </c:pt>
                <c:pt idx="5">
                  <c:v>Other toppings</c:v>
                </c:pt>
                <c:pt idx="6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23.162999999999982</c:v>
                </c:pt>
                <c:pt idx="2">
                  <c:v>48.98999999999998</c:v>
                </c:pt>
                <c:pt idx="3">
                  <c:v>98.97299999999998</c:v>
                </c:pt>
                <c:pt idx="4">
                  <c:v>593.4519999999999</c:v>
                </c:pt>
                <c:pt idx="5">
                  <c:v>988.4149999999998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Untopped</c:v>
                </c:pt>
                <c:pt idx="1">
                  <c:v>Crumb / streusel-topped</c:v>
                </c:pt>
                <c:pt idx="2">
                  <c:v>Sugar-topped</c:v>
                </c:pt>
                <c:pt idx="3">
                  <c:v>Nut and seed-topped</c:v>
                </c:pt>
                <c:pt idx="4">
                  <c:v>Glazed / drizzled</c:v>
                </c:pt>
                <c:pt idx="5">
                  <c:v>Other toppings</c:v>
                </c:pt>
                <c:pt idx="6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23.162999999999982</c:v>
                </c:pt>
                <c:pt idx="1">
                  <c:v>25.826999999999998</c:v>
                </c:pt>
                <c:pt idx="2">
                  <c:v>49.983000000000004</c:v>
                </c:pt>
                <c:pt idx="3">
                  <c:v>494.4789999999999</c:v>
                </c:pt>
                <c:pt idx="4">
                  <c:v>394.96299999999997</c:v>
                </c:pt>
                <c:pt idx="5">
                  <c:v>141.402</c:v>
                </c:pt>
                <c:pt idx="6">
                  <c:v>1129.8169999999998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2026</c:v>
                </c:pt>
                <c:pt idx="1">
                  <c:v>Mini / bite-sized - below 30 g</c:v>
                </c:pt>
                <c:pt idx="2">
                  <c:v>Smallg to below 60 g</c:v>
                </c:pt>
                <c:pt idx="3">
                  <c:v>Standardg to below 100 g</c:v>
                </c:pt>
                <c:pt idx="4">
                  <c:v>Large / jumbog and above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2479.62</c:v>
                </c:pt>
                <c:pt idx="2">
                  <c:v>2559.0499999999997</c:v>
                </c:pt>
                <c:pt idx="3">
                  <c:v>2711.9619999999995</c:v>
                </c:pt>
                <c:pt idx="4">
                  <c:v>3208.6459999999997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2026</c:v>
                </c:pt>
                <c:pt idx="1">
                  <c:v>Mini / bite-sized - below 30 g</c:v>
                </c:pt>
                <c:pt idx="2">
                  <c:v>Smallg to below 60 g</c:v>
                </c:pt>
                <c:pt idx="3">
                  <c:v>Standardg to below 100 g</c:v>
                </c:pt>
                <c:pt idx="4">
                  <c:v>Large / jumbog and above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2479.62</c:v>
                </c:pt>
                <c:pt idx="1">
                  <c:v>79.43</c:v>
                </c:pt>
                <c:pt idx="2">
                  <c:v>152.91200000000003</c:v>
                </c:pt>
                <c:pt idx="3">
                  <c:v>496.68399999999997</c:v>
                </c:pt>
                <c:pt idx="4">
                  <c:v>400.79100000000005</c:v>
                </c:pt>
                <c:pt idx="5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Mini / bite-sized - below 30 g</c:v>
                </c:pt>
                <c:pt idx="1">
                  <c:v>Smallg to below 60 g</c:v>
                </c:pt>
                <c:pt idx="2">
                  <c:v>Standardg to below 100 g</c:v>
                </c:pt>
                <c:pt idx="3">
                  <c:v>Large / jumbog and above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79.43</c:v>
                </c:pt>
                <c:pt idx="2">
                  <c:v>232.34200000000004</c:v>
                </c:pt>
                <c:pt idx="3">
                  <c:v>729.0260000000001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Mini / bite-sized - below 30 g</c:v>
                </c:pt>
                <c:pt idx="1">
                  <c:v>Smallg to below 60 g</c:v>
                </c:pt>
                <c:pt idx="2">
                  <c:v>Standardg to below 100 g</c:v>
                </c:pt>
                <c:pt idx="3">
                  <c:v>Large / jumbog and above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79.43</c:v>
                </c:pt>
                <c:pt idx="1">
                  <c:v>152.91200000000003</c:v>
                </c:pt>
                <c:pt idx="2">
                  <c:v>496.68399999999997</c:v>
                </c:pt>
                <c:pt idx="3">
                  <c:v>400.79100000000005</c:v>
                </c:pt>
                <c:pt idx="4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Ambient</c:v>
                </c:pt>
                <c:pt idx="2">
                  <c:v>Chilled</c:v>
                </c:pt>
                <c:pt idx="3">
                  <c:v>Frozen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2479.62</c:v>
                </c:pt>
                <c:pt idx="2">
                  <c:v>2648.013</c:v>
                </c:pt>
                <c:pt idx="3">
                  <c:v>3167.624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Ambient</c:v>
                </c:pt>
                <c:pt idx="2">
                  <c:v>Chilled</c:v>
                </c:pt>
                <c:pt idx="3">
                  <c:v>Frozen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2479.62</c:v>
                </c:pt>
                <c:pt idx="1">
                  <c:v>168.393</c:v>
                </c:pt>
                <c:pt idx="2">
                  <c:v>519.611</c:v>
                </c:pt>
                <c:pt idx="3">
                  <c:v>441.8129999999999</c:v>
                </c:pt>
                <c:pt idx="4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Ambient</c:v>
                </c:pt>
                <c:pt idx="1">
                  <c:v>Chilled</c:v>
                </c:pt>
                <c:pt idx="2">
                  <c:v>Frozen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168.393</c:v>
                </c:pt>
                <c:pt idx="2">
                  <c:v>688.004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Ambient</c:v>
                </c:pt>
                <c:pt idx="1">
                  <c:v>Chilled</c:v>
                </c:pt>
                <c:pt idx="2">
                  <c:v>Frozen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168.393</c:v>
                </c:pt>
                <c:pt idx="1">
                  <c:v>519.611</c:v>
                </c:pt>
                <c:pt idx="2">
                  <c:v>441.8129999999999</c:v>
                </c:pt>
                <c:pt idx="3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2026</c:v>
                </c:pt>
                <c:pt idx="1">
                  <c:v>Up to 7 days</c:v>
                </c:pt>
                <c:pt idx="2">
                  <c:v>8-30 days</c:v>
                </c:pt>
                <c:pt idx="3">
                  <c:v>31-90 days</c:v>
                </c:pt>
                <c:pt idx="4">
                  <c:v>More than 90 days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2479.62</c:v>
                </c:pt>
                <c:pt idx="2">
                  <c:v>3172.798</c:v>
                </c:pt>
                <c:pt idx="3">
                  <c:v>3259.5319999999997</c:v>
                </c:pt>
                <c:pt idx="4">
                  <c:v>3474.008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2026</c:v>
                </c:pt>
                <c:pt idx="1">
                  <c:v>Up to 7 days</c:v>
                </c:pt>
                <c:pt idx="2">
                  <c:v>8-30 days</c:v>
                </c:pt>
                <c:pt idx="3">
                  <c:v>31-90 days</c:v>
                </c:pt>
                <c:pt idx="4">
                  <c:v>More than 90 days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2479.62</c:v>
                </c:pt>
                <c:pt idx="1">
                  <c:v>693.1780000000001</c:v>
                </c:pt>
                <c:pt idx="2">
                  <c:v>86.73399999999998</c:v>
                </c:pt>
                <c:pt idx="3">
                  <c:v>214.47599999999994</c:v>
                </c:pt>
                <c:pt idx="4">
                  <c:v>135.42900000000003</c:v>
                </c:pt>
                <c:pt idx="5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Up to 7 days</c:v>
                </c:pt>
                <c:pt idx="1">
                  <c:v>8-30 days</c:v>
                </c:pt>
                <c:pt idx="2">
                  <c:v>31-90 days</c:v>
                </c:pt>
                <c:pt idx="3">
                  <c:v>More than 90 days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693.1780000000001</c:v>
                </c:pt>
                <c:pt idx="2">
                  <c:v>779.912</c:v>
                </c:pt>
                <c:pt idx="3">
                  <c:v>994.3879999999999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Up to 7 days</c:v>
                </c:pt>
                <c:pt idx="1">
                  <c:v>8-30 days</c:v>
                </c:pt>
                <c:pt idx="2">
                  <c:v>31-90 days</c:v>
                </c:pt>
                <c:pt idx="3">
                  <c:v>More than 90 days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693.1780000000001</c:v>
                </c:pt>
                <c:pt idx="1">
                  <c:v>86.73399999999998</c:v>
                </c:pt>
                <c:pt idx="2">
                  <c:v>214.47599999999994</c:v>
                </c:pt>
                <c:pt idx="3">
                  <c:v>135.42900000000003</c:v>
                </c:pt>
                <c:pt idx="4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2026</c:v>
                </c:pt>
                <c:pt idx="1">
                  <c:v>Flexible packs</c:v>
                </c:pt>
                <c:pt idx="2">
                  <c:v>Rigid plastic packs</c:v>
                </c:pt>
                <c:pt idx="3">
                  <c:v>Paperboard packs</c:v>
                </c:pt>
                <c:pt idx="4">
                  <c:v>Other packaging formats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2479.6200000000003</c:v>
                </c:pt>
                <c:pt idx="2">
                  <c:v>2659.0470000000005</c:v>
                </c:pt>
                <c:pt idx="3">
                  <c:v>3273.2320000000004</c:v>
                </c:pt>
                <c:pt idx="4">
                  <c:v>3501.5550000000003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2026</c:v>
                </c:pt>
                <c:pt idx="1">
                  <c:v>Flexible packs</c:v>
                </c:pt>
                <c:pt idx="2">
                  <c:v>Rigid plastic packs</c:v>
                </c:pt>
                <c:pt idx="3">
                  <c:v>Paperboard packs</c:v>
                </c:pt>
                <c:pt idx="4">
                  <c:v>Other packaging formats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2479.6200000000003</c:v>
                </c:pt>
                <c:pt idx="1">
                  <c:v>179.42699999999996</c:v>
                </c:pt>
                <c:pt idx="2">
                  <c:v>614.185</c:v>
                </c:pt>
                <c:pt idx="3">
                  <c:v>228.32299999999998</c:v>
                </c:pt>
                <c:pt idx="4">
                  <c:v>107.882</c:v>
                </c:pt>
                <c:pt idx="5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Flexible packs</c:v>
                </c:pt>
                <c:pt idx="1">
                  <c:v>Rigid plastic packs</c:v>
                </c:pt>
                <c:pt idx="2">
                  <c:v>Paperboard packs</c:v>
                </c:pt>
                <c:pt idx="3">
                  <c:v>Other packaging formats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179.42699999999996</c:v>
                </c:pt>
                <c:pt idx="2">
                  <c:v>793.6119999999999</c:v>
                </c:pt>
                <c:pt idx="3">
                  <c:v>1021.9349999999998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Flexible packs</c:v>
                </c:pt>
                <c:pt idx="1">
                  <c:v>Rigid plastic packs</c:v>
                </c:pt>
                <c:pt idx="2">
                  <c:v>Paperboard packs</c:v>
                </c:pt>
                <c:pt idx="3">
                  <c:v>Other packaging formats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179.42699999999996</c:v>
                </c:pt>
                <c:pt idx="1">
                  <c:v>614.185</c:v>
                </c:pt>
                <c:pt idx="2">
                  <c:v>228.32299999999998</c:v>
                </c:pt>
                <c:pt idx="3">
                  <c:v>107.882</c:v>
                </c:pt>
                <c:pt idx="4">
                  <c:v>1129.8169999999998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Single-muffin packs</c:v>
                </c:pt>
                <c:pt idx="2">
                  <c:v>Multipacks</c:v>
                </c:pt>
                <c:pt idx="3">
                  <c:v>Bulk foodservice packs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2479.62</c:v>
                </c:pt>
                <c:pt idx="2">
                  <c:v>2771.4889999999996</c:v>
                </c:pt>
                <c:pt idx="3">
                  <c:v>3538.9749999999995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Single-muffin packs</c:v>
                </c:pt>
                <c:pt idx="2">
                  <c:v>Multipacks</c:v>
                </c:pt>
                <c:pt idx="3">
                  <c:v>Bulk foodservice packs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2479.62</c:v>
                </c:pt>
                <c:pt idx="1">
                  <c:v>291.8689999999999</c:v>
                </c:pt>
                <c:pt idx="2">
                  <c:v>767.4859999999996</c:v>
                </c:pt>
                <c:pt idx="3">
                  <c:v>70.46199999999999</c:v>
                </c:pt>
                <c:pt idx="4">
                  <c:v>3609.4369999999994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Single-muffin packs</c:v>
                </c:pt>
                <c:pt idx="1">
                  <c:v>Multipacks</c:v>
                </c:pt>
                <c:pt idx="2">
                  <c:v>Bulk foodservice packs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291.8689999999999</c:v>
                </c:pt>
                <c:pt idx="2">
                  <c:v>1059.3549999999996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Single-muffin packs</c:v>
                </c:pt>
                <c:pt idx="1">
                  <c:v>Multipacks</c:v>
                </c:pt>
                <c:pt idx="2">
                  <c:v>Bulk foodservice packs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291.8689999999999</c:v>
                </c:pt>
                <c:pt idx="1">
                  <c:v>767.4859999999996</c:v>
                </c:pt>
                <c:pt idx="2">
                  <c:v>70.46199999999999</c:v>
                </c:pt>
                <c:pt idx="3">
                  <c:v>1129.8169999999996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2026</c:v>
                </c:pt>
                <c:pt idx="1">
                  <c:v>Individually wrapped muffins within an outer pack</c:v>
                </c:pt>
                <c:pt idx="2">
                  <c:v>Shared pack without individual wrapping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2479.62</c:v>
                </c:pt>
                <c:pt idx="2">
                  <c:v>3159.898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2026</c:v>
                </c:pt>
                <c:pt idx="1">
                  <c:v>Individually wrapped muffins within an outer pack</c:v>
                </c:pt>
                <c:pt idx="2">
                  <c:v>Shared pack without individual wrapping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2479.62</c:v>
                </c:pt>
                <c:pt idx="1">
                  <c:v>680.2780000000002</c:v>
                </c:pt>
                <c:pt idx="2">
                  <c:v>449.539</c:v>
                </c:pt>
                <c:pt idx="3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3"/>
                <c:pt idx="0">
                  <c:v>Individually wrapped muffins within an outer pack</c:v>
                </c:pt>
                <c:pt idx="1">
                  <c:v>Shared pack without individual wrapping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</c:v>
                </c:pt>
                <c:pt idx="1">
                  <c:v>680.2780000000002</c:v>
                </c:pt>
                <c:pt idx="2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Individually wrapped muffins within an outer pack</c:v>
                </c:pt>
                <c:pt idx="1">
                  <c:v>Shared pack without individual wrapping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680.2780000000002</c:v>
                </c:pt>
                <c:pt idx="1">
                  <c:v>449.539</c:v>
                </c:pt>
                <c:pt idx="2">
                  <c:v>1129.8170000000002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2026</c:v>
                </c:pt>
                <c:pt idx="1">
                  <c:v>Economy / value</c:v>
                </c:pt>
                <c:pt idx="2">
                  <c:v>Mid-range</c:v>
                </c:pt>
                <c:pt idx="3">
                  <c:v>Premium</c:v>
                </c:pt>
                <c:pt idx="4">
                  <c:v>Super-premium / speciality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2479.62</c:v>
                </c:pt>
                <c:pt idx="2">
                  <c:v>2538.075</c:v>
                </c:pt>
                <c:pt idx="3">
                  <c:v>3075.323</c:v>
                </c:pt>
                <c:pt idx="4">
                  <c:v>3278.835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2026</c:v>
                </c:pt>
                <c:pt idx="1">
                  <c:v>Economy / value</c:v>
                </c:pt>
                <c:pt idx="2">
                  <c:v>Mid-range</c:v>
                </c:pt>
                <c:pt idx="3">
                  <c:v>Premium</c:v>
                </c:pt>
                <c:pt idx="4">
                  <c:v>Super-premium / speciality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2479.62</c:v>
                </c:pt>
                <c:pt idx="1">
                  <c:v>58.45499999999993</c:v>
                </c:pt>
                <c:pt idx="2">
                  <c:v>537.248</c:v>
                </c:pt>
                <c:pt idx="3">
                  <c:v>203.51200000000006</c:v>
                </c:pt>
                <c:pt idx="4">
                  <c:v>330.6019999999999</c:v>
                </c:pt>
                <c:pt idx="5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Economy / value</c:v>
                </c:pt>
                <c:pt idx="1">
                  <c:v>Mid-range</c:v>
                </c:pt>
                <c:pt idx="2">
                  <c:v>Premium</c:v>
                </c:pt>
                <c:pt idx="3">
                  <c:v>Super-premium / speciality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58.45499999999993</c:v>
                </c:pt>
                <c:pt idx="2">
                  <c:v>595.703</c:v>
                </c:pt>
                <c:pt idx="3">
                  <c:v>799.215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Economy / value</c:v>
                </c:pt>
                <c:pt idx="1">
                  <c:v>Mid-range</c:v>
                </c:pt>
                <c:pt idx="2">
                  <c:v>Premium</c:v>
                </c:pt>
                <c:pt idx="3">
                  <c:v>Super-premium / speciality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58.45499999999993</c:v>
                </c:pt>
                <c:pt idx="1">
                  <c:v>537.248</c:v>
                </c:pt>
                <c:pt idx="2">
                  <c:v>203.51200000000006</c:v>
                </c:pt>
                <c:pt idx="3">
                  <c:v>330.6019999999999</c:v>
                </c:pt>
                <c:pt idx="4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Manufacturer brands</c:v>
                </c:pt>
                <c:pt idx="2">
                  <c:v>Retailer private labels</c:v>
                </c:pt>
                <c:pt idx="3">
                  <c:v>Foodservice / operator brands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2479.6200000000003</c:v>
                </c:pt>
                <c:pt idx="2">
                  <c:v>2875.6290000000004</c:v>
                </c:pt>
                <c:pt idx="3">
                  <c:v>3402.8360000000002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Manufacturer brands</c:v>
                </c:pt>
                <c:pt idx="2">
                  <c:v>Retailer private labels</c:v>
                </c:pt>
                <c:pt idx="3">
                  <c:v>Foodservice / operator brands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2479.6200000000003</c:v>
                </c:pt>
                <c:pt idx="1">
                  <c:v>396.009</c:v>
                </c:pt>
                <c:pt idx="2">
                  <c:v>527.2069999999999</c:v>
                </c:pt>
                <c:pt idx="3">
                  <c:v>206.60100000000006</c:v>
                </c:pt>
                <c:pt idx="4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Manufacturer brands</c:v>
                </c:pt>
                <c:pt idx="1">
                  <c:v>Retailer private labels</c:v>
                </c:pt>
                <c:pt idx="2">
                  <c:v>Foodservice / operator brands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396.009</c:v>
                </c:pt>
                <c:pt idx="2">
                  <c:v>923.2159999999999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Manufacturer brands</c:v>
                </c:pt>
                <c:pt idx="1">
                  <c:v>Retailer private labels</c:v>
                </c:pt>
                <c:pt idx="2">
                  <c:v>Foodservice / operator brands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396.009</c:v>
                </c:pt>
                <c:pt idx="1">
                  <c:v>527.2069999999999</c:v>
                </c:pt>
                <c:pt idx="2">
                  <c:v>206.60100000000006</c:v>
                </c:pt>
                <c:pt idx="3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Retail</c:v>
                </c:pt>
                <c:pt idx="2">
                  <c:v>Foodservice and institutional</c:v>
                </c:pt>
                <c:pt idx="3">
                  <c:v>Vending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2479.62</c:v>
                </c:pt>
                <c:pt idx="2">
                  <c:v>3053.2639999999997</c:v>
                </c:pt>
                <c:pt idx="3">
                  <c:v>3563.3999999999996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Retail</c:v>
                </c:pt>
                <c:pt idx="2">
                  <c:v>Foodservice and institutional</c:v>
                </c:pt>
                <c:pt idx="3">
                  <c:v>Vending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2479.62</c:v>
                </c:pt>
                <c:pt idx="1">
                  <c:v>573.6439999999998</c:v>
                </c:pt>
                <c:pt idx="2">
                  <c:v>510.13599999999985</c:v>
                </c:pt>
                <c:pt idx="3">
                  <c:v>46.037000000000006</c:v>
                </c:pt>
                <c:pt idx="4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Retail</c:v>
                </c:pt>
                <c:pt idx="1">
                  <c:v>Foodservice and institutional</c:v>
                </c:pt>
                <c:pt idx="2">
                  <c:v>Vending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573.6439999999998</c:v>
                </c:pt>
                <c:pt idx="2">
                  <c:v>1083.7799999999997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Retail</c:v>
                </c:pt>
                <c:pt idx="1">
                  <c:v>Foodservice and institutional</c:v>
                </c:pt>
                <c:pt idx="2">
                  <c:v>Vending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573.6439999999998</c:v>
                </c:pt>
                <c:pt idx="1">
                  <c:v>510.13599999999985</c:v>
                </c:pt>
                <c:pt idx="2">
                  <c:v>46.037000000000006</c:v>
                </c:pt>
                <c:pt idx="3">
                  <c:v>1129.8169999999998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0"/>
    <c:plotArea>
      <c:lineChart>
        <c:grouping val="standar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</c:v>
                </c:pt>
              </c:strCache>
            </c:strRef>
          </c:tx>
          <c:spPr>
            <a:ln w="25400">
              <a:solidFill>
                <a:srgbClr val="C55A11"/>
              </a:solidFill>
            </a:ln>
          </c:spPr>
          <c:marker>
            <c:symbol val="none"/>
          </c:marker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4386.0</c:v>
                </c:pt>
                <c:pt idx="1">
                  <c:v>4402.0</c:v>
                </c:pt>
                <c:pt idx="2">
                  <c:v>4424.0</c:v>
                </c:pt>
                <c:pt idx="3">
                  <c:v>4454.0</c:v>
                </c:pt>
                <c:pt idx="4">
                  <c:v>4496.0</c:v>
                </c:pt>
                <c:pt idx="5">
                  <c:v>4550.0</c:v>
                </c:pt>
                <c:pt idx="6">
                  <c:v>4584.0</c:v>
                </c:pt>
                <c:pt idx="7">
                  <c:v>4624.0</c:v>
                </c:pt>
                <c:pt idx="8">
                  <c:v>4666.0</c:v>
                </c:pt>
                <c:pt idx="9">
                  <c:v>4709.0</c:v>
                </c:pt>
                <c:pt idx="10">
                  <c:v>4750.0</c:v>
                </c:pt>
                <c:pt idx="11">
                  <c:v>4785.0</c:v>
                </c:pt>
                <c:pt idx="12">
                  <c:v>4817.0</c:v>
                </c:pt>
                <c:pt idx="13">
                  <c:v>4846.0</c:v>
                </c:pt>
                <c:pt idx="14">
                  <c:v>4872.0</c:v>
                </c:pt>
                <c:pt idx="15">
                  <c:v>4896.0</c:v>
                </c:pt>
              </c:numCache>
            </c:numRef>
          </c:val>
          <c:smooth val="0"/>
        </c:ser>
        <c:ser>
          <c:idx val="1"/>
          <c:order val="1"/>
          <c:tx>
            <c:strRef>
              <c:strCache>
                <c:ptCount val="1"/>
                <c:pt idx="0">
                  <c:v>Savoury muffins</c:v>
                </c:pt>
              </c:strCache>
            </c:strRef>
          </c:tx>
          <c:spPr>
            <a:ln w="25400">
              <a:solidFill>
                <a:srgbClr val="0B2E4A"/>
              </a:solidFill>
            </a:ln>
          </c:spPr>
          <c:marker>
            <c:symbol val="none"/>
          </c:marker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3579.0</c:v>
                </c:pt>
                <c:pt idx="1">
                  <c:v>3591.0</c:v>
                </c:pt>
                <c:pt idx="2">
                  <c:v>3608.0</c:v>
                </c:pt>
                <c:pt idx="3">
                  <c:v>3638.0</c:v>
                </c:pt>
                <c:pt idx="4">
                  <c:v>3670.0</c:v>
                </c:pt>
                <c:pt idx="5">
                  <c:v>3706.0</c:v>
                </c:pt>
                <c:pt idx="6">
                  <c:v>3714.0</c:v>
                </c:pt>
                <c:pt idx="7">
                  <c:v>3725.0</c:v>
                </c:pt>
                <c:pt idx="8">
                  <c:v>3738.0</c:v>
                </c:pt>
                <c:pt idx="9">
                  <c:v>3755.0</c:v>
                </c:pt>
                <c:pt idx="10">
                  <c:v>3779.0</c:v>
                </c:pt>
                <c:pt idx="11">
                  <c:v>3809.0</c:v>
                </c:pt>
                <c:pt idx="12">
                  <c:v>3845.0</c:v>
                </c:pt>
                <c:pt idx="13">
                  <c:v>3883.0</c:v>
                </c:pt>
                <c:pt idx="14">
                  <c:v>3927.0</c:v>
                </c:pt>
                <c:pt idx="15">
                  <c:v>3974.0</c:v>
                </c:pt>
              </c:numCache>
            </c:numRef>
          </c:val>
          <c:smooth val="0"/>
        </c:ser>
        <c:marker val="1"/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majorTickMark val="out"/>
        <c:minorTickMark val="none"/>
        <c:tickLblPos val="low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900">
                <a:solidFill>
                  <a:srgbClr val="59636E"/>
                </a:solidFill>
                <a:latin typeface="Calibri"/>
              </a:defRPr>
            </a:pPr>
          </a:p>
        </c:txPr>
        <c:crossAx val="2140495176"/>
        <c:crosses val="autoZero"/>
        <c:auto val="1"/>
        <c:lblAlgn val="ctr"/>
        <c:lblOffset val="100"/>
        <c:noMultiLvlLbl val="0"/>
      </c:catAx>
      <c:valAx>
        <c:axId val="2140495176"/>
        <c:scaling>
          <c:max val="5000.0"/>
          <c:min val="3500.0"/>
        </c:scaling>
        <c:delete val="0"/>
        <c:axPos val="l"/>
        <c:majorGridlines>
          <c:spPr>
            <a:ln>
              <a:solidFill>
                <a:srgbClr val="D9DEE4"/>
              </a:solidFill>
            </a:ln>
          </c:spPr>
        </c:majorGridlines>
        <c:numFmt formatCode="#,##0" sourceLinked="0"/>
        <c:majorTickMark val="out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900">
                <a:solidFill>
                  <a:srgbClr val="59636E"/>
                </a:solidFill>
                <a:latin typeface="Calibri"/>
              </a:defRPr>
            </a:pPr>
          </a:p>
        </c:txPr>
        <c:crossAx val="2118791784"/>
        <c:crosses val="autoZero"/>
        <c:majorUnit val="500.0"/>
      </c:valAx>
    </c:plotArea>
    <c:legend>
      <c:legendPos val="b"/>
      <c:layout/>
      <c:overlay val="0"/>
      <c:txPr>
        <a:bodyPr/>
        <a:lstStyle/>
        <a:p>
          <a:pPr>
            <a:defRPr sz="900">
              <a:latin typeface="Calibri"/>
            </a:defRPr>
          </a:pPr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</c:chartSpace>
</file>

<file path=ppt/charts/chart3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dPt>
            <c:idx val="0"/>
            <c:spPr>
              <a:solidFill>
                <a:srgbClr val="5B7DB1"/>
              </a:solidFill>
            </c:spPr>
          </c:dPt>
          <c:dPt>
            <c:idx val="1"/>
            <c:spPr>
              <a:solidFill>
                <a:srgbClr val="C55A11"/>
              </a:solidFill>
            </c:spPr>
          </c:dPt>
          <c:cat>
            <c:strRef>
              <c:strCache>
                <c:ptCount val="2"/>
                <c:pt idx="0">
                  <c:v>Savoury muffins</c:v>
                </c:pt>
                <c:pt idx="1">
                  <c:v>Sweet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89.7</c:v>
                </c:pt>
                <c:pt idx="1">
                  <c:v>110.1</c:v>
                </c:pt>
              </c:numCache>
            </c:numRef>
          </c:val>
        </c:ser>
        <c:gapWidth val="45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850">
                <a:solidFill>
                  <a:srgbClr val="1F1F1F"/>
                </a:solidFill>
                <a:latin typeface="Calibri"/>
              </a:defRPr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12.0"/>
          <c:min val="87.0"/>
        </c:scaling>
        <c:delete/>
        <c:axPos val="b"/>
        <c:majorTickMark val="out"/>
        <c:minorTickMark val="none"/>
        <c:tickLblPos val="none"/>
        <c:crossAx val="-2068027336"/>
        <c:crosses val="autoZero"/>
      </c:valAx>
    </c:plotArea>
    <c:dispBlanksAs val="gap"/>
  </c:chart>
  <c:txPr>
    <a:bodyPr/>
    <a:lstStyle/>
    <a:p>
      <a:pPr>
        <a:defRPr sz="1800"/>
      </a:pPr>
      <a:endParaRPr lang="en-US"/>
    </a:p>
  </c:txPr>
</c:chartSpace>
</file>

<file path=ppt/charts/chart3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0"/>
    <c:plotArea>
      <c:barChart>
        <c:barDir val="bar"/>
        <c:grouping val="stacked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</c:spPr>
          <c:cat>
            <c:strRef>
              <c:strCache>
                <c:ptCount val="2"/>
                <c:pt idx="0">
                  <c:v>Savoury muffins</c:v>
                </c:pt>
                <c:pt idx="1">
                  <c:v>Sweet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3068</c:v>
                </c:pt>
                <c:pt idx="1">
                  <c:v>3795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Range</c:v>
                </c:pt>
              </c:strCache>
            </c:strRef>
          </c:tx>
          <c:spPr>
            <a:solidFill>
              <a:srgbClr val="008189"/>
            </a:solidFill>
          </c:spPr>
          <c:cat>
            <c:strRef>
              <c:strCache>
                <c:ptCount val="2"/>
                <c:pt idx="0">
                  <c:v>Savoury muffins</c:v>
                </c:pt>
                <c:pt idx="1">
                  <c:v>Sweet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1268</c:v>
                </c:pt>
                <c:pt idx="1">
                  <c:v>1575</c:v>
                </c:pt>
              </c:numCache>
            </c:numRef>
          </c:val>
        </c:ser>
        <c:gapWidth val="55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850">
                <a:solidFill>
                  <a:srgbClr val="1F1F1F"/>
                </a:solidFill>
                <a:latin typeface="Calibri"/>
              </a:defRPr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6000.0"/>
          <c:min val="2000.0"/>
        </c:scaling>
        <c:delete val="0"/>
        <c:axPos val="b"/>
        <c:majorGridlines>
          <c:spPr>
            <a:ln>
              <a:solidFill>
                <a:srgbClr val="D9DEE4"/>
              </a:solidFill>
            </a:ln>
          </c:spPr>
        </c:majorGridlines>
        <c:numFmt formatCode="#,##0" sourceLinked="0"/>
        <c:majorTickMark val="out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800">
                <a:solidFill>
                  <a:srgbClr val="59636E"/>
                </a:solidFill>
                <a:latin typeface="Calibri"/>
              </a:defRPr>
            </a:pPr>
          </a:p>
        </c:txPr>
        <c:crossAx val="-2068027336"/>
        <c:crosses val="autoZero"/>
        <c:majorUnit val="2000.0"/>
      </c:valAx>
    </c:plotArea>
    <c:dispBlanksAs val="gap"/>
  </c:chart>
  <c:txPr>
    <a:bodyPr/>
    <a:lstStyle/>
    <a:p>
      <a:pPr>
        <a:defRPr sz="1800"/>
      </a:pPr>
      <a:endParaRPr lang="en-US"/>
    </a:p>
  </c:txPr>
</c:chartSpace>
</file>

<file path=ppt/charts/chart3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0"/>
    <c:plotArea>
      <c:barChart>
        <c:barDir val="col"/>
        <c:grouping val="stacked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</c:spPr>
          <c:cat>
            <c:strRef>
              <c:strCache>
                <c:ptCount val="6"/>
                <c:pt idx="0">
                  <c:v>Europe</c:v>
                </c:pt>
                <c:pt idx="1">
                  <c:v>Middle East &amp; Africa</c:v>
                </c:pt>
                <c:pt idx="2">
                  <c:v>Latin America</c:v>
                </c:pt>
                <c:pt idx="3">
                  <c:v>South Asia &amp; Pacific</c:v>
                </c:pt>
                <c:pt idx="4">
                  <c:v>East Asia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96.6</c:v>
                </c:pt>
                <c:pt idx="1">
                  <c:v>92.6</c:v>
                </c:pt>
                <c:pt idx="2">
                  <c:v>92.4</c:v>
                </c:pt>
                <c:pt idx="3">
                  <c:v>91.3</c:v>
                </c:pt>
                <c:pt idx="4">
                  <c:v>90.7</c:v>
                </c:pt>
                <c:pt idx="5">
                  <c:v>82.9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Range</c:v>
                </c:pt>
              </c:strCache>
            </c:strRef>
          </c:tx>
          <c:spPr>
            <a:solidFill>
              <a:srgbClr val="008189"/>
            </a:solidFill>
          </c:spPr>
          <c:dPt>
            <c:idx val="5"/>
            <c:spPr>
              <a:solidFill>
                <a:srgbClr val="5B7DB1"/>
              </a:solidFill>
            </c:spPr>
          </c:dPt>
          <c:cat>
            <c:strRef>
              <c:strCache>
                <c:ptCount val="6"/>
                <c:pt idx="0">
                  <c:v>Europe</c:v>
                </c:pt>
                <c:pt idx="1">
                  <c:v>Middle East &amp; Africa</c:v>
                </c:pt>
                <c:pt idx="2">
                  <c:v>Latin America</c:v>
                </c:pt>
                <c:pt idx="3">
                  <c:v>South Asia &amp; Pacific</c:v>
                </c:pt>
                <c:pt idx="4">
                  <c:v>East Asia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21.8</c:v>
                </c:pt>
                <c:pt idx="1">
                  <c:v>20.5</c:v>
                </c:pt>
                <c:pt idx="2">
                  <c:v>21.0</c:v>
                </c:pt>
                <c:pt idx="3">
                  <c:v>20.8</c:v>
                </c:pt>
                <c:pt idx="4">
                  <c:v>19.1</c:v>
                </c:pt>
                <c:pt idx="5">
                  <c:v>19.5</c:v>
                </c:pt>
              </c:numCache>
            </c:numRef>
          </c:val>
        </c:ser>
        <c:gapWidth val="4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850">
                <a:solidFill>
                  <a:srgbClr val="1F1F1F"/>
                </a:solidFill>
                <a:latin typeface="Calibri"/>
              </a:defRPr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20.0"/>
          <c:min val="80.0"/>
        </c:scaling>
        <c:delete val="0"/>
        <c:axPos val="l"/>
        <c:majorGridlines>
          <c:spPr>
            <a:ln>
              <a:solidFill>
                <a:srgbClr val="D9DEE4"/>
              </a:solidFill>
            </a:ln>
          </c:spPr>
        </c:majorGridlines>
        <c:numFmt formatCode="0" sourceLinked="0"/>
        <c:majorTickMark val="out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850">
                <a:solidFill>
                  <a:srgbClr val="59636E"/>
                </a:solidFill>
                <a:latin typeface="Calibri"/>
              </a:defRPr>
            </a:pPr>
          </a:p>
        </c:txPr>
        <c:crossAx val="-2068027336"/>
        <c:crosses val="autoZero"/>
        <c:majorUnit val="5.0"/>
      </c:valAx>
    </c:plotArea>
    <c:dispBlanksAs val="gap"/>
  </c:chart>
  <c:txPr>
    <a:bodyPr/>
    <a:lstStyle/>
    <a:p>
      <a:pPr>
        <a:defRPr sz="1800"/>
      </a:pPr>
      <a:endParaRPr lang="en-US"/>
    </a:p>
  </c:txPr>
</c:chartSpace>
</file>

<file path=ppt/charts/chart3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Grupo Bimbo</c:v>
                </c:pt>
                <c:pt idx="1">
                  <c:v>McKee Foods Corporation</c:v>
                </c:pt>
                <c:pt idx="2">
                  <c:v>Hostess Brands</c:v>
                </c:pt>
                <c:pt idx="3">
                  <c:v>Rich Products Corporation</c:v>
                </c:pt>
                <c:pt idx="4">
                  <c:v>ARYZTA / Aspire Bakeries</c:v>
                </c:pt>
                <c:pt idx="5">
                  <c:v>Europastry</c:v>
                </c:pt>
                <c:pt idx="6">
                  <c:v>Bridor</c:v>
                </c:pt>
                <c:pt idx="7">
                  <c:v>Lantmännen Unibake</c:v>
                </c:pt>
                <c:pt idx="8">
                  <c:v>Flowers Foods</c:v>
                </c:pt>
                <c:pt idx="9">
                  <c:v>Premier Foods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15.401240790072531</c:v>
                </c:pt>
                <c:pt idx="1">
                  <c:v>13.483170759180721</c:v>
                </c:pt>
                <c:pt idx="2">
                  <c:v>9.299352883645389</c:v>
                </c:pt>
                <c:pt idx="3">
                  <c:v>6.532876475193234</c:v>
                </c:pt>
                <c:pt idx="4">
                  <c:v>6.473319829711895</c:v>
                </c:pt>
                <c:pt idx="5">
                  <c:v>6.433244680872182</c:v>
                </c:pt>
                <c:pt idx="6">
                  <c:v>5.1503700280767655</c:v>
                </c:pt>
                <c:pt idx="7">
                  <c:v>3.1015192989370006</c:v>
                </c:pt>
                <c:pt idx="8">
                  <c:v>2.164598136819089</c:v>
                </c:pt>
                <c:pt idx="9">
                  <c:v>2.136096181068746</c:v>
                </c:pt>
                <c:pt idx="10">
                  <c:v>29.824210936422443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Grupo Bimbo</c:v>
                </c:pt>
                <c:pt idx="1">
                  <c:v>McKee Foods Corporation</c:v>
                </c:pt>
                <c:pt idx="2">
                  <c:v>Hostess Brands</c:v>
                </c:pt>
                <c:pt idx="3">
                  <c:v>Rich Products Corporation</c:v>
                </c:pt>
                <c:pt idx="4">
                  <c:v>ARYZTA / Aspire Bakeries</c:v>
                </c:pt>
                <c:pt idx="5">
                  <c:v>Europastry</c:v>
                </c:pt>
                <c:pt idx="6">
                  <c:v>Bridor</c:v>
                </c:pt>
                <c:pt idx="7">
                  <c:v>Lantmännen Unibake</c:v>
                </c:pt>
                <c:pt idx="8">
                  <c:v>Flowers Foods</c:v>
                </c:pt>
                <c:pt idx="9">
                  <c:v>Premier Foods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11.693602256562977</c:v>
                </c:pt>
                <c:pt idx="1">
                  <c:v>9.98907014549872</c:v>
                </c:pt>
                <c:pt idx="2">
                  <c:v>11.264513875278551</c:v>
                </c:pt>
                <c:pt idx="3">
                  <c:v>11.542462021743303</c:v>
                </c:pt>
                <c:pt idx="4">
                  <c:v>9.170712625473369</c:v>
                </c:pt>
                <c:pt idx="5">
                  <c:v>5.69371565484273</c:v>
                </c:pt>
                <c:pt idx="6">
                  <c:v>3.7515880157620747</c:v>
                </c:pt>
                <c:pt idx="7">
                  <c:v>3.240076671241286</c:v>
                </c:pt>
                <c:pt idx="8">
                  <c:v>3.3901784262482124</c:v>
                </c:pt>
                <c:pt idx="9">
                  <c:v>3.0300946920704144</c:v>
                </c:pt>
                <c:pt idx="10">
                  <c:v>27.23398561527836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Grupo Bimbo</c:v>
                </c:pt>
                <c:pt idx="1">
                  <c:v>McKee Foods Corporation</c:v>
                </c:pt>
                <c:pt idx="2">
                  <c:v>Hostess Brands</c:v>
                </c:pt>
                <c:pt idx="3">
                  <c:v>Rich Products Corporation</c:v>
                </c:pt>
                <c:pt idx="4">
                  <c:v>ARYZTA / Aspire Bakeries</c:v>
                </c:pt>
                <c:pt idx="5">
                  <c:v>Europastry</c:v>
                </c:pt>
                <c:pt idx="6">
                  <c:v>Bridor</c:v>
                </c:pt>
                <c:pt idx="7">
                  <c:v>Lantmännen Unibake</c:v>
                </c:pt>
                <c:pt idx="8">
                  <c:v>Flowers Foods</c:v>
                </c:pt>
                <c:pt idx="9">
                  <c:v>Premier Foods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12.127056022733685</c:v>
                </c:pt>
                <c:pt idx="1">
                  <c:v>13.515963661294228</c:v>
                </c:pt>
                <c:pt idx="2">
                  <c:v>13.672509787055716</c:v>
                </c:pt>
                <c:pt idx="3">
                  <c:v>10.747277583816313</c:v>
                </c:pt>
                <c:pt idx="4">
                  <c:v>6.853819923875349</c:v>
                </c:pt>
                <c:pt idx="5">
                  <c:v>4.527540451517601</c:v>
                </c:pt>
                <c:pt idx="6">
                  <c:v>4.351504519294602</c:v>
                </c:pt>
                <c:pt idx="7">
                  <c:v>4.386878793633664</c:v>
                </c:pt>
                <c:pt idx="8">
                  <c:v>3.8343075690671227</c:v>
                </c:pt>
                <c:pt idx="9">
                  <c:v>2.614124464284719</c:v>
                </c:pt>
                <c:pt idx="10">
                  <c:v>23.369017223427004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Grupo Bimbo</c:v>
                </c:pt>
                <c:pt idx="1">
                  <c:v>McKee Foods Corporation</c:v>
                </c:pt>
                <c:pt idx="2">
                  <c:v>Hostess Brands</c:v>
                </c:pt>
                <c:pt idx="3">
                  <c:v>Rich Products Corporation</c:v>
                </c:pt>
                <c:pt idx="4">
                  <c:v>ARYZTA / Aspire Bakeries</c:v>
                </c:pt>
                <c:pt idx="5">
                  <c:v>Europastry</c:v>
                </c:pt>
                <c:pt idx="6">
                  <c:v>Bridor</c:v>
                </c:pt>
                <c:pt idx="7">
                  <c:v>Lantmännen Unibake</c:v>
                </c:pt>
                <c:pt idx="8">
                  <c:v>Flowers Foods</c:v>
                </c:pt>
                <c:pt idx="9">
                  <c:v>Premier Foods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17.074931814674855</c:v>
                </c:pt>
                <c:pt idx="1">
                  <c:v>12.550885260107192</c:v>
                </c:pt>
                <c:pt idx="2">
                  <c:v>8.380043562697718</c:v>
                </c:pt>
                <c:pt idx="3">
                  <c:v>7.444952014860334</c:v>
                </c:pt>
                <c:pt idx="4">
                  <c:v>8.04660708305492</c:v>
                </c:pt>
                <c:pt idx="5">
                  <c:v>6.919214229256515</c:v>
                </c:pt>
                <c:pt idx="6">
                  <c:v>4.691071174682332</c:v>
                </c:pt>
                <c:pt idx="7">
                  <c:v>2.86510879859984</c:v>
                </c:pt>
                <c:pt idx="8">
                  <c:v>2.560369933335589</c:v>
                </c:pt>
                <c:pt idx="9">
                  <c:v>2.6169804142295043</c:v>
                </c:pt>
                <c:pt idx="10">
                  <c:v>26.849835714501204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Grupo Bimbo</c:v>
                </c:pt>
                <c:pt idx="1">
                  <c:v>McKee Foods Corporation</c:v>
                </c:pt>
                <c:pt idx="2">
                  <c:v>Hostess Brands</c:v>
                </c:pt>
                <c:pt idx="3">
                  <c:v>Rich Products Corporation</c:v>
                </c:pt>
                <c:pt idx="4">
                  <c:v>ARYZTA / Aspire Bakeries</c:v>
                </c:pt>
                <c:pt idx="5">
                  <c:v>Europastry</c:v>
                </c:pt>
                <c:pt idx="6">
                  <c:v>Bridor</c:v>
                </c:pt>
                <c:pt idx="7">
                  <c:v>Lantmännen Unibake</c:v>
                </c:pt>
                <c:pt idx="8">
                  <c:v>Flowers Foods</c:v>
                </c:pt>
                <c:pt idx="9">
                  <c:v>Premier Foods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15.570454803610694</c:v>
                </c:pt>
                <c:pt idx="1">
                  <c:v>10.546713911504883</c:v>
                </c:pt>
                <c:pt idx="2">
                  <c:v>10.489494550876001</c:v>
                </c:pt>
                <c:pt idx="3">
                  <c:v>11.523850319189417</c:v>
                </c:pt>
                <c:pt idx="4">
                  <c:v>9.716274527037694</c:v>
                </c:pt>
                <c:pt idx="5">
                  <c:v>6.041847824962319</c:v>
                </c:pt>
                <c:pt idx="6">
                  <c:v>4.100995695833606</c:v>
                </c:pt>
                <c:pt idx="7">
                  <c:v>3.8524851858046234</c:v>
                </c:pt>
                <c:pt idx="8">
                  <c:v>3.889793811996375</c:v>
                </c:pt>
                <c:pt idx="9">
                  <c:v>2.9792010725276863</c:v>
                </c:pt>
                <c:pt idx="10">
                  <c:v>21.288888296656708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Grupo Bimbo</c:v>
                </c:pt>
                <c:pt idx="1">
                  <c:v>McKee Foods Corporation</c:v>
                </c:pt>
                <c:pt idx="2">
                  <c:v>Hostess Brands</c:v>
                </c:pt>
                <c:pt idx="3">
                  <c:v>Rich Products Corporation</c:v>
                </c:pt>
                <c:pt idx="4">
                  <c:v>ARYZTA / Aspire Bakeries</c:v>
                </c:pt>
                <c:pt idx="5">
                  <c:v>Europastry</c:v>
                </c:pt>
                <c:pt idx="6">
                  <c:v>Bridor</c:v>
                </c:pt>
                <c:pt idx="7">
                  <c:v>Lantmännen Unibake</c:v>
                </c:pt>
                <c:pt idx="8">
                  <c:v>Flowers Foods</c:v>
                </c:pt>
                <c:pt idx="9">
                  <c:v>Premier Foods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11.931858870012501</c:v>
                </c:pt>
                <c:pt idx="1">
                  <c:v>12.495250983383206</c:v>
                </c:pt>
                <c:pt idx="2">
                  <c:v>13.557011133261542</c:v>
                </c:pt>
                <c:pt idx="3">
                  <c:v>11.024479649083794</c:v>
                </c:pt>
                <c:pt idx="4">
                  <c:v>6.975036720459171</c:v>
                </c:pt>
                <c:pt idx="5">
                  <c:v>4.918850211127804</c:v>
                </c:pt>
                <c:pt idx="6">
                  <c:v>5.131252406943278</c:v>
                </c:pt>
                <c:pt idx="7">
                  <c:v>4.808839258461541</c:v>
                </c:pt>
                <c:pt idx="8">
                  <c:v>3.5084788144252483</c:v>
                </c:pt>
                <c:pt idx="9">
                  <c:v>2.100246059545411</c:v>
                </c:pt>
                <c:pt idx="10">
                  <c:v>23.5486958932965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Retail</c:v>
                </c:pt>
                <c:pt idx="1">
                  <c:v>Foodservice and institutional</c:v>
                </c:pt>
                <c:pt idx="2">
                  <c:v>Vending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1211.1249075040898</c:v>
                </c:pt>
                <c:pt idx="1">
                  <c:v>673.7917098596855</c:v>
                </c:pt>
                <c:pt idx="2">
                  <c:v>848.1119531502166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598.6848779053987"/>
          <c:min val="0.0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907.3144017368124</c:v>
                </c:pt>
                <c:pt idx="1">
                  <c:v>552.2802562171582</c:v>
                </c:pt>
                <c:pt idx="2">
                  <c:v>297.82873181020454</c:v>
                </c:pt>
                <c:pt idx="3">
                  <c:v>336.5236693038014</c:v>
                </c:pt>
                <c:pt idx="4">
                  <c:v>639.0815114460152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197.6550102925926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1143.4154096020775</c:v>
                </c:pt>
                <c:pt idx="1">
                  <c:v>1589.6131609119143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2768.299404</c:v>
                </c:pt>
                <c:pt idx="1">
                  <c:v>2488.4305254161864</c:v>
                </c:pt>
                <c:pt idx="2">
                  <c:v>1818.5885959387524</c:v>
                </c:pt>
                <c:pt idx="3">
                  <c:v>1165.090741584608</c:v>
                </c:pt>
                <c:pt idx="4">
                  <c:v>924.3399917170238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907.3144017368124</c:v>
                </c:pt>
                <c:pt idx="1">
                  <c:v>552.2802562171582</c:v>
                </c:pt>
                <c:pt idx="2">
                  <c:v>297.82873181020454</c:v>
                </c:pt>
                <c:pt idx="3">
                  <c:v>336.5236693038014</c:v>
                </c:pt>
                <c:pt idx="4">
                  <c:v>639.0815114460152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543.42323712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Retail</c:v>
                </c:pt>
                <c:pt idx="1">
                  <c:v>Foodservice and institutional</c:v>
                </c:pt>
                <c:pt idx="2">
                  <c:v>Vending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480.2057709155283</c:v>
                </c:pt>
                <c:pt idx="1">
                  <c:v>667.5976263594592</c:v>
                </c:pt>
                <c:pt idx="2">
                  <c:v>1244.8538832807953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643.20712593065"/>
          <c:min val="0.0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432.4770197367146</c:v>
                </c:pt>
                <c:pt idx="1">
                  <c:v>240.6022936180411</c:v>
                </c:pt>
                <c:pt idx="2">
                  <c:v>302.84979495416013</c:v>
                </c:pt>
                <c:pt idx="3">
                  <c:v>572.11185573378</c:v>
                </c:pt>
                <c:pt idx="4">
                  <c:v>844.6163165130871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114.893537797275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845.6545968005311</c:v>
                </c:pt>
                <c:pt idx="1">
                  <c:v>1547.002683755252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2928.008985</c:v>
                </c:pt>
                <c:pt idx="1">
                  <c:v>2631.993824959428</c:v>
                </c:pt>
                <c:pt idx="2">
                  <c:v>1923.507168781373</c:v>
                </c:pt>
                <c:pt idx="3">
                  <c:v>1232.307515137566</c:v>
                </c:pt>
                <c:pt idx="4">
                  <c:v>977.6672989314675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432.4770197367146</c:v>
                </c:pt>
                <c:pt idx="1">
                  <c:v>240.6022936180411</c:v>
                </c:pt>
                <c:pt idx="2">
                  <c:v>302.84979495416013</c:v>
                </c:pt>
                <c:pt idx="3">
                  <c:v>572.11185573378</c:v>
                </c:pt>
                <c:pt idx="4">
                  <c:v>844.6163165130871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747.8515008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4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Retail</c:v>
                </c:pt>
                <c:pt idx="1">
                  <c:v>Foodservice and institutional</c:v>
                </c:pt>
                <c:pt idx="2">
                  <c:v>Vending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308.5250224090556</c:v>
                </c:pt>
                <c:pt idx="1">
                  <c:v>564.4018722043783</c:v>
                </c:pt>
                <c:pt idx="2">
                  <c:v>777.2906082956179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26.0236029502157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131.5287288618043</c:v>
                </c:pt>
                <c:pt idx="1">
                  <c:v>182.85550175460835</c:v>
                </c:pt>
                <c:pt idx="2">
                  <c:v>340.9664331489384</c:v>
                </c:pt>
                <c:pt idx="3">
                  <c:v>486.2063223506837</c:v>
                </c:pt>
                <c:pt idx="4">
                  <c:v>508.6605167930171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71.4318821667827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4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708.2154819126263</c:v>
                </c:pt>
                <c:pt idx="1">
                  <c:v>942.0020209964254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4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3087.7185660000005</c:v>
                </c:pt>
                <c:pt idx="1">
                  <c:v>2775.5571245026695</c:v>
                </c:pt>
                <c:pt idx="2">
                  <c:v>2028.4257416239932</c:v>
                </c:pt>
                <c:pt idx="3">
                  <c:v>1299.5242886905241</c:v>
                </c:pt>
                <c:pt idx="4">
                  <c:v>1030.9946061459111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131.5287288618043</c:v>
                </c:pt>
                <c:pt idx="1">
                  <c:v>182.85550175460835</c:v>
                </c:pt>
                <c:pt idx="2">
                  <c:v>340.9664331489384</c:v>
                </c:pt>
                <c:pt idx="3">
                  <c:v>486.2063223506837</c:v>
                </c:pt>
                <c:pt idx="4">
                  <c:v>508.6605167930171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952.2797644800007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5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7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8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9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0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1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2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3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4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5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6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7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9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1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2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3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4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5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6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7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8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9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1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3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4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5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6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7.xml"/></Relationships>
</file>

<file path=ppt/notesSlides/_rels/notesSlide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8.xml"/></Relationships>
</file>

<file path=ppt/notesSlides/_rels/notesSlide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9.xml"/></Relationships>
</file>

<file path=ppt/notesSlides/_rels/notesSlide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0.xml"/></Relationships>
</file>

<file path=ppt/notesSlides/_rels/notesSlide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2.xml"/></Relationships>
</file>

<file path=ppt/notesSlides/_rels/notesSlide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3.xml"/></Relationships>
</file>

<file path=ppt/notesSlides/_rels/notesSlide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4.xml"/></Relationships>
</file>

<file path=ppt/notesSlides/_rels/notesSlide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5.xml"/></Relationships>
</file>

<file path=ppt/notesSlides/_rels/notesSlide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6.xml"/></Relationships>
</file>

<file path=ppt/notesSlides/_rels/notesSlide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7.xml"/></Relationships>
</file>

<file path=ppt/notesSlides/_rels/notesSlide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8.xml"/></Relationships>
</file>

<file path=ppt/notesSlides/_rels/notesSlide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9.xml"/></Relationships>
</file>

<file path=ppt/notesSlides/_rels/notesSlide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0.xml"/></Relationships>
</file>

<file path=ppt/notesSlides/_rels/notesSlide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1.xml"/></Relationships>
</file>

<file path=ppt/notesSlides/_rels/notesSlide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3.xml"/></Relationships>
</file>

<file path=ppt/notesSlides/_rels/notesSlide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4.xml"/></Relationships>
</file>

<file path=ppt/notesSlides/_rels/notesSlide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5.xml"/></Relationships>
</file>

<file path=ppt/notesSlides/_rels/notesSlide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6.xml"/></Relationships>
</file>

<file path=ppt/notesSlides/_rels/notesSlide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7.xml"/></Relationships>
</file>

<file path=ppt/notesSlides/_rels/notesSlide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8.xml"/></Relationships>
</file>

<file path=ppt/notesSlides/_rels/notesSlide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9.xml"/></Relationships>
</file>

<file path=ppt/notesSlides/_rels/notesSlide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0.xml"/></Relationships>
</file>

<file path=ppt/notesSlides/_rels/notesSlide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1.xml"/></Relationships>
</file>

<file path=ppt/notesSlides/_rels/notesSlide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2.xml"/></Relationships>
</file>

<file path=ppt/notesSlides/_rels/notesSlide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3.xml"/></Relationships>
</file>

<file path=ppt/notesSlides/_rels/notesSlide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5.xml"/></Relationships>
</file>

<file path=ppt/notesSlides/_rels/notesSlide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6.xml"/></Relationships>
</file>

<file path=ppt/notesSlides/_rels/notesSlide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7.xml"/></Relationships>
</file>

<file path=ppt/notesSlides/_rels/notesSlide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8.xml"/></Relationships>
</file>

<file path=ppt/notesSlides/_rels/notesSlide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9.xml"/></Relationships>
</file>

<file path=ppt/notesSlides/_rels/notesSlide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0.xml"/></Relationships>
</file>

<file path=ppt/notesSlides/_rels/notesSlide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1.xml"/></Relationships>
</file>

<file path=ppt/notesSlides/_rels/notesSlide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2.xml"/></Relationships>
</file>

<file path=ppt/notesSlides/_rels/notesSlide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4.xml"/></Relationships>
</file>

<file path=ppt/notesSlides/_rels/notesSlide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5.xml"/></Relationships>
</file>

<file path=ppt/notesSlides/_rels/notesSlide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6.xml"/></Relationships>
</file>

<file path=ppt/notesSlides/_rels/notesSlide1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7.xml"/></Relationships>
</file>

<file path=ppt/notesSlides/_rels/notesSlide1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8.xml"/></Relationships>
</file>

<file path=ppt/notesSlides/_rels/notesSlide1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9.xml"/></Relationships>
</file>

<file path=ppt/notesSlides/_rels/notesSlide1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0.xml"/></Relationships>
</file>

<file path=ppt/notesSlides/_rels/notesSlide1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1.xml"/></Relationships>
</file>

<file path=ppt/notesSlides/_rels/notesSlide1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2.xml"/></Relationships>
</file>

<file path=ppt/notesSlides/_rels/notesSlide1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4.xml"/></Relationships>
</file>

<file path=ppt/notesSlides/_rels/notesSlide1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5.xml"/></Relationships>
</file>

<file path=ppt/notesSlides/_rels/notesSlide1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6.xml"/></Relationships>
</file>

<file path=ppt/notesSlides/_rels/notesSlide1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7.xml"/></Relationships>
</file>

<file path=ppt/notesSlides/_rels/notesSlide1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8.xml"/></Relationships>
</file>

<file path=ppt/notesSlides/_rels/notesSlide1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9.xml"/></Relationships>
</file>

<file path=ppt/notesSlides/_rels/notesSlide1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0.xml"/></Relationships>
</file>

<file path=ppt/notesSlides/_rels/notesSlide1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1.xml"/></Relationships>
</file>

<file path=ppt/notesSlides/_rels/notesSlide1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3.xml"/></Relationships>
</file>

<file path=ppt/notesSlides/_rels/notesSlide1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4.xml"/></Relationships>
</file>

<file path=ppt/notesSlides/_rels/notesSlide1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5.xml"/></Relationships>
</file>

<file path=ppt/notesSlides/_rels/notesSlide1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6.xml"/></Relationships>
</file>

<file path=ppt/notesSlides/_rels/notesSlide1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7.xml"/></Relationships>
</file>

<file path=ppt/notesSlides/_rels/notesSlide1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8.xml"/></Relationships>
</file>

<file path=ppt/notesSlides/_rels/notesSlide1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9.xml"/></Relationships>
</file>

<file path=ppt/notesSlides/_rels/notesSlide1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0.xml"/></Relationships>
</file>

<file path=ppt/notesSlides/_rels/notesSlide1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2.xml"/></Relationships>
</file>

<file path=ppt/notesSlides/_rels/notesSlide1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3.xml"/></Relationships>
</file>

<file path=ppt/notesSlides/_rels/notesSlide1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4.xml"/></Relationships>
</file>

<file path=ppt/notesSlides/_rels/notesSlide1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5.xml"/></Relationships>
</file>

<file path=ppt/notesSlides/_rels/notesSlide1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6.xml"/></Relationships>
</file>

<file path=ppt/notesSlides/_rels/notesSlide1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7.xml"/></Relationships>
</file>

<file path=ppt/notesSlides/_rels/notesSlide1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8.xml"/></Relationships>
</file>

<file path=ppt/notesSlides/_rels/notesSlide1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9.xml"/></Relationships>
</file>

<file path=ppt/notesSlides/_rels/notesSlide1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1.xml"/></Relationships>
</file>

<file path=ppt/notesSlides/_rels/notesSlide1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2.xml"/></Relationships>
</file>

<file path=ppt/notesSlides/_rels/notesSlide1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3.xml"/></Relationships>
</file>

<file path=ppt/notesSlides/_rels/notesSlide1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4.xml"/></Relationships>
</file>

<file path=ppt/notesSlides/_rels/notesSlide1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5.xml"/></Relationships>
</file>

<file path=ppt/notesSlides/_rels/notesSlide1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6.xml"/></Relationships>
</file>

<file path=ppt/notesSlides/_rels/notesSlide1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7.xml"/></Relationships>
</file>

<file path=ppt/notesSlides/_rels/notesSlide1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8.xml"/></Relationships>
</file>

<file path=ppt/notesSlides/_rels/notesSlide1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9.xml"/></Relationships>
</file>

<file path=ppt/notesSlides/_rels/notesSlide1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0.xml"/></Relationships>
</file>

<file path=ppt/notesSlides/_rels/notesSlide1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1.xml"/></Relationships>
</file>

<file path=ppt/notesSlides/_rels/notesSlide1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3.xml"/></Relationships>
</file>

<file path=ppt/notesSlides/_rels/notesSlide1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4.xml"/></Relationships>
</file>

<file path=ppt/notesSlides/_rels/notesSlide1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5.xml"/></Relationships>
</file>

<file path=ppt/notesSlides/_rels/notesSlide1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6.xml"/></Relationships>
</file>

<file path=ppt/notesSlides/_rels/notesSlide1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7.xml"/></Relationships>
</file>

<file path=ppt/notesSlides/_rels/notesSlide1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8.xml"/></Relationships>
</file>

<file path=ppt/notesSlides/_rels/notesSlide1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9.xml"/></Relationships>
</file>

<file path=ppt/notesSlides/_rels/notesSlide1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0.xml"/></Relationships>
</file>

<file path=ppt/notesSlides/_rels/notesSlide1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2.xml"/></Relationships>
</file>

<file path=ppt/notesSlides/_rels/notesSlide1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3.xml"/></Relationships>
</file>

<file path=ppt/notesSlides/_rels/notesSlide1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4.xml"/></Relationships>
</file>

<file path=ppt/notesSlides/_rels/notesSlide1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5.xml"/></Relationships>
</file>

<file path=ppt/notesSlides/_rels/notesSlide1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6.xml"/></Relationships>
</file>

<file path=ppt/notesSlides/_rels/notesSlide1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7.xml"/></Relationships>
</file>

<file path=ppt/notesSlides/_rels/notesSlide1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8.xml"/></Relationships>
</file>

<file path=ppt/notesSlides/_rels/notesSlide1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9.xml"/></Relationships>
</file>

<file path=ppt/notesSlides/_rels/notesSlide1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1.xml"/></Relationships>
</file>

<file path=ppt/notesSlides/_rels/notesSlide1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2.xml"/></Relationships>
</file>

<file path=ppt/notesSlides/_rels/notesSlide1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3.xml"/></Relationships>
</file>

<file path=ppt/notesSlides/_rels/notesSlide1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4.xml"/></Relationships>
</file>

<file path=ppt/notesSlides/_rels/notesSlide1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5.xml"/></Relationships>
</file>

<file path=ppt/notesSlides/_rels/notesSlide1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6.xml"/></Relationships>
</file>

<file path=ppt/notesSlides/_rels/notesSlide1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7.xml"/></Relationships>
</file>

<file path=ppt/notesSlides/_rels/notesSlide1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8.xml"/></Relationships>
</file>

<file path=ppt/notesSlides/_rels/notesSlide1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0.xml"/></Relationships>
</file>

<file path=ppt/notesSlides/_rels/notesSlide1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1.xml"/></Relationships>
</file>

<file path=ppt/notesSlides/_rels/notesSlide1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2.xml"/></Relationships>
</file>

<file path=ppt/notesSlides/_rels/notesSlide1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3.xml"/></Relationships>
</file>

<file path=ppt/notesSlides/_rels/notesSlide1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4.xml"/></Relationships>
</file>

<file path=ppt/notesSlides/_rels/notesSlide1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5.xml"/></Relationships>
</file>

<file path=ppt/notesSlides/_rels/notesSlide1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6.xml"/></Relationships>
</file>

<file path=ppt/notesSlides/_rels/notesSlide1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7.xml"/></Relationships>
</file>

<file path=ppt/notesSlides/_rels/notesSlide1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8.xml"/></Relationships>
</file>

<file path=ppt/notesSlides/_rels/notesSlide1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0.xml"/></Relationships>
</file>

<file path=ppt/notesSlides/_rels/notesSlide1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1.xml"/></Relationships>
</file>

<file path=ppt/notesSlides/_rels/notesSlide1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2.xml"/></Relationships>
</file>

<file path=ppt/notesSlides/_rels/notesSlide1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3.xml"/></Relationships>
</file>

<file path=ppt/notesSlides/_rels/notesSlide1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4.xml"/></Relationships>
</file>

<file path=ppt/notesSlides/_rels/notesSlide1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5.xml"/></Relationships>
</file>

<file path=ppt/notesSlides/_rels/notesSlide1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6.xml"/></Relationships>
</file>

<file path=ppt/notesSlides/_rels/notesSlide1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7.xml"/></Relationships>
</file>

<file path=ppt/notesSlides/_rels/notesSlide1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8.xml"/></Relationships>
</file>

<file path=ppt/notesSlides/_rels/notesSlide1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9.xml"/></Relationships>
</file>

<file path=ppt/notesSlides/_rels/notesSlide1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0.xml"/></Relationships>
</file>

<file path=ppt/notesSlides/_rels/notesSlide1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1.xml"/></Relationships>
</file>

<file path=ppt/notesSlides/_rels/notesSlide1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4.xml"/></Relationships>
</file>

<file path=ppt/notesSlides/_rels/notesSlide1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5.xml"/></Relationships>
</file>

<file path=ppt/notesSlides/_rels/notesSlide1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6.xml"/></Relationships>
</file>

<file path=ppt/notesSlides/_rels/notesSlide1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8.xml"/></Relationships>
</file>

<file path=ppt/notesSlides/_rels/notesSlide1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9.xml"/></Relationships>
</file>

<file path=ppt/notesSlides/_rels/notesSlide1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0.xml"/></Relationships>
</file>

<file path=ppt/notesSlides/_rels/notesSlide1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2.xml"/></Relationships>
</file>

<file path=ppt/notesSlides/_rels/notesSlide1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3.xml"/></Relationships>
</file>

<file path=ppt/notesSlides/_rels/notesSlide1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4.xml"/></Relationships>
</file>

<file path=ppt/notesSlides/_rels/notesSlide1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5.xml"/></Relationships>
</file>

<file path=ppt/notesSlides/_rels/notesSlide1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7.xml"/></Relationships>
</file>

<file path=ppt/notesSlides/_rels/notesSlide1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8.xml"/></Relationships>
</file>

<file path=ppt/notesSlides/_rels/notesSlide1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9.xml"/></Relationships>
</file>

<file path=ppt/notesSlides/_rels/notesSlide1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0.xml"/></Relationships>
</file>

<file path=ppt/notesSlides/_rels/notesSlide2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2.xml"/></Relationships>
</file>

<file path=ppt/notesSlides/_rels/notesSlide2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3.xml"/></Relationships>
</file>

<file path=ppt/notesSlides/_rels/notesSlide2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4.xml"/></Relationships>
</file>

<file path=ppt/notesSlides/_rels/notesSlide2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5.xml"/></Relationships>
</file>

<file path=ppt/notesSlides/_rels/notesSlide2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6.xml"/></Relationships>
</file>

<file path=ppt/notesSlides/_rels/notesSlide2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7.xml"/></Relationships>
</file>

<file path=ppt/notesSlides/_rels/notesSlide2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8.xml"/></Relationships>
</file>

<file path=ppt/notesSlides/_rels/notesSlide2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9.xml"/></Relationships>
</file>

<file path=ppt/notesSlides/_rels/notesSlide2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0.xml"/></Relationships>
</file>

<file path=ppt/notesSlides/_rels/notesSlide2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2.xml"/></Relationships>
</file>

<file path=ppt/notesSlides/_rels/notesSlide2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3.xml"/></Relationships>
</file>

<file path=ppt/notesSlides/_rels/notesSlide2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4.xml"/></Relationships>
</file>

<file path=ppt/notesSlides/_rels/notesSlide2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5.xml"/></Relationships>
</file>

<file path=ppt/notesSlides/_rels/notesSlide2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6.xml"/></Relationships>
</file>

<file path=ppt/notesSlides/_rels/notesSlide2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7.xml"/></Relationships>
</file>

<file path=ppt/notesSlides/_rels/notesSlide2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8.xml"/></Relationships>
</file>

<file path=ppt/notesSlides/_rels/notesSlide2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1.xml"/></Relationships>
</file>

<file path=ppt/notesSlides/_rels/notesSlide2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2.xml"/></Relationships>
</file>

<file path=ppt/notesSlides/_rels/notesSlide2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3.xml"/></Relationships>
</file>

<file path=ppt/notesSlides/_rels/notesSlide2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4.xml"/></Relationships>
</file>

<file path=ppt/notesSlides/_rels/notesSlide2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5.xml"/></Relationships>
</file>

<file path=ppt/notesSlides/_rels/notesSlide2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6.xml"/></Relationships>
</file>

<file path=ppt/notesSlides/_rels/notesSlide2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7.xml"/></Relationships>
</file>

<file path=ppt/notesSlides/_rels/notesSlide2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8.xml"/></Relationships>
</file>

<file path=ppt/notesSlides/_rels/notesSlide2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9.xml"/></Relationships>
</file>

<file path=ppt/notesSlides/_rels/notesSlide2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0.xml"/></Relationships>
</file>

<file path=ppt/notesSlides/_rels/notesSlide2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1.xml"/></Relationships>
</file>

<file path=ppt/notesSlides/_rels/notesSlide2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3.xml"/></Relationships>
</file>

<file path=ppt/notesSlides/_rels/notesSlide2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4.xml"/></Relationships>
</file>

<file path=ppt/notesSlides/_rels/notesSlide2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5.xml"/></Relationships>
</file>

<file path=ppt/notesSlides/_rels/notesSlide2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6.xml"/></Relationships>
</file>

<file path=ppt/notesSlides/_rels/notesSlide2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7.xml"/></Relationships>
</file>

<file path=ppt/notesSlides/_rels/notesSlide2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8.xml"/></Relationships>
</file>

<file path=ppt/notesSlides/_rels/notesSlide2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9.xml"/></Relationships>
</file>

<file path=ppt/notesSlides/_rels/notesSlide2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0.xml"/></Relationships>
</file>

<file path=ppt/notesSlides/_rels/notesSlide2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1.xml"/></Relationships>
</file>

<file path=ppt/notesSlides/_rels/notesSlide2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2.xml"/></Relationships>
</file>

<file path=ppt/notesSlides/_rels/notesSlide2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4.xml"/></Relationships>
</file>

<file path=ppt/notesSlides/_rels/notesSlide2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5.xml"/></Relationships>
</file>

<file path=ppt/notesSlides/_rels/notesSlide2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6.xml"/></Relationships>
</file>

<file path=ppt/notesSlides/_rels/notesSlide2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7.xml"/></Relationships>
</file>

<file path=ppt/notesSlides/_rels/notesSlide2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8.xml"/></Relationships>
</file>

<file path=ppt/notesSlides/_rels/notesSlide2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9.xml"/></Relationships>
</file>

<file path=ppt/notesSlides/_rels/notesSlide2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0.xml"/></Relationships>
</file>

<file path=ppt/notesSlides/_rels/notesSlide2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1.xml"/></Relationships>
</file>

<file path=ppt/notesSlides/_rels/notesSlide2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2.xml"/></Relationships>
</file>

<file path=ppt/notesSlides/_rels/notesSlide2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3.xml"/></Relationships>
</file>

<file path=ppt/notesSlides/_rels/notesSlide2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4.xml"/></Relationships>
</file>

<file path=ppt/notesSlides/_rels/notesSlide2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5.xml"/></Relationships>
</file>

<file path=ppt/notesSlides/_rels/notesSlide2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7.xml"/></Relationships>
</file>

<file path=ppt/notesSlides/_rels/notesSlide2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8.xml"/></Relationships>
</file>

<file path=ppt/notesSlides/_rels/notesSlide2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9.xml"/></Relationships>
</file>

<file path=ppt/notesSlides/_rels/notesSlide2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0.xml"/></Relationships>
</file>

<file path=ppt/notesSlides/_rels/notesSlide2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1.xml"/></Relationships>
</file>

<file path=ppt/notesSlides/_rels/notesSlide2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2.xml"/></Relationships>
</file>

<file path=ppt/notesSlides/_rels/notesSlide2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3.xml"/></Relationships>
</file>

<file path=ppt/notesSlides/_rels/notesSlide2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4.xml"/></Relationships>
</file>

<file path=ppt/notesSlides/_rels/notesSlide2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6.xml"/></Relationships>
</file>

<file path=ppt/notesSlides/_rels/notesSlide2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7.xml"/></Relationships>
</file>

<file path=ppt/notesSlides/_rels/notesSlide2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8.xml"/></Relationships>
</file>

<file path=ppt/notesSlides/_rels/notesSlide2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9.xml"/></Relationships>
</file>

<file path=ppt/notesSlides/_rels/notesSlide2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0.xml"/></Relationships>
</file>

<file path=ppt/notesSlides/_rels/notesSlide2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1.xml"/></Relationships>
</file>

<file path=ppt/notesSlides/_rels/notesSlide2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2.xml"/></Relationships>
</file>

<file path=ppt/notesSlides/_rels/notesSlide2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3.xml"/></Relationships>
</file>

<file path=ppt/notesSlides/_rels/notesSlide2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4.xml"/></Relationships>
</file>

<file path=ppt/notesSlides/_rels/notesSlide2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5.xml"/></Relationships>
</file>

<file path=ppt/notesSlides/_rels/notesSlide2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7.xml"/></Relationships>
</file>

<file path=ppt/notesSlides/_rels/notesSlide2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8.xml"/></Relationships>
</file>

<file path=ppt/notesSlides/_rels/notesSlide2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9.xml"/></Relationships>
</file>

<file path=ppt/notesSlides/_rels/notesSlide2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0.xml"/></Relationships>
</file>

<file path=ppt/notesSlides/_rels/notesSlide2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1.xml"/></Relationships>
</file>

<file path=ppt/notesSlides/_rels/notesSlide2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2.xml"/></Relationships>
</file>

<file path=ppt/notesSlides/_rels/notesSlide2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3.xml"/></Relationships>
</file>

<file path=ppt/notesSlides/_rels/notesSlide2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4.xml"/></Relationships>
</file>

<file path=ppt/notesSlides/_rels/notesSlide2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5.xml"/></Relationships>
</file>

<file path=ppt/notesSlides/_rels/notesSlide2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6.xml"/></Relationships>
</file>

<file path=ppt/notesSlides/_rels/notesSlide2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8.xml"/></Relationships>
</file>

<file path=ppt/notesSlides/_rels/notesSlide2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9.xml"/></Relationships>
</file>

<file path=ppt/notesSlides/_rels/notesSlide2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0.xml"/></Relationships>
</file>

<file path=ppt/notesSlides/_rels/notesSlide2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1.xml"/></Relationships>
</file>

<file path=ppt/notesSlides/_rels/notesSlide2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2.xml"/></Relationships>
</file>

<file path=ppt/notesSlides/_rels/notesSlide2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3.xml"/></Relationships>
</file>

<file path=ppt/notesSlides/_rels/notesSlide2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4.xml"/></Relationships>
</file>

<file path=ppt/notesSlides/_rels/notesSlide2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5.xml"/></Relationships>
</file>

<file path=ppt/notesSlides/_rels/notesSlide2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7.xml"/></Relationships>
</file>

<file path=ppt/notesSlides/_rels/notesSlide2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8.xml"/></Relationships>
</file>

<file path=ppt/notesSlides/_rels/notesSlide2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9.xml"/></Relationships>
</file>

<file path=ppt/notesSlides/_rels/notesSlide2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0.xml"/></Relationships>
</file>

<file path=ppt/notesSlides/_rels/notesSlide2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1.xml"/></Relationships>
</file>

<file path=ppt/notesSlides/_rels/notesSlide2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2.xml"/></Relationships>
</file>

<file path=ppt/notesSlides/_rels/notesSlide2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3.xml"/></Relationships>
</file>

<file path=ppt/notesSlides/_rels/notesSlide2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4.xml"/></Relationships>
</file>

<file path=ppt/notesSlides/_rels/notesSlide2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5.xml"/></Relationships>
</file>

<file path=ppt/notesSlides/_rels/notesSlide2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7.xml"/></Relationships>
</file>

<file path=ppt/notesSlides/_rels/notesSlide2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8.xml"/></Relationships>
</file>

<file path=ppt/notesSlides/_rels/notesSlide2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9.xml"/></Relationships>
</file>

<file path=ppt/notesSlides/_rels/notesSlide2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0.xml"/></Relationships>
</file>

<file path=ppt/notesSlides/_rels/notesSlide2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1.xml"/></Relationships>
</file>

<file path=ppt/notesSlides/_rels/notesSlide2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2.xml"/></Relationships>
</file>

<file path=ppt/notesSlides/_rels/notesSlide3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3.xml"/></Relationships>
</file>

<file path=ppt/notesSlides/_rels/notesSlide3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4.xml"/></Relationships>
</file>

<file path=ppt/notesSlides/_rels/notesSlide3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6.xml"/></Relationships>
</file>

<file path=ppt/notesSlides/_rels/notesSlide3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7.xml"/></Relationships>
</file>

<file path=ppt/notesSlides/_rels/notesSlide3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8.xml"/></Relationships>
</file>

<file path=ppt/notesSlides/_rels/notesSlide3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9.xml"/></Relationships>
</file>

<file path=ppt/notesSlides/_rels/notesSlide3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0.xml"/></Relationships>
</file>

<file path=ppt/notesSlides/_rels/notesSlide3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1.xml"/></Relationships>
</file>

<file path=ppt/notesSlides/_rels/notesSlide3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2.xml"/></Relationships>
</file>

<file path=ppt/notesSlides/_rels/notesSlide3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3.xml"/></Relationships>
</file>

<file path=ppt/notesSlides/_rels/notesSlide3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5.xml"/></Relationships>
</file>

<file path=ppt/notesSlides/_rels/notesSlide3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6.xml"/></Relationships>
</file>

<file path=ppt/notesSlides/_rels/notesSlide3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7.xml"/></Relationships>
</file>

<file path=ppt/notesSlides/_rels/notesSlide3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8.xml"/></Relationships>
</file>

<file path=ppt/notesSlides/_rels/notesSlide3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9.xml"/></Relationships>
</file>

<file path=ppt/notesSlides/_rels/notesSlide3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0.xml"/></Relationships>
</file>

<file path=ppt/notesSlides/_rels/notesSlide3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1.xml"/></Relationships>
</file>

<file path=ppt/notesSlides/_rels/notesSlide3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2.xml"/></Relationships>
</file>

<file path=ppt/notesSlides/_rels/notesSlide3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4.xml"/></Relationships>
</file>

<file path=ppt/notesSlides/_rels/notesSlide3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5.xml"/></Relationships>
</file>

<file path=ppt/notesSlides/_rels/notesSlide3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6.xml"/></Relationships>
</file>

<file path=ppt/notesSlides/_rels/notesSlide3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7.xml"/></Relationships>
</file>

<file path=ppt/notesSlides/_rels/notesSlide3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8.xml"/></Relationships>
</file>

<file path=ppt/notesSlides/_rels/notesSlide3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9.xml"/></Relationships>
</file>

<file path=ppt/notesSlides/_rels/notesSlide3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0.xml"/></Relationships>
</file>

<file path=ppt/notesSlides/_rels/notesSlide3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1.xml"/></Relationships>
</file>

<file path=ppt/notesSlides/_rels/notesSlide3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2.xml"/></Relationships>
</file>

<file path=ppt/notesSlides/_rels/notesSlide3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3.xml"/></Relationships>
</file>

<file path=ppt/notesSlides/_rels/notesSlide3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5.xml"/></Relationships>
</file>

<file path=ppt/notesSlides/_rels/notesSlide3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6.xml"/></Relationships>
</file>

<file path=ppt/notesSlides/_rels/notesSlide3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7.xml"/></Relationships>
</file>

<file path=ppt/notesSlides/_rels/notesSlide3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8.xml"/></Relationships>
</file>

<file path=ppt/notesSlides/_rels/notesSlide3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9.xml"/></Relationships>
</file>

<file path=ppt/notesSlides/_rels/notesSlide3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0.xml"/></Relationships>
</file>

<file path=ppt/notesSlides/_rels/notesSlide3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1.xml"/></Relationships>
</file>

<file path=ppt/notesSlides/_rels/notesSlide3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2.xml"/></Relationships>
</file>

<file path=ppt/notesSlides/_rels/notesSlide3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4.xml"/></Relationships>
</file>

<file path=ppt/notesSlides/_rels/notesSlide3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5.xml"/></Relationships>
</file>

<file path=ppt/notesSlides/_rels/notesSlide3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6.xml"/></Relationships>
</file>

<file path=ppt/notesSlides/_rels/notesSlide3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7.xml"/></Relationships>
</file>

<file path=ppt/notesSlides/_rels/notesSlide3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8.xml"/></Relationships>
</file>

<file path=ppt/notesSlides/_rels/notesSlide3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9.xml"/></Relationships>
</file>

<file path=ppt/notesSlides/_rels/notesSlide3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0.xml"/></Relationships>
</file>

<file path=ppt/notesSlides/_rels/notesSlide3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1.xml"/></Relationships>
</file>

<file path=ppt/notesSlides/_rels/notesSlide3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3.xml"/></Relationships>
</file>

<file path=ppt/notesSlides/_rels/notesSlide3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4.xml"/></Relationships>
</file>

<file path=ppt/notesSlides/_rels/notesSlide3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5.xml"/></Relationships>
</file>

<file path=ppt/notesSlides/_rels/notesSlide3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6.xml"/></Relationships>
</file>

<file path=ppt/notesSlides/_rels/notesSlide3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7.xml"/></Relationships>
</file>

<file path=ppt/notesSlides/_rels/notesSlide3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8.xml"/></Relationships>
</file>

<file path=ppt/notesSlides/_rels/notesSlide3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9.xml"/></Relationships>
</file>

<file path=ppt/notesSlides/_rels/notesSlide3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0.xml"/></Relationships>
</file>

<file path=ppt/notesSlides/_rels/notesSlide3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2.xml"/></Relationships>
</file>

<file path=ppt/notesSlides/_rels/notesSlide3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3.xml"/></Relationships>
</file>

<file path=ppt/notesSlides/_rels/notesSlide3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4.xml"/></Relationships>
</file>

<file path=ppt/notesSlides/_rels/notesSlide3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5.xml"/></Relationships>
</file>

<file path=ppt/notesSlides/_rels/notesSlide3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6.xml"/></Relationships>
</file>

<file path=ppt/notesSlides/_rels/notesSlide3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7.xml"/></Relationships>
</file>

<file path=ppt/notesSlides/_rels/notesSlide3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8.xml"/></Relationships>
</file>

<file path=ppt/notesSlides/_rels/notesSlide3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9.xml"/></Relationships>
</file>

<file path=ppt/notesSlides/_rels/notesSlide3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1.xml"/></Relationships>
</file>

<file path=ppt/notesSlides/_rels/notesSlide3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2.xml"/></Relationships>
</file>

<file path=ppt/notesSlides/_rels/notesSlide3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3.xml"/></Relationships>
</file>

<file path=ppt/notesSlides/_rels/notesSlide3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4.xml"/></Relationships>
</file>

<file path=ppt/notesSlides/_rels/notesSlide3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5.xml"/></Relationships>
</file>

<file path=ppt/notesSlides/_rels/notesSlide3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6.xml"/></Relationships>
</file>

<file path=ppt/notesSlides/_rels/notesSlide3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7.xml"/></Relationships>
</file>

<file path=ppt/notesSlides/_rels/notesSlide3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8.xml"/></Relationships>
</file>

<file path=ppt/notesSlides/_rels/notesSlide3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9.xml"/></Relationships>
</file>

<file path=ppt/notesSlides/_rels/notesSlide3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0.xml"/></Relationships>
</file>

<file path=ppt/notesSlides/_rels/notesSlide3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1.xml"/></Relationships>
</file>

<file path=ppt/notesSlides/_rels/notesSlide3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2.xml"/></Relationships>
</file>

<file path=ppt/notesSlides/_rels/notesSlide3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3.xml"/></Relationships>
</file>

<file path=ppt/notesSlides/_rels/notesSlide3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5.xml"/></Relationships>
</file>

<file path=ppt/notesSlides/_rels/notesSlide3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6.xml"/></Relationships>
</file>

<file path=ppt/notesSlides/_rels/notesSlide3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7.xml"/></Relationships>
</file>

<file path=ppt/notesSlides/_rels/notesSlide3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8.xml"/></Relationships>
</file>

<file path=ppt/notesSlides/_rels/notesSlide3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9.xml"/></Relationships>
</file>

<file path=ppt/notesSlides/_rels/notesSlide3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2.xml"/></Relationships>
</file>

<file path=ppt/notesSlides/_rels/notesSlide3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3.xml"/></Relationships>
</file>

<file path=ppt/notesSlides/_rels/notesSlide3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4.xml"/></Relationships>
</file>

<file path=ppt/notesSlides/_rels/notesSlide3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5.xml"/></Relationships>
</file>

<file path=ppt/notesSlides/_rels/notesSlide3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6.xml"/></Relationships>
</file>

<file path=ppt/notesSlides/_rels/notesSlide3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8.xml"/></Relationships>
</file>

<file path=ppt/notesSlides/_rels/notesSlide3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9.xml"/></Relationships>
</file>

<file path=ppt/notesSlides/_rels/notesSlide3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0.xml"/></Relationships>
</file>

<file path=ppt/notesSlides/_rels/notesSlide3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1.xml"/></Relationships>
</file>

<file path=ppt/notesSlides/_rels/notesSlide3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2.xml"/></Relationships>
</file>

<file path=ppt/notesSlides/_rels/notesSlide3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4.xml"/></Relationships>
</file>

<file path=ppt/notesSlides/_rels/notesSlide3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5.xml"/></Relationships>
</file>

<file path=ppt/notesSlides/_rels/notesSlide3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6.xml"/></Relationships>
</file>

<file path=ppt/notesSlides/_rels/notesSlide3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7.xml"/></Relationships>
</file>

<file path=ppt/notesSlides/_rels/notesSlide3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8.xml"/></Relationships>
</file>

<file path=ppt/notesSlides/_rels/notesSlide3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0.xml"/></Relationships>
</file>

<file path=ppt/notesSlides/_rels/notesSlide3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1.xml"/></Relationships>
</file>

<file path=ppt/notesSlides/_rels/notesSlide3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2.xml"/></Relationships>
</file>

<file path=ppt/notesSlides/_rels/notesSlide3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4.xml"/></Relationships>
</file>

<file path=ppt/notesSlides/_rels/notesSlide3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5.xml"/></Relationships>
</file>

<file path=ppt/notesSlides/_rels/notesSlide3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6.xml"/></Relationships>
</file>

<file path=ppt/notesSlides/_rels/notesSlide3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8.xml"/></Relationships>
</file>

<file path=ppt/notesSlides/_rels/notesSlide4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9.xml"/></Relationships>
</file>

<file path=ppt/notesSlides/_rels/notesSlide4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0.xml"/></Relationships>
</file>

<file path=ppt/notesSlides/_rels/notesSlide4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1.xml"/></Relationships>
</file>

<file path=ppt/notesSlides/_rels/notesSlide4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2.xml"/></Relationships>
</file>

<file path=ppt/notesSlides/_rels/notesSlide4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4.xml"/></Relationships>
</file>

<file path=ppt/notesSlides/_rels/notesSlide4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5.xml"/></Relationships>
</file>

<file path=ppt/notesSlides/_rels/notesSlide4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6.xml"/></Relationships>
</file>

<file path=ppt/notesSlides/_rels/notesSlide4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7.xml"/></Relationships>
</file>

<file path=ppt/notesSlides/_rels/notesSlide4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8.xml"/></Relationships>
</file>

<file path=ppt/notesSlides/_rels/notesSlide4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0.xml"/></Relationships>
</file>

<file path=ppt/notesSlides/_rels/notesSlide4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1.xml"/></Relationships>
</file>

<file path=ppt/notesSlides/_rels/notesSlide4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2.xml"/></Relationships>
</file>

<file path=ppt/notesSlides/_rels/notesSlide4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4.xml"/></Relationships>
</file>

<file path=ppt/notesSlides/_rels/notesSlide4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5.xml"/></Relationships>
</file>

<file path=ppt/notesSlides/_rels/notesSlide4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6.xml"/></Relationships>
</file>

<file path=ppt/notesSlides/_rels/notesSlide4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8.xml"/></Relationships>
</file>

<file path=ppt/notesSlides/_rels/notesSlide4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9.xml"/></Relationships>
</file>

<file path=ppt/notesSlides/_rels/notesSlide4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0.xml"/></Relationships>
</file>

<file path=ppt/notesSlides/_rels/notesSlide4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2.xml"/></Relationships>
</file>

<file path=ppt/notesSlides/_rels/notesSlide4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3.xml"/></Relationships>
</file>

<file path=ppt/notesSlides/_rels/notesSlide4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4.xml"/></Relationships>
</file>

<file path=ppt/notesSlides/_rels/notesSlide4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6.xml"/></Relationships>
</file>

<file path=ppt/notesSlides/_rels/notesSlide4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7.xml"/></Relationships>
</file>

<file path=ppt/notesSlides/_rels/notesSlide4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8.xml"/></Relationships>
</file>

<file path=ppt/notesSlides/_rels/notesSlide4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9.xml"/></Relationships>
</file>

<file path=ppt/notesSlides/_rels/notesSlide4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0.xml"/></Relationships>
</file>

<file path=ppt/notesSlides/_rels/notesSlide4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2.xml"/></Relationships>
</file>

<file path=ppt/notesSlides/_rels/notesSlide4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3.xml"/></Relationships>
</file>

<file path=ppt/notesSlides/_rels/notesSlide4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4.xml"/></Relationships>
</file>

<file path=ppt/notesSlides/_rels/notesSlide4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6.xml"/></Relationships>
</file>

<file path=ppt/notesSlides/_rels/notesSlide4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7.xml"/></Relationships>
</file>

<file path=ppt/notesSlides/_rels/notesSlide4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8.xml"/></Relationships>
</file>

<file path=ppt/notesSlides/_rels/notesSlide4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0.xml"/></Relationships>
</file>

<file path=ppt/notesSlides/_rels/notesSlide4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1.xml"/></Relationships>
</file>

<file path=ppt/notesSlides/_rels/notesSlide4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2.xml"/></Relationships>
</file>

<file path=ppt/notesSlides/_rels/notesSlide4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4.xml"/></Relationships>
</file>

<file path=ppt/notesSlides/_rels/notesSlide4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5.xml"/></Relationships>
</file>

<file path=ppt/notesSlides/_rels/notesSlide4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6.xml"/></Relationships>
</file>

<file path=ppt/notesSlides/_rels/notesSlide4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7.xml"/></Relationships>
</file>

<file path=ppt/notesSlides/_rels/notesSlide4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9.xml"/></Relationships>
</file>

<file path=ppt/notesSlides/_rels/notesSlide4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0.xml"/></Relationships>
</file>

<file path=ppt/notesSlides/_rels/notesSlide4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1.xml"/></Relationships>
</file>

<file path=ppt/notesSlides/_rels/notesSlide4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2.xml"/></Relationships>
</file>

<file path=ppt/notesSlides/_rels/notesSlide4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3.xml"/></Relationships>
</file>

<file path=ppt/notesSlides/_rels/notesSlide4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4.xml"/></Relationships>
</file>

<file path=ppt/notesSlides/_rels/notesSlide4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6.xml"/></Relationships>
</file>

<file path=ppt/notesSlides/_rels/notesSlide4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7.xml"/></Relationships>
</file>

<file path=ppt/notesSlides/_rels/notesSlide4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8.xml"/></Relationships>
</file>

<file path=ppt/notesSlides/_rels/notesSlide4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9.xml"/></Relationships>
</file>

<file path=ppt/notesSlides/_rels/notesSlide4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0.xml"/></Relationships>
</file>

<file path=ppt/notesSlides/_rels/notesSlide4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1.xml"/></Relationships>
</file>

<file path=ppt/notesSlides/_rels/notesSlide4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2.xml"/></Relationships>
</file>

<file path=ppt/notesSlides/_rels/notesSlide4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3.xml"/></Relationships>
</file>

<file path=ppt/notesSlides/_rels/notesSlide4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4.xml"/></Relationships>
</file>

<file path=ppt/notesSlides/_rels/notesSlide4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5.xml"/></Relationships>
</file>

<file path=ppt/notesSlides/_rels/notesSlide4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6.xml"/></Relationships>
</file>

<file path=ppt/notesSlides/_rels/notesSlide4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7.xml"/></Relationships>
</file>

<file path=ppt/notesSlides/_rels/notesSlide4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9.xml"/></Relationships>
</file>

<file path=ppt/notesSlides/_rels/notesSlide4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0.xml"/></Relationships>
</file>

<file path=ppt/notesSlides/_rels/notesSlide4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1.xml"/></Relationships>
</file>

<file path=ppt/notesSlides/_rels/notesSlide4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2.xml"/></Relationships>
</file>

<file path=ppt/notesSlides/_rels/notesSlide4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4.xml"/></Relationships>
</file>

<file path=ppt/notesSlides/_rels/notesSlide4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5.xml"/></Relationships>
</file>

<file path=ppt/notesSlides/_rels/notesSlide4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6.xml"/></Relationships>
</file>

<file path=ppt/notesSlides/_rels/notesSlide4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7.xml"/></Relationships>
</file>

<file path=ppt/notesSlides/_rels/notesSlide4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8.xml"/></Relationships>
</file>

<file path=ppt/notesSlides/_rels/notesSlide4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9.xml"/></Relationships>
</file>

<file path=ppt/notesSlides/_rels/notesSlide4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0.xml"/></Relationships>
</file>

<file path=ppt/notesSlides/_rels/notesSlide4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1.xml"/></Relationships>
</file>

<file path=ppt/notesSlides/_rels/notesSlide4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3.xml"/></Relationships>
</file>

<file path=ppt/notesSlides/_rels/notesSlide4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4.xml"/></Relationships>
</file>

<file path=ppt/notesSlides/_rels/notesSlide4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5.xml"/></Relationships>
</file>

<file path=ppt/notesSlides/_rels/notesSlide4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6.xml"/></Relationships>
</file>

<file path=ppt/notesSlides/_rels/notesSlide4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7.xml"/></Relationships>
</file>

<file path=ppt/notesSlides/_rels/notesSlide4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8.xml"/></Relationships>
</file>

<file path=ppt/notesSlides/_rels/notesSlide4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9.xml"/></Relationships>
</file>

<file path=ppt/notesSlides/_rels/notesSlide4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0.xml"/></Relationships>
</file>

<file path=ppt/notesSlides/_rels/notesSlide4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1.xml"/></Relationships>
</file>

<file path=ppt/notesSlides/_rels/notesSlide4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2.xml"/></Relationships>
</file>

<file path=ppt/notesSlides/_rels/notesSlide4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3.xml"/></Relationships>
</file>

<file path=ppt/notesSlides/_rels/notesSlide4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4.xml"/></Relationships>
</file>

<file path=ppt/notesSlides/_rels/notesSlide4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5.xml"/></Relationships>
</file>

<file path=ppt/notesSlides/_rels/notesSlide4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7.xml"/></Relationships>
</file>

<file path=ppt/notesSlides/_rels/notesSlide4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8.xml"/></Relationships>
</file>

<file path=ppt/notesSlides/_rels/notesSlide4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9.xml"/></Relationships>
</file>

<file path=ppt/notesSlides/_rels/notesSlide4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0.xml"/></Relationships>
</file>

<file path=ppt/notesSlides/_rels/notesSlide4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1.xml"/></Relationships>
</file>

<file path=ppt/notesSlides/_rels/notesSlide4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3.xml"/></Relationships>
</file>

<file path=ppt/notesSlides/_rels/notesSlide4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4.xml"/></Relationships>
</file>

<file path=ppt/notesSlides/_rels/notesSlide4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5.xml"/></Relationships>
</file>

<file path=ppt/notesSlides/_rels/notesSlide4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6.xml"/></Relationships>
</file>

<file path=ppt/notesSlides/_rels/notesSlide4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7.xml"/></Relationships>
</file>

<file path=ppt/notesSlides/_rels/notesSlide4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8.xml"/></Relationships>
</file>

<file path=ppt/notesSlides/_rels/notesSlide4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9.xml"/></Relationships>
</file>

<file path=ppt/notesSlides/_rels/notesSlide4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0.xml"/></Relationships>
</file>

<file path=ppt/notesSlides/_rels/notesSlide4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1.xml"/></Relationships>
</file>

<file path=ppt/notesSlides/_rels/notesSlide4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2.xml"/></Relationships>
</file>

<file path=ppt/notesSlides/_rels/notesSlide4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3.xml"/></Relationships>
</file>

<file path=ppt/notesSlides/_rels/notesSlide4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4.xml"/></Relationships>
</file>

<file path=ppt/notesSlides/_rels/notesSlide4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5.xml"/></Relationships>
</file>

<file path=ppt/notesSlides/_rels/notesSlide5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6.xml"/></Relationships>
</file>

<file path=ppt/notesSlides/_rels/notesSlide5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7.xml"/></Relationships>
</file>

<file path=ppt/notesSlides/_rels/notesSlide5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5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_rels/notesSlide5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.xml"/></Relationships>
</file>

<file path=ppt/notesSlides/_rels/notesSlide5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.xml"/></Relationships>
</file>

<file path=ppt/notesSlides/_rels/notesSlide5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5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.xml"/></Relationships>
</file>

<file path=ppt/notesSlides/_rels/notesSlide5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.xml"/></Relationships>
</file>

<file path=ppt/notesSlides/_rels/notesSlide5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.xml"/></Relationships>
</file>

<file path=ppt/notesSlides/_rels/notesSlide5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.xml"/></Relationships>
</file>

<file path=ppt/notesSlides/_rels/notesSlide5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.xml"/></Relationships>
</file>

<file path=ppt/notesSlides/_rels/notesSlide5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5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.xml"/></Relationships>
</file>

<file path=ppt/notesSlides/_rels/notesSlide5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.xml"/></Relationships>
</file>

<file path=ppt/notesSlides/_rels/notesSlide5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.xml"/></Relationships>
</file>

<file path=ppt/notesSlides/_rels/notesSlide5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.xml"/></Relationships>
</file>

<file path=ppt/notesSlides/_rels/notesSlide5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.xml"/></Relationships>
</file>

<file path=ppt/notesSlides/_rels/notesSlide5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.xml"/></Relationships>
</file>

<file path=ppt/notesSlides/_rels/notesSlide5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.xml"/></Relationships>
</file>

<file path=ppt/notesSlides/_rels/notesSlide5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.xml"/></Relationships>
</file>

<file path=ppt/notesSlides/_rels/notesSlide5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Signals Market Signals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Market Overview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Taxonomy Geographic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Taxonomy Market Segments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Taxonomy Market Segments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Taxonomy Company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Global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Volume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Pricing &amp; Price Index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Value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Market Volume &amp;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Country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Country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Market Overview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Supply Side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Analysis and Recommendation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Scenario Outlook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Global Packaged Muffins – Regional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Market Analysis By Region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Market Analysis By Region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Volume Share Analysis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Value Share Analysis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Market Trends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Top Countries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By Product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By Flavour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By Primary Flour Base Segment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By Primary Flour Base Segment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By Dietary Formulation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By Nutritional Positioning Segment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By Nutritional Positioning Segment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By Recipe and Ingredient Claims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By Product Structure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By Surface Finish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By Individual Muffin Size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By Storage Format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By Shelf Life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By Packaging Format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By Pack Configuration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By Multipack Wrapping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By Price Positioning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By Brand Ownership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By Sales Channel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Value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Value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Flavour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Flavour Market Share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Flavour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Packaging Format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Packaging Format Market Share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Packaging Format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Sales Channel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Sales Channel Market Share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Sales Channel Market Share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Sales Channel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Individual Muffin Size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Individual Muffin Size Market Share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Individual Muffin Size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North America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Volume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Pricing &amp; Price Index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Value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Market Volume &amp;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Country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Market Overview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Supply Side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Analysis and Recommendation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Scenario Outlook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North America Packaged Muffins – Regional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Market Analysis By Region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Market Analysis By Region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Volume Share Analysis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Value Share Analysis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Market Trends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Top Countries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By Product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By Flavour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By Primary Flour Base Segment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By Primary Flour Base Segment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By Dietary Formulation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By Nutritional Positioning Segment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By Nutritional Positioning Segment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By Recipe and Ingredient Claims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By Product Structure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By Surface Finish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By Individual Muffin Size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By Storage Format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By Shelf Life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By Packaging Format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By Pack Configuration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By Multipack Wrapping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By Price Positioning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By Brand Ownership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By Sales Channel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Value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Value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Country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Overview Volume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Overview Value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Overview Key Segments (Value)  (1/3)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Overview Key Segments (Value)  (2/3)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Overview Key Segments (Value)  (3/3)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Type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Type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Type YoY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Type YoY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Flavour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Flavour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Flavour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Flavour YoY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Flavour YoY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Primary Flour Base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Primary Flour Base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Primary Flour Base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Primary Flour Base YoY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Primary Flour Base YoY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Dietary Formulation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Dietary Formulation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Dietary Formulation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Nutritional Positioning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Nutritional Positioning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Nutritional Positioning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Recipe and Ingredient Claims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Recipe and Ingredient Claims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Recipe and Ingredient Claims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Recipe and Ingredient Claims YoY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Recipe and Ingredient Claims YoY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Structure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Structure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Structure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Structure YoY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Structure YoY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Surface Finish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Surface Finish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Surface Finish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Individual Muffin Size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Individual Muffin Size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Individual Muffin Size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Storage Format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Storage Format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Storage Format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Shelf Life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Shelf Life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Shelf Life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Packaging Format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Packaging Format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Packaging Format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Packaging Format YoY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Packaging Format YoY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Pack Configuration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Pack Configuration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Pack Configuration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Multipack Wrapping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Multipack Wrapping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Multipack Wrapping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Price Positioning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Price Positioning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Price Positioning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Brand Ownership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Brand Ownership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Brand Ownership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Brand Ownership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Sales Channel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Sales Channel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Sales Channel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Sales Channel YoY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Sales Channel YoY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Pricing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Product Pricing &amp; Regional Price Index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Global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Global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Global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Price Positioning &amp; Key Findings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Key Pricing Drivers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Factors Impacting Pricing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Regional Price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Global Pricing Benchmarking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Price Forecast &amp; Dynamics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Competitor Pricing Strategies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Supply Chain Analysis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Supply Chain Analysis Value Chain &amp; Stakeholder Mapping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Supply Chain Analysis Operating Margin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Supply Chain Analysis Buyers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Market Dynamics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Dynamics Market Dynamics &amp; Forces Market Dynamics by Geography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Dynamics Market Dynamics &amp; Forces Driving Factors Supply Side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Dynamics Market Dynamics &amp; Forces Driving Factors Demand Side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Dynamics Market Dynamics &amp; Forces Market Restraints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Dynamics Market Dynamics &amp; Forces Market Opportunities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Dynamics Market Dynamics &amp; Forces Recent Developments &amp; Milestones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Dynamics Market Dynamics &amp; Forces Five Forces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Competition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Competitive Landscape at a Glance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Segment Leadership Map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Value Chain Positioning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Player Landscape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Corporate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Offering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Execution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Success Factors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Strategic Activity Tracker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Strategic Activity by Function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Industry Structure Landscape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Industry Structure Landscape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Competitive Dashboard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Market Share by Leading Players Advice for Vendors &amp; Suppliers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Market Share by Leading Players Company Value Share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Market Share by Leading Players Company Share by Product Type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Market Share by Leading Players Company Share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Market Share by Leading Players Who Shaped Growth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Grupo Bimbo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Grupo Bimbo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Grupo Bimbo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Grupo Bimbo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Grupo Bimbo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McKee Foods Corporation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McKee Foods Corporation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McKee Foods Corporation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McKee Foods Corporation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McKee Foods Corporation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Hostess Brands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Hostess Brands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Hostess Brands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Hostess Brands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Hostess Brands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(1/12)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(2/12)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(3/12)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(4/12)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(5/12)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(6/12)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(7/12)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(8/12)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(9/12)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(10/12)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(11/12)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(12/12)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List of Figures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List of Figures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List of Figures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List of Figures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List of Tables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List of Tables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List of Tables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List of Tables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slide" Target="slide3.xml"/><Relationship Id="rId4" Type="http://schemas.openxmlformats.org/officeDocument/2006/relationships/slide" Target="slide5.xml"/><Relationship Id="rId5" Type="http://schemas.openxmlformats.org/officeDocument/2006/relationships/slide" Target="slide6.xml"/><Relationship Id="rId6" Type="http://schemas.openxmlformats.org/officeDocument/2006/relationships/slide" Target="slide11.xml"/><Relationship Id="rId7" Type="http://schemas.openxmlformats.org/officeDocument/2006/relationships/slide" Target="slide24.xml"/><Relationship Id="rId8" Type="http://schemas.openxmlformats.org/officeDocument/2006/relationships/slide" Target="slide33.xml"/><Relationship Id="rId9" Type="http://schemas.openxmlformats.org/officeDocument/2006/relationships/slide" Target="slide34.xml"/><Relationship Id="rId10" Type="http://schemas.openxmlformats.org/officeDocument/2006/relationships/slide" Target="slide45.xml"/><Relationship Id="rId11" Type="http://schemas.openxmlformats.org/officeDocument/2006/relationships/slide" Target="slide53.xml"/><Relationship Id="rId12" Type="http://schemas.openxmlformats.org/officeDocument/2006/relationships/slide" Target="slide232.xml"/><Relationship Id="rId13" Type="http://schemas.openxmlformats.org/officeDocument/2006/relationships/slide" Target="slide250.xml"/><Relationship Id="rId14" Type="http://schemas.openxmlformats.org/officeDocument/2006/relationships/slide" Target="slide251.xml"/><Relationship Id="rId15" Type="http://schemas.openxmlformats.org/officeDocument/2006/relationships/slide" Target="slide261.xml"/><Relationship Id="rId16" Type="http://schemas.openxmlformats.org/officeDocument/2006/relationships/slide" Target="slide269.xml"/><Relationship Id="rId17" Type="http://schemas.openxmlformats.org/officeDocument/2006/relationships/slide" Target="slide443.xml"/><Relationship Id="rId18" Type="http://schemas.openxmlformats.org/officeDocument/2006/relationships/slide" Target="slide444.xml"/><Relationship Id="rId19" Type="http://schemas.openxmlformats.org/officeDocument/2006/relationships/slide" Target="slide450.xml"/><Relationship Id="rId20" Type="http://schemas.openxmlformats.org/officeDocument/2006/relationships/slide" Target="slide534.xml"/><Relationship Id="rId21" Type="http://schemas.openxmlformats.org/officeDocument/2006/relationships/slide" Target="slide535.xml"/><Relationship Id="rId22" Type="http://schemas.openxmlformats.org/officeDocument/2006/relationships/slide" Target="slide548.xml"/><Relationship Id="rId23" Type="http://schemas.openxmlformats.org/officeDocument/2006/relationships/slide" Target="slide552.xml"/><Relationship Id="rId24" Type="http://schemas.openxmlformats.org/officeDocument/2006/relationships/slide" Target="slide553.xml"/><Relationship Id="rId25" Type="http://schemas.openxmlformats.org/officeDocument/2006/relationships/slide" Target="slide561.xml"/><Relationship Id="rId26" Type="http://schemas.openxmlformats.org/officeDocument/2006/relationships/slide" Target="slide562.xml"/><Relationship Id="rId27" Type="http://schemas.openxmlformats.org/officeDocument/2006/relationships/slide" Target="slide576.xml"/><Relationship Id="rId28" Type="http://schemas.openxmlformats.org/officeDocument/2006/relationships/slide" Target="slide58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.xml"/><Relationship Id="rId4" Type="http://schemas.openxmlformats.org/officeDocument/2006/relationships/image" Target="../media/image2.pn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2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3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4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5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6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7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8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9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0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1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2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3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4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5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6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8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9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20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21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.xml"/><Relationship Id="rId4" Type="http://schemas.openxmlformats.org/officeDocument/2006/relationships/chart" Target="../charts/chart2.xml"/><Relationship Id="rId5" Type="http://schemas.openxmlformats.org/officeDocument/2006/relationships/notesSlide" Target="../notesSlides/notesSlide8.xml"/><Relationship Id="rId6" Type="http://schemas.openxmlformats.org/officeDocument/2006/relationships/image" Target="../media/image2.png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.xml"/><Relationship Id="rId4" Type="http://schemas.openxmlformats.org/officeDocument/2006/relationships/image" Target="../media/image2.png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.xml"/><Relationship Id="rId4" Type="http://schemas.openxmlformats.org/officeDocument/2006/relationships/chart" Target="../charts/chart4.xml"/><Relationship Id="rId5" Type="http://schemas.openxmlformats.org/officeDocument/2006/relationships/notesSlide" Target="../notesSlides/notesSlide10.xml"/><Relationship Id="rId6" Type="http://schemas.openxmlformats.org/officeDocument/2006/relationships/image" Target="../media/image2.png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.xml"/><Relationship Id="rId4" Type="http://schemas.openxmlformats.org/officeDocument/2006/relationships/chart" Target="../charts/chart6.xml"/><Relationship Id="rId5" Type="http://schemas.openxmlformats.org/officeDocument/2006/relationships/notesSlide" Target="../notesSlides/notesSlide11.xml"/><Relationship Id="rId6" Type="http://schemas.openxmlformats.org/officeDocument/2006/relationships/image" Target="../media/image2.png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.xml"/><Relationship Id="rId4" Type="http://schemas.openxmlformats.org/officeDocument/2006/relationships/chart" Target="../charts/chart8.xml"/><Relationship Id="rId5" Type="http://schemas.openxmlformats.org/officeDocument/2006/relationships/notesSlide" Target="../notesSlides/notesSlide12.xml"/><Relationship Id="rId6" Type="http://schemas.openxmlformats.org/officeDocument/2006/relationships/image" Target="../media/image2.png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.xml"/><Relationship Id="rId4" Type="http://schemas.openxmlformats.org/officeDocument/2006/relationships/image" Target="../media/image2.pn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.xml"/><Relationship Id="rId4" Type="http://schemas.openxmlformats.org/officeDocument/2006/relationships/image" Target="../media/image2.png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.xml"/><Relationship Id="rId4" Type="http://schemas.openxmlformats.org/officeDocument/2006/relationships/notesSlide" Target="../notesSlides/notesSlide15.xml"/><Relationship Id="rId5" Type="http://schemas.openxmlformats.org/officeDocument/2006/relationships/image" Target="../media/image2.png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.xml"/><Relationship Id="rId4" Type="http://schemas.openxmlformats.org/officeDocument/2006/relationships/image" Target="../media/image2.pn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.xml"/><Relationship Id="rId4" Type="http://schemas.openxmlformats.org/officeDocument/2006/relationships/notesSlide" Target="../notesSlides/notesSlide17.xml"/><Relationship Id="rId5" Type="http://schemas.openxmlformats.org/officeDocument/2006/relationships/image" Target="../media/image2.png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.xml"/><Relationship Id="rId4" Type="http://schemas.openxmlformats.org/officeDocument/2006/relationships/image" Target="../media/image59.png"/><Relationship Id="rId5" Type="http://schemas.openxmlformats.org/officeDocument/2006/relationships/image" Target="../media/image60.png"/><Relationship Id="rId6" Type="http://schemas.openxmlformats.org/officeDocument/2006/relationships/image" Target="../media/image61.png"/><Relationship Id="rId7" Type="http://schemas.openxmlformats.org/officeDocument/2006/relationships/image" Target="../media/image62.png"/><Relationship Id="rId8" Type="http://schemas.openxmlformats.org/officeDocument/2006/relationships/image" Target="../media/image63.png"/><Relationship Id="rId9" Type="http://schemas.openxmlformats.org/officeDocument/2006/relationships/image" Target="../media/image64.png"/><Relationship Id="rId10" Type="http://schemas.openxmlformats.org/officeDocument/2006/relationships/image" Target="../media/image65.png"/><Relationship Id="rId11" Type="http://schemas.openxmlformats.org/officeDocument/2006/relationships/image" Target="../media/image66.png"/><Relationship Id="rId12" Type="http://schemas.openxmlformats.org/officeDocument/2006/relationships/image" Target="../media/image67.png"/><Relationship Id="rId13" Type="http://schemas.openxmlformats.org/officeDocument/2006/relationships/image" Target="../media/image68.png"/><Relationship Id="rId14" Type="http://schemas.openxmlformats.org/officeDocument/2006/relationships/image" Target="../media/image69.png"/><Relationship Id="rId15" Type="http://schemas.openxmlformats.org/officeDocument/2006/relationships/image" Target="../media/image70.png"/><Relationship Id="rId16" Type="http://schemas.openxmlformats.org/officeDocument/2006/relationships/image" Target="../media/image71.png"/><Relationship Id="rId17" Type="http://schemas.openxmlformats.org/officeDocument/2006/relationships/image" Target="../media/image72.png"/><Relationship Id="rId18" Type="http://schemas.openxmlformats.org/officeDocument/2006/relationships/image" Target="../media/image73.png"/><Relationship Id="rId19" Type="http://schemas.openxmlformats.org/officeDocument/2006/relationships/image" Target="../media/image74.png"/><Relationship Id="rId20" Type="http://schemas.openxmlformats.org/officeDocument/2006/relationships/image" Target="../media/image75.png"/><Relationship Id="rId21" Type="http://schemas.openxmlformats.org/officeDocument/2006/relationships/image" Target="../media/image76.png"/><Relationship Id="rId22" Type="http://schemas.openxmlformats.org/officeDocument/2006/relationships/image" Target="../media/image2.pn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.xml"/><Relationship Id="rId4" Type="http://schemas.openxmlformats.org/officeDocument/2006/relationships/notesSlide" Target="../notesSlides/notesSlide19.xml"/><Relationship Id="rId5" Type="http://schemas.openxmlformats.org/officeDocument/2006/relationships/image" Target="../media/image2.png"/><Relationship Id="rId6" Type="http://schemas.openxmlformats.org/officeDocument/2006/relationships/image" Target="../media/image87.png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.xml"/><Relationship Id="rId4" Type="http://schemas.openxmlformats.org/officeDocument/2006/relationships/notesSlide" Target="../notesSlides/notesSlide20.xml"/><Relationship Id="rId5" Type="http://schemas.openxmlformats.org/officeDocument/2006/relationships/image" Target="../media/image2.png"/><Relationship Id="rId6" Type="http://schemas.openxmlformats.org/officeDocument/2006/relationships/image" Target="../media/image99.png"/><Relationship Id="rId7" Type="http://schemas.openxmlformats.org/officeDocument/2006/relationships/image" Target="../media/image100.png"/><Relationship Id="rId8" Type="http://schemas.openxmlformats.org/officeDocument/2006/relationships/image" Target="../media/image101.png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.xml"/><Relationship Id="rId4" Type="http://schemas.openxmlformats.org/officeDocument/2006/relationships/image" Target="../media/image2.png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.xml"/><Relationship Id="rId4" Type="http://schemas.openxmlformats.org/officeDocument/2006/relationships/image" Target="../media/image2.png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.xml"/><Relationship Id="rId4" Type="http://schemas.openxmlformats.org/officeDocument/2006/relationships/chart" Target="../charts/chart14.xml"/><Relationship Id="rId5" Type="http://schemas.openxmlformats.org/officeDocument/2006/relationships/notesSlide" Target="../notesSlides/notesSlide23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.xml"/><Relationship Id="rId4" Type="http://schemas.openxmlformats.org/officeDocument/2006/relationships/image" Target="../media/image2.png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.xml"/><Relationship Id="rId4" Type="http://schemas.openxmlformats.org/officeDocument/2006/relationships/image" Target="../media/image104.png"/><Relationship Id="rId5" Type="http://schemas.openxmlformats.org/officeDocument/2006/relationships/image" Target="../media/image105.png"/><Relationship Id="rId6" Type="http://schemas.openxmlformats.org/officeDocument/2006/relationships/image" Target="../media/image106.png"/><Relationship Id="rId7" Type="http://schemas.openxmlformats.org/officeDocument/2006/relationships/image" Target="../media/image107.png"/><Relationship Id="rId8" Type="http://schemas.openxmlformats.org/officeDocument/2006/relationships/image" Target="../media/image108.png"/><Relationship Id="rId9" Type="http://schemas.openxmlformats.org/officeDocument/2006/relationships/image" Target="../media/image109.png"/><Relationship Id="rId10" Type="http://schemas.openxmlformats.org/officeDocument/2006/relationships/image" Target="../media/image2.png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.xml"/><Relationship Id="rId4" Type="http://schemas.openxmlformats.org/officeDocument/2006/relationships/chart" Target="../charts/chart16.xml"/><Relationship Id="rId5" Type="http://schemas.openxmlformats.org/officeDocument/2006/relationships/notesSlide" Target="../notesSlides/notesSlide26.xml"/><Relationship Id="rId6" Type="http://schemas.openxmlformats.org/officeDocument/2006/relationships/image" Target="../media/image2.png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7.xml"/><Relationship Id="rId4" Type="http://schemas.openxmlformats.org/officeDocument/2006/relationships/chart" Target="../charts/chart18.xml"/><Relationship Id="rId5" Type="http://schemas.openxmlformats.org/officeDocument/2006/relationships/notesSlide" Target="../notesSlides/notesSlide27.xml"/><Relationship Id="rId6" Type="http://schemas.openxmlformats.org/officeDocument/2006/relationships/image" Target="../media/image2.png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8.xml"/><Relationship Id="rId4" Type="http://schemas.openxmlformats.org/officeDocument/2006/relationships/image" Target="../media/image2.png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.xml"/><Relationship Id="rId4" Type="http://schemas.openxmlformats.org/officeDocument/2006/relationships/image" Target="../media/image2.png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.xml"/><Relationship Id="rId4" Type="http://schemas.openxmlformats.org/officeDocument/2006/relationships/image" Target="../media/image2.png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9.xml"/><Relationship Id="rId4" Type="http://schemas.openxmlformats.org/officeDocument/2006/relationships/notesSlide" Target="../notesSlides/notesSlide31.xml"/><Relationship Id="rId5" Type="http://schemas.openxmlformats.org/officeDocument/2006/relationships/image" Target="../media/image2.png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2.xml"/><Relationship Id="rId4" Type="http://schemas.openxmlformats.org/officeDocument/2006/relationships/image" Target="../media/image2.pn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3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.xml"/><Relationship Id="rId4" Type="http://schemas.openxmlformats.org/officeDocument/2006/relationships/image" Target="../media/image2.png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.xml"/><Relationship Id="rId4" Type="http://schemas.openxmlformats.org/officeDocument/2006/relationships/image" Target="../media/image2.pn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6.xml"/><Relationship Id="rId4" Type="http://schemas.openxmlformats.org/officeDocument/2006/relationships/image" Target="../media/image126.png"/><Relationship Id="rId5" Type="http://schemas.openxmlformats.org/officeDocument/2006/relationships/image" Target="../media/image127.png"/><Relationship Id="rId6" Type="http://schemas.openxmlformats.org/officeDocument/2006/relationships/image" Target="../media/image128.png"/><Relationship Id="rId7" Type="http://schemas.openxmlformats.org/officeDocument/2006/relationships/image" Target="../media/image129.png"/><Relationship Id="rId8" Type="http://schemas.openxmlformats.org/officeDocument/2006/relationships/image" Target="../media/image130.png"/><Relationship Id="rId9" Type="http://schemas.openxmlformats.org/officeDocument/2006/relationships/image" Target="../media/image131.png"/><Relationship Id="rId10" Type="http://schemas.openxmlformats.org/officeDocument/2006/relationships/image" Target="../media/image2.pn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0.xml"/><Relationship Id="rId4" Type="http://schemas.openxmlformats.org/officeDocument/2006/relationships/chart" Target="../charts/chart21.xml"/><Relationship Id="rId5" Type="http://schemas.openxmlformats.org/officeDocument/2006/relationships/notesSlide" Target="../notesSlides/notesSlide37.xml"/><Relationship Id="rId6" Type="http://schemas.openxmlformats.org/officeDocument/2006/relationships/image" Target="../media/image2.png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2.xml"/><Relationship Id="rId4" Type="http://schemas.openxmlformats.org/officeDocument/2006/relationships/chart" Target="../charts/chart23.xml"/><Relationship Id="rId5" Type="http://schemas.openxmlformats.org/officeDocument/2006/relationships/notesSlide" Target="../notesSlides/notesSlide38.xml"/><Relationship Id="rId6" Type="http://schemas.openxmlformats.org/officeDocument/2006/relationships/image" Target="../media/image2.pn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.xml"/><Relationship Id="rId4" Type="http://schemas.openxmlformats.org/officeDocument/2006/relationships/image" Target="../media/image2.png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.xml"/><Relationship Id="rId4" Type="http://schemas.openxmlformats.org/officeDocument/2006/relationships/image" Target="../media/image2.pn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1.xml"/><Relationship Id="rId4" Type="http://schemas.openxmlformats.org/officeDocument/2006/relationships/image" Target="../media/image2.png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4.xml"/><Relationship Id="rId4" Type="http://schemas.openxmlformats.org/officeDocument/2006/relationships/notesSlide" Target="../notesSlides/notesSlide42.xml"/><Relationship Id="rId5" Type="http://schemas.openxmlformats.org/officeDocument/2006/relationships/image" Target="../media/image2.pn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.xml"/><Relationship Id="rId4" Type="http://schemas.openxmlformats.org/officeDocument/2006/relationships/image" Target="../media/image2.png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4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.xml"/><Relationship Id="rId4" Type="http://schemas.openxmlformats.org/officeDocument/2006/relationships/image" Target="../media/image2.png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.xml"/><Relationship Id="rId4" Type="http://schemas.openxmlformats.org/officeDocument/2006/relationships/image" Target="../media/image150.png"/><Relationship Id="rId5" Type="http://schemas.openxmlformats.org/officeDocument/2006/relationships/image" Target="../media/image151.png"/><Relationship Id="rId6" Type="http://schemas.openxmlformats.org/officeDocument/2006/relationships/image" Target="../media/image152.png"/><Relationship Id="rId7" Type="http://schemas.openxmlformats.org/officeDocument/2006/relationships/image" Target="../media/image153.png"/><Relationship Id="rId8" Type="http://schemas.openxmlformats.org/officeDocument/2006/relationships/image" Target="../media/image154.png"/><Relationship Id="rId9" Type="http://schemas.openxmlformats.org/officeDocument/2006/relationships/image" Target="../media/image155.png"/><Relationship Id="rId10" Type="http://schemas.openxmlformats.org/officeDocument/2006/relationships/image" Target="../media/image156.png"/><Relationship Id="rId11" Type="http://schemas.openxmlformats.org/officeDocument/2006/relationships/image" Target="../media/image157.png"/><Relationship Id="rId12" Type="http://schemas.openxmlformats.org/officeDocument/2006/relationships/image" Target="../media/image158.png"/><Relationship Id="rId13" Type="http://schemas.openxmlformats.org/officeDocument/2006/relationships/image" Target="../media/image159.png"/><Relationship Id="rId14" Type="http://schemas.openxmlformats.org/officeDocument/2006/relationships/image" Target="../media/image160.png"/><Relationship Id="rId15" Type="http://schemas.openxmlformats.org/officeDocument/2006/relationships/image" Target="../media/image87.png"/><Relationship Id="rId16" Type="http://schemas.openxmlformats.org/officeDocument/2006/relationships/image" Target="../media/image2.png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8.xml"/><Relationship Id="rId4" Type="http://schemas.openxmlformats.org/officeDocument/2006/relationships/image" Target="../media/image161.png"/><Relationship Id="rId5" Type="http://schemas.openxmlformats.org/officeDocument/2006/relationships/image" Target="../media/image162.png"/><Relationship Id="rId6" Type="http://schemas.openxmlformats.org/officeDocument/2006/relationships/image" Target="../media/image131.png"/><Relationship Id="rId7" Type="http://schemas.openxmlformats.org/officeDocument/2006/relationships/image" Target="../media/image163.png"/><Relationship Id="rId8" Type="http://schemas.openxmlformats.org/officeDocument/2006/relationships/image" Target="../media/image164.png"/><Relationship Id="rId9" Type="http://schemas.openxmlformats.org/officeDocument/2006/relationships/image" Target="../media/image165.png"/><Relationship Id="rId10" Type="http://schemas.openxmlformats.org/officeDocument/2006/relationships/image" Target="../media/image166.png"/><Relationship Id="rId11" Type="http://schemas.openxmlformats.org/officeDocument/2006/relationships/image" Target="../media/image167.png"/><Relationship Id="rId12" Type="http://schemas.openxmlformats.org/officeDocument/2006/relationships/image" Target="../media/image168.png"/><Relationship Id="rId13" Type="http://schemas.openxmlformats.org/officeDocument/2006/relationships/image" Target="../media/image169.png"/><Relationship Id="rId14" Type="http://schemas.openxmlformats.org/officeDocument/2006/relationships/image" Target="../media/image170.png"/><Relationship Id="rId15" Type="http://schemas.openxmlformats.org/officeDocument/2006/relationships/image" Target="../media/image158.png"/><Relationship Id="rId16" Type="http://schemas.openxmlformats.org/officeDocument/2006/relationships/image" Target="../media/image2.png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5.xml"/><Relationship Id="rId4" Type="http://schemas.openxmlformats.org/officeDocument/2006/relationships/chart" Target="../charts/chart26.xml"/><Relationship Id="rId5" Type="http://schemas.openxmlformats.org/officeDocument/2006/relationships/notesSlide" Target="../notesSlides/notesSlide49.xml"/><Relationship Id="rId6" Type="http://schemas.openxmlformats.org/officeDocument/2006/relationships/image" Target="../media/image2.png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7.xml"/><Relationship Id="rId4" Type="http://schemas.openxmlformats.org/officeDocument/2006/relationships/chart" Target="../charts/chart28.xml"/><Relationship Id="rId5" Type="http://schemas.openxmlformats.org/officeDocument/2006/relationships/chart" Target="../charts/chart29.xml"/><Relationship Id="rId6" Type="http://schemas.openxmlformats.org/officeDocument/2006/relationships/chart" Target="../charts/chart30.xml"/><Relationship Id="rId7" Type="http://schemas.openxmlformats.org/officeDocument/2006/relationships/notesSlide" Target="../notesSlides/notesSlide50.xml"/><Relationship Id="rId8" Type="http://schemas.openxmlformats.org/officeDocument/2006/relationships/image" Target="../media/image2.png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1.xml"/><Relationship Id="rId4" Type="http://schemas.openxmlformats.org/officeDocument/2006/relationships/chart" Target="../charts/chart32.xml"/><Relationship Id="rId5" Type="http://schemas.openxmlformats.org/officeDocument/2006/relationships/chart" Target="../charts/chart33.xml"/><Relationship Id="rId6" Type="http://schemas.openxmlformats.org/officeDocument/2006/relationships/chart" Target="../charts/chart34.xml"/><Relationship Id="rId7" Type="http://schemas.openxmlformats.org/officeDocument/2006/relationships/notesSlide" Target="../notesSlides/notesSlide51.xml"/><Relationship Id="rId8" Type="http://schemas.openxmlformats.org/officeDocument/2006/relationships/image" Target="../media/image2.png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2.xml"/><Relationship Id="rId4" Type="http://schemas.openxmlformats.org/officeDocument/2006/relationships/image" Target="../media/image2.png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3.xml"/><Relationship Id="rId4" Type="http://schemas.openxmlformats.org/officeDocument/2006/relationships/image" Target="../media/image2.pn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4.xml"/><Relationship Id="rId4" Type="http://schemas.openxmlformats.org/officeDocument/2006/relationships/image" Target="../media/image2.png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5.xml"/><Relationship Id="rId4" Type="http://schemas.openxmlformats.org/officeDocument/2006/relationships/notesSlide" Target="../notesSlides/notesSlide55.xml"/><Relationship Id="rId5" Type="http://schemas.openxmlformats.org/officeDocument/2006/relationships/image" Target="../media/image2.png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6.xml"/><Relationship Id="rId4" Type="http://schemas.openxmlformats.org/officeDocument/2006/relationships/image" Target="../media/image2.png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7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8.xml"/><Relationship Id="rId4" Type="http://schemas.openxmlformats.org/officeDocument/2006/relationships/image" Target="../media/image2.png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9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0.xml"/><Relationship Id="rId4" Type="http://schemas.openxmlformats.org/officeDocument/2006/relationships/image" Target="../media/image235.png"/><Relationship Id="rId5" Type="http://schemas.openxmlformats.org/officeDocument/2006/relationships/image" Target="../media/image236.png"/><Relationship Id="rId6" Type="http://schemas.openxmlformats.org/officeDocument/2006/relationships/image" Target="../media/image106.png"/><Relationship Id="rId7" Type="http://schemas.openxmlformats.org/officeDocument/2006/relationships/image" Target="../media/image237.png"/><Relationship Id="rId8" Type="http://schemas.openxmlformats.org/officeDocument/2006/relationships/image" Target="../media/image238.png"/><Relationship Id="rId9" Type="http://schemas.openxmlformats.org/officeDocument/2006/relationships/image" Target="../media/image87.png"/><Relationship Id="rId10" Type="http://schemas.openxmlformats.org/officeDocument/2006/relationships/image" Target="../media/image239.png"/><Relationship Id="rId11" Type="http://schemas.openxmlformats.org/officeDocument/2006/relationships/image" Target="../media/image240.png"/><Relationship Id="rId12" Type="http://schemas.openxmlformats.org/officeDocument/2006/relationships/image" Target="../media/image241.png"/><Relationship Id="rId13" Type="http://schemas.openxmlformats.org/officeDocument/2006/relationships/image" Target="../media/image242.png"/><Relationship Id="rId14" Type="http://schemas.openxmlformats.org/officeDocument/2006/relationships/image" Target="../media/image243.png"/><Relationship Id="rId15" Type="http://schemas.openxmlformats.org/officeDocument/2006/relationships/image" Target="../media/image244.png"/><Relationship Id="rId16" Type="http://schemas.openxmlformats.org/officeDocument/2006/relationships/image" Target="../media/image2.png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6.xml"/><Relationship Id="rId4" Type="http://schemas.openxmlformats.org/officeDocument/2006/relationships/chart" Target="../charts/chart37.xml"/><Relationship Id="rId5" Type="http://schemas.openxmlformats.org/officeDocument/2006/relationships/notesSlide" Target="../notesSlides/notesSlide61.xml"/><Relationship Id="rId6" Type="http://schemas.openxmlformats.org/officeDocument/2006/relationships/image" Target="../media/image2.pn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8.xml"/><Relationship Id="rId4" Type="http://schemas.openxmlformats.org/officeDocument/2006/relationships/chart" Target="../charts/chart39.xml"/><Relationship Id="rId5" Type="http://schemas.openxmlformats.org/officeDocument/2006/relationships/chart" Target="../charts/chart40.xml"/><Relationship Id="rId6" Type="http://schemas.openxmlformats.org/officeDocument/2006/relationships/chart" Target="../charts/chart41.xml"/><Relationship Id="rId7" Type="http://schemas.openxmlformats.org/officeDocument/2006/relationships/notesSlide" Target="../notesSlides/notesSlide62.xml"/><Relationship Id="rId8" Type="http://schemas.openxmlformats.org/officeDocument/2006/relationships/image" Target="../media/image2.png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3.xml"/><Relationship Id="rId4" Type="http://schemas.openxmlformats.org/officeDocument/2006/relationships/image" Target="../media/image2.png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4.xml"/><Relationship Id="rId4" Type="http://schemas.openxmlformats.org/officeDocument/2006/relationships/image" Target="../media/image2.png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2.xml"/><Relationship Id="rId4" Type="http://schemas.openxmlformats.org/officeDocument/2006/relationships/notesSlide" Target="../notesSlides/notesSlide65.xml"/><Relationship Id="rId5" Type="http://schemas.openxmlformats.org/officeDocument/2006/relationships/image" Target="../media/image2.png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6.xml"/><Relationship Id="rId4" Type="http://schemas.openxmlformats.org/officeDocument/2006/relationships/image" Target="../media/image2.png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7.xml"/><Relationship Id="rId4" Type="http://schemas.openxmlformats.org/officeDocument/2006/relationships/image" Target="../media/image2.png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8.xml"/><Relationship Id="rId4" Type="http://schemas.openxmlformats.org/officeDocument/2006/relationships/image" Target="../media/image279.png"/><Relationship Id="rId5" Type="http://schemas.openxmlformats.org/officeDocument/2006/relationships/image" Target="../media/image280.png"/><Relationship Id="rId6" Type="http://schemas.openxmlformats.org/officeDocument/2006/relationships/image" Target="../media/image281.png"/><Relationship Id="rId7" Type="http://schemas.openxmlformats.org/officeDocument/2006/relationships/image" Target="../media/image282.png"/><Relationship Id="rId8" Type="http://schemas.openxmlformats.org/officeDocument/2006/relationships/image" Target="../media/image283.png"/><Relationship Id="rId9" Type="http://schemas.openxmlformats.org/officeDocument/2006/relationships/image" Target="../media/image284.png"/><Relationship Id="rId10" Type="http://schemas.openxmlformats.org/officeDocument/2006/relationships/image" Target="../media/image285.png"/><Relationship Id="rId11" Type="http://schemas.openxmlformats.org/officeDocument/2006/relationships/image" Target="../media/image286.png"/><Relationship Id="rId12" Type="http://schemas.openxmlformats.org/officeDocument/2006/relationships/image" Target="../media/image70.png"/><Relationship Id="rId13" Type="http://schemas.openxmlformats.org/officeDocument/2006/relationships/image" Target="../media/image287.png"/><Relationship Id="rId14" Type="http://schemas.openxmlformats.org/officeDocument/2006/relationships/image" Target="../media/image288.png"/><Relationship Id="rId15" Type="http://schemas.openxmlformats.org/officeDocument/2006/relationships/image" Target="../media/image289.png"/><Relationship Id="rId16" Type="http://schemas.openxmlformats.org/officeDocument/2006/relationships/image" Target="../media/image2.png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9.xml"/><Relationship Id="rId4" Type="http://schemas.openxmlformats.org/officeDocument/2006/relationships/image" Target="../media/image290.png"/><Relationship Id="rId5" Type="http://schemas.openxmlformats.org/officeDocument/2006/relationships/image" Target="../media/image291.png"/><Relationship Id="rId6" Type="http://schemas.openxmlformats.org/officeDocument/2006/relationships/image" Target="../media/image292.png"/><Relationship Id="rId7" Type="http://schemas.openxmlformats.org/officeDocument/2006/relationships/image" Target="../media/image293.png"/><Relationship Id="rId8" Type="http://schemas.openxmlformats.org/officeDocument/2006/relationships/image" Target="../media/image294.png"/><Relationship Id="rId9" Type="http://schemas.openxmlformats.org/officeDocument/2006/relationships/image" Target="../media/image128.png"/><Relationship Id="rId10" Type="http://schemas.openxmlformats.org/officeDocument/2006/relationships/image" Target="../media/image295.png"/><Relationship Id="rId11" Type="http://schemas.openxmlformats.org/officeDocument/2006/relationships/image" Target="../media/image296.png"/><Relationship Id="rId12" Type="http://schemas.openxmlformats.org/officeDocument/2006/relationships/image" Target="../media/image297.png"/><Relationship Id="rId13" Type="http://schemas.openxmlformats.org/officeDocument/2006/relationships/image" Target="../media/image2.png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3.xml"/><Relationship Id="rId4" Type="http://schemas.openxmlformats.org/officeDocument/2006/relationships/chart" Target="../charts/chart44.xml"/><Relationship Id="rId5" Type="http://schemas.openxmlformats.org/officeDocument/2006/relationships/notesSlide" Target="../notesSlides/notesSlide70.xml"/><Relationship Id="rId6" Type="http://schemas.openxmlformats.org/officeDocument/2006/relationships/image" Target="../media/image2.png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5.xml"/><Relationship Id="rId4" Type="http://schemas.openxmlformats.org/officeDocument/2006/relationships/chart" Target="../charts/chart46.xml"/><Relationship Id="rId5" Type="http://schemas.openxmlformats.org/officeDocument/2006/relationships/chart" Target="../charts/chart47.xml"/><Relationship Id="rId6" Type="http://schemas.openxmlformats.org/officeDocument/2006/relationships/chart" Target="../charts/chart48.xml"/><Relationship Id="rId7" Type="http://schemas.openxmlformats.org/officeDocument/2006/relationships/notesSlide" Target="../notesSlides/notesSlide71.xml"/><Relationship Id="rId8" Type="http://schemas.openxmlformats.org/officeDocument/2006/relationships/image" Target="../media/image2.png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9.xml"/><Relationship Id="rId4" Type="http://schemas.openxmlformats.org/officeDocument/2006/relationships/chart" Target="../charts/chart50.xml"/><Relationship Id="rId5" Type="http://schemas.openxmlformats.org/officeDocument/2006/relationships/chart" Target="../charts/chart51.xml"/><Relationship Id="rId6" Type="http://schemas.openxmlformats.org/officeDocument/2006/relationships/notesSlide" Target="../notesSlides/notesSlide72.xml"/><Relationship Id="rId7" Type="http://schemas.openxmlformats.org/officeDocument/2006/relationships/image" Target="../media/image2.png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3.xml"/><Relationship Id="rId4" Type="http://schemas.openxmlformats.org/officeDocument/2006/relationships/image" Target="../media/image2.png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4.xml"/><Relationship Id="rId4" Type="http://schemas.openxmlformats.org/officeDocument/2006/relationships/image" Target="../media/image2.png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2.xml"/><Relationship Id="rId4" Type="http://schemas.openxmlformats.org/officeDocument/2006/relationships/notesSlide" Target="../notesSlides/notesSlide75.xml"/><Relationship Id="rId5" Type="http://schemas.openxmlformats.org/officeDocument/2006/relationships/image" Target="../media/image2.png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6.xml"/><Relationship Id="rId4" Type="http://schemas.openxmlformats.org/officeDocument/2006/relationships/image" Target="../media/image2.png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7.xml"/><Relationship Id="rId4" Type="http://schemas.openxmlformats.org/officeDocument/2006/relationships/image" Target="../media/image2.png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8.xml"/><Relationship Id="rId4" Type="http://schemas.openxmlformats.org/officeDocument/2006/relationships/image" Target="../media/image359.png"/><Relationship Id="rId5" Type="http://schemas.openxmlformats.org/officeDocument/2006/relationships/image" Target="../media/image360.png"/><Relationship Id="rId6" Type="http://schemas.openxmlformats.org/officeDocument/2006/relationships/image" Target="../media/image106.png"/><Relationship Id="rId7" Type="http://schemas.openxmlformats.org/officeDocument/2006/relationships/image" Target="../media/image361.png"/><Relationship Id="rId8" Type="http://schemas.openxmlformats.org/officeDocument/2006/relationships/image" Target="../media/image362.png"/><Relationship Id="rId9" Type="http://schemas.openxmlformats.org/officeDocument/2006/relationships/image" Target="../media/image363.png"/><Relationship Id="rId10" Type="http://schemas.openxmlformats.org/officeDocument/2006/relationships/image" Target="../media/image364.png"/><Relationship Id="rId11" Type="http://schemas.openxmlformats.org/officeDocument/2006/relationships/image" Target="../media/image365.png"/><Relationship Id="rId12" Type="http://schemas.openxmlformats.org/officeDocument/2006/relationships/image" Target="../media/image366.png"/><Relationship Id="rId13" Type="http://schemas.openxmlformats.org/officeDocument/2006/relationships/image" Target="../media/image2.png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3.xml"/><Relationship Id="rId4" Type="http://schemas.openxmlformats.org/officeDocument/2006/relationships/chart" Target="../charts/chart54.xml"/><Relationship Id="rId5" Type="http://schemas.openxmlformats.org/officeDocument/2006/relationships/notesSlide" Target="../notesSlides/notesSlide79.xml"/><Relationship Id="rId6" Type="http://schemas.openxmlformats.org/officeDocument/2006/relationships/image" Target="../media/image2.png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5.xml"/><Relationship Id="rId4" Type="http://schemas.openxmlformats.org/officeDocument/2006/relationships/chart" Target="../charts/chart56.xml"/><Relationship Id="rId5" Type="http://schemas.openxmlformats.org/officeDocument/2006/relationships/chart" Target="../charts/chart57.xml"/><Relationship Id="rId6" Type="http://schemas.openxmlformats.org/officeDocument/2006/relationships/notesSlide" Target="../notesSlides/notesSlide80.xml"/><Relationship Id="rId7" Type="http://schemas.openxmlformats.org/officeDocument/2006/relationships/image" Target="../media/image2.png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1.xml"/><Relationship Id="rId4" Type="http://schemas.openxmlformats.org/officeDocument/2006/relationships/image" Target="../media/image2.png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2.xml"/><Relationship Id="rId4" Type="http://schemas.openxmlformats.org/officeDocument/2006/relationships/image" Target="../media/image2.png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3.xml"/><Relationship Id="rId4" Type="http://schemas.openxmlformats.org/officeDocument/2006/relationships/image" Target="../media/image2.png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8.xml"/><Relationship Id="rId4" Type="http://schemas.openxmlformats.org/officeDocument/2006/relationships/notesSlide" Target="../notesSlides/notesSlide84.xml"/><Relationship Id="rId5" Type="http://schemas.openxmlformats.org/officeDocument/2006/relationships/image" Target="../media/image2.png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5.xml"/><Relationship Id="rId4" Type="http://schemas.openxmlformats.org/officeDocument/2006/relationships/image" Target="../media/image2.png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6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7.xml"/><Relationship Id="rId4" Type="http://schemas.openxmlformats.org/officeDocument/2006/relationships/image" Target="../media/image2.png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8.xml"/><Relationship Id="rId4" Type="http://schemas.openxmlformats.org/officeDocument/2006/relationships/image" Target="../media/image2.png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9.xml"/><Relationship Id="rId4" Type="http://schemas.openxmlformats.org/officeDocument/2006/relationships/image" Target="../media/image391.png"/><Relationship Id="rId5" Type="http://schemas.openxmlformats.org/officeDocument/2006/relationships/image" Target="../media/image392.png"/><Relationship Id="rId6" Type="http://schemas.openxmlformats.org/officeDocument/2006/relationships/image" Target="../media/image158.png"/><Relationship Id="rId7" Type="http://schemas.openxmlformats.org/officeDocument/2006/relationships/image" Target="../media/image393.png"/><Relationship Id="rId8" Type="http://schemas.openxmlformats.org/officeDocument/2006/relationships/image" Target="../media/image394.png"/><Relationship Id="rId9" Type="http://schemas.openxmlformats.org/officeDocument/2006/relationships/image" Target="../media/image67.png"/><Relationship Id="rId10" Type="http://schemas.openxmlformats.org/officeDocument/2006/relationships/image" Target="../media/image2.png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9.xml"/><Relationship Id="rId4" Type="http://schemas.openxmlformats.org/officeDocument/2006/relationships/chart" Target="../charts/chart60.xml"/><Relationship Id="rId5" Type="http://schemas.openxmlformats.org/officeDocument/2006/relationships/notesSlide" Target="../notesSlides/notesSlide90.xml"/><Relationship Id="rId6" Type="http://schemas.openxmlformats.org/officeDocument/2006/relationships/image" Target="../media/image2.png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1.xml"/><Relationship Id="rId4" Type="http://schemas.openxmlformats.org/officeDocument/2006/relationships/chart" Target="../charts/chart62.xml"/><Relationship Id="rId5" Type="http://schemas.openxmlformats.org/officeDocument/2006/relationships/notesSlide" Target="../notesSlides/notesSlide91.xml"/><Relationship Id="rId6" Type="http://schemas.openxmlformats.org/officeDocument/2006/relationships/image" Target="../media/image2.png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2.xml"/><Relationship Id="rId4" Type="http://schemas.openxmlformats.org/officeDocument/2006/relationships/image" Target="../media/image2.png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3.xml"/><Relationship Id="rId4" Type="http://schemas.openxmlformats.org/officeDocument/2006/relationships/image" Target="../media/image2.png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3.xml"/><Relationship Id="rId4" Type="http://schemas.openxmlformats.org/officeDocument/2006/relationships/notesSlide" Target="../notesSlides/notesSlide94.xml"/><Relationship Id="rId5" Type="http://schemas.openxmlformats.org/officeDocument/2006/relationships/image" Target="../media/image2.png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5.xml"/><Relationship Id="rId4" Type="http://schemas.openxmlformats.org/officeDocument/2006/relationships/image" Target="../media/image2.png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6.xml"/><Relationship Id="rId4" Type="http://schemas.openxmlformats.org/officeDocument/2006/relationships/image" Target="../media/image2.png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7.xml"/><Relationship Id="rId4" Type="http://schemas.openxmlformats.org/officeDocument/2006/relationships/image" Target="../media/image413.png"/><Relationship Id="rId5" Type="http://schemas.openxmlformats.org/officeDocument/2006/relationships/image" Target="../media/image414.png"/><Relationship Id="rId6" Type="http://schemas.openxmlformats.org/officeDocument/2006/relationships/image" Target="../media/image415.png"/><Relationship Id="rId7" Type="http://schemas.openxmlformats.org/officeDocument/2006/relationships/image" Target="../media/image416.png"/><Relationship Id="rId8" Type="http://schemas.openxmlformats.org/officeDocument/2006/relationships/image" Target="../media/image417.png"/><Relationship Id="rId9" Type="http://schemas.openxmlformats.org/officeDocument/2006/relationships/image" Target="../media/image418.png"/><Relationship Id="rId10" Type="http://schemas.openxmlformats.org/officeDocument/2006/relationships/image" Target="../media/image419.png"/><Relationship Id="rId11" Type="http://schemas.openxmlformats.org/officeDocument/2006/relationships/image" Target="../media/image420.png"/><Relationship Id="rId12" Type="http://schemas.openxmlformats.org/officeDocument/2006/relationships/image" Target="../media/image421.png"/><Relationship Id="rId13" Type="http://schemas.openxmlformats.org/officeDocument/2006/relationships/image" Target="../media/image422.png"/><Relationship Id="rId14" Type="http://schemas.openxmlformats.org/officeDocument/2006/relationships/image" Target="../media/image423.png"/><Relationship Id="rId15" Type="http://schemas.openxmlformats.org/officeDocument/2006/relationships/image" Target="../media/image424.png"/><Relationship Id="rId16" Type="http://schemas.openxmlformats.org/officeDocument/2006/relationships/image" Target="../media/image425.png"/><Relationship Id="rId17" Type="http://schemas.openxmlformats.org/officeDocument/2006/relationships/image" Target="../media/image426.png"/><Relationship Id="rId18" Type="http://schemas.openxmlformats.org/officeDocument/2006/relationships/image" Target="../media/image427.png"/><Relationship Id="rId19" Type="http://schemas.openxmlformats.org/officeDocument/2006/relationships/image" Target="../media/image428.png"/><Relationship Id="rId20" Type="http://schemas.openxmlformats.org/officeDocument/2006/relationships/image" Target="../media/image429.png"/><Relationship Id="rId21" Type="http://schemas.openxmlformats.org/officeDocument/2006/relationships/image" Target="../media/image2.png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4.xml"/><Relationship Id="rId4" Type="http://schemas.openxmlformats.org/officeDocument/2006/relationships/chart" Target="../charts/chart65.xml"/><Relationship Id="rId5" Type="http://schemas.openxmlformats.org/officeDocument/2006/relationships/notesSlide" Target="../notesSlides/notesSlide98.xml"/><Relationship Id="rId6" Type="http://schemas.openxmlformats.org/officeDocument/2006/relationships/image" Target="../media/image2.png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6.xml"/><Relationship Id="rId4" Type="http://schemas.openxmlformats.org/officeDocument/2006/relationships/chart" Target="../charts/chart67.xml"/><Relationship Id="rId5" Type="http://schemas.openxmlformats.org/officeDocument/2006/relationships/chart" Target="../charts/chart68.xml"/><Relationship Id="rId6" Type="http://schemas.openxmlformats.org/officeDocument/2006/relationships/chart" Target="../charts/chart69.xml"/><Relationship Id="rId7" Type="http://schemas.openxmlformats.org/officeDocument/2006/relationships/notesSlide" Target="../notesSlides/notesSlide99.xml"/><Relationship Id="rId8" Type="http://schemas.openxmlformats.org/officeDocument/2006/relationships/image" Target="../media/image2.png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0.xml"/><Relationship Id="rId4" Type="http://schemas.openxmlformats.org/officeDocument/2006/relationships/chart" Target="../charts/chart71.xml"/><Relationship Id="rId5" Type="http://schemas.openxmlformats.org/officeDocument/2006/relationships/notesSlide" Target="../notesSlides/notesSlide100.xml"/><Relationship Id="rId6" Type="http://schemas.openxmlformats.org/officeDocument/2006/relationships/image" Target="../media/image2.pn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1.xml"/><Relationship Id="rId4" Type="http://schemas.openxmlformats.org/officeDocument/2006/relationships/image" Target="../media/image2.png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2.xml"/><Relationship Id="rId4" Type="http://schemas.openxmlformats.org/officeDocument/2006/relationships/image" Target="../media/image2.png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2.xml"/><Relationship Id="rId4" Type="http://schemas.openxmlformats.org/officeDocument/2006/relationships/notesSlide" Target="../notesSlides/notesSlide103.xml"/><Relationship Id="rId5" Type="http://schemas.openxmlformats.org/officeDocument/2006/relationships/image" Target="../media/image2.png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4.xml"/><Relationship Id="rId4" Type="http://schemas.openxmlformats.org/officeDocument/2006/relationships/image" Target="../media/image2.png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5.xml"/><Relationship Id="rId4" Type="http://schemas.openxmlformats.org/officeDocument/2006/relationships/image" Target="../media/image2.png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6.xml"/><Relationship Id="rId4" Type="http://schemas.openxmlformats.org/officeDocument/2006/relationships/image" Target="../media/image481.png"/><Relationship Id="rId5" Type="http://schemas.openxmlformats.org/officeDocument/2006/relationships/image" Target="../media/image482.png"/><Relationship Id="rId6" Type="http://schemas.openxmlformats.org/officeDocument/2006/relationships/image" Target="../media/image101.png"/><Relationship Id="rId7" Type="http://schemas.openxmlformats.org/officeDocument/2006/relationships/image" Target="../media/image483.png"/><Relationship Id="rId8" Type="http://schemas.openxmlformats.org/officeDocument/2006/relationships/image" Target="../media/image484.png"/><Relationship Id="rId9" Type="http://schemas.openxmlformats.org/officeDocument/2006/relationships/image" Target="../media/image485.png"/><Relationship Id="rId10" Type="http://schemas.openxmlformats.org/officeDocument/2006/relationships/image" Target="../media/image486.png"/><Relationship Id="rId11" Type="http://schemas.openxmlformats.org/officeDocument/2006/relationships/image" Target="../media/image487.png"/><Relationship Id="rId12" Type="http://schemas.openxmlformats.org/officeDocument/2006/relationships/image" Target="../media/image155.png"/><Relationship Id="rId13" Type="http://schemas.openxmlformats.org/officeDocument/2006/relationships/image" Target="../media/image488.png"/><Relationship Id="rId14" Type="http://schemas.openxmlformats.org/officeDocument/2006/relationships/image" Target="../media/image489.png"/><Relationship Id="rId15" Type="http://schemas.openxmlformats.org/officeDocument/2006/relationships/image" Target="../media/image168.png"/><Relationship Id="rId16" Type="http://schemas.openxmlformats.org/officeDocument/2006/relationships/image" Target="../media/image2.png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3.xml"/><Relationship Id="rId4" Type="http://schemas.openxmlformats.org/officeDocument/2006/relationships/chart" Target="../charts/chart74.xml"/><Relationship Id="rId5" Type="http://schemas.openxmlformats.org/officeDocument/2006/relationships/notesSlide" Target="../notesSlides/notesSlide107.xml"/><Relationship Id="rId6" Type="http://schemas.openxmlformats.org/officeDocument/2006/relationships/image" Target="../media/image2.png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5.xml"/><Relationship Id="rId4" Type="http://schemas.openxmlformats.org/officeDocument/2006/relationships/chart" Target="../charts/chart76.xml"/><Relationship Id="rId5" Type="http://schemas.openxmlformats.org/officeDocument/2006/relationships/chart" Target="../charts/chart77.xml"/><Relationship Id="rId6" Type="http://schemas.openxmlformats.org/officeDocument/2006/relationships/chart" Target="../charts/chart78.xml"/><Relationship Id="rId7" Type="http://schemas.openxmlformats.org/officeDocument/2006/relationships/notesSlide" Target="../notesSlides/notesSlide108.xml"/><Relationship Id="rId8" Type="http://schemas.openxmlformats.org/officeDocument/2006/relationships/image" Target="../media/image2.png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9.xml"/><Relationship Id="rId4" Type="http://schemas.openxmlformats.org/officeDocument/2006/relationships/image" Target="../media/image2.png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0.xml"/><Relationship Id="rId4" Type="http://schemas.openxmlformats.org/officeDocument/2006/relationships/image" Target="../media/image2.png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9.xml"/><Relationship Id="rId4" Type="http://schemas.openxmlformats.org/officeDocument/2006/relationships/notesSlide" Target="../notesSlides/notesSlide111.xml"/><Relationship Id="rId5" Type="http://schemas.openxmlformats.org/officeDocument/2006/relationships/image" Target="../media/image2.png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2.xml"/><Relationship Id="rId4" Type="http://schemas.openxmlformats.org/officeDocument/2006/relationships/image" Target="../media/image2.png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3.xml"/><Relationship Id="rId4" Type="http://schemas.openxmlformats.org/officeDocument/2006/relationships/image" Target="../media/image2.png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4.xml"/><Relationship Id="rId4" Type="http://schemas.openxmlformats.org/officeDocument/2006/relationships/image" Target="../media/image522.png"/><Relationship Id="rId5" Type="http://schemas.openxmlformats.org/officeDocument/2006/relationships/image" Target="../media/image523.png"/><Relationship Id="rId6" Type="http://schemas.openxmlformats.org/officeDocument/2006/relationships/image" Target="../media/image524.png"/><Relationship Id="rId7" Type="http://schemas.openxmlformats.org/officeDocument/2006/relationships/image" Target="../media/image525.png"/><Relationship Id="rId8" Type="http://schemas.openxmlformats.org/officeDocument/2006/relationships/image" Target="../media/image526.png"/><Relationship Id="rId9" Type="http://schemas.openxmlformats.org/officeDocument/2006/relationships/image" Target="../media/image415.png"/><Relationship Id="rId10" Type="http://schemas.openxmlformats.org/officeDocument/2006/relationships/image" Target="../media/image527.png"/><Relationship Id="rId11" Type="http://schemas.openxmlformats.org/officeDocument/2006/relationships/image" Target="../media/image528.png"/><Relationship Id="rId12" Type="http://schemas.openxmlformats.org/officeDocument/2006/relationships/image" Target="../media/image529.png"/><Relationship Id="rId13" Type="http://schemas.openxmlformats.org/officeDocument/2006/relationships/image" Target="../media/image2.png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0.xml"/><Relationship Id="rId4" Type="http://schemas.openxmlformats.org/officeDocument/2006/relationships/chart" Target="../charts/chart81.xml"/><Relationship Id="rId5" Type="http://schemas.openxmlformats.org/officeDocument/2006/relationships/notesSlide" Target="../notesSlides/notesSlide115.xml"/><Relationship Id="rId6" Type="http://schemas.openxmlformats.org/officeDocument/2006/relationships/image" Target="../media/image2.png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2.xml"/><Relationship Id="rId4" Type="http://schemas.openxmlformats.org/officeDocument/2006/relationships/chart" Target="../charts/chart83.xml"/><Relationship Id="rId5" Type="http://schemas.openxmlformats.org/officeDocument/2006/relationships/chart" Target="../charts/chart84.xml"/><Relationship Id="rId6" Type="http://schemas.openxmlformats.org/officeDocument/2006/relationships/notesSlide" Target="../notesSlides/notesSlide116.xml"/><Relationship Id="rId7" Type="http://schemas.openxmlformats.org/officeDocument/2006/relationships/image" Target="../media/image2.png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7.xml"/><Relationship Id="rId4" Type="http://schemas.openxmlformats.org/officeDocument/2006/relationships/image" Target="../media/image2.png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8.xml"/><Relationship Id="rId4" Type="http://schemas.openxmlformats.org/officeDocument/2006/relationships/image" Target="../media/image2.png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5.xml"/><Relationship Id="rId4" Type="http://schemas.openxmlformats.org/officeDocument/2006/relationships/notesSlide" Target="../notesSlides/notesSlide119.xml"/><Relationship Id="rId5" Type="http://schemas.openxmlformats.org/officeDocument/2006/relationships/image" Target="../media/image2.png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0.xml"/><Relationship Id="rId4" Type="http://schemas.openxmlformats.org/officeDocument/2006/relationships/image" Target="../media/image2.png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1.xml"/><Relationship Id="rId4" Type="http://schemas.openxmlformats.org/officeDocument/2006/relationships/image" Target="../media/image2.png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2.xml"/><Relationship Id="rId4" Type="http://schemas.openxmlformats.org/officeDocument/2006/relationships/image" Target="../media/image557.png"/><Relationship Id="rId5" Type="http://schemas.openxmlformats.org/officeDocument/2006/relationships/image" Target="../media/image558.png"/><Relationship Id="rId6" Type="http://schemas.openxmlformats.org/officeDocument/2006/relationships/image" Target="../media/image559.png"/><Relationship Id="rId7" Type="http://schemas.openxmlformats.org/officeDocument/2006/relationships/image" Target="../media/image560.png"/><Relationship Id="rId8" Type="http://schemas.openxmlformats.org/officeDocument/2006/relationships/image" Target="../media/image561.png"/><Relationship Id="rId9" Type="http://schemas.openxmlformats.org/officeDocument/2006/relationships/image" Target="../media/image562.png"/><Relationship Id="rId10" Type="http://schemas.openxmlformats.org/officeDocument/2006/relationships/image" Target="../media/image563.png"/><Relationship Id="rId11" Type="http://schemas.openxmlformats.org/officeDocument/2006/relationships/image" Target="../media/image564.png"/><Relationship Id="rId12" Type="http://schemas.openxmlformats.org/officeDocument/2006/relationships/image" Target="../media/image415.png"/><Relationship Id="rId13" Type="http://schemas.openxmlformats.org/officeDocument/2006/relationships/image" Target="../media/image565.png"/><Relationship Id="rId14" Type="http://schemas.openxmlformats.org/officeDocument/2006/relationships/image" Target="../media/image566.png"/><Relationship Id="rId15" Type="http://schemas.openxmlformats.org/officeDocument/2006/relationships/image" Target="../media/image67.png"/><Relationship Id="rId16" Type="http://schemas.openxmlformats.org/officeDocument/2006/relationships/image" Target="../media/image2.png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6.xml"/><Relationship Id="rId4" Type="http://schemas.openxmlformats.org/officeDocument/2006/relationships/chart" Target="../charts/chart87.xml"/><Relationship Id="rId5" Type="http://schemas.openxmlformats.org/officeDocument/2006/relationships/notesSlide" Target="../notesSlides/notesSlide123.xml"/><Relationship Id="rId6" Type="http://schemas.openxmlformats.org/officeDocument/2006/relationships/image" Target="../media/image2.png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8.xml"/><Relationship Id="rId4" Type="http://schemas.openxmlformats.org/officeDocument/2006/relationships/chart" Target="../charts/chart89.xml"/><Relationship Id="rId5" Type="http://schemas.openxmlformats.org/officeDocument/2006/relationships/chart" Target="../charts/chart90.xml"/><Relationship Id="rId6" Type="http://schemas.openxmlformats.org/officeDocument/2006/relationships/chart" Target="../charts/chart91.xml"/><Relationship Id="rId7" Type="http://schemas.openxmlformats.org/officeDocument/2006/relationships/notesSlide" Target="../notesSlides/notesSlide124.xml"/><Relationship Id="rId8" Type="http://schemas.openxmlformats.org/officeDocument/2006/relationships/image" Target="../media/image2.png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5.xml"/><Relationship Id="rId4" Type="http://schemas.openxmlformats.org/officeDocument/2006/relationships/image" Target="../media/image2.png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6.xml"/><Relationship Id="rId4" Type="http://schemas.openxmlformats.org/officeDocument/2006/relationships/image" Target="../media/image2.png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2.xml"/><Relationship Id="rId4" Type="http://schemas.openxmlformats.org/officeDocument/2006/relationships/notesSlide" Target="../notesSlides/notesSlide127.xml"/><Relationship Id="rId5" Type="http://schemas.openxmlformats.org/officeDocument/2006/relationships/image" Target="../media/image2.png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8.xml"/><Relationship Id="rId4" Type="http://schemas.openxmlformats.org/officeDocument/2006/relationships/image" Target="../media/image2.png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9.xml"/><Relationship Id="rId4" Type="http://schemas.openxmlformats.org/officeDocument/2006/relationships/image" Target="../media/image2.png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0.xml"/><Relationship Id="rId4" Type="http://schemas.openxmlformats.org/officeDocument/2006/relationships/image" Target="../media/image597.png"/><Relationship Id="rId5" Type="http://schemas.openxmlformats.org/officeDocument/2006/relationships/image" Target="../media/image598.png"/><Relationship Id="rId6" Type="http://schemas.openxmlformats.org/officeDocument/2006/relationships/image" Target="../media/image559.png"/><Relationship Id="rId7" Type="http://schemas.openxmlformats.org/officeDocument/2006/relationships/image" Target="../media/image599.png"/><Relationship Id="rId8" Type="http://schemas.openxmlformats.org/officeDocument/2006/relationships/image" Target="../media/image600.png"/><Relationship Id="rId9" Type="http://schemas.openxmlformats.org/officeDocument/2006/relationships/image" Target="../media/image601.png"/><Relationship Id="rId10" Type="http://schemas.openxmlformats.org/officeDocument/2006/relationships/image" Target="../media/image602.png"/><Relationship Id="rId11" Type="http://schemas.openxmlformats.org/officeDocument/2006/relationships/image" Target="../media/image603.png"/><Relationship Id="rId12" Type="http://schemas.openxmlformats.org/officeDocument/2006/relationships/image" Target="../media/image281.png"/><Relationship Id="rId13" Type="http://schemas.openxmlformats.org/officeDocument/2006/relationships/image" Target="../media/image604.png"/><Relationship Id="rId14" Type="http://schemas.openxmlformats.org/officeDocument/2006/relationships/image" Target="../media/image605.png"/><Relationship Id="rId15" Type="http://schemas.openxmlformats.org/officeDocument/2006/relationships/image" Target="../media/image606.png"/><Relationship Id="rId16" Type="http://schemas.openxmlformats.org/officeDocument/2006/relationships/image" Target="../media/image2.png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3.xml"/><Relationship Id="rId4" Type="http://schemas.openxmlformats.org/officeDocument/2006/relationships/chart" Target="../charts/chart94.xml"/><Relationship Id="rId5" Type="http://schemas.openxmlformats.org/officeDocument/2006/relationships/notesSlide" Target="../notesSlides/notesSlide131.xml"/><Relationship Id="rId6" Type="http://schemas.openxmlformats.org/officeDocument/2006/relationships/image" Target="../media/image2.png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5.xml"/><Relationship Id="rId4" Type="http://schemas.openxmlformats.org/officeDocument/2006/relationships/chart" Target="../charts/chart96.xml"/><Relationship Id="rId5" Type="http://schemas.openxmlformats.org/officeDocument/2006/relationships/chart" Target="../charts/chart97.xml"/><Relationship Id="rId6" Type="http://schemas.openxmlformats.org/officeDocument/2006/relationships/chart" Target="../charts/chart98.xml"/><Relationship Id="rId7" Type="http://schemas.openxmlformats.org/officeDocument/2006/relationships/notesSlide" Target="../notesSlides/notesSlide132.xml"/><Relationship Id="rId8" Type="http://schemas.openxmlformats.org/officeDocument/2006/relationships/image" Target="../media/image2.png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3.xml"/><Relationship Id="rId4" Type="http://schemas.openxmlformats.org/officeDocument/2006/relationships/image" Target="../media/image2.png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4.xml"/><Relationship Id="rId4" Type="http://schemas.openxmlformats.org/officeDocument/2006/relationships/image" Target="../media/image2.png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5.xml"/><Relationship Id="rId4" Type="http://schemas.openxmlformats.org/officeDocument/2006/relationships/image" Target="../media/image2.png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9.xml"/><Relationship Id="rId4" Type="http://schemas.openxmlformats.org/officeDocument/2006/relationships/notesSlide" Target="../notesSlides/notesSlide136.xml"/><Relationship Id="rId5" Type="http://schemas.openxmlformats.org/officeDocument/2006/relationships/image" Target="../media/image2.png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7.xml"/><Relationship Id="rId4" Type="http://schemas.openxmlformats.org/officeDocument/2006/relationships/image" Target="../media/image2.png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8.xml"/><Relationship Id="rId4" Type="http://schemas.openxmlformats.org/officeDocument/2006/relationships/image" Target="../media/image2.png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9.xml"/><Relationship Id="rId4" Type="http://schemas.openxmlformats.org/officeDocument/2006/relationships/image" Target="../media/image2.png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0.xml"/><Relationship Id="rId4" Type="http://schemas.openxmlformats.org/officeDocument/2006/relationships/image" Target="../media/image2.png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1.xml"/><Relationship Id="rId4" Type="http://schemas.openxmlformats.org/officeDocument/2006/relationships/image" Target="../media/image642.png"/><Relationship Id="rId5" Type="http://schemas.openxmlformats.org/officeDocument/2006/relationships/image" Target="../media/image643.png"/><Relationship Id="rId6" Type="http://schemas.openxmlformats.org/officeDocument/2006/relationships/image" Target="../media/image70.png"/><Relationship Id="rId7" Type="http://schemas.openxmlformats.org/officeDocument/2006/relationships/image" Target="../media/image644.png"/><Relationship Id="rId8" Type="http://schemas.openxmlformats.org/officeDocument/2006/relationships/image" Target="../media/image645.png"/><Relationship Id="rId9" Type="http://schemas.openxmlformats.org/officeDocument/2006/relationships/image" Target="../media/image87.png"/><Relationship Id="rId10" Type="http://schemas.openxmlformats.org/officeDocument/2006/relationships/image" Target="../media/image646.png"/><Relationship Id="rId11" Type="http://schemas.openxmlformats.org/officeDocument/2006/relationships/image" Target="../media/image647.png"/><Relationship Id="rId12" Type="http://schemas.openxmlformats.org/officeDocument/2006/relationships/image" Target="../media/image648.png"/><Relationship Id="rId13" Type="http://schemas.openxmlformats.org/officeDocument/2006/relationships/image" Target="../media/image2.png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0.xml"/><Relationship Id="rId4" Type="http://schemas.openxmlformats.org/officeDocument/2006/relationships/chart" Target="../charts/chart101.xml"/><Relationship Id="rId5" Type="http://schemas.openxmlformats.org/officeDocument/2006/relationships/notesSlide" Target="../notesSlides/notesSlide142.xml"/><Relationship Id="rId6" Type="http://schemas.openxmlformats.org/officeDocument/2006/relationships/image" Target="../media/image2.png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2.xml"/><Relationship Id="rId4" Type="http://schemas.openxmlformats.org/officeDocument/2006/relationships/chart" Target="../charts/chart103.xml"/><Relationship Id="rId5" Type="http://schemas.openxmlformats.org/officeDocument/2006/relationships/chart" Target="../charts/chart104.xml"/><Relationship Id="rId6" Type="http://schemas.openxmlformats.org/officeDocument/2006/relationships/notesSlide" Target="../notesSlides/notesSlide143.xml"/><Relationship Id="rId7" Type="http://schemas.openxmlformats.org/officeDocument/2006/relationships/image" Target="../media/image2.png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4.xml"/><Relationship Id="rId4" Type="http://schemas.openxmlformats.org/officeDocument/2006/relationships/image" Target="../media/image2.png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5.xml"/><Relationship Id="rId4" Type="http://schemas.openxmlformats.org/officeDocument/2006/relationships/image" Target="../media/image2.png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5.xml"/><Relationship Id="rId4" Type="http://schemas.openxmlformats.org/officeDocument/2006/relationships/notesSlide" Target="../notesSlides/notesSlide146.xml"/><Relationship Id="rId5" Type="http://schemas.openxmlformats.org/officeDocument/2006/relationships/image" Target="../media/image2.png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7.xml"/><Relationship Id="rId4" Type="http://schemas.openxmlformats.org/officeDocument/2006/relationships/image" Target="../media/image2.png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8.xml"/><Relationship Id="rId4" Type="http://schemas.openxmlformats.org/officeDocument/2006/relationships/image" Target="../media/image2.png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9.xml"/><Relationship Id="rId4" Type="http://schemas.openxmlformats.org/officeDocument/2006/relationships/image" Target="../media/image676.png"/><Relationship Id="rId5" Type="http://schemas.openxmlformats.org/officeDocument/2006/relationships/image" Target="../media/image677.png"/><Relationship Id="rId6" Type="http://schemas.openxmlformats.org/officeDocument/2006/relationships/image" Target="../media/image67.png"/><Relationship Id="rId7" Type="http://schemas.openxmlformats.org/officeDocument/2006/relationships/image" Target="../media/image678.png"/><Relationship Id="rId8" Type="http://schemas.openxmlformats.org/officeDocument/2006/relationships/image" Target="../media/image679.png"/><Relationship Id="rId9" Type="http://schemas.openxmlformats.org/officeDocument/2006/relationships/image" Target="../media/image418.png"/><Relationship Id="rId10" Type="http://schemas.openxmlformats.org/officeDocument/2006/relationships/image" Target="../media/image2.png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6.xml"/><Relationship Id="rId4" Type="http://schemas.openxmlformats.org/officeDocument/2006/relationships/chart" Target="../charts/chart107.xml"/><Relationship Id="rId5" Type="http://schemas.openxmlformats.org/officeDocument/2006/relationships/notesSlide" Target="../notesSlides/notesSlide150.xml"/><Relationship Id="rId6" Type="http://schemas.openxmlformats.org/officeDocument/2006/relationships/image" Target="../media/image2.png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8.xml"/><Relationship Id="rId4" Type="http://schemas.openxmlformats.org/officeDocument/2006/relationships/chart" Target="../charts/chart109.xml"/><Relationship Id="rId5" Type="http://schemas.openxmlformats.org/officeDocument/2006/relationships/notesSlide" Target="../notesSlides/notesSlide151.xml"/><Relationship Id="rId6" Type="http://schemas.openxmlformats.org/officeDocument/2006/relationships/image" Target="../media/image2.png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2.xml"/><Relationship Id="rId4" Type="http://schemas.openxmlformats.org/officeDocument/2006/relationships/image" Target="../media/image2.png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3.xml"/><Relationship Id="rId4" Type="http://schemas.openxmlformats.org/officeDocument/2006/relationships/image" Target="../media/image2.png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0.xml"/><Relationship Id="rId4" Type="http://schemas.openxmlformats.org/officeDocument/2006/relationships/notesSlide" Target="../notesSlides/notesSlide154.xml"/><Relationship Id="rId5" Type="http://schemas.openxmlformats.org/officeDocument/2006/relationships/image" Target="../media/image2.png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5.xml"/><Relationship Id="rId4" Type="http://schemas.openxmlformats.org/officeDocument/2006/relationships/image" Target="../media/image2.png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6.xml"/><Relationship Id="rId4" Type="http://schemas.openxmlformats.org/officeDocument/2006/relationships/image" Target="../media/image2.png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7.xml"/><Relationship Id="rId4" Type="http://schemas.openxmlformats.org/officeDocument/2006/relationships/image" Target="../media/image698.png"/><Relationship Id="rId5" Type="http://schemas.openxmlformats.org/officeDocument/2006/relationships/image" Target="../media/image699.png"/><Relationship Id="rId6" Type="http://schemas.openxmlformats.org/officeDocument/2006/relationships/image" Target="../media/image700.png"/><Relationship Id="rId7" Type="http://schemas.openxmlformats.org/officeDocument/2006/relationships/image" Target="../media/image701.png"/><Relationship Id="rId8" Type="http://schemas.openxmlformats.org/officeDocument/2006/relationships/image" Target="../media/image702.png"/><Relationship Id="rId9" Type="http://schemas.openxmlformats.org/officeDocument/2006/relationships/image" Target="../media/image703.png"/><Relationship Id="rId10" Type="http://schemas.openxmlformats.org/officeDocument/2006/relationships/image" Target="../media/image704.png"/><Relationship Id="rId11" Type="http://schemas.openxmlformats.org/officeDocument/2006/relationships/image" Target="../media/image705.png"/><Relationship Id="rId12" Type="http://schemas.openxmlformats.org/officeDocument/2006/relationships/image" Target="../media/image706.png"/><Relationship Id="rId13" Type="http://schemas.openxmlformats.org/officeDocument/2006/relationships/image" Target="../media/image707.png"/><Relationship Id="rId14" Type="http://schemas.openxmlformats.org/officeDocument/2006/relationships/image" Target="../media/image708.png"/><Relationship Id="rId15" Type="http://schemas.openxmlformats.org/officeDocument/2006/relationships/image" Target="../media/image709.png"/><Relationship Id="rId16" Type="http://schemas.openxmlformats.org/officeDocument/2006/relationships/image" Target="../media/image2.png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1.xml"/><Relationship Id="rId4" Type="http://schemas.openxmlformats.org/officeDocument/2006/relationships/chart" Target="../charts/chart112.xml"/><Relationship Id="rId5" Type="http://schemas.openxmlformats.org/officeDocument/2006/relationships/notesSlide" Target="../notesSlides/notesSlide158.xml"/><Relationship Id="rId6" Type="http://schemas.openxmlformats.org/officeDocument/2006/relationships/image" Target="../media/image2.png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3.xml"/><Relationship Id="rId4" Type="http://schemas.openxmlformats.org/officeDocument/2006/relationships/chart" Target="../charts/chart114.xml"/><Relationship Id="rId5" Type="http://schemas.openxmlformats.org/officeDocument/2006/relationships/chart" Target="../charts/chart115.xml"/><Relationship Id="rId6" Type="http://schemas.openxmlformats.org/officeDocument/2006/relationships/chart" Target="../charts/chart116.xml"/><Relationship Id="rId7" Type="http://schemas.openxmlformats.org/officeDocument/2006/relationships/notesSlide" Target="../notesSlides/notesSlide159.xml"/><Relationship Id="rId8" Type="http://schemas.openxmlformats.org/officeDocument/2006/relationships/image" Target="../media/image2.png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0.xml"/><Relationship Id="rId4" Type="http://schemas.openxmlformats.org/officeDocument/2006/relationships/image" Target="../media/image2.png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1.xml"/><Relationship Id="rId4" Type="http://schemas.openxmlformats.org/officeDocument/2006/relationships/image" Target="../media/image2.png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7.xml"/><Relationship Id="rId4" Type="http://schemas.openxmlformats.org/officeDocument/2006/relationships/notesSlide" Target="../notesSlides/notesSlide162.xml"/><Relationship Id="rId5" Type="http://schemas.openxmlformats.org/officeDocument/2006/relationships/image" Target="../media/image2.png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3.xml"/><Relationship Id="rId4" Type="http://schemas.openxmlformats.org/officeDocument/2006/relationships/image" Target="../media/image2.png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4.xml"/><Relationship Id="rId4" Type="http://schemas.openxmlformats.org/officeDocument/2006/relationships/image" Target="../media/image2.png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5.xml"/><Relationship Id="rId4" Type="http://schemas.openxmlformats.org/officeDocument/2006/relationships/image" Target="../media/image745.png"/><Relationship Id="rId5" Type="http://schemas.openxmlformats.org/officeDocument/2006/relationships/image" Target="../media/image746.png"/><Relationship Id="rId6" Type="http://schemas.openxmlformats.org/officeDocument/2006/relationships/image" Target="../media/image292.png"/><Relationship Id="rId7" Type="http://schemas.openxmlformats.org/officeDocument/2006/relationships/image" Target="../media/image747.png"/><Relationship Id="rId8" Type="http://schemas.openxmlformats.org/officeDocument/2006/relationships/image" Target="../media/image748.png"/><Relationship Id="rId9" Type="http://schemas.openxmlformats.org/officeDocument/2006/relationships/image" Target="../media/image559.png"/><Relationship Id="rId10" Type="http://schemas.openxmlformats.org/officeDocument/2006/relationships/image" Target="../media/image749.png"/><Relationship Id="rId11" Type="http://schemas.openxmlformats.org/officeDocument/2006/relationships/image" Target="../media/image750.png"/><Relationship Id="rId12" Type="http://schemas.openxmlformats.org/officeDocument/2006/relationships/image" Target="../media/image76.png"/><Relationship Id="rId13" Type="http://schemas.openxmlformats.org/officeDocument/2006/relationships/image" Target="../media/image2.png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8.xml"/><Relationship Id="rId4" Type="http://schemas.openxmlformats.org/officeDocument/2006/relationships/chart" Target="../charts/chart119.xml"/><Relationship Id="rId5" Type="http://schemas.openxmlformats.org/officeDocument/2006/relationships/notesSlide" Target="../notesSlides/notesSlide166.xml"/><Relationship Id="rId6" Type="http://schemas.openxmlformats.org/officeDocument/2006/relationships/image" Target="../media/image2.png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0.xml"/><Relationship Id="rId4" Type="http://schemas.openxmlformats.org/officeDocument/2006/relationships/chart" Target="../charts/chart121.xml"/><Relationship Id="rId5" Type="http://schemas.openxmlformats.org/officeDocument/2006/relationships/chart" Target="../charts/chart122.xml"/><Relationship Id="rId6" Type="http://schemas.openxmlformats.org/officeDocument/2006/relationships/notesSlide" Target="../notesSlides/notesSlide167.xml"/><Relationship Id="rId7" Type="http://schemas.openxmlformats.org/officeDocument/2006/relationships/image" Target="../media/image2.png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8.xml"/><Relationship Id="rId4" Type="http://schemas.openxmlformats.org/officeDocument/2006/relationships/image" Target="../media/image2.png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9.xml"/><Relationship Id="rId4" Type="http://schemas.openxmlformats.org/officeDocument/2006/relationships/image" Target="../media/image2.png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0.xml"/><Relationship Id="rId4" Type="http://schemas.openxmlformats.org/officeDocument/2006/relationships/image" Target="../media/image2.png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3.xml"/><Relationship Id="rId4" Type="http://schemas.openxmlformats.org/officeDocument/2006/relationships/notesSlide" Target="../notesSlides/notesSlide171.xml"/><Relationship Id="rId5" Type="http://schemas.openxmlformats.org/officeDocument/2006/relationships/image" Target="../media/image2.png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2.xml"/><Relationship Id="rId4" Type="http://schemas.openxmlformats.org/officeDocument/2006/relationships/image" Target="../media/image2.png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3.xml"/><Relationship Id="rId4" Type="http://schemas.openxmlformats.org/officeDocument/2006/relationships/image" Target="../media/image2.png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4.xml"/><Relationship Id="rId4" Type="http://schemas.openxmlformats.org/officeDocument/2006/relationships/image" Target="../media/image777.png"/><Relationship Id="rId5" Type="http://schemas.openxmlformats.org/officeDocument/2006/relationships/image" Target="../media/image778.png"/><Relationship Id="rId6" Type="http://schemas.openxmlformats.org/officeDocument/2006/relationships/image" Target="../media/image779.png"/><Relationship Id="rId7" Type="http://schemas.openxmlformats.org/officeDocument/2006/relationships/image" Target="../media/image780.png"/><Relationship Id="rId8" Type="http://schemas.openxmlformats.org/officeDocument/2006/relationships/image" Target="../media/image781.png"/><Relationship Id="rId9" Type="http://schemas.openxmlformats.org/officeDocument/2006/relationships/image" Target="../media/image281.png"/><Relationship Id="rId10" Type="http://schemas.openxmlformats.org/officeDocument/2006/relationships/image" Target="../media/image782.png"/><Relationship Id="rId11" Type="http://schemas.openxmlformats.org/officeDocument/2006/relationships/image" Target="../media/image783.png"/><Relationship Id="rId12" Type="http://schemas.openxmlformats.org/officeDocument/2006/relationships/image" Target="../media/image67.png"/><Relationship Id="rId13" Type="http://schemas.openxmlformats.org/officeDocument/2006/relationships/image" Target="../media/image2.png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4.xml"/><Relationship Id="rId4" Type="http://schemas.openxmlformats.org/officeDocument/2006/relationships/chart" Target="../charts/chart125.xml"/><Relationship Id="rId5" Type="http://schemas.openxmlformats.org/officeDocument/2006/relationships/notesSlide" Target="../notesSlides/notesSlide175.xml"/><Relationship Id="rId6" Type="http://schemas.openxmlformats.org/officeDocument/2006/relationships/image" Target="../media/image2.png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6.xml"/><Relationship Id="rId4" Type="http://schemas.openxmlformats.org/officeDocument/2006/relationships/chart" Target="../charts/chart127.xml"/><Relationship Id="rId5" Type="http://schemas.openxmlformats.org/officeDocument/2006/relationships/chart" Target="../charts/chart128.xml"/><Relationship Id="rId6" Type="http://schemas.openxmlformats.org/officeDocument/2006/relationships/notesSlide" Target="../notesSlides/notesSlide176.xml"/><Relationship Id="rId7" Type="http://schemas.openxmlformats.org/officeDocument/2006/relationships/image" Target="../media/image2.png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7.xml"/><Relationship Id="rId4" Type="http://schemas.openxmlformats.org/officeDocument/2006/relationships/image" Target="../media/image2.png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8.xml"/><Relationship Id="rId4" Type="http://schemas.openxmlformats.org/officeDocument/2006/relationships/image" Target="../media/image2.png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9.xml"/><Relationship Id="rId4" Type="http://schemas.openxmlformats.org/officeDocument/2006/relationships/image" Target="../media/image2.png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0.xml"/><Relationship Id="rId4" Type="http://schemas.openxmlformats.org/officeDocument/2006/relationships/image" Target="../media/image2.png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9.xml"/><Relationship Id="rId4" Type="http://schemas.openxmlformats.org/officeDocument/2006/relationships/notesSlide" Target="../notesSlides/notesSlide181.xml"/><Relationship Id="rId5" Type="http://schemas.openxmlformats.org/officeDocument/2006/relationships/image" Target="../media/image2.png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2.xml"/><Relationship Id="rId4" Type="http://schemas.openxmlformats.org/officeDocument/2006/relationships/image" Target="../media/image2.png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3.xml"/><Relationship Id="rId4" Type="http://schemas.openxmlformats.org/officeDocument/2006/relationships/image" Target="../media/image2.png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4.xml"/><Relationship Id="rId4" Type="http://schemas.openxmlformats.org/officeDocument/2006/relationships/image" Target="../media/image2.png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5.xml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6.xml"/><Relationship Id="rId4" Type="http://schemas.openxmlformats.org/officeDocument/2006/relationships/image" Target="../media/image2.png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0.xml"/><Relationship Id="rId4" Type="http://schemas.openxmlformats.org/officeDocument/2006/relationships/notesSlide" Target="../notesSlides/notesSlide187.xml"/><Relationship Id="rId5" Type="http://schemas.openxmlformats.org/officeDocument/2006/relationships/image" Target="../media/image2.png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8.xml"/><Relationship Id="rId4" Type="http://schemas.openxmlformats.org/officeDocument/2006/relationships/image" Target="../media/image2.png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9.xml"/><Relationship Id="rId4" Type="http://schemas.openxmlformats.org/officeDocument/2006/relationships/image" Target="../media/image2.png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1.xml"/><Relationship Id="rId4" Type="http://schemas.openxmlformats.org/officeDocument/2006/relationships/notesSlide" Target="../notesSlides/notesSlide190.xml"/><Relationship Id="rId5" Type="http://schemas.openxmlformats.org/officeDocument/2006/relationships/image" Target="../media/image2.png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1.xml"/><Relationship Id="rId4" Type="http://schemas.openxmlformats.org/officeDocument/2006/relationships/image" Target="../media/image2.png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2.xml"/><Relationship Id="rId4" Type="http://schemas.openxmlformats.org/officeDocument/2006/relationships/image" Target="../media/image2.png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2.xml"/><Relationship Id="rId4" Type="http://schemas.openxmlformats.org/officeDocument/2006/relationships/notesSlide" Target="../notesSlides/notesSlide193.xml"/><Relationship Id="rId5" Type="http://schemas.openxmlformats.org/officeDocument/2006/relationships/image" Target="../media/image2.png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4.xml"/><Relationship Id="rId4" Type="http://schemas.openxmlformats.org/officeDocument/2006/relationships/image" Target="../media/image2.png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5.xml"/><Relationship Id="rId4" Type="http://schemas.openxmlformats.org/officeDocument/2006/relationships/image" Target="../media/image2.png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6.xml"/><Relationship Id="rId4" Type="http://schemas.openxmlformats.org/officeDocument/2006/relationships/image" Target="../media/image2.png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3.xml"/><Relationship Id="rId4" Type="http://schemas.openxmlformats.org/officeDocument/2006/relationships/notesSlide" Target="../notesSlides/notesSlide197.xml"/><Relationship Id="rId5" Type="http://schemas.openxmlformats.org/officeDocument/2006/relationships/image" Target="../media/image2.png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8.xml"/><Relationship Id="rId4" Type="http://schemas.openxmlformats.org/officeDocument/2006/relationships/image" Target="../media/image2.png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9.xml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4.xml"/><Relationship Id="rId4" Type="http://schemas.openxmlformats.org/officeDocument/2006/relationships/chart" Target="../charts/chart135.xml"/><Relationship Id="rId5" Type="http://schemas.openxmlformats.org/officeDocument/2006/relationships/notesSlide" Target="../notesSlides/notesSlide200.xml"/><Relationship Id="rId6" Type="http://schemas.openxmlformats.org/officeDocument/2006/relationships/image" Target="../media/image2.png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1.xml"/><Relationship Id="rId4" Type="http://schemas.openxmlformats.org/officeDocument/2006/relationships/image" Target="../media/image2.png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6.xml"/><Relationship Id="rId4" Type="http://schemas.openxmlformats.org/officeDocument/2006/relationships/chart" Target="../charts/chart137.xml"/><Relationship Id="rId5" Type="http://schemas.openxmlformats.org/officeDocument/2006/relationships/notesSlide" Target="../notesSlides/notesSlide202.xml"/><Relationship Id="rId6" Type="http://schemas.openxmlformats.org/officeDocument/2006/relationships/image" Target="../media/image2.png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8.xml"/><Relationship Id="rId4" Type="http://schemas.openxmlformats.org/officeDocument/2006/relationships/chart" Target="../charts/chart139.xml"/><Relationship Id="rId5" Type="http://schemas.openxmlformats.org/officeDocument/2006/relationships/notesSlide" Target="../notesSlides/notesSlide203.xml"/><Relationship Id="rId6" Type="http://schemas.openxmlformats.org/officeDocument/2006/relationships/image" Target="../media/image2.png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40.xml"/><Relationship Id="rId4" Type="http://schemas.openxmlformats.org/officeDocument/2006/relationships/chart" Target="../charts/chart141.xml"/><Relationship Id="rId5" Type="http://schemas.openxmlformats.org/officeDocument/2006/relationships/notesSlide" Target="../notesSlides/notesSlide204.xml"/><Relationship Id="rId6" Type="http://schemas.openxmlformats.org/officeDocument/2006/relationships/image" Target="../media/image2.png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5.xml"/><Relationship Id="rId4" Type="http://schemas.openxmlformats.org/officeDocument/2006/relationships/image" Target="../media/image2.png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42.xml"/><Relationship Id="rId4" Type="http://schemas.openxmlformats.org/officeDocument/2006/relationships/notesSlide" Target="../notesSlides/notesSlide206.xml"/><Relationship Id="rId5" Type="http://schemas.openxmlformats.org/officeDocument/2006/relationships/image" Target="../media/image2.png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7.xml"/><Relationship Id="rId4" Type="http://schemas.openxmlformats.org/officeDocument/2006/relationships/image" Target="../media/image2.png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43.xml"/><Relationship Id="rId4" Type="http://schemas.openxmlformats.org/officeDocument/2006/relationships/notesSlide" Target="../notesSlides/notesSlide208.xml"/><Relationship Id="rId5" Type="http://schemas.openxmlformats.org/officeDocument/2006/relationships/image" Target="../media/image2.png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9.xml"/><Relationship Id="rId4" Type="http://schemas.openxmlformats.org/officeDocument/2006/relationships/image" Target="../media/image848.png"/><Relationship Id="rId5" Type="http://schemas.openxmlformats.org/officeDocument/2006/relationships/image" Target="../media/image849.png"/><Relationship Id="rId6" Type="http://schemas.openxmlformats.org/officeDocument/2006/relationships/image" Target="../media/image524.png"/><Relationship Id="rId7" Type="http://schemas.openxmlformats.org/officeDocument/2006/relationships/image" Target="../media/image850.png"/><Relationship Id="rId8" Type="http://schemas.openxmlformats.org/officeDocument/2006/relationships/image" Target="../media/image851.png"/><Relationship Id="rId9" Type="http://schemas.openxmlformats.org/officeDocument/2006/relationships/image" Target="../media/image284.png"/><Relationship Id="rId10" Type="http://schemas.openxmlformats.org/officeDocument/2006/relationships/image" Target="../media/image2.png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44.xml"/><Relationship Id="rId4" Type="http://schemas.openxmlformats.org/officeDocument/2006/relationships/notesSlide" Target="../notesSlides/notesSlide210.xml"/><Relationship Id="rId5" Type="http://schemas.openxmlformats.org/officeDocument/2006/relationships/image" Target="../media/image2.png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45.xml"/><Relationship Id="rId4" Type="http://schemas.openxmlformats.org/officeDocument/2006/relationships/notesSlide" Target="../notesSlides/notesSlide211.xml"/><Relationship Id="rId5" Type="http://schemas.openxmlformats.org/officeDocument/2006/relationships/image" Target="../media/image2.png"/></Relationships>
</file>

<file path=ppt/slides/_rels/slide2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2.xml"/><Relationship Id="rId4" Type="http://schemas.openxmlformats.org/officeDocument/2006/relationships/image" Target="../media/image2.png"/></Relationships>
</file>

<file path=ppt/slides/_rels/slide2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3.xml"/><Relationship Id="rId4" Type="http://schemas.openxmlformats.org/officeDocument/2006/relationships/image" Target="../media/image2.png"/></Relationships>
</file>

<file path=ppt/slides/_rels/slide2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46.xml"/><Relationship Id="rId4" Type="http://schemas.openxmlformats.org/officeDocument/2006/relationships/chart" Target="../charts/chart147.xml"/><Relationship Id="rId5" Type="http://schemas.openxmlformats.org/officeDocument/2006/relationships/notesSlide" Target="../notesSlides/notesSlide214.xml"/><Relationship Id="rId6" Type="http://schemas.openxmlformats.org/officeDocument/2006/relationships/image" Target="../media/image2.png"/></Relationships>
</file>

<file path=ppt/slides/_rels/slide2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5.xml"/><Relationship Id="rId4" Type="http://schemas.openxmlformats.org/officeDocument/2006/relationships/image" Target="../media/image2.png"/></Relationships>
</file>

<file path=ppt/slides/_rels/slide2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6.xml"/><Relationship Id="rId4" Type="http://schemas.openxmlformats.org/officeDocument/2006/relationships/image" Target="../media/image924.png"/><Relationship Id="rId5" Type="http://schemas.openxmlformats.org/officeDocument/2006/relationships/image" Target="../media/image925.png"/><Relationship Id="rId6" Type="http://schemas.openxmlformats.org/officeDocument/2006/relationships/image" Target="../media/image128.png"/><Relationship Id="rId7" Type="http://schemas.openxmlformats.org/officeDocument/2006/relationships/image" Target="../media/image926.png"/><Relationship Id="rId8" Type="http://schemas.openxmlformats.org/officeDocument/2006/relationships/image" Target="../media/image927.png"/><Relationship Id="rId9" Type="http://schemas.openxmlformats.org/officeDocument/2006/relationships/image" Target="../media/image928.png"/><Relationship Id="rId10" Type="http://schemas.openxmlformats.org/officeDocument/2006/relationships/image" Target="../media/image2.png"/></Relationships>
</file>

<file path=ppt/slides/_rels/slide2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48.xml"/><Relationship Id="rId4" Type="http://schemas.openxmlformats.org/officeDocument/2006/relationships/chart" Target="../charts/chart149.xml"/><Relationship Id="rId5" Type="http://schemas.openxmlformats.org/officeDocument/2006/relationships/notesSlide" Target="../notesSlides/notesSlide217.xml"/><Relationship Id="rId6" Type="http://schemas.openxmlformats.org/officeDocument/2006/relationships/image" Target="../media/image2.png"/></Relationships>
</file>

<file path=ppt/slides/_rels/slide2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0.xml"/><Relationship Id="rId4" Type="http://schemas.openxmlformats.org/officeDocument/2006/relationships/chart" Target="../charts/chart151.xml"/><Relationship Id="rId5" Type="http://schemas.openxmlformats.org/officeDocument/2006/relationships/notesSlide" Target="../notesSlides/notesSlide218.xml"/><Relationship Id="rId6" Type="http://schemas.openxmlformats.org/officeDocument/2006/relationships/image" Target="../media/image2.png"/></Relationships>
</file>

<file path=ppt/slides/_rels/slide2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9.xml"/><Relationship Id="rId4" Type="http://schemas.openxmlformats.org/officeDocument/2006/relationships/image" Target="../media/image2.png"/></Relationships>
</file>

<file path=ppt/slides/_rels/slide2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0.xml"/><Relationship Id="rId4" Type="http://schemas.openxmlformats.org/officeDocument/2006/relationships/image" Target="../media/image2.png"/></Relationships>
</file>

<file path=ppt/slides/_rels/slide2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1.xml"/><Relationship Id="rId4" Type="http://schemas.openxmlformats.org/officeDocument/2006/relationships/image" Target="../media/image2.png"/></Relationships>
</file>

<file path=ppt/slides/_rels/slide2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2.xml"/><Relationship Id="rId4" Type="http://schemas.openxmlformats.org/officeDocument/2006/relationships/notesSlide" Target="../notesSlides/notesSlide222.xml"/><Relationship Id="rId5" Type="http://schemas.openxmlformats.org/officeDocument/2006/relationships/image" Target="../media/image2.png"/></Relationships>
</file>

<file path=ppt/slides/_rels/slide2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3.xml"/><Relationship Id="rId4" Type="http://schemas.openxmlformats.org/officeDocument/2006/relationships/image" Target="../media/image2.png"/></Relationships>
</file>

<file path=ppt/slides/_rels/slide2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4.xml"/></Relationships>
</file>

<file path=ppt/slides/_rels/slide2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5.xml"/><Relationship Id="rId4" Type="http://schemas.openxmlformats.org/officeDocument/2006/relationships/image" Target="../media/image2.png"/></Relationships>
</file>

<file path=ppt/slides/_rels/slide2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6.xml"/></Relationships>
</file>

<file path=ppt/slides/_rels/slide2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7.xml"/><Relationship Id="rId4" Type="http://schemas.openxmlformats.org/officeDocument/2006/relationships/image" Target="../media/image939.png"/><Relationship Id="rId5" Type="http://schemas.openxmlformats.org/officeDocument/2006/relationships/image" Target="../media/image940.png"/><Relationship Id="rId6" Type="http://schemas.openxmlformats.org/officeDocument/2006/relationships/image" Target="../media/image928.png"/><Relationship Id="rId7" Type="http://schemas.openxmlformats.org/officeDocument/2006/relationships/image" Target="../media/image941.png"/><Relationship Id="rId8" Type="http://schemas.openxmlformats.org/officeDocument/2006/relationships/image" Target="../media/image942.png"/><Relationship Id="rId9" Type="http://schemas.openxmlformats.org/officeDocument/2006/relationships/image" Target="../media/image67.png"/><Relationship Id="rId10" Type="http://schemas.openxmlformats.org/officeDocument/2006/relationships/image" Target="../media/image2.png"/></Relationships>
</file>

<file path=ppt/slides/_rels/slide2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3.xml"/><Relationship Id="rId4" Type="http://schemas.openxmlformats.org/officeDocument/2006/relationships/chart" Target="../charts/chart154.xml"/><Relationship Id="rId5" Type="http://schemas.openxmlformats.org/officeDocument/2006/relationships/notesSlide" Target="../notesSlides/notesSlide228.xml"/><Relationship Id="rId6" Type="http://schemas.openxmlformats.org/officeDocument/2006/relationships/image" Target="../media/image2.png"/></Relationships>
</file>

<file path=ppt/slides/_rels/slide2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5.xml"/><Relationship Id="rId4" Type="http://schemas.openxmlformats.org/officeDocument/2006/relationships/chart" Target="../charts/chart156.xml"/><Relationship Id="rId5" Type="http://schemas.openxmlformats.org/officeDocument/2006/relationships/notesSlide" Target="../notesSlides/notesSlide229.xml"/><Relationship Id="rId6" Type="http://schemas.openxmlformats.org/officeDocument/2006/relationships/image" Target="../media/image2.png"/></Relationships>
</file>

<file path=ppt/slides/_rels/slide2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30.xml"/><Relationship Id="rId4" Type="http://schemas.openxmlformats.org/officeDocument/2006/relationships/image" Target="../media/image2.png"/></Relationships>
</file>

<file path=ppt/slides/_rels/slide2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31.xml"/><Relationship Id="rId4" Type="http://schemas.openxmlformats.org/officeDocument/2006/relationships/image" Target="../media/image2.png"/></Relationships>
</file>

<file path=ppt/slides/_rels/slide2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7.xml"/><Relationship Id="rId4" Type="http://schemas.openxmlformats.org/officeDocument/2006/relationships/notesSlide" Target="../notesSlides/notesSlide232.xml"/><Relationship Id="rId5" Type="http://schemas.openxmlformats.org/officeDocument/2006/relationships/image" Target="../media/image2.png"/></Relationships>
</file>

<file path=ppt/slides/_rels/slide2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33.xml"/><Relationship Id="rId4" Type="http://schemas.openxmlformats.org/officeDocument/2006/relationships/image" Target="../media/image2.png"/></Relationships>
</file>

<file path=ppt/slides/_rels/slide2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34.xml"/></Relationships>
</file>

<file path=ppt/slides/_rels/slide2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35.xml"/><Relationship Id="rId4" Type="http://schemas.openxmlformats.org/officeDocument/2006/relationships/image" Target="../media/image2.png"/></Relationships>
</file>

<file path=ppt/slides/_rels/slide2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36.xml"/></Relationships>
</file>

<file path=ppt/slides/_rels/slide2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37.xml"/><Relationship Id="rId4" Type="http://schemas.openxmlformats.org/officeDocument/2006/relationships/image" Target="../media/image953.png"/><Relationship Id="rId5" Type="http://schemas.openxmlformats.org/officeDocument/2006/relationships/image" Target="../media/image954.png"/><Relationship Id="rId6" Type="http://schemas.openxmlformats.org/officeDocument/2006/relationships/image" Target="../media/image131.png"/><Relationship Id="rId7" Type="http://schemas.openxmlformats.org/officeDocument/2006/relationships/image" Target="../media/image955.png"/><Relationship Id="rId8" Type="http://schemas.openxmlformats.org/officeDocument/2006/relationships/image" Target="../media/image956.png"/><Relationship Id="rId9" Type="http://schemas.openxmlformats.org/officeDocument/2006/relationships/image" Target="../media/image648.png"/><Relationship Id="rId10" Type="http://schemas.openxmlformats.org/officeDocument/2006/relationships/image" Target="../media/image957.png"/><Relationship Id="rId11" Type="http://schemas.openxmlformats.org/officeDocument/2006/relationships/image" Target="../media/image958.png"/><Relationship Id="rId12" Type="http://schemas.openxmlformats.org/officeDocument/2006/relationships/image" Target="../media/image61.png"/><Relationship Id="rId13" Type="http://schemas.openxmlformats.org/officeDocument/2006/relationships/image" Target="../media/image959.png"/><Relationship Id="rId14" Type="http://schemas.openxmlformats.org/officeDocument/2006/relationships/image" Target="../media/image960.png"/><Relationship Id="rId15" Type="http://schemas.openxmlformats.org/officeDocument/2006/relationships/image" Target="../media/image961.png"/><Relationship Id="rId16" Type="http://schemas.openxmlformats.org/officeDocument/2006/relationships/image" Target="../media/image2.png"/></Relationships>
</file>

<file path=ppt/slides/_rels/slide2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38.xml"/><Relationship Id="rId4" Type="http://schemas.openxmlformats.org/officeDocument/2006/relationships/image" Target="../media/image962.png"/><Relationship Id="rId5" Type="http://schemas.openxmlformats.org/officeDocument/2006/relationships/image" Target="../media/image963.png"/><Relationship Id="rId6" Type="http://schemas.openxmlformats.org/officeDocument/2006/relationships/image" Target="../media/image292.png"/><Relationship Id="rId7" Type="http://schemas.openxmlformats.org/officeDocument/2006/relationships/image" Target="../media/image964.png"/><Relationship Id="rId8" Type="http://schemas.openxmlformats.org/officeDocument/2006/relationships/image" Target="../media/image965.png"/><Relationship Id="rId9" Type="http://schemas.openxmlformats.org/officeDocument/2006/relationships/image" Target="../media/image966.png"/><Relationship Id="rId10" Type="http://schemas.openxmlformats.org/officeDocument/2006/relationships/image" Target="../media/image967.png"/><Relationship Id="rId11" Type="http://schemas.openxmlformats.org/officeDocument/2006/relationships/image" Target="../media/image968.png"/><Relationship Id="rId12" Type="http://schemas.openxmlformats.org/officeDocument/2006/relationships/image" Target="../media/image73.png"/><Relationship Id="rId13" Type="http://schemas.openxmlformats.org/officeDocument/2006/relationships/image" Target="../media/image969.png"/><Relationship Id="rId14" Type="http://schemas.openxmlformats.org/officeDocument/2006/relationships/image" Target="../media/image970.png"/><Relationship Id="rId15" Type="http://schemas.openxmlformats.org/officeDocument/2006/relationships/image" Target="../media/image87.png"/><Relationship Id="rId16" Type="http://schemas.openxmlformats.org/officeDocument/2006/relationships/image" Target="../media/image2.png"/></Relationships>
</file>

<file path=ppt/slides/_rels/slide2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8.xml"/><Relationship Id="rId4" Type="http://schemas.openxmlformats.org/officeDocument/2006/relationships/chart" Target="../charts/chart159.xml"/><Relationship Id="rId5" Type="http://schemas.openxmlformats.org/officeDocument/2006/relationships/notesSlide" Target="../notesSlides/notesSlide239.xml"/><Relationship Id="rId6" Type="http://schemas.openxmlformats.org/officeDocument/2006/relationships/image" Target="../media/image2.png"/></Relationships>
</file>

<file path=ppt/slides/_rels/slide2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60.xml"/><Relationship Id="rId4" Type="http://schemas.openxmlformats.org/officeDocument/2006/relationships/chart" Target="../charts/chart161.xml"/><Relationship Id="rId5" Type="http://schemas.openxmlformats.org/officeDocument/2006/relationships/chart" Target="../charts/chart162.xml"/><Relationship Id="rId6" Type="http://schemas.openxmlformats.org/officeDocument/2006/relationships/chart" Target="../charts/chart163.xml"/><Relationship Id="rId7" Type="http://schemas.openxmlformats.org/officeDocument/2006/relationships/notesSlide" Target="../notesSlides/notesSlide240.xml"/><Relationship Id="rId8" Type="http://schemas.openxmlformats.org/officeDocument/2006/relationships/image" Target="../media/image2.png"/></Relationships>
</file>

<file path=ppt/slides/_rels/slide2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64.xml"/><Relationship Id="rId4" Type="http://schemas.openxmlformats.org/officeDocument/2006/relationships/chart" Target="../charts/chart165.xml"/><Relationship Id="rId5" Type="http://schemas.openxmlformats.org/officeDocument/2006/relationships/chart" Target="../charts/chart166.xml"/><Relationship Id="rId6" Type="http://schemas.openxmlformats.org/officeDocument/2006/relationships/chart" Target="../charts/chart167.xml"/><Relationship Id="rId7" Type="http://schemas.openxmlformats.org/officeDocument/2006/relationships/notesSlide" Target="../notesSlides/notesSlide241.xml"/><Relationship Id="rId8" Type="http://schemas.openxmlformats.org/officeDocument/2006/relationships/image" Target="../media/image2.png"/></Relationships>
</file>

<file path=ppt/slides/_rels/slide2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2.xml"/><Relationship Id="rId4" Type="http://schemas.openxmlformats.org/officeDocument/2006/relationships/image" Target="../media/image2.png"/></Relationships>
</file>

<file path=ppt/slides/_rels/slide3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3.xml"/><Relationship Id="rId4" Type="http://schemas.openxmlformats.org/officeDocument/2006/relationships/image" Target="../media/image2.png"/></Relationships>
</file>

<file path=ppt/slides/_rels/slide3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68.xml"/><Relationship Id="rId4" Type="http://schemas.openxmlformats.org/officeDocument/2006/relationships/notesSlide" Target="../notesSlides/notesSlide244.xml"/><Relationship Id="rId5" Type="http://schemas.openxmlformats.org/officeDocument/2006/relationships/image" Target="../media/image2.png"/></Relationships>
</file>

<file path=ppt/slides/_rels/slide3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5.xml"/><Relationship Id="rId4" Type="http://schemas.openxmlformats.org/officeDocument/2006/relationships/image" Target="../media/image2.png"/></Relationships>
</file>

<file path=ppt/slides/_rels/slide3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6.xml"/></Relationships>
</file>

<file path=ppt/slides/_rels/slide3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7.xml"/><Relationship Id="rId4" Type="http://schemas.openxmlformats.org/officeDocument/2006/relationships/image" Target="../media/image2.png"/></Relationships>
</file>

<file path=ppt/slides/_rels/slide3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8.xml"/></Relationships>
</file>

<file path=ppt/slides/_rels/slide3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9.xml"/><Relationship Id="rId4" Type="http://schemas.openxmlformats.org/officeDocument/2006/relationships/image" Target="../media/image1009.png"/><Relationship Id="rId5" Type="http://schemas.openxmlformats.org/officeDocument/2006/relationships/image" Target="../media/image1010.png"/><Relationship Id="rId6" Type="http://schemas.openxmlformats.org/officeDocument/2006/relationships/image" Target="../media/image109.png"/><Relationship Id="rId7" Type="http://schemas.openxmlformats.org/officeDocument/2006/relationships/image" Target="../media/image1011.png"/><Relationship Id="rId8" Type="http://schemas.openxmlformats.org/officeDocument/2006/relationships/image" Target="../media/image1012.png"/><Relationship Id="rId9" Type="http://schemas.openxmlformats.org/officeDocument/2006/relationships/image" Target="../media/image961.png"/><Relationship Id="rId10" Type="http://schemas.openxmlformats.org/officeDocument/2006/relationships/image" Target="../media/image1013.png"/><Relationship Id="rId11" Type="http://schemas.openxmlformats.org/officeDocument/2006/relationships/image" Target="../media/image1014.png"/><Relationship Id="rId12" Type="http://schemas.openxmlformats.org/officeDocument/2006/relationships/image" Target="../media/image418.png"/><Relationship Id="rId13" Type="http://schemas.openxmlformats.org/officeDocument/2006/relationships/image" Target="../media/image1015.png"/><Relationship Id="rId14" Type="http://schemas.openxmlformats.org/officeDocument/2006/relationships/image" Target="../media/image1016.png"/><Relationship Id="rId15" Type="http://schemas.openxmlformats.org/officeDocument/2006/relationships/image" Target="../media/image1017.png"/><Relationship Id="rId16" Type="http://schemas.openxmlformats.org/officeDocument/2006/relationships/image" Target="../media/image2.png"/></Relationships>
</file>

<file path=ppt/slides/_rels/slide3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69.xml"/><Relationship Id="rId4" Type="http://schemas.openxmlformats.org/officeDocument/2006/relationships/chart" Target="../charts/chart170.xml"/><Relationship Id="rId5" Type="http://schemas.openxmlformats.org/officeDocument/2006/relationships/notesSlide" Target="../notesSlides/notesSlide250.xml"/><Relationship Id="rId6" Type="http://schemas.openxmlformats.org/officeDocument/2006/relationships/image" Target="../media/image2.png"/></Relationships>
</file>

<file path=ppt/slides/_rels/slide3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71.xml"/><Relationship Id="rId4" Type="http://schemas.openxmlformats.org/officeDocument/2006/relationships/chart" Target="../charts/chart172.xml"/><Relationship Id="rId5" Type="http://schemas.openxmlformats.org/officeDocument/2006/relationships/chart" Target="../charts/chart173.xml"/><Relationship Id="rId6" Type="http://schemas.openxmlformats.org/officeDocument/2006/relationships/chart" Target="../charts/chart174.xml"/><Relationship Id="rId7" Type="http://schemas.openxmlformats.org/officeDocument/2006/relationships/notesSlide" Target="../notesSlides/notesSlide251.xml"/><Relationship Id="rId8" Type="http://schemas.openxmlformats.org/officeDocument/2006/relationships/image" Target="../media/image2.png"/></Relationships>
</file>

<file path=ppt/slides/_rels/slide3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2.xml"/><Relationship Id="rId4" Type="http://schemas.openxmlformats.org/officeDocument/2006/relationships/image" Target="../media/image2.png"/></Relationships>
</file>

<file path=ppt/slides/_rels/slide3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3.xml"/><Relationship Id="rId4" Type="http://schemas.openxmlformats.org/officeDocument/2006/relationships/image" Target="../media/image2.png"/></Relationships>
</file>

<file path=ppt/slides/_rels/slide3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75.xml"/><Relationship Id="rId4" Type="http://schemas.openxmlformats.org/officeDocument/2006/relationships/notesSlide" Target="../notesSlides/notesSlide254.xml"/><Relationship Id="rId5" Type="http://schemas.openxmlformats.org/officeDocument/2006/relationships/image" Target="../media/image2.png"/></Relationships>
</file>

<file path=ppt/slides/_rels/slide3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5.xml"/><Relationship Id="rId4" Type="http://schemas.openxmlformats.org/officeDocument/2006/relationships/image" Target="../media/image2.png"/></Relationships>
</file>

<file path=ppt/slides/_rels/slide3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6.xml"/><Relationship Id="rId4" Type="http://schemas.openxmlformats.org/officeDocument/2006/relationships/image" Target="../media/image2.png"/></Relationships>
</file>

<file path=ppt/slides/_rels/slide3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7.xml"/><Relationship Id="rId4" Type="http://schemas.openxmlformats.org/officeDocument/2006/relationships/image" Target="../media/image1038.png"/><Relationship Id="rId5" Type="http://schemas.openxmlformats.org/officeDocument/2006/relationships/image" Target="../media/image1039.png"/><Relationship Id="rId6" Type="http://schemas.openxmlformats.org/officeDocument/2006/relationships/image" Target="../media/image418.png"/><Relationship Id="rId7" Type="http://schemas.openxmlformats.org/officeDocument/2006/relationships/image" Target="../media/image1040.png"/><Relationship Id="rId8" Type="http://schemas.openxmlformats.org/officeDocument/2006/relationships/image" Target="../media/image1041.png"/><Relationship Id="rId9" Type="http://schemas.openxmlformats.org/officeDocument/2006/relationships/image" Target="../media/image152.png"/><Relationship Id="rId10" Type="http://schemas.openxmlformats.org/officeDocument/2006/relationships/image" Target="../media/image1042.png"/><Relationship Id="rId11" Type="http://schemas.openxmlformats.org/officeDocument/2006/relationships/image" Target="../media/image1043.png"/><Relationship Id="rId12" Type="http://schemas.openxmlformats.org/officeDocument/2006/relationships/image" Target="../media/image101.png"/><Relationship Id="rId13" Type="http://schemas.openxmlformats.org/officeDocument/2006/relationships/image" Target="../media/image1044.png"/><Relationship Id="rId14" Type="http://schemas.openxmlformats.org/officeDocument/2006/relationships/image" Target="../media/image1045.png"/><Relationship Id="rId15" Type="http://schemas.openxmlformats.org/officeDocument/2006/relationships/image" Target="../media/image1046.png"/><Relationship Id="rId16" Type="http://schemas.openxmlformats.org/officeDocument/2006/relationships/image" Target="../media/image2.png"/></Relationships>
</file>

<file path=ppt/slides/_rels/slide3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8.xml"/><Relationship Id="rId4" Type="http://schemas.openxmlformats.org/officeDocument/2006/relationships/image" Target="../media/image1047.png"/><Relationship Id="rId5" Type="http://schemas.openxmlformats.org/officeDocument/2006/relationships/image" Target="../media/image1048.png"/><Relationship Id="rId6" Type="http://schemas.openxmlformats.org/officeDocument/2006/relationships/image" Target="../media/image601.png"/><Relationship Id="rId7" Type="http://schemas.openxmlformats.org/officeDocument/2006/relationships/image" Target="../media/image1049.png"/><Relationship Id="rId8" Type="http://schemas.openxmlformats.org/officeDocument/2006/relationships/image" Target="../media/image1050.png"/><Relationship Id="rId9" Type="http://schemas.openxmlformats.org/officeDocument/2006/relationships/image" Target="../media/image1051.png"/><Relationship Id="rId10" Type="http://schemas.openxmlformats.org/officeDocument/2006/relationships/image" Target="../media/image1052.png"/><Relationship Id="rId11" Type="http://schemas.openxmlformats.org/officeDocument/2006/relationships/image" Target="../media/image1053.png"/><Relationship Id="rId12" Type="http://schemas.openxmlformats.org/officeDocument/2006/relationships/image" Target="../media/image1054.png"/><Relationship Id="rId13" Type="http://schemas.openxmlformats.org/officeDocument/2006/relationships/image" Target="../media/image2.png"/></Relationships>
</file>

<file path=ppt/slides/_rels/slide3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76.xml"/><Relationship Id="rId4" Type="http://schemas.openxmlformats.org/officeDocument/2006/relationships/chart" Target="../charts/chart177.xml"/><Relationship Id="rId5" Type="http://schemas.openxmlformats.org/officeDocument/2006/relationships/notesSlide" Target="../notesSlides/notesSlide259.xml"/><Relationship Id="rId6" Type="http://schemas.openxmlformats.org/officeDocument/2006/relationships/image" Target="../media/image2.png"/></Relationships>
</file>

<file path=ppt/slides/_rels/slide3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78.xml"/><Relationship Id="rId4" Type="http://schemas.openxmlformats.org/officeDocument/2006/relationships/chart" Target="../charts/chart179.xml"/><Relationship Id="rId5" Type="http://schemas.openxmlformats.org/officeDocument/2006/relationships/chart" Target="../charts/chart180.xml"/><Relationship Id="rId6" Type="http://schemas.openxmlformats.org/officeDocument/2006/relationships/chart" Target="../charts/chart181.xml"/><Relationship Id="rId7" Type="http://schemas.openxmlformats.org/officeDocument/2006/relationships/notesSlide" Target="../notesSlides/notesSlide260.xml"/><Relationship Id="rId8" Type="http://schemas.openxmlformats.org/officeDocument/2006/relationships/image" Target="../media/image2.png"/></Relationships>
</file>

<file path=ppt/slides/_rels/slide3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82.xml"/><Relationship Id="rId4" Type="http://schemas.openxmlformats.org/officeDocument/2006/relationships/chart" Target="../charts/chart183.xml"/><Relationship Id="rId5" Type="http://schemas.openxmlformats.org/officeDocument/2006/relationships/chart" Target="../charts/chart184.xml"/><Relationship Id="rId6" Type="http://schemas.openxmlformats.org/officeDocument/2006/relationships/notesSlide" Target="../notesSlides/notesSlide261.xml"/><Relationship Id="rId7" Type="http://schemas.openxmlformats.org/officeDocument/2006/relationships/image" Target="../media/image2.png"/></Relationships>
</file>

<file path=ppt/slides/_rels/slide3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62.xml"/><Relationship Id="rId4" Type="http://schemas.openxmlformats.org/officeDocument/2006/relationships/image" Target="../media/image2.png"/></Relationships>
</file>

<file path=ppt/slides/_rels/slide3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63.xml"/><Relationship Id="rId4" Type="http://schemas.openxmlformats.org/officeDocument/2006/relationships/image" Target="../media/image2.png"/></Relationships>
</file>

<file path=ppt/slides/_rels/slide3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85.xml"/><Relationship Id="rId4" Type="http://schemas.openxmlformats.org/officeDocument/2006/relationships/notesSlide" Target="../notesSlides/notesSlide264.xml"/><Relationship Id="rId5" Type="http://schemas.openxmlformats.org/officeDocument/2006/relationships/image" Target="../media/image2.png"/></Relationships>
</file>

<file path=ppt/slides/_rels/slide3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65.xml"/><Relationship Id="rId4" Type="http://schemas.openxmlformats.org/officeDocument/2006/relationships/image" Target="../media/image2.png"/></Relationships>
</file>

<file path=ppt/slides/_rels/slide3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66.xml"/><Relationship Id="rId4" Type="http://schemas.openxmlformats.org/officeDocument/2006/relationships/image" Target="../media/image2.png"/></Relationships>
</file>

<file path=ppt/slides/_rels/slide3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67.xml"/><Relationship Id="rId4" Type="http://schemas.openxmlformats.org/officeDocument/2006/relationships/image" Target="../media/image1089.png"/><Relationship Id="rId5" Type="http://schemas.openxmlformats.org/officeDocument/2006/relationships/image" Target="../media/image1090.png"/><Relationship Id="rId6" Type="http://schemas.openxmlformats.org/officeDocument/2006/relationships/image" Target="../media/image128.png"/><Relationship Id="rId7" Type="http://schemas.openxmlformats.org/officeDocument/2006/relationships/image" Target="../media/image1091.png"/><Relationship Id="rId8" Type="http://schemas.openxmlformats.org/officeDocument/2006/relationships/image" Target="../media/image1092.png"/><Relationship Id="rId9" Type="http://schemas.openxmlformats.org/officeDocument/2006/relationships/image" Target="../media/image421.png"/><Relationship Id="rId10" Type="http://schemas.openxmlformats.org/officeDocument/2006/relationships/image" Target="../media/image1093.png"/><Relationship Id="rId11" Type="http://schemas.openxmlformats.org/officeDocument/2006/relationships/image" Target="../media/image1094.png"/><Relationship Id="rId12" Type="http://schemas.openxmlformats.org/officeDocument/2006/relationships/image" Target="../media/image706.png"/><Relationship Id="rId13" Type="http://schemas.openxmlformats.org/officeDocument/2006/relationships/image" Target="../media/image2.png"/></Relationships>
</file>

<file path=ppt/slides/_rels/slide3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86.xml"/><Relationship Id="rId4" Type="http://schemas.openxmlformats.org/officeDocument/2006/relationships/chart" Target="../charts/chart187.xml"/><Relationship Id="rId5" Type="http://schemas.openxmlformats.org/officeDocument/2006/relationships/notesSlide" Target="../notesSlides/notesSlide268.xml"/><Relationship Id="rId6" Type="http://schemas.openxmlformats.org/officeDocument/2006/relationships/image" Target="../media/image2.png"/></Relationships>
</file>

<file path=ppt/slides/_rels/slide3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88.xml"/><Relationship Id="rId4" Type="http://schemas.openxmlformats.org/officeDocument/2006/relationships/chart" Target="../charts/chart189.xml"/><Relationship Id="rId5" Type="http://schemas.openxmlformats.org/officeDocument/2006/relationships/chart" Target="../charts/chart190.xml"/><Relationship Id="rId6" Type="http://schemas.openxmlformats.org/officeDocument/2006/relationships/notesSlide" Target="../notesSlides/notesSlide269.xml"/><Relationship Id="rId7" Type="http://schemas.openxmlformats.org/officeDocument/2006/relationships/image" Target="../media/image2.png"/></Relationships>
</file>

<file path=ppt/slides/_rels/slide3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0.xml"/><Relationship Id="rId4" Type="http://schemas.openxmlformats.org/officeDocument/2006/relationships/image" Target="../media/image2.png"/></Relationships>
</file>

<file path=ppt/slides/_rels/slide3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1.xml"/><Relationship Id="rId4" Type="http://schemas.openxmlformats.org/officeDocument/2006/relationships/image" Target="../media/image2.png"/></Relationships>
</file>

<file path=ppt/slides/_rels/slide3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91.xml"/><Relationship Id="rId4" Type="http://schemas.openxmlformats.org/officeDocument/2006/relationships/notesSlide" Target="../notesSlides/notesSlide272.xml"/><Relationship Id="rId5" Type="http://schemas.openxmlformats.org/officeDocument/2006/relationships/image" Target="../media/image2.png"/></Relationships>
</file>

<file path=ppt/slides/_rels/slide3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3.xml"/><Relationship Id="rId4" Type="http://schemas.openxmlformats.org/officeDocument/2006/relationships/image" Target="../media/image2.png"/></Relationships>
</file>

<file path=ppt/slides/_rels/slide3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4.xml"/></Relationships>
</file>

<file path=ppt/slides/_rels/slide3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5.xml"/><Relationship Id="rId4" Type="http://schemas.openxmlformats.org/officeDocument/2006/relationships/image" Target="../media/image2.png"/></Relationships>
</file>

<file path=ppt/slides/_rels/slide3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6.xml"/><Relationship Id="rId4" Type="http://schemas.openxmlformats.org/officeDocument/2006/relationships/image" Target="../media/image2.png"/></Relationships>
</file>

<file path=ppt/slides/_rels/slide3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7.xml"/><Relationship Id="rId4" Type="http://schemas.openxmlformats.org/officeDocument/2006/relationships/image" Target="../media/image1110.png"/><Relationship Id="rId5" Type="http://schemas.openxmlformats.org/officeDocument/2006/relationships/image" Target="../media/image1111.png"/><Relationship Id="rId6" Type="http://schemas.openxmlformats.org/officeDocument/2006/relationships/image" Target="../media/image61.png"/><Relationship Id="rId7" Type="http://schemas.openxmlformats.org/officeDocument/2006/relationships/image" Target="../media/image1112.png"/><Relationship Id="rId8" Type="http://schemas.openxmlformats.org/officeDocument/2006/relationships/image" Target="../media/image1113.png"/><Relationship Id="rId9" Type="http://schemas.openxmlformats.org/officeDocument/2006/relationships/image" Target="../media/image1114.png"/><Relationship Id="rId10" Type="http://schemas.openxmlformats.org/officeDocument/2006/relationships/image" Target="../media/image2.png"/></Relationships>
</file>

<file path=ppt/slides/_rels/slide3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92.xml"/><Relationship Id="rId4" Type="http://schemas.openxmlformats.org/officeDocument/2006/relationships/chart" Target="../charts/chart193.xml"/><Relationship Id="rId5" Type="http://schemas.openxmlformats.org/officeDocument/2006/relationships/notesSlide" Target="../notesSlides/notesSlide278.xml"/><Relationship Id="rId6" Type="http://schemas.openxmlformats.org/officeDocument/2006/relationships/image" Target="../media/image2.png"/></Relationships>
</file>

<file path=ppt/slides/_rels/slide3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94.xml"/><Relationship Id="rId4" Type="http://schemas.openxmlformats.org/officeDocument/2006/relationships/chart" Target="../charts/chart195.xml"/><Relationship Id="rId5" Type="http://schemas.openxmlformats.org/officeDocument/2006/relationships/notesSlide" Target="../notesSlides/notesSlide279.xml"/><Relationship Id="rId6" Type="http://schemas.openxmlformats.org/officeDocument/2006/relationships/image" Target="../media/image2.png"/></Relationships>
</file>

<file path=ppt/slides/_rels/slide3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80.xml"/><Relationship Id="rId4" Type="http://schemas.openxmlformats.org/officeDocument/2006/relationships/image" Target="../media/image2.png"/></Relationships>
</file>

<file path=ppt/slides/_rels/slide3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81.xml"/><Relationship Id="rId4" Type="http://schemas.openxmlformats.org/officeDocument/2006/relationships/image" Target="../media/image2.png"/></Relationships>
</file>

<file path=ppt/slides/_rels/slide3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96.xml"/><Relationship Id="rId4" Type="http://schemas.openxmlformats.org/officeDocument/2006/relationships/notesSlide" Target="../notesSlides/notesSlide282.xml"/><Relationship Id="rId5" Type="http://schemas.openxmlformats.org/officeDocument/2006/relationships/image" Target="../media/image2.png"/></Relationships>
</file>

<file path=ppt/slides/_rels/slide3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83.xml"/><Relationship Id="rId4" Type="http://schemas.openxmlformats.org/officeDocument/2006/relationships/image" Target="../media/image2.png"/></Relationships>
</file>

<file path=ppt/slides/_rels/slide3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84.xml"/><Relationship Id="rId4" Type="http://schemas.openxmlformats.org/officeDocument/2006/relationships/image" Target="../media/image2.png"/></Relationships>
</file>

<file path=ppt/slides/_rels/slide3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85.xml"/><Relationship Id="rId4" Type="http://schemas.openxmlformats.org/officeDocument/2006/relationships/image" Target="../media/image1125.png"/><Relationship Id="rId5" Type="http://schemas.openxmlformats.org/officeDocument/2006/relationships/image" Target="../media/image1126.png"/><Relationship Id="rId6" Type="http://schemas.openxmlformats.org/officeDocument/2006/relationships/image" Target="../media/image106.png"/><Relationship Id="rId7" Type="http://schemas.openxmlformats.org/officeDocument/2006/relationships/image" Target="../media/image1127.png"/><Relationship Id="rId8" Type="http://schemas.openxmlformats.org/officeDocument/2006/relationships/image" Target="../media/image1128.png"/><Relationship Id="rId9" Type="http://schemas.openxmlformats.org/officeDocument/2006/relationships/image" Target="../media/image779.png"/><Relationship Id="rId10" Type="http://schemas.openxmlformats.org/officeDocument/2006/relationships/image" Target="../media/image1129.png"/><Relationship Id="rId11" Type="http://schemas.openxmlformats.org/officeDocument/2006/relationships/image" Target="../media/image1130.png"/><Relationship Id="rId12" Type="http://schemas.openxmlformats.org/officeDocument/2006/relationships/image" Target="../media/image1131.png"/><Relationship Id="rId13" Type="http://schemas.openxmlformats.org/officeDocument/2006/relationships/image" Target="../media/image1132.png"/><Relationship Id="rId14" Type="http://schemas.openxmlformats.org/officeDocument/2006/relationships/image" Target="../media/image1133.png"/><Relationship Id="rId15" Type="http://schemas.openxmlformats.org/officeDocument/2006/relationships/image" Target="../media/image1134.png"/><Relationship Id="rId16" Type="http://schemas.openxmlformats.org/officeDocument/2006/relationships/image" Target="../media/image1135.png"/><Relationship Id="rId17" Type="http://schemas.openxmlformats.org/officeDocument/2006/relationships/image" Target="../media/image1136.png"/><Relationship Id="rId18" Type="http://schemas.openxmlformats.org/officeDocument/2006/relationships/image" Target="../media/image1137.png"/><Relationship Id="rId19" Type="http://schemas.openxmlformats.org/officeDocument/2006/relationships/image" Target="../media/image1138.png"/><Relationship Id="rId20" Type="http://schemas.openxmlformats.org/officeDocument/2006/relationships/image" Target="../media/image1046.png"/><Relationship Id="rId21" Type="http://schemas.openxmlformats.org/officeDocument/2006/relationships/image" Target="../media/image2.png"/></Relationships>
</file>

<file path=ppt/slides/_rels/slide3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97.xml"/><Relationship Id="rId4" Type="http://schemas.openxmlformats.org/officeDocument/2006/relationships/chart" Target="../charts/chart198.xml"/><Relationship Id="rId5" Type="http://schemas.openxmlformats.org/officeDocument/2006/relationships/notesSlide" Target="../notesSlides/notesSlide286.xml"/><Relationship Id="rId6" Type="http://schemas.openxmlformats.org/officeDocument/2006/relationships/image" Target="../media/image2.png"/></Relationships>
</file>

<file path=ppt/slides/_rels/slide3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99.xml"/><Relationship Id="rId4" Type="http://schemas.openxmlformats.org/officeDocument/2006/relationships/chart" Target="../charts/chart200.xml"/><Relationship Id="rId5" Type="http://schemas.openxmlformats.org/officeDocument/2006/relationships/chart" Target="../charts/chart201.xml"/><Relationship Id="rId6" Type="http://schemas.openxmlformats.org/officeDocument/2006/relationships/chart" Target="../charts/chart202.xml"/><Relationship Id="rId7" Type="http://schemas.openxmlformats.org/officeDocument/2006/relationships/notesSlide" Target="../notesSlides/notesSlide287.xml"/><Relationship Id="rId8" Type="http://schemas.openxmlformats.org/officeDocument/2006/relationships/image" Target="../media/image2.png"/></Relationships>
</file>

<file path=ppt/slides/_rels/slide3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03.xml"/><Relationship Id="rId4" Type="http://schemas.openxmlformats.org/officeDocument/2006/relationships/chart" Target="../charts/chart204.xml"/><Relationship Id="rId5" Type="http://schemas.openxmlformats.org/officeDocument/2006/relationships/notesSlide" Target="../notesSlides/notesSlide288.xml"/><Relationship Id="rId6" Type="http://schemas.openxmlformats.org/officeDocument/2006/relationships/image" Target="../media/image2.png"/></Relationships>
</file>

<file path=ppt/slides/_rels/slide3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89.xml"/><Relationship Id="rId4" Type="http://schemas.openxmlformats.org/officeDocument/2006/relationships/image" Target="../media/image2.png"/></Relationships>
</file>

<file path=ppt/slides/_rels/slide3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0.xml"/><Relationship Id="rId4" Type="http://schemas.openxmlformats.org/officeDocument/2006/relationships/image" Target="../media/image2.png"/></Relationships>
</file>

<file path=ppt/slides/_rels/slide3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05.xml"/><Relationship Id="rId4" Type="http://schemas.openxmlformats.org/officeDocument/2006/relationships/notesSlide" Target="../notesSlides/notesSlide291.xml"/><Relationship Id="rId5" Type="http://schemas.openxmlformats.org/officeDocument/2006/relationships/image" Target="../media/image2.png"/></Relationships>
</file>

<file path=ppt/slides/_rels/slide3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2.xml"/><Relationship Id="rId4" Type="http://schemas.openxmlformats.org/officeDocument/2006/relationships/image" Target="../media/image2.png"/></Relationships>
</file>

<file path=ppt/slides/_rels/slide3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3.xml"/><Relationship Id="rId4" Type="http://schemas.openxmlformats.org/officeDocument/2006/relationships/image" Target="../media/image2.png"/></Relationships>
</file>

<file path=ppt/slides/_rels/slide3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4.xml"/><Relationship Id="rId4" Type="http://schemas.openxmlformats.org/officeDocument/2006/relationships/image" Target="../media/image1168.png"/><Relationship Id="rId5" Type="http://schemas.openxmlformats.org/officeDocument/2006/relationships/image" Target="../media/image1169.png"/><Relationship Id="rId6" Type="http://schemas.openxmlformats.org/officeDocument/2006/relationships/image" Target="../media/image1170.png"/><Relationship Id="rId7" Type="http://schemas.openxmlformats.org/officeDocument/2006/relationships/image" Target="../media/image1171.png"/><Relationship Id="rId8" Type="http://schemas.openxmlformats.org/officeDocument/2006/relationships/image" Target="../media/image1172.png"/><Relationship Id="rId9" Type="http://schemas.openxmlformats.org/officeDocument/2006/relationships/image" Target="../media/image424.png"/><Relationship Id="rId10" Type="http://schemas.openxmlformats.org/officeDocument/2006/relationships/image" Target="../media/image1173.png"/><Relationship Id="rId11" Type="http://schemas.openxmlformats.org/officeDocument/2006/relationships/image" Target="../media/image1174.png"/><Relationship Id="rId12" Type="http://schemas.openxmlformats.org/officeDocument/2006/relationships/image" Target="../media/image73.png"/><Relationship Id="rId13" Type="http://schemas.openxmlformats.org/officeDocument/2006/relationships/image" Target="../media/image1175.png"/><Relationship Id="rId14" Type="http://schemas.openxmlformats.org/officeDocument/2006/relationships/image" Target="../media/image1176.png"/><Relationship Id="rId15" Type="http://schemas.openxmlformats.org/officeDocument/2006/relationships/image" Target="../media/image2.png"/></Relationships>
</file>

<file path=ppt/slides/_rels/slide3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06.xml"/><Relationship Id="rId4" Type="http://schemas.openxmlformats.org/officeDocument/2006/relationships/chart" Target="../charts/chart207.xml"/><Relationship Id="rId5" Type="http://schemas.openxmlformats.org/officeDocument/2006/relationships/notesSlide" Target="../notesSlides/notesSlide295.xml"/><Relationship Id="rId6" Type="http://schemas.openxmlformats.org/officeDocument/2006/relationships/image" Target="../media/image2.png"/></Relationships>
</file>

<file path=ppt/slides/_rels/slide3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08.xml"/><Relationship Id="rId4" Type="http://schemas.openxmlformats.org/officeDocument/2006/relationships/chart" Target="../charts/chart209.xml"/><Relationship Id="rId5" Type="http://schemas.openxmlformats.org/officeDocument/2006/relationships/chart" Target="../charts/chart210.xml"/><Relationship Id="rId6" Type="http://schemas.openxmlformats.org/officeDocument/2006/relationships/chart" Target="../charts/chart211.xml"/><Relationship Id="rId7" Type="http://schemas.openxmlformats.org/officeDocument/2006/relationships/notesSlide" Target="../notesSlides/notesSlide296.xml"/><Relationship Id="rId8" Type="http://schemas.openxmlformats.org/officeDocument/2006/relationships/image" Target="../media/image2.png"/></Relationships>
</file>

<file path=ppt/slides/_rels/slide3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7.xml"/><Relationship Id="rId4" Type="http://schemas.openxmlformats.org/officeDocument/2006/relationships/image" Target="../media/image2.png"/></Relationships>
</file>

<file path=ppt/slides/_rels/slide3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8.xml"/><Relationship Id="rId4" Type="http://schemas.openxmlformats.org/officeDocument/2006/relationships/image" Target="../media/image2.png"/></Relationships>
</file>

<file path=ppt/slides/_rels/slide3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12.xml"/><Relationship Id="rId4" Type="http://schemas.openxmlformats.org/officeDocument/2006/relationships/notesSlide" Target="../notesSlides/notesSlide299.xml"/><Relationship Id="rId5" Type="http://schemas.openxmlformats.org/officeDocument/2006/relationships/image" Target="../media/image2.png"/></Relationships>
</file>

<file path=ppt/slides/_rels/slide3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0.xml"/><Relationship Id="rId4" Type="http://schemas.openxmlformats.org/officeDocument/2006/relationships/image" Target="../media/image2.png"/></Relationships>
</file>

<file path=ppt/slides/_rels/slide3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1.xml"/><Relationship Id="rId4" Type="http://schemas.openxmlformats.org/officeDocument/2006/relationships/image" Target="../media/image2.png"/></Relationships>
</file>

<file path=ppt/slides/_rels/slide3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2.xml"/><Relationship Id="rId4" Type="http://schemas.openxmlformats.org/officeDocument/2006/relationships/image" Target="../media/image1195.png"/><Relationship Id="rId5" Type="http://schemas.openxmlformats.org/officeDocument/2006/relationships/image" Target="../media/image1196.png"/><Relationship Id="rId6" Type="http://schemas.openxmlformats.org/officeDocument/2006/relationships/image" Target="../media/image485.png"/><Relationship Id="rId7" Type="http://schemas.openxmlformats.org/officeDocument/2006/relationships/image" Target="../media/image1197.png"/><Relationship Id="rId8" Type="http://schemas.openxmlformats.org/officeDocument/2006/relationships/image" Target="../media/image1198.png"/><Relationship Id="rId9" Type="http://schemas.openxmlformats.org/officeDocument/2006/relationships/image" Target="../media/image106.png"/><Relationship Id="rId10" Type="http://schemas.openxmlformats.org/officeDocument/2006/relationships/image" Target="../media/image1199.png"/><Relationship Id="rId11" Type="http://schemas.openxmlformats.org/officeDocument/2006/relationships/image" Target="../media/image1200.png"/><Relationship Id="rId12" Type="http://schemas.openxmlformats.org/officeDocument/2006/relationships/image" Target="../media/image1201.png"/><Relationship Id="rId13" Type="http://schemas.openxmlformats.org/officeDocument/2006/relationships/image" Target="../media/image2.png"/></Relationships>
</file>

<file path=ppt/slides/_rels/slide3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13.xml"/><Relationship Id="rId4" Type="http://schemas.openxmlformats.org/officeDocument/2006/relationships/chart" Target="../charts/chart214.xml"/><Relationship Id="rId5" Type="http://schemas.openxmlformats.org/officeDocument/2006/relationships/notesSlide" Target="../notesSlides/notesSlide303.xml"/><Relationship Id="rId6" Type="http://schemas.openxmlformats.org/officeDocument/2006/relationships/image" Target="../media/image2.png"/></Relationships>
</file>

<file path=ppt/slides/_rels/slide3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15.xml"/><Relationship Id="rId4" Type="http://schemas.openxmlformats.org/officeDocument/2006/relationships/chart" Target="../charts/chart216.xml"/><Relationship Id="rId5" Type="http://schemas.openxmlformats.org/officeDocument/2006/relationships/chart" Target="../charts/chart217.xml"/><Relationship Id="rId6" Type="http://schemas.openxmlformats.org/officeDocument/2006/relationships/notesSlide" Target="../notesSlides/notesSlide304.xml"/><Relationship Id="rId7" Type="http://schemas.openxmlformats.org/officeDocument/2006/relationships/image" Target="../media/image2.png"/></Relationships>
</file>

<file path=ppt/slides/_rels/slide3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5.xml"/><Relationship Id="rId4" Type="http://schemas.openxmlformats.org/officeDocument/2006/relationships/image" Target="../media/image2.png"/></Relationships>
</file>

<file path=ppt/slides/_rels/slide3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6.xml"/><Relationship Id="rId4" Type="http://schemas.openxmlformats.org/officeDocument/2006/relationships/image" Target="../media/image2.png"/></Relationships>
</file>

<file path=ppt/slides/_rels/slide3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18.xml"/><Relationship Id="rId4" Type="http://schemas.openxmlformats.org/officeDocument/2006/relationships/notesSlide" Target="../notesSlides/notesSlide307.xml"/><Relationship Id="rId5" Type="http://schemas.openxmlformats.org/officeDocument/2006/relationships/image" Target="../media/image2.png"/></Relationships>
</file>

<file path=ppt/slides/_rels/slide3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8.xml"/><Relationship Id="rId4" Type="http://schemas.openxmlformats.org/officeDocument/2006/relationships/image" Target="../media/image2.png"/></Relationships>
</file>

<file path=ppt/slides/_rels/slide3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9.xml"/><Relationship Id="rId4" Type="http://schemas.openxmlformats.org/officeDocument/2006/relationships/image" Target="../media/image2.png"/></Relationships>
</file>

<file path=ppt/slides/_rels/slide3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10.xml"/><Relationship Id="rId4" Type="http://schemas.openxmlformats.org/officeDocument/2006/relationships/image" Target="../media/image1217.png"/><Relationship Id="rId5" Type="http://schemas.openxmlformats.org/officeDocument/2006/relationships/image" Target="../media/image1218.png"/><Relationship Id="rId6" Type="http://schemas.openxmlformats.org/officeDocument/2006/relationships/image" Target="../media/image128.png"/><Relationship Id="rId7" Type="http://schemas.openxmlformats.org/officeDocument/2006/relationships/image" Target="../media/image1219.png"/><Relationship Id="rId8" Type="http://schemas.openxmlformats.org/officeDocument/2006/relationships/image" Target="../media/image1220.png"/><Relationship Id="rId9" Type="http://schemas.openxmlformats.org/officeDocument/2006/relationships/image" Target="../media/image1221.png"/><Relationship Id="rId10" Type="http://schemas.openxmlformats.org/officeDocument/2006/relationships/image" Target="../media/image1222.png"/><Relationship Id="rId11" Type="http://schemas.openxmlformats.org/officeDocument/2006/relationships/image" Target="../media/image1223.png"/><Relationship Id="rId12" Type="http://schemas.openxmlformats.org/officeDocument/2006/relationships/image" Target="../media/image106.png"/><Relationship Id="rId13" Type="http://schemas.openxmlformats.org/officeDocument/2006/relationships/image" Target="../media/image1224.png"/><Relationship Id="rId14" Type="http://schemas.openxmlformats.org/officeDocument/2006/relationships/image" Target="../media/image1225.png"/><Relationship Id="rId15" Type="http://schemas.openxmlformats.org/officeDocument/2006/relationships/image" Target="../media/image524.png"/><Relationship Id="rId16" Type="http://schemas.openxmlformats.org/officeDocument/2006/relationships/image" Target="../media/image2.png"/></Relationships>
</file>

<file path=ppt/slides/_rels/slide3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19.xml"/><Relationship Id="rId4" Type="http://schemas.openxmlformats.org/officeDocument/2006/relationships/chart" Target="../charts/chart220.xml"/><Relationship Id="rId5" Type="http://schemas.openxmlformats.org/officeDocument/2006/relationships/notesSlide" Target="../notesSlides/notesSlide311.xml"/><Relationship Id="rId6" Type="http://schemas.openxmlformats.org/officeDocument/2006/relationships/image" Target="../media/image2.png"/></Relationships>
</file>

<file path=ppt/slides/_rels/slide3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21.xml"/><Relationship Id="rId4" Type="http://schemas.openxmlformats.org/officeDocument/2006/relationships/chart" Target="../charts/chart222.xml"/><Relationship Id="rId5" Type="http://schemas.openxmlformats.org/officeDocument/2006/relationships/chart" Target="../charts/chart223.xml"/><Relationship Id="rId6" Type="http://schemas.openxmlformats.org/officeDocument/2006/relationships/chart" Target="../charts/chart224.xml"/><Relationship Id="rId7" Type="http://schemas.openxmlformats.org/officeDocument/2006/relationships/notesSlide" Target="../notesSlides/notesSlide312.xml"/><Relationship Id="rId8" Type="http://schemas.openxmlformats.org/officeDocument/2006/relationships/image" Target="../media/image2.png"/></Relationships>
</file>

<file path=ppt/slides/_rels/slide3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13.xml"/><Relationship Id="rId4" Type="http://schemas.openxmlformats.org/officeDocument/2006/relationships/image" Target="../media/image2.png"/></Relationships>
</file>

<file path=ppt/slides/_rels/slide3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14.xml"/><Relationship Id="rId4" Type="http://schemas.openxmlformats.org/officeDocument/2006/relationships/image" Target="../media/image2.png"/></Relationships>
</file>

<file path=ppt/slides/_rels/slide3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25.xml"/><Relationship Id="rId4" Type="http://schemas.openxmlformats.org/officeDocument/2006/relationships/notesSlide" Target="../notesSlides/notesSlide315.xml"/><Relationship Id="rId5" Type="http://schemas.openxmlformats.org/officeDocument/2006/relationships/image" Target="../media/image2.png"/></Relationships>
</file>

<file path=ppt/slides/_rels/slide3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16.xml"/><Relationship Id="rId4" Type="http://schemas.openxmlformats.org/officeDocument/2006/relationships/image" Target="../media/image2.png"/></Relationships>
</file>

<file path=ppt/slides/_rels/slide3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17.xml"/><Relationship Id="rId4" Type="http://schemas.openxmlformats.org/officeDocument/2006/relationships/image" Target="../media/image2.png"/></Relationships>
</file>

<file path=ppt/slides/_rels/slide3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18.xml"/><Relationship Id="rId4" Type="http://schemas.openxmlformats.org/officeDocument/2006/relationships/image" Target="../media/image1246.png"/><Relationship Id="rId5" Type="http://schemas.openxmlformats.org/officeDocument/2006/relationships/image" Target="../media/image1247.png"/><Relationship Id="rId6" Type="http://schemas.openxmlformats.org/officeDocument/2006/relationships/image" Target="../media/image779.png"/><Relationship Id="rId7" Type="http://schemas.openxmlformats.org/officeDocument/2006/relationships/image" Target="../media/image1248.png"/><Relationship Id="rId8" Type="http://schemas.openxmlformats.org/officeDocument/2006/relationships/image" Target="../media/image1249.png"/><Relationship Id="rId9" Type="http://schemas.openxmlformats.org/officeDocument/2006/relationships/image" Target="../media/image1250.png"/><Relationship Id="rId10" Type="http://schemas.openxmlformats.org/officeDocument/2006/relationships/image" Target="../media/image1251.png"/><Relationship Id="rId11" Type="http://schemas.openxmlformats.org/officeDocument/2006/relationships/image" Target="../media/image559.png"/><Relationship Id="rId12" Type="http://schemas.openxmlformats.org/officeDocument/2006/relationships/image" Target="../media/image1252.png"/><Relationship Id="rId13" Type="http://schemas.openxmlformats.org/officeDocument/2006/relationships/image" Target="../media/image1253.png"/><Relationship Id="rId14" Type="http://schemas.openxmlformats.org/officeDocument/2006/relationships/image" Target="../media/image297.png"/><Relationship Id="rId15" Type="http://schemas.openxmlformats.org/officeDocument/2006/relationships/image" Target="../media/image2.png"/></Relationships>
</file>

<file path=ppt/slides/_rels/slide3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26.xml"/><Relationship Id="rId4" Type="http://schemas.openxmlformats.org/officeDocument/2006/relationships/chart" Target="../charts/chart227.xml"/><Relationship Id="rId5" Type="http://schemas.openxmlformats.org/officeDocument/2006/relationships/notesSlide" Target="../notesSlides/notesSlide319.xml"/><Relationship Id="rId6" Type="http://schemas.openxmlformats.org/officeDocument/2006/relationships/image" Target="../media/image2.png"/></Relationships>
</file>

<file path=ppt/slides/_rels/slide3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28.xml"/><Relationship Id="rId4" Type="http://schemas.openxmlformats.org/officeDocument/2006/relationships/chart" Target="../charts/chart229.xml"/><Relationship Id="rId5" Type="http://schemas.openxmlformats.org/officeDocument/2006/relationships/chart" Target="../charts/chart230.xml"/><Relationship Id="rId6" Type="http://schemas.openxmlformats.org/officeDocument/2006/relationships/chart" Target="../charts/chart231.xml"/><Relationship Id="rId7" Type="http://schemas.openxmlformats.org/officeDocument/2006/relationships/notesSlide" Target="../notesSlides/notesSlide320.xml"/><Relationship Id="rId8" Type="http://schemas.openxmlformats.org/officeDocument/2006/relationships/image" Target="../media/image2.png"/></Relationships>
</file>

<file path=ppt/slides/_rels/slide3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21.xml"/><Relationship Id="rId4" Type="http://schemas.openxmlformats.org/officeDocument/2006/relationships/image" Target="../media/image2.png"/></Relationships>
</file>

<file path=ppt/slides/_rels/slide3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22.xml"/><Relationship Id="rId4" Type="http://schemas.openxmlformats.org/officeDocument/2006/relationships/image" Target="../media/image2.png"/></Relationships>
</file>

<file path=ppt/slides/_rels/slide3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32.xml"/><Relationship Id="rId4" Type="http://schemas.openxmlformats.org/officeDocument/2006/relationships/notesSlide" Target="../notesSlides/notesSlide323.xml"/><Relationship Id="rId5" Type="http://schemas.openxmlformats.org/officeDocument/2006/relationships/image" Target="../media/image2.png"/></Relationships>
</file>

<file path=ppt/slides/_rels/slide3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24.xml"/><Relationship Id="rId4" Type="http://schemas.openxmlformats.org/officeDocument/2006/relationships/image" Target="../media/image2.png"/></Relationships>
</file>

<file path=ppt/slides/_rels/slide3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25.xml"/><Relationship Id="rId4" Type="http://schemas.openxmlformats.org/officeDocument/2006/relationships/image" Target="../media/image2.png"/></Relationships>
</file>

<file path=ppt/slides/_rels/slide3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26.xml"/><Relationship Id="rId4" Type="http://schemas.openxmlformats.org/officeDocument/2006/relationships/image" Target="../media/image2.png"/></Relationships>
</file>

<file path=ppt/slides/_rels/slide3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27.xml"/><Relationship Id="rId4" Type="http://schemas.openxmlformats.org/officeDocument/2006/relationships/image" Target="../media/image2.png"/></Relationships>
</file>

<file path=ppt/slides/_rels/slide3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28.xml"/><Relationship Id="rId4" Type="http://schemas.openxmlformats.org/officeDocument/2006/relationships/image" Target="../media/image1274.png"/><Relationship Id="rId5" Type="http://schemas.openxmlformats.org/officeDocument/2006/relationships/image" Target="../media/image1275.png"/><Relationship Id="rId6" Type="http://schemas.openxmlformats.org/officeDocument/2006/relationships/image" Target="../media/image101.png"/><Relationship Id="rId7" Type="http://schemas.openxmlformats.org/officeDocument/2006/relationships/image" Target="../media/image1276.png"/><Relationship Id="rId8" Type="http://schemas.openxmlformats.org/officeDocument/2006/relationships/image" Target="../media/image1277.png"/><Relationship Id="rId9" Type="http://schemas.openxmlformats.org/officeDocument/2006/relationships/image" Target="../media/image363.png"/><Relationship Id="rId10" Type="http://schemas.openxmlformats.org/officeDocument/2006/relationships/image" Target="../media/image1278.png"/><Relationship Id="rId11" Type="http://schemas.openxmlformats.org/officeDocument/2006/relationships/image" Target="../media/image1279.png"/><Relationship Id="rId12" Type="http://schemas.openxmlformats.org/officeDocument/2006/relationships/image" Target="../media/image1221.png"/><Relationship Id="rId13" Type="http://schemas.openxmlformats.org/officeDocument/2006/relationships/image" Target="../media/image2.png"/></Relationships>
</file>

<file path=ppt/slides/_rels/slide3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33.xml"/><Relationship Id="rId4" Type="http://schemas.openxmlformats.org/officeDocument/2006/relationships/chart" Target="../charts/chart234.xml"/><Relationship Id="rId5" Type="http://schemas.openxmlformats.org/officeDocument/2006/relationships/notesSlide" Target="../notesSlides/notesSlide329.xml"/><Relationship Id="rId6" Type="http://schemas.openxmlformats.org/officeDocument/2006/relationships/image" Target="../media/image2.png"/></Relationships>
</file>

<file path=ppt/slides/_rels/slide3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35.xml"/><Relationship Id="rId4" Type="http://schemas.openxmlformats.org/officeDocument/2006/relationships/chart" Target="../charts/chart236.xml"/><Relationship Id="rId5" Type="http://schemas.openxmlformats.org/officeDocument/2006/relationships/chart" Target="../charts/chart237.xml"/><Relationship Id="rId6" Type="http://schemas.openxmlformats.org/officeDocument/2006/relationships/notesSlide" Target="../notesSlides/notesSlide330.xml"/><Relationship Id="rId7" Type="http://schemas.openxmlformats.org/officeDocument/2006/relationships/image" Target="../media/image2.png"/></Relationships>
</file>

<file path=ppt/slides/_rels/slide3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31.xml"/><Relationship Id="rId4" Type="http://schemas.openxmlformats.org/officeDocument/2006/relationships/image" Target="../media/image2.png"/></Relationships>
</file>

<file path=ppt/slides/_rels/slide3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32.xml"/><Relationship Id="rId4" Type="http://schemas.openxmlformats.org/officeDocument/2006/relationships/image" Target="../media/image2.png"/></Relationships>
</file>

<file path=ppt/slides/_rels/slide4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38.xml"/><Relationship Id="rId4" Type="http://schemas.openxmlformats.org/officeDocument/2006/relationships/notesSlide" Target="../notesSlides/notesSlide333.xml"/><Relationship Id="rId5" Type="http://schemas.openxmlformats.org/officeDocument/2006/relationships/image" Target="../media/image2.png"/></Relationships>
</file>

<file path=ppt/slides/_rels/slide4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34.xml"/><Relationship Id="rId4" Type="http://schemas.openxmlformats.org/officeDocument/2006/relationships/image" Target="../media/image2.png"/></Relationships>
</file>

<file path=ppt/slides/_rels/slide4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35.xml"/><Relationship Id="rId4" Type="http://schemas.openxmlformats.org/officeDocument/2006/relationships/image" Target="../media/image2.png"/></Relationships>
</file>

<file path=ppt/slides/_rels/slide4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36.xml"/><Relationship Id="rId4" Type="http://schemas.openxmlformats.org/officeDocument/2006/relationships/image" Target="../media/image1295.png"/><Relationship Id="rId5" Type="http://schemas.openxmlformats.org/officeDocument/2006/relationships/image" Target="../media/image1296.png"/><Relationship Id="rId6" Type="http://schemas.openxmlformats.org/officeDocument/2006/relationships/image" Target="../media/image87.png"/><Relationship Id="rId7" Type="http://schemas.openxmlformats.org/officeDocument/2006/relationships/image" Target="../media/image1297.png"/><Relationship Id="rId8" Type="http://schemas.openxmlformats.org/officeDocument/2006/relationships/image" Target="../media/image1298.png"/><Relationship Id="rId9" Type="http://schemas.openxmlformats.org/officeDocument/2006/relationships/image" Target="../media/image524.png"/><Relationship Id="rId10" Type="http://schemas.openxmlformats.org/officeDocument/2006/relationships/image" Target="../media/image2.png"/></Relationships>
</file>

<file path=ppt/slides/_rels/slide4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39.xml"/><Relationship Id="rId4" Type="http://schemas.openxmlformats.org/officeDocument/2006/relationships/chart" Target="../charts/chart240.xml"/><Relationship Id="rId5" Type="http://schemas.openxmlformats.org/officeDocument/2006/relationships/notesSlide" Target="../notesSlides/notesSlide337.xml"/><Relationship Id="rId6" Type="http://schemas.openxmlformats.org/officeDocument/2006/relationships/image" Target="../media/image2.png"/></Relationships>
</file>

<file path=ppt/slides/_rels/slide4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41.xml"/><Relationship Id="rId4" Type="http://schemas.openxmlformats.org/officeDocument/2006/relationships/chart" Target="../charts/chart242.xml"/><Relationship Id="rId5" Type="http://schemas.openxmlformats.org/officeDocument/2006/relationships/notesSlide" Target="../notesSlides/notesSlide338.xml"/><Relationship Id="rId6" Type="http://schemas.openxmlformats.org/officeDocument/2006/relationships/image" Target="../media/image2.png"/></Relationships>
</file>

<file path=ppt/slides/_rels/slide4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39.xml"/><Relationship Id="rId4" Type="http://schemas.openxmlformats.org/officeDocument/2006/relationships/image" Target="../media/image2.png"/></Relationships>
</file>

<file path=ppt/slides/_rels/slide4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0.xml"/><Relationship Id="rId4" Type="http://schemas.openxmlformats.org/officeDocument/2006/relationships/image" Target="../media/image2.png"/></Relationships>
</file>

<file path=ppt/slides/_rels/slide4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43.xml"/><Relationship Id="rId4" Type="http://schemas.openxmlformats.org/officeDocument/2006/relationships/notesSlide" Target="../notesSlides/notesSlide341.xml"/><Relationship Id="rId5" Type="http://schemas.openxmlformats.org/officeDocument/2006/relationships/image" Target="../media/image2.png"/></Relationships>
</file>

<file path=ppt/slides/_rels/slide4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2.xml"/><Relationship Id="rId4" Type="http://schemas.openxmlformats.org/officeDocument/2006/relationships/image" Target="../media/image2.png"/></Relationships>
</file>

<file path=ppt/slides/_rels/slide4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3.xml"/><Relationship Id="rId4" Type="http://schemas.openxmlformats.org/officeDocument/2006/relationships/image" Target="../media/image2.png"/></Relationships>
</file>

<file path=ppt/slides/_rels/slide4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4.xml"/><Relationship Id="rId4" Type="http://schemas.openxmlformats.org/officeDocument/2006/relationships/image" Target="../media/image1309.png"/><Relationship Id="rId5" Type="http://schemas.openxmlformats.org/officeDocument/2006/relationships/image" Target="../media/image1310.png"/><Relationship Id="rId6" Type="http://schemas.openxmlformats.org/officeDocument/2006/relationships/image" Target="../media/image706.png"/><Relationship Id="rId7" Type="http://schemas.openxmlformats.org/officeDocument/2006/relationships/image" Target="../media/image1311.png"/><Relationship Id="rId8" Type="http://schemas.openxmlformats.org/officeDocument/2006/relationships/image" Target="../media/image1312.png"/><Relationship Id="rId9" Type="http://schemas.openxmlformats.org/officeDocument/2006/relationships/image" Target="../media/image1313.png"/><Relationship Id="rId10" Type="http://schemas.openxmlformats.org/officeDocument/2006/relationships/image" Target="../media/image1314.png"/><Relationship Id="rId11" Type="http://schemas.openxmlformats.org/officeDocument/2006/relationships/image" Target="../media/image1315.png"/><Relationship Id="rId12" Type="http://schemas.openxmlformats.org/officeDocument/2006/relationships/image" Target="../media/image1134.png"/><Relationship Id="rId13" Type="http://schemas.openxmlformats.org/officeDocument/2006/relationships/image" Target="../media/image1316.png"/><Relationship Id="rId14" Type="http://schemas.openxmlformats.org/officeDocument/2006/relationships/image" Target="../media/image1317.png"/><Relationship Id="rId15" Type="http://schemas.openxmlformats.org/officeDocument/2006/relationships/image" Target="../media/image1318.png"/><Relationship Id="rId16" Type="http://schemas.openxmlformats.org/officeDocument/2006/relationships/image" Target="../media/image2.png"/></Relationships>
</file>

<file path=ppt/slides/_rels/slide4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44.xml"/><Relationship Id="rId4" Type="http://schemas.openxmlformats.org/officeDocument/2006/relationships/chart" Target="../charts/chart245.xml"/><Relationship Id="rId5" Type="http://schemas.openxmlformats.org/officeDocument/2006/relationships/notesSlide" Target="../notesSlides/notesSlide345.xml"/><Relationship Id="rId6" Type="http://schemas.openxmlformats.org/officeDocument/2006/relationships/image" Target="../media/image2.png"/></Relationships>
</file>

<file path=ppt/slides/_rels/slide4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46.xml"/><Relationship Id="rId4" Type="http://schemas.openxmlformats.org/officeDocument/2006/relationships/chart" Target="../charts/chart247.xml"/><Relationship Id="rId5" Type="http://schemas.openxmlformats.org/officeDocument/2006/relationships/chart" Target="../charts/chart248.xml"/><Relationship Id="rId6" Type="http://schemas.openxmlformats.org/officeDocument/2006/relationships/chart" Target="../charts/chart249.xml"/><Relationship Id="rId7" Type="http://schemas.openxmlformats.org/officeDocument/2006/relationships/notesSlide" Target="../notesSlides/notesSlide346.xml"/><Relationship Id="rId8" Type="http://schemas.openxmlformats.org/officeDocument/2006/relationships/image" Target="../media/image2.png"/></Relationships>
</file>

<file path=ppt/slides/_rels/slide4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7.xml"/><Relationship Id="rId4" Type="http://schemas.openxmlformats.org/officeDocument/2006/relationships/image" Target="../media/image2.png"/></Relationships>
</file>

<file path=ppt/slides/_rels/slide4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8.xml"/><Relationship Id="rId4" Type="http://schemas.openxmlformats.org/officeDocument/2006/relationships/image" Target="../media/image2.png"/></Relationships>
</file>

<file path=ppt/slides/_rels/slide4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50.xml"/><Relationship Id="rId4" Type="http://schemas.openxmlformats.org/officeDocument/2006/relationships/notesSlide" Target="../notesSlides/notesSlide349.xml"/><Relationship Id="rId5" Type="http://schemas.openxmlformats.org/officeDocument/2006/relationships/image" Target="../media/image2.png"/></Relationships>
</file>

<file path=ppt/slides/_rels/slide4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0.xml"/><Relationship Id="rId4" Type="http://schemas.openxmlformats.org/officeDocument/2006/relationships/image" Target="../media/image2.png"/></Relationships>
</file>

<file path=ppt/slides/_rels/slide4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1.xml"/><Relationship Id="rId4" Type="http://schemas.openxmlformats.org/officeDocument/2006/relationships/image" Target="../media/image2.png"/></Relationships>
</file>

<file path=ppt/slides/_rels/slide4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2.xml"/><Relationship Id="rId4" Type="http://schemas.openxmlformats.org/officeDocument/2006/relationships/image" Target="../media/image1339.png"/><Relationship Id="rId5" Type="http://schemas.openxmlformats.org/officeDocument/2006/relationships/image" Target="../media/image1340.png"/><Relationship Id="rId6" Type="http://schemas.openxmlformats.org/officeDocument/2006/relationships/image" Target="../media/image128.png"/><Relationship Id="rId7" Type="http://schemas.openxmlformats.org/officeDocument/2006/relationships/image" Target="../media/image1341.png"/><Relationship Id="rId8" Type="http://schemas.openxmlformats.org/officeDocument/2006/relationships/image" Target="../media/image1342.png"/><Relationship Id="rId9" Type="http://schemas.openxmlformats.org/officeDocument/2006/relationships/image" Target="../media/image524.png"/><Relationship Id="rId10" Type="http://schemas.openxmlformats.org/officeDocument/2006/relationships/image" Target="../media/image1343.png"/><Relationship Id="rId11" Type="http://schemas.openxmlformats.org/officeDocument/2006/relationships/image" Target="../media/image1344.png"/><Relationship Id="rId12" Type="http://schemas.openxmlformats.org/officeDocument/2006/relationships/image" Target="../media/image1170.png"/><Relationship Id="rId13" Type="http://schemas.openxmlformats.org/officeDocument/2006/relationships/image" Target="../media/image2.png"/></Relationships>
</file>

<file path=ppt/slides/_rels/slide4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51.xml"/><Relationship Id="rId4" Type="http://schemas.openxmlformats.org/officeDocument/2006/relationships/chart" Target="../charts/chart252.xml"/><Relationship Id="rId5" Type="http://schemas.openxmlformats.org/officeDocument/2006/relationships/notesSlide" Target="../notesSlides/notesSlide353.xml"/><Relationship Id="rId6" Type="http://schemas.openxmlformats.org/officeDocument/2006/relationships/image" Target="../media/image2.png"/></Relationships>
</file>

<file path=ppt/slides/_rels/slide4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53.xml"/><Relationship Id="rId4" Type="http://schemas.openxmlformats.org/officeDocument/2006/relationships/chart" Target="../charts/chart254.xml"/><Relationship Id="rId5" Type="http://schemas.openxmlformats.org/officeDocument/2006/relationships/chart" Target="../charts/chart255.xml"/><Relationship Id="rId6" Type="http://schemas.openxmlformats.org/officeDocument/2006/relationships/notesSlide" Target="../notesSlides/notesSlide354.xml"/><Relationship Id="rId7" Type="http://schemas.openxmlformats.org/officeDocument/2006/relationships/image" Target="../media/image2.png"/></Relationships>
</file>

<file path=ppt/slides/_rels/slide4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5.xml"/><Relationship Id="rId4" Type="http://schemas.openxmlformats.org/officeDocument/2006/relationships/image" Target="../media/image2.png"/></Relationships>
</file>

<file path=ppt/slides/_rels/slide4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6.xml"/><Relationship Id="rId4" Type="http://schemas.openxmlformats.org/officeDocument/2006/relationships/image" Target="../media/image2.png"/></Relationships>
</file>

<file path=ppt/slides/_rels/slide4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56.xml"/><Relationship Id="rId4" Type="http://schemas.openxmlformats.org/officeDocument/2006/relationships/notesSlide" Target="../notesSlides/notesSlide357.xml"/><Relationship Id="rId5" Type="http://schemas.openxmlformats.org/officeDocument/2006/relationships/image" Target="../media/image2.png"/></Relationships>
</file>

<file path=ppt/slides/_rels/slide4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8.xml"/><Relationship Id="rId4" Type="http://schemas.openxmlformats.org/officeDocument/2006/relationships/image" Target="../media/image2.png"/></Relationships>
</file>

<file path=ppt/slides/_rels/slide4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9.xml"/><Relationship Id="rId4" Type="http://schemas.openxmlformats.org/officeDocument/2006/relationships/image" Target="../media/image2.png"/></Relationships>
</file>

<file path=ppt/slides/_rels/slide4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60.xml"/><Relationship Id="rId4" Type="http://schemas.openxmlformats.org/officeDocument/2006/relationships/image" Target="../media/image1360.png"/><Relationship Id="rId5" Type="http://schemas.openxmlformats.org/officeDocument/2006/relationships/image" Target="../media/image1361.png"/><Relationship Id="rId6" Type="http://schemas.openxmlformats.org/officeDocument/2006/relationships/image" Target="../media/image363.png"/><Relationship Id="rId7" Type="http://schemas.openxmlformats.org/officeDocument/2006/relationships/image" Target="../media/image1362.png"/><Relationship Id="rId8" Type="http://schemas.openxmlformats.org/officeDocument/2006/relationships/image" Target="../media/image1363.png"/><Relationship Id="rId9" Type="http://schemas.openxmlformats.org/officeDocument/2006/relationships/image" Target="../media/image418.png"/><Relationship Id="rId10" Type="http://schemas.openxmlformats.org/officeDocument/2006/relationships/image" Target="../media/image1364.png"/><Relationship Id="rId11" Type="http://schemas.openxmlformats.org/officeDocument/2006/relationships/image" Target="../media/image1365.png"/><Relationship Id="rId12" Type="http://schemas.openxmlformats.org/officeDocument/2006/relationships/image" Target="../media/image1114.png"/><Relationship Id="rId13" Type="http://schemas.openxmlformats.org/officeDocument/2006/relationships/image" Target="../media/image2.png"/></Relationships>
</file>

<file path=ppt/slides/_rels/slide4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57.xml"/><Relationship Id="rId4" Type="http://schemas.openxmlformats.org/officeDocument/2006/relationships/chart" Target="../charts/chart258.xml"/><Relationship Id="rId5" Type="http://schemas.openxmlformats.org/officeDocument/2006/relationships/notesSlide" Target="../notesSlides/notesSlide361.xml"/><Relationship Id="rId6" Type="http://schemas.openxmlformats.org/officeDocument/2006/relationships/image" Target="../media/image2.png"/></Relationships>
</file>

<file path=ppt/slides/_rels/slide4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59.xml"/><Relationship Id="rId4" Type="http://schemas.openxmlformats.org/officeDocument/2006/relationships/chart" Target="../charts/chart260.xml"/><Relationship Id="rId5" Type="http://schemas.openxmlformats.org/officeDocument/2006/relationships/chart" Target="../charts/chart261.xml"/><Relationship Id="rId6" Type="http://schemas.openxmlformats.org/officeDocument/2006/relationships/notesSlide" Target="../notesSlides/notesSlide362.xml"/><Relationship Id="rId7" Type="http://schemas.openxmlformats.org/officeDocument/2006/relationships/image" Target="../media/image2.png"/></Relationships>
</file>

<file path=ppt/slides/_rels/slide4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63.xml"/><Relationship Id="rId4" Type="http://schemas.openxmlformats.org/officeDocument/2006/relationships/image" Target="../media/image2.png"/></Relationships>
</file>

<file path=ppt/slides/_rels/slide4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64.xml"/><Relationship Id="rId4" Type="http://schemas.openxmlformats.org/officeDocument/2006/relationships/image" Target="../media/image2.png"/></Relationships>
</file>

<file path=ppt/slides/_rels/slide4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65.xml"/><Relationship Id="rId4" Type="http://schemas.openxmlformats.org/officeDocument/2006/relationships/image" Target="../media/image2.png"/></Relationships>
</file>

<file path=ppt/slides/_rels/slide4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66.xml"/><Relationship Id="rId4" Type="http://schemas.openxmlformats.org/officeDocument/2006/relationships/image" Target="../media/image2.png"/></Relationships>
</file>

<file path=ppt/slides/_rels/slide4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62.xml"/><Relationship Id="rId4" Type="http://schemas.openxmlformats.org/officeDocument/2006/relationships/notesSlide" Target="../notesSlides/notesSlide367.xml"/><Relationship Id="rId5" Type="http://schemas.openxmlformats.org/officeDocument/2006/relationships/image" Target="../media/image2.png"/></Relationships>
</file>

<file path=ppt/slides/_rels/slide4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68.xml"/><Relationship Id="rId4" Type="http://schemas.openxmlformats.org/officeDocument/2006/relationships/image" Target="../media/image2.png"/></Relationships>
</file>

<file path=ppt/slides/_rels/slide4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69.xml"/><Relationship Id="rId4" Type="http://schemas.openxmlformats.org/officeDocument/2006/relationships/image" Target="../media/image2.png"/></Relationships>
</file>

<file path=ppt/slides/_rels/slide4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70.xml"/><Relationship Id="rId4" Type="http://schemas.openxmlformats.org/officeDocument/2006/relationships/image" Target="../media/image2.png"/></Relationships>
</file>

<file path=ppt/slides/_rels/slide4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71.xml"/><Relationship Id="rId4" Type="http://schemas.openxmlformats.org/officeDocument/2006/relationships/image" Target="../media/image2.png"/></Relationships>
</file>

<file path=ppt/slides/_rels/slide4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72.xml"/></Relationships>
</file>

<file path=ppt/slides/_rels/slide4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63.xml"/><Relationship Id="rId4" Type="http://schemas.openxmlformats.org/officeDocument/2006/relationships/chart" Target="../charts/chart264.xml"/><Relationship Id="rId5" Type="http://schemas.openxmlformats.org/officeDocument/2006/relationships/chart" Target="../charts/chart265.xml"/><Relationship Id="rId6" Type="http://schemas.openxmlformats.org/officeDocument/2006/relationships/chart" Target="../charts/chart266.xml"/><Relationship Id="rId7" Type="http://schemas.openxmlformats.org/officeDocument/2006/relationships/notesSlide" Target="../notesSlides/notesSlide373.xml"/><Relationship Id="rId8" Type="http://schemas.openxmlformats.org/officeDocument/2006/relationships/image" Target="../media/image2.png"/></Relationships>
</file>

<file path=ppt/slides/_rels/slide4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67.xml"/><Relationship Id="rId4" Type="http://schemas.openxmlformats.org/officeDocument/2006/relationships/chart" Target="../charts/chart268.xml"/><Relationship Id="rId5" Type="http://schemas.openxmlformats.org/officeDocument/2006/relationships/chart" Target="../charts/chart269.xml"/><Relationship Id="rId6" Type="http://schemas.openxmlformats.org/officeDocument/2006/relationships/chart" Target="../charts/chart270.xml"/><Relationship Id="rId7" Type="http://schemas.openxmlformats.org/officeDocument/2006/relationships/notesSlide" Target="../notesSlides/notesSlide374.xml"/><Relationship Id="rId8" Type="http://schemas.openxmlformats.org/officeDocument/2006/relationships/image" Target="../media/image2.png"/></Relationships>
</file>

<file path=ppt/slides/_rels/slide4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71.xml"/><Relationship Id="rId4" Type="http://schemas.openxmlformats.org/officeDocument/2006/relationships/chart" Target="../charts/chart272.xml"/><Relationship Id="rId5" Type="http://schemas.openxmlformats.org/officeDocument/2006/relationships/chart" Target="../charts/chart273.xml"/><Relationship Id="rId6" Type="http://schemas.openxmlformats.org/officeDocument/2006/relationships/chart" Target="../charts/chart274.xml"/><Relationship Id="rId7" Type="http://schemas.openxmlformats.org/officeDocument/2006/relationships/chart" Target="../charts/chart275.xml"/><Relationship Id="rId8" Type="http://schemas.openxmlformats.org/officeDocument/2006/relationships/chart" Target="../charts/chart276.xml"/><Relationship Id="rId9" Type="http://schemas.openxmlformats.org/officeDocument/2006/relationships/chart" Target="../charts/chart277.xml"/><Relationship Id="rId10" Type="http://schemas.openxmlformats.org/officeDocument/2006/relationships/chart" Target="../charts/chart278.xml"/><Relationship Id="rId11" Type="http://schemas.openxmlformats.org/officeDocument/2006/relationships/chart" Target="../charts/chart279.xml"/><Relationship Id="rId12" Type="http://schemas.openxmlformats.org/officeDocument/2006/relationships/chart" Target="../charts/chart280.xml"/><Relationship Id="rId13" Type="http://schemas.openxmlformats.org/officeDocument/2006/relationships/chart" Target="../charts/chart281.xml"/><Relationship Id="rId14" Type="http://schemas.openxmlformats.org/officeDocument/2006/relationships/chart" Target="../charts/chart282.xml"/><Relationship Id="rId15" Type="http://schemas.openxmlformats.org/officeDocument/2006/relationships/notesSlide" Target="../notesSlides/notesSlide375.xml"/><Relationship Id="rId16" Type="http://schemas.openxmlformats.org/officeDocument/2006/relationships/image" Target="../media/image2.png"/></Relationships>
</file>

<file path=ppt/slides/_rels/slide4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83.xml"/><Relationship Id="rId4" Type="http://schemas.openxmlformats.org/officeDocument/2006/relationships/chart" Target="../charts/chart284.xml"/><Relationship Id="rId5" Type="http://schemas.openxmlformats.org/officeDocument/2006/relationships/chart" Target="../charts/chart285.xml"/><Relationship Id="rId6" Type="http://schemas.openxmlformats.org/officeDocument/2006/relationships/chart" Target="../charts/chart286.xml"/><Relationship Id="rId7" Type="http://schemas.openxmlformats.org/officeDocument/2006/relationships/chart" Target="../charts/chart287.xml"/><Relationship Id="rId8" Type="http://schemas.openxmlformats.org/officeDocument/2006/relationships/notesSlide" Target="../notesSlides/notesSlide376.xml"/><Relationship Id="rId9" Type="http://schemas.openxmlformats.org/officeDocument/2006/relationships/image" Target="../media/image2.png"/></Relationships>
</file>

<file path=ppt/slides/_rels/slide4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77.xml"/><Relationship Id="rId4" Type="http://schemas.openxmlformats.org/officeDocument/2006/relationships/image" Target="../media/image2.png"/></Relationships>
</file>

<file path=ppt/slides/_rels/slide4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88.xml"/><Relationship Id="rId4" Type="http://schemas.openxmlformats.org/officeDocument/2006/relationships/chart" Target="../charts/chart289.xml"/><Relationship Id="rId5" Type="http://schemas.openxmlformats.org/officeDocument/2006/relationships/notesSlide" Target="../notesSlides/notesSlide378.xml"/><Relationship Id="rId6" Type="http://schemas.openxmlformats.org/officeDocument/2006/relationships/image" Target="../media/image2.png"/></Relationships>
</file>

<file path=ppt/slides/_rels/slide4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79.xml"/><Relationship Id="rId4" Type="http://schemas.openxmlformats.org/officeDocument/2006/relationships/image" Target="../media/image2.png"/></Relationships>
</file>

<file path=ppt/slides/_rels/slide4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0.xml"/><Relationship Id="rId4" Type="http://schemas.openxmlformats.org/officeDocument/2006/relationships/image" Target="../media/image2.png"/></Relationships>
</file>

<file path=ppt/slides/_rels/slide4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1.xml"/><Relationship Id="rId4" Type="http://schemas.openxmlformats.org/officeDocument/2006/relationships/image" Target="../media/image2.png"/></Relationships>
</file>

<file path=ppt/slides/_rels/slide4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2.xml"/><Relationship Id="rId4" Type="http://schemas.openxmlformats.org/officeDocument/2006/relationships/image" Target="../media/image2.png"/></Relationships>
</file>

<file path=ppt/slides/_rels/slide4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90.xml"/><Relationship Id="rId4" Type="http://schemas.openxmlformats.org/officeDocument/2006/relationships/chart" Target="../charts/chart291.xml"/><Relationship Id="rId5" Type="http://schemas.openxmlformats.org/officeDocument/2006/relationships/notesSlide" Target="../notesSlides/notesSlide383.xml"/><Relationship Id="rId6" Type="http://schemas.openxmlformats.org/officeDocument/2006/relationships/image" Target="../media/image2.png"/></Relationships>
</file>

<file path=ppt/slides/_rels/slide4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4.xml"/><Relationship Id="rId4" Type="http://schemas.openxmlformats.org/officeDocument/2006/relationships/image" Target="../media/image2.png"/></Relationships>
</file>

<file path=ppt/slides/_rels/slide4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5.xml"/><Relationship Id="rId4" Type="http://schemas.openxmlformats.org/officeDocument/2006/relationships/image" Target="../media/image2.png"/></Relationships>
</file>

<file path=ppt/slides/_rels/slide4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6.xml"/><Relationship Id="rId4" Type="http://schemas.openxmlformats.org/officeDocument/2006/relationships/image" Target="../media/image2.png"/></Relationships>
</file>

<file path=ppt/slides/_rels/slide4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7.xml"/><Relationship Id="rId4" Type="http://schemas.openxmlformats.org/officeDocument/2006/relationships/image" Target="../media/image2.png"/></Relationships>
</file>

<file path=ppt/slides/_rels/slide4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92.xml"/><Relationship Id="rId4" Type="http://schemas.openxmlformats.org/officeDocument/2006/relationships/chart" Target="../charts/chart293.xml"/><Relationship Id="rId5" Type="http://schemas.openxmlformats.org/officeDocument/2006/relationships/notesSlide" Target="../notesSlides/notesSlide388.xml"/><Relationship Id="rId6" Type="http://schemas.openxmlformats.org/officeDocument/2006/relationships/image" Target="../media/image2.png"/></Relationships>
</file>

<file path=ppt/slides/_rels/slide4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9.xml"/><Relationship Id="rId4" Type="http://schemas.openxmlformats.org/officeDocument/2006/relationships/image" Target="../media/image2.png"/></Relationships>
</file>

<file path=ppt/slides/_rels/slide4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0.xml"/><Relationship Id="rId4" Type="http://schemas.openxmlformats.org/officeDocument/2006/relationships/image" Target="../media/image2.png"/></Relationships>
</file>

<file path=ppt/slides/_rels/slide4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1.xml"/><Relationship Id="rId4" Type="http://schemas.openxmlformats.org/officeDocument/2006/relationships/image" Target="../media/image2.png"/></Relationships>
</file>

<file path=ppt/slides/_rels/slide4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2.xml"/><Relationship Id="rId4" Type="http://schemas.openxmlformats.org/officeDocument/2006/relationships/image" Target="../media/image2.png"/></Relationships>
</file>

<file path=ppt/slides/_rels/slide4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94.xml"/><Relationship Id="rId4" Type="http://schemas.openxmlformats.org/officeDocument/2006/relationships/chart" Target="../charts/chart295.xml"/><Relationship Id="rId5" Type="http://schemas.openxmlformats.org/officeDocument/2006/relationships/notesSlide" Target="../notesSlides/notesSlide393.xml"/><Relationship Id="rId6" Type="http://schemas.openxmlformats.org/officeDocument/2006/relationships/image" Target="../media/image2.png"/></Relationships>
</file>

<file path=ppt/slides/_rels/slide4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4.xml"/><Relationship Id="rId4" Type="http://schemas.openxmlformats.org/officeDocument/2006/relationships/image" Target="../media/image2.png"/></Relationships>
</file>

<file path=ppt/slides/_rels/slide4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5.xml"/><Relationship Id="rId4" Type="http://schemas.openxmlformats.org/officeDocument/2006/relationships/image" Target="../media/image2.png"/></Relationships>
</file>

<file path=ppt/slides/_rels/slide4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96.xml"/><Relationship Id="rId4" Type="http://schemas.openxmlformats.org/officeDocument/2006/relationships/chart" Target="../charts/chart297.xml"/><Relationship Id="rId5" Type="http://schemas.openxmlformats.org/officeDocument/2006/relationships/notesSlide" Target="../notesSlides/notesSlide396.xml"/><Relationship Id="rId6" Type="http://schemas.openxmlformats.org/officeDocument/2006/relationships/image" Target="../media/image2.png"/></Relationships>
</file>

<file path=ppt/slides/_rels/slide4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7.xml"/><Relationship Id="rId4" Type="http://schemas.openxmlformats.org/officeDocument/2006/relationships/image" Target="../media/image2.png"/></Relationships>
</file>

<file path=ppt/slides/_rels/slide4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8.xml"/><Relationship Id="rId4" Type="http://schemas.openxmlformats.org/officeDocument/2006/relationships/image" Target="../media/image2.png"/></Relationships>
</file>

<file path=ppt/slides/_rels/slide4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98.xml"/><Relationship Id="rId4" Type="http://schemas.openxmlformats.org/officeDocument/2006/relationships/chart" Target="../charts/chart299.xml"/><Relationship Id="rId5" Type="http://schemas.openxmlformats.org/officeDocument/2006/relationships/notesSlide" Target="../notesSlides/notesSlide399.xml"/><Relationship Id="rId6" Type="http://schemas.openxmlformats.org/officeDocument/2006/relationships/image" Target="../media/image2.png"/></Relationships>
</file>

<file path=ppt/slides/_rels/slide4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0.xml"/><Relationship Id="rId4" Type="http://schemas.openxmlformats.org/officeDocument/2006/relationships/image" Target="../media/image2.png"/></Relationships>
</file>

<file path=ppt/slides/_rels/slide4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1.xml"/><Relationship Id="rId4" Type="http://schemas.openxmlformats.org/officeDocument/2006/relationships/image" Target="../media/image2.png"/></Relationships>
</file>

<file path=ppt/slides/_rels/slide4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2.xml"/><Relationship Id="rId4" Type="http://schemas.openxmlformats.org/officeDocument/2006/relationships/image" Target="../media/image2.png"/></Relationships>
</file>

<file path=ppt/slides/_rels/slide4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3.xml"/><Relationship Id="rId4" Type="http://schemas.openxmlformats.org/officeDocument/2006/relationships/image" Target="../media/image2.png"/></Relationships>
</file>

<file path=ppt/slides/_rels/slide4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00.xml"/><Relationship Id="rId4" Type="http://schemas.openxmlformats.org/officeDocument/2006/relationships/chart" Target="../charts/chart301.xml"/><Relationship Id="rId5" Type="http://schemas.openxmlformats.org/officeDocument/2006/relationships/notesSlide" Target="../notesSlides/notesSlide404.xml"/><Relationship Id="rId6" Type="http://schemas.openxmlformats.org/officeDocument/2006/relationships/image" Target="../media/image2.png"/></Relationships>
</file>

<file path=ppt/slides/_rels/slide4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5.xml"/><Relationship Id="rId4" Type="http://schemas.openxmlformats.org/officeDocument/2006/relationships/image" Target="../media/image2.png"/></Relationships>
</file>

<file path=ppt/slides/_rels/slide4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6.xml"/><Relationship Id="rId4" Type="http://schemas.openxmlformats.org/officeDocument/2006/relationships/image" Target="../media/image2.png"/></Relationships>
</file>

<file path=ppt/slides/_rels/slide4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7.xml"/><Relationship Id="rId4" Type="http://schemas.openxmlformats.org/officeDocument/2006/relationships/image" Target="../media/image2.png"/></Relationships>
</file>

<file path=ppt/slides/_rels/slide4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8.xml"/><Relationship Id="rId4" Type="http://schemas.openxmlformats.org/officeDocument/2006/relationships/image" Target="../media/image2.png"/></Relationships>
</file>

<file path=ppt/slides/_rels/slide4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02.xml"/><Relationship Id="rId4" Type="http://schemas.openxmlformats.org/officeDocument/2006/relationships/chart" Target="../charts/chart303.xml"/><Relationship Id="rId5" Type="http://schemas.openxmlformats.org/officeDocument/2006/relationships/notesSlide" Target="../notesSlides/notesSlide409.xml"/><Relationship Id="rId6" Type="http://schemas.openxmlformats.org/officeDocument/2006/relationships/image" Target="../media/image2.png"/></Relationships>
</file>

<file path=ppt/slides/_rels/slide4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10.xml"/><Relationship Id="rId4" Type="http://schemas.openxmlformats.org/officeDocument/2006/relationships/image" Target="../media/image2.png"/></Relationships>
</file>

<file path=ppt/slides/_rels/slide4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11.xml"/><Relationship Id="rId4" Type="http://schemas.openxmlformats.org/officeDocument/2006/relationships/image" Target="../media/image2.png"/></Relationships>
</file>

<file path=ppt/slides/_rels/slide4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04.xml"/><Relationship Id="rId4" Type="http://schemas.openxmlformats.org/officeDocument/2006/relationships/chart" Target="../charts/chart305.xml"/><Relationship Id="rId5" Type="http://schemas.openxmlformats.org/officeDocument/2006/relationships/notesSlide" Target="../notesSlides/notesSlide412.xml"/><Relationship Id="rId6" Type="http://schemas.openxmlformats.org/officeDocument/2006/relationships/image" Target="../media/image2.png"/></Relationships>
</file>

<file path=ppt/slides/_rels/slide4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13.xml"/><Relationship Id="rId4" Type="http://schemas.openxmlformats.org/officeDocument/2006/relationships/image" Target="../media/image2.png"/></Relationships>
</file>

<file path=ppt/slides/_rels/slide4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14.xml"/><Relationship Id="rId4" Type="http://schemas.openxmlformats.org/officeDocument/2006/relationships/image" Target="../media/image2.png"/></Relationships>
</file>

<file path=ppt/slides/_rels/slide4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06.xml"/><Relationship Id="rId4" Type="http://schemas.openxmlformats.org/officeDocument/2006/relationships/chart" Target="../charts/chart307.xml"/><Relationship Id="rId5" Type="http://schemas.openxmlformats.org/officeDocument/2006/relationships/notesSlide" Target="../notesSlides/notesSlide415.xml"/><Relationship Id="rId6" Type="http://schemas.openxmlformats.org/officeDocument/2006/relationships/image" Target="../media/image2.png"/></Relationships>
</file>

<file path=ppt/slides/_rels/slide4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16.xml"/><Relationship Id="rId4" Type="http://schemas.openxmlformats.org/officeDocument/2006/relationships/image" Target="../media/image2.png"/></Relationships>
</file>

<file path=ppt/slides/_rels/slide5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17.xml"/><Relationship Id="rId4" Type="http://schemas.openxmlformats.org/officeDocument/2006/relationships/image" Target="../media/image2.png"/></Relationships>
</file>

<file path=ppt/slides/_rels/slide5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08.xml"/><Relationship Id="rId4" Type="http://schemas.openxmlformats.org/officeDocument/2006/relationships/chart" Target="../charts/chart309.xml"/><Relationship Id="rId5" Type="http://schemas.openxmlformats.org/officeDocument/2006/relationships/notesSlide" Target="../notesSlides/notesSlide418.xml"/><Relationship Id="rId6" Type="http://schemas.openxmlformats.org/officeDocument/2006/relationships/image" Target="../media/image2.png"/></Relationships>
</file>

<file path=ppt/slides/_rels/slide5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19.xml"/><Relationship Id="rId4" Type="http://schemas.openxmlformats.org/officeDocument/2006/relationships/image" Target="../media/image2.png"/></Relationships>
</file>

<file path=ppt/slides/_rels/slide5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0.xml"/><Relationship Id="rId4" Type="http://schemas.openxmlformats.org/officeDocument/2006/relationships/image" Target="../media/image2.png"/></Relationships>
</file>

<file path=ppt/slides/_rels/slide5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10.xml"/><Relationship Id="rId4" Type="http://schemas.openxmlformats.org/officeDocument/2006/relationships/chart" Target="../charts/chart311.xml"/><Relationship Id="rId5" Type="http://schemas.openxmlformats.org/officeDocument/2006/relationships/notesSlide" Target="../notesSlides/notesSlide421.xml"/><Relationship Id="rId6" Type="http://schemas.openxmlformats.org/officeDocument/2006/relationships/image" Target="../media/image2.png"/></Relationships>
</file>

<file path=ppt/slides/_rels/slide5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2.xml"/><Relationship Id="rId4" Type="http://schemas.openxmlformats.org/officeDocument/2006/relationships/image" Target="../media/image2.png"/></Relationships>
</file>

<file path=ppt/slides/_rels/slide5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3.xml"/><Relationship Id="rId4" Type="http://schemas.openxmlformats.org/officeDocument/2006/relationships/image" Target="../media/image2.png"/></Relationships>
</file>

<file path=ppt/slides/_rels/slide5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4.xml"/><Relationship Id="rId4" Type="http://schemas.openxmlformats.org/officeDocument/2006/relationships/image" Target="../media/image2.png"/></Relationships>
</file>

<file path=ppt/slides/_rels/slide5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5.xml"/><Relationship Id="rId4" Type="http://schemas.openxmlformats.org/officeDocument/2006/relationships/image" Target="../media/image2.png"/></Relationships>
</file>

<file path=ppt/slides/_rels/slide5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12.xml"/><Relationship Id="rId4" Type="http://schemas.openxmlformats.org/officeDocument/2006/relationships/chart" Target="../charts/chart313.xml"/><Relationship Id="rId5" Type="http://schemas.openxmlformats.org/officeDocument/2006/relationships/notesSlide" Target="../notesSlides/notesSlide426.xml"/><Relationship Id="rId6" Type="http://schemas.openxmlformats.org/officeDocument/2006/relationships/image" Target="../media/image2.png"/></Relationships>
</file>

<file path=ppt/slides/_rels/slide5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7.xml"/><Relationship Id="rId4" Type="http://schemas.openxmlformats.org/officeDocument/2006/relationships/image" Target="../media/image2.png"/></Relationships>
</file>

<file path=ppt/slides/_rels/slide5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8.xml"/><Relationship Id="rId4" Type="http://schemas.openxmlformats.org/officeDocument/2006/relationships/image" Target="../media/image2.png"/></Relationships>
</file>

<file path=ppt/slides/_rels/slide5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14.xml"/><Relationship Id="rId4" Type="http://schemas.openxmlformats.org/officeDocument/2006/relationships/chart" Target="../charts/chart315.xml"/><Relationship Id="rId5" Type="http://schemas.openxmlformats.org/officeDocument/2006/relationships/notesSlide" Target="../notesSlides/notesSlide429.xml"/><Relationship Id="rId6" Type="http://schemas.openxmlformats.org/officeDocument/2006/relationships/image" Target="../media/image2.png"/></Relationships>
</file>

<file path=ppt/slides/_rels/slide5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0.xml"/><Relationship Id="rId4" Type="http://schemas.openxmlformats.org/officeDocument/2006/relationships/image" Target="../media/image2.png"/></Relationships>
</file>

<file path=ppt/slides/_rels/slide5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1.xml"/><Relationship Id="rId4" Type="http://schemas.openxmlformats.org/officeDocument/2006/relationships/image" Target="../media/image2.png"/></Relationships>
</file>

<file path=ppt/slides/_rels/slide5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16.xml"/><Relationship Id="rId4" Type="http://schemas.openxmlformats.org/officeDocument/2006/relationships/chart" Target="../charts/chart317.xml"/><Relationship Id="rId5" Type="http://schemas.openxmlformats.org/officeDocument/2006/relationships/notesSlide" Target="../notesSlides/notesSlide432.xml"/><Relationship Id="rId6" Type="http://schemas.openxmlformats.org/officeDocument/2006/relationships/image" Target="../media/image2.png"/></Relationships>
</file>

<file path=ppt/slides/_rels/slide5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3.xml"/><Relationship Id="rId4" Type="http://schemas.openxmlformats.org/officeDocument/2006/relationships/image" Target="../media/image2.png"/></Relationships>
</file>

<file path=ppt/slides/_rels/slide5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4.xml"/><Relationship Id="rId4" Type="http://schemas.openxmlformats.org/officeDocument/2006/relationships/image" Target="../media/image2.png"/></Relationships>
</file>

<file path=ppt/slides/_rels/slide5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18.xml"/><Relationship Id="rId4" Type="http://schemas.openxmlformats.org/officeDocument/2006/relationships/chart" Target="../charts/chart319.xml"/><Relationship Id="rId5" Type="http://schemas.openxmlformats.org/officeDocument/2006/relationships/notesSlide" Target="../notesSlides/notesSlide435.xml"/><Relationship Id="rId6" Type="http://schemas.openxmlformats.org/officeDocument/2006/relationships/image" Target="../media/image2.png"/></Relationships>
</file>

<file path=ppt/slides/_rels/slide5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6.xml"/><Relationship Id="rId4" Type="http://schemas.openxmlformats.org/officeDocument/2006/relationships/image" Target="../media/image2.png"/></Relationships>
</file>

<file path=ppt/slides/_rels/slide5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7.xml"/><Relationship Id="rId4" Type="http://schemas.openxmlformats.org/officeDocument/2006/relationships/image" Target="../media/image2.png"/></Relationships>
</file>

<file path=ppt/slides/_rels/slide5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8.xml"/><Relationship Id="rId4" Type="http://schemas.openxmlformats.org/officeDocument/2006/relationships/image" Target="../media/image2.png"/></Relationships>
</file>

<file path=ppt/slides/_rels/slide5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0.xml"/><Relationship Id="rId4" Type="http://schemas.openxmlformats.org/officeDocument/2006/relationships/chart" Target="../charts/chart321.xml"/><Relationship Id="rId5" Type="http://schemas.openxmlformats.org/officeDocument/2006/relationships/notesSlide" Target="../notesSlides/notesSlide439.xml"/><Relationship Id="rId6" Type="http://schemas.openxmlformats.org/officeDocument/2006/relationships/image" Target="../media/image2.png"/></Relationships>
</file>

<file path=ppt/slides/_rels/slide5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40.xml"/><Relationship Id="rId4" Type="http://schemas.openxmlformats.org/officeDocument/2006/relationships/image" Target="../media/image2.png"/></Relationships>
</file>

<file path=ppt/slides/_rels/slide5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41.xml"/><Relationship Id="rId4" Type="http://schemas.openxmlformats.org/officeDocument/2006/relationships/image" Target="../media/image2.png"/></Relationships>
</file>

<file path=ppt/slides/_rels/slide5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42.xml"/><Relationship Id="rId4" Type="http://schemas.openxmlformats.org/officeDocument/2006/relationships/image" Target="../media/image2.png"/></Relationships>
</file>

<file path=ppt/slides/_rels/slide5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43.xml"/><Relationship Id="rId4" Type="http://schemas.openxmlformats.org/officeDocument/2006/relationships/image" Target="../media/image2.png"/></Relationships>
</file>

<file path=ppt/slides/_rels/slide5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44.xml"/></Relationships>
</file>

<file path=ppt/slides/_rels/slide5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45.xml"/><Relationship Id="rId4" Type="http://schemas.openxmlformats.org/officeDocument/2006/relationships/image" Target="../media/image2.png"/></Relationships>
</file>

<file path=ppt/slides/_rels/slide5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2.xml"/><Relationship Id="rId4" Type="http://schemas.openxmlformats.org/officeDocument/2006/relationships/chart" Target="../charts/chart323.xml"/><Relationship Id="rId5" Type="http://schemas.openxmlformats.org/officeDocument/2006/relationships/notesSlide" Target="../notesSlides/notesSlide446.xml"/><Relationship Id="rId6" Type="http://schemas.openxmlformats.org/officeDocument/2006/relationships/image" Target="../media/image2.png"/></Relationships>
</file>

<file path=ppt/slides/_rels/slide5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4.xml"/><Relationship Id="rId4" Type="http://schemas.openxmlformats.org/officeDocument/2006/relationships/notesSlide" Target="../notesSlides/notesSlide447.xml"/><Relationship Id="rId5" Type="http://schemas.openxmlformats.org/officeDocument/2006/relationships/image" Target="../media/image2.png"/></Relationships>
</file>

<file path=ppt/slides/_rels/slide5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5.xml"/><Relationship Id="rId4" Type="http://schemas.openxmlformats.org/officeDocument/2006/relationships/notesSlide" Target="../notesSlides/notesSlide448.xml"/><Relationship Id="rId5" Type="http://schemas.openxmlformats.org/officeDocument/2006/relationships/image" Target="../media/image2.png"/></Relationships>
</file>

<file path=ppt/slides/_rels/slide5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49.xml"/><Relationship Id="rId4" Type="http://schemas.openxmlformats.org/officeDocument/2006/relationships/image" Target="../media/image2.png"/></Relationships>
</file>

<file path=ppt/slides/_rels/slide5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0.xml"/><Relationship Id="rId4" Type="http://schemas.openxmlformats.org/officeDocument/2006/relationships/image" Target="../media/image2.png"/></Relationships>
</file>

<file path=ppt/slides/_rels/slide5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1.xml"/><Relationship Id="rId4" Type="http://schemas.openxmlformats.org/officeDocument/2006/relationships/image" Target="../media/image2.png"/></Relationships>
</file>

<file path=ppt/slides/_rels/slide5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2.xml"/><Relationship Id="rId4" Type="http://schemas.openxmlformats.org/officeDocument/2006/relationships/image" Target="../media/image2.png"/></Relationships>
</file>

<file path=ppt/slides/_rels/slide5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3.xml"/><Relationship Id="rId4" Type="http://schemas.openxmlformats.org/officeDocument/2006/relationships/image" Target="../media/image2.png"/></Relationships>
</file>

<file path=ppt/slides/_rels/slide5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4.xml"/><Relationship Id="rId4" Type="http://schemas.openxmlformats.org/officeDocument/2006/relationships/image" Target="../media/image2.png"/></Relationships>
</file>

<file path=ppt/slides/_rels/slide5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5.xml"/><Relationship Id="rId4" Type="http://schemas.openxmlformats.org/officeDocument/2006/relationships/image" Target="../media/image2.png"/></Relationships>
</file>

<file path=ppt/slides/_rels/slide5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6.xml"/></Relationships>
</file>

<file path=ppt/slides/_rels/slide5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7.xml"/><Relationship Id="rId4" Type="http://schemas.openxmlformats.org/officeDocument/2006/relationships/image" Target="../media/image2.png"/></Relationships>
</file>

<file path=ppt/slides/_rels/slide5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8.xml"/><Relationship Id="rId4" Type="http://schemas.openxmlformats.org/officeDocument/2006/relationships/image" Target="../media/image2.png"/></Relationships>
</file>

<file path=ppt/slides/_rels/slide5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9.xml"/><Relationship Id="rId4" Type="http://schemas.openxmlformats.org/officeDocument/2006/relationships/image" Target="../media/image2.png"/></Relationships>
</file>

<file path=ppt/slides/_rels/slide5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0.xml"/></Relationships>
</file>

<file path=ppt/slides/_rels/slide5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1.xml"/><Relationship Id="rId4" Type="http://schemas.openxmlformats.org/officeDocument/2006/relationships/image" Target="../media/image2.png"/></Relationships>
</file>

<file path=ppt/slides/_rels/slide5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2.xml"/><Relationship Id="rId4" Type="http://schemas.openxmlformats.org/officeDocument/2006/relationships/image" Target="../media/image2.png"/></Relationships>
</file>

<file path=ppt/slides/_rels/slide5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3.xml"/><Relationship Id="rId4" Type="http://schemas.openxmlformats.org/officeDocument/2006/relationships/image" Target="../media/image2.png"/></Relationships>
</file>

<file path=ppt/slides/_rels/slide5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4.xml"/><Relationship Id="rId4" Type="http://schemas.openxmlformats.org/officeDocument/2006/relationships/image" Target="../media/image2.png"/></Relationships>
</file>

<file path=ppt/slides/_rels/slide5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5.xml"/><Relationship Id="rId4" Type="http://schemas.openxmlformats.org/officeDocument/2006/relationships/image" Target="../media/image2.png"/></Relationships>
</file>

<file path=ppt/slides/_rels/slide5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6.xml"/><Relationship Id="rId4" Type="http://schemas.openxmlformats.org/officeDocument/2006/relationships/image" Target="../media/image2.png"/></Relationships>
</file>

<file path=ppt/slides/_rels/slide5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7.xml"/><Relationship Id="rId4" Type="http://schemas.openxmlformats.org/officeDocument/2006/relationships/image" Target="../media/image2.png"/></Relationships>
</file>

<file path=ppt/slides/_rels/slide5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8.xml"/></Relationships>
</file>

<file path=ppt/slides/_rels/slide5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9.xml"/><Relationship Id="rId4" Type="http://schemas.openxmlformats.org/officeDocument/2006/relationships/image" Target="../media/image2.png"/></Relationships>
</file>

<file path=ppt/slides/_rels/slide5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0.xml"/><Relationship Id="rId4" Type="http://schemas.openxmlformats.org/officeDocument/2006/relationships/image" Target="../media/image2.png"/></Relationships>
</file>

<file path=ppt/slides/_rels/slide5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1.xml"/><Relationship Id="rId4" Type="http://schemas.openxmlformats.org/officeDocument/2006/relationships/image" Target="../media/image2.png"/></Relationships>
</file>

<file path=ppt/slides/_rels/slide5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2.xml"/><Relationship Id="rId4" Type="http://schemas.openxmlformats.org/officeDocument/2006/relationships/image" Target="../media/image2.png"/></Relationships>
</file>

<file path=ppt/slides/_rels/slide5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3.xml"/><Relationship Id="rId4" Type="http://schemas.openxmlformats.org/officeDocument/2006/relationships/image" Target="../media/image2.png"/></Relationships>
</file>

<file path=ppt/slides/_rels/slide5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4.xml"/><Relationship Id="rId4" Type="http://schemas.openxmlformats.org/officeDocument/2006/relationships/image" Target="../media/image2.png"/></Relationships>
</file>

<file path=ppt/slides/_rels/slide5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5.xml"/><Relationship Id="rId4" Type="http://schemas.openxmlformats.org/officeDocument/2006/relationships/image" Target="../media/image2.png"/></Relationships>
</file>

<file path=ppt/slides/_rels/slide5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6.xml"/><Relationship Id="rId4" Type="http://schemas.openxmlformats.org/officeDocument/2006/relationships/image" Target="../media/image2.png"/></Relationships>
</file>

<file path=ppt/slides/_rels/slide5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7.xml"/><Relationship Id="rId4" Type="http://schemas.openxmlformats.org/officeDocument/2006/relationships/image" Target="../media/image2.png"/></Relationships>
</file>

<file path=ppt/slides/_rels/slide5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8.xml"/></Relationships>
</file>

<file path=ppt/slides/_rels/slide5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9.xml"/><Relationship Id="rId4" Type="http://schemas.openxmlformats.org/officeDocument/2006/relationships/image" Target="../media/image2.png"/></Relationships>
</file>

<file path=ppt/slides/_rels/slide5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80.xml"/><Relationship Id="rId4" Type="http://schemas.openxmlformats.org/officeDocument/2006/relationships/image" Target="../media/image2.png"/></Relationships>
</file>

<file path=ppt/slides/_rels/slide5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81.xml"/><Relationship Id="rId4" Type="http://schemas.openxmlformats.org/officeDocument/2006/relationships/image" Target="../media/image2.png"/></Relationships>
</file>

<file path=ppt/slides/_rels/slide5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82.xml"/><Relationship Id="rId4" Type="http://schemas.openxmlformats.org/officeDocument/2006/relationships/image" Target="../media/image2.png"/></Relationships>
</file>

<file path=ppt/slides/_rels/slide5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6.xml"/><Relationship Id="rId4" Type="http://schemas.openxmlformats.org/officeDocument/2006/relationships/notesSlide" Target="../notesSlides/notesSlide483.xml"/><Relationship Id="rId5" Type="http://schemas.openxmlformats.org/officeDocument/2006/relationships/image" Target="../media/image2.png"/></Relationships>
</file>

<file path=ppt/slides/_rels/slide5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7.xml"/><Relationship Id="rId4" Type="http://schemas.openxmlformats.org/officeDocument/2006/relationships/chart" Target="../charts/chart328.xml"/><Relationship Id="rId5" Type="http://schemas.openxmlformats.org/officeDocument/2006/relationships/notesSlide" Target="../notesSlides/notesSlide484.xml"/><Relationship Id="rId6" Type="http://schemas.openxmlformats.org/officeDocument/2006/relationships/image" Target="../media/image2.png"/></Relationships>
</file>

<file path=ppt/slides/_rels/slide5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9.xml"/><Relationship Id="rId4" Type="http://schemas.openxmlformats.org/officeDocument/2006/relationships/chart" Target="../charts/chart330.xml"/><Relationship Id="rId5" Type="http://schemas.openxmlformats.org/officeDocument/2006/relationships/chart" Target="../charts/chart331.xml"/><Relationship Id="rId6" Type="http://schemas.openxmlformats.org/officeDocument/2006/relationships/notesSlide" Target="../notesSlides/notesSlide485.xml"/><Relationship Id="rId7" Type="http://schemas.openxmlformats.org/officeDocument/2006/relationships/image" Target="../media/image2.png"/></Relationships>
</file>

<file path=ppt/slides/_rels/slide5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86.xml"/><Relationship Id="rId4" Type="http://schemas.openxmlformats.org/officeDocument/2006/relationships/image" Target="../media/image2.png"/></Relationships>
</file>

<file path=ppt/slides/_rels/slide5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32.xml"/><Relationship Id="rId4" Type="http://schemas.openxmlformats.org/officeDocument/2006/relationships/chart" Target="../charts/chart333.xml"/><Relationship Id="rId5" Type="http://schemas.openxmlformats.org/officeDocument/2006/relationships/chart" Target="../charts/chart334.xml"/><Relationship Id="rId6" Type="http://schemas.openxmlformats.org/officeDocument/2006/relationships/notesSlide" Target="../notesSlides/notesSlide487.xml"/><Relationship Id="rId7" Type="http://schemas.openxmlformats.org/officeDocument/2006/relationships/image" Target="../media/image2.png"/></Relationships>
</file>

<file path=ppt/slides/_rels/slide5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35.xml"/><Relationship Id="rId4" Type="http://schemas.openxmlformats.org/officeDocument/2006/relationships/notesSlide" Target="../notesSlides/notesSlide488.xml"/><Relationship Id="rId5" Type="http://schemas.openxmlformats.org/officeDocument/2006/relationships/image" Target="../media/image2.png"/></Relationships>
</file>

<file path=ppt/slides/_rels/slide5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89.xml"/><Relationship Id="rId4" Type="http://schemas.openxmlformats.org/officeDocument/2006/relationships/image" Target="../media/image2.png"/></Relationships>
</file>

<file path=ppt/slides/_rels/slide5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90.xml"/><Relationship Id="rId4" Type="http://schemas.openxmlformats.org/officeDocument/2006/relationships/image" Target="../media/image2.png"/></Relationships>
</file>

<file path=ppt/slides/_rels/slide5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91.xml"/><Relationship Id="rId4" Type="http://schemas.openxmlformats.org/officeDocument/2006/relationships/image" Target="../media/image2.png"/></Relationships>
</file>

<file path=ppt/slides/_rels/slide5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36.xml"/><Relationship Id="rId4" Type="http://schemas.openxmlformats.org/officeDocument/2006/relationships/chart" Target="../charts/chart337.xml"/><Relationship Id="rId5" Type="http://schemas.openxmlformats.org/officeDocument/2006/relationships/chart" Target="../charts/chart338.xml"/><Relationship Id="rId6" Type="http://schemas.openxmlformats.org/officeDocument/2006/relationships/notesSlide" Target="../notesSlides/notesSlide492.xml"/><Relationship Id="rId7" Type="http://schemas.openxmlformats.org/officeDocument/2006/relationships/image" Target="../media/image2.png"/></Relationships>
</file>

<file path=ppt/slides/_rels/slide5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39.xml"/><Relationship Id="rId4" Type="http://schemas.openxmlformats.org/officeDocument/2006/relationships/notesSlide" Target="../notesSlides/notesSlide493.xml"/><Relationship Id="rId5" Type="http://schemas.openxmlformats.org/officeDocument/2006/relationships/image" Target="../media/image2.png"/></Relationships>
</file>

<file path=ppt/slides/_rels/slide5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94.xml"/><Relationship Id="rId4" Type="http://schemas.openxmlformats.org/officeDocument/2006/relationships/image" Target="../media/image2.png"/></Relationships>
</file>

<file path=ppt/slides/_rels/slide5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95.xml"/><Relationship Id="rId4" Type="http://schemas.openxmlformats.org/officeDocument/2006/relationships/image" Target="../media/image2.png"/></Relationships>
</file>

<file path=ppt/slides/_rels/slide5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96.xml"/><Relationship Id="rId4" Type="http://schemas.openxmlformats.org/officeDocument/2006/relationships/image" Target="../media/image2.png"/></Relationships>
</file>

<file path=ppt/slides/_rels/slide5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40.xml"/><Relationship Id="rId4" Type="http://schemas.openxmlformats.org/officeDocument/2006/relationships/chart" Target="../charts/chart341.xml"/><Relationship Id="rId5" Type="http://schemas.openxmlformats.org/officeDocument/2006/relationships/chart" Target="../charts/chart342.xml"/><Relationship Id="rId6" Type="http://schemas.openxmlformats.org/officeDocument/2006/relationships/notesSlide" Target="../notesSlides/notesSlide497.xml"/><Relationship Id="rId7" Type="http://schemas.openxmlformats.org/officeDocument/2006/relationships/image" Target="../media/image2.png"/></Relationships>
</file>

<file path=ppt/slides/_rels/slide5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43.xml"/><Relationship Id="rId4" Type="http://schemas.openxmlformats.org/officeDocument/2006/relationships/notesSlide" Target="../notesSlides/notesSlide498.xml"/><Relationship Id="rId5" Type="http://schemas.openxmlformats.org/officeDocument/2006/relationships/image" Target="../media/image2.png"/></Relationships>
</file>

<file path=ppt/slides/_rels/slide5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99.xml"/><Relationship Id="rId4" Type="http://schemas.openxmlformats.org/officeDocument/2006/relationships/image" Target="../media/image2.png"/></Relationships>
</file>

<file path=ppt/slides/_rels/slide5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0.xml"/><Relationship Id="rId4" Type="http://schemas.openxmlformats.org/officeDocument/2006/relationships/image" Target="../media/image2.png"/></Relationships>
</file>

<file path=ppt/slides/_rels/slide5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1.xml"/><Relationship Id="rId4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8F8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Oval 2"/>
          <p:cNvSpPr/>
          <p:nvPr/>
        </p:nvSpPr>
        <p:spPr>
          <a:xfrm>
            <a:off x="-1905000" y="4476750"/>
            <a:ext cx="5334000" cy="5334000"/>
          </a:xfrm>
          <a:prstGeom prst="ellipse">
            <a:avLst/>
          </a:prstGeom>
          <a:solidFill>
            <a:srgbClr val="EAF6FB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Oval 3"/>
          <p:cNvSpPr/>
          <p:nvPr/>
        </p:nvSpPr>
        <p:spPr>
          <a:xfrm>
            <a:off x="8001000" y="-2000250"/>
            <a:ext cx="5334000" cy="533400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Oval 4"/>
          <p:cNvSpPr/>
          <p:nvPr/>
        </p:nvSpPr>
        <p:spPr>
          <a:xfrm>
            <a:off x="8715375" y="-1285875"/>
            <a:ext cx="3905250" cy="39052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Oval 5"/>
          <p:cNvSpPr/>
          <p:nvPr/>
        </p:nvSpPr>
        <p:spPr>
          <a:xfrm>
            <a:off x="9382125" y="-619125"/>
            <a:ext cx="2571750" cy="25717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Oval 6"/>
          <p:cNvSpPr/>
          <p:nvPr/>
        </p:nvSpPr>
        <p:spPr>
          <a:xfrm>
            <a:off x="10096500" y="95250"/>
            <a:ext cx="1143000" cy="1143000"/>
          </a:xfrm>
          <a:prstGeom prst="ellipse">
            <a:avLst/>
          </a:prstGeom>
          <a:solidFill>
            <a:srgbClr val="EAF6FB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ounded Rectangle 7"/>
          <p:cNvSpPr/>
          <p:nvPr/>
        </p:nvSpPr>
        <p:spPr>
          <a:xfrm>
            <a:off x="9010650" y="5848350"/>
            <a:ext cx="228600" cy="2476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Rounded Rectangle 8"/>
          <p:cNvSpPr/>
          <p:nvPr/>
        </p:nvSpPr>
        <p:spPr>
          <a:xfrm>
            <a:off x="9391650" y="5676900"/>
            <a:ext cx="228600" cy="4191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Rounded Rectangle 9"/>
          <p:cNvSpPr/>
          <p:nvPr/>
        </p:nvSpPr>
        <p:spPr>
          <a:xfrm>
            <a:off x="9772650" y="5772150"/>
            <a:ext cx="228600" cy="3238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ounded Rectangle 10"/>
          <p:cNvSpPr/>
          <p:nvPr/>
        </p:nvSpPr>
        <p:spPr>
          <a:xfrm>
            <a:off x="10153650" y="5524500"/>
            <a:ext cx="228600" cy="5715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ounded Rectangle 11"/>
          <p:cNvSpPr/>
          <p:nvPr/>
        </p:nvSpPr>
        <p:spPr>
          <a:xfrm>
            <a:off x="10534650" y="5314950"/>
            <a:ext cx="228600" cy="7810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ounded Rectangle 12"/>
          <p:cNvSpPr/>
          <p:nvPr/>
        </p:nvSpPr>
        <p:spPr>
          <a:xfrm>
            <a:off x="10915650" y="5600700"/>
            <a:ext cx="228600" cy="4953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ounded Rectangle 13"/>
          <p:cNvSpPr/>
          <p:nvPr/>
        </p:nvSpPr>
        <p:spPr>
          <a:xfrm>
            <a:off x="11296650" y="5181600"/>
            <a:ext cx="228600" cy="9144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5" name="Picture 14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4400" y="381000"/>
            <a:ext cx="1307592" cy="1325880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1143000" y="2667000"/>
            <a:ext cx="9334500" cy="1809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3400" b="1">
                <a:solidFill>
                  <a:srgbClr val="0B2E4A"/>
                </a:solidFill>
                <a:latin typeface="Calibri"/>
              </a:rPr>
              <a:t>Global Packaged Muffins Market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162050" y="4686300"/>
            <a:ext cx="9334500" cy="8572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600" b="0">
                <a:solidFill>
                  <a:srgbClr val="6C7A89"/>
                </a:solidFill>
                <a:latin typeface="Calibri"/>
              </a:rPr>
              <a:t>Value (US$ Mn) and Volume (MT) Analysis and Forecast, 2021–2036</a:t>
            </a:r>
          </a:p>
          <a:p>
            <a:pPr algn="l"/>
            <a:r>
              <a:rPr sz="1100" b="0">
                <a:solidFill>
                  <a:srgbClr val="8FCBE6"/>
                </a:solidFill>
                <a:latin typeface="Calibri"/>
              </a:rPr>
              <a:t>Region focus: Global   ·   Country focus: U.S.   ·   Generated 07 Oct 2026   ·   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Agenda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Storyline of the report by section · click a section card to jump to it</a:t>
            </a:r>
          </a:p>
        </p:txBody>
      </p:sp>
      <p:sp>
        <p:nvSpPr>
          <p:cNvPr id="10" name="Rounded Rectangle 9">
            <a:hlinkClick action="ppaction://hlinksldjump" r:id="rId3"/>
          </p:cNvPr>
          <p:cNvSpPr/>
          <p:nvPr/>
        </p:nvSpPr>
        <p:spPr>
          <a:xfrm>
            <a:off x="314325" y="1135037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1. Market Signals</a:t>
            </a:r>
          </a:p>
        </p:txBody>
      </p:sp>
      <p:sp>
        <p:nvSpPr>
          <p:cNvPr id="11" name="Rounded Rectangle 10">
            <a:hlinkClick action="ppaction://hlinksldjump" r:id="rId4"/>
          </p:cNvPr>
          <p:cNvSpPr/>
          <p:nvPr/>
        </p:nvSpPr>
        <p:spPr>
          <a:xfrm>
            <a:off x="142875" y="1526662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ounded Rectangle 11">
            <a:hlinkClick action="ppaction://hlinksldjump" r:id="rId5"/>
          </p:cNvPr>
          <p:cNvSpPr/>
          <p:nvPr/>
        </p:nvSpPr>
        <p:spPr>
          <a:xfrm>
            <a:off x="314325" y="1900862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2. Market Taxonomy</a:t>
            </a:r>
          </a:p>
        </p:txBody>
      </p:sp>
      <p:sp>
        <p:nvSpPr>
          <p:cNvPr id="13" name="Rounded Rectangle 12">
            <a:hlinkClick action="ppaction://hlinksldjump" r:id="rId6"/>
          </p:cNvPr>
          <p:cNvSpPr/>
          <p:nvPr/>
        </p:nvSpPr>
        <p:spPr>
          <a:xfrm>
            <a:off x="314325" y="2292487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3. Table of Contents</a:t>
            </a:r>
          </a:p>
        </p:txBody>
      </p:sp>
      <p:sp>
        <p:nvSpPr>
          <p:cNvPr id="14" name="Rounded Rectangle 13">
            <a:hlinkClick action="ppaction://hlinksldjump" r:id="rId7"/>
          </p:cNvPr>
          <p:cNvSpPr/>
          <p:nvPr/>
        </p:nvSpPr>
        <p:spPr>
          <a:xfrm>
            <a:off x="314325" y="2684112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4. List of Figures, List of Tables</a:t>
            </a:r>
          </a:p>
        </p:txBody>
      </p:sp>
      <p:sp>
        <p:nvSpPr>
          <p:cNvPr id="15" name="Rounded Rectangle 14">
            <a:hlinkClick action="ppaction://hlinksldjump" r:id="rId8"/>
          </p:cNvPr>
          <p:cNvSpPr/>
          <p:nvPr/>
        </p:nvSpPr>
        <p:spPr>
          <a:xfrm>
            <a:off x="142875" y="307573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Market Outlook</a:t>
            </a:r>
          </a:p>
        </p:txBody>
      </p:sp>
      <p:sp>
        <p:nvSpPr>
          <p:cNvPr id="16" name="Rounded Rectangle 15">
            <a:hlinkClick action="ppaction://hlinksldjump" r:id="rId9"/>
          </p:cNvPr>
          <p:cNvSpPr/>
          <p:nvPr/>
        </p:nvSpPr>
        <p:spPr>
          <a:xfrm>
            <a:off x="314325" y="3449937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5. Packaged Muffins Market Global Overview</a:t>
            </a:r>
          </a:p>
        </p:txBody>
      </p:sp>
      <p:sp>
        <p:nvSpPr>
          <p:cNvPr id="17" name="Rounded Rectangle 16">
            <a:hlinkClick action="ppaction://hlinksldjump" r:id="rId10"/>
          </p:cNvPr>
          <p:cNvSpPr/>
          <p:nvPr/>
        </p:nvSpPr>
        <p:spPr>
          <a:xfrm>
            <a:off x="314325" y="3841562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6. Global Market Analysis By Region</a:t>
            </a:r>
          </a:p>
        </p:txBody>
      </p:sp>
      <p:sp>
        <p:nvSpPr>
          <p:cNvPr id="18" name="Rounded Rectangle 17">
            <a:hlinkClick action="ppaction://hlinksldjump" r:id="rId11"/>
          </p:cNvPr>
          <p:cNvSpPr/>
          <p:nvPr/>
        </p:nvSpPr>
        <p:spPr>
          <a:xfrm>
            <a:off x="314325" y="4233188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7. Global Market Analysis By Segments</a:t>
            </a:r>
          </a:p>
        </p:txBody>
      </p:sp>
      <p:sp>
        <p:nvSpPr>
          <p:cNvPr id="19" name="Rounded Rectangle 18">
            <a:hlinkClick action="ppaction://hlinksldjump" r:id="rId12"/>
          </p:cNvPr>
          <p:cNvSpPr/>
          <p:nvPr/>
        </p:nvSpPr>
        <p:spPr>
          <a:xfrm>
            <a:off x="314325" y="4624812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8. Cross-sectional Assessment</a:t>
            </a:r>
          </a:p>
        </p:txBody>
      </p:sp>
      <p:sp>
        <p:nvSpPr>
          <p:cNvPr id="20" name="Rounded Rectangle 19">
            <a:hlinkClick action="ppaction://hlinksldjump" r:id="rId13"/>
          </p:cNvPr>
          <p:cNvSpPr/>
          <p:nvPr/>
        </p:nvSpPr>
        <p:spPr>
          <a:xfrm>
            <a:off x="142875" y="501643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Market Outlook</a:t>
            </a:r>
          </a:p>
        </p:txBody>
      </p:sp>
      <p:sp>
        <p:nvSpPr>
          <p:cNvPr id="21" name="Rounded Rectangle 20">
            <a:hlinkClick action="ppaction://hlinksldjump" r:id="rId14"/>
          </p:cNvPr>
          <p:cNvSpPr/>
          <p:nvPr/>
        </p:nvSpPr>
        <p:spPr>
          <a:xfrm>
            <a:off x="314325" y="5390638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9. North America Overview</a:t>
            </a:r>
          </a:p>
        </p:txBody>
      </p:sp>
      <p:sp>
        <p:nvSpPr>
          <p:cNvPr id="22" name="Rounded Rectangle 21">
            <a:hlinkClick action="ppaction://hlinksldjump" r:id="rId15"/>
          </p:cNvPr>
          <p:cNvSpPr/>
          <p:nvPr/>
        </p:nvSpPr>
        <p:spPr>
          <a:xfrm>
            <a:off x="314325" y="5782263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10. North America Market Analysis By Region</a:t>
            </a:r>
          </a:p>
        </p:txBody>
      </p:sp>
      <p:sp>
        <p:nvSpPr>
          <p:cNvPr id="23" name="Rounded Rectangle 22">
            <a:hlinkClick action="ppaction://hlinksldjump" r:id="rId16"/>
          </p:cNvPr>
          <p:cNvSpPr/>
          <p:nvPr/>
        </p:nvSpPr>
        <p:spPr>
          <a:xfrm>
            <a:off x="314325" y="6173887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11. North America Market Analysis By Segments</a:t>
            </a:r>
          </a:p>
        </p:txBody>
      </p:sp>
      <p:sp>
        <p:nvSpPr>
          <p:cNvPr id="24" name="Rounded Rectangle 23">
            <a:hlinkClick action="ppaction://hlinksldjump" r:id="rId17"/>
          </p:cNvPr>
          <p:cNvSpPr/>
          <p:nvPr/>
        </p:nvSpPr>
        <p:spPr>
          <a:xfrm>
            <a:off x="6219825" y="113503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Country Market Outlook</a:t>
            </a:r>
          </a:p>
        </p:txBody>
      </p:sp>
      <p:sp>
        <p:nvSpPr>
          <p:cNvPr id="25" name="Rounded Rectangle 24">
            <a:hlinkClick action="ppaction://hlinksldjump" r:id="rId18"/>
          </p:cNvPr>
          <p:cNvSpPr/>
          <p:nvPr/>
        </p:nvSpPr>
        <p:spPr>
          <a:xfrm>
            <a:off x="6391275" y="1582026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12. Packaged Muffins Market Overview (Volume &amp; Value)</a:t>
            </a:r>
          </a:p>
        </p:txBody>
      </p:sp>
      <p:sp>
        <p:nvSpPr>
          <p:cNvPr id="26" name="Rounded Rectangle 25">
            <a:hlinkClick action="ppaction://hlinksldjump" r:id="rId19"/>
          </p:cNvPr>
          <p:cNvSpPr/>
          <p:nvPr/>
        </p:nvSpPr>
        <p:spPr>
          <a:xfrm>
            <a:off x="6391275" y="2046440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13. Segment Overview (Volume &amp; Value)</a:t>
            </a:r>
          </a:p>
        </p:txBody>
      </p:sp>
      <p:sp>
        <p:nvSpPr>
          <p:cNvPr id="27" name="Rounded Rectangle 26">
            <a:hlinkClick action="ppaction://hlinksldjump" r:id="rId20"/>
          </p:cNvPr>
          <p:cNvSpPr/>
          <p:nvPr/>
        </p:nvSpPr>
        <p:spPr>
          <a:xfrm>
            <a:off x="6219825" y="2510853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Assessment</a:t>
            </a:r>
          </a:p>
        </p:txBody>
      </p:sp>
      <p:sp>
        <p:nvSpPr>
          <p:cNvPr id="28" name="Rounded Rectangle 27">
            <a:hlinkClick action="ppaction://hlinksldjump" r:id="rId21"/>
          </p:cNvPr>
          <p:cNvSpPr/>
          <p:nvPr/>
        </p:nvSpPr>
        <p:spPr>
          <a:xfrm>
            <a:off x="6391275" y="2957843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14. Packaged Muffins Market Pricing Analysis</a:t>
            </a:r>
          </a:p>
        </p:txBody>
      </p:sp>
      <p:sp>
        <p:nvSpPr>
          <p:cNvPr id="29" name="Rounded Rectangle 28">
            <a:hlinkClick action="ppaction://hlinksldjump" r:id="rId22"/>
          </p:cNvPr>
          <p:cNvSpPr/>
          <p:nvPr/>
        </p:nvSpPr>
        <p:spPr>
          <a:xfrm>
            <a:off x="6391275" y="3422255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15. Supply Chain Analysis</a:t>
            </a:r>
          </a:p>
        </p:txBody>
      </p:sp>
      <p:sp>
        <p:nvSpPr>
          <p:cNvPr id="30" name="Rounded Rectangle 29">
            <a:hlinkClick action="ppaction://hlinksldjump" r:id="rId23"/>
          </p:cNvPr>
          <p:cNvSpPr/>
          <p:nvPr/>
        </p:nvSpPr>
        <p:spPr>
          <a:xfrm>
            <a:off x="6219825" y="3886668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Dynamics</a:t>
            </a:r>
          </a:p>
        </p:txBody>
      </p:sp>
      <p:sp>
        <p:nvSpPr>
          <p:cNvPr id="31" name="Rounded Rectangle 30">
            <a:hlinkClick action="ppaction://hlinksldjump" r:id="rId24"/>
          </p:cNvPr>
          <p:cNvSpPr/>
          <p:nvPr/>
        </p:nvSpPr>
        <p:spPr>
          <a:xfrm>
            <a:off x="6391275" y="4333658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16. Market Dynamics &amp; Forces</a:t>
            </a:r>
          </a:p>
        </p:txBody>
      </p:sp>
      <p:sp>
        <p:nvSpPr>
          <p:cNvPr id="32" name="Rounded Rectangle 31">
            <a:hlinkClick action="ppaction://hlinksldjump" r:id="rId25"/>
          </p:cNvPr>
          <p:cNvSpPr/>
          <p:nvPr/>
        </p:nvSpPr>
        <p:spPr>
          <a:xfrm>
            <a:off x="6219825" y="4798071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Competition Assessment</a:t>
            </a:r>
          </a:p>
        </p:txBody>
      </p:sp>
      <p:sp>
        <p:nvSpPr>
          <p:cNvPr id="33" name="Rounded Rectangle 32">
            <a:hlinkClick action="ppaction://hlinksldjump" r:id="rId26"/>
          </p:cNvPr>
          <p:cNvSpPr/>
          <p:nvPr/>
        </p:nvSpPr>
        <p:spPr>
          <a:xfrm>
            <a:off x="6391275" y="5245061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17. Competitive Landscape</a:t>
            </a:r>
          </a:p>
        </p:txBody>
      </p:sp>
      <p:sp>
        <p:nvSpPr>
          <p:cNvPr id="34" name="Rounded Rectangle 33">
            <a:hlinkClick action="ppaction://hlinksldjump" r:id="rId27"/>
          </p:cNvPr>
          <p:cNvSpPr/>
          <p:nvPr/>
        </p:nvSpPr>
        <p:spPr>
          <a:xfrm>
            <a:off x="6391275" y="5709474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18. Market Share by Leading Players</a:t>
            </a:r>
          </a:p>
        </p:txBody>
      </p:sp>
      <p:sp>
        <p:nvSpPr>
          <p:cNvPr id="35" name="Rounded Rectangle 34">
            <a:hlinkClick action="ppaction://hlinksldjump" r:id="rId28"/>
          </p:cNvPr>
          <p:cNvSpPr/>
          <p:nvPr/>
        </p:nvSpPr>
        <p:spPr>
          <a:xfrm>
            <a:off x="6391275" y="6173887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19. Company Profiles &amp; Strategic Benchmarking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Signals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Signals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Signals Reshaping Packaged Muffins Demand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Signals reshaping Packaged Muffins demand, the evidence behind each and what it implies for the global market</a:t>
            </a:r>
          </a:p>
        </p:txBody>
      </p:sp>
      <p:graphicFrame>
        <p:nvGraphicFramePr>
          <p:cNvPr id="10" name="Table 9"/>
          <p:cNvGraphicFramePr>
            <a:graphicFrameLocks noGrp="1"/>
          </p:cNvGraphicFramePr>
          <p:nvPr/>
        </p:nvGraphicFramePr>
        <p:xfrm>
          <a:off x="142875" y="1062022"/>
          <a:ext cx="11906250" cy="55491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71875"/>
                <a:gridCol w="5000625"/>
                <a:gridCol w="3333750"/>
              </a:tblGrid>
              <a:tr h="346820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QUESTIONS WE'RE HEARING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WHAT WE'RE OBSERVING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SELECT DATA POINTS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fast is Packaged Muffins demand set to grow through 2036?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/>
                        <a:t> 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product type categories are buyers prioritising?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is incremental demand concentrating?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regions will drive the next wave of Packaged Muffins demand?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should suppliers focus investment?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784750" y="1761432"/>
            <a:ext cx="16898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Global demand expands at a</a:t>
            </a:r>
          </a:p>
        </p:txBody>
      </p:sp>
      <p:pic>
        <p:nvPicPr>
          <p:cNvPr id="13" name="Picture 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22645" y="1751653"/>
            <a:ext cx="128699" cy="187198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5590141" y="1761432"/>
            <a:ext cx="27081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 (2026–2036), accelerating from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46302" y="1751653"/>
            <a:ext cx="128699" cy="187198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784750" y="1929072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2021–2025.</a:t>
            </a:r>
          </a:p>
        </p:txBody>
      </p:sp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14228" y="1689042"/>
            <a:ext cx="330041" cy="480060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3784750" y="2801893"/>
            <a:ext cx="21823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Sweet muffins leads Product Type, at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15142" y="2792114"/>
            <a:ext cx="128699" cy="187198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6082638" y="2801893"/>
            <a:ext cx="231412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value, within a mix of 2 tracked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3784750" y="2969533"/>
            <a:ext cx="6985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categories.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85375" y="2885713"/>
            <a:ext cx="12925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Lead: Sweet muffins ·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25998" y="2875934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10193494" y="2885713"/>
            <a:ext cx="7894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(2036)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3784750" y="3842354"/>
            <a:ext cx="44840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Foodservice and institutional is the fastest-growing part of Sales Channel, at a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16888" y="3832575"/>
            <a:ext cx="128699" cy="187198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784750" y="4009994"/>
            <a:ext cx="25370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 outpacing the wider market.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785375" y="3926174"/>
            <a:ext cx="22591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Fastest: Foodservice and institutional ·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2622" y="3916395"/>
            <a:ext cx="128699" cy="18719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1160118" y="3926174"/>
            <a:ext cx="5023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F-CAGR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3784750" y="4882815"/>
            <a:ext cx="26734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North America is the largest regional market (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06275" y="4873036"/>
            <a:ext cx="128699" cy="187198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573771" y="4882815"/>
            <a:ext cx="20167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value), while South Asia &amp;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784750" y="5050455"/>
            <a:ext cx="13741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Pacific grows fastest at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06956" y="504067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274452" y="505045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785375" y="4882815"/>
            <a:ext cx="14641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Largest: North America (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97622" y="4873036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10365118" y="4882815"/>
            <a:ext cx="14139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· Fastest: South Asia &amp;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785375" y="5050455"/>
            <a:ext cx="5146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Pacific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48099" y="5040676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415594" y="5050455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784750" y="5923276"/>
            <a:ext cx="9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 incremental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8579" y="5913497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846075" y="5923276"/>
            <a:ext cx="3125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 demand is added between 2026 and 2036,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784750" y="6090916"/>
            <a:ext cx="33244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front-loaded in the leading categories and regions above.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785375" y="6007096"/>
            <a:ext cx="8579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$ opportunity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1346" y="5997317"/>
            <a:ext cx="128699" cy="187198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758842" y="6007096"/>
            <a:ext cx="13457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(2026–2036) ·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2672" y="5997317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11220167" y="6007096"/>
            <a:ext cx="528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2031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Packaged Muffins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Overview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Taxonomy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Table of Contents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Taxonomy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Geographic Coverage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Segments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Coverage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Regions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Geographic scope of the study: the global market broken into 6 regions and the countries assessed under each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6096000" y="1445350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>
            <a:off x="1085850" y="1627887"/>
            <a:ext cx="10010775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1085850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3086100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5086350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7096125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9096375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11096625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1152525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1152525" y="2567952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3152775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3152775" y="2567952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3152775" y="2942153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153025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153025" y="2567952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153025" y="2933026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153025" y="3298100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5153025" y="3663174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5153025" y="4028248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5153025" y="4393322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153025" y="4767523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153025" y="5132597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153025" y="5497671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153025" y="5862745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153025" y="6227819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7162800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7162800" y="2567952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7162800" y="2942153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9163050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9163050" y="2567952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9163050" y="2942153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9163050" y="3316354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9163050" y="3690555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9163050" y="4064755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9163050" y="4438956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9163050" y="4813157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9163050" y="5187358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11163300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1163300" y="2567952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11163300" y="2942153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11163300" y="3316354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11163300" y="3690555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11163300" y="4064755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11163300" y="4438956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Rounded Rectangle 53"/>
          <p:cNvSpPr/>
          <p:nvPr/>
        </p:nvSpPr>
        <p:spPr>
          <a:xfrm>
            <a:off x="4667250" y="1080276"/>
            <a:ext cx="2857500" cy="365074"/>
          </a:xfrm>
          <a:prstGeom prst="roundRect">
            <a:avLst>
              <a:gd name="adj" fmla="val 17500"/>
            </a:avLst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Packaged Muffins Market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142875" y="181042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North America</a:t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276225" y="2266766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57" name="Rounded Rectangle 56"/>
          <p:cNvSpPr/>
          <p:nvPr/>
        </p:nvSpPr>
        <p:spPr>
          <a:xfrm>
            <a:off x="276225" y="2640967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Canada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2143125" y="181042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Latin America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2276475" y="2266766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Brazil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2276475" y="2640967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Mexico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2276475" y="3015168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Rest of LATAM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4143375" y="181042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Europe</a:t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4276725" y="2266766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64" name="Rounded Rectangle 63"/>
          <p:cNvSpPr/>
          <p:nvPr/>
        </p:nvSpPr>
        <p:spPr>
          <a:xfrm>
            <a:off x="4276725" y="2631840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U.K.</a:t>
            </a:r>
          </a:p>
        </p:txBody>
      </p:sp>
      <p:sp>
        <p:nvSpPr>
          <p:cNvPr id="65" name="Rounded Rectangle 64"/>
          <p:cNvSpPr/>
          <p:nvPr/>
        </p:nvSpPr>
        <p:spPr>
          <a:xfrm>
            <a:off x="4276725" y="2996914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France</a:t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4276725" y="3361988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Italy</a:t>
            </a:r>
          </a:p>
        </p:txBody>
      </p:sp>
      <p:sp>
        <p:nvSpPr>
          <p:cNvPr id="67" name="Rounded Rectangle 66"/>
          <p:cNvSpPr/>
          <p:nvPr/>
        </p:nvSpPr>
        <p:spPr>
          <a:xfrm>
            <a:off x="4276725" y="3727062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Spain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4276725" y="4092136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Belgium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4276725" y="4466337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Netherlands</a:t>
            </a:r>
          </a:p>
        </p:txBody>
      </p:sp>
      <p:sp>
        <p:nvSpPr>
          <p:cNvPr id="70" name="Rounded Rectangle 69"/>
          <p:cNvSpPr/>
          <p:nvPr/>
        </p:nvSpPr>
        <p:spPr>
          <a:xfrm>
            <a:off x="4276725" y="4831411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Nordic</a:t>
            </a:r>
          </a:p>
        </p:txBody>
      </p:sp>
      <p:sp>
        <p:nvSpPr>
          <p:cNvPr id="71" name="Rounded Rectangle 70"/>
          <p:cNvSpPr/>
          <p:nvPr/>
        </p:nvSpPr>
        <p:spPr>
          <a:xfrm>
            <a:off x="4276725" y="5196485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Russia</a:t>
            </a:r>
          </a:p>
        </p:txBody>
      </p:sp>
      <p:sp>
        <p:nvSpPr>
          <p:cNvPr id="72" name="Rounded Rectangle 71"/>
          <p:cNvSpPr/>
          <p:nvPr/>
        </p:nvSpPr>
        <p:spPr>
          <a:xfrm>
            <a:off x="4276725" y="5561559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Poland</a:t>
            </a:r>
          </a:p>
        </p:txBody>
      </p:sp>
      <p:sp>
        <p:nvSpPr>
          <p:cNvPr id="73" name="Rounded Rectangle 72"/>
          <p:cNvSpPr/>
          <p:nvPr/>
        </p:nvSpPr>
        <p:spPr>
          <a:xfrm>
            <a:off x="4276725" y="5926633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Switzerland</a:t>
            </a:r>
          </a:p>
        </p:txBody>
      </p:sp>
      <p:sp>
        <p:nvSpPr>
          <p:cNvPr id="74" name="Rounded Rectangle 73"/>
          <p:cNvSpPr/>
          <p:nvPr/>
        </p:nvSpPr>
        <p:spPr>
          <a:xfrm>
            <a:off x="4276725" y="6291707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Rest of Europe</a:t>
            </a:r>
          </a:p>
        </p:txBody>
      </p:sp>
      <p:sp>
        <p:nvSpPr>
          <p:cNvPr id="75" name="Rounded Rectangle 74"/>
          <p:cNvSpPr/>
          <p:nvPr/>
        </p:nvSpPr>
        <p:spPr>
          <a:xfrm>
            <a:off x="6153150" y="181042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East Asia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6286500" y="2266766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China</a:t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6286500" y="2640967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Japan</a:t>
            </a:r>
          </a:p>
        </p:txBody>
      </p:sp>
      <p:sp>
        <p:nvSpPr>
          <p:cNvPr id="78" name="Rounded Rectangle 77"/>
          <p:cNvSpPr/>
          <p:nvPr/>
        </p:nvSpPr>
        <p:spPr>
          <a:xfrm>
            <a:off x="6286500" y="3015168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South Korea</a:t>
            </a:r>
          </a:p>
        </p:txBody>
      </p:sp>
      <p:sp>
        <p:nvSpPr>
          <p:cNvPr id="79" name="Rounded Rectangle 78"/>
          <p:cNvSpPr/>
          <p:nvPr/>
        </p:nvSpPr>
        <p:spPr>
          <a:xfrm>
            <a:off x="8153400" y="181042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South Asia &amp; Pacific</a:t>
            </a:r>
          </a:p>
        </p:txBody>
      </p:sp>
      <p:sp>
        <p:nvSpPr>
          <p:cNvPr id="80" name="Rounded Rectangle 79"/>
          <p:cNvSpPr/>
          <p:nvPr/>
        </p:nvSpPr>
        <p:spPr>
          <a:xfrm>
            <a:off x="8286750" y="2266766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India</a:t>
            </a:r>
          </a:p>
        </p:txBody>
      </p:sp>
      <p:sp>
        <p:nvSpPr>
          <p:cNvPr id="81" name="Rounded Rectangle 80"/>
          <p:cNvSpPr/>
          <p:nvPr/>
        </p:nvSpPr>
        <p:spPr>
          <a:xfrm>
            <a:off x="8286750" y="2640967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Thailand</a:t>
            </a:r>
          </a:p>
        </p:txBody>
      </p:sp>
      <p:sp>
        <p:nvSpPr>
          <p:cNvPr id="82" name="Rounded Rectangle 81"/>
          <p:cNvSpPr/>
          <p:nvPr/>
        </p:nvSpPr>
        <p:spPr>
          <a:xfrm>
            <a:off x="8286750" y="3015168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Malaysia</a:t>
            </a:r>
          </a:p>
        </p:txBody>
      </p:sp>
      <p:sp>
        <p:nvSpPr>
          <p:cNvPr id="83" name="Rounded Rectangle 82"/>
          <p:cNvSpPr/>
          <p:nvPr/>
        </p:nvSpPr>
        <p:spPr>
          <a:xfrm>
            <a:off x="8286750" y="3389369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Indonesia</a:t>
            </a:r>
          </a:p>
        </p:txBody>
      </p:sp>
      <p:sp>
        <p:nvSpPr>
          <p:cNvPr id="84" name="Rounded Rectangle 83"/>
          <p:cNvSpPr/>
          <p:nvPr/>
        </p:nvSpPr>
        <p:spPr>
          <a:xfrm>
            <a:off x="8286750" y="3763569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Philippines</a:t>
            </a:r>
          </a:p>
        </p:txBody>
      </p:sp>
      <p:sp>
        <p:nvSpPr>
          <p:cNvPr id="85" name="Rounded Rectangle 84"/>
          <p:cNvSpPr/>
          <p:nvPr/>
        </p:nvSpPr>
        <p:spPr>
          <a:xfrm>
            <a:off x="8286750" y="4137770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Singapore</a:t>
            </a:r>
          </a:p>
        </p:txBody>
      </p:sp>
      <p:sp>
        <p:nvSpPr>
          <p:cNvPr id="86" name="Rounded Rectangle 85"/>
          <p:cNvSpPr/>
          <p:nvPr/>
        </p:nvSpPr>
        <p:spPr>
          <a:xfrm>
            <a:off x="8286750" y="4511971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Australia</a:t>
            </a:r>
          </a:p>
        </p:txBody>
      </p:sp>
      <p:sp>
        <p:nvSpPr>
          <p:cNvPr id="87" name="Rounded Rectangle 86"/>
          <p:cNvSpPr/>
          <p:nvPr/>
        </p:nvSpPr>
        <p:spPr>
          <a:xfrm>
            <a:off x="8286750" y="4886172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New Zealand</a:t>
            </a:r>
          </a:p>
        </p:txBody>
      </p:sp>
      <p:sp>
        <p:nvSpPr>
          <p:cNvPr id="88" name="Rounded Rectangle 87"/>
          <p:cNvSpPr/>
          <p:nvPr/>
        </p:nvSpPr>
        <p:spPr>
          <a:xfrm>
            <a:off x="8286750" y="5260373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Rest of South East Asia</a:t>
            </a:r>
          </a:p>
        </p:txBody>
      </p:sp>
      <p:sp>
        <p:nvSpPr>
          <p:cNvPr id="89" name="Rounded Rectangle 88"/>
          <p:cNvSpPr/>
          <p:nvPr/>
        </p:nvSpPr>
        <p:spPr>
          <a:xfrm>
            <a:off x="10153650" y="181042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Middle East &amp; Africa</a:t>
            </a:r>
          </a:p>
        </p:txBody>
      </p:sp>
      <p:sp>
        <p:nvSpPr>
          <p:cNvPr id="90" name="Rounded Rectangle 89"/>
          <p:cNvSpPr/>
          <p:nvPr/>
        </p:nvSpPr>
        <p:spPr>
          <a:xfrm>
            <a:off x="10287000" y="2266766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UAE</a:t>
            </a:r>
          </a:p>
        </p:txBody>
      </p:sp>
      <p:sp>
        <p:nvSpPr>
          <p:cNvPr id="91" name="Rounded Rectangle 90"/>
          <p:cNvSpPr/>
          <p:nvPr/>
        </p:nvSpPr>
        <p:spPr>
          <a:xfrm>
            <a:off x="10287000" y="2640967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Saudi Arabia</a:t>
            </a:r>
          </a:p>
        </p:txBody>
      </p:sp>
      <p:sp>
        <p:nvSpPr>
          <p:cNvPr id="92" name="Rounded Rectangle 91"/>
          <p:cNvSpPr/>
          <p:nvPr/>
        </p:nvSpPr>
        <p:spPr>
          <a:xfrm>
            <a:off x="10287000" y="3015168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Turkey</a:t>
            </a:r>
          </a:p>
        </p:txBody>
      </p:sp>
      <p:sp>
        <p:nvSpPr>
          <p:cNvPr id="93" name="Rounded Rectangle 92"/>
          <p:cNvSpPr/>
          <p:nvPr/>
        </p:nvSpPr>
        <p:spPr>
          <a:xfrm>
            <a:off x="10287000" y="3389369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Israel</a:t>
            </a:r>
          </a:p>
        </p:txBody>
      </p:sp>
      <p:sp>
        <p:nvSpPr>
          <p:cNvPr id="94" name="Rounded Rectangle 93"/>
          <p:cNvSpPr/>
          <p:nvPr/>
        </p:nvSpPr>
        <p:spPr>
          <a:xfrm>
            <a:off x="10287000" y="3763569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Rest of GCC</a:t>
            </a:r>
          </a:p>
        </p:txBody>
      </p:sp>
      <p:sp>
        <p:nvSpPr>
          <p:cNvPr id="95" name="Rounded Rectangle 94"/>
          <p:cNvSpPr/>
          <p:nvPr/>
        </p:nvSpPr>
        <p:spPr>
          <a:xfrm>
            <a:off x="10287000" y="4137770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South Africa</a:t>
            </a:r>
          </a:p>
        </p:txBody>
      </p:sp>
      <p:sp>
        <p:nvSpPr>
          <p:cNvPr id="96" name="Rounded Rectangle 95"/>
          <p:cNvSpPr/>
          <p:nvPr/>
        </p:nvSpPr>
        <p:spPr>
          <a:xfrm>
            <a:off x="10287000" y="4511971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Rest of MEA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17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253174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Type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Fruit muffins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Chocolate and cocoa muffins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3714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619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 and seed muffins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Plain and vanilla muffins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Spice-flavoured muffins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sweet muffins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Cheese muffins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Vegetable muffins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Meat-containing muffins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7147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1975" y="32061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Herb and spice muffins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savoury muffins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2875" y="3674745"/>
            <a:ext cx="2876550" cy="93726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142875" y="367474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19075" y="367474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Individual Muffin Size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0002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90525" y="390334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Mini / bite-sized - below 30 g</a:t>
            </a:r>
          </a:p>
        </p:txBody>
      </p:sp>
      <p:cxnSp>
        <p:nvCxnSpPr>
          <p:cNvPr id="56" name="Connector 55"/>
          <p:cNvCxnSpPr/>
          <p:nvPr/>
        </p:nvCxnSpPr>
        <p:spPr>
          <a:xfrm>
            <a:off x="152400" y="40805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200025" y="40805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90525" y="408051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Small - 30 g to below 60 g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52400" y="42576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200025" y="42576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390525" y="425767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- 60 g to below 100 g</a:t>
            </a:r>
          </a:p>
        </p:txBody>
      </p:sp>
      <p:cxnSp>
        <p:nvCxnSpPr>
          <p:cNvPr id="62" name="Connector 61"/>
          <p:cNvCxnSpPr/>
          <p:nvPr/>
        </p:nvCxnSpPr>
        <p:spPr>
          <a:xfrm>
            <a:off x="152400" y="44348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TextBox 62"/>
          <p:cNvSpPr txBox="1"/>
          <p:nvPr/>
        </p:nvSpPr>
        <p:spPr>
          <a:xfrm>
            <a:off x="200025" y="44348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90525" y="443484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42875" y="4726305"/>
            <a:ext cx="2876550" cy="76009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42875" y="472630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219075" y="472630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Storage Format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00025" y="49549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90525" y="495490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Ambient</a:t>
            </a:r>
          </a:p>
        </p:txBody>
      </p:sp>
      <p:cxnSp>
        <p:nvCxnSpPr>
          <p:cNvPr id="70" name="Connector 69"/>
          <p:cNvCxnSpPr/>
          <p:nvPr/>
        </p:nvCxnSpPr>
        <p:spPr>
          <a:xfrm>
            <a:off x="152400" y="51320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TextBox 70"/>
          <p:cNvSpPr txBox="1"/>
          <p:nvPr/>
        </p:nvSpPr>
        <p:spPr>
          <a:xfrm>
            <a:off x="200025" y="51320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90525" y="513207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Chilled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152400" y="53092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TextBox 73"/>
          <p:cNvSpPr txBox="1"/>
          <p:nvPr/>
        </p:nvSpPr>
        <p:spPr>
          <a:xfrm>
            <a:off x="200025" y="53092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390525" y="530923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Frozen</a:t>
            </a:r>
          </a:p>
        </p:txBody>
      </p:sp>
      <p:sp>
        <p:nvSpPr>
          <p:cNvPr id="76" name="Rectangle 75"/>
          <p:cNvSpPr/>
          <p:nvPr/>
        </p:nvSpPr>
        <p:spPr>
          <a:xfrm>
            <a:off x="3152775" y="1028700"/>
            <a:ext cx="2876550" cy="217741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Flavour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Sweet Muffins Flavours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33813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5718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Fruit-based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Chocolate-based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33813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5718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 and seed-based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3813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35718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Plain and classic</a:t>
            </a:r>
          </a:p>
        </p:txBody>
      </p:sp>
      <p:cxnSp>
        <p:nvCxnSpPr>
          <p:cNvPr id="93" name="Connector 92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TextBox 93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5718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Spice and dessert-inspired</a:t>
            </a:r>
          </a:p>
        </p:txBody>
      </p:sp>
      <p:cxnSp>
        <p:nvCxnSpPr>
          <p:cNvPr id="96" name="Connector 95"/>
          <p:cNvCxnSpPr/>
          <p:nvPr/>
        </p:nvCxnSpPr>
        <p:spPr>
          <a:xfrm>
            <a:off x="31623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320992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400425" y="23202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Savoury Muffins Flavours</a:t>
            </a:r>
          </a:p>
        </p:txBody>
      </p:sp>
      <p:cxnSp>
        <p:nvCxnSpPr>
          <p:cNvPr id="99" name="Connector 98"/>
          <p:cNvCxnSpPr/>
          <p:nvPr/>
        </p:nvCxnSpPr>
        <p:spPr>
          <a:xfrm>
            <a:off x="31623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0" name="TextBox 99"/>
          <p:cNvSpPr txBox="1"/>
          <p:nvPr/>
        </p:nvSpPr>
        <p:spPr>
          <a:xfrm>
            <a:off x="338137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571875" y="24974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Cheese-based</a:t>
            </a:r>
          </a:p>
        </p:txBody>
      </p:sp>
      <p:cxnSp>
        <p:nvCxnSpPr>
          <p:cNvPr id="102" name="Connector 101"/>
          <p:cNvCxnSpPr/>
          <p:nvPr/>
        </p:nvCxnSpPr>
        <p:spPr>
          <a:xfrm>
            <a:off x="31623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3" name="TextBox 102"/>
          <p:cNvSpPr txBox="1"/>
          <p:nvPr/>
        </p:nvSpPr>
        <p:spPr>
          <a:xfrm>
            <a:off x="33813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5718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Vegetable-based</a:t>
            </a:r>
          </a:p>
        </p:txBody>
      </p:sp>
      <p:cxnSp>
        <p:nvCxnSpPr>
          <p:cNvPr id="105" name="Connector 104"/>
          <p:cNvCxnSpPr/>
          <p:nvPr/>
        </p:nvCxnSpPr>
        <p:spPr>
          <a:xfrm>
            <a:off x="31623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6" name="TextBox 105"/>
          <p:cNvSpPr txBox="1"/>
          <p:nvPr/>
        </p:nvSpPr>
        <p:spPr>
          <a:xfrm>
            <a:off x="33813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5718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Meat-based</a:t>
            </a:r>
          </a:p>
        </p:txBody>
      </p:sp>
      <p:cxnSp>
        <p:nvCxnSpPr>
          <p:cNvPr id="108" name="Connector 107"/>
          <p:cNvCxnSpPr/>
          <p:nvPr/>
        </p:nvCxnSpPr>
        <p:spPr>
          <a:xfrm>
            <a:off x="31623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" name="TextBox 108"/>
          <p:cNvSpPr txBox="1"/>
          <p:nvPr/>
        </p:nvSpPr>
        <p:spPr>
          <a:xfrm>
            <a:off x="33813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5718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Herb and spice-based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3152775" y="3320415"/>
            <a:ext cx="2876550" cy="182308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3152775" y="332041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3228975" y="332041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Structure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20992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400425" y="35490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Unfilled muffins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37261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37261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Plain batter</a:t>
            </a:r>
          </a:p>
        </p:txBody>
      </p:sp>
      <p:cxnSp>
        <p:nvCxnSpPr>
          <p:cNvPr id="119" name="Connector 118"/>
          <p:cNvCxnSpPr/>
          <p:nvPr/>
        </p:nvCxnSpPr>
        <p:spPr>
          <a:xfrm>
            <a:off x="31623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TextBox 119"/>
          <p:cNvSpPr txBox="1"/>
          <p:nvPr/>
        </p:nvSpPr>
        <p:spPr>
          <a:xfrm>
            <a:off x="338137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571875" y="39033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Batter with inclusions</a:t>
            </a:r>
          </a:p>
        </p:txBody>
      </p:sp>
      <p:cxnSp>
        <p:nvCxnSpPr>
          <p:cNvPr id="122" name="Connector 121"/>
          <p:cNvCxnSpPr/>
          <p:nvPr/>
        </p:nvCxnSpPr>
        <p:spPr>
          <a:xfrm>
            <a:off x="3162300" y="40805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3" name="TextBox 122"/>
          <p:cNvSpPr txBox="1"/>
          <p:nvPr/>
        </p:nvSpPr>
        <p:spPr>
          <a:xfrm>
            <a:off x="3209925" y="40805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400425" y="408051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Filled muffins</a:t>
            </a:r>
          </a:p>
        </p:txBody>
      </p:sp>
      <p:cxnSp>
        <p:nvCxnSpPr>
          <p:cNvPr id="125" name="Connector 124"/>
          <p:cNvCxnSpPr/>
          <p:nvPr/>
        </p:nvCxnSpPr>
        <p:spPr>
          <a:xfrm>
            <a:off x="3162300" y="42576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TextBox 125"/>
          <p:cNvSpPr txBox="1"/>
          <p:nvPr/>
        </p:nvSpPr>
        <p:spPr>
          <a:xfrm>
            <a:off x="3381375" y="42576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571875" y="42576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Fruit and jam-filled</a:t>
            </a:r>
          </a:p>
        </p:txBody>
      </p:sp>
      <p:cxnSp>
        <p:nvCxnSpPr>
          <p:cNvPr id="128" name="Connector 127"/>
          <p:cNvCxnSpPr/>
          <p:nvPr/>
        </p:nvCxnSpPr>
        <p:spPr>
          <a:xfrm>
            <a:off x="3162300" y="44348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TextBox 128"/>
          <p:cNvSpPr txBox="1"/>
          <p:nvPr/>
        </p:nvSpPr>
        <p:spPr>
          <a:xfrm>
            <a:off x="3381375" y="44348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3571875" y="44348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Chocolate-filled</a:t>
            </a:r>
          </a:p>
        </p:txBody>
      </p:sp>
      <p:cxnSp>
        <p:nvCxnSpPr>
          <p:cNvPr id="131" name="Connector 130"/>
          <p:cNvCxnSpPr/>
          <p:nvPr/>
        </p:nvCxnSpPr>
        <p:spPr>
          <a:xfrm>
            <a:off x="3162300" y="46120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2" name="TextBox 131"/>
          <p:cNvSpPr txBox="1"/>
          <p:nvPr/>
        </p:nvSpPr>
        <p:spPr>
          <a:xfrm>
            <a:off x="3381375" y="46120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3571875" y="46120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and custard-filled</a:t>
            </a:r>
          </a:p>
        </p:txBody>
      </p:sp>
      <p:cxnSp>
        <p:nvCxnSpPr>
          <p:cNvPr id="134" name="Connector 133"/>
          <p:cNvCxnSpPr/>
          <p:nvPr/>
        </p:nvCxnSpPr>
        <p:spPr>
          <a:xfrm>
            <a:off x="3162300" y="47891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5" name="TextBox 134"/>
          <p:cNvSpPr txBox="1"/>
          <p:nvPr/>
        </p:nvSpPr>
        <p:spPr>
          <a:xfrm>
            <a:off x="3381375" y="47891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3571875" y="47891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 butter-filled</a:t>
            </a:r>
          </a:p>
        </p:txBody>
      </p:sp>
      <p:cxnSp>
        <p:nvCxnSpPr>
          <p:cNvPr id="137" name="Connector 136"/>
          <p:cNvCxnSpPr/>
          <p:nvPr/>
        </p:nvCxnSpPr>
        <p:spPr>
          <a:xfrm>
            <a:off x="3162300" y="49663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TextBox 137"/>
          <p:cNvSpPr txBox="1"/>
          <p:nvPr/>
        </p:nvSpPr>
        <p:spPr>
          <a:xfrm>
            <a:off x="3381375" y="49663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71875" y="49663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Cheese and savoury-filled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6162675" y="1028700"/>
            <a:ext cx="2876550" cy="20002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Primary Flour Base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Wheat-based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63912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5817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Refined wheat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Whole wheat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62198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4103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Oat-based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621982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0325" y="196596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Rice-based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21982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410325" y="214312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Corn-based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21982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410325" y="23202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Millet-based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2198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410325" y="24974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Almond and other nut flour-based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21982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410325" y="267462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Other single-flour bases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21982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410325" y="285178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6162675" y="3143250"/>
            <a:ext cx="2876550" cy="217741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6162675" y="314325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238875" y="314325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Recipe and Ingredient Claims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621982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6410325" y="337185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Organic-certified</a:t>
            </a:r>
          </a:p>
        </p:txBody>
      </p:sp>
      <p:cxnSp>
        <p:nvCxnSpPr>
          <p:cNvPr id="177" name="Connector 176"/>
          <p:cNvCxnSpPr/>
          <p:nvPr/>
        </p:nvCxnSpPr>
        <p:spPr>
          <a:xfrm>
            <a:off x="61722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8" name="TextBox 177"/>
          <p:cNvSpPr txBox="1"/>
          <p:nvPr/>
        </p:nvSpPr>
        <p:spPr>
          <a:xfrm>
            <a:off x="621982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6410325" y="35490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Conventional / non-organic</a:t>
            </a:r>
          </a:p>
        </p:txBody>
      </p:sp>
      <p:cxnSp>
        <p:nvCxnSpPr>
          <p:cNvPr id="180" name="Connector 179"/>
          <p:cNvCxnSpPr/>
          <p:nvPr/>
        </p:nvCxnSpPr>
        <p:spPr>
          <a:xfrm>
            <a:off x="61722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1" name="TextBox 180"/>
          <p:cNvSpPr txBox="1"/>
          <p:nvPr/>
        </p:nvSpPr>
        <p:spPr>
          <a:xfrm>
            <a:off x="6219825" y="37261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6410325" y="372618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Additional claim mapping</a:t>
            </a:r>
          </a:p>
        </p:txBody>
      </p:sp>
      <p:cxnSp>
        <p:nvCxnSpPr>
          <p:cNvPr id="183" name="Connector 182"/>
          <p:cNvCxnSpPr/>
          <p:nvPr/>
        </p:nvCxnSpPr>
        <p:spPr>
          <a:xfrm>
            <a:off x="61722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TextBox 183"/>
          <p:cNvSpPr txBox="1"/>
          <p:nvPr/>
        </p:nvSpPr>
        <p:spPr>
          <a:xfrm>
            <a:off x="639127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6581775" y="39033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Clean-label positioning</a:t>
            </a:r>
          </a:p>
        </p:txBody>
      </p:sp>
      <p:cxnSp>
        <p:nvCxnSpPr>
          <p:cNvPr id="186" name="Connector 185"/>
          <p:cNvCxnSpPr/>
          <p:nvPr/>
        </p:nvCxnSpPr>
        <p:spPr>
          <a:xfrm>
            <a:off x="6172200" y="40805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7" name="TextBox 186"/>
          <p:cNvSpPr txBox="1"/>
          <p:nvPr/>
        </p:nvSpPr>
        <p:spPr>
          <a:xfrm>
            <a:off x="6391275" y="40805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6581775" y="40805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 artificial colours</a:t>
            </a:r>
          </a:p>
        </p:txBody>
      </p:sp>
      <p:cxnSp>
        <p:nvCxnSpPr>
          <p:cNvPr id="189" name="Connector 188"/>
          <p:cNvCxnSpPr/>
          <p:nvPr/>
        </p:nvCxnSpPr>
        <p:spPr>
          <a:xfrm>
            <a:off x="6172200" y="42576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0" name="TextBox 189"/>
          <p:cNvSpPr txBox="1"/>
          <p:nvPr/>
        </p:nvSpPr>
        <p:spPr>
          <a:xfrm>
            <a:off x="6391275" y="42576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6581775" y="42576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 artificial flavours</a:t>
            </a:r>
          </a:p>
        </p:txBody>
      </p:sp>
      <p:cxnSp>
        <p:nvCxnSpPr>
          <p:cNvPr id="192" name="Connector 191"/>
          <p:cNvCxnSpPr/>
          <p:nvPr/>
        </p:nvCxnSpPr>
        <p:spPr>
          <a:xfrm>
            <a:off x="6172200" y="44348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3" name="TextBox 192"/>
          <p:cNvSpPr txBox="1"/>
          <p:nvPr/>
        </p:nvSpPr>
        <p:spPr>
          <a:xfrm>
            <a:off x="6391275" y="44348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6581775" y="44348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 artificial preservatives</a:t>
            </a:r>
          </a:p>
        </p:txBody>
      </p:sp>
      <p:cxnSp>
        <p:nvCxnSpPr>
          <p:cNvPr id="195" name="Connector 194"/>
          <p:cNvCxnSpPr/>
          <p:nvPr/>
        </p:nvCxnSpPr>
        <p:spPr>
          <a:xfrm>
            <a:off x="6172200" y="46120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6" name="TextBox 195"/>
          <p:cNvSpPr txBox="1"/>
          <p:nvPr/>
        </p:nvSpPr>
        <p:spPr>
          <a:xfrm>
            <a:off x="6391275" y="46120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6581775" y="46120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Non-GMO</a:t>
            </a:r>
          </a:p>
        </p:txBody>
      </p:sp>
      <p:cxnSp>
        <p:nvCxnSpPr>
          <p:cNvPr id="198" name="Connector 197"/>
          <p:cNvCxnSpPr/>
          <p:nvPr/>
        </p:nvCxnSpPr>
        <p:spPr>
          <a:xfrm>
            <a:off x="6172200" y="47891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TextBox 198"/>
          <p:cNvSpPr txBox="1"/>
          <p:nvPr/>
        </p:nvSpPr>
        <p:spPr>
          <a:xfrm>
            <a:off x="6391275" y="47891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6581775" y="47891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Dairy-free</a:t>
            </a:r>
          </a:p>
        </p:txBody>
      </p:sp>
      <p:cxnSp>
        <p:nvCxnSpPr>
          <p:cNvPr id="201" name="Connector 200"/>
          <p:cNvCxnSpPr/>
          <p:nvPr/>
        </p:nvCxnSpPr>
        <p:spPr>
          <a:xfrm>
            <a:off x="6172200" y="49663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2" name="TextBox 201"/>
          <p:cNvSpPr txBox="1"/>
          <p:nvPr/>
        </p:nvSpPr>
        <p:spPr>
          <a:xfrm>
            <a:off x="6391275" y="49663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6581775" y="49663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Egg-free</a:t>
            </a:r>
          </a:p>
        </p:txBody>
      </p:sp>
      <p:cxnSp>
        <p:nvCxnSpPr>
          <p:cNvPr id="204" name="Connector 203"/>
          <p:cNvCxnSpPr/>
          <p:nvPr/>
        </p:nvCxnSpPr>
        <p:spPr>
          <a:xfrm>
            <a:off x="6172200" y="51435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TextBox 204"/>
          <p:cNvSpPr txBox="1"/>
          <p:nvPr/>
        </p:nvSpPr>
        <p:spPr>
          <a:xfrm>
            <a:off x="6391275" y="51435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6581775" y="51435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Nut-free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172575" y="1028700"/>
            <a:ext cx="2876550" cy="93726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TextBox 208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Dietary Formulation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94202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</a:t>
            </a:r>
          </a:p>
        </p:txBody>
      </p:sp>
      <p:cxnSp>
        <p:nvCxnSpPr>
          <p:cNvPr id="212" name="Connector 211"/>
          <p:cNvCxnSpPr/>
          <p:nvPr/>
        </p:nvCxnSpPr>
        <p:spPr>
          <a:xfrm>
            <a:off x="91821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3" name="TextBox 212"/>
          <p:cNvSpPr txBox="1"/>
          <p:nvPr/>
        </p:nvSpPr>
        <p:spPr>
          <a:xfrm>
            <a:off x="922972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9420225" y="143446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</a:t>
            </a:r>
          </a:p>
        </p:txBody>
      </p:sp>
      <p:cxnSp>
        <p:nvCxnSpPr>
          <p:cNvPr id="215" name="Connector 214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6" name="TextBox 215"/>
          <p:cNvSpPr txBox="1"/>
          <p:nvPr/>
        </p:nvSpPr>
        <p:spPr>
          <a:xfrm>
            <a:off x="922972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9420225" y="16116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Vegan</a:t>
            </a:r>
          </a:p>
        </p:txBody>
      </p:sp>
      <p:cxnSp>
        <p:nvCxnSpPr>
          <p:cNvPr id="218" name="Connector 217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9" name="TextBox 218"/>
          <p:cNvSpPr txBox="1"/>
          <p:nvPr/>
        </p:nvSpPr>
        <p:spPr>
          <a:xfrm>
            <a:off x="92297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94202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 and vegan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172575" y="2080260"/>
            <a:ext cx="2876550" cy="14687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9172575" y="208026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TextBox 222"/>
          <p:cNvSpPr txBox="1"/>
          <p:nvPr/>
        </p:nvSpPr>
        <p:spPr>
          <a:xfrm>
            <a:off x="9248775" y="208026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Nutritional Positioning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9229725" y="23088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9420225" y="230886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/ indulgent</a:t>
            </a:r>
          </a:p>
        </p:txBody>
      </p:sp>
      <p:cxnSp>
        <p:nvCxnSpPr>
          <p:cNvPr id="226" name="Connector 225"/>
          <p:cNvCxnSpPr/>
          <p:nvPr/>
        </p:nvCxnSpPr>
        <p:spPr>
          <a:xfrm>
            <a:off x="9182100" y="24860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7" name="TextBox 226"/>
          <p:cNvSpPr txBox="1"/>
          <p:nvPr/>
        </p:nvSpPr>
        <p:spPr>
          <a:xfrm>
            <a:off x="9229725" y="24860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9420225" y="248602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Protein-enriched</a:t>
            </a:r>
          </a:p>
        </p:txBody>
      </p:sp>
      <p:cxnSp>
        <p:nvCxnSpPr>
          <p:cNvPr id="229" name="Connector 228"/>
          <p:cNvCxnSpPr/>
          <p:nvPr/>
        </p:nvCxnSpPr>
        <p:spPr>
          <a:xfrm>
            <a:off x="9182100" y="26631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0" name="TextBox 229"/>
          <p:cNvSpPr txBox="1"/>
          <p:nvPr/>
        </p:nvSpPr>
        <p:spPr>
          <a:xfrm>
            <a:off x="922972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9420225" y="26631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Fibre-enriched</a:t>
            </a:r>
          </a:p>
        </p:txBody>
      </p:sp>
      <p:cxnSp>
        <p:nvCxnSpPr>
          <p:cNvPr id="232" name="Connector 231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3" name="TextBox 232"/>
          <p:cNvSpPr txBox="1"/>
          <p:nvPr/>
        </p:nvSpPr>
        <p:spPr>
          <a:xfrm>
            <a:off x="922972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9420225" y="28403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Reduced-sugar</a:t>
            </a:r>
          </a:p>
        </p:txBody>
      </p:sp>
      <p:cxnSp>
        <p:nvCxnSpPr>
          <p:cNvPr id="235" name="Connector 234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6" name="TextBox 235"/>
          <p:cNvSpPr txBox="1"/>
          <p:nvPr/>
        </p:nvSpPr>
        <p:spPr>
          <a:xfrm>
            <a:off x="922972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7" name="TextBox 236"/>
          <p:cNvSpPr txBox="1"/>
          <p:nvPr/>
        </p:nvSpPr>
        <p:spPr>
          <a:xfrm>
            <a:off x="9420225" y="301752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No-added-sugar</a:t>
            </a:r>
          </a:p>
        </p:txBody>
      </p:sp>
      <p:cxnSp>
        <p:nvCxnSpPr>
          <p:cNvPr id="238" name="Connector 237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9" name="TextBox 238"/>
          <p:cNvSpPr txBox="1"/>
          <p:nvPr/>
        </p:nvSpPr>
        <p:spPr>
          <a:xfrm>
            <a:off x="922972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0" name="TextBox 239"/>
          <p:cNvSpPr txBox="1"/>
          <p:nvPr/>
        </p:nvSpPr>
        <p:spPr>
          <a:xfrm>
            <a:off x="9420225" y="319468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Reduced-fat</a:t>
            </a:r>
          </a:p>
        </p:txBody>
      </p:sp>
      <p:cxnSp>
        <p:nvCxnSpPr>
          <p:cNvPr id="241" name="Connector 240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2" name="TextBox 241"/>
          <p:cNvSpPr txBox="1"/>
          <p:nvPr/>
        </p:nvSpPr>
        <p:spPr>
          <a:xfrm>
            <a:off x="922972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3" name="TextBox 242"/>
          <p:cNvSpPr txBox="1"/>
          <p:nvPr/>
        </p:nvSpPr>
        <p:spPr>
          <a:xfrm>
            <a:off x="9420225" y="337185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nutrition-focused formulations</a:t>
            </a:r>
          </a:p>
        </p:txBody>
      </p:sp>
      <p:sp>
        <p:nvSpPr>
          <p:cNvPr id="244" name="Rectangle 243"/>
          <p:cNvSpPr/>
          <p:nvPr/>
        </p:nvSpPr>
        <p:spPr>
          <a:xfrm>
            <a:off x="9172575" y="3663315"/>
            <a:ext cx="2876550" cy="129159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9172575" y="366331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9248775" y="366331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Surface Finish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9229725" y="38919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9420225" y="38919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Untopped</a:t>
            </a:r>
          </a:p>
        </p:txBody>
      </p:sp>
      <p:cxnSp>
        <p:nvCxnSpPr>
          <p:cNvPr id="249" name="Connector 248"/>
          <p:cNvCxnSpPr/>
          <p:nvPr/>
        </p:nvCxnSpPr>
        <p:spPr>
          <a:xfrm>
            <a:off x="9182100" y="40690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0" name="TextBox 249"/>
          <p:cNvSpPr txBox="1"/>
          <p:nvPr/>
        </p:nvSpPr>
        <p:spPr>
          <a:xfrm>
            <a:off x="9229725" y="40690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51" name="TextBox 250"/>
          <p:cNvSpPr txBox="1"/>
          <p:nvPr/>
        </p:nvSpPr>
        <p:spPr>
          <a:xfrm>
            <a:off x="9420225" y="406908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Crumb / streusel-topped</a:t>
            </a:r>
          </a:p>
        </p:txBody>
      </p:sp>
      <p:cxnSp>
        <p:nvCxnSpPr>
          <p:cNvPr id="252" name="Connector 251"/>
          <p:cNvCxnSpPr/>
          <p:nvPr/>
        </p:nvCxnSpPr>
        <p:spPr>
          <a:xfrm>
            <a:off x="9182100" y="42462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3" name="TextBox 252"/>
          <p:cNvSpPr txBox="1"/>
          <p:nvPr/>
        </p:nvSpPr>
        <p:spPr>
          <a:xfrm>
            <a:off x="9229725" y="42462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9420225" y="424624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Sugar-topped</a:t>
            </a:r>
          </a:p>
        </p:txBody>
      </p:sp>
      <p:cxnSp>
        <p:nvCxnSpPr>
          <p:cNvPr id="255" name="Connector 254"/>
          <p:cNvCxnSpPr/>
          <p:nvPr/>
        </p:nvCxnSpPr>
        <p:spPr>
          <a:xfrm>
            <a:off x="9182100" y="44234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6" name="TextBox 255"/>
          <p:cNvSpPr txBox="1"/>
          <p:nvPr/>
        </p:nvSpPr>
        <p:spPr>
          <a:xfrm>
            <a:off x="9229725" y="44234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9420225" y="442341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 and seed-topped</a:t>
            </a:r>
          </a:p>
        </p:txBody>
      </p:sp>
      <p:cxnSp>
        <p:nvCxnSpPr>
          <p:cNvPr id="258" name="Connector 257"/>
          <p:cNvCxnSpPr/>
          <p:nvPr/>
        </p:nvCxnSpPr>
        <p:spPr>
          <a:xfrm>
            <a:off x="9182100" y="46005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9" name="TextBox 258"/>
          <p:cNvSpPr txBox="1"/>
          <p:nvPr/>
        </p:nvSpPr>
        <p:spPr>
          <a:xfrm>
            <a:off x="9229725" y="46005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60" name="TextBox 259"/>
          <p:cNvSpPr txBox="1"/>
          <p:nvPr/>
        </p:nvSpPr>
        <p:spPr>
          <a:xfrm>
            <a:off x="9420225" y="460057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Glazed / drizzled</a:t>
            </a:r>
          </a:p>
        </p:txBody>
      </p:sp>
      <p:cxnSp>
        <p:nvCxnSpPr>
          <p:cNvPr id="261" name="Connector 260"/>
          <p:cNvCxnSpPr/>
          <p:nvPr/>
        </p:nvCxnSpPr>
        <p:spPr>
          <a:xfrm>
            <a:off x="9182100" y="47777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2" name="TextBox 261"/>
          <p:cNvSpPr txBox="1"/>
          <p:nvPr/>
        </p:nvSpPr>
        <p:spPr>
          <a:xfrm>
            <a:off x="9229725" y="47777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63" name="TextBox 262"/>
          <p:cNvSpPr txBox="1"/>
          <p:nvPr/>
        </p:nvSpPr>
        <p:spPr>
          <a:xfrm>
            <a:off x="9420225" y="477774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toppings</a:t>
            </a:r>
          </a:p>
        </p:txBody>
      </p:sp>
      <p:sp>
        <p:nvSpPr>
          <p:cNvPr id="264" name="Rectangle 263"/>
          <p:cNvSpPr/>
          <p:nvPr/>
        </p:nvSpPr>
        <p:spPr>
          <a:xfrm>
            <a:off x="9172575" y="5069205"/>
            <a:ext cx="2876550" cy="93726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9172575" y="506920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9248775" y="506920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Shelf Life</a:t>
            </a:r>
          </a:p>
        </p:txBody>
      </p:sp>
      <p:sp>
        <p:nvSpPr>
          <p:cNvPr id="267" name="TextBox 266"/>
          <p:cNvSpPr txBox="1"/>
          <p:nvPr/>
        </p:nvSpPr>
        <p:spPr>
          <a:xfrm>
            <a:off x="9229725" y="52978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68" name="TextBox 267"/>
          <p:cNvSpPr txBox="1"/>
          <p:nvPr/>
        </p:nvSpPr>
        <p:spPr>
          <a:xfrm>
            <a:off x="9420225" y="529780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7 days</a:t>
            </a:r>
          </a:p>
        </p:txBody>
      </p:sp>
      <p:cxnSp>
        <p:nvCxnSpPr>
          <p:cNvPr id="269" name="Connector 268"/>
          <p:cNvCxnSpPr/>
          <p:nvPr/>
        </p:nvCxnSpPr>
        <p:spPr>
          <a:xfrm>
            <a:off x="9182100" y="54749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0" name="TextBox 269"/>
          <p:cNvSpPr txBox="1"/>
          <p:nvPr/>
        </p:nvSpPr>
        <p:spPr>
          <a:xfrm>
            <a:off x="9229725" y="54749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71" name="TextBox 270"/>
          <p:cNvSpPr txBox="1"/>
          <p:nvPr/>
        </p:nvSpPr>
        <p:spPr>
          <a:xfrm>
            <a:off x="9420225" y="547497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8-30 days</a:t>
            </a:r>
          </a:p>
        </p:txBody>
      </p:sp>
      <p:cxnSp>
        <p:nvCxnSpPr>
          <p:cNvPr id="272" name="Connector 271"/>
          <p:cNvCxnSpPr/>
          <p:nvPr/>
        </p:nvCxnSpPr>
        <p:spPr>
          <a:xfrm>
            <a:off x="9182100" y="56521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3" name="TextBox 272"/>
          <p:cNvSpPr txBox="1"/>
          <p:nvPr/>
        </p:nvSpPr>
        <p:spPr>
          <a:xfrm>
            <a:off x="9229725" y="56521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9420225" y="565213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31-90 days</a:t>
            </a:r>
          </a:p>
        </p:txBody>
      </p:sp>
      <p:cxnSp>
        <p:nvCxnSpPr>
          <p:cNvPr id="275" name="Connector 274"/>
          <p:cNvCxnSpPr/>
          <p:nvPr/>
        </p:nvCxnSpPr>
        <p:spPr>
          <a:xfrm>
            <a:off x="9182100" y="58293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6" name="TextBox 275"/>
          <p:cNvSpPr txBox="1"/>
          <p:nvPr/>
        </p:nvSpPr>
        <p:spPr>
          <a:xfrm>
            <a:off x="9229725" y="5829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9420225" y="5829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More than 90 days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17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217741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Packaging Format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Flexible packs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Flow-wrap packs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Pouches and bags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2000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3905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Rigid plastic packs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Trays with sealed film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Clamshell containers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Tubs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Paperboard packs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Cartons with inner wrapping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Windowed cartons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20002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90525" y="302895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Other packaging formats</a:t>
            </a:r>
          </a:p>
        </p:txBody>
      </p:sp>
      <p:sp>
        <p:nvSpPr>
          <p:cNvPr id="45" name="Rectangle 44"/>
          <p:cNvSpPr/>
          <p:nvPr/>
        </p:nvSpPr>
        <p:spPr>
          <a:xfrm>
            <a:off x="3152775" y="1028700"/>
            <a:ext cx="2876550" cy="14687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Pack Configuration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Single-muffin packs</a:t>
            </a:r>
          </a:p>
        </p:txBody>
      </p:sp>
      <p:cxnSp>
        <p:nvCxnSpPr>
          <p:cNvPr id="50" name="Connector 49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TextBox 50"/>
          <p:cNvSpPr txBox="1"/>
          <p:nvPr/>
        </p:nvSpPr>
        <p:spPr>
          <a:xfrm>
            <a:off x="320992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400425" y="143446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Multipacks</a:t>
            </a:r>
          </a:p>
        </p:txBody>
      </p:sp>
      <p:cxnSp>
        <p:nvCxnSpPr>
          <p:cNvPr id="53" name="Connector 52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TextBox 53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2-4 muffins</a:t>
            </a:r>
          </a:p>
        </p:txBody>
      </p:sp>
      <p:cxnSp>
        <p:nvCxnSpPr>
          <p:cNvPr id="56" name="Connector 55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33813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718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5-8 muffins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33813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35718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9-12 muffins</a:t>
            </a:r>
          </a:p>
        </p:txBody>
      </p:sp>
      <p:cxnSp>
        <p:nvCxnSpPr>
          <p:cNvPr id="62" name="Connector 61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TextBox 62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5718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More than 12 muffins</a:t>
            </a:r>
          </a:p>
        </p:txBody>
      </p:sp>
      <p:cxnSp>
        <p:nvCxnSpPr>
          <p:cNvPr id="65" name="Connector 64"/>
          <p:cNvCxnSpPr/>
          <p:nvPr/>
        </p:nvCxnSpPr>
        <p:spPr>
          <a:xfrm>
            <a:off x="31623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TextBox 65"/>
          <p:cNvSpPr txBox="1"/>
          <p:nvPr/>
        </p:nvSpPr>
        <p:spPr>
          <a:xfrm>
            <a:off x="320992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400425" y="23202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Bulk foodservice packs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6162675" y="1028700"/>
            <a:ext cx="2876550" cy="76009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Multipack Wrapping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6410325" y="1257300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Individually wrapped muffins within an outer pack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TextBox 73"/>
          <p:cNvSpPr txBox="1"/>
          <p:nvPr/>
        </p:nvSpPr>
        <p:spPr>
          <a:xfrm>
            <a:off x="621982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410325" y="16116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Shared pack without individual wrapping</a:t>
            </a:r>
          </a:p>
        </p:txBody>
      </p:sp>
      <p:sp>
        <p:nvSpPr>
          <p:cNvPr id="76" name="Rectangle 75"/>
          <p:cNvSpPr/>
          <p:nvPr/>
        </p:nvSpPr>
        <p:spPr>
          <a:xfrm>
            <a:off x="6162675" y="1903095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6162675" y="190309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6238875" y="190309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Brand Ownership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6219825" y="21316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6410325" y="21316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Manufacturer brands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6172200" y="23088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6391275" y="23088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6581775" y="23088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National brands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6172200" y="24860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6391275" y="24860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6581775" y="24860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Regional / local brands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6172200" y="26631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621982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6410325" y="26631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Retailer private labels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61722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639127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581775" y="28403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Value private labels</a:t>
            </a:r>
          </a:p>
        </p:txBody>
      </p:sp>
      <p:cxnSp>
        <p:nvCxnSpPr>
          <p:cNvPr id="93" name="Connector 92"/>
          <p:cNvCxnSpPr/>
          <p:nvPr/>
        </p:nvCxnSpPr>
        <p:spPr>
          <a:xfrm>
            <a:off x="61722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TextBox 93"/>
          <p:cNvSpPr txBox="1"/>
          <p:nvPr/>
        </p:nvSpPr>
        <p:spPr>
          <a:xfrm>
            <a:off x="639127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6581775" y="30175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private labels</a:t>
            </a:r>
          </a:p>
        </p:txBody>
      </p:sp>
      <p:cxnSp>
        <p:nvCxnSpPr>
          <p:cNvPr id="96" name="Connector 95"/>
          <p:cNvCxnSpPr/>
          <p:nvPr/>
        </p:nvCxnSpPr>
        <p:spPr>
          <a:xfrm>
            <a:off x="61722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639127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581775" y="31946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 private labels</a:t>
            </a:r>
          </a:p>
        </p:txBody>
      </p:sp>
      <p:cxnSp>
        <p:nvCxnSpPr>
          <p:cNvPr id="99" name="Connector 98"/>
          <p:cNvCxnSpPr/>
          <p:nvPr/>
        </p:nvCxnSpPr>
        <p:spPr>
          <a:xfrm>
            <a:off x="61722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0" name="TextBox 99"/>
          <p:cNvSpPr txBox="1"/>
          <p:nvPr/>
        </p:nvSpPr>
        <p:spPr>
          <a:xfrm>
            <a:off x="621982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6410325" y="337185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9172575" y="1028700"/>
            <a:ext cx="2876550" cy="93726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Price Positioning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94202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value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91821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922972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420225" y="143446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922972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9420225" y="16116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92297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94202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9172575" y="2080260"/>
            <a:ext cx="2876550" cy="359473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9172575" y="208026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9248775" y="208026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Sales Channel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9229725" y="23088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9420225" y="230886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Retail</a:t>
            </a:r>
          </a:p>
        </p:txBody>
      </p:sp>
      <p:cxnSp>
        <p:nvCxnSpPr>
          <p:cNvPr id="121" name="Connector 120"/>
          <p:cNvCxnSpPr/>
          <p:nvPr/>
        </p:nvCxnSpPr>
        <p:spPr>
          <a:xfrm>
            <a:off x="9182100" y="24860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2" name="TextBox 121"/>
          <p:cNvSpPr txBox="1"/>
          <p:nvPr/>
        </p:nvSpPr>
        <p:spPr>
          <a:xfrm>
            <a:off x="9401175" y="24860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9591675" y="24860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Supermarkets and hypermarkets</a:t>
            </a:r>
          </a:p>
        </p:txBody>
      </p:sp>
      <p:cxnSp>
        <p:nvCxnSpPr>
          <p:cNvPr id="124" name="Connector 123"/>
          <p:cNvCxnSpPr/>
          <p:nvPr/>
        </p:nvCxnSpPr>
        <p:spPr>
          <a:xfrm>
            <a:off x="9182100" y="26631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124"/>
          <p:cNvSpPr txBox="1"/>
          <p:nvPr/>
        </p:nvSpPr>
        <p:spPr>
          <a:xfrm>
            <a:off x="940117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9591675" y="26631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Convenience stores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940117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9591675" y="28403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Discount stores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940117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9591675" y="30175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Warehouse clubs</a:t>
            </a:r>
          </a:p>
        </p:txBody>
      </p:sp>
      <p:cxnSp>
        <p:nvCxnSpPr>
          <p:cNvPr id="133" name="Connector 132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" name="TextBox 133"/>
          <p:cNvSpPr txBox="1"/>
          <p:nvPr/>
        </p:nvSpPr>
        <p:spPr>
          <a:xfrm>
            <a:off x="940117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9591675" y="31946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Traditional grocery stores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940117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9591675" y="33718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Speciality food and health stores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91821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940117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9591675" y="3549015"/>
            <a:ext cx="241935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Bakery outlets selling packaged products</a:t>
            </a:r>
          </a:p>
        </p:txBody>
      </p:sp>
      <p:cxnSp>
        <p:nvCxnSpPr>
          <p:cNvPr id="142" name="Connector 141"/>
          <p:cNvCxnSpPr/>
          <p:nvPr/>
        </p:nvCxnSpPr>
        <p:spPr>
          <a:xfrm>
            <a:off x="91821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940117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9591675" y="39033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Online retail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9182100" y="40805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9229725" y="40805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9420225" y="408051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Foodservice and institutional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9182100" y="42576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9401175" y="42576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9591675" y="42576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Cafés and coffee chains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9182100" y="44348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9401175" y="44348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9591675" y="44348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Hotels and restaurants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9182100" y="46120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9401175" y="46120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9591675" y="46120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Quick-service restaurants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9182100" y="47891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9401175" y="47891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9591675" y="47891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Corporate catering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9182100" y="49663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9401175" y="49663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9591675" y="49663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Educational institutions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9182100" y="51435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9401175" y="51435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9591675" y="51435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Healthcare institutions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9182100" y="53206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9401175" y="53206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9591675" y="53206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Airline and travel catering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9182100" y="54978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9229725" y="54978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9420225" y="54978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Vending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Company Coverage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Companies profiled and benchmarked across the competition assessment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Companies covered in this study of the Packaged Muffins Market profiled and benchmarked in the Competition Assessment section.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142875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142875" y="1618760"/>
            <a:ext cx="5857875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33375" y="1828677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81025" y="1828677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Grupo Bimbo (Bimbo, Marinela, Little Bites, Thomas')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52400" y="2120737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152400" y="212073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33375" y="2120737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81025" y="2120737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McKee Foods Corporation (Little Debbie, Sunbelt Bakery, Drake's, Fieldstone Bakery)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2400" y="2412796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33375" y="2412796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81025" y="2412796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Hostess Brands (Hostess)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52400" y="2704855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4" name="Connector 23"/>
          <p:cNvCxnSpPr/>
          <p:nvPr/>
        </p:nvCxnSpPr>
        <p:spPr>
          <a:xfrm>
            <a:off x="152400" y="270485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33375" y="2704855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1025" y="2704855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Rich Products Corporation (Rich's)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996914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33375" y="2996914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81025" y="2996914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ARYZTA / Aspire Bakeries (Otis Spunkmeyer, Cuisine de France, Hiestand, Delice de France)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52400" y="3288973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152400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333375" y="3288973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581025" y="3288973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Europastry (Europastry, Dots)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52400" y="3581032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333375" y="3581032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81025" y="3581032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Bridor (Bridor, Evasions)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52400" y="3873092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8" name="Connector 37"/>
          <p:cNvCxnSpPr/>
          <p:nvPr/>
        </p:nvCxnSpPr>
        <p:spPr>
          <a:xfrm>
            <a:off x="152400" y="3873092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333375" y="3873092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81025" y="3873092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Lantmännen Unibake (Schulstad, Hatting, Vaasan, Pastridor, Euro-Bake)</a:t>
            </a:r>
          </a:p>
        </p:txBody>
      </p:sp>
      <p:cxnSp>
        <p:nvCxnSpPr>
          <p:cNvPr id="41" name="Connector 40"/>
          <p:cNvCxnSpPr/>
          <p:nvPr/>
        </p:nvCxnSpPr>
        <p:spPr>
          <a:xfrm>
            <a:off x="152400" y="41651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/>
          <p:cNvSpPr txBox="1"/>
          <p:nvPr/>
        </p:nvSpPr>
        <p:spPr>
          <a:xfrm>
            <a:off x="333375" y="4165151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81025" y="4165151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Flowers Foods (Tastykake, Nature's Own, Wonder, Dave's Killer Bread, Canyon Bakehouse)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52400" y="4457210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5" name="Connector 44"/>
          <p:cNvCxnSpPr/>
          <p:nvPr/>
        </p:nvCxnSpPr>
        <p:spPr>
          <a:xfrm>
            <a:off x="152400" y="4457210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33375" y="4457210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81025" y="4457210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Premier Foods (Mr Kipling)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33375" y="4749269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81025" y="4749269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Warburtons (Warburtons)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52400" y="5041328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152400" y="5041328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3375" y="5041328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581025" y="5041328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Goodman Fielder (Nature's Fresh, Freya's, Quality Bakers)</a:t>
            </a:r>
          </a:p>
        </p:txBody>
      </p:sp>
      <p:cxnSp>
        <p:nvCxnSpPr>
          <p:cNvPr id="55" name="Connector 54"/>
          <p:cNvCxnSpPr/>
          <p:nvPr/>
        </p:nvCxnSpPr>
        <p:spPr>
          <a:xfrm>
            <a:off x="152400" y="533338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TextBox 55"/>
          <p:cNvSpPr txBox="1"/>
          <p:nvPr/>
        </p:nvSpPr>
        <p:spPr>
          <a:xfrm>
            <a:off x="333375" y="5333387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581025" y="5333387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 Michel (St Michel)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52400" y="5625447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9" name="Connector 58"/>
          <p:cNvCxnSpPr/>
          <p:nvPr/>
        </p:nvCxnSpPr>
        <p:spPr>
          <a:xfrm>
            <a:off x="152400" y="56254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333375" y="5625447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581025" y="5625447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Dr. Schär (Schär)</a:t>
            </a:r>
          </a:p>
        </p:txBody>
      </p:sp>
      <p:cxnSp>
        <p:nvCxnSpPr>
          <p:cNvPr id="62" name="Connector 61"/>
          <p:cNvCxnSpPr/>
          <p:nvPr/>
        </p:nvCxnSpPr>
        <p:spPr>
          <a:xfrm>
            <a:off x="152400" y="5917506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TextBox 62"/>
          <p:cNvSpPr txBox="1"/>
          <p:nvPr/>
        </p:nvSpPr>
        <p:spPr>
          <a:xfrm>
            <a:off x="333375" y="5917506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581025" y="5917506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General Mills (Betty Crocker, Pillsbury)</a:t>
            </a:r>
          </a:p>
        </p:txBody>
      </p:sp>
      <p:sp>
        <p:nvSpPr>
          <p:cNvPr id="65" name="Rectangle 64"/>
          <p:cNvSpPr/>
          <p:nvPr/>
        </p:nvSpPr>
        <p:spPr>
          <a:xfrm>
            <a:off x="6191250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6191250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6191250" y="1618760"/>
            <a:ext cx="5857875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381750" y="1828677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6629400" y="1828677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Britannia Industries (Britannia)</a:t>
            </a:r>
          </a:p>
        </p:txBody>
      </p:sp>
      <p:sp>
        <p:nvSpPr>
          <p:cNvPr id="70" name="Rectangle 69"/>
          <p:cNvSpPr/>
          <p:nvPr/>
        </p:nvSpPr>
        <p:spPr>
          <a:xfrm>
            <a:off x="6200775" y="2120737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1" name="Connector 70"/>
          <p:cNvCxnSpPr/>
          <p:nvPr/>
        </p:nvCxnSpPr>
        <p:spPr>
          <a:xfrm>
            <a:off x="6200775" y="212073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TextBox 71"/>
          <p:cNvSpPr txBox="1"/>
          <p:nvPr/>
        </p:nvSpPr>
        <p:spPr>
          <a:xfrm>
            <a:off x="6381750" y="2120737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629400" y="2120737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Monginis Foods (Monginis)</a:t>
            </a:r>
          </a:p>
        </p:txBody>
      </p:sp>
      <p:cxnSp>
        <p:nvCxnSpPr>
          <p:cNvPr id="74" name="Connector 73"/>
          <p:cNvCxnSpPr/>
          <p:nvPr/>
        </p:nvCxnSpPr>
        <p:spPr>
          <a:xfrm>
            <a:off x="6200775" y="2412796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TextBox 74"/>
          <p:cNvSpPr txBox="1"/>
          <p:nvPr/>
        </p:nvSpPr>
        <p:spPr>
          <a:xfrm>
            <a:off x="6381750" y="2412796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629400" y="2412796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Bonn Group of Industries (Bonn)</a:t>
            </a:r>
          </a:p>
        </p:txBody>
      </p:sp>
      <p:sp>
        <p:nvSpPr>
          <p:cNvPr id="77" name="Rectangle 76"/>
          <p:cNvSpPr/>
          <p:nvPr/>
        </p:nvSpPr>
        <p:spPr>
          <a:xfrm>
            <a:off x="6200775" y="2704855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8" name="Connector 77"/>
          <p:cNvCxnSpPr/>
          <p:nvPr/>
        </p:nvCxnSpPr>
        <p:spPr>
          <a:xfrm>
            <a:off x="6200775" y="270485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6381750" y="2704855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6629400" y="2704855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Karachi Bakery (Karachi Bakery)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6200775" y="2996914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6381750" y="2996914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6629400" y="2996914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Gardenia Bakeries Philippines (Gardenia)</a:t>
            </a:r>
          </a:p>
        </p:txBody>
      </p:sp>
      <p:sp>
        <p:nvSpPr>
          <p:cNvPr id="84" name="Rectangle 83"/>
          <p:cNvSpPr/>
          <p:nvPr/>
        </p:nvSpPr>
        <p:spPr>
          <a:xfrm>
            <a:off x="6200775" y="3288973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5" name="Connector 84"/>
          <p:cNvCxnSpPr/>
          <p:nvPr/>
        </p:nvCxnSpPr>
        <p:spPr>
          <a:xfrm>
            <a:off x="6200775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TextBox 85"/>
          <p:cNvSpPr txBox="1"/>
          <p:nvPr/>
        </p:nvSpPr>
        <p:spPr>
          <a:xfrm>
            <a:off x="6381750" y="3288973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6629400" y="3288973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Gardenia Bakeries Malaysia (Gardenia, Gardenia QuickBites)</a:t>
            </a:r>
          </a:p>
        </p:txBody>
      </p:sp>
      <p:cxnSp>
        <p:nvCxnSpPr>
          <p:cNvPr id="88" name="Connector 87"/>
          <p:cNvCxnSpPr/>
          <p:nvPr/>
        </p:nvCxnSpPr>
        <p:spPr>
          <a:xfrm>
            <a:off x="6200775" y="3581032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" name="TextBox 88"/>
          <p:cNvSpPr txBox="1"/>
          <p:nvPr/>
        </p:nvSpPr>
        <p:spPr>
          <a:xfrm>
            <a:off x="6381750" y="3581032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6629400" y="3581032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PT Nippon Indosari Corpindo (Sari Roti)</a:t>
            </a:r>
          </a:p>
        </p:txBody>
      </p:sp>
      <p:sp>
        <p:nvSpPr>
          <p:cNvPr id="91" name="Rectangle 90"/>
          <p:cNvSpPr/>
          <p:nvPr/>
        </p:nvSpPr>
        <p:spPr>
          <a:xfrm>
            <a:off x="6200775" y="3873092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2" name="Connector 91"/>
          <p:cNvCxnSpPr/>
          <p:nvPr/>
        </p:nvCxnSpPr>
        <p:spPr>
          <a:xfrm>
            <a:off x="6200775" y="3873092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TextBox 92"/>
          <p:cNvSpPr txBox="1"/>
          <p:nvPr/>
        </p:nvSpPr>
        <p:spPr>
          <a:xfrm>
            <a:off x="6381750" y="3873092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6629400" y="3873092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BreadTalk Group (BreadTalk)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6200775" y="41651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TextBox 95"/>
          <p:cNvSpPr txBox="1"/>
          <p:nvPr/>
        </p:nvSpPr>
        <p:spPr>
          <a:xfrm>
            <a:off x="6381750" y="4165151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6629400" y="4165151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QAF Limited (Bakers Maison)</a:t>
            </a:r>
          </a:p>
        </p:txBody>
      </p:sp>
      <p:sp>
        <p:nvSpPr>
          <p:cNvPr id="98" name="Rectangle 97"/>
          <p:cNvSpPr/>
          <p:nvPr/>
        </p:nvSpPr>
        <p:spPr>
          <a:xfrm>
            <a:off x="6200775" y="4457210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9" name="Connector 98"/>
          <p:cNvCxnSpPr/>
          <p:nvPr/>
        </p:nvCxnSpPr>
        <p:spPr>
          <a:xfrm>
            <a:off x="6200775" y="4457210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0" name="TextBox 99"/>
          <p:cNvSpPr txBox="1"/>
          <p:nvPr/>
        </p:nvSpPr>
        <p:spPr>
          <a:xfrm>
            <a:off x="6381750" y="4457210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6629400" y="4457210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SPC Samlip (Samlip)</a:t>
            </a:r>
          </a:p>
        </p:txBody>
      </p:sp>
      <p:cxnSp>
        <p:nvCxnSpPr>
          <p:cNvPr id="102" name="Connector 101"/>
          <p:cNvCxnSpPr/>
          <p:nvPr/>
        </p:nvCxnSpPr>
        <p:spPr>
          <a:xfrm>
            <a:off x="6200775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3" name="TextBox 102"/>
          <p:cNvSpPr txBox="1"/>
          <p:nvPr/>
        </p:nvSpPr>
        <p:spPr>
          <a:xfrm>
            <a:off x="6381750" y="4749269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6629400" y="4749269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Yamazaki Baking (Yamazaki, Vie de France Yamazaki, Four Leaves)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6200775" y="5041328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6" name="Connector 105"/>
          <p:cNvCxnSpPr/>
          <p:nvPr/>
        </p:nvCxnSpPr>
        <p:spPr>
          <a:xfrm>
            <a:off x="6200775" y="5041328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TextBox 106"/>
          <p:cNvSpPr txBox="1"/>
          <p:nvPr/>
        </p:nvSpPr>
        <p:spPr>
          <a:xfrm>
            <a:off x="6381750" y="5041328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6629400" y="5041328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Toly Bread (Toly Bread)</a:t>
            </a:r>
          </a:p>
        </p:txBody>
      </p:sp>
      <p:cxnSp>
        <p:nvCxnSpPr>
          <p:cNvPr id="109" name="Connector 108"/>
          <p:cNvCxnSpPr/>
          <p:nvPr/>
        </p:nvCxnSpPr>
        <p:spPr>
          <a:xfrm>
            <a:off x="6200775" y="533338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0" name="TextBox 109"/>
          <p:cNvSpPr txBox="1"/>
          <p:nvPr/>
        </p:nvSpPr>
        <p:spPr>
          <a:xfrm>
            <a:off x="6381750" y="5333387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6629400" y="5333387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Almarai (L'usine, Bake Mart)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6200775" y="5625447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13" name="Connector 112"/>
          <p:cNvCxnSpPr/>
          <p:nvPr/>
        </p:nvCxnSpPr>
        <p:spPr>
          <a:xfrm>
            <a:off x="6200775" y="56254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6381750" y="5625447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6629400" y="5625447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United Foods International (United Foods)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6200775" y="5917506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6381750" y="5917506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6629400" y="5917506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Mimansa Industries / The Baker's Dozen (The Baker's Dozen)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142875" y="6337341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B06A2C"/>
                </a:solidFill>
                <a:latin typeface="Calibri"/>
              </a:rPr>
              <a:t>Note: the list of companies is indicative and can be customised on request.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Table of Contents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The full contents of this study, as delivered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(1/12)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Symbol"/>
                        </a:rPr>
                        <a:t>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Executive Summary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Global Market Snapshot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Demand Trends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Supply Trends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Technology Roadmap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Analyst Takeaways &amp; Recommendations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Overview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Coverage / Taxonomy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Definition By Segments Covered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Macro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Price Inflation (CPI)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Private Final Consumption Expenditure Growth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Food &amp; Non-Alcoholic Beverage Expenditure Growth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Sales Growth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Confidence Index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Micro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Packaged Bakery Products Sales Growth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Supermarket &amp; Hypermarket Sales Growth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Convenience Store Sales Growth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Online Grocery / Food E-Commerce Sales Growth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Wheat, Sugar, Egg &amp; Dairy Input Price Index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Per Capita Consumption- 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Per Capita Spending 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1: Global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2021-2036, By Product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Fruit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Chocolate and cocoa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Nut and seed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Plain and vanilla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Spice-flavoured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sweet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Cheese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Vegetable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Meat-containing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Herb and spice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savoury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Flavour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Fruit-based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Blueberry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Banana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Apple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Lemon and citrus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(2/12)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Strawberry and raspberry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Cranberry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Mixed fruit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fruit flavours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Chocolate-based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Chocolate chip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Double chocolate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Triple chocolate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Chocolate and fruit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Chocolate and nut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Nut and seed-based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Walnut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Almond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Pecan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Poppy seed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Mixed nuts and seeds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Plain and classic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Plain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Vanilla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Butter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Spice and dessert-inspired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Cinnamon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Pumpkin spice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Coffee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Caramel and toffee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dessert-inspired flavours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Cheese-based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Cheddar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Parmesan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Mixed cheese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Vegetable-based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Spinach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Carrot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Corn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Zucchini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Mixed vegetables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Meat-based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Bacon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Ham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Chicken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meat varieties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Herb and spice-based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Garlic and herbs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Chilli and jalapeño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herb and spice combinations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Primary Flour Base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Refined wheat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Whole wheat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(3/12)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Dietary Formulation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Nutritional Positioning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Standard/indulgent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Recipe and Ingredient Claims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Conventional/non-organic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Clean-label positioning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 artificial colours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 artificial flavours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 artificial preservatives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Non-GMO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Dairy-free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Egg-free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Nut-free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Product Structure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Plain batter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Batter with inclusions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Fruit and jam-filled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Chocolate-filled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Cream and custard-filled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Nut butter-filled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Cheese and savoury-filled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Surface Finish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(4/12)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Crumb/streusel-topped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Glazed/drizzled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Individual Muffin Size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Mini/bite-sized - below 30 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Large/jumbo - 100 g and above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Sales Channel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12.5.1.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12.5.2.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12.5.3.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Shelf Life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8–30 days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31–90 days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Packaging Format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14.5.1.1.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Flow-wrap packs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14.5.1.2.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Pouches and bags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14.5.2.1.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Trays with sealed film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14.5.2.2.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Clamshell containers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14.5.2.3.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Tubs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14.5.3.1.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Cartons with inner wrapping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14.5.3.2.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Windowed cartons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Pack Configuration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(5/12)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15.5.2.1.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2–4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15.5.2.2.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5–8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15.5.2.3.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9–12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15.5.2.4.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More than 12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Multipack Wrapping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Price Positioning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Economy/value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Super-premium/speciality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Brand Ownership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18.5.1.1.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National brands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18.5.1.2.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Regional/local brands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18.5.2.1.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Value private labels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18.5.2.2.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Standard private labels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18.5.2.3.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Premium private labels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Foodservice/operator brands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Sales Channel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Supermarkets and hypermarkets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Convenience 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Discount 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Warehouse clubs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Traditional grocery 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Speciality food and health 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Bakery outlets selling packaged products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Online retail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19.5.1.8.1.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Retailer websites and apps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19.5.1.8.2.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Online marketplaces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19.5.1.8.3.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Quick-commerce platforms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19.5.1.8.4.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Brand-owned direct-to-consumer websites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(6/12)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Cafés and coffee chains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Hotels and restaurants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Quick-service restaurants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Corporate catering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Educational institutions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Healthcare institutions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19.5.2.7.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Airline and travel catering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Region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Brazil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Mexico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Rest of LATAM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China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Japan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 Korea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South Asia &amp; Pacific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India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Thailand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Malaysia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Indonesia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Philippines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Singapore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Australia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New Zealand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Rest of South East Asia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U.K.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Nordic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Russia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20.5.5.11.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20.5.5.12.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Rest of Europe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Middle East &amp; Africa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UAE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Saudi Arabia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20.5.6.3.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Turkey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20.5.6.4.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Israel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20.5.6.5.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Rest of GCC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20.5.6.6.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South Africa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20.5.6.7.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Rest of MEA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Value &amp; Volume (US$ Mn / MT) for all segments will be provided for each region/ Country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Cross-sectional Assessment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Flavour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Packaging Format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(7/12)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Individual Muffin Size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Cross Sectional Assessment shall be provided on custom request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2: Regional and Country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North America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Flavour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Flour Base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Dietary Formulation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Nutritional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Recipe and Ingredient Claims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Structure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Surface Finish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Individual Muffin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22.4.10.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Storage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Shelf Life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Packaging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Configuration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Multipack Wrapping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Brand Ownership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Latin America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Flavour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Flour Base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Dietary Formulation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Nutritional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Recipe and Ingredient Claims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Structure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Surface Finish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Individual Muffin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23.4.10.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Storage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Shelf Life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Packaging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Configuration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Multipack Wrapping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Brand Ownership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Flavour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Flour Base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Dietary Formulation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Nutritional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(8/12)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Recipe and Ingredient Claims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Structure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Surface Finish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Individual Muffin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24.4.10.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Storage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Shelf Life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Packaging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Configuration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Multipack Wrapping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Brand Ownership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East Asia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Flavour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Flour Base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Dietary Formulation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Nutritional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Recipe and Ingredient Claims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Structure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Surface Finish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Individual Muffin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25.4.10.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Storage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Shelf Life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Packaging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Configuration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Multipack Wrapping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Brand Ownership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South Asia &amp; Pacific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Flavour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Flour Base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Dietary Formulation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Nutritional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Recipe and Ingredient Claims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Structure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Surface Finish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Individual Muffin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26.4.10.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Storage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Shelf Life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Packaging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Configuration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Multipack Wrapping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Brand Ownership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Middle East &amp; Africa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(9/12)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Flavour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Flour Base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Dietary Formulation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Nutritional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Recipe and Ingredient Claims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Structure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Surface Finish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Individual Muffin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27.4.10.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Storage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Shelf Life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Packaging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Configuration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Multipack Wrapping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Brand Ownership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3: Pricing Assessment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Pricing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Price Assessment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28.1.1.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Manufacturer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28.1.2.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Distributor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28.1.3.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Segment-wise Price Comparison (Product Type vs Product Format)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Country-wise Price Comparison (Product Type)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Price Forecast till 2036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Factors Impacting Pricing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28.6.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Competitor Pricing Strategies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4: Voice of Customer and Decision-driver Analysis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Consumer Perception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Consumer Demand and Consumption Behavior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Demand by Age Group, Income Group and Household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Consumption Frequency by Muffin Category, Product Format and Usage Occasion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Consumption Pattern by Daypart, Purchase Mission and Household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Demand Preference by Region, Country and Consumer Segment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Intent by Consumption Occasion and Product Need-State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Drivers and Consumer Decision Journey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29.2.1.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Drivers by Taste, Freshness, Price, Convenience and Product Quality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29.2.2.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Decision Factors by Brand, Product Format and Purchase Occasion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29.2.3.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Shopping Journey by Product Discovery, Evaluation and Purchase Stage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29.2.4.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Price Sensitivity by Consumer Segment and Affordability Band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29.2.5.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Repeat Purchase Drivers by Product Satisfaction, Brand Experience and Value Perception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29.3.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Product, Flavor and Attribute Preferences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Flavor Preference by Age Group, Consumption Occasion and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Ingredient Preference by Consumer Segment and Health-orientated Need-State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Attribute Preference by Taste, Texture, Freshness and Portion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Claim Preference by Consumer Segment, Product Category and Purchase Intent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29.3.5.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Pack-size Preference by Household Type, Consumption Frequency and Purchase Mission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29.4.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Channel, Brand and Purchase Behavior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endParaRPr sz="110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(10/12)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Channel Preference by Consumer Segment, Purchase Frequency and Product Category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versus E-commerce Purchase Preference by Consumer Segment and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Brand Preference by Consumer Segment, Purchase Frequency and Consumption Occasion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Brand Switching by Price Change, Product Attribute and Competitive Availability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Loyalty Drivers by Brand Preference, Product Satisfaction and Repeat Purchase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29.5.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Unmet Needs and Decision-driver Opportunities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Unmet Consumer Needs by Flavor, Ingredient, Texture and Product Attribute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Pain Points by Price, Pack Size, Availability and Product Quality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Barriers by Consumer Segment, Channel and Affordability Band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Innovation Interest by Product Concept, Usage Occasion and Consumer Need-State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Intent for New Concepts by Consumer Segment, Price Point and Product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5: Market Dynamics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Innovation Tracker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Major Deals and Strategic Alliance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30.1.1.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Joint Ventures, M&amp;A, Licensing &amp; Partnerships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30.1.2.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Technology Collaboration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30.1.3.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Strategic Divestments/ Investments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Launches &amp; Development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Dynamics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Country- Level Market Drivers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Supply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Demand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Economic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Restraints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Opportunity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Market Trends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Forecast Factors – Top 20 Drivers by Relevance &amp; Impact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Expansion of On-the-Go &amp; Convenience Snacking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Growth of Snackification &amp; More Frequent Eating Occasions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Innovation &amp; Flavor Diversification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Rising Demand for Better-for-You Muffins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Premiumization &amp; Premium Bakery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Expansion of Supermarkets, Convenience Stores &amp; Modern Grocery Retail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Growth of Online Grocery &amp; E-Commerce Food Purchasing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Shelf-Life Extension &amp; Improved Packaging Technologies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Rising Demand for Portion-Controlled &amp; Mini Muffin Formats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31.5.10.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Expansion of Bakery Consumption in Emerging Markets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31.5.11.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Other Forecast Factors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31.6.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Regulations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31.7.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PESTEL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31.8.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Porter’s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Value Chain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Industry-Wide Operating Margin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32.1.1.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Operating margins at each node of supply chain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32.1.2.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Operating margins Comparison to Parent/Associated Market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Margin Optimization Strategies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List of Active Market Participants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32.3.1.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Manufacturers/ Key Brands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32.3.2.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Distributors/Suppliers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32.3.3.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End Users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FF0000"/>
                          </a:solidFill>
                          <a:latin typeface="Calibri"/>
                        </a:rPr>
                        <a:t>Note: The section lists 20-30 active market participants. For a comprehensive list, please contact the respective sales personnel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6: Competition Assessment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(11/12)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Competition at a Glance- a Dashboard View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(%) Analysis, 2023, 2025, 2026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Breakdown (2026)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Top Players (Tier 1)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Mid-Sized Players (Tier 2)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Emerging/Local Players (Tier 3)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MNCs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Grupo Bimbo (Bimbo, Marinela, Little Bites, Thomas')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36.1.1.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Portfolio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36.1.2.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Market Segments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36.1.2.1.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Sales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36.1.2.2.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Channel Sales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36.1.2.3.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Regional Sales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36.1.3.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Sales Footprint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36.1.4.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Strategy Overview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36.1.4.1.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Marketing Strategy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36.1.4.2.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Strategy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36.1.4.3.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Channel Strategy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36.1.4.4.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Pricing Strategy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36.1.5.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36.1.6.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Analyst Comment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McKee Foods Corporation (Little Debbie, Sunbelt Bakery, Drake's, Fieldstone Bakery)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Hostess Brands (Hostess)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Rich Products Corporation (Rich's)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ARYZTA / Aspire Bakeries (Otis Spunkmeyer, Cuisine de France, Hiestand, Delice de France)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Europastry (Europastry, Dots)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Bridor (Bridor, Evasions)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Lantmännen Unibake (Schulstad, Hatting, Vaasan, Pastridor, Euro-Bake)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Flowers Foods (Tastykake, Nature's Own, Wonder, Dave's Killer Bread, Canyon Bakehouse)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Premier Foods (Mr Kipling)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Warburtons (Warburtons)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Goodman Fielder (Nature's Fresh, Freya's, Quality Bakers)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St Michel (St Michel)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Dr. Schär (Schär)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General Mills (Betty Crocker, Pillsbury)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Asia-Based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Britannia Industries (Britannia)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Monginis Foods (Monginis)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Bonn Group of Industries (Bonn)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Karachi Bakery (Karachi Bakery)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Gardenia Bakeries Philippines (Gardenia)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Gardenia Bakeries Malaysia (Gardenia, Gardenia QuickBites)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PT Nippon Indosari Corpindo (Sari Roti)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BreadTalk Group (BreadTalk)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QAF Limited (Bakers Maison)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SPC Samlip (Samlip)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Yamazaki Baking (Yamazaki, Vie de France Yamazaki, Four Leaves)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Toly Bread (Toly Bread / 桃李面包)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Almarai (L'usine, Bake Mart)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United Foods International (United Foods)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Mimansa Industries / The Baker's Dozen (The Baker's Dozen)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Innovation Acceptance and White Space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(12/12)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280416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Innovation Acceptance by Consumer Segment, Product Format and Usage Occasion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Consumer Interest in Novel Flavors, Ingredients and Muffin Formulations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Acceptance of Functional Claims, Health-oriented Attributes and Clean-label Positioning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Consumer Preference for Innovative Pack Formats, Portion Sizes and Convenience Features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Intent for Premium, Indulgent and Better-for-you Muffin Concepts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Innovation Acceptance by Price Point, Affordability Band and Premiumization Level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Unmet Consumer Needs by Flavor, Texture, Ingredient and Product Attribute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White Space by Consumer Need-State, Product Attribute and Competitive Assortment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Launch Opportunity by Target Consumer Segment, Channel and Geographic Market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Innovation Opportunity by Product Concept, Price Positioning and Consumer Purchase Intent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Assumptions and Acronyms Used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40.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Research Methodology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Every figure in the full study, by analysis block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Every table in the full study, by analysis block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1: Global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2: Global Market Value Snapshot,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3: Global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4: Global Market Share by Product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5: Global Market Share by Flavour,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6: Global Market Share by Primary Flour Base,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7: Global Market Share by Dietary Formulation,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8: Global Market Share by Nutritional Positioning,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9: Global Market Historical Value,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10: Global Market Forecast Value,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11: Global Market YoY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12: Global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13: Global Market Volume vs Value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14: Global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15: Global Market Absolute $ Opportunity,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16: Global Market Incremental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17: Global Market Historical vs Forecast CAGR,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18: Global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19: Global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20: Global Market Value by Flavour,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21: Global Market Value by Primary Flour Base,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22: Global Market Value by Dietary Formulation,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23: Global Market Value by Nutritional Positioning,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24: Global Market Value by Recipe and Ingredient Claims,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25: Global Market Value by Product Structure,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26: Global Market Value by Surface Finish,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27: Global Market Value by Individual Muffin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28: Global Market Value by Storage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29: Global Market Value by Shelf Life,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30: Global Market Value by Packaging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31: Global Market Value by Pack Configuration,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32: Global Market Value by Multipack Wrapping,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33: Global Market Value by Price Positioning,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34: Global Market Value by Brand Ownership,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35: Global Market Value by Sales Channel,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36: Global Market Share by Product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37: Global Market Share by Flavour,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38: Global Market Share by Primary Flour Base,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39: Global Market Share by Dietary Formulation,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40: Global Market Share by Nutritional Positioning,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41: Global Market Share by Recipe and Ingredient Claims,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42: Global Market Share by Product Structure,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43: Global Market Share by Surface Finish,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44: Global Market Share by Individual Muffin Size,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45: Global Market Share by Storage Format,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46: Global Market Share by Shelf Life,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47: Global Market Share by Packaging Format,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48: Global Market Share by Pack Configuration,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49: Global Market Share by Multipack Wrapping,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50: Global Market Share by Price Positioning,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51: Global Market Share by Brand Ownership,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52: Global Market Share by Sales Channel,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53: Global Market Absolute $ Opportunity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54: Global Market Absolute $ Opportunity by Flavour,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55: Global Market Absolute $ Opportunity by Primary Flour Base,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56: Global Market Absolute $ Opportunity by Dietary Formulation,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57: Global Market Absolute $ Opportunity by Nutritional Positioning,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58: Global Market Absolute $ Opportunity by Recipe and Ingredient Claims,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59: Global Market Absolute $ Opportunity by Product Structure,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60: Global Market Absolute $ Opportunity by Surface Finish,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61: Global Market Absolute $ Opportunity by Individual Muffin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62: Global Market Absolute $ Opportunity by Storage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63: Global Market Absolute $ Opportunity by Shelf Life,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64: Global Market Absolute $ Opportunity by Packaging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65: Global Market Absolute $ Opportunity by Pack Configuration,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66: Global Market Absolute $ Opportunity by Multipack Wrapping,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67: Global Market Absolute $ Opportunity by Price Positioning,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68: Global Market Absolute $ Opportunity by Brand Ownership,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69: Global Market Absolute $ Opportunity by Sales Channel,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70: Global Market BPS Share Change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71: Global Market BPS Share Change by Flavour,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72: Global Market BPS Share Change by Primary Flour Base,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73: Global Market BPS Share Change by Dietary Formulation,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74: Global Market BPS Share Change by Nutritional Positioning,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75: Global Market BPS Share Change by Recipe and Ingredient Claims,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76: Product Type × Flavour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77: Product Type × Primary Flour Base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78: Product Type × Dietary Formulation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79: Product Type × Nutritional Positioning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80: Product Type × Recipe and Ingredient Claims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81: Product Type × Product Structure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82: Product Type × Surface Finish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83: Product Type × Individual Muffin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84: Product Type × Storage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85: Product Type × Shelf Life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86: Product Type × Packaging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87: Product Type × Pack Configuration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88: Product Type × Multipack Wrapping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89: Product Type × Price Positioning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90: Product Type × Brand Ownership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91: Product Type × Sales Channel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92: Flavour × Primary Flour Base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93: Flavour × Dietary Formulation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94: Flavour × Nutritional Positioning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95: Flavour × Recipe and Ingredient Claims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96: Global Market Value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97: Global Market Share by Region,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98: Global Market CAGR by Region,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99: Global Market Absolute $ Opportunity by Region,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100: Global Market Attractiveness by Region,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101: Global Market BPS Share Change by Region,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102: North America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103: Latin America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104: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105: East Asia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106: South Asia &amp; Pacific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107: Middle East &amp; Africa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108: North America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109: Latin America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110: Europe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111: East Asia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112: South Asia &amp; Pacific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113: Middle East &amp; Africa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114: North America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115: Latin America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116: Europe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117: East Asia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118: South Asia &amp; Pacific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119: Middle East &amp; Africa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120: North America Market Absolute $ Opportunity,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121: U.S.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122: U.S.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123: U.S. Market Value by Sales Channel,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124: U.S. Market Share within North America,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125: U.S. Market Value by Flavour,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126: U.S. Market Value by Primary Flour Base,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127: U.S. Market Value by Dietary Formulation,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128: U.S. Market Value by Nutritional Positioning,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129: Germany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130: Germany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131: Germany Market Value by Sales Channel,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132: Germany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133: Germany Market Value by Flavour,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134: Germany Market Value by Primary Flour Base,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135: Germany Market Value by Dietary Formulation,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136: Germany Market Value by Nutritional Positioning,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137: Canada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138: Canada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139: Canada Market Value by Sales Channel,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140: Canada Market Share within North America,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141: Canada Market Value by Flavour,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142: Canada Market Value by Primary Flour Base,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143: Canada Market Value by Dietary Formulation,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144: Canada Market Value by Nutritional Positioning,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145: China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146: China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147: China Market Value by Sales Channel,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148: India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149: India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150: Brazil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151: Brazil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152: U.K.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153: U.K.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154: Global Market Average Selling Price Trend,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155: Global Market Average Selling Price by Region,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9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156: Global Market Average Selling Price by Product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157: Global Market Average Selling Price by Flavour,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158: Global Market Average Selling Price by Primary Flour Base,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159: Global Market Average Selling Price by Dietary Formulation,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160: Global Market Average Selling Price by Nutritional Positioning,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153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161: Global Market Average Selling Price by Recipe and Ingredient Claims,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162: Global Market Average Selling Price by Product Structure,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163: Global Market Average Selling Price by Surface Finish,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164: Global Market Average Selling Price by Individual Muffin Size,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165: Global Market Average Selling Price by Storage Format,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166: Company Market Share in the Global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167: Competitive Positioning of Leading Packaged Muffins Manufacturers,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168: Company Revenue from the Global Market, US$ Mn,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169: Global Market Concentration by Company Tier,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170: Global Market Competitive Intensity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171: Company Market Share in the North America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172: Company Market Share in the Latin America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173: Company Market Share in the Europe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174: Company Market Share in the East Asia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175: Company Market Share in the South Asia &amp; Pacific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176: Company Market Share in the Middle East &amp; Africa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177: Grupo Bimbo: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153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178: McKee Foods Corporation: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179: Hostess Brands: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153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180: Rich Products Corporation: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153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181: ARYZTA / Aspire Bakeries: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182: Europastry: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3000384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183: Bridor: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184: Lantmännen Unibake: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185: Flowers Foods: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186: Global Market Value Forecast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187: Global Market YoY Growth by Scenario,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188: Global Market Key Trends Impact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189: Global Market Drivers, Restraints and Opportunities Impact,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190: Global Market Opportunity Map by Region and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191: Global Market Technology Adoption Roadmap,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192: Global Market Emerging Opportunity Pockets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193: Global Market Risk and Sensitivity Analysis,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194: Global Market Regulatory Landscape Timeline,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195: Global Market Investment Hotspots by Region,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196: Global Market White-Space Opportunity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197: Global Market Customer Purchase Criteria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198: Global Market Go-to-Market Priority by Region,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199: Global Market Unmet Needs Analysis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200: Global Market Right-to-Win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1: Global Market Snapshot: Value, Volume and CAGR, US$ Mn, 2025–2036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2: Global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3: Global Market Scope: Inclusions and Exclusions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4: Global Market Key Demand Drivers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5: Global Market Key Restraints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6: Global Market Analyst Recommendations by Segment,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7: Global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8: Global Market Historical Value Analysis,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9: Global Market Forecast Value Analysis,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10: Global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11: Global Market Volume Forecast, MT,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12: Global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13: Global Market Average Selling Price YoY Change,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14: Global Market CAGR and Absolute $ Opportunity,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15: Global Market Absolute $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16: Global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17: Global Market Scenario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18: Global Market Historical vs Forecast Growth Comparison,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19: Global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20: Global Market Value by Flavour,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21: Global Market Value by Primary Flour Base,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22: Global Market Value by Dietary Formulation,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23: Global Market Value by Nutritional Positioning,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24: Global Market Value by Recipe and Ingredient Claims,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25: Global Market Value by Product Structure,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26: Global Market Value by Surface Finish,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27: Global Market Value by Individual Muffin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28: Global Market Value by Storage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29: Global Market Value by Shelf Life,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30: Global Market Value by Packaging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31: Global Market Value by Pack Configuration,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4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32: Global Market Value by Multipack Wrapping,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33: Global Market Value by Price Positioning,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34: Global Market Value by Brand Ownership,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35: Global Market Value by Sales Channel,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36: Global Market CAGR and Absolute $ Opportunity by Product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37: Global Market CAGR and Absolute $ Opportunity by Flavour,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38: Global Market CAGR and Absolute $ Opportunity by Primary Flour Base,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39: Global Market CAGR and Absolute $ Opportunity by Dietary Formulation,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40: Global Market CAGR and Absolute $ Opportunity by Nutritional Positioning,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41: Global Market CAGR and Absolute $ Opportunity by Recipe and Ingredient Claims,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42: Global Market CAGR and Absolute $ Opportunity by Product Structure,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43: Global Market CAGR and Absolute $ Opportunity by Surface Finish,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44: Global Market CAGR and Absolute $ Opportunity by Individual Muffin Size,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45: Global Market CAGR and Absolute $ Opportunity by Storage Format,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46: Global Market CAGR and Absolute $ Opportunity by Shelf Life,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47: Global Market CAGR and Absolute $ Opportunity by Packaging Format,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48: Global Market CAGR and Absolute $ Opportunity by Pack Configuration,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49: Global Market CAGR and Absolute $ Opportunity by Multipack Wrapping,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50: Global Market CAGR and Absolute $ Opportunity by Price Positioning,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51: Global Market CAGR and Absolute $ Opportunity by Brand Ownership,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52: Global Market CAGR and Absolute $ Opportunity by Sales Channel,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53: Global Market Share and BPS Change by Product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54: Global Market Share and BPS Change by Flavour,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55: Global Market Share and BPS Change by Primary Flour Base,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56: Global Market Share and BPS Change by Dietary Formulation,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57: Global Market Share and BPS Change by Nutritional Positioning,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58: Global Market Share and BPS Change by Recipe and Ingredient Claims,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59: Global Market Share and BPS Change by Product Structure,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60: Global Market Share and BPS Change by Surface Finish,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61: Global Market Share and BPS Change by Individual Muffin Size,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62: Global Market Share and BPS Change by Storage Format,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63: Global Market Share and BPS Change by Shelf Life,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64: Global Market Share and BPS Change by Packaging Format,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65: Global Market Share and BPS Change by Pack Configuration,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66: Global Market Share and BPS Change by Multipack Wrapping,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67: Global Market Share and BPS Change by Price Positioning,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68: Global Market Share and BPS Change by Brand Ownership,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69: Global Market Share and BPS Change by Sales Channel,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70: Global Market YoY Growth by Product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71: Global Market YoY Growth by Flavour,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72: Global Market YoY Growth by Primary Flour Base,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73: Global Market YoY Growth by Dietary Formulation,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74: Global Market YoY Growth by Nutritional Positioning,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75: Global Market YoY Growth by Recipe and Ingredient Claims,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76: Global Market YoY Growth by Product Structure,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77: Global Market YoY Growth by Surface Finish,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78: Global Market YoY Growth by Individual Muffin Size,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79: Global Market YoY Growth by Storage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80: Global Market YoY Growth by Shelf Life,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81: Global Market YoY Growth by Packaging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82: Global Market YoY Growth by Pack Configuration,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83: Global Market YoY Growth by Multipack Wrapping,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84: Global Market YoY Growth by Price Positioning,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85: Global Market YoY Growth by Brand Ownership,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86: Global Market YoY Growth by Sales Channel,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87: Global Market Volume by Product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88: Global Market Volume by Flavour,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89: Global Market Value by Product Type and Flavour,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90: Global Market Value by Product Type and Primary Flour Base,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91: Global Market Value by Product Type and Dietary Formulation,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92: Global Market Value by Product Type and Nutritional Positioning,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93: Global Market Value by Product Type and Recipe and Ingredient Claims,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94: Global Market Value by Product Type and Product Structure,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95: Global Market Value by Product Type and Surface Finish,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96: Global Market Value by Product Type and Individual Muffin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97: Global Market Value by Product Type and Storage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98: Global Market Value by Product Type and Shelf Life,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99: Global Market Value by Product Type and Packaging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100: Global Market Value by Product Type and Pack Configuration,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101: Global Market Value by Product Type and Multipack Wrapping,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102: Global Market Value by Product Type and Price Positioning,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103: Global Market Value by Product Type and Brand Ownership,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104: Global Market Value by Product Type and Sales Channel,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105: Global Market Value by Flavour and Primary Flour Base,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106: Global Market Value by Flavour and Dietary Formulation,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107: Global Market Value by Flavour and Nutritional Positioning,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108: Global Market Value by Flavour and Recipe and Ingredient Claims,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109: Global Market Value by Flavour and Product Structure,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110: Global Market Value by Flavour and Surface Finish,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111: Global Market Value by Flavour and Individual Muffin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112: Global Market Value by Flavour and Storage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113: Global Market Value by Flavour and Shelf Life,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114: Global Market Value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115: Global Market CAGR and Absolute $ Opportunity by Region,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116: Global Market Share and BPS Change by Region,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117: Global Market Volume by Region,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118: North America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119: Latin America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120: Europe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121: East Asia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122: South Asia &amp; Pacific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123: Middle East &amp; Africa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124: North America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125: Latin America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126: Europe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127: East Asia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128: South Asia &amp; Pacific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129: Middle East &amp; Africa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130: North America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131: Latin America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132: Europe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133: East Asia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134: South Asia &amp; Pacific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135: Middle East &amp; Africa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136: U.S.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137: U.S.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138: U.S. Market Value by Sales Channel,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139: U.S. Market Share within North America,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140: U.S. Market Value by Flavour,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141: U.S. Market Value by Primary Flour Base,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142: U.S. Market Value by Dietary Formulation,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143: U.S. Market Value by Nutritional Positioning,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144: Germany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145: Germany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146: Germany Market Value by Sales Channel,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147: Germany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148: Germany Market Value by Flavour,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149: Germany Market Value by Primary Flour Base,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150: Germany Market Value by Dietary Formulation,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151: Germany Market Value by Nutritional Positioning,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152: Canada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153: Canada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154: Canada Market Value by Sales Channel,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155: Canada Market Share within North America,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156: Canada Market Value by Flavour,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157: Canada Market Value by Primary Flour Base,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158: Canada Market Value by Dietary Formulation,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159: Canada Market Value by Nutritional Positioning,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160: China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161: China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162: India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163: India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164: Brazil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165: Brazil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166: Market Product Price Comparison by Company and Product Type, US$/MT,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167: Global Market Average Selling Price by Region,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168: Global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169: Global Market Average Selling Price by Flavour,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170: Global Market Average Selling Price by Primary Flour Base,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171: Global Market Average Selling Price by Dietary Formulation,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172: Global Market Average Selling Price by Nutritional Positioning,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4667264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173: Global Market Average Selling Price by Recipe and Ingredient Claims,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174: Global Market Average Selling Price by Product Structure,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175: Global Market Average Selling Price by Surface Finish,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176: Global Market Average Selling Price by Individual Muffin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177: Global Market Average Selling Price by Storage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178: Global Market Average Selling Price by Shelf Life,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179: Global Market Average Selling Price by Packaging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180: Leading Packaged Muffins Manufacturers: Product Portfolio and Geographic Presence,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181: Company Revenue from the Global Market, US$ Mn, 2025–2026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182: Company Market Share in the Global Market by Region,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183: Global Market Competitive Benchmarking Matrix,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184: Global Market Mergers, Acquisitions and Partnerships, 2021–2026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185: Grupo Bimbo: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186: McKee Foods Corporation: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187: Hostess Brands: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188: Rich Products Corporation: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189: ARYZTA / Aspire Bakeries: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190: Europastry: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191: Bridor: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192: Lantmännen Unibake: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193: Flowers Foods: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194: Premier Foods: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195: Global Market Value by Scenario and Region,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196: Global Market Key Trends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197: Global Market Opportunity Assessment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198: Global Market Scenario Assumptions,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199: Global Market Client Opportunity Prioritisation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200: Global Market Customer Purchase Criteria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174053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Packaged Muffins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04533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Global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2750185"/>
            <a:ext cx="5067300" cy="375666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Global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Global Market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Global Market Analysis By Segments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Flavour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Primary Flour Base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Dietary Formulation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Nutritional Positioning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Recipe and Ingredient Claims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Structure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Surface Finish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Individual Muffin Size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096000" y="2750185"/>
            <a:ext cx="5067300" cy="379603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Storage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Shelf Life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Packaging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Pack Configuration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Multipack Wrapping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Price Positioning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Brand Ownership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Sales Channel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Cross-sectional Assessment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Flavour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Packaging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Sales Channel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Individual Muffin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Global Overview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Pricing &amp; Price Index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&amp; Value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Country Outlook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Summary, By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global market volume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(MT)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5093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volume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070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682203" y="2450085"/>
            <a:ext cx="19466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9330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2026–2036 more than the previous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500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7246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volume: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224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97570" y="3256280"/>
            <a:ext cx="14109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7627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432736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28688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'South Asia &amp; Pacific'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866614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041723" y="445647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684312"/>
            <a:ext cx="38278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'Sweet muffins' within Product Type.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491215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13998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0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Pricing &amp; Regional Price Index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average price by sub-segment and price variation by region, highlighting where pricing power sits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7696200" cy="2665040"/>
          </a:xfrm>
          <a:prstGeom prst="roundRect">
            <a:avLst>
              <a:gd name="adj" fmla="val 28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by Product Type  ·  range across 2021–2036 (US$/MT)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657225" y="333693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657225" y="2865938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657225" y="2394940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657225" y="1923943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7225" y="145294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657225" y="1452945"/>
            <a:ext cx="0" cy="188399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628650" y="333693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628650" y="286593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628650" y="2394940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628650" y="192394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628650" y="14529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FMI Scale tick"/>
          <p:cNvSpPr txBox="1"/>
          <p:nvPr/>
        </p:nvSpPr>
        <p:spPr>
          <a:xfrm>
            <a:off x="219075" y="3270260"/>
            <a:ext cx="38100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5" name="FMI Scale tick"/>
          <p:cNvSpPr txBox="1"/>
          <p:nvPr/>
        </p:nvSpPr>
        <p:spPr>
          <a:xfrm>
            <a:off x="219075" y="2328265"/>
            <a:ext cx="38100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6" name="FMI Scale tick"/>
          <p:cNvSpPr txBox="1"/>
          <p:nvPr/>
        </p:nvSpPr>
        <p:spPr>
          <a:xfrm>
            <a:off x="219075" y="1386270"/>
            <a:ext cx="38100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 flipV="1">
            <a:off x="2409825" y="1670329"/>
            <a:ext cx="0" cy="560727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2278380" y="2231056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2278380" y="167032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2190750" y="1816360"/>
            <a:ext cx="438150" cy="280248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2190750" y="1958415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657225" y="1517929"/>
            <a:ext cx="3505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3" name="Connector 32"/>
          <p:cNvCxnSpPr/>
          <p:nvPr/>
        </p:nvCxnSpPr>
        <p:spPr>
          <a:xfrm flipV="1">
            <a:off x="5915025" y="2684514"/>
            <a:ext cx="0" cy="435038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783580" y="3119552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783580" y="2684514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5695950" y="2797403"/>
            <a:ext cx="438150" cy="217458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7" name="Connector 36"/>
          <p:cNvCxnSpPr/>
          <p:nvPr/>
        </p:nvCxnSpPr>
        <p:spPr>
          <a:xfrm>
            <a:off x="5695950" y="2907498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4162425" y="2532114"/>
            <a:ext cx="3505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57225" y="3365510"/>
            <a:ext cx="35052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162425" y="3365510"/>
            <a:ext cx="35052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142875" y="3772696"/>
            <a:ext cx="7696200" cy="2783689"/>
          </a:xfrm>
          <a:prstGeom prst="roundRect">
            <a:avLst>
              <a:gd name="adj" fmla="val 27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38125" y="3829846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Region vs Global  ·  2026–2036</a:t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619125" y="432007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619125" y="472992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619125" y="513977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619125" y="554962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619125" y="595947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619125" y="4320076"/>
            <a:ext cx="0" cy="1639399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90550" y="432007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590550" y="472992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590550" y="513977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90550" y="554962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590550" y="595947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FMI Scale tick"/>
          <p:cNvSpPr txBox="1"/>
          <p:nvPr/>
        </p:nvSpPr>
        <p:spPr>
          <a:xfrm>
            <a:off x="138112" y="4253401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+8.6%</a:t>
            </a:r>
          </a:p>
        </p:txBody>
      </p:sp>
      <p:sp>
        <p:nvSpPr>
          <p:cNvPr id="55" name="FMI Scale tick"/>
          <p:cNvSpPr txBox="1"/>
          <p:nvPr/>
        </p:nvSpPr>
        <p:spPr>
          <a:xfrm>
            <a:off x="138112" y="4663251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+4.3%</a:t>
            </a:r>
          </a:p>
        </p:txBody>
      </p:sp>
      <p:sp>
        <p:nvSpPr>
          <p:cNvPr id="56" name="FMI Scale tick"/>
          <p:cNvSpPr txBox="1"/>
          <p:nvPr/>
        </p:nvSpPr>
        <p:spPr>
          <a:xfrm>
            <a:off x="107156" y="5073101"/>
            <a:ext cx="47386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1">
                <a:solidFill>
                  <a:srgbClr val="6C7A89"/>
                </a:solidFill>
                <a:latin typeface="Calibri"/>
              </a:rPr>
              <a:t>Global</a:t>
            </a:r>
          </a:p>
        </p:txBody>
      </p:sp>
      <p:sp>
        <p:nvSpPr>
          <p:cNvPr id="57" name="FMI Scale tick"/>
          <p:cNvSpPr txBox="1"/>
          <p:nvPr/>
        </p:nvSpPr>
        <p:spPr>
          <a:xfrm>
            <a:off x="164306" y="5482951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-4.3%</a:t>
            </a:r>
          </a:p>
        </p:txBody>
      </p:sp>
      <p:sp>
        <p:nvSpPr>
          <p:cNvPr id="58" name="FMI Scale tick"/>
          <p:cNvSpPr txBox="1"/>
          <p:nvPr/>
        </p:nvSpPr>
        <p:spPr>
          <a:xfrm>
            <a:off x="164306" y="5892800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-8.6%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619125" y="5139776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977900" y="5139776"/>
            <a:ext cx="457200" cy="716318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FMI Data Label"/>
          <p:cNvSpPr txBox="1"/>
          <p:nvPr/>
        </p:nvSpPr>
        <p:spPr>
          <a:xfrm>
            <a:off x="619125" y="5865619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2" name="Rectangle 61"/>
          <p:cNvSpPr/>
          <p:nvPr/>
        </p:nvSpPr>
        <p:spPr>
          <a:xfrm>
            <a:off x="2152650" y="4906805"/>
            <a:ext cx="457200" cy="23297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MI Data Label"/>
          <p:cNvSpPr txBox="1"/>
          <p:nvPr/>
        </p:nvSpPr>
        <p:spPr>
          <a:xfrm>
            <a:off x="1793875" y="4763930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4" name="Rectangle 63"/>
          <p:cNvSpPr/>
          <p:nvPr/>
        </p:nvSpPr>
        <p:spPr>
          <a:xfrm>
            <a:off x="3327400" y="4430421"/>
            <a:ext cx="457200" cy="70935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FMI Data Label"/>
          <p:cNvSpPr txBox="1"/>
          <p:nvPr/>
        </p:nvSpPr>
        <p:spPr>
          <a:xfrm>
            <a:off x="2968625" y="4287546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6" name="FMI Data Label"/>
          <p:cNvSpPr txBox="1"/>
          <p:nvPr/>
        </p:nvSpPr>
        <p:spPr>
          <a:xfrm>
            <a:off x="4143375" y="5156691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7" name="Rectangle 66"/>
          <p:cNvSpPr/>
          <p:nvPr/>
        </p:nvSpPr>
        <p:spPr>
          <a:xfrm>
            <a:off x="5676900" y="4948103"/>
            <a:ext cx="457200" cy="19167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FMI Data Label"/>
          <p:cNvSpPr txBox="1"/>
          <p:nvPr/>
        </p:nvSpPr>
        <p:spPr>
          <a:xfrm>
            <a:off x="5318125" y="4805228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851650" y="4868773"/>
            <a:ext cx="457200" cy="27100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FMI Data Label"/>
          <p:cNvSpPr txBox="1"/>
          <p:nvPr/>
        </p:nvSpPr>
        <p:spPr>
          <a:xfrm>
            <a:off x="6492875" y="4725898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61912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79387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Latin America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96862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14337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East Asia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531812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49287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Middle East &amp; Africa</a:t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7915275" y="1052895"/>
            <a:ext cx="4133850" cy="5503490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048625" y="113862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79" name="Rectangle 78"/>
          <p:cNvSpPr/>
          <p:nvPr/>
        </p:nvSpPr>
        <p:spPr>
          <a:xfrm>
            <a:off x="8048625" y="137674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8048625" y="1462470"/>
            <a:ext cx="3867150" cy="50177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491005"/>
            <a:ext cx="128699" cy="187198"/>
          </a:xfrm>
          <a:prstGeom prst="rect">
            <a:avLst/>
          </a:prstGeom>
        </p:spPr>
      </p:pic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2505190"/>
            <a:ext cx="128699" cy="187198"/>
          </a:xfrm>
          <a:prstGeom prst="rect">
            <a:avLst/>
          </a:prstGeom>
        </p:spPr>
      </p:pic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2150" y="5838694"/>
            <a:ext cx="128699" cy="187198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16900" y="4737006"/>
            <a:ext cx="128699" cy="187198"/>
          </a:xfrm>
          <a:prstGeom prst="rect">
            <a:avLst/>
          </a:prstGeom>
        </p:spPr>
      </p:pic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91650" y="4260622"/>
            <a:ext cx="128699" cy="187198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6400" y="5129766"/>
            <a:ext cx="128699" cy="187198"/>
          </a:xfrm>
          <a:prstGeom prst="rect">
            <a:avLst/>
          </a:prstGeom>
        </p:spPr>
      </p:pic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1150" y="4778304"/>
            <a:ext cx="128699" cy="187198"/>
          </a:xfrm>
          <a:prstGeom prst="rect">
            <a:avLst/>
          </a:prstGeom>
        </p:spPr>
      </p:pic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5900" y="4698974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8048625" y="1471995"/>
            <a:ext cx="35896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selling price is derived as Value ÷ Volume; 'Sweet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8048625" y="1647255"/>
            <a:ext cx="32248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muffins' commands the highest product type price at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22611" y="1637031"/>
            <a:ext cx="134549" cy="195707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8048625" y="1822515"/>
            <a:ext cx="10740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2036.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048625" y="2050353"/>
            <a:ext cx="32279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shows the steepest price uplift over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8048625" y="2225613"/>
            <a:ext cx="8923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2026–2036 (+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90090" y="2215389"/>
            <a:ext cx="134549" cy="195707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9065199" y="2225613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8048625" y="2453451"/>
            <a:ext cx="17087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Against the global price of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06487" y="2443227"/>
            <a:ext cx="134549" cy="195707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9881596" y="2453451"/>
            <a:ext cx="17688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US$/MT, 4 of 6 regions price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048625" y="2628711"/>
            <a:ext cx="12366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above and 2 below.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048625" y="2856548"/>
            <a:ext cx="17466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'Europe' is the dearest at +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44425" y="2846325"/>
            <a:ext cx="134549" cy="195707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9919535" y="2856548"/>
            <a:ext cx="18787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versus Global, 'North America'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048625" y="3031808"/>
            <a:ext cx="10745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cheapest at -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72367" y="3021585"/>
            <a:ext cx="134549" cy="195707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9247476" y="3031808"/>
            <a:ext cx="2496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pointing to premiumisation headroom in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8048625" y="3207068"/>
            <a:ext cx="1571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lower-priced regions.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Summary, By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global market value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value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32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58403" y="2450085"/>
            <a:ext cx="22201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662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2026–2036 more than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104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previous 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600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value: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86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73770" y="3256280"/>
            <a:ext cx="16844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07385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82495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28688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'South Asia &amp; Pacific'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866614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041723" y="445647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684312"/>
            <a:ext cx="38278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'Sweet muffins' within Product Type.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491215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13998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0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Volume &amp; Value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and value growth of the global market and the incremental $ opportunity it creates,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4695825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Market, 2021–2025 (Historical)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4505325" cy="22288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991100" y="981075"/>
            <a:ext cx="7048500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5086350" y="10382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Market, 2026–2036 (Forecast)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5086350" y="1266825"/>
          <a:ext cx="6858000" cy="22288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2809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4768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2026–2031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88296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142875" y="455295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386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&amp; Value Analysis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276225" y="48768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76225" y="4962525"/>
            <a:ext cx="11639550" cy="1571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33894" y="2050946"/>
            <a:ext cx="205327" cy="298657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30846" y="2011501"/>
            <a:ext cx="259564" cy="377547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21594" y="402240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88594" y="4022407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98494" y="402240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51294" y="4022407"/>
            <a:ext cx="157162" cy="228600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76225" y="4972050"/>
            <a:ext cx="1345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expands from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70958" y="4961826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746068" y="4972050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897504" y="496182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072613" y="4972050"/>
            <a:ext cx="1051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73535" y="4961826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248645" y="4972050"/>
            <a:ext cx="15238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 accelerating from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21644" y="4961826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896754" y="4972050"/>
            <a:ext cx="922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199888"/>
            <a:ext cx="12477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Volume rises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473116" y="5189664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648226" y="51998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99662" y="5189664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974771" y="5199888"/>
            <a:ext cx="1653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the same decade.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27725"/>
            <a:ext cx="888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grows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696" y="5417502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288806" y="5427725"/>
            <a:ext cx="30727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CAGR faster than volume firming price/mix.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655563"/>
            <a:ext cx="16753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forecast decade adds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00712" y="5645340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2075821" y="5655563"/>
            <a:ext cx="22689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incremental opportunity (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93922" y="5645340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469031" y="5655563"/>
            <a:ext cx="2516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the first five years) the market reaches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34732" y="5645340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7109841" y="5655563"/>
            <a:ext cx="1040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its 2026 value.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266825"/>
            <a:ext cx="4505325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lockshield_16"/>
          <p:cNvSpPr/>
          <p:nvPr/>
        </p:nvSpPr>
        <p:spPr>
          <a:xfrm>
            <a:off x="5086350" y="1266825"/>
            <a:ext cx="6858000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Summary Country Indices (Value)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3933825" cy="2445995"/>
          </a:xfrm>
          <a:prstGeom prst="roundRect">
            <a:avLst>
              <a:gd name="adj" fmla="val 311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CAGR Index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93011"/>
          <a:ext cx="3743325" cy="210309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489764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3565964"/>
          <a:ext cx="3914776" cy="21320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26891"/>
                <a:gridCol w="965533"/>
                <a:gridCol w="658971"/>
                <a:gridCol w="126338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7718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7718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Saudi Arabia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7718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7718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7718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5707558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4114800" y="1007261"/>
            <a:ext cx="3933825" cy="4928498"/>
          </a:xfrm>
          <a:prstGeom prst="roundRect">
            <a:avLst>
              <a:gd name="adj" fmla="val 19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210050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2036 Market By Country (US$ Mn)  ·  Top 10</a:t>
            </a:r>
          </a:p>
        </p:txBody>
      </p:sp>
      <p:sp>
        <p:nvSpPr>
          <p:cNvPr id="18" name="Rectangle 17"/>
          <p:cNvSpPr/>
          <p:nvPr/>
        </p:nvSpPr>
        <p:spPr>
          <a:xfrm>
            <a:off x="4210050" y="1293011"/>
            <a:ext cx="2374032" cy="1981679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U.S.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584082" y="1293011"/>
            <a:ext cx="1369293" cy="1981679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210050" y="3274690"/>
            <a:ext cx="1544155" cy="1471924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Canada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210050" y="4746614"/>
            <a:ext cx="1544155" cy="1131996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China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5754205" y="3274690"/>
            <a:ext cx="1130944" cy="1177604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India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885149" y="3274690"/>
            <a:ext cx="1068226" cy="1177604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Brazil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4" name="Rectangle 23"/>
          <p:cNvSpPr/>
          <p:nvPr/>
        </p:nvSpPr>
        <p:spPr>
          <a:xfrm>
            <a:off x="5754205" y="4452295"/>
            <a:ext cx="1192218" cy="795849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U.K.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5" name="Rectangle 24"/>
          <p:cNvSpPr/>
          <p:nvPr/>
        </p:nvSpPr>
        <p:spPr>
          <a:xfrm>
            <a:off x="5754205" y="5248143"/>
            <a:ext cx="1192218" cy="630466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Japan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6" name="Rectangle 25"/>
          <p:cNvSpPr/>
          <p:nvPr/>
        </p:nvSpPr>
        <p:spPr>
          <a:xfrm>
            <a:off x="6946423" y="4452295"/>
            <a:ext cx="1006952" cy="733458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946423" y="5185752"/>
            <a:ext cx="1006952" cy="692857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UAE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8086725" y="1007261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18197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Absolute Index</a:t>
            </a:r>
          </a:p>
        </p:txBody>
      </p:sp>
      <p:graphicFrame>
        <p:nvGraphicFramePr>
          <p:cNvPr id="30" name="Chart 29"/>
          <p:cNvGraphicFramePr>
            <a:graphicFrameLocks noGrp="1"/>
          </p:cNvGraphicFramePr>
          <p:nvPr/>
        </p:nvGraphicFramePr>
        <p:xfrm>
          <a:off x="8181975" y="1293011"/>
          <a:ext cx="3743325" cy="209396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31" name="Rounded Rectangle 30"/>
          <p:cNvSpPr/>
          <p:nvPr/>
        </p:nvSpPr>
        <p:spPr>
          <a:xfrm>
            <a:off x="8086725" y="3471510"/>
            <a:ext cx="3933825" cy="2464249"/>
          </a:xfrm>
          <a:prstGeom prst="roundRect">
            <a:avLst>
              <a:gd name="adj" fmla="val 30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32" name="Table 31"/>
          <p:cNvGraphicFramePr>
            <a:graphicFrameLocks noGrp="1"/>
          </p:cNvGraphicFramePr>
          <p:nvPr/>
        </p:nvGraphicFramePr>
        <p:xfrm>
          <a:off x="8096250" y="3547710"/>
          <a:ext cx="3914776" cy="21594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1383"/>
                <a:gridCol w="1081131"/>
                <a:gridCol w="1081131"/>
                <a:gridCol w="10811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China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33" name="TextBox 32"/>
          <p:cNvSpPr txBox="1"/>
          <p:nvPr/>
        </p:nvSpPr>
        <p:spPr>
          <a:xfrm>
            <a:off x="8162925" y="5716684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142875" y="6027028"/>
            <a:ext cx="10858500" cy="602372"/>
          </a:xfrm>
          <a:prstGeom prst="roundRect">
            <a:avLst>
              <a:gd name="adj" fmla="val 1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88017" y="2125483"/>
            <a:ext cx="183356" cy="26670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454153" y="4513519"/>
            <a:ext cx="332122" cy="483086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339440" y="2283850"/>
            <a:ext cx="115252" cy="16763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11102" y="2283850"/>
            <a:ext cx="115252" cy="167639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24501" y="4010652"/>
            <a:ext cx="115252" cy="167639"/>
          </a:xfrm>
          <a:prstGeom prst="rect">
            <a:avLst/>
          </a:prstGeom>
        </p:spPr>
      </p:pic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24501" y="5312612"/>
            <a:ext cx="115252" cy="167639"/>
          </a:xfrm>
          <a:prstGeom prst="rect">
            <a:avLst/>
          </a:prstGeom>
        </p:spPr>
      </p:pic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62051" y="3863491"/>
            <a:ext cx="115252" cy="167639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361636" y="3863491"/>
            <a:ext cx="115252" cy="167639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92688" y="4850219"/>
            <a:ext cx="115252" cy="167639"/>
          </a:xfrm>
          <a:prstGeom prst="rect">
            <a:avLst/>
          </a:prstGeom>
        </p:spPr>
      </p:pic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92688" y="5563376"/>
            <a:ext cx="115252" cy="167639"/>
          </a:xfrm>
          <a:prstGeom prst="rect">
            <a:avLst/>
          </a:prstGeom>
        </p:spPr>
      </p:pic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392273" y="4819024"/>
            <a:ext cx="115252" cy="167639"/>
          </a:xfrm>
          <a:prstGeom prst="rect">
            <a:avLst/>
          </a:prstGeom>
        </p:spPr>
      </p:pic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392273" y="5532180"/>
            <a:ext cx="115252" cy="167639"/>
          </a:xfrm>
          <a:prstGeom prst="rect">
            <a:avLst/>
          </a:prstGeom>
        </p:spPr>
      </p:pic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1867" y="2120920"/>
            <a:ext cx="183356" cy="266700"/>
          </a:xfrm>
          <a:prstGeom prst="rect">
            <a:avLst/>
          </a:prstGeom>
        </p:spPr>
      </p:pic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08848" y="4492667"/>
            <a:ext cx="354517" cy="515661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57175" y="6160574"/>
            <a:ext cx="21296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India posts the highest CAGR Index (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34890" y="6150795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2502386" y="6160574"/>
            <a:ext cx="7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growing at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240417" y="6150795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3407913" y="6160574"/>
            <a:ext cx="46156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the global benchmark, while U.S. offers the largest absolute opportunity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71596" y="6150795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139092" y="6160574"/>
            <a:ext cx="23618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 incremental market between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57175" y="6328214"/>
            <a:ext cx="9946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 and 2036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99844" y="6318435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1367340" y="6328214"/>
            <a:ext cx="14835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global increment).</a:t>
            </a:r>
          </a:p>
        </p:txBody>
      </p:sp>
      <p:sp>
        <p:nvSpPr>
          <p:cNvPr id="60" name="lockshield_12"/>
          <p:cNvSpPr/>
          <p:nvPr/>
        </p:nvSpPr>
        <p:spPr>
          <a:xfrm>
            <a:off x="238125" y="1293011"/>
            <a:ext cx="3743325" cy="210309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30"/>
          <p:cNvSpPr/>
          <p:nvPr/>
        </p:nvSpPr>
        <p:spPr>
          <a:xfrm>
            <a:off x="8181975" y="1293011"/>
            <a:ext cx="3743325" cy="209396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Summary Country Indices (Value)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1" name="Table 10"/>
          <p:cNvGraphicFramePr>
            <a:graphicFrameLocks noGrp="1"/>
          </p:cNvGraphicFramePr>
          <p:nvPr/>
        </p:nvGraphicFramePr>
        <p:xfrm>
          <a:off x="152400" y="1057275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94456"/>
                <a:gridCol w="3297581"/>
                <a:gridCol w="3297581"/>
                <a:gridCol w="329758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Brazil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Thailand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Malaysia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China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2" name="TextBox 11"/>
          <p:cNvSpPr txBox="1"/>
          <p:nvPr/>
        </p:nvSpPr>
        <p:spPr>
          <a:xfrm>
            <a:off x="219075" y="25527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290512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298132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46407"/>
                <a:gridCol w="3346931"/>
                <a:gridCol w="3346931"/>
                <a:gridCol w="3346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Brazil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U.K.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Japan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UAE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4476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06537" y="1656588"/>
            <a:ext cx="366712" cy="533400"/>
          </a:xfrm>
          <a:prstGeom prst="rect">
            <a:avLst/>
          </a:prstGeom>
        </p:spPr>
      </p:pic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2513" y="35806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Overview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market size, competitive landscape and the drivers, restraints and trends shaping demand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666875"/>
          </a:xfrm>
          <a:prstGeom prst="roundRect">
            <a:avLst>
              <a:gd name="adj" fmla="val 4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11811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781300"/>
            <a:ext cx="11906250" cy="1666875"/>
          </a:xfrm>
          <a:prstGeom prst="roundRect">
            <a:avLst>
              <a:gd name="adj" fmla="val 4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28670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Landscape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1051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190875"/>
            <a:ext cx="11639550" cy="11811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4581525"/>
            <a:ext cx="3943350" cy="2028825"/>
          </a:xfrm>
          <a:prstGeom prst="roundRect">
            <a:avLst>
              <a:gd name="adj" fmla="val 37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4667250"/>
            <a:ext cx="3676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Drivers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4905375"/>
            <a:ext cx="3676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991100"/>
            <a:ext cx="3676650" cy="1543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238625" y="4581525"/>
            <a:ext cx="3819525" cy="2028825"/>
          </a:xfrm>
          <a:prstGeom prst="roundRect">
            <a:avLst>
              <a:gd name="adj" fmla="val 37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4371975" y="46672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24" name="Rectangle 23"/>
          <p:cNvSpPr/>
          <p:nvPr/>
        </p:nvSpPr>
        <p:spPr>
          <a:xfrm>
            <a:off x="4371975" y="49053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4371975" y="4991100"/>
            <a:ext cx="3552825" cy="1543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8210550" y="4581525"/>
            <a:ext cx="3819525" cy="2028825"/>
          </a:xfrm>
          <a:prstGeom prst="roundRect">
            <a:avLst>
              <a:gd name="adj" fmla="val 37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8343900" y="46672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Trends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8343900" y="49053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343900" y="4991100"/>
            <a:ext cx="3552825" cy="1543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Mix shifting toward 'Sweet muffins' and higher-growth tiers.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South Asia &amp; Pacific outpacing the global average.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Demand broadening across 2 product type categories.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30242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global Packaged Muffins market is valued at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49678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3424787" y="1400175"/>
            <a:ext cx="24403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in 2026 and is forecast to reach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14325" y="1389951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5989434" y="1400175"/>
            <a:ext cx="1088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1628013"/>
            <a:ext cx="9881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That implies a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13535" y="1617789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1388644" y="1628013"/>
            <a:ext cx="2163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forecast CAGR (2026–2036), versus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1754" y="161778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676863" y="1628013"/>
            <a:ext cx="1078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1855851"/>
            <a:ext cx="10700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An incremental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403" y="184562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470512" y="1855851"/>
            <a:ext cx="29849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is created over the forecast a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4600" y="184562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579710" y="1855851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3200400"/>
            <a:ext cx="51463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is consolidated: the leading product type category 'Sweet muffins' holds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1681" y="3190176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5546791" y="3200400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428237"/>
            <a:ext cx="49851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spans 6 regions and 21 segmentation lenses (2 product type categories).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3656075"/>
            <a:ext cx="29509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North America is the largest regional market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76367" y="3645852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3351477" y="365607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000625"/>
            <a:ext cx="25205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Accelerating uptake of 'Sweet muffins' (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45919" y="4990401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21028" y="5000625"/>
            <a:ext cx="4909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CAGR).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228463"/>
            <a:ext cx="28770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Fast-growing demand in South Asia &amp; Pacific (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02424" y="5218239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3277533" y="5228463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76225" y="5456300"/>
            <a:ext cx="34972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Momentum in Foodservice and institutional within sales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5631560"/>
            <a:ext cx="6218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channel (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7269" y="5621337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022378" y="563156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371975" y="5000625"/>
            <a:ext cx="25773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Slower momentum in 'Savoury muffins' (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98435" y="4990401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7073544" y="500062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371975" y="5228463"/>
            <a:ext cx="32641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Maturing demand in established categories caps the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371975" y="5403722"/>
            <a:ext cx="562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83401" y="5393499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058510" y="5403722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371975" y="5631560"/>
            <a:ext cx="35300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concentration in 'Sweet muffins' raises barriers for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371975" y="5806820"/>
            <a:ext cx="9022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new entrants.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Supply Side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recent developments, investments and R&amp;D activity shaping the supply side of the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Recent Developments &amp; Key Industry Activities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95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Capacity and product development are concentrating in 'Sweet muffins' and South Asia &amp; Pacific.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Portfolio expansion tracks the shift toward higher-growth product type categories.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Commercial focus is intensifying across North America and South Asia &amp; Pacific.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95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95600"/>
            <a:ext cx="5876925" cy="1285875"/>
          </a:xfrm>
          <a:prstGeom prst="roundRect">
            <a:avLst>
              <a:gd name="adj" fmla="val 59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98132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Acquisitions &amp; New Investments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21945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305175"/>
            <a:ext cx="5610225" cy="8001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95600"/>
            <a:ext cx="5876925" cy="1285875"/>
          </a:xfrm>
          <a:prstGeom prst="roundRect">
            <a:avLst>
              <a:gd name="adj" fmla="val 59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98132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Substantial Investment in R&amp;D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21945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305175"/>
            <a:ext cx="5610225" cy="8001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314825"/>
            <a:ext cx="11906250" cy="2295525"/>
          </a:xfrm>
          <a:prstGeom prst="roundRect">
            <a:avLst>
              <a:gd name="adj" fmla="val 33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38125" y="4371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structure product type share (2036)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238125" y="4600575"/>
          <a:ext cx="11715750" cy="19526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29" name="TextBox 28"/>
          <p:cNvSpPr txBox="1"/>
          <p:nvPr/>
        </p:nvSpPr>
        <p:spPr>
          <a:xfrm>
            <a:off x="3871570" y="5462588"/>
            <a:ext cx="934136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35025" y="5284520"/>
            <a:ext cx="382860" cy="55688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305550" y="1400175"/>
            <a:ext cx="6841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2026 size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37714" y="1390396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105210" y="1400175"/>
            <a:ext cx="8783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Mn; 2036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1645" y="139039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99141" y="1400175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1618107"/>
            <a:ext cx="9918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Forecast CAGR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45444" y="1608328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412940" y="1618107"/>
            <a:ext cx="833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1836039"/>
            <a:ext cx="1856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category 'Sweet muffins'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10430" y="182626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8277926" y="1836039"/>
            <a:ext cx="5430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05550" y="2053970"/>
            <a:ext cx="1686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region North America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9898" y="20441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107394" y="205397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2271903"/>
            <a:ext cx="1554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Incremental opportunity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08384" y="22621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975880" y="2271903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314700"/>
            <a:ext cx="43438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Investment is flowing toward the fastest-growing tier 'Sweet muffins' (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569262" y="3304476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4744371" y="331470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3542537"/>
            <a:ext cx="14097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South Asia &amp; Pacific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35140" y="3532314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810250" y="3542537"/>
            <a:ext cx="2283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is a priority region for new capacity.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3770375"/>
            <a:ext cx="2857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Scale players anchor around 'Sweet muffins'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83375" y="3760152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3258484" y="3770375"/>
            <a:ext cx="484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05550" y="3314700"/>
            <a:ext cx="47586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R&amp;D aligns with the migration to 'Sweet muffins' and adjacent premium tiers.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305550" y="3542537"/>
            <a:ext cx="46031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Development spend targets product type categories gaining share to 2036.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305550" y="3770375"/>
            <a:ext cx="16633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Innovation underpins the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18056" y="3760152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8093165" y="3770375"/>
            <a:ext cx="9630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forecast CAGR.</a:t>
            </a:r>
          </a:p>
        </p:txBody>
      </p:sp>
      <p:sp>
        <p:nvSpPr>
          <p:cNvPr id="63" name="lockshield_28"/>
          <p:cNvSpPr/>
          <p:nvPr/>
        </p:nvSpPr>
        <p:spPr>
          <a:xfrm>
            <a:off x="238125" y="4600575"/>
            <a:ext cx="11715750" cy="19526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Analysis and Recommendation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the market approach, differentiating strategy and FMI's analysis and recommendation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43075"/>
          </a:xfrm>
          <a:prstGeom prst="roundRect">
            <a:avLst>
              <a:gd name="adj" fmla="val 4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Overall Market Approach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573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43075"/>
          </a:xfrm>
          <a:prstGeom prst="roundRect">
            <a:avLst>
              <a:gd name="adj" fmla="val 4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Differentiating Strategy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573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Differentiate through the high-growth 'Sweet muffins' tier and Foodservice and institutional within sales channel.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57500"/>
            <a:ext cx="5876925" cy="1562100"/>
          </a:xfrm>
          <a:prstGeom prst="roundRect">
            <a:avLst>
              <a:gd name="adj" fmla="val 48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94322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Segment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8135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267075"/>
            <a:ext cx="5610225" cy="10763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57500"/>
            <a:ext cx="5876925" cy="1562100"/>
          </a:xfrm>
          <a:prstGeom prst="roundRect">
            <a:avLst>
              <a:gd name="adj" fmla="val 48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94322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Region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8135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267075"/>
            <a:ext cx="5610225" cy="10763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55295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76225" y="46386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Fact.MR Analysis &amp; Recommendation</a:t>
            </a:r>
          </a:p>
        </p:txBody>
      </p:sp>
      <p:sp>
        <p:nvSpPr>
          <p:cNvPr id="28" name="Rectangle 27"/>
          <p:cNvSpPr/>
          <p:nvPr/>
        </p:nvSpPr>
        <p:spPr>
          <a:xfrm>
            <a:off x="276225" y="48768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76225" y="4962525"/>
            <a:ext cx="11639550" cy="1571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52524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Balance scale in 'Sweet muffins' with targeted growth in 'Sweet muffins', pursuing the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77796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1575435"/>
            <a:ext cx="15518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trajectory to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276600"/>
            <a:ext cx="17192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'Sweet muffins'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44641" y="326637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119750" y="3276600"/>
            <a:ext cx="1609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'Sweet muffins' anchors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8344" y="3266376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853453" y="3276600"/>
            <a:ext cx="5865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05550" y="3276600"/>
            <a:ext cx="1720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 with North America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75392" y="3266376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150501" y="3276600"/>
            <a:ext cx="2502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capture upside in South Asia &amp; Pacific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02510" y="3266376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777620" y="327660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4972050"/>
            <a:ext cx="15275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Packaged Muffins adds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52950" y="4961826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928060" y="4972050"/>
            <a:ext cx="18151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to 2036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321" y="4961826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867431" y="4972050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199888"/>
            <a:ext cx="62656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Concentrate resources on the leading segment/region while seeding the fastest-growing pockets early.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5427725"/>
            <a:ext cx="42106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share in 'Sweet muffins' as the value anchor of the portfolio.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Scenario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Scenario outlook comparing optimistic, likely and conservative outcomes for 2036 and the CAGR behind each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3943350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4238625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8210550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Packaged Muffins Market Value (US$ Mn) Scenario Forecast, 2025 &amp; 2036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38125" y="4305300"/>
            <a:ext cx="5686425" cy="0"/>
          </a:xfrm>
          <a:prstGeom prst="line">
            <a:avLst/>
          </a:prstGeom>
          <a:ln w="9525">
            <a:solidFill>
              <a:srgbClr val="BFBFB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/>
        </p:nvSpPr>
        <p:spPr>
          <a:xfrm>
            <a:off x="706342" y="3474907"/>
            <a:ext cx="635826" cy="830393"/>
          </a:xfrm>
          <a:prstGeom prst="rect">
            <a:avLst/>
          </a:prstGeom>
          <a:solidFill>
            <a:srgbClr val="4031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ectangle 16"/>
          <p:cNvSpPr/>
          <p:nvPr/>
        </p:nvSpPr>
        <p:spPr>
          <a:xfrm>
            <a:off x="3043936" y="3068631"/>
            <a:ext cx="635826" cy="1236669"/>
          </a:xfrm>
          <a:prstGeom prst="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4025725" y="2897496"/>
            <a:ext cx="635826" cy="1407804"/>
          </a:xfrm>
          <a:prstGeom prst="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ectangle 18"/>
          <p:cNvSpPr/>
          <p:nvPr/>
        </p:nvSpPr>
        <p:spPr>
          <a:xfrm>
            <a:off x="5007515" y="2705100"/>
            <a:ext cx="635826" cy="1600200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1456468" y="2935281"/>
            <a:ext cx="1568418" cy="0"/>
          </a:xfrm>
          <a:prstGeom prst="line">
            <a:avLst/>
          </a:prstGeom>
          <a:ln w="15875">
            <a:solidFill>
              <a:srgbClr val="92D05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ounded Rectangle 20"/>
          <p:cNvSpPr/>
          <p:nvPr/>
        </p:nvSpPr>
        <p:spPr>
          <a:xfrm>
            <a:off x="1570768" y="2830506"/>
            <a:ext cx="1358868" cy="209550"/>
          </a:xfrm>
          <a:prstGeom prst="round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1456468" y="2678106"/>
            <a:ext cx="2550207" cy="0"/>
          </a:xfrm>
          <a:prstGeom prst="line">
            <a:avLst/>
          </a:prstGeom>
          <a:ln w="15875">
            <a:solidFill>
              <a:srgbClr val="0078D4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Rounded Rectangle 22"/>
          <p:cNvSpPr/>
          <p:nvPr/>
        </p:nvSpPr>
        <p:spPr>
          <a:xfrm>
            <a:off x="1570768" y="2573331"/>
            <a:ext cx="1358868" cy="209550"/>
          </a:xfrm>
          <a:prstGeom prst="round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456468" y="2420931"/>
            <a:ext cx="3531997" cy="0"/>
          </a:xfrm>
          <a:prstGeom prst="line">
            <a:avLst/>
          </a:prstGeom>
          <a:ln w="15875">
            <a:solidFill>
              <a:srgbClr val="80808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ounded Rectangle 24"/>
          <p:cNvSpPr/>
          <p:nvPr/>
        </p:nvSpPr>
        <p:spPr>
          <a:xfrm>
            <a:off x="1570768" y="2316156"/>
            <a:ext cx="1358868" cy="209550"/>
          </a:xfrm>
          <a:prstGeom prst="round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43255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2025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962638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2036</a:t>
            </a:r>
          </a:p>
        </p:txBody>
      </p:sp>
      <p:sp>
        <p:nvSpPr>
          <p:cNvPr id="28" name="Oval 27"/>
          <p:cNvSpPr/>
          <p:nvPr/>
        </p:nvSpPr>
        <p:spPr>
          <a:xfrm>
            <a:off x="304800" y="4572000"/>
            <a:ext cx="133350" cy="133350"/>
          </a:xfrm>
          <a:prstGeom prst="ellipse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8577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Conservative Scenario</a:t>
            </a:r>
          </a:p>
        </p:txBody>
      </p:sp>
      <p:sp>
        <p:nvSpPr>
          <p:cNvPr id="30" name="Oval 29"/>
          <p:cNvSpPr/>
          <p:nvPr/>
        </p:nvSpPr>
        <p:spPr>
          <a:xfrm>
            <a:off x="2200275" y="4572000"/>
            <a:ext cx="133350" cy="133350"/>
          </a:xfrm>
          <a:prstGeom prst="ellipse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0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Likely Scenario</a:t>
            </a:r>
          </a:p>
        </p:txBody>
      </p:sp>
      <p:sp>
        <p:nvSpPr>
          <p:cNvPr id="32" name="Oval 31"/>
          <p:cNvSpPr/>
          <p:nvPr/>
        </p:nvSpPr>
        <p:spPr>
          <a:xfrm>
            <a:off x="4095750" y="4572000"/>
            <a:ext cx="133350" cy="133350"/>
          </a:xfrm>
          <a:prstGeom prst="ellipse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427672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Optimistic Scenario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172200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267450" y="18669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Packaged Muffins Market Attractiveness Analysis By Region, 2026–2036</a:t>
            </a:r>
          </a:p>
        </p:txBody>
      </p:sp>
      <p:graphicFrame>
        <p:nvGraphicFramePr>
          <p:cNvPr id="36" name="Chart 35"/>
          <p:cNvGraphicFramePr>
            <a:graphicFrameLocks noGrp="1"/>
          </p:cNvGraphicFramePr>
          <p:nvPr/>
        </p:nvGraphicFramePr>
        <p:xfrm>
          <a:off x="6267450" y="2095500"/>
          <a:ext cx="5686425" cy="2667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37" name="Rounded Rectangle 36"/>
          <p:cNvSpPr/>
          <p:nvPr/>
        </p:nvSpPr>
        <p:spPr>
          <a:xfrm>
            <a:off x="142875" y="4953000"/>
            <a:ext cx="1190625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76225" y="5038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Scenario Assumptions &amp; Outlook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276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362575"/>
            <a:ext cx="11639550" cy="1190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35969" y="1214437"/>
            <a:ext cx="157162" cy="228600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69806" y="1214437"/>
            <a:ext cx="157162" cy="228600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41731" y="1214437"/>
            <a:ext cx="157162" cy="22860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572257" y="1107376"/>
            <a:ext cx="11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OPTIMISTIC (2036)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877926" y="1382458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21397" y="1372679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5760624" y="1107376"/>
            <a:ext cx="8517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LIKELY (2036)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5911763" y="1382458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255234" y="1372679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470064" y="1107376"/>
            <a:ext cx="13766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CONSERVATIVE (2036)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9883688" y="1382458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27159" y="1372679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2032418" y="2864872"/>
            <a:ext cx="382383" cy="159867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856657"/>
            <a:ext cx="108107" cy="157246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2032418" y="2607697"/>
            <a:ext cx="382383" cy="159867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599482"/>
            <a:ext cx="108107" cy="157246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2032418" y="2350522"/>
            <a:ext cx="382383" cy="159867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342307"/>
            <a:ext cx="108107" cy="157246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276225" y="5372100"/>
            <a:ext cx="8081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Optimistic: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3540" y="5361876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208649" y="5372100"/>
            <a:ext cx="12038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1612" y="536187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2536721" y="5372100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6225" y="5599938"/>
            <a:ext cx="1448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Likely (base forecast):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3650" y="5589714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848759" y="5599938"/>
            <a:ext cx="6980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95966" y="5589714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671076" y="5599938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5827775"/>
            <a:ext cx="9696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Conservative: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94994" y="5817552"/>
            <a:ext cx="134549" cy="195707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370103" y="5827775"/>
            <a:ext cx="6980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310" y="5817552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192420" y="582777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76225" y="6055613"/>
            <a:ext cx="36601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Scenarios flex the base forecast's year-on-year growth by ±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85509" y="6045390"/>
            <a:ext cx="134549" cy="195707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4060618" y="6055613"/>
            <a:ext cx="1900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across the 2026–2036 horizon.</a:t>
            </a:r>
          </a:p>
        </p:txBody>
      </p:sp>
      <p:sp>
        <p:nvSpPr>
          <p:cNvPr id="78" name="lockshield_36"/>
          <p:cNvSpPr/>
          <p:nvPr/>
        </p:nvSpPr>
        <p:spPr>
          <a:xfrm>
            <a:off x="6267450" y="2095500"/>
            <a:ext cx="5686425" cy="2667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5558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8987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Global Market Analysis By Region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584575"/>
            <a:ext cx="8458200" cy="16700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Global Packaged Muffins – Regional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Share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Share Analysis By Region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– Regional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6 regions, highlighting where value concentrates,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Region view breaks the Global market down geographically. Each region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Region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57162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North America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490788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5528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552825" y="1992961"/>
            <a:ext cx="157162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5909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Europe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5528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5528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5528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23875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238750" y="1992961"/>
            <a:ext cx="1571625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27685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East Asia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23875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23875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23875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862638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92467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924675" y="1992961"/>
            <a:ext cx="1571625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96277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South Asia &amp; Pacific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92467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92467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92467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7548562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86106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8610600" y="1992961"/>
            <a:ext cx="1571625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6487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Latin America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06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86106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86106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102965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10296525" y="1992961"/>
            <a:ext cx="1571625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103346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Middle East &amp; Africa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102965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102965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10920412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0" name="Rounded Rectangle 69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2" name="Rectangle 71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By Region split shows where market value concentrates and where growth is fastest.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demand and access dynamics are rebalancing the geographic mix through 2036.</a:t>
            </a:r>
          </a:p>
        </p:txBody>
      </p:sp>
      <p:sp>
        <p:nvSpPr>
          <p:cNvPr id="74" name="Rectangle 73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8" name="Picture 77" descr="3_59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4848" y="2286582"/>
            <a:ext cx="1195728" cy="361950"/>
          </a:xfrm>
          <a:prstGeom prst="rect">
            <a:avLst/>
          </a:prstGeom>
        </p:spPr>
      </p:pic>
      <p:pic>
        <p:nvPicPr>
          <p:cNvPr id="79" name="Picture 78" descr="5_353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4848" y="2779432"/>
            <a:ext cx="1195728" cy="361950"/>
          </a:xfrm>
          <a:prstGeom prst="rect">
            <a:avLst/>
          </a:prstGeom>
        </p:spPr>
      </p:pic>
      <p:pic>
        <p:nvPicPr>
          <p:cNvPr id="80" name="Picture 79" descr="4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61494" y="3272281"/>
            <a:ext cx="982436" cy="361950"/>
          </a:xfrm>
          <a:prstGeom prst="rect">
            <a:avLst/>
          </a:prstGeom>
        </p:spPr>
      </p:pic>
      <p:pic>
        <p:nvPicPr>
          <p:cNvPr id="81" name="Picture 80" descr="2_943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82" name="Picture 81" descr="5_056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83" name="Picture 82" descr="5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84" name="Picture 83" descr="1_417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26698" y="2286582"/>
            <a:ext cx="1195728" cy="361950"/>
          </a:xfrm>
          <a:prstGeom prst="rect">
            <a:avLst/>
          </a:prstGeom>
        </p:spPr>
      </p:pic>
      <p:pic>
        <p:nvPicPr>
          <p:cNvPr id="85" name="Picture 84" descr="2_264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26698" y="2779432"/>
            <a:ext cx="1195728" cy="361950"/>
          </a:xfrm>
          <a:prstGeom prst="rect">
            <a:avLst/>
          </a:prstGeom>
        </p:spPr>
      </p:pic>
      <p:pic>
        <p:nvPicPr>
          <p:cNvPr id="86" name="Picture 85" descr="4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533344" y="3272281"/>
            <a:ext cx="982436" cy="361950"/>
          </a:xfrm>
          <a:prstGeom prst="rect">
            <a:avLst/>
          </a:prstGeom>
        </p:spPr>
      </p:pic>
      <p:pic>
        <p:nvPicPr>
          <p:cNvPr id="87" name="Picture 86" descr="1_308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112623" y="2286582"/>
            <a:ext cx="1195728" cy="361950"/>
          </a:xfrm>
          <a:prstGeom prst="rect">
            <a:avLst/>
          </a:prstGeom>
        </p:spPr>
      </p:pic>
      <p:pic>
        <p:nvPicPr>
          <p:cNvPr id="88" name="Picture 87" descr="2_314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12623" y="2779432"/>
            <a:ext cx="1195728" cy="361950"/>
          </a:xfrm>
          <a:prstGeom prst="rect">
            <a:avLst/>
          </a:prstGeom>
        </p:spPr>
      </p:pic>
      <p:pic>
        <p:nvPicPr>
          <p:cNvPr id="89" name="Picture 88" descr="5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219269" y="3272281"/>
            <a:ext cx="982436" cy="361950"/>
          </a:xfrm>
          <a:prstGeom prst="rect">
            <a:avLst/>
          </a:prstGeom>
        </p:spPr>
      </p:pic>
      <p:pic>
        <p:nvPicPr>
          <p:cNvPr id="90" name="Picture 89" descr="872_0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91" name="Picture 90" descr="1_527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92" name="Picture 91" descr="5_8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93" name="Picture 92" descr="763_0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84473" y="2286582"/>
            <a:ext cx="1195728" cy="361950"/>
          </a:xfrm>
          <a:prstGeom prst="rect">
            <a:avLst/>
          </a:prstGeom>
        </p:spPr>
      </p:pic>
      <p:pic>
        <p:nvPicPr>
          <p:cNvPr id="94" name="Picture 93" descr="1_231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484473" y="2779432"/>
            <a:ext cx="1195728" cy="361950"/>
          </a:xfrm>
          <a:prstGeom prst="rect">
            <a:avLst/>
          </a:prstGeom>
        </p:spPr>
      </p:pic>
      <p:pic>
        <p:nvPicPr>
          <p:cNvPr id="95" name="Picture 94" descr="4_9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591119" y="3272281"/>
            <a:ext cx="982436" cy="36195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559367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245292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931217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7617142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30306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988992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28270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'North America' holds the largest share in 2026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72307" y="438729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639803" y="4397077"/>
            <a:ext cx="10033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market value.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'South Asia &amp; Pacific' is the fastest-growing region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108" name="TextBox 107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85775" y="5000581"/>
            <a:ext cx="1720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Market value expands from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154775" y="4990801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322271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467123" y="4990801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2634619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485775" y="5386153"/>
            <a:ext cx="27176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6 regions make up the geographic landscape.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3838575" y="4229437"/>
            <a:ext cx="10633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North America: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850003" y="4219658"/>
            <a:ext cx="128699" cy="187198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5017499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876949" y="4219658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6044445" y="4229437"/>
            <a:ext cx="1419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market.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838575" y="4447369"/>
            <a:ext cx="6366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Europe: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423263" y="4437590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4590759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450209" y="4437590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5617705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3838575" y="4665301"/>
            <a:ext cx="7321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East Asia:</a:t>
            </a:r>
          </a:p>
        </p:txBody>
      </p:sp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518727" y="4655522"/>
            <a:ext cx="128699" cy="187198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4686223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45673" y="4655522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5713169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3838575" y="4883233"/>
            <a:ext cx="13501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South Asia &amp; Pacific: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136770" y="4873454"/>
            <a:ext cx="128699" cy="187198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5304266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63716" y="4873454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6331212" y="4883233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3838575" y="5101165"/>
            <a:ext cx="10082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Latin America: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794887" y="5091385"/>
            <a:ext cx="128699" cy="187198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4962383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821833" y="5091385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5989329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3838575" y="5319097"/>
            <a:ext cx="13869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Middle East &amp; Africa: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173571" y="5309317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5341067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200517" y="5309317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6368013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8524875" y="5842641"/>
            <a:ext cx="30816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Global market is projected to grow at a CAGR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8524875" y="6017901"/>
            <a:ext cx="2008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of</a:t>
            </a:r>
          </a:p>
        </p:txBody>
      </p:sp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674884" y="6007677"/>
            <a:ext cx="134549" cy="195707"/>
          </a:xfrm>
          <a:prstGeom prst="rect">
            <a:avLst/>
          </a:prstGeom>
        </p:spPr>
      </p:pic>
      <p:sp>
        <p:nvSpPr>
          <p:cNvPr id="149" name="TextBox 148"/>
          <p:cNvSpPr txBox="1"/>
          <p:nvPr/>
        </p:nvSpPr>
        <p:spPr>
          <a:xfrm>
            <a:off x="8849994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Analysis, By Region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share by region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Region,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1585893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4712970" y="158113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504931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Middle East &amp; Africa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56684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1864134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4712970" y="185937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1783171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Latin America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184508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551045" y="2252983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4712970" y="2248220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4855845" y="2172020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305550" y="223393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551045" y="2722184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4712970" y="271742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4855845" y="2641221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East Asia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305550" y="270313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551045" y="344436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4712970" y="343960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4855845" y="3363402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305550" y="342531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551045" y="4530486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 rot="10800000">
            <a:off x="4712970" y="452572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4855845" y="4449523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305550" y="451143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33863" y="3121818"/>
            <a:ext cx="343793" cy="500062"/>
          </a:xfrm>
          <a:prstGeom prst="rect">
            <a:avLst/>
          </a:prstGeom>
        </p:spPr>
      </p:pic>
      <p:pic>
        <p:nvPicPr>
          <p:cNvPr id="49" name="Picture 48" descr="4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65355" y="5897562"/>
            <a:ext cx="1309912" cy="482599"/>
          </a:xfrm>
          <a:prstGeom prst="rect">
            <a:avLst/>
          </a:prstGeom>
        </p:spPr>
      </p:pic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03631" y="5972175"/>
            <a:ext cx="229195" cy="333375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7239000" y="1400175"/>
            <a:ext cx="24249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North America is the largest region, at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13134" y="1389951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9788243" y="1400175"/>
            <a:ext cx="1040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239000" y="1628013"/>
            <a:ext cx="20210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'Europe' gains the most share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09215" y="1617789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384324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239000" y="2031111"/>
            <a:ext cx="2113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'North America' cedes the most -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01922" y="2020887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477031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239000" y="2258949"/>
            <a:ext cx="2156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South Asia &amp; Pacific grows fastest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44425" y="2248725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9519534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8778660" y="2486787"/>
            <a:ext cx="1293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6 regions.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613208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2026 TOTAL (MT)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84327" y="6077648"/>
            <a:ext cx="233998" cy="340360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5647046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2036 TOTAL (MT)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8165" y="6077648"/>
            <a:ext cx="233998" cy="340360"/>
          </a:xfrm>
          <a:prstGeom prst="rect">
            <a:avLst/>
          </a:prstGeom>
        </p:spPr>
      </p:pic>
      <p:sp>
        <p:nvSpPr>
          <p:cNvPr id="73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Analysis, By Region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region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Region,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1589309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4712970" y="158454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508347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Middle East &amp; Africa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57025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1874294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4712970" y="186953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1793331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Latin America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185524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551045" y="2265936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4712970" y="226117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4855845" y="2184973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East Asia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305550" y="224688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551045" y="273894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4712970" y="273418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4855845" y="2657982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305550" y="271989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551045" y="3500518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4712970" y="349575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4855845" y="3419555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305550" y="348146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551045" y="457608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 rot="10800000">
            <a:off x="4712970" y="457132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4855845" y="4495125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305550" y="455703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33863" y="3121818"/>
            <a:ext cx="343793" cy="500062"/>
          </a:xfrm>
          <a:prstGeom prst="rect">
            <a:avLst/>
          </a:prstGeom>
        </p:spPr>
      </p:pic>
      <p:pic>
        <p:nvPicPr>
          <p:cNvPr id="49" name="Picture 48" descr="10_900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75203" y="5897562"/>
            <a:ext cx="1878689" cy="482599"/>
          </a:xfrm>
          <a:prstGeom prst="rect">
            <a:avLst/>
          </a:prstGeom>
        </p:spPr>
      </p:pic>
      <p:pic>
        <p:nvPicPr>
          <p:cNvPr id="50" name="Picture 49" descr="17_74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09041" y="5897562"/>
            <a:ext cx="1878689" cy="482599"/>
          </a:xfrm>
          <a:prstGeom prst="rect">
            <a:avLst/>
          </a:prstGeom>
        </p:spPr>
      </p:pic>
      <p:pic>
        <p:nvPicPr>
          <p:cNvPr id="51" name="Picture 50" descr="5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465355" y="5897562"/>
            <a:ext cx="1309912" cy="482599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914657" y="5893409"/>
            <a:ext cx="337498" cy="490906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7239000" y="1400175"/>
            <a:ext cx="24249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North America is the largest region, at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13134" y="1389951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9788243" y="140017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239000" y="1628013"/>
            <a:ext cx="20210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'Europe' gains the most share +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09215" y="1617789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9384324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239000" y="2031111"/>
            <a:ext cx="2113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'North America' cedes the most -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01922" y="2020887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9477031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239000" y="2258949"/>
            <a:ext cx="2156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South Asia &amp; Pacific grows fastest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44425" y="2248725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519534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8778660" y="2486787"/>
            <a:ext cx="15672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6 regions.</a:t>
            </a:r>
          </a:p>
        </p:txBody>
      </p:sp>
      <p:sp>
        <p:nvSpPr>
          <p:cNvPr id="71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Share Analysis, By Region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region,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19425"/>
          </a:xfrm>
          <a:prstGeom prst="roundRect">
            <a:avLst>
              <a:gd name="adj" fmla="val 25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Size, By Region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5526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67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South Asia &amp;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Pacific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67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Middle East &amp;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Africa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004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33850"/>
            <a:ext cx="11906250" cy="2495550"/>
          </a:xfrm>
          <a:prstGeom prst="roundRect">
            <a:avLst>
              <a:gd name="adj" fmla="val 305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195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Share Read-out, By Region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4577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543425"/>
            <a:ext cx="11639550" cy="2009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46735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552950"/>
            <a:ext cx="23008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'North America' is the largest region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26274" y="45427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701383" y="45529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1116" y="45427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06225" y="45529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0788"/>
            <a:ext cx="23727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'South Asia &amp; Pacific' grows fastest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98158" y="47705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73267" y="478078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08625"/>
            <a:ext cx="19839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'Europe'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09357" y="49984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384466" y="5008625"/>
            <a:ext cx="23562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'North America'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9854" y="49984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864964" y="50086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2364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2262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2364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2262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236463"/>
            <a:ext cx="1293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6 regions.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Share Analysis, By Region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region,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Size, By Region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75375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South Asia &amp; Pacific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Middle East &amp; Africa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Share Read-out, By Region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46995" y="208045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23008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'North America' is the largest region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26274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701383" y="39719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7316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782425" y="39719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3727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'South Asia &amp; Pacific' grows fastest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98158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73267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19839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'Europe'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09357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384466" y="4427600"/>
            <a:ext cx="23562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'North America'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9854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864964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655438"/>
            <a:ext cx="15672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6 regions.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Trends, By Region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regional volume and value shares shift over 2021–2036, highlighting who gains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By Region (MT)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9448800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9763125" y="1304925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FMI Dense Legend"/>
          <p:cNvSpPr txBox="1"/>
          <p:nvPr/>
        </p:nvSpPr>
        <p:spPr>
          <a:xfrm>
            <a:off x="9839325" y="1362075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/>
            <a:r>
              <a:rPr sz="85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6" name="FMI Dense Legend"/>
          <p:cNvSpPr txBox="1"/>
          <p:nvPr/>
        </p:nvSpPr>
        <p:spPr>
          <a:xfrm>
            <a:off x="9839325" y="1533525"/>
            <a:ext cx="2057400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500"/>
              </a:spcBef>
            </a:pPr>
            <a:r>
              <a:rPr sz="900">
                <a:solidFill>
                  <a:srgbClr val="3D85C6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North America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9E7E0A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Europe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008189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East Asia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40315E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South Asia &amp; Pacific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A35313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Latin America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808080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Middle East &amp; Africa</a:t>
            </a:r>
          </a:p>
        </p:txBody>
      </p:sp>
      <p:sp>
        <p:nvSpPr>
          <p:cNvPr id="17" name="Rounded Rectangle 16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By Region (US$ Mn)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9448800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9763125" y="4191000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MI Dense Legend"/>
          <p:cNvSpPr txBox="1"/>
          <p:nvPr/>
        </p:nvSpPr>
        <p:spPr>
          <a:xfrm>
            <a:off x="9839325" y="4248150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/>
            <a:r>
              <a:rPr sz="85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2" name="FMI Dense Legend"/>
          <p:cNvSpPr txBox="1"/>
          <p:nvPr/>
        </p:nvSpPr>
        <p:spPr>
          <a:xfrm>
            <a:off x="9839325" y="4419600"/>
            <a:ext cx="2057400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500"/>
              </a:spcBef>
            </a:pPr>
            <a:r>
              <a:rPr sz="900">
                <a:solidFill>
                  <a:srgbClr val="3D85C6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North America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9E7E0A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Europe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40315E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South Asia &amp; Pacific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008189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East Asia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A35313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Latin America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808080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Middle East &amp; Africa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930765" y="1407795"/>
            <a:ext cx="452511" cy="11231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611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9930765" y="4293870"/>
            <a:ext cx="452511" cy="11231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611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266825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9"/>
          <p:cNvSpPr/>
          <p:nvPr/>
        </p:nvSpPr>
        <p:spPr>
          <a:xfrm>
            <a:off x="238125" y="4152900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Top 10 Countries (2036)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hierarchy of the global market in 2036, highlighting the leading countries within each region by value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by country  ·  2036 (US$ Mn)  ·  tile size = market value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38125" y="1266825"/>
            <a:ext cx="3210971" cy="5305425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U.S.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449096" y="1266825"/>
            <a:ext cx="3403312" cy="2887119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49096" y="4153944"/>
            <a:ext cx="3403312" cy="2418306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Canada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852408" y="1266825"/>
            <a:ext cx="2895416" cy="2186057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China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Rectangle 16"/>
          <p:cNvSpPr/>
          <p:nvPr/>
        </p:nvSpPr>
        <p:spPr>
          <a:xfrm>
            <a:off x="9747824" y="1266825"/>
            <a:ext cx="2206051" cy="2186057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India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852408" y="3452882"/>
            <a:ext cx="2561697" cy="1778163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Brazil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852408" y="5231045"/>
            <a:ext cx="2561697" cy="1341205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U.K.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9414105" y="3452882"/>
            <a:ext cx="1281045" cy="2124662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Japan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695150" y="3452882"/>
            <a:ext cx="1258725" cy="2124662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9414105" y="5577544"/>
            <a:ext cx="2539770" cy="994706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UAE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9172" y="3919537"/>
            <a:ext cx="308877" cy="449275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6313" y="2710384"/>
            <a:ext cx="308877" cy="449275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6313" y="5363097"/>
            <a:ext cx="308877" cy="449275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45677" y="2359853"/>
            <a:ext cx="308877" cy="449275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96411" y="2359853"/>
            <a:ext cx="308877" cy="449275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78818" y="4341963"/>
            <a:ext cx="308877" cy="449275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78818" y="5901647"/>
            <a:ext cx="308877" cy="449275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00189" y="4515213"/>
            <a:ext cx="308877" cy="449275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70074" y="4515213"/>
            <a:ext cx="308877" cy="449275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29551" y="6074897"/>
            <a:ext cx="308877" cy="449275"/>
          </a:xfrm>
          <a:prstGeom prst="rect">
            <a:avLst/>
          </a:prstGeom>
        </p:spPr>
      </p:pic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666875"/>
            <a:ext cx="103632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009775"/>
            <a:ext cx="103632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Global Market Analysis By Segments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695575"/>
            <a:ext cx="5067300" cy="36385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Flavour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Flour Base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Dietary Formulation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Nutritional Positioning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Recipe and Ingredient Claims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Structure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Surface Finish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Individual Muffin Size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096000" y="2695575"/>
            <a:ext cx="50673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Storage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Shelf Life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Packaging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Configuration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Multipack Wrapping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Positioning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Brand Ownership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Product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Type segment categorizes the market by product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Sweet muffins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Savoury muffins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Type split shows how demand is distributed across product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6_05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10_23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34127" y="2779432"/>
            <a:ext cx="1409020" cy="361950"/>
          </a:xfrm>
          <a:prstGeom prst="rect">
            <a:avLst/>
          </a:prstGeom>
        </p:spPr>
      </p:pic>
      <p:pic>
        <p:nvPicPr>
          <p:cNvPr id="52" name="Picture 51" descr="5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4_84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7_510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4_5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8052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'Sweet muffins' holds the largest share in 2026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72307" y="438729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639803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615009"/>
            <a:ext cx="22868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'Sweet muffins' is the fastest-growing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86153"/>
            <a:ext cx="25586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product type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38575" y="4229437"/>
            <a:ext cx="10415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Sweet muffins: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8175" y="4219658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99567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55121" y="4219658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6022617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838575" y="4447369"/>
            <a:ext cx="11446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Savoury muffins: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313" y="4437590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5098809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58259" y="4437590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6125755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Type segment is projected to grow at a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Product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Type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49463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'Sweet muffins'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51554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319049" y="5861685"/>
            <a:ext cx="20363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'Savoury muffins'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303467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470962" y="5861685"/>
            <a:ext cx="4138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Sweet muffins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Savoury muffins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3384" y="3583939"/>
            <a:ext cx="402511" cy="58547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Product Type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838575"/>
          </a:xfrm>
          <a:prstGeom prst="roundRect">
            <a:avLst>
              <a:gd name="adj" fmla="val 19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3371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cocoa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19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87693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Product Type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62300"/>
          </a:xfrm>
          <a:prstGeom prst="roundRect">
            <a:avLst>
              <a:gd name="adj" fmla="val 24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Product Type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8" cy="26955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758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4037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4037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4037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4037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58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43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276725"/>
            <a:ext cx="11906250" cy="2352675"/>
          </a:xfrm>
          <a:prstGeom prst="roundRect">
            <a:avLst>
              <a:gd name="adj" fmla="val 323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3624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Product Type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6005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686300"/>
            <a:ext cx="11639550" cy="18669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538792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4695825"/>
            <a:ext cx="28172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is the largest product type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2583" y="468560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3217692" y="46958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47425" y="468560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4422535" y="46958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4923663"/>
            <a:ext cx="1898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23495" y="491343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2298604" y="49236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5151500"/>
            <a:ext cx="2407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'Sweet muffins'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2673" y="514127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807783" y="5151500"/>
            <a:ext cx="24412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'Savoury muffins'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98177" y="514127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373286" y="51515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53793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36911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53793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36911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53793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Product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4162425"/>
          </a:xfrm>
          <a:prstGeom prst="roundRect">
            <a:avLst>
              <a:gd name="adj" fmla="val 183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Product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36956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5396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9434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5276850"/>
            <a:ext cx="11906250" cy="1352550"/>
          </a:xfrm>
          <a:prstGeom prst="roundRect">
            <a:avLst>
              <a:gd name="adj" fmla="val 56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3625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6007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686425"/>
            <a:ext cx="11639550" cy="866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7008" y="2942461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695950"/>
            <a:ext cx="259315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'Sweet muffins'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6463" y="5686562"/>
            <a:ext cx="123551" cy="17971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977259" y="5695950"/>
            <a:ext cx="88480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09142" y="5686562"/>
            <a:ext cx="123551" cy="17971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69938" y="5695950"/>
            <a:ext cx="58200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905164"/>
            <a:ext cx="174919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'Sweet muffins'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72501" y="5895776"/>
            <a:ext cx="123551" cy="17971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33297" y="5905164"/>
            <a:ext cx="113964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6114379"/>
            <a:ext cx="221675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Share shifts toward 'Sweet muffins'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40059" y="6104991"/>
            <a:ext cx="123551" cy="179710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00855" y="6114379"/>
            <a:ext cx="224792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BPS) and away from 'Savoury muffins'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95861" y="6104991"/>
            <a:ext cx="123551" cy="17971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956657" y="6114379"/>
            <a:ext cx="170833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6323594"/>
            <a:ext cx="132930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2615" y="6314206"/>
            <a:ext cx="123551" cy="179710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713411" y="6323594"/>
            <a:ext cx="191976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52469" y="6314206"/>
            <a:ext cx="123551" cy="17971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013265" y="6323594"/>
            <a:ext cx="160774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Product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63877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634008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55780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61972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924961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492019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84399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90591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Product Type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24443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23081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0398191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21987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77478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152587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206371"/>
            <a:ext cx="33395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is the fastest-growing product type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18208" y="219614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293317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9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Product Type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17488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8050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Product Type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Product Type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397119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397119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397119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397119"/>
          </a:xfrm>
          <a:prstGeom prst="rect">
            <a:avLst/>
          </a:prstGeom>
          <a:solidFill>
            <a:srgbClr val="5D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397119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397119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397119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397119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397119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397119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397119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397119"/>
          </a:xfrm>
          <a:prstGeom prst="rect">
            <a:avLst/>
          </a:prstGeom>
          <a:solidFill>
            <a:srgbClr val="56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06819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 muffins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06819"/>
            <a:ext cx="643890" cy="397119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06819"/>
            <a:ext cx="643890" cy="397119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06819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06819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06819"/>
            <a:ext cx="643890" cy="397119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06819"/>
            <a:ext cx="643890" cy="397119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06819"/>
            <a:ext cx="643890" cy="397119"/>
          </a:xfrm>
          <a:prstGeom prst="rect">
            <a:avLst/>
          </a:prstGeom>
          <a:solidFill>
            <a:srgbClr val="65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06819"/>
            <a:ext cx="643890" cy="397119"/>
          </a:xfrm>
          <a:prstGeom prst="rect">
            <a:avLst/>
          </a:prstGeom>
          <a:solidFill>
            <a:srgbClr val="64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06819"/>
            <a:ext cx="643890" cy="397119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06819"/>
            <a:ext cx="643890" cy="397119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06819"/>
            <a:ext cx="643890" cy="397119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06819"/>
            <a:ext cx="643890" cy="397119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06819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06819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06819"/>
            <a:ext cx="643890" cy="397119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203938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 and cocoa muffins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203938"/>
            <a:ext cx="643890" cy="397119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203938"/>
            <a:ext cx="643890" cy="397119"/>
          </a:xfrm>
          <a:prstGeom prst="rect">
            <a:avLst/>
          </a:prstGeom>
          <a:solidFill>
            <a:srgbClr val="B3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203938"/>
            <a:ext cx="643890" cy="397119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203938"/>
            <a:ext cx="643890" cy="397119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203938"/>
            <a:ext cx="643890" cy="397119"/>
          </a:xfrm>
          <a:prstGeom prst="rect">
            <a:avLst/>
          </a:prstGeom>
          <a:solidFill>
            <a:srgbClr val="B1CF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203938"/>
            <a:ext cx="643890" cy="397119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203938"/>
            <a:ext cx="643890" cy="397119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203938"/>
            <a:ext cx="643890" cy="397119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203938"/>
            <a:ext cx="643890" cy="397119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203938"/>
            <a:ext cx="643890" cy="397119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203938"/>
            <a:ext cx="643890" cy="397119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203938"/>
            <a:ext cx="643890" cy="397119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203938"/>
            <a:ext cx="643890" cy="397119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203938"/>
            <a:ext cx="643890" cy="397119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601058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and seed muffins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601058"/>
            <a:ext cx="643890" cy="397119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601058"/>
            <a:ext cx="643890" cy="397119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601058"/>
            <a:ext cx="643890" cy="397119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601058"/>
            <a:ext cx="643890" cy="397119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601058"/>
            <a:ext cx="643890" cy="397119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601058"/>
            <a:ext cx="643890" cy="397119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601058"/>
            <a:ext cx="643890" cy="397119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601058"/>
            <a:ext cx="643890" cy="397119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601058"/>
            <a:ext cx="643890" cy="397119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601058"/>
            <a:ext cx="643890" cy="397119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601058"/>
            <a:ext cx="643890" cy="397119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601058"/>
            <a:ext cx="643890" cy="397119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601058"/>
            <a:ext cx="643890" cy="397119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601058"/>
            <a:ext cx="643890" cy="397119"/>
          </a:xfrm>
          <a:prstGeom prst="rect">
            <a:avLst/>
          </a:prstGeom>
          <a:solidFill>
            <a:srgbClr val="0C42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601058"/>
            <a:ext cx="643890" cy="397119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2998177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and vanilla muffins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2998177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2998177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2998177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2998177"/>
            <a:ext cx="643890" cy="397119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2998177"/>
            <a:ext cx="643890" cy="397119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2998177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2998177"/>
            <a:ext cx="643890" cy="397119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2998177"/>
            <a:ext cx="643890" cy="397119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2998177"/>
            <a:ext cx="643890" cy="397119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2998177"/>
            <a:ext cx="643890" cy="397119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2998177"/>
            <a:ext cx="643890" cy="397119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2998177"/>
            <a:ext cx="643890" cy="397119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2998177"/>
            <a:ext cx="643890" cy="397119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2998177"/>
            <a:ext cx="643890" cy="397119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2998177"/>
            <a:ext cx="643890" cy="397119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395296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Spice-flavoured muffins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395296"/>
            <a:ext cx="643890" cy="397119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395296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395296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395296"/>
            <a:ext cx="643890" cy="397119"/>
          </a:xfrm>
          <a:prstGeom prst="rect">
            <a:avLst/>
          </a:prstGeom>
          <a:solidFill>
            <a:srgbClr val="A5C8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395296"/>
            <a:ext cx="643890" cy="397119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395296"/>
            <a:ext cx="643890" cy="397119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395296"/>
            <a:ext cx="643890" cy="397119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395296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395296"/>
            <a:ext cx="643890" cy="397119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395296"/>
            <a:ext cx="643890" cy="397119"/>
          </a:xfrm>
          <a:prstGeom prst="rect">
            <a:avLst/>
          </a:prstGeom>
          <a:solidFill>
            <a:srgbClr val="5D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395296"/>
            <a:ext cx="643890" cy="397119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395296"/>
            <a:ext cx="643890" cy="397119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395296"/>
            <a:ext cx="643890" cy="397119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395296"/>
            <a:ext cx="643890" cy="397119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3792415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Other sweet muffins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3792415"/>
            <a:ext cx="643890" cy="397119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3792415"/>
            <a:ext cx="643890" cy="397119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3792415"/>
            <a:ext cx="643890" cy="397119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3792415"/>
            <a:ext cx="643890" cy="397119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3792415"/>
            <a:ext cx="643890" cy="397119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189535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189535"/>
            <a:ext cx="643890" cy="397119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189535"/>
            <a:ext cx="643890" cy="397119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189535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189535"/>
            <a:ext cx="643890" cy="397119"/>
          </a:xfrm>
          <a:prstGeom prst="rect">
            <a:avLst/>
          </a:prstGeom>
          <a:solidFill>
            <a:srgbClr val="A5C8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189535"/>
            <a:ext cx="643890" cy="397119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189535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189535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189535"/>
            <a:ext cx="643890" cy="397119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189535"/>
            <a:ext cx="643890" cy="397119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189535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189535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189535"/>
            <a:ext cx="643890" cy="397119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4586654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 muffins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4586654"/>
            <a:ext cx="643890" cy="397119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4586654"/>
            <a:ext cx="643890" cy="397119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4586654"/>
            <a:ext cx="643890" cy="397119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4586654"/>
            <a:ext cx="643890" cy="397119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4586654"/>
            <a:ext cx="643890" cy="397119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4586654"/>
            <a:ext cx="643890" cy="397119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4586654"/>
            <a:ext cx="643890" cy="397119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4586654"/>
            <a:ext cx="643890" cy="397119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4586654"/>
            <a:ext cx="643890" cy="397119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4586654"/>
            <a:ext cx="643890" cy="397119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4586654"/>
            <a:ext cx="643890" cy="397119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4586654"/>
            <a:ext cx="643890" cy="397119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4586654"/>
            <a:ext cx="643890" cy="397119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4586654"/>
            <a:ext cx="643890" cy="397119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4586654"/>
            <a:ext cx="643890" cy="397119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4983773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Vegetable muffins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4983773"/>
            <a:ext cx="643890" cy="397119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4983773"/>
            <a:ext cx="643890" cy="397119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4983773"/>
            <a:ext cx="643890" cy="397119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4983773"/>
            <a:ext cx="643890" cy="397119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4983773"/>
            <a:ext cx="643890" cy="397119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4983773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4983773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4983773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4983773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4983773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4983773"/>
            <a:ext cx="643890" cy="397119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4983773"/>
            <a:ext cx="643890" cy="397119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4983773"/>
            <a:ext cx="643890" cy="397119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4983773"/>
            <a:ext cx="643890" cy="397119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4983773"/>
            <a:ext cx="643890" cy="397119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5380892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Meat-containing muffins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5380892"/>
            <a:ext cx="643890" cy="397119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5380892"/>
            <a:ext cx="643890" cy="397119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5380892"/>
            <a:ext cx="643890" cy="397119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5380892"/>
            <a:ext cx="643890" cy="397119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5380892"/>
            <a:ext cx="643890" cy="397119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5380892"/>
            <a:ext cx="643890" cy="397119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5380892"/>
            <a:ext cx="643890" cy="397119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5380892"/>
            <a:ext cx="643890" cy="397119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5380892"/>
            <a:ext cx="643890" cy="397119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5380892"/>
            <a:ext cx="643890" cy="397119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5380892"/>
            <a:ext cx="643890" cy="397119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5380892"/>
            <a:ext cx="643890" cy="397119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5380892"/>
            <a:ext cx="643890" cy="397119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5380892"/>
            <a:ext cx="643890" cy="397119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5380892"/>
            <a:ext cx="643890" cy="397119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238125" y="5778012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Herb and spice muffins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1857375" y="5778012"/>
            <a:ext cx="643890" cy="397119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2501265" y="5778012"/>
            <a:ext cx="643890" cy="397119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3145155" y="5778012"/>
            <a:ext cx="643890" cy="397119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3789045" y="5778012"/>
            <a:ext cx="643890" cy="397119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4432935" y="5778012"/>
            <a:ext cx="643890" cy="397119"/>
          </a:xfrm>
          <a:prstGeom prst="rect">
            <a:avLst/>
          </a:prstGeom>
          <a:solidFill>
            <a:srgbClr val="99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507682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572071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6364605" y="5778012"/>
            <a:ext cx="643890" cy="397119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008495" y="5778012"/>
            <a:ext cx="643890" cy="397119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7652385" y="5778012"/>
            <a:ext cx="643890" cy="397119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8296275" y="5778012"/>
            <a:ext cx="643890" cy="397119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8940165" y="5778012"/>
            <a:ext cx="643890" cy="397119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9584055" y="5778012"/>
            <a:ext cx="643890" cy="397119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0227945" y="5778012"/>
            <a:ext cx="643890" cy="397119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0871835" y="5778012"/>
            <a:ext cx="643890" cy="397119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TextBox 218"/>
          <p:cNvSpPr txBox="1"/>
          <p:nvPr/>
        </p:nvSpPr>
        <p:spPr>
          <a:xfrm>
            <a:off x="238125" y="6175131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Other savoury muffins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1857375" y="6175131"/>
            <a:ext cx="643890" cy="397119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2501265" y="6175131"/>
            <a:ext cx="643890" cy="397119"/>
          </a:xfrm>
          <a:prstGeom prst="rect">
            <a:avLst/>
          </a:prstGeom>
          <a:solidFill>
            <a:srgbClr val="C5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3145155" y="6175131"/>
            <a:ext cx="643890" cy="397119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3789045" y="6175131"/>
            <a:ext cx="643890" cy="397119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4432935" y="6175131"/>
            <a:ext cx="643890" cy="397119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5076825" y="6175131"/>
            <a:ext cx="643890" cy="397119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5720715" y="6175131"/>
            <a:ext cx="643890" cy="397119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6364605" y="6175131"/>
            <a:ext cx="643890" cy="397119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7008495" y="6175131"/>
            <a:ext cx="643890" cy="397119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7652385" y="6175131"/>
            <a:ext cx="643890" cy="397119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8296275" y="6175131"/>
            <a:ext cx="643890" cy="397119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8940165" y="6175131"/>
            <a:ext cx="643890" cy="397119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9584055" y="6175131"/>
            <a:ext cx="643890" cy="397119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0227945" y="6175131"/>
            <a:ext cx="643890" cy="397119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0871835" y="6175131"/>
            <a:ext cx="643890" cy="397119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Rectangle 245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Rectangle 246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Rectangle 247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Rectangle 248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Rectangle 249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Rectangle 254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Rectangle 255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Rectangle 256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Rectangle 257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Rectangle 258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Rectangle 259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Rectangle 265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Rectangle 266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Rectangle 267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279" name="TextBox 27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Product Type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17488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8050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Product Type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Product Type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397119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397119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397119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397119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397119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397119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397119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397119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397119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397119"/>
          </a:xfrm>
          <a:prstGeom prst="rect">
            <a:avLst/>
          </a:prstGeom>
          <a:solidFill>
            <a:srgbClr val="57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397119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397119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06819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 muffins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06819"/>
            <a:ext cx="643890" cy="397119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06819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06819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06819"/>
            <a:ext cx="643890" cy="397119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06819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06819"/>
            <a:ext cx="643890" cy="397119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06819"/>
            <a:ext cx="643890" cy="397119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06819"/>
            <a:ext cx="643890" cy="397119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06819"/>
            <a:ext cx="643890" cy="397119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06819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06819"/>
            <a:ext cx="643890" cy="397119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06819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06819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06819"/>
            <a:ext cx="643890" cy="397119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06819"/>
            <a:ext cx="643890" cy="397119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203938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 and cocoa muffins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203938"/>
            <a:ext cx="643890" cy="397119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203938"/>
            <a:ext cx="643890" cy="397119"/>
          </a:xfrm>
          <a:prstGeom prst="rect">
            <a:avLst/>
          </a:prstGeom>
          <a:solidFill>
            <a:srgbClr val="B3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203938"/>
            <a:ext cx="643890" cy="397119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203938"/>
            <a:ext cx="643890" cy="397119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203938"/>
            <a:ext cx="643890" cy="397119"/>
          </a:xfrm>
          <a:prstGeom prst="rect">
            <a:avLst/>
          </a:prstGeom>
          <a:solidFill>
            <a:srgbClr val="B1CF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203938"/>
            <a:ext cx="643890" cy="397119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203938"/>
            <a:ext cx="643890" cy="397119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203938"/>
            <a:ext cx="643890" cy="397119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203938"/>
            <a:ext cx="643890" cy="397119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203938"/>
            <a:ext cx="643890" cy="397119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203938"/>
            <a:ext cx="643890" cy="397119"/>
          </a:xfrm>
          <a:prstGeom prst="rect">
            <a:avLst/>
          </a:prstGeom>
          <a:solidFill>
            <a:srgbClr val="70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203938"/>
            <a:ext cx="643890" cy="397119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203938"/>
            <a:ext cx="643890" cy="397119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203938"/>
            <a:ext cx="643890" cy="397119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601058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and seed muffins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601058"/>
            <a:ext cx="643890" cy="397119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601058"/>
            <a:ext cx="643890" cy="397119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601058"/>
            <a:ext cx="643890" cy="397119"/>
          </a:xfrm>
          <a:prstGeom prst="rect">
            <a:avLst/>
          </a:prstGeom>
          <a:solidFill>
            <a:srgbClr val="11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601058"/>
            <a:ext cx="643890" cy="397119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601058"/>
            <a:ext cx="643890" cy="397119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601058"/>
            <a:ext cx="643890" cy="397119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601058"/>
            <a:ext cx="643890" cy="397119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601058"/>
            <a:ext cx="643890" cy="397119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601058"/>
            <a:ext cx="643890" cy="397119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601058"/>
            <a:ext cx="643890" cy="397119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601058"/>
            <a:ext cx="643890" cy="397119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601058"/>
            <a:ext cx="643890" cy="397119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601058"/>
            <a:ext cx="643890" cy="397119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601058"/>
            <a:ext cx="643890" cy="397119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601058"/>
            <a:ext cx="643890" cy="397119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2998177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and vanilla muffins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2998177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2998177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2998177"/>
            <a:ext cx="643890" cy="397119"/>
          </a:xfrm>
          <a:prstGeom prst="rect">
            <a:avLst/>
          </a:prstGeom>
          <a:solidFill>
            <a:srgbClr val="CC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2998177"/>
            <a:ext cx="643890" cy="397119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2998177"/>
            <a:ext cx="643890" cy="397119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2998177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2998177"/>
            <a:ext cx="643890" cy="397119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2998177"/>
            <a:ext cx="643890" cy="397119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2998177"/>
            <a:ext cx="643890" cy="397119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2998177"/>
            <a:ext cx="643890" cy="397119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2998177"/>
            <a:ext cx="643890" cy="397119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2998177"/>
            <a:ext cx="643890" cy="397119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2998177"/>
            <a:ext cx="643890" cy="397119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2998177"/>
            <a:ext cx="643890" cy="397119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2998177"/>
            <a:ext cx="643890" cy="397119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395296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Spice-flavoured muffins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395296"/>
            <a:ext cx="643890" cy="397119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395296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395296"/>
            <a:ext cx="643890" cy="397119"/>
          </a:xfrm>
          <a:prstGeom prst="rect">
            <a:avLst/>
          </a:prstGeom>
          <a:solidFill>
            <a:srgbClr val="A5C8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395296"/>
            <a:ext cx="643890" cy="397119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395296"/>
            <a:ext cx="643890" cy="397119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395296"/>
            <a:ext cx="643890" cy="397119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395296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395296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395296"/>
            <a:ext cx="643890" cy="397119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395296"/>
            <a:ext cx="643890" cy="397119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395296"/>
            <a:ext cx="643890" cy="397119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395296"/>
            <a:ext cx="643890" cy="397119"/>
          </a:xfrm>
          <a:prstGeom prst="rect">
            <a:avLst/>
          </a:prstGeom>
          <a:solidFill>
            <a:srgbClr val="5A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395296"/>
            <a:ext cx="643890" cy="397119"/>
          </a:xfrm>
          <a:prstGeom prst="rect">
            <a:avLst/>
          </a:prstGeom>
          <a:solidFill>
            <a:srgbClr val="59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3792415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Other sweet muffins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3792415"/>
            <a:ext cx="643890" cy="397119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3792415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3792415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3792415"/>
            <a:ext cx="643890" cy="397119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3792415"/>
            <a:ext cx="643890" cy="397119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189535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189535"/>
            <a:ext cx="643890" cy="397119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189535"/>
            <a:ext cx="643890" cy="397119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189535"/>
            <a:ext cx="643890" cy="397119"/>
          </a:xfrm>
          <a:prstGeom prst="rect">
            <a:avLst/>
          </a:prstGeom>
          <a:solidFill>
            <a:srgbClr val="D4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189535"/>
            <a:ext cx="643890" cy="397119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189535"/>
            <a:ext cx="643890" cy="397119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189535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189535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189535"/>
            <a:ext cx="643890" cy="397119"/>
          </a:xfrm>
          <a:prstGeom prst="rect">
            <a:avLst/>
          </a:prstGeom>
          <a:solidFill>
            <a:srgbClr val="A5C8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189535"/>
            <a:ext cx="643890" cy="397119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189535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189535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189535"/>
            <a:ext cx="643890" cy="397119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189535"/>
            <a:ext cx="643890" cy="397119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4586654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 muffins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4586654"/>
            <a:ext cx="643890" cy="397119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4586654"/>
            <a:ext cx="643890" cy="397119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4586654"/>
            <a:ext cx="643890" cy="397119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4586654"/>
            <a:ext cx="643890" cy="397119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4586654"/>
            <a:ext cx="643890" cy="397119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4586654"/>
            <a:ext cx="643890" cy="397119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4586654"/>
            <a:ext cx="643890" cy="397119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4586654"/>
            <a:ext cx="643890" cy="397119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4586654"/>
            <a:ext cx="643890" cy="397119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4586654"/>
            <a:ext cx="643890" cy="397119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4586654"/>
            <a:ext cx="643890" cy="397119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4586654"/>
            <a:ext cx="643890" cy="397119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4586654"/>
            <a:ext cx="643890" cy="397119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4586654"/>
            <a:ext cx="643890" cy="397119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4586654"/>
            <a:ext cx="643890" cy="397119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4983773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Vegetable muffins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4983773"/>
            <a:ext cx="643890" cy="397119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4983773"/>
            <a:ext cx="643890" cy="397119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4983773"/>
            <a:ext cx="643890" cy="397119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4983773"/>
            <a:ext cx="643890" cy="397119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4983773"/>
            <a:ext cx="643890" cy="397119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4983773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4983773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4983773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4983773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4983773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4983773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4983773"/>
            <a:ext cx="643890" cy="397119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4983773"/>
            <a:ext cx="643890" cy="397119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4983773"/>
            <a:ext cx="643890" cy="397119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4983773"/>
            <a:ext cx="643890" cy="397119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5380892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Meat-containing muffins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5380892"/>
            <a:ext cx="643890" cy="397119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5380892"/>
            <a:ext cx="643890" cy="397119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5380892"/>
            <a:ext cx="643890" cy="397119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5380892"/>
            <a:ext cx="643890" cy="397119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5380892"/>
            <a:ext cx="643890" cy="397119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5380892"/>
            <a:ext cx="643890" cy="397119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5380892"/>
            <a:ext cx="643890" cy="397119"/>
          </a:xfrm>
          <a:prstGeom prst="rect">
            <a:avLst/>
          </a:prstGeom>
          <a:solidFill>
            <a:srgbClr val="B3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5380892"/>
            <a:ext cx="643890" cy="397119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5380892"/>
            <a:ext cx="643890" cy="397119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5380892"/>
            <a:ext cx="643890" cy="397119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5380892"/>
            <a:ext cx="643890" cy="397119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5380892"/>
            <a:ext cx="643890" cy="397119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5380892"/>
            <a:ext cx="643890" cy="397119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5380892"/>
            <a:ext cx="643890" cy="397119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5380892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238125" y="5778012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Herb and spice muffins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1857375" y="5778012"/>
            <a:ext cx="643890" cy="397119"/>
          </a:xfrm>
          <a:prstGeom prst="rect">
            <a:avLst/>
          </a:prstGeom>
          <a:solidFill>
            <a:srgbClr val="9A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2501265" y="5778012"/>
            <a:ext cx="643890" cy="397119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3145155" y="5778012"/>
            <a:ext cx="643890" cy="397119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3789045" y="5778012"/>
            <a:ext cx="643890" cy="397119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4432935" y="5778012"/>
            <a:ext cx="643890" cy="397119"/>
          </a:xfrm>
          <a:prstGeom prst="rect">
            <a:avLst/>
          </a:prstGeom>
          <a:solidFill>
            <a:srgbClr val="99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507682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572071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6364605" y="5778012"/>
            <a:ext cx="643890" cy="397119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008495" y="5778012"/>
            <a:ext cx="643890" cy="397119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7652385" y="5778012"/>
            <a:ext cx="643890" cy="397119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8296275" y="5778012"/>
            <a:ext cx="643890" cy="397119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8940165" y="5778012"/>
            <a:ext cx="643890" cy="397119"/>
          </a:xfrm>
          <a:prstGeom prst="rect">
            <a:avLst/>
          </a:prstGeom>
          <a:solidFill>
            <a:srgbClr val="4C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9584055" y="5778012"/>
            <a:ext cx="643890" cy="397119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0227945" y="5778012"/>
            <a:ext cx="643890" cy="397119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0871835" y="5778012"/>
            <a:ext cx="643890" cy="397119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TextBox 218"/>
          <p:cNvSpPr txBox="1"/>
          <p:nvPr/>
        </p:nvSpPr>
        <p:spPr>
          <a:xfrm>
            <a:off x="238125" y="6175131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Other savoury muffins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1857375" y="6175131"/>
            <a:ext cx="643890" cy="397119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2501265" y="6175131"/>
            <a:ext cx="643890" cy="397119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3145155" y="6175131"/>
            <a:ext cx="643890" cy="397119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3789045" y="6175131"/>
            <a:ext cx="643890" cy="397119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4432935" y="6175131"/>
            <a:ext cx="643890" cy="397119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5076825" y="6175131"/>
            <a:ext cx="643890" cy="397119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5720715" y="6175131"/>
            <a:ext cx="643890" cy="397119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6364605" y="6175131"/>
            <a:ext cx="643890" cy="397119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7008495" y="6175131"/>
            <a:ext cx="643890" cy="397119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7652385" y="6175131"/>
            <a:ext cx="643890" cy="397119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8296275" y="6175131"/>
            <a:ext cx="643890" cy="397119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8940165" y="6175131"/>
            <a:ext cx="643890" cy="397119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9584055" y="6175131"/>
            <a:ext cx="643890" cy="397119"/>
          </a:xfrm>
          <a:prstGeom prst="rect">
            <a:avLst/>
          </a:prstGeom>
          <a:solidFill>
            <a:srgbClr val="89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0227945" y="6175131"/>
            <a:ext cx="643890" cy="397119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0871835" y="6175131"/>
            <a:ext cx="643890" cy="397119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Rectangle 245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Rectangle 246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Rectangle 247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Rectangle 248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Rectangle 249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Rectangle 254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Rectangle 255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Rectangle 256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Rectangle 257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Rectangle 258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Rectangle 259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Rectangle 265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Rectangle 266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Rectangle 267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79" name="TextBox 27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80" name="Picture 2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281" name="Picture 2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282" name="Picture 2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Flavour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Flavour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Flavour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Flavour,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Flavour segment categorizes the market by flavour.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Sweet Muffins Flavours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Savoury Muffins Flavours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Flavour split shows how demand is distributed across flavour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6_27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9_65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4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4_62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8_090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5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8688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'Sweet Muffins Flavours' holds the largest share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85775" y="4397077"/>
            <a:ext cx="4972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2026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31036" y="4387298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1098532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615009"/>
            <a:ext cx="29062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'Savoury Muffins Flavours' is the fastest-growing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5386153"/>
            <a:ext cx="28617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flavour landscape.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38575" y="4229437"/>
            <a:ext cx="15577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Sweet Muffins Flavours: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344410" y="4219658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511906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371356" y="4219658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6538852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838575" y="4615009"/>
            <a:ext cx="16609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Savoury Muffins Flavours: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47548" y="4605230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5615044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474494" y="4605230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6641990" y="4615009"/>
            <a:ext cx="7697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838575" y="4782649"/>
            <a:ext cx="4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Flavour segment is projected to grow at a CAGR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524875" y="6017901"/>
            <a:ext cx="2008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of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674884" y="6007677"/>
            <a:ext cx="134549" cy="195707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8849994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Flavour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Flavour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Flavour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Flavour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266825"/>
          <a:ext cx="5210175" cy="39814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5657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'Savoury Muffins Flavours'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770927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938423" y="5861685"/>
            <a:ext cx="24494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'Sweet Muffins Flavours'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35937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503433" y="5861685"/>
            <a:ext cx="31021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5987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266825"/>
            <a:ext cx="5210175" cy="39814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Flavour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Flavour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Sweet Muffins Flavours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Savoury Muffins Flavours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7556" y="3674659"/>
            <a:ext cx="395643" cy="57548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6881" y="3674659"/>
            <a:ext cx="395643" cy="57548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Flavour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Flavour,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62275"/>
          </a:xfrm>
          <a:prstGeom prst="roundRect">
            <a:avLst>
              <a:gd name="adj" fmla="val 257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Flavour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4955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391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Flavours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3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3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1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3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1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dessert-inspired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433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43878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Flavour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Flavour,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771775"/>
          </a:xfrm>
          <a:prstGeom prst="roundRect">
            <a:avLst>
              <a:gd name="adj" fmla="val 27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Flavour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8" cy="2305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395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Flavours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5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552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886200"/>
            <a:ext cx="11906250" cy="2743200"/>
          </a:xfrm>
          <a:prstGeom prst="roundRect">
            <a:avLst>
              <a:gd name="adj" fmla="val 27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9719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Flavour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2100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295775"/>
            <a:ext cx="11639550" cy="22574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343530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4305300"/>
            <a:ext cx="3008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Flavours' is the largest flavour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3989" y="429507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3409098" y="43053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38831" y="4295076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4613940" y="43053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4533138"/>
            <a:ext cx="25456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 Flavours'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1022" y="4522914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2946131" y="453313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760975"/>
            <a:ext cx="30548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'Savoury Muffins Flavours'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0200" y="4750752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455309" y="4760975"/>
            <a:ext cx="2873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'Sweet Muffins Flavours'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7577" y="4750752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452687" y="47609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9888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978590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49888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978590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49888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Flavour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Flavour,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Flavour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01670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781550"/>
            <a:ext cx="11906250" cy="1847850"/>
          </a:xfrm>
          <a:prstGeom prst="roundRect">
            <a:avLst>
              <a:gd name="adj" fmla="val 41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867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Flavour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105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191125"/>
            <a:ext cx="11639550" cy="1362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60144" y="269481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200650"/>
            <a:ext cx="3008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Flavours' is the largest flavour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3989" y="5190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09098" y="52006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15031" y="5190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90140" y="52006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428488"/>
            <a:ext cx="25456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 Flavours'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1022" y="5418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46131" y="542848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656325"/>
            <a:ext cx="30548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'Savoury Muffins Flavours'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0200" y="5646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455309" y="5656325"/>
            <a:ext cx="2873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'Sweet Muffins Flavours'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7577" y="5646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452687" y="5656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8841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873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884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873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8841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Flavour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Flavour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Flavour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586393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258163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50543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Savoury Muffins Flavours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56734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95488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495011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87391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Sweet Muffins Flavours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93583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Flavour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30919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 Flavours'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70608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1045717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26306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Flavours'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09352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584461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206371"/>
            <a:ext cx="36387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 Flavours' is the fastest-growing flavour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17439" y="219614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8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Flavour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Flavour,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Flavour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74318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46468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Flavour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Flavour,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Flavour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 Flavours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A5C8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Fruit-based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92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3086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Chocolate-based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D3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D4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D6E6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and seed-based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and classic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C8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82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7C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Spice and dessert-inspired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 Flavours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1E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Cheese-based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Vegetable-based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74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Meat-based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Herb and spice-based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3B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Flavour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Flavour,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Flavour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74318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46468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Flavour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Flavour,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Flavour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 Flavours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Fruit-based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93BE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Chocolate-based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and seed-based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and classic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C8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82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Spice and dessert-inspired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 Flavours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Cheese-based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0B35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Vegetable-based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Meat-based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Herb and spice-based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4C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46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Flour Base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Flour Base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Primary Flour Base Segment Outlook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8 sub-segments of Primary Flour Base,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Primary Flour Base segment categorizes the market by primary flour base.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Rice-based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Oat-based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Wheat-based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Corn-based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Primary Flour Base split shows how demand is distributed across primary flour base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2_07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2_96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3_6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2_02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3_87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6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1_819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2_99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5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1_79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2_701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4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6107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'Rice-based'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044544" y="421965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485775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'Millet-based' is the fastest-growing sub-segment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386153"/>
            <a:ext cx="28682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8 sub-segments make up the primary flour base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838575" y="4229437"/>
            <a:ext cx="8470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Rice-based: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33632" y="4219658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80112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60578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5828074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838575" y="4447369"/>
            <a:ext cx="8164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Oat-based: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03072" y="4437590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770568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30018" y="443759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5797514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838575" y="4665301"/>
            <a:ext cx="9913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Wheat-based: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77970" y="4655522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4945466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804916" y="4655522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972412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838575" y="4883233"/>
            <a:ext cx="8805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Corn-based: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67193" y="4873454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4834688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94139" y="4873454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5861634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524875" y="5842641"/>
            <a:ext cx="2937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Primary Flour Base segment is projected to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Primary Flour Base Segment Outlook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8 sub-segments of Primary Flour Base,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Primary Flour Base segment categorizes the market by primary flour base.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single-flour bases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Millet-based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Almond and other nut flour-based</a:t>
            </a:r>
          </a:p>
        </p:txBody>
      </p:sp>
      <p:sp>
        <p:nvSpPr>
          <p:cNvPr id="43" name="Rectangle 42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1_318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2_297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5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831_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57" name="Picture 56" descr="984_0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58" name="Picture 57" descr="1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744_5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60" name="Picture 59" descr="1_437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61" name="Picture 60" descr="6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295_9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63" name="Picture 62" descr="488_5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64" name="Picture 63" descr="5_1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15842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single-flour bases: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018077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218557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045023" y="4219658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3212519" y="4229437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447369"/>
            <a:ext cx="22156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Multigrain and blended flour bases: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649455" y="443759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816951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676401" y="443759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843897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485775" y="4665301"/>
            <a:ext cx="9427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Millet-based: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376603" y="4655522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544098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403549" y="4655522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2571045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883233"/>
            <a:ext cx="21722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Almond and other nut flour-based: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606072" y="4873454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2773568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633018" y="4873454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3800514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Primary Flour Base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Primary Flour Base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Flour Base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Primary Flour Base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945505"/>
            <a:ext cx="4721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'Oat-based'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26451" y="5935726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093947" y="5945505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'Rice-based'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780683" y="5935726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948179" y="5945505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5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Primary Flour Base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Flour Base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Wheat-based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Oat-based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Rice-based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Corn-based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Primary Flour Base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Flour Base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Millet-based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Almond and other nut flour-based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Other single-flour bases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Multigrain and blended flour bases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21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Primary Flour Base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Primary Flour Base,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43125"/>
          </a:xfrm>
          <a:prstGeom prst="roundRect">
            <a:avLst>
              <a:gd name="adj" fmla="val 3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Primary Flour Base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6764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566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734278"/>
                <a:gridCol w="5861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86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86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86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86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86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24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2141" y="1932813"/>
            <a:ext cx="366712" cy="533399"/>
          </a:xfrm>
          <a:prstGeom prst="rect">
            <a:avLst/>
          </a:prstGeom>
        </p:spPr>
      </p:pic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Primary Flour Base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Primary Flour Base,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62300"/>
          </a:xfrm>
          <a:prstGeom prst="roundRect">
            <a:avLst>
              <a:gd name="adj" fmla="val 24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Primary Flour Base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8" cy="26955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758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58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4037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flour-based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4037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bases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633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blended flour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bases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58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43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276725"/>
            <a:ext cx="11906250" cy="2352675"/>
          </a:xfrm>
          <a:prstGeom prst="roundRect">
            <a:avLst>
              <a:gd name="adj" fmla="val 323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3624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Primary Flour Base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6005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686300"/>
            <a:ext cx="11639550" cy="18669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538793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4695825"/>
            <a:ext cx="29056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'Oat-based' is the largest primary flour base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31012" y="468560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3306121" y="46958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35854" y="468560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4510963" y="46958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4923663"/>
            <a:ext cx="1794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'Millet-based'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0233" y="491343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2195342" y="49236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5151500"/>
            <a:ext cx="21719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'Oat-based'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97339" y="514127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572448" y="5151500"/>
            <a:ext cx="35608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'Multigrain and blended flour bases'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82464" y="514127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257573" y="51515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53793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36911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53793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36911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53793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8 categories.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Primary Flour Base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Primary Flour Base,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Primary Flour Base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64040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543425"/>
            <a:ext cx="11906250" cy="2085975"/>
          </a:xfrm>
          <a:prstGeom prst="roundRect">
            <a:avLst>
              <a:gd name="adj" fmla="val 36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6291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Primary Flour Base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8672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953000"/>
            <a:ext cx="11639550" cy="16002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41327" y="2575752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962525"/>
            <a:ext cx="29056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'Oat-based' is the largest primary flour base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31012" y="49523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306121" y="49625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12054" y="49523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387163" y="49625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190363"/>
            <a:ext cx="1794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'Millet-based'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0233" y="51801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5342" y="51903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418200"/>
            <a:ext cx="21719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'Oat-based'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97339" y="54079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72448" y="5418200"/>
            <a:ext cx="2130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'Rice-based'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51630" y="54079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826739" y="54182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6460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6358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6460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6358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6460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8 categories.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Primary Flour Base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Primary Flour Base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Primary Flour Base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34191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72942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5322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Almond and other nut flour-based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1514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1923900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1919138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84293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190485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235774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223101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15481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Millet-based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21672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2716736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271197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263577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single-flour bases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269768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360623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335586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27966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Corn-based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34157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4090692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 rot="10800000">
            <a:off x="5090922" y="408592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400972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Rice-based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407164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4859162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485439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477819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Wheat-based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484011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928997" y="574461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>
            <a:off x="5090922" y="5739850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5233797" y="566365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Oat-based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896100" y="572556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Primary Flour Base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829550" y="1400175"/>
            <a:ext cx="22090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'Oat-based' gains the most share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87747" y="13899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162856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1803273"/>
            <a:ext cx="18875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'Rice-based' cedes the most -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66266" y="1793049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841375" y="1803273"/>
            <a:ext cx="19631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(red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829550" y="1978533"/>
            <a:ext cx="2313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829550" y="2206371"/>
            <a:ext cx="35600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'Millet-based' is the fastest-growing primary flour base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38709" y="2196147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7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Primary Flour Base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Primary Flour Base,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Primary Flour Base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61476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40051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Primary Flour Base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Primary Flour Base,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Primary Flour Base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Wheat-based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51625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516255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516255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516255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51625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51625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51625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516255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516255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516255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51625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92595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Refined wheat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925955"/>
            <a:ext cx="643890" cy="51625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925955"/>
            <a:ext cx="643890" cy="516255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925955"/>
            <a:ext cx="643890" cy="516255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925955"/>
            <a:ext cx="643890" cy="516255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925955"/>
            <a:ext cx="643890" cy="516255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925955"/>
            <a:ext cx="643890" cy="51625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925955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925955"/>
            <a:ext cx="643890" cy="51625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925955"/>
            <a:ext cx="643890" cy="516255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925955"/>
            <a:ext cx="643890" cy="516255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925955"/>
            <a:ext cx="643890" cy="516255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925955"/>
            <a:ext cx="643890" cy="51625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92595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44221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Whole wheat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442210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442210"/>
            <a:ext cx="643890" cy="51625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442210"/>
            <a:ext cx="643890" cy="516255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442210"/>
            <a:ext cx="643890" cy="516255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442210"/>
            <a:ext cx="643890" cy="516255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442210"/>
            <a:ext cx="643890" cy="516255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442210"/>
            <a:ext cx="643890" cy="51625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442210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442210"/>
            <a:ext cx="643890" cy="51625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442210"/>
            <a:ext cx="643890" cy="516255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442210"/>
            <a:ext cx="643890" cy="516255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442210"/>
            <a:ext cx="643890" cy="516255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442210"/>
            <a:ext cx="643890" cy="51625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95846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Oat-based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958465"/>
            <a:ext cx="643890" cy="516255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958465"/>
            <a:ext cx="643890" cy="516255"/>
          </a:xfrm>
          <a:prstGeom prst="rect">
            <a:avLst/>
          </a:prstGeom>
          <a:solidFill>
            <a:srgbClr val="0E72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958465"/>
            <a:ext cx="643890" cy="51625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958465"/>
            <a:ext cx="643890" cy="51625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958465"/>
            <a:ext cx="643890" cy="516255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958465"/>
            <a:ext cx="643890" cy="516255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958465"/>
            <a:ext cx="643890" cy="516255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958465"/>
            <a:ext cx="643890" cy="51625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958465"/>
            <a:ext cx="643890" cy="51625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958465"/>
            <a:ext cx="643890" cy="516255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958465"/>
            <a:ext cx="643890" cy="516255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958465"/>
            <a:ext cx="643890" cy="51625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958465"/>
            <a:ext cx="643890" cy="516255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958465"/>
            <a:ext cx="643890" cy="51625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958465"/>
            <a:ext cx="643890" cy="516255"/>
          </a:xfrm>
          <a:prstGeom prst="rect">
            <a:avLst/>
          </a:prstGeom>
          <a:solidFill>
            <a:srgbClr val="0C4A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47472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Rice-based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474720"/>
            <a:ext cx="643890" cy="51625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474720"/>
            <a:ext cx="643890" cy="51625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474720"/>
            <a:ext cx="643890" cy="51625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474720"/>
            <a:ext cx="643890" cy="51625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474720"/>
            <a:ext cx="643890" cy="51625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474720"/>
            <a:ext cx="643890" cy="516255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474720"/>
            <a:ext cx="643890" cy="516255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474720"/>
            <a:ext cx="643890" cy="516255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474720"/>
            <a:ext cx="643890" cy="516255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474720"/>
            <a:ext cx="643890" cy="516255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99097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Corn-based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990975"/>
            <a:ext cx="643890" cy="51625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990975"/>
            <a:ext cx="643890" cy="516255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990975"/>
            <a:ext cx="643890" cy="516255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990975"/>
            <a:ext cx="643890" cy="516255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990975"/>
            <a:ext cx="643890" cy="516255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990975"/>
            <a:ext cx="643890" cy="51625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990975"/>
            <a:ext cx="643890" cy="51625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990975"/>
            <a:ext cx="643890" cy="51625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990975"/>
            <a:ext cx="643890" cy="516255"/>
          </a:xfrm>
          <a:prstGeom prst="rect">
            <a:avLst/>
          </a:prstGeom>
          <a:solidFill>
            <a:srgbClr val="92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990975"/>
            <a:ext cx="643890" cy="51625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990975"/>
            <a:ext cx="643890" cy="51625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990975"/>
            <a:ext cx="643890" cy="516255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990975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990975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50723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Millet-based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507230"/>
            <a:ext cx="643890" cy="516255"/>
          </a:xfrm>
          <a:prstGeom prst="rect">
            <a:avLst/>
          </a:prstGeom>
          <a:solidFill>
            <a:srgbClr val="0D65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507230"/>
            <a:ext cx="643890" cy="516255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507230"/>
            <a:ext cx="643890" cy="51625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507230"/>
            <a:ext cx="643890" cy="516255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507230"/>
            <a:ext cx="643890" cy="516255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507230"/>
            <a:ext cx="643890" cy="51625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507230"/>
            <a:ext cx="643890" cy="516255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507230"/>
            <a:ext cx="643890" cy="516255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507230"/>
            <a:ext cx="643890" cy="516255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507230"/>
            <a:ext cx="643890" cy="516255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507230"/>
            <a:ext cx="643890" cy="516255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507230"/>
            <a:ext cx="643890" cy="51625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507230"/>
            <a:ext cx="643890" cy="51625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507230"/>
            <a:ext cx="643890" cy="516255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507230"/>
            <a:ext cx="643890" cy="51625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502348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Almond and other nut flour-based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5023485"/>
            <a:ext cx="643890" cy="516255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5023485"/>
            <a:ext cx="643890" cy="516255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5023485"/>
            <a:ext cx="643890" cy="516255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5023485"/>
            <a:ext cx="643890" cy="516255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5023485"/>
            <a:ext cx="643890" cy="516255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5023485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5023485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5023485"/>
            <a:ext cx="643890" cy="51625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5023485"/>
            <a:ext cx="643890" cy="516255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5023485"/>
            <a:ext cx="643890" cy="516255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5023485"/>
            <a:ext cx="643890" cy="516255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502348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502348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5023485"/>
            <a:ext cx="643890" cy="516255"/>
          </a:xfrm>
          <a:prstGeom prst="rect">
            <a:avLst/>
          </a:prstGeom>
          <a:solidFill>
            <a:srgbClr val="43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5023485"/>
            <a:ext cx="643890" cy="51625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53974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single-flour bases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539740"/>
            <a:ext cx="643890" cy="51625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539740"/>
            <a:ext cx="643890" cy="51625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539740"/>
            <a:ext cx="643890" cy="51625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539740"/>
            <a:ext cx="643890" cy="51625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539740"/>
            <a:ext cx="643890" cy="51625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539740"/>
            <a:ext cx="643890" cy="51625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539740"/>
            <a:ext cx="643890" cy="51625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539740"/>
            <a:ext cx="643890" cy="516255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539740"/>
            <a:ext cx="643890" cy="516255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539740"/>
            <a:ext cx="643890" cy="516255"/>
          </a:xfrm>
          <a:prstGeom prst="rect">
            <a:avLst/>
          </a:prstGeom>
          <a:solidFill>
            <a:srgbClr val="24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605599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6055995"/>
            <a:ext cx="643890" cy="516255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6055995"/>
            <a:ext cx="643890" cy="51625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6055995"/>
            <a:ext cx="643890" cy="51625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6055995"/>
            <a:ext cx="643890" cy="51625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6055995"/>
            <a:ext cx="643890" cy="51625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6055995"/>
            <a:ext cx="643890" cy="51625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6055995"/>
            <a:ext cx="643890" cy="51625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6055995"/>
            <a:ext cx="643890" cy="516255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6055995"/>
            <a:ext cx="643890" cy="51625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6055995"/>
            <a:ext cx="643890" cy="51625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6055995"/>
            <a:ext cx="643890" cy="51625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6055995"/>
            <a:ext cx="643890" cy="51625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6055995"/>
            <a:ext cx="643890" cy="516255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6055995"/>
            <a:ext cx="643890" cy="51625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6055995"/>
            <a:ext cx="643890" cy="51625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Primary Flour Base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Primary Flour Base,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Primary Flour Base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61476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40051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Primary Flour Base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Primary Flour Base,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Primary Flour Base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Wheat-based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51625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516255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516255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516255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51625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51625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516255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516255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516255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51625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92595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Refined wheat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925955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925955"/>
            <a:ext cx="643890" cy="516255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925955"/>
            <a:ext cx="643890" cy="516255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925955"/>
            <a:ext cx="643890" cy="516255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925955"/>
            <a:ext cx="643890" cy="516255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925955"/>
            <a:ext cx="643890" cy="51625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925955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925955"/>
            <a:ext cx="643890" cy="516255"/>
          </a:xfrm>
          <a:prstGeom prst="rect">
            <a:avLst/>
          </a:prstGeom>
          <a:solidFill>
            <a:srgbClr val="48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925955"/>
            <a:ext cx="643890" cy="516255"/>
          </a:xfrm>
          <a:prstGeom prst="rect">
            <a:avLst/>
          </a:prstGeom>
          <a:solidFill>
            <a:srgbClr val="47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925955"/>
            <a:ext cx="643890" cy="516255"/>
          </a:xfrm>
          <a:prstGeom prst="rect">
            <a:avLst/>
          </a:prstGeom>
          <a:solidFill>
            <a:srgbClr val="46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925955"/>
            <a:ext cx="643890" cy="516255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925955"/>
            <a:ext cx="643890" cy="516255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925955"/>
            <a:ext cx="643890" cy="51625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44221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Whole wheat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442210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442210"/>
            <a:ext cx="643890" cy="51625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442210"/>
            <a:ext cx="643890" cy="516255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442210"/>
            <a:ext cx="643890" cy="516255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442210"/>
            <a:ext cx="643890" cy="516255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442210"/>
            <a:ext cx="643890" cy="51625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442210"/>
            <a:ext cx="643890" cy="51625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442210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442210"/>
            <a:ext cx="643890" cy="51625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442210"/>
            <a:ext cx="643890" cy="516255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442210"/>
            <a:ext cx="643890" cy="516255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442210"/>
            <a:ext cx="643890" cy="516255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442210"/>
            <a:ext cx="643890" cy="51625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95846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Oat-based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958465"/>
            <a:ext cx="643890" cy="516255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958465"/>
            <a:ext cx="643890" cy="516255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958465"/>
            <a:ext cx="643890" cy="51625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958465"/>
            <a:ext cx="643890" cy="51625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958465"/>
            <a:ext cx="643890" cy="516255"/>
          </a:xfrm>
          <a:prstGeom prst="rect">
            <a:avLst/>
          </a:prstGeom>
          <a:solidFill>
            <a:srgbClr val="13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958465"/>
            <a:ext cx="643890" cy="516255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958465"/>
            <a:ext cx="643890" cy="516255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958465"/>
            <a:ext cx="643890" cy="51625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958465"/>
            <a:ext cx="643890" cy="51625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958465"/>
            <a:ext cx="643890" cy="516255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958465"/>
            <a:ext cx="643890" cy="516255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958465"/>
            <a:ext cx="643890" cy="51625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958465"/>
            <a:ext cx="643890" cy="516255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958465"/>
            <a:ext cx="643890" cy="51625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958465"/>
            <a:ext cx="643890" cy="516255"/>
          </a:xfrm>
          <a:prstGeom prst="rect">
            <a:avLst/>
          </a:prstGeom>
          <a:solidFill>
            <a:srgbClr val="0C4A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47472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Rice-based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474720"/>
            <a:ext cx="643890" cy="51625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474720"/>
            <a:ext cx="643890" cy="516255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474720"/>
            <a:ext cx="643890" cy="516255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474720"/>
            <a:ext cx="643890" cy="516255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474720"/>
            <a:ext cx="643890" cy="516255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474720"/>
            <a:ext cx="643890" cy="516255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474720"/>
            <a:ext cx="643890" cy="516255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474720"/>
            <a:ext cx="643890" cy="516255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474720"/>
            <a:ext cx="643890" cy="516255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474720"/>
            <a:ext cx="643890" cy="516255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99097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Corn-based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990975"/>
            <a:ext cx="643890" cy="51625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990975"/>
            <a:ext cx="643890" cy="516255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990975"/>
            <a:ext cx="643890" cy="516255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990975"/>
            <a:ext cx="643890" cy="516255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990975"/>
            <a:ext cx="643890" cy="516255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990975"/>
            <a:ext cx="643890" cy="51625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990975"/>
            <a:ext cx="643890" cy="51625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990975"/>
            <a:ext cx="643890" cy="51625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990975"/>
            <a:ext cx="643890" cy="516255"/>
          </a:xfrm>
          <a:prstGeom prst="rect">
            <a:avLst/>
          </a:prstGeom>
          <a:solidFill>
            <a:srgbClr val="92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990975"/>
            <a:ext cx="643890" cy="51625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990975"/>
            <a:ext cx="643890" cy="51625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990975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990975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50723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Millet-based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507230"/>
            <a:ext cx="643890" cy="516255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507230"/>
            <a:ext cx="643890" cy="516255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507230"/>
            <a:ext cx="643890" cy="516255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507230"/>
            <a:ext cx="643890" cy="516255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507230"/>
            <a:ext cx="643890" cy="516255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507230"/>
            <a:ext cx="643890" cy="51625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507230"/>
            <a:ext cx="643890" cy="516255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507230"/>
            <a:ext cx="643890" cy="516255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507230"/>
            <a:ext cx="643890" cy="516255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507230"/>
            <a:ext cx="643890" cy="516255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507230"/>
            <a:ext cx="643890" cy="516255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507230"/>
            <a:ext cx="643890" cy="51625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507230"/>
            <a:ext cx="643890" cy="51625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507230"/>
            <a:ext cx="643890" cy="516255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507230"/>
            <a:ext cx="643890" cy="51625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502348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Almond and other nut flour-based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5023485"/>
            <a:ext cx="643890" cy="516255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5023485"/>
            <a:ext cx="643890" cy="516255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5023485"/>
            <a:ext cx="643890" cy="516255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5023485"/>
            <a:ext cx="643890" cy="516255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5023485"/>
            <a:ext cx="643890" cy="516255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5023485"/>
            <a:ext cx="643890" cy="51625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5023485"/>
            <a:ext cx="643890" cy="516255"/>
          </a:xfrm>
          <a:prstGeom prst="rect">
            <a:avLst/>
          </a:prstGeom>
          <a:solidFill>
            <a:srgbClr val="48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5023485"/>
            <a:ext cx="643890" cy="51625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5023485"/>
            <a:ext cx="643890" cy="516255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5023485"/>
            <a:ext cx="643890" cy="516255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5023485"/>
            <a:ext cx="643890" cy="516255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502348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502348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502348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5023485"/>
            <a:ext cx="643890" cy="51625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53974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single-flour bases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539740"/>
            <a:ext cx="643890" cy="51625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539740"/>
            <a:ext cx="643890" cy="51625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539740"/>
            <a:ext cx="643890" cy="51625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539740"/>
            <a:ext cx="643890" cy="51625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539740"/>
            <a:ext cx="643890" cy="516255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539740"/>
            <a:ext cx="643890" cy="51625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539740"/>
            <a:ext cx="643890" cy="516255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539740"/>
            <a:ext cx="643890" cy="516255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539740"/>
            <a:ext cx="643890" cy="51625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605599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6055995"/>
            <a:ext cx="643890" cy="516255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6055995"/>
            <a:ext cx="643890" cy="51625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6055995"/>
            <a:ext cx="643890" cy="51625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6055995"/>
            <a:ext cx="643890" cy="51625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6055995"/>
            <a:ext cx="643890" cy="51625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6055995"/>
            <a:ext cx="643890" cy="516255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6055995"/>
            <a:ext cx="643890" cy="51625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6055995"/>
            <a:ext cx="643890" cy="516255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6055995"/>
            <a:ext cx="643890" cy="51625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6055995"/>
            <a:ext cx="643890" cy="51625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6055995"/>
            <a:ext cx="643890" cy="51625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6055995"/>
            <a:ext cx="643890" cy="516255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6055995"/>
            <a:ext cx="643890" cy="516255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6055995"/>
            <a:ext cx="643890" cy="51625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6055995"/>
            <a:ext cx="643890" cy="51625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Dietary Formulation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Dietary Formulation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Dietary Formulation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Dietary Formulation,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Dietary Formulation segment categorizes the market by dietary formulation.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(base)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and vegan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Conventional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Vegan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Dietary Formulation split shows how demand is distributed across dietary formulation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4_958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8_42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3_44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5_18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4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1_803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3_275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6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690_8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857_2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2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6502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'Gluten-free'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084108" y="421965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485775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615009"/>
            <a:ext cx="22276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'Conventional' is the fastest-growing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38615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dietary formulation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838575" y="4229437"/>
            <a:ext cx="8865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Gluten-free: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73195" y="4219658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84069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700141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5867637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838575" y="4447369"/>
            <a:ext cx="15021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Gluten-free and vegan: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288748" y="4437590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545624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315694" y="443759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6483190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838575" y="4665301"/>
            <a:ext cx="9823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Conventional: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68966" y="4655522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4936462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795912" y="4655522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963408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838575" y="4883233"/>
            <a:ext cx="5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Vegan: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371149" y="4873454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453864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398095" y="4873454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5565590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524875" y="5842641"/>
            <a:ext cx="30214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Dietary Formulation segment is projected to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Dietary Formulation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Dietary Formulation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Dietary Formulation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Dietary Formulation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47913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'Gluten-free'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96574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164070" y="5861685"/>
            <a:ext cx="23938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'Gluten-free and vegan'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05923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673418" y="5861685"/>
            <a:ext cx="4138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Dietary Formulation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Dietary Formulation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Conventional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Gluten-free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Vegan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Gluten-free and vegan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Dietary Formulation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Dietary Formulation,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Dietary Formulation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18668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Formulation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704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04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04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8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04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114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448050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533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Dietary Formulation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771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857625"/>
            <a:ext cx="11639550" cy="2695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124454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867150"/>
            <a:ext cx="3046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'Gluten-free' is the largest dietary formulation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71927" y="3856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47037" y="38671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76770" y="3856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651879" y="38671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094987"/>
            <a:ext cx="18362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'Conventional'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61595" y="4084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236704" y="4094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322825"/>
            <a:ext cx="23453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'Conventional'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70773" y="4312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45883" y="4322825"/>
            <a:ext cx="281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'Gluten-free and vegan'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09959" y="4312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685068" y="4322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5506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540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550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540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5506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Dietary Formulation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Dietary Formulation,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Dietary Formulation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90585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Dietary Formulation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04600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046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'Gluten-free' is the largest dietary formulation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71927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47037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52969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528079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18362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'Conventional'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61595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236704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22452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'Gluten-free'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0649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45758" y="3941825"/>
            <a:ext cx="281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'Gluten-free and vegan'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09835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584944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Dietary Formulation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Dietary Formulation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Dietary Formulation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81687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7692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0072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Vegan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6263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31406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30930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23310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Conventional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9501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40399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339922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32302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and vegan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38494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157804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515304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07684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(base)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13875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Dietary Formulation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22823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'Gluten-free'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61057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236166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25724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'Gluten-free and vegan'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51160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526270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36689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'Conventional' is the fastest-growing dietary formulation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47676" y="2196147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Dietary Formulation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Dietary Formulation,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Dietary Formulation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39911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Dietary Formulation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0D609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0E72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0C39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C3F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42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Vegan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DF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 and vegan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BED5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7F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7A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C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69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9266" y="1713738"/>
            <a:ext cx="366712" cy="533400"/>
          </a:xfrm>
          <a:prstGeom prst="rect">
            <a:avLst/>
          </a:prstGeom>
        </p:spPr>
      </p:pic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192526"/>
            <a:ext cx="128699" cy="187198"/>
          </a:xfrm>
          <a:prstGeom prst="rect">
            <a:avLst/>
          </a:prstGeom>
        </p:spPr>
      </p:pic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816538"/>
            <a:ext cx="128699" cy="187198"/>
          </a:xfrm>
          <a:prstGeom prst="rect">
            <a:avLst/>
          </a:prstGeom>
        </p:spPr>
      </p:pic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Dietary Formulation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Dietary Formulation,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Dietary Formulation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39911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Dietary Formulation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B32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Vegan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E2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 and vegan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73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9266" y="1713738"/>
            <a:ext cx="366712" cy="533400"/>
          </a:xfrm>
          <a:prstGeom prst="rect">
            <a:avLst/>
          </a:prstGeom>
        </p:spPr>
      </p:pic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192526"/>
            <a:ext cx="128699" cy="187198"/>
          </a:xfrm>
          <a:prstGeom prst="rect">
            <a:avLst/>
          </a:prstGeom>
        </p:spPr>
      </p:pic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816538"/>
            <a:ext cx="128699" cy="187198"/>
          </a:xfrm>
          <a:prstGeom prst="rect">
            <a:avLst/>
          </a:prstGeom>
        </p:spPr>
      </p:pic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Nutritional Positioning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Nutritional Positioning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Nutritional Positioning Segment Outlook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7 sub-segments of Nutritional Positioning,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Nutritional Positioning segment categorizes the market by nutritional positioning.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Protein-enriched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Standard / indulgent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Reduced-sugar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nutrition-focused formulati…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Nutritional Positioning split shows how demand is distributed across nutritional positioning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2_288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4_18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6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2_08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3_280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4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1_86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3_30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5_9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1_721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2_201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2_5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'Protein-enriched'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2307" y="438729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639803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615009"/>
            <a:ext cx="2305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'Fibre-enriched' is the fastest-growing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386153"/>
            <a:ext cx="24249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7 sub-segments make up the nutritional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553793"/>
            <a:ext cx="13438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positioning landscape.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838575" y="4229437"/>
            <a:ext cx="11888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Protein-enriched: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975515" y="4219658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514301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002461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6169957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838575" y="4447369"/>
            <a:ext cx="14008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Standard / indulgent: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187520" y="4437590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5355016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214466" y="443759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6381962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838575" y="4665301"/>
            <a:ext cx="1076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Reduced-sugar: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862827" y="4655522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5030323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889773" y="4655522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6057269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838575" y="4883233"/>
            <a:ext cx="23441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nutrition-focused formulations: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130768" y="4873454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629826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157714" y="4873454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7325210" y="4883233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838575" y="5050873"/>
            <a:ext cx="9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Nutritional Positioning segment is projected to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Nutritional Positioning Segment Outlook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7 sub-segments of Nutritional Positioning,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Nutritional Positioning segment categorizes the market by nutritional positioning.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Reduced-fat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No-added-sugar</a:t>
            </a:r>
          </a:p>
        </p:txBody>
      </p:sp>
      <p:sp>
        <p:nvSpPr>
          <p:cNvPr id="29" name="Rectangle 28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Fibre-enriched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2" name="Rectangle 41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6" name="Picture 45" descr="1_62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47" name="Picture 46" descr="2_57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48" name="Picture 47" descr="4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49" name="Picture 48" descr="978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50" name="Picture 49" descr="1_501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51" name="Picture 50" descr="4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52" name="Picture 51" descr="341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53" name="Picture 52" descr="697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54" name="Picture 53" descr="7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9231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Reduced-fat: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56957" y="421965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52445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383903" y="4219658"/>
            <a:ext cx="128699" cy="187198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2551399" y="4229437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85775" y="4447369"/>
            <a:ext cx="11452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No-added-sugar: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579059" y="4437590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174655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606005" y="4437590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773500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485775" y="4665301"/>
            <a:ext cx="10601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Fibre-enriched: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493929" y="465552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661425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20875" y="465552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2688371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Nutritional Positioning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Nutritional Positioning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Nutritional Positioning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Nutritional Positioning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0936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'Protein-enriched'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298893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466389" y="5861685"/>
            <a:ext cx="32358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'Other nutrition-focused formulations'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50262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817758" y="5861685"/>
            <a:ext cx="2741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9596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Nutritional Positioning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Nutritional Positioning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Standard / indulgent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Protein-enriched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Fibre-enriched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Reduced-sugar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Nutritional Positioning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Nutritional Positioning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No-added-sugar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Reduced-fat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Other nutrition-focused formulations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Nutritional Positioning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6305550" y="4286250"/>
            <a:ext cx="35682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7 sub-segments, by nutritional positioning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822982" y="4276026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9998091" y="4286250"/>
            <a:ext cx="18119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Global market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689347"/>
            <a:ext cx="15418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'Protein-enriched' adds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96538" y="4679124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971647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44118" y="4679124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719227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05550" y="4917185"/>
            <a:ext cx="14240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'Reduced-sugar' adds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678728" y="4906962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53837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26308" y="4906962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601418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05550" y="5145023"/>
            <a:ext cx="17634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'Standard / indulgent' adds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18180" y="5134800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193290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65760" y="5134800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940870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5372861"/>
            <a:ext cx="19933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'Fibre-enriched' adds the least: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48095" y="5362638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423204" y="537286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995675" y="5362638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170784" y="5372861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1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lockshield_15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Nutritional Positioning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Nutritional Positioning,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57575"/>
          </a:xfrm>
          <a:prstGeom prst="roundRect">
            <a:avLst>
              <a:gd name="adj" fmla="val 22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Nutritional Positioning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9908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Positioning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3948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indulgent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6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6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632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focused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formulations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38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57200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657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Nutritional Positioning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895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981575"/>
            <a:ext cx="11639550" cy="1571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686432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991100"/>
            <a:ext cx="35246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'Protein-enriched' is the largest nutritional positioning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50013" y="4980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925122" y="49911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54855" y="4980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129964" y="49911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218938"/>
            <a:ext cx="1917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'Fibre-enriched'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42892" y="52087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18002" y="521893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446775"/>
            <a:ext cx="25613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'Protein-enriched'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6710" y="54365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961820" y="5446775"/>
            <a:ext cx="36952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'Other nutrition-focused formulations'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6190" y="54365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781299" y="54467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6746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6643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6746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6643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6746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7 categories.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Nutritional Positioning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Nutritional Positioning,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Nutritional Positioning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74428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Nutritional Positioning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6525" y="220427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35246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'Protein-enriched' is the largest nutritional positioning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50013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925122" y="42195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1055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006164" y="42195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1917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'Fibre-enriched'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42892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18002" y="44474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25613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'Protein-enriched'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6710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961820" y="4675250"/>
            <a:ext cx="36952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'Other nutrition-focused formulations'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6190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781299" y="46752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9030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9030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7 categories.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Nutritional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Nutritional Positioning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Nutritional Positioning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61049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75628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8008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Fibre-enriched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4199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044229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03946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96326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No-added-sugar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02517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52113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51636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44016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nutrition-focused formulations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50208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3136292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313152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305532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Reduced-fat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311724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89054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388578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80958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Standard / indulgent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87149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4739318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473455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465835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Reduced-sugar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472026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570456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569979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562359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Protein-enriched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568551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Nutritional Positioning</a:t>
            </a:r>
          </a:p>
        </p:txBody>
      </p:sp>
      <p:sp>
        <p:nvSpPr>
          <p:cNvPr id="46" name="Rectangle 4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7829550" y="1400175"/>
            <a:ext cx="25984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'Protein-enriched' gains the most share +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77118" y="1389951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0552228" y="1400175"/>
            <a:ext cx="11864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575435"/>
            <a:ext cx="19836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1803273"/>
            <a:ext cx="34527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nutrition-focused formulations' cedes the most -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31454" y="1793049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406563" y="1803273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978533"/>
            <a:ext cx="18961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206371"/>
            <a:ext cx="3912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'Fibre-enriched' is the fastest-growing nutritional positioning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15470" y="2371407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799057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8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Nutritional Positioning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Nutritional Positioning,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Nutritional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78911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Nutritional Positioning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/ indulgent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Protein-enriched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68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Fibre-enriched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0B30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Reduced-sugar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86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3B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No-added-sugar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Reduced-fat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5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nutrition-focused formulations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8768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Nutritional Positioning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Nutritional Positioning,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Nutritional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78911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Nutritional Positioning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/ indulgent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Protein-enriched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6C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28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Fibre-enriched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0B30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B32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Reduced-sugar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No-added-sugar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Reduced-fat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nutrition-focused formulations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8768" y="2080450"/>
            <a:ext cx="366712" cy="533400"/>
          </a:xfrm>
          <a:prstGeom prst="rect">
            <a:avLst/>
          </a:prstGeom>
        </p:spPr>
      </p:pic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925951"/>
            <a:ext cx="128699" cy="187198"/>
          </a:xfrm>
          <a:prstGeom prst="rect">
            <a:avLst/>
          </a:prstGeom>
        </p:spPr>
      </p:pic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5183251"/>
            <a:ext cx="128699" cy="187198"/>
          </a:xfrm>
          <a:prstGeom prst="rect">
            <a:avLst/>
          </a:prstGeom>
        </p:spPr>
      </p:pic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Recipe and Ingredient Claims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Recipe and Ingredient Claims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Recipe and Ingredient Claims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Recipe and Ingredient Claims,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Recipe and Ingredient Claims segment categorizes the market by recipe and ingredient claims.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Additional claim mapping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Organic-certified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Conventional / non-organic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Recipe and Ingredient Claims split shows how demand is distributed across recipe and ingredient claims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8_72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14_712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791165" y="2779432"/>
            <a:ext cx="1409020" cy="361950"/>
          </a:xfrm>
          <a:prstGeom prst="rect">
            <a:avLst/>
          </a:prstGeom>
        </p:spPr>
      </p:pic>
      <p:pic>
        <p:nvPicPr>
          <p:cNvPr id="59" name="Picture 58" descr="5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1_973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2_756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3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205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278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3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'Additional claim mapping' holds the largest share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4972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31036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098532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'Additional claim mapping' is the fastest-growing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86153"/>
            <a:ext cx="24229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recipe and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16860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ingredient claims landscape.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6764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Additional claim mapping: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463101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630596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490047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657542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615009"/>
            <a:ext cx="11856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Organic-certified: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972241" y="4605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5139736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999187" y="460523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6166682" y="461500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832941"/>
            <a:ext cx="1782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Conventional / non-organic: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569513" y="4823162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737008" y="483294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596459" y="4823162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763954" y="4832941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5000581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56661"/>
            <a:ext cx="3129352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The Recipe and Ingredient Claims segment is projected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1239018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to grow at a 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711019" y="6008495"/>
            <a:ext cx="123784" cy="180050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872119" y="6017901"/>
            <a:ext cx="1140105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Recipe and Ingredient Claims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Recipe and Ingredient Claims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Recipe and Ingredient Claims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Recipe and Ingredient Claims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5812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'Additional claim mapping'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786479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953975" y="5861685"/>
            <a:ext cx="20772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'Organic-certified'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79320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146816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Recipe and Ingredient Claims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Recipe and Ingredient Claims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Organic-certified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Conventional / non-organic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Additional claim mapping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Recipe and Ingredient Claims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9239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recipe and ingredient claims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178693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0353803" y="4286250"/>
            <a:ext cx="1352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Global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20130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0515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306287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481396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53867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228976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15384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'Organic-certified'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93115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968224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40695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715804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21628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'Conventional / non-organic'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7536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592645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65116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340225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Recipe and Ingredient Claims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Recipe and Ingredient Claims,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352800"/>
          </a:xfrm>
          <a:prstGeom prst="roundRect">
            <a:avLst>
              <a:gd name="adj" fmla="val 227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Recipe and Ingredient Claims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88607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Claims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720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99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non-organic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99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mapping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99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positioning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99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colours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99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flavours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1338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63404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Recipe and Ingredient Claims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Recipe and Ingredient Claims,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Recipe and Ingredient Claims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8" cy="21145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Claims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3992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preservatives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14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14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14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14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14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3623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695700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7814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Recipe and Ingredient Claims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0195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105275"/>
            <a:ext cx="11639550" cy="24479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248281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4114800"/>
            <a:ext cx="43900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is the largest recipe and ingredient claims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5473" y="410457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790583" y="41148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20315" y="4104576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5995425" y="41148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4342638"/>
            <a:ext cx="25619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7281" y="4332414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2962390" y="434263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570475"/>
            <a:ext cx="30710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'Additional claim mapping'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6459" y="4560252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471568" y="4570475"/>
            <a:ext cx="2484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'Organic-certified'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04751" y="4560252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079860" y="45704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7983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788090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47983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788090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47983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Recipe and Ingredient Claims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Recipe and Ingredient Claims,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Recipe and Ingredient Claims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51700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781550"/>
            <a:ext cx="11906250" cy="1847850"/>
          </a:xfrm>
          <a:prstGeom prst="roundRect">
            <a:avLst>
              <a:gd name="adj" fmla="val 41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867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Recipe and Ingredient Claims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105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191125"/>
            <a:ext cx="11639550" cy="1362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85158" y="269481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200650"/>
            <a:ext cx="43900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is the largest recipe and ingredient claims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5473" y="5190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790583" y="52006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96515" y="5190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871625" y="52006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428488"/>
            <a:ext cx="25619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7281" y="5418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62390" y="542848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656325"/>
            <a:ext cx="30710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'Additional claim mapping'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6459" y="5646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471568" y="5656325"/>
            <a:ext cx="2484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'Organic-certified'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04751" y="5646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079860" y="5656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8841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873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884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873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8841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Recipe and Ingredient Claims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Recipe and Ingredient Claims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Recipe and Ingredient Claims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07104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0234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2614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Conventional / non-organic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68805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097957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09319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01699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Organic-certified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07890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34830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434353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26733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Additional claim mapping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32925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Recipe and Ingredient Claims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108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86867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1061976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22415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'Organic-certified'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20266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195375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37094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is the fastest-growing recipe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2381631"/>
            <a:ext cx="12460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claims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24730" y="237140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19983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3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Recipe and Ingredient Claims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Recipe and Ingredient Claims,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Recipe and Ingredient Claims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27921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73273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Recipe and Ingredient Claims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Recipe and Ingredient Claims,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Recipe and Ingredient Claims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Organic-certified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C5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 / non-organic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Additional claim mapping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64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Clean-label positioning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0C41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colours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flavours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preservatives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51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Non-GMO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0D609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0C41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Dairy-free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C5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Egg-free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Nut-free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Recipe and Ingredient Claims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Recipe and Ingredient Claims,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Recipe and Ingredient Claims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27921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73273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Recipe and Ingredient Claims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Recipe and Ingredient Claims,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Recipe and Ingredient Claims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Organic-certified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C5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C7DA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CC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 / non-organic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DF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CF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Additional claim mapping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Clean-label positioning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colours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DDEB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flavours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preservatives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52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Non-GMO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0D609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0C41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Dairy-free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CC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Egg-free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Nut-free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Structure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Structure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Structure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Product Structure,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Structure segment categorizes the market by product structure.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Filled muffins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Unfilled muffins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Structure split shows how demand is distributed across product structure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6_80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11_233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34127" y="2779432"/>
            <a:ext cx="1409020" cy="361950"/>
          </a:xfrm>
          <a:prstGeom prst="rect">
            <a:avLst/>
          </a:prstGeom>
        </p:spPr>
      </p:pic>
      <p:pic>
        <p:nvPicPr>
          <p:cNvPr id="52" name="Picture 51" descr="5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4_093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6_512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4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7588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'Filled muffins' holds the largest share in 2026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72307" y="438729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639803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615009"/>
            <a:ext cx="22404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'Filled muffins' is the fastest-growing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86153"/>
            <a:ext cx="28270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product structure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38575" y="4229437"/>
            <a:ext cx="9951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Filled muffins: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781790" y="4219658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949286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08736" y="4219658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5976232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838575" y="4447369"/>
            <a:ext cx="11367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Unfilled muffins: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23400" y="4437590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5090896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50346" y="4437590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6117842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Structure segment is projected to grow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Product Structure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Structure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Structure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Structure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4899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'Filled muffins'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05169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272665" y="5861685"/>
            <a:ext cx="20284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'Unfilled muffins'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49169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416665" y="5861685"/>
            <a:ext cx="4138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Product Structure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Structure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Unfilled muffins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Filled muffins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3384" y="3583939"/>
            <a:ext cx="402511" cy="58547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Product Structure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Structure,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4143375"/>
          </a:xfrm>
          <a:prstGeom prst="roundRect">
            <a:avLst>
              <a:gd name="adj" fmla="val 18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Product Structure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36766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65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5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44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inclusions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5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44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5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44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custard-filled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5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44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savoury-filled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5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9244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5257800"/>
            <a:ext cx="11906250" cy="1371600"/>
          </a:xfrm>
          <a:prstGeom prst="roundRect">
            <a:avLst>
              <a:gd name="adj" fmla="val 5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3435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Product Structure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5816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667375"/>
            <a:ext cx="11639550" cy="8858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302932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676900"/>
            <a:ext cx="280637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'Filled muffins' is the largest product structure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9681" y="5667512"/>
            <a:ext cx="123551" cy="17971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90477" y="5676900"/>
            <a:ext cx="99848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6040" y="5667512"/>
            <a:ext cx="123551" cy="17971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296836" y="5676900"/>
            <a:ext cx="33080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886114"/>
            <a:ext cx="1704665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'Filled muffins'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27971" y="5876726"/>
            <a:ext cx="123551" cy="17971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88767" y="5886114"/>
            <a:ext cx="113964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6095329"/>
            <a:ext cx="217222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Share shifts toward 'Filled muffins'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95530" y="6085941"/>
            <a:ext cx="123551" cy="179710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56326" y="6095329"/>
            <a:ext cx="224032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BPS) and away from 'Unfilled muffins'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43735" y="6085941"/>
            <a:ext cx="123551" cy="17971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904531" y="6095329"/>
            <a:ext cx="170833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6304544"/>
            <a:ext cx="144298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96" y="6295156"/>
            <a:ext cx="123551" cy="179710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27092" y="6304544"/>
            <a:ext cx="191976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66150" y="6295156"/>
            <a:ext cx="123551" cy="17971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26946" y="6304544"/>
            <a:ext cx="135655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Product Structure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Structure,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Product Structure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68770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2957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3815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Product Structure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619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705350"/>
            <a:ext cx="11639550" cy="18478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3691" y="245192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714875"/>
            <a:ext cx="30494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is the largest product structure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74780" y="47046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49889" y="47148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55822" y="47046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530931" y="47148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942713"/>
            <a:ext cx="1849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75002" y="49324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250111" y="49427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170550"/>
            <a:ext cx="23588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'Filled muffins'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4180" y="51603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59289" y="5170550"/>
            <a:ext cx="24329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'Unfilled muffins'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41411" y="51603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316520" y="51705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3983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3881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3983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3881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3983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Product Structure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Structure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Product Structure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510273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50551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42931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Unfilled muffins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49122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796464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479170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71550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Filled muffins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77741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Product Structure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23958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74588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0349697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21905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'Unfilled muffins'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69205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144315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206371"/>
            <a:ext cx="35717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is the fastest-growing product structure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50405" y="219614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8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Product Structure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Structure,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Product Structure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9041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1052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Product Structure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4767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Unfilled muffins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476750"/>
            <a:ext cx="643890" cy="232833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476750"/>
            <a:ext cx="643890" cy="232833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476750"/>
            <a:ext cx="643890" cy="232833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476750"/>
            <a:ext cx="643890" cy="232833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476750"/>
            <a:ext cx="643890" cy="232833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476750"/>
            <a:ext cx="643890" cy="232833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476750"/>
            <a:ext cx="643890" cy="232833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476750"/>
            <a:ext cx="643890" cy="23283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476750"/>
            <a:ext cx="643890" cy="23283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476750"/>
            <a:ext cx="643890" cy="23283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476750"/>
            <a:ext cx="643890" cy="232833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476750"/>
            <a:ext cx="643890" cy="23283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476750"/>
            <a:ext cx="643890" cy="23283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476750"/>
            <a:ext cx="643890" cy="23283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476750"/>
            <a:ext cx="643890" cy="23283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7095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batter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709583"/>
            <a:ext cx="643890" cy="23283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709583"/>
            <a:ext cx="643890" cy="23283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709583"/>
            <a:ext cx="643890" cy="23283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709583"/>
            <a:ext cx="643890" cy="23283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709583"/>
            <a:ext cx="643890" cy="23283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709583"/>
            <a:ext cx="643890" cy="23283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709583"/>
            <a:ext cx="643890" cy="23283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709583"/>
            <a:ext cx="643890" cy="23283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709583"/>
            <a:ext cx="643890" cy="23283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709583"/>
            <a:ext cx="643890" cy="23283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709583"/>
            <a:ext cx="643890" cy="232833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709583"/>
            <a:ext cx="643890" cy="232833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709583"/>
            <a:ext cx="643890" cy="232833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709583"/>
            <a:ext cx="643890" cy="232833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709583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424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Batter with inclusions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42417"/>
            <a:ext cx="643890" cy="232833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42417"/>
            <a:ext cx="643890" cy="232833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42417"/>
            <a:ext cx="643890" cy="232833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42417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42417"/>
            <a:ext cx="643890" cy="232833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42417"/>
            <a:ext cx="643890" cy="232833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42417"/>
            <a:ext cx="643890" cy="232833"/>
          </a:xfrm>
          <a:prstGeom prst="rect">
            <a:avLst/>
          </a:prstGeom>
          <a:solidFill>
            <a:srgbClr val="46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42417"/>
            <a:ext cx="643890" cy="232833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42417"/>
            <a:ext cx="643890" cy="232833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42417"/>
            <a:ext cx="643890" cy="232833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42417"/>
            <a:ext cx="643890" cy="23283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42417"/>
            <a:ext cx="643890" cy="23283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752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Filled muffins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75250"/>
            <a:ext cx="643890" cy="232833"/>
          </a:xfrm>
          <a:prstGeom prst="rect">
            <a:avLst/>
          </a:prstGeom>
          <a:solidFill>
            <a:srgbClr val="A5C8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75250"/>
            <a:ext cx="643890" cy="232833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75250"/>
            <a:ext cx="643890" cy="23283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75250"/>
            <a:ext cx="643890" cy="23283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75250"/>
            <a:ext cx="643890" cy="23283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75250"/>
            <a:ext cx="643890" cy="232833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75250"/>
            <a:ext cx="643890" cy="232833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75250"/>
            <a:ext cx="643890" cy="232833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75250"/>
            <a:ext cx="643890" cy="232833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75250"/>
            <a:ext cx="643890" cy="232833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75250"/>
            <a:ext cx="643890" cy="232833"/>
          </a:xfrm>
          <a:prstGeom prst="rect">
            <a:avLst/>
          </a:prstGeom>
          <a:solidFill>
            <a:srgbClr val="6B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75250"/>
            <a:ext cx="643890" cy="232833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75250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75250"/>
            <a:ext cx="643890" cy="232833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75250"/>
            <a:ext cx="643890" cy="232833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80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 and jam-filled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8083"/>
            <a:ext cx="643890" cy="23283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8083"/>
            <a:ext cx="643890" cy="23283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8083"/>
            <a:ext cx="643890" cy="232833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8083"/>
            <a:ext cx="643890" cy="232833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8083"/>
            <a:ext cx="643890" cy="23283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8083"/>
            <a:ext cx="643890" cy="23283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8083"/>
            <a:ext cx="643890" cy="23283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8083"/>
            <a:ext cx="643890" cy="23283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8083"/>
            <a:ext cx="643890" cy="232833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8083"/>
            <a:ext cx="643890" cy="23283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8083"/>
            <a:ext cx="643890" cy="23283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8083"/>
            <a:ext cx="643890" cy="23283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8083"/>
            <a:ext cx="643890" cy="23283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8083"/>
            <a:ext cx="643890" cy="23283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8083"/>
            <a:ext cx="643890" cy="23283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409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Chocolate-filled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40917"/>
            <a:ext cx="643890" cy="23283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40917"/>
            <a:ext cx="643890" cy="23283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40917"/>
            <a:ext cx="643890" cy="23283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40917"/>
            <a:ext cx="643890" cy="23283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40917"/>
            <a:ext cx="643890" cy="23283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40917"/>
            <a:ext cx="643890" cy="232833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40917"/>
            <a:ext cx="643890" cy="232833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40917"/>
            <a:ext cx="643890" cy="232833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40917"/>
            <a:ext cx="643890" cy="232833"/>
          </a:xfrm>
          <a:prstGeom prst="rect">
            <a:avLst/>
          </a:prstGeom>
          <a:solidFill>
            <a:srgbClr val="6B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40917"/>
            <a:ext cx="643890" cy="232833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40917"/>
            <a:ext cx="643890" cy="232833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40917"/>
            <a:ext cx="643890" cy="232833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40917"/>
            <a:ext cx="643890" cy="232833"/>
          </a:xfrm>
          <a:prstGeom prst="rect">
            <a:avLst/>
          </a:prstGeom>
          <a:solidFill>
            <a:srgbClr val="67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40917"/>
            <a:ext cx="643890" cy="232833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8737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Cream and custard-filled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873750"/>
            <a:ext cx="643890" cy="232833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873750"/>
            <a:ext cx="643890" cy="232833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873750"/>
            <a:ext cx="643890" cy="232833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873750"/>
            <a:ext cx="643890" cy="232833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873750"/>
            <a:ext cx="643890" cy="232833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873750"/>
            <a:ext cx="643890" cy="232833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873750"/>
            <a:ext cx="643890" cy="232833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873750"/>
            <a:ext cx="643890" cy="232833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873750"/>
            <a:ext cx="643890" cy="232833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873750"/>
            <a:ext cx="643890" cy="232833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873750"/>
            <a:ext cx="643890" cy="232833"/>
          </a:xfrm>
          <a:prstGeom prst="rect">
            <a:avLst/>
          </a:prstGeom>
          <a:solidFill>
            <a:srgbClr val="0D52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873750"/>
            <a:ext cx="643890" cy="232833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873750"/>
            <a:ext cx="643890" cy="232833"/>
          </a:xfrm>
          <a:prstGeom prst="rect">
            <a:avLst/>
          </a:prstGeom>
          <a:solidFill>
            <a:srgbClr val="0D57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873750"/>
            <a:ext cx="643890" cy="232833"/>
          </a:xfrm>
          <a:prstGeom prst="rect">
            <a:avLst/>
          </a:prstGeom>
          <a:solidFill>
            <a:srgbClr val="0D59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873750"/>
            <a:ext cx="643890" cy="232833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1065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butter-filled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106583"/>
            <a:ext cx="643890" cy="232833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106583"/>
            <a:ext cx="643890" cy="232833"/>
          </a:xfrm>
          <a:prstGeom prst="rect">
            <a:avLst/>
          </a:prstGeom>
          <a:solidFill>
            <a:srgbClr val="0D609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106583"/>
            <a:ext cx="643890" cy="232833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106583"/>
            <a:ext cx="643890" cy="232833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106583"/>
            <a:ext cx="643890" cy="232833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106583"/>
            <a:ext cx="643890" cy="23283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106583"/>
            <a:ext cx="643890" cy="232833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106583"/>
            <a:ext cx="643890" cy="232833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106583"/>
            <a:ext cx="643890" cy="232833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106583"/>
            <a:ext cx="643890" cy="232833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106583"/>
            <a:ext cx="643890" cy="232833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106583"/>
            <a:ext cx="643890" cy="232833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106583"/>
            <a:ext cx="643890" cy="232833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106583"/>
            <a:ext cx="643890" cy="232833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106583"/>
            <a:ext cx="643890" cy="232833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238125" y="63394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 and savoury-filled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85737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250126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314515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378904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443293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507682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572071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636460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700849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765238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829627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894016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958405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022794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0871835" y="6339417"/>
            <a:ext cx="643890" cy="232833"/>
          </a:xfrm>
          <a:prstGeom prst="rect">
            <a:avLst/>
          </a:prstGeom>
          <a:solidFill>
            <a:srgbClr val="A9C9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4514850"/>
            <a:ext cx="104775" cy="5810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4565332"/>
            <a:ext cx="104775" cy="5810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4615815"/>
            <a:ext cx="104775" cy="5810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4666298"/>
            <a:ext cx="104775" cy="5810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4716780"/>
            <a:ext cx="104775" cy="5810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4767262"/>
            <a:ext cx="104775" cy="5810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4817745"/>
            <a:ext cx="104775" cy="5810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4868228"/>
            <a:ext cx="104775" cy="5810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918710"/>
            <a:ext cx="104775" cy="5810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4969192"/>
            <a:ext cx="104775" cy="5810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019675"/>
            <a:ext cx="104775" cy="5810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070158"/>
            <a:ext cx="104775" cy="5810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120640"/>
            <a:ext cx="104775" cy="5810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171122"/>
            <a:ext cx="104775" cy="5810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221605"/>
            <a:ext cx="104775" cy="5810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5272088"/>
            <a:ext cx="104775" cy="5810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5322570"/>
            <a:ext cx="104775" cy="5810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5373052"/>
            <a:ext cx="104775" cy="5810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5423535"/>
            <a:ext cx="104775" cy="5810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5474018"/>
            <a:ext cx="104775" cy="5810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5524500"/>
            <a:ext cx="104775" cy="5810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5574982"/>
            <a:ext cx="104775" cy="5810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5625465"/>
            <a:ext cx="104775" cy="5810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5675948"/>
            <a:ext cx="104775" cy="5810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5726430"/>
            <a:ext cx="104775" cy="5810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1572875" y="5776912"/>
            <a:ext cx="104775" cy="5810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1572875" y="5827395"/>
            <a:ext cx="104775" cy="5810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5877878"/>
            <a:ext cx="104775" cy="5810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5928360"/>
            <a:ext cx="104775" cy="5810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5978842"/>
            <a:ext cx="104775" cy="5810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6029325"/>
            <a:ext cx="104775" cy="5810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6079808"/>
            <a:ext cx="104775" cy="5810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6130290"/>
            <a:ext cx="104775" cy="5810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6180772"/>
            <a:ext cx="104775" cy="5810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6231255"/>
            <a:ext cx="104775" cy="5810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6281738"/>
            <a:ext cx="104775" cy="5810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6332220"/>
            <a:ext cx="104775" cy="5810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6382702"/>
            <a:ext cx="104775" cy="5810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6433185"/>
            <a:ext cx="104775" cy="5810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6483668"/>
            <a:ext cx="104775" cy="5810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4514850"/>
            <a:ext cx="104775" cy="20193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TextBox 216"/>
          <p:cNvSpPr txBox="1"/>
          <p:nvPr/>
        </p:nvSpPr>
        <p:spPr>
          <a:xfrm>
            <a:off x="11687175" y="4448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11687175" y="54578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21" name="Picture 2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8831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Product Structure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Structure,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Product Structure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9041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1052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Product Structure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4767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Unfilled muffins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476750"/>
            <a:ext cx="643890" cy="232833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476750"/>
            <a:ext cx="643890" cy="232833"/>
          </a:xfrm>
          <a:prstGeom prst="rect">
            <a:avLst/>
          </a:prstGeom>
          <a:solidFill>
            <a:srgbClr val="B7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476750"/>
            <a:ext cx="643890" cy="232833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476750"/>
            <a:ext cx="643890" cy="232833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476750"/>
            <a:ext cx="643890" cy="232833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476750"/>
            <a:ext cx="643890" cy="232833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476750"/>
            <a:ext cx="643890" cy="232833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476750"/>
            <a:ext cx="643890" cy="232833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476750"/>
            <a:ext cx="643890" cy="232833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476750"/>
            <a:ext cx="643890" cy="232833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476750"/>
            <a:ext cx="643890" cy="232833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476750"/>
            <a:ext cx="643890" cy="232833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476750"/>
            <a:ext cx="643890" cy="232833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476750"/>
            <a:ext cx="643890" cy="232833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476750"/>
            <a:ext cx="643890" cy="232833"/>
          </a:xfrm>
          <a:prstGeom prst="rect">
            <a:avLst/>
          </a:prstGeom>
          <a:solidFill>
            <a:srgbClr val="86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7095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batter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709583"/>
            <a:ext cx="643890" cy="23283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709583"/>
            <a:ext cx="643890" cy="23283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709583"/>
            <a:ext cx="643890" cy="232833"/>
          </a:xfrm>
          <a:prstGeom prst="rect">
            <a:avLst/>
          </a:prstGeom>
          <a:solidFill>
            <a:srgbClr val="DFED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709583"/>
            <a:ext cx="643890" cy="23283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709583"/>
            <a:ext cx="643890" cy="23283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709583"/>
            <a:ext cx="643890" cy="23283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709583"/>
            <a:ext cx="643890" cy="23283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709583"/>
            <a:ext cx="643890" cy="23283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709583"/>
            <a:ext cx="643890" cy="23283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709583"/>
            <a:ext cx="643890" cy="23283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709583"/>
            <a:ext cx="643890" cy="232833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709583"/>
            <a:ext cx="643890" cy="232833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709583"/>
            <a:ext cx="643890" cy="232833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709583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709583"/>
            <a:ext cx="643890" cy="232833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424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Batter with inclusions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42417"/>
            <a:ext cx="643890" cy="232833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42417"/>
            <a:ext cx="643890" cy="232833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42417"/>
            <a:ext cx="643890" cy="232833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42417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42417"/>
            <a:ext cx="643890" cy="232833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42417"/>
            <a:ext cx="643890" cy="232833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42417"/>
            <a:ext cx="643890" cy="232833"/>
          </a:xfrm>
          <a:prstGeom prst="rect">
            <a:avLst/>
          </a:prstGeom>
          <a:solidFill>
            <a:srgbClr val="46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42417"/>
            <a:ext cx="643890" cy="232833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42417"/>
            <a:ext cx="643890" cy="232833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42417"/>
            <a:ext cx="643890" cy="232833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42417"/>
            <a:ext cx="643890" cy="23283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42417"/>
            <a:ext cx="643890" cy="23283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752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Filled muffins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75250"/>
            <a:ext cx="643890" cy="232833"/>
          </a:xfrm>
          <a:prstGeom prst="rect">
            <a:avLst/>
          </a:prstGeom>
          <a:solidFill>
            <a:srgbClr val="A5C8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75250"/>
            <a:ext cx="643890" cy="232833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75250"/>
            <a:ext cx="643890" cy="23283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75250"/>
            <a:ext cx="643890" cy="23283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75250"/>
            <a:ext cx="643890" cy="23283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75250"/>
            <a:ext cx="643890" cy="232833"/>
          </a:xfrm>
          <a:prstGeom prst="rect">
            <a:avLst/>
          </a:prstGeom>
          <a:solidFill>
            <a:srgbClr val="70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75250"/>
            <a:ext cx="643890" cy="232833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75250"/>
            <a:ext cx="643890" cy="232833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75250"/>
            <a:ext cx="643890" cy="232833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75250"/>
            <a:ext cx="643890" cy="232833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75250"/>
            <a:ext cx="643890" cy="232833"/>
          </a:xfrm>
          <a:prstGeom prst="rect">
            <a:avLst/>
          </a:prstGeom>
          <a:solidFill>
            <a:srgbClr val="6B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75250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75250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75250"/>
            <a:ext cx="643890" cy="232833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75250"/>
            <a:ext cx="643890" cy="232833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80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 and jam-filled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8083"/>
            <a:ext cx="643890" cy="23283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8083"/>
            <a:ext cx="643890" cy="23283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8083"/>
            <a:ext cx="643890" cy="232833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8083"/>
            <a:ext cx="643890" cy="232833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8083"/>
            <a:ext cx="643890" cy="23283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8083"/>
            <a:ext cx="643890" cy="23283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8083"/>
            <a:ext cx="643890" cy="23283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8083"/>
            <a:ext cx="643890" cy="23283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8083"/>
            <a:ext cx="643890" cy="232833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8083"/>
            <a:ext cx="643890" cy="232833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8083"/>
            <a:ext cx="643890" cy="23283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8083"/>
            <a:ext cx="643890" cy="23283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8083"/>
            <a:ext cx="643890" cy="23283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8083"/>
            <a:ext cx="643890" cy="23283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8083"/>
            <a:ext cx="643890" cy="23283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409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Chocolate-filled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40917"/>
            <a:ext cx="643890" cy="23283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40917"/>
            <a:ext cx="643890" cy="232833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40917"/>
            <a:ext cx="643890" cy="23283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40917"/>
            <a:ext cx="643890" cy="23283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40917"/>
            <a:ext cx="643890" cy="23283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40917"/>
            <a:ext cx="643890" cy="232833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40917"/>
            <a:ext cx="643890" cy="232833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40917"/>
            <a:ext cx="643890" cy="232833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40917"/>
            <a:ext cx="643890" cy="232833"/>
          </a:xfrm>
          <a:prstGeom prst="rect">
            <a:avLst/>
          </a:prstGeom>
          <a:solidFill>
            <a:srgbClr val="6B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40917"/>
            <a:ext cx="643890" cy="232833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40917"/>
            <a:ext cx="643890" cy="232833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40917"/>
            <a:ext cx="643890" cy="232833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40917"/>
            <a:ext cx="643890" cy="232833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40917"/>
            <a:ext cx="643890" cy="232833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8737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Cream and custard-filled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873750"/>
            <a:ext cx="643890" cy="232833"/>
          </a:xfrm>
          <a:prstGeom prst="rect">
            <a:avLst/>
          </a:prstGeom>
          <a:solidFill>
            <a:srgbClr val="0F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873750"/>
            <a:ext cx="643890" cy="232833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873750"/>
            <a:ext cx="643890" cy="232833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873750"/>
            <a:ext cx="643890" cy="232833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873750"/>
            <a:ext cx="643890" cy="232833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873750"/>
            <a:ext cx="643890" cy="232833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873750"/>
            <a:ext cx="643890" cy="232833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873750"/>
            <a:ext cx="643890" cy="232833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873750"/>
            <a:ext cx="643890" cy="232833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873750"/>
            <a:ext cx="643890" cy="232833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873750"/>
            <a:ext cx="643890" cy="232833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873750"/>
            <a:ext cx="643890" cy="232833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873750"/>
            <a:ext cx="643890" cy="232833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873750"/>
            <a:ext cx="643890" cy="232833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873750"/>
            <a:ext cx="643890" cy="232833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1065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butter-filled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106583"/>
            <a:ext cx="643890" cy="232833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106583"/>
            <a:ext cx="643890" cy="232833"/>
          </a:xfrm>
          <a:prstGeom prst="rect">
            <a:avLst/>
          </a:prstGeom>
          <a:solidFill>
            <a:srgbClr val="0D609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106583"/>
            <a:ext cx="643890" cy="232833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106583"/>
            <a:ext cx="643890" cy="232833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106583"/>
            <a:ext cx="643890" cy="232833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106583"/>
            <a:ext cx="643890" cy="23283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106583"/>
            <a:ext cx="643890" cy="232833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106583"/>
            <a:ext cx="643890" cy="232833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106583"/>
            <a:ext cx="643890" cy="232833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106583"/>
            <a:ext cx="643890" cy="232833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106583"/>
            <a:ext cx="643890" cy="232833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106583"/>
            <a:ext cx="643890" cy="232833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106583"/>
            <a:ext cx="643890" cy="232833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106583"/>
            <a:ext cx="643890" cy="232833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106583"/>
            <a:ext cx="643890" cy="232833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238125" y="63394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 and savoury-filled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85737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250126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314515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378904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443293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5076825" y="6339417"/>
            <a:ext cx="643890" cy="23283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572071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636460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700849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765238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829627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894016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958405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022794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087183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4514850"/>
            <a:ext cx="104775" cy="5810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4565332"/>
            <a:ext cx="104775" cy="5810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4615815"/>
            <a:ext cx="104775" cy="5810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4666298"/>
            <a:ext cx="104775" cy="5810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4716780"/>
            <a:ext cx="104775" cy="5810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4767262"/>
            <a:ext cx="104775" cy="5810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4817745"/>
            <a:ext cx="104775" cy="5810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4868228"/>
            <a:ext cx="104775" cy="5810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918710"/>
            <a:ext cx="104775" cy="5810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4969192"/>
            <a:ext cx="104775" cy="5810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019675"/>
            <a:ext cx="104775" cy="5810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070158"/>
            <a:ext cx="104775" cy="5810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120640"/>
            <a:ext cx="104775" cy="5810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171122"/>
            <a:ext cx="104775" cy="5810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221605"/>
            <a:ext cx="104775" cy="5810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5272088"/>
            <a:ext cx="104775" cy="5810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5322570"/>
            <a:ext cx="104775" cy="5810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5373052"/>
            <a:ext cx="104775" cy="5810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5423535"/>
            <a:ext cx="104775" cy="5810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5474018"/>
            <a:ext cx="104775" cy="5810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5524500"/>
            <a:ext cx="104775" cy="5810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5574982"/>
            <a:ext cx="104775" cy="5810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5625465"/>
            <a:ext cx="104775" cy="5810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5675948"/>
            <a:ext cx="104775" cy="5810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5726430"/>
            <a:ext cx="104775" cy="5810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1572875" y="5776912"/>
            <a:ext cx="104775" cy="5810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1572875" y="5827395"/>
            <a:ext cx="104775" cy="5810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5877878"/>
            <a:ext cx="104775" cy="5810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5928360"/>
            <a:ext cx="104775" cy="5810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5978842"/>
            <a:ext cx="104775" cy="5810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6029325"/>
            <a:ext cx="104775" cy="5810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6079808"/>
            <a:ext cx="104775" cy="5810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6130290"/>
            <a:ext cx="104775" cy="5810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6180772"/>
            <a:ext cx="104775" cy="5810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6231255"/>
            <a:ext cx="104775" cy="5810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6281738"/>
            <a:ext cx="104775" cy="5810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6332220"/>
            <a:ext cx="104775" cy="5810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6382702"/>
            <a:ext cx="104775" cy="5810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6433185"/>
            <a:ext cx="104775" cy="5810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6483668"/>
            <a:ext cx="104775" cy="5810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4514850"/>
            <a:ext cx="104775" cy="20193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TextBox 216"/>
          <p:cNvSpPr txBox="1"/>
          <p:nvPr/>
        </p:nvSpPr>
        <p:spPr>
          <a:xfrm>
            <a:off x="11687175" y="4448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8%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11687175" y="54578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21" name="Picture 2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8831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Surface Finish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Surface Finish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Surface Finish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6 sub-segments of Surface Finish,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Surface Finish segment categorizes the market by surface finish.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57162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Nut and seed-topped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490788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5528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552825" y="1992961"/>
            <a:ext cx="157162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5909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Glazed / drizzled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5528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5528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5528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23875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238750" y="1992961"/>
            <a:ext cx="1571625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27685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Sugar-topped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23875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23875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23875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862638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92467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924675" y="1992961"/>
            <a:ext cx="1571625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96277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Untopped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92467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92467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92467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7548562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86106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8610600" y="1992961"/>
            <a:ext cx="1571625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6487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toppings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06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86106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86106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102965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10296525" y="1992961"/>
            <a:ext cx="1571625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103346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Crumb / streusel-topped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102965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102965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10920412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0" name="Rounded Rectangle 69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2" name="Rectangle 71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Surface Finish split shows how demand is distributed across surface finish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74" name="Rectangle 73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8" name="Picture 77" descr="3_728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4848" y="2286582"/>
            <a:ext cx="1195728" cy="361950"/>
          </a:xfrm>
          <a:prstGeom prst="rect">
            <a:avLst/>
          </a:prstGeom>
        </p:spPr>
      </p:pic>
      <p:pic>
        <p:nvPicPr>
          <p:cNvPr id="79" name="Picture 78" descr="6_85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4848" y="2779432"/>
            <a:ext cx="1195728" cy="361950"/>
          </a:xfrm>
          <a:prstGeom prst="rect">
            <a:avLst/>
          </a:prstGeom>
        </p:spPr>
      </p:pic>
      <p:pic>
        <p:nvPicPr>
          <p:cNvPr id="80" name="Picture 79" descr="6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61494" y="3272281"/>
            <a:ext cx="982436" cy="361950"/>
          </a:xfrm>
          <a:prstGeom prst="rect">
            <a:avLst/>
          </a:prstGeom>
        </p:spPr>
      </p:pic>
      <p:pic>
        <p:nvPicPr>
          <p:cNvPr id="81" name="Picture 80" descr="3_22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82" name="Picture 81" descr="5_34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83" name="Picture 82" descr="5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84" name="Picture 83" descr="1_19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26698" y="2286582"/>
            <a:ext cx="1195728" cy="361950"/>
          </a:xfrm>
          <a:prstGeom prst="rect">
            <a:avLst/>
          </a:prstGeom>
        </p:spPr>
      </p:pic>
      <p:pic>
        <p:nvPicPr>
          <p:cNvPr id="85" name="Picture 84" descr="1_526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26698" y="2779432"/>
            <a:ext cx="1195728" cy="361950"/>
          </a:xfrm>
          <a:prstGeom prst="rect">
            <a:avLst/>
          </a:prstGeom>
        </p:spPr>
      </p:pic>
      <p:pic>
        <p:nvPicPr>
          <p:cNvPr id="86" name="Picture 85" descr="2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533344" y="3272281"/>
            <a:ext cx="982436" cy="361950"/>
          </a:xfrm>
          <a:prstGeom prst="rect">
            <a:avLst/>
          </a:prstGeom>
        </p:spPr>
      </p:pic>
      <p:pic>
        <p:nvPicPr>
          <p:cNvPr id="87" name="Picture 86" descr="1_026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112623" y="2286582"/>
            <a:ext cx="1195728" cy="361950"/>
          </a:xfrm>
          <a:prstGeom prst="rect">
            <a:avLst/>
          </a:prstGeom>
        </p:spPr>
      </p:pic>
      <p:pic>
        <p:nvPicPr>
          <p:cNvPr id="88" name="Picture 87" descr="1_249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12623" y="2779432"/>
            <a:ext cx="1195728" cy="361950"/>
          </a:xfrm>
          <a:prstGeom prst="rect">
            <a:avLst/>
          </a:prstGeom>
        </p:spPr>
      </p:pic>
      <p:pic>
        <p:nvPicPr>
          <p:cNvPr id="89" name="Picture 88" descr="2_0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219269" y="3272281"/>
            <a:ext cx="982436" cy="361950"/>
          </a:xfrm>
          <a:prstGeom prst="rect">
            <a:avLst/>
          </a:prstGeom>
        </p:spPr>
      </p:pic>
      <p:pic>
        <p:nvPicPr>
          <p:cNvPr id="90" name="Picture 89" descr="1_02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91" name="Picture 90" descr="1_886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92" name="Picture 91" descr="6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93" name="Picture 92" descr="702_8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484473" y="2286582"/>
            <a:ext cx="1195728" cy="361950"/>
          </a:xfrm>
          <a:prstGeom prst="rect">
            <a:avLst/>
          </a:prstGeom>
        </p:spPr>
      </p:pic>
      <p:pic>
        <p:nvPicPr>
          <p:cNvPr id="94" name="Picture 93" descr="882_6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84473" y="2779432"/>
            <a:ext cx="1195728" cy="361950"/>
          </a:xfrm>
          <a:prstGeom prst="rect">
            <a:avLst/>
          </a:prstGeom>
        </p:spPr>
      </p:pic>
      <p:pic>
        <p:nvPicPr>
          <p:cNvPr id="95" name="Picture 94" descr="2_3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591119" y="3272281"/>
            <a:ext cx="982436" cy="36195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9367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245292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931217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617142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30306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988992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28857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'Nut and seed-topped' holds the largest share in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4615009"/>
            <a:ext cx="23310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'Other toppings' is the fastest-growing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5386153"/>
            <a:ext cx="25798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6 sub-segments make up the surface finish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838575" y="4229437"/>
            <a:ext cx="14374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Nut and seed-topped: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224083" y="4219658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539157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251029" y="4219658"/>
            <a:ext cx="128699" cy="187198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6418524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838575" y="4615009"/>
            <a:ext cx="11719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Glazed / drizzled: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958598" y="4605230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5126094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985544" y="4605230"/>
            <a:ext cx="128699" cy="187198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6153040" y="461500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3838575" y="4832941"/>
            <a:ext cx="10017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Sugar-topped: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788339" y="4823162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4955834" y="483294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815285" y="4823162"/>
            <a:ext cx="128699" cy="187198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5982780" y="483294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3838575" y="5050872"/>
            <a:ext cx="8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Untopped: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589703" y="5041093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4757198" y="5050872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16649" y="5041093"/>
            <a:ext cx="128699" cy="187198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5784145" y="5050872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838575" y="5268804"/>
            <a:ext cx="1085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toppings: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872377" y="5259025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5039873" y="5268804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899323" y="5259025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6066819" y="5268804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838575" y="5486736"/>
            <a:ext cx="16314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Crumb / streusel-topped: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18080" y="5476957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5585576" y="5486736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445026" y="5476957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6612522" y="5486736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838575" y="5654377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8524875" y="5842641"/>
            <a:ext cx="3133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Surface Finish segment is projected to grow at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Surface Finish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Surface Finish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Surface Finish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Surface Finish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3422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'Nut and seed-topped'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47461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714957" y="5861685"/>
            <a:ext cx="18933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'Sugar-topped'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56400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723896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Surface Finish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Surface Finish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Untopped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Crumb / streusel-topped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Sugar-topped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Nut and seed-topped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Surface Finish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Surface Finish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Glazed / drizzled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Other toppings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Surface Finish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305550" y="1400175"/>
            <a:ext cx="30371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6 sub-segments, by surface finish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91839" y="13899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466948" y="1400175"/>
            <a:ext cx="23702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Global market between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1575435"/>
            <a:ext cx="9958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1803273"/>
            <a:ext cx="18017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56404" y="179304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8231514" y="180327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803985" y="17930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8979094" y="180327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031111"/>
            <a:ext cx="15241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'Glazed / drizzled'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778852" y="202088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953962" y="203111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26432" y="202088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701542" y="2031111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2258949"/>
            <a:ext cx="14340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toppings'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688712" y="2248725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863821" y="225894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36292" y="224872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611402" y="2258949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2486787"/>
            <a:ext cx="25907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'Crumb / streusel-topped' adds the least: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845417" y="2476563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020526" y="248678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2997" y="2476563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768106" y="2486787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5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Surface Finish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Surface Finish,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19425"/>
          </a:xfrm>
          <a:prstGeom prst="roundRect">
            <a:avLst>
              <a:gd name="adj" fmla="val 25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Surface Finish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5526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67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topped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67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topped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004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33850"/>
            <a:ext cx="11906250" cy="2495550"/>
          </a:xfrm>
          <a:prstGeom prst="roundRect">
            <a:avLst>
              <a:gd name="adj" fmla="val 305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195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Surface Finish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4577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543425"/>
            <a:ext cx="11639550" cy="2009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46735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552950"/>
            <a:ext cx="29758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'Glazed / drizzled' is the largest surface finish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01184" y="45427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376294" y="45529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6027" y="45427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581136" y="45529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0788"/>
            <a:ext cx="1944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toppings'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9706" y="47705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44816" y="478078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08625"/>
            <a:ext cx="28211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'Nut and seed-topped'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6577" y="49984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221686" y="5008625"/>
            <a:ext cx="22917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'Sugar-topped'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2607" y="49984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637716" y="50086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2364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2262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2364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2262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2364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6 categories.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Surface Finish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Surface Finish,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Surface Finish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19130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Surface Finish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68877" y="208045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253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is the largest surface finish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8736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653846" y="39719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9778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734888" y="39719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1944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toppings'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9706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44816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28211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'Nut and seed-topped'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6577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221686" y="4427600"/>
            <a:ext cx="22917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'Sugar-topped'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2607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637716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6554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6 categories.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Surface Finish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Surface Finish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Surface Finish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84966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8020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0400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Crumb / streusel-topped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6591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059554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05479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97859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Untopped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04050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416973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41221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33601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Sugar-topped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39792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2856484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285172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277552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toppings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283743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78836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5090922" y="378359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70739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Glazed / drizzled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76931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5360451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535568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527948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Nut and seed-topped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534140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Surface Finish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829550" y="1400175"/>
            <a:ext cx="28582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gains the most share +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36985" y="1389951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0812094" y="1400175"/>
            <a:ext cx="856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1575435"/>
            <a:ext cx="23134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1803273"/>
            <a:ext cx="2049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'Sugar-topped' cedes the most -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828005" y="1793049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0003114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206371"/>
            <a:ext cx="3407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toppings' is the fastest-growing surface finish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86669" y="2196147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361778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5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Surface Finish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Surface Finish,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Surface Finish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8323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Surface Finish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Untopped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Crumb / streusel-topped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DFED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Sugar-topped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 and seed-topped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Glazed / drizzled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2D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2B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toppings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8467" y="1956627"/>
            <a:ext cx="366712" cy="533400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678301"/>
            <a:ext cx="128699" cy="187198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5059426"/>
            <a:ext cx="128699" cy="187198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Surface Finish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Surface Finish,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Surface Finish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8323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Surface Finish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Untopped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Crumb / streusel-topped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DFED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E9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Sugar-topped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 and seed-topped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Glazed / drizzled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toppings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8467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Individual Muffin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Individual Muffin Size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Individual Muffin Size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Individual Muffin Size,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Individual Muffin Size segment categorizes the market by individual muffin size.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Standard - 60 g to below 100 g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Small - 30 g to below 60 g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Mini / bite-sized - below 30 g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Individual Muffin Size split shows how demand is distributed across individual muffin size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4_64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7_553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3_10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4_146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2_9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2_50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4_794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6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649_9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1_25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6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'Standard - 60 g to below 100 g' holds the largest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2090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'Mini / bite-sized - below 30 g' is the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27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individual muffin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5721433"/>
            <a:ext cx="9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size landscape.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229437"/>
            <a:ext cx="19632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Standard - 60 g to below 100 g: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749868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591736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776814" y="4219658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6944309" y="4229437"/>
            <a:ext cx="723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838575" y="4615009"/>
            <a:ext cx="1685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Small - 30 g to below 60 g: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472105" y="4605230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5639600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499051" y="4605230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6666546" y="4615009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3838575" y="4782649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838575" y="5000581"/>
            <a:ext cx="20620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Large / jumbo - 100 g and above: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848640" y="4990801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6016136" y="500058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875586" y="4990801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7043082" y="5000581"/>
            <a:ext cx="7872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838575" y="5168221"/>
            <a:ext cx="5176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niche.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838575" y="5386153"/>
            <a:ext cx="1879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Mini / bite-sized - below 30 g: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66375" y="5376373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5833871" y="538615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693321" y="5376373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6860817" y="5386153"/>
            <a:ext cx="7697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3838575" y="5553793"/>
            <a:ext cx="4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8524875" y="5842641"/>
            <a:ext cx="31138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Individual Muffin Size segment is projected to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Individual Muffin Size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Individual Muffin Size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Individual Muffin Size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Individual Muffin Size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9667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'Large / jumbo - 100 g and above'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172018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6339514" y="5861685"/>
            <a:ext cx="25771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'Small - 30 g to below 60 g'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864723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9032219" y="5861685"/>
            <a:ext cx="2741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9596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Individual Muffin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Individual Muffin Size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Mini / bite-sized - below 30 g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Small - 30 g to below 60 g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Standard - 60 g to below 100 g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Large / jumbo - 100 g and above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Individual Muffin Size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Individual Muffin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14650"/>
          </a:xfrm>
          <a:prstGeom prst="roundRect">
            <a:avLst>
              <a:gd name="adj" fmla="val 261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Individual Muffin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4479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Size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403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below 30 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403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below 60 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403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below 100 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403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 and above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57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957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29075"/>
            <a:ext cx="11906250" cy="2600325"/>
          </a:xfrm>
          <a:prstGeom prst="roundRect">
            <a:avLst>
              <a:gd name="adj" fmla="val 293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14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Individual Muffin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52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38650"/>
            <a:ext cx="11639550" cy="2114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414969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48175"/>
            <a:ext cx="42711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'Standard - 60 g to below 100 g' is the largest individual muffin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96522" y="44379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671632" y="44481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01365" y="44379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876474" y="44481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76013"/>
            <a:ext cx="27744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'Mini / bite-sized - below 30 g'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9795" y="46657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174904" y="46760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03850"/>
            <a:ext cx="3474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'Large / jumbo - 100 g and above'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9523" y="48936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74632" y="4903850"/>
            <a:ext cx="30066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'Small - 30 g to below 60 g'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0400" y="48936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005509" y="49038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316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1214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1316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1214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1316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Individual Muffin Size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Individual Muffin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Individual Muffin Size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156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Individual Muffin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7110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42711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'Standard - 60 g to below 100 g' is the largest individual muffin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96522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671632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77564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752674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27744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'Mini / bite-sized - below 30 g'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9795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174904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474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'Large / jumbo - 100 g and above'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9523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74632" y="3941825"/>
            <a:ext cx="30066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'Small - 30 g to below 60 g'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0400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005509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Individual Muffin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Individual Muffin Size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Individual Muffin Size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32628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2786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5166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Mini / bite-sized - below 30 g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1357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528157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52339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44719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Small - 30 g to below 60 g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50910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67997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367520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59900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66092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270633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526587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18967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Standard - 60 g to below 100 g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25158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Individual Muffin Size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35112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'Large / jumbo - 100 g and above'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89931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465040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2764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'Small - 30 g to below 60 g'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542851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717960" y="1803273"/>
            <a:ext cx="8298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38740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'Mini / bite-sized - below 30 g' is the fastest-growing individual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381631"/>
            <a:ext cx="8751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muffin size at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53900" y="2371407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82900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Individual Muffin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Individual Muffin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Individual Muffin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03190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Individual Muffin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Mini / bite-sized - below 30 g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B30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B2E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Small - 30 g to below 60 g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- 60 g to below 100 g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6C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0B39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0904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Individual Muffin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Individual Muffin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Individual Muffin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03190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Individual Muffin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Mini / bite-sized - below 30 g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B2E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Small - 30 g to below 60 g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- 60 g to below 100 g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B7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6B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23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23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23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0B35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0904" y="1713738"/>
            <a:ext cx="366712" cy="533400"/>
          </a:xfrm>
          <a:prstGeom prst="rect">
            <a:avLst/>
          </a:prstGeom>
        </p:spPr>
      </p:pic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192526"/>
            <a:ext cx="128699" cy="187198"/>
          </a:xfrm>
          <a:prstGeom prst="rect">
            <a:avLst/>
          </a:prstGeom>
        </p:spPr>
      </p:pic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816538"/>
            <a:ext cx="128699" cy="187198"/>
          </a:xfrm>
          <a:prstGeom prst="rect">
            <a:avLst/>
          </a:prstGeom>
        </p:spPr>
      </p:pic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Storage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Storage Format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Storage Format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Storage Format,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Storage Format segment categorizes the market by storage format.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Frozen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Chilled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Ambient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Storage Format split shows how demand is distributed across storage format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6_16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8_98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3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3_401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6_24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1_33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2_517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6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3779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'Frozen' holds the largest share in 2026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811802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2979298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8753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'Ambient' is the fastest-growing sub-segment 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72307" y="477287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639803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85775" y="5386153"/>
            <a:ext cx="26732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storage format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838575" y="4229437"/>
            <a:ext cx="614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Frozen: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400889" y="4219658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456838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427835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595331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838575" y="4447369"/>
            <a:ext cx="6169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Chilled: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403618" y="4437590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57111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430564" y="443759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5598060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3838575" y="4665301"/>
            <a:ext cx="7174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Ambient: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504027" y="465552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4671523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530973" y="4655522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698469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Storage Format segment is projected to grow at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Storage Format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Storage Format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Storage Format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Storage Format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945505"/>
            <a:ext cx="45217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'Chilled'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26997" y="5935726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94492" y="5945505"/>
            <a:ext cx="1505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'Frozen'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48486" y="5935726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515982" y="5945505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5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Storage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Storage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Ambient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Chilled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Frozen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Storage Format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1346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storage format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89396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564505" y="4286250"/>
            <a:ext cx="18119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Global 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9439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'Chilled'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98646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373755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46226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121335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941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'Frozen'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95793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37090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43373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11848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10489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'Ambient'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303619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7478729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51199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226309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Storage Format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Storage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895475"/>
          </a:xfrm>
          <a:prstGeom prst="roundRect">
            <a:avLst>
              <a:gd name="adj" fmla="val 402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Storage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4287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8741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438539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Format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6765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09900"/>
            <a:ext cx="11906250" cy="3619500"/>
          </a:xfrm>
          <a:prstGeom prst="roundRect">
            <a:avLst>
              <a:gd name="adj" fmla="val 210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0956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Storage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337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19475"/>
            <a:ext cx="11639550" cy="31337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38680" y="1905381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29000"/>
            <a:ext cx="24903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'Frozen' is the largest storage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15682" y="34187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90792" y="34290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0524" y="34187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095634" y="34290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656837"/>
            <a:ext cx="15592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'Ambient'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84613" y="36466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959723" y="36568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884675"/>
            <a:ext cx="1963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'Chilled'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818" y="38744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363928" y="3884675"/>
            <a:ext cx="1886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'Frozen'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99788" y="38744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374897" y="38846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125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1022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1125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1022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1125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Storage Format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Storage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Storage Format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74586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Storage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96605" y="1713738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24903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'Frozen' is the largest storage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15682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90792" y="323850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96724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71834" y="323850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15592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'Ambient'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84613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959723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1963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'Chilled'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8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363928" y="3694175"/>
            <a:ext cx="1886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'Frozen'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99788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374897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Storage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Storage Format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Storage Format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995466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99070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91450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Ambient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7641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3124263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3119500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304330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Chilled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310521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5086244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508148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500528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Frozen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506719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Storage Format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20005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'Chilled'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79226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954336" y="1400175"/>
            <a:ext cx="1772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1397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16442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'Frozen'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422944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598053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031111"/>
            <a:ext cx="31204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'Ambient' is the fastest-growing storage format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99133" y="202088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074242" y="203111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829550" y="220637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43420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42398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43420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42398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43420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6204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Storage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Storage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Storage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89750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Storage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Ambient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2D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2D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B2E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Chilled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Frozen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DF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54187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Storage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Storage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Storage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89750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Storage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Ambient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B2E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Chilled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4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Frozen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54187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Shelf Life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Shelf Life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Shelf Life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Shelf Life,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Shelf Life segment categorizes the market by shelf life.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Up to 7 days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8-30 days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31-90 days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More than 90 days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Shelf Life split shows how demand is distributed across shelf life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6_364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10_659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9684" y="2779432"/>
            <a:ext cx="1409020" cy="361950"/>
          </a:xfrm>
          <a:prstGeom prst="rect">
            <a:avLst/>
          </a:prstGeom>
        </p:spPr>
      </p:pic>
      <p:pic>
        <p:nvPicPr>
          <p:cNvPr id="66" name="Picture 65" descr="5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1_69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2_19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2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1_451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2_683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6_3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1_389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2_210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4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7010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'Up to 7 days'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134858" y="421965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485775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615009"/>
            <a:ext cx="2858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'31-90 days' is the fastest-growing sub-segment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38615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shelf life landscape.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3838575" y="4229437"/>
            <a:ext cx="9373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Up to 7 days: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23946" y="4219658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489144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750892" y="4219658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918387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838575" y="4447369"/>
            <a:ext cx="7749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8-30 days: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561599" y="4437590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4729095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88545" y="4437590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5756041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838575" y="4665301"/>
            <a:ext cx="8459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31-90 days: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32540" y="4655522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4800036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59486" y="4655522"/>
            <a:ext cx="128699" cy="187198"/>
          </a:xfrm>
          <a:prstGeom prst="rect">
            <a:avLst/>
          </a:prstGeom>
        </p:spPr>
      </p:pic>
      <p:sp>
        <p:nvSpPr>
          <p:cNvPr id="108" name="TextBox 107"/>
          <p:cNvSpPr txBox="1"/>
          <p:nvPr/>
        </p:nvSpPr>
        <p:spPr>
          <a:xfrm>
            <a:off x="5826982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838575" y="4883233"/>
            <a:ext cx="12966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More than 90 days: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083291" y="4873454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5250787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110237" y="4873454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6277733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8524875" y="5842641"/>
            <a:ext cx="295298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Shelf Life segment is projected to grow at a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Shelf Life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Shelf Life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Shelf Life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Shelf Life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266825"/>
          <a:ext cx="5210175" cy="39814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945505"/>
            <a:ext cx="47506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'31-90 days'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55919" y="5935726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123415" y="5945505"/>
            <a:ext cx="16666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'8-30 days'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738118" y="5935726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905614" y="5945505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5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lockshield_16"/>
          <p:cNvSpPr/>
          <p:nvPr/>
        </p:nvSpPr>
        <p:spPr>
          <a:xfrm>
            <a:off x="6734175" y="1266825"/>
            <a:ext cx="5210175" cy="39814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Shelf Life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Shelf Life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Up to 7 days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8-30 days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31-90 days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More than 90 days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Shelf Life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Shelf Life,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43125"/>
          </a:xfrm>
          <a:prstGeom prst="roundRect">
            <a:avLst>
              <a:gd name="adj" fmla="val 3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Shelf Life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16764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0624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450056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24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257550"/>
            <a:ext cx="11906250" cy="3371850"/>
          </a:xfrm>
          <a:prstGeom prst="roundRect">
            <a:avLst>
              <a:gd name="adj" fmla="val 22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43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Shelf Life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581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667125"/>
            <a:ext cx="11639550" cy="2886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99626" y="202920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676650"/>
            <a:ext cx="24435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'Up to 7 days' is the largest shelf life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8901" y="3666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44010" y="36766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73743" y="3666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048852" y="36766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04487"/>
            <a:ext cx="16935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'31-90 days'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18968" y="3894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94077" y="39044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32325"/>
            <a:ext cx="2298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'Up to 7 days'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23706" y="4122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98816" y="4132325"/>
            <a:ext cx="20547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'8-30 days'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02691" y="4122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877800" y="4132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3601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49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360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49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3601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Shelf Life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Shelf Life,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Shelf Life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77045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Shelf Life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97829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24435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'Up to 7 days' is the largest shelf life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8901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44010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9943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25052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16935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'31-90 days'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18968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94077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22027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'31-90 days'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28146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03256" y="3941825"/>
            <a:ext cx="20547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'8-30 days'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7131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82240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Shelf Life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Shelf Life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Shelf Life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99396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9463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1843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8-30 days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8034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387081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38231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30611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More than 90 days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36803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04018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303542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95922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31-90 days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02113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482098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481622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474002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Up to 7 days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480193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Shelf Life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2239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'31-90 days'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8554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193664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1812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'8-30 days'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90959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766068" y="1803273"/>
            <a:ext cx="19631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(red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2313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28702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'31-90 days' is the fastest-growing shelf life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48965" y="2196147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0824075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Shelf Life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Shelf Life,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Shelf Life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09262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Shelf Life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7 days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32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8-30 days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31-90 days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0B30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More than 90 days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3944" y="1713738"/>
            <a:ext cx="366712" cy="533400"/>
          </a:xfrm>
          <a:prstGeom prst="rect">
            <a:avLst/>
          </a:prstGeom>
        </p:spPr>
      </p:pic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192526"/>
            <a:ext cx="128699" cy="187198"/>
          </a:xfrm>
          <a:prstGeom prst="rect">
            <a:avLst/>
          </a:prstGeom>
        </p:spPr>
      </p:pic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816538"/>
            <a:ext cx="128699" cy="187198"/>
          </a:xfrm>
          <a:prstGeom prst="rect">
            <a:avLst/>
          </a:prstGeom>
        </p:spPr>
      </p:pic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Shelf Life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Shelf Life,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Shelf Life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09262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Shelf Life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7 days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86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2B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8-30 days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31-90 days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More than 90 days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3944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Packaging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Packaging Format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Packaging Format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Packaging Format,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Packaging Format segment categorizes the market by packaging format.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Rigid plastic packs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Paperboard packs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Flexible packs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packaging formats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Packaging Format split shows how demand is distributed across packaging format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5_20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8_69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3_95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5_681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3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1_29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2_36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6_2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452_0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1_01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8_4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7034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'Rigid plastic packs' holds the largest share in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8813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'Other packaging formats' is the fastest-growing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2" name="TextBox 91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86153"/>
            <a:ext cx="28139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packaging format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229437"/>
            <a:ext cx="12551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Rigid plastic packs: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041818" y="4219658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209314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068764" y="4219658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236260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4447369"/>
            <a:ext cx="12459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Paperboard packs: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032541" y="4437590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5200037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059487" y="4437590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6226983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838575" y="4665301"/>
            <a:ext cx="10126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Flexible packs:</a:t>
            </a:r>
          </a:p>
        </p:txBody>
      </p:sp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99253" y="4655522"/>
            <a:ext cx="128699" cy="187198"/>
          </a:xfrm>
          <a:prstGeom prst="rect">
            <a:avLst/>
          </a:prstGeom>
        </p:spPr>
      </p:pic>
      <p:sp>
        <p:nvSpPr>
          <p:cNvPr id="108" name="TextBox 107"/>
          <p:cNvSpPr txBox="1"/>
          <p:nvPr/>
        </p:nvSpPr>
        <p:spPr>
          <a:xfrm>
            <a:off x="4966748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826199" y="4655522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5993695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3838575" y="4883233"/>
            <a:ext cx="16360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packaging formats: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422718" y="4873454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559021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449665" y="4873454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6617160" y="4883233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Packaging Format segment is projected to grow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Packaging Format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Packaging Format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Packaging Format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Packaging Format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5408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'Other packaging formats'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746097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913593" y="5861685"/>
            <a:ext cx="21375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'Paperboard packs'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99238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166734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Packaging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Packaging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Flexible packs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Rigid plastic packs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Paperboard packs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Other packaging formats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Packaging Format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Packaging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771775"/>
          </a:xfrm>
          <a:prstGeom prst="roundRect">
            <a:avLst>
              <a:gd name="adj" fmla="val 27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Packaging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305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5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film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5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containers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552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34353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Packaging Format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Packaging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962275"/>
          </a:xfrm>
          <a:prstGeom prst="roundRect">
            <a:avLst>
              <a:gd name="adj" fmla="val 257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Packaging Format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8" cy="24955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3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3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1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inner wrapping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1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cartons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1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formats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3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7433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076700"/>
            <a:ext cx="11906250" cy="2552700"/>
          </a:xfrm>
          <a:prstGeom prst="roundRect">
            <a:avLst>
              <a:gd name="adj" fmla="val 29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1624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Packaging Format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4005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486275"/>
            <a:ext cx="11639550" cy="20669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438780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4495800"/>
            <a:ext cx="33075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'Rigid plastic packs' is the largest packaging format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935" y="448557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3708044" y="44958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37777" y="4485576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4912886" y="44958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4723638"/>
            <a:ext cx="25196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packaging formats'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45063" y="4713414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2920173" y="472363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951475"/>
            <a:ext cx="30288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'Other packaging formats'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4242" y="4941252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429351" y="4951475"/>
            <a:ext cx="25470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'Paperboard packs'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25574" y="4941252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100683" y="49514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51793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169090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51793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169090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51793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Packaging Format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Packaging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Packaging Format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1620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781550"/>
            <a:ext cx="11906250" cy="1847850"/>
          </a:xfrm>
          <a:prstGeom prst="roundRect">
            <a:avLst>
              <a:gd name="adj" fmla="val 41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867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Packaging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105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191125"/>
            <a:ext cx="11639550" cy="1362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7416" y="269481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200650"/>
            <a:ext cx="33075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'Rigid plastic packs' is the largest packaging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935" y="5190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708044" y="52006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3977" y="5190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789086" y="52006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428488"/>
            <a:ext cx="25196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packaging formats'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45063" y="5418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20173" y="542848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656325"/>
            <a:ext cx="30288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'Other packaging formats'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4242" y="5646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429351" y="5656325"/>
            <a:ext cx="25470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'Paperboard packs'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25574" y="5646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100683" y="5656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8841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873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884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873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8841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Packaging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Packaging Format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Packaging Format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01812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79704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2084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packaging formats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8276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236416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23165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15545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Flexible packs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1736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27231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326755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19135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Paperboard packs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25326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12390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511913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04293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Rigid plastic packs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10485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Packaging Format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30659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packaging formats'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44650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019759" y="1400175"/>
            <a:ext cx="856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23134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23046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'Paperboard packs'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83307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258416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packaging formats' is the fastest-growing packaging format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381631"/>
            <a:ext cx="1951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73854" y="2371407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148964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Packaging Format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Packaging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Packaging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96965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07794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Packaging Format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Packaging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Packaging Format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Flexible packs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48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Flow-wrap packs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Pouches and bags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CA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Rigid plastic packs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CF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Trays with sealed film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Clamshell containers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Tubs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Paperboard packs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E6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Cartons with inner wrapping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BAD4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Windowed cartons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DFED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packaging formats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0D5F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0C41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0C42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Packaging Format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Packaging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Packaging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96965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07794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Packaging Format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Packaging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Packaging Format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Flexible packs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59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56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Flow-wrap packs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Pouches and bags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CA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Rigid plastic packs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92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Trays with sealed film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Clamshell containers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Tubs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D6E6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Paperboard packs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D6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Cartons with inner wrapping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BA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Windowed cartons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E2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packaging formats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0D5B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Configuration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Configuration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Pack Configuration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Pack Configuration,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Pack Configuration segment categorizes the market by pack configuration.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Multipacks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Single-muffin packs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Bulk foodservice packs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Pack Configuration split shows how demand is distributed across pack configuration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6_056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10_77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791165" y="2779432"/>
            <a:ext cx="1409020" cy="361950"/>
          </a:xfrm>
          <a:prstGeom prst="rect">
            <a:avLst/>
          </a:prstGeom>
        </p:spPr>
      </p:pic>
      <p:pic>
        <p:nvPicPr>
          <p:cNvPr id="59" name="Picture 58" descr="5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3_19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4_81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4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1_65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2_157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2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6150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'Multipacks' holds the largest share in 2026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048910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485775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4615009"/>
            <a:ext cx="28639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'Multipacks' is the fastest-growing sub-segment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85775" y="5386153"/>
            <a:ext cx="2881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pack configuration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838575" y="4229437"/>
            <a:ext cx="8513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Multipacks: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637997" y="4219658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480549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64943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832439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838575" y="4447369"/>
            <a:ext cx="13345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Single-muffin packs: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121218" y="4437590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5288713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148164" y="443759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6315659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3838575" y="4665301"/>
            <a:ext cx="15160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Bulk foodservice packs: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302664" y="465552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5470160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29610" y="4655522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6497106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8524875" y="5842641"/>
            <a:ext cx="29421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Pack Configuration segment is projected to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Pack Configuration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Pack Configuration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Configuration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Pack Configuration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47561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'Multipacks'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61376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128872" y="5861685"/>
            <a:ext cx="24077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'Bulk foodservice packs'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84640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652136" y="5861685"/>
            <a:ext cx="4138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Pack Configuration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Pack Configuration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Single-muffin packs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Multipacks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Bulk foodservice packs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Pack Configuration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3526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pack configuration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607330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782439" y="4286250"/>
            <a:ext cx="18119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Global 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11889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43679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618788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91259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366368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16941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'Single-muffin packs'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48864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12397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96444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87155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1883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'Bulk foodservice packs'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38557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313667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86138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061247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Pack Configuration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 Configuration,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267075"/>
          </a:xfrm>
          <a:prstGeom prst="roundRect">
            <a:avLst>
              <a:gd name="adj" fmla="val 233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Pack Configuration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8003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98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98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98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98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98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7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7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packs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98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0481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381500"/>
            <a:ext cx="11906250" cy="2247900"/>
          </a:xfrm>
          <a:prstGeom prst="roundRect">
            <a:avLst>
              <a:gd name="adj" fmla="val 338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4672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Pack Configuration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7053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791075"/>
            <a:ext cx="11639550" cy="1762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591179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800600"/>
            <a:ext cx="29561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is the largest pack configuration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1502" y="47903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356611" y="48006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86344" y="47903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561453" y="48006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028438"/>
            <a:ext cx="1699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24673" y="50182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99782" y="502843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256275"/>
            <a:ext cx="2208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'Multipacks'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3851" y="52460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08961" y="5256275"/>
            <a:ext cx="26397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'Single-muffin packs'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97891" y="52460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373001" y="52562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4841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4738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4841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4738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4841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Pack Configuration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Pack Configuration,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Pack Configuration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52966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Pack Configuration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35795" y="220427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29561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is the largest pack configuration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1502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356611" y="42195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62544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37653" y="42195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1699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24673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99782" y="44474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2208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'Multipacks'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3851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08961" y="4675250"/>
            <a:ext cx="28294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'Bulk foodservice packs'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87585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562695" y="46752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9030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9030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Pack Configuration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Pack Configuration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Pack Configuration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94910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944338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6813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Bulk foodservice packs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3005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84696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84220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76600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Single-muffin packs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82791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855316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485055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77435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Multipacks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83626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Pack Configuration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2245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24259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199369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25870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'Bulk foodservice packs'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65708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540818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34784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is the fastest-growing pack configuration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57127" y="219614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1432236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3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Pack Configuration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 Configuration,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Pack Configuration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7120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Pack Configuration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Single-muffin packs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Multipacks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2-4 muffins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0D67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B39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5-8 muffins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28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9-12 muffins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5C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56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More than 12 muffins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Bulk foodservice packs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2867" y="2080450"/>
            <a:ext cx="366712" cy="533399"/>
          </a:xfrm>
          <a:prstGeom prst="rect">
            <a:avLst/>
          </a:prstGeom>
        </p:spPr>
      </p:pic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Pack Configuration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 Configuration,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Pack Configuration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7120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Pack Configuration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Single-muffin packs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Multipacks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2-4 muffins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0E6B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42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5-8 muffins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9-12 muffins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57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More than 12 muffins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D6E6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Bulk foodservice packs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2867" y="2080450"/>
            <a:ext cx="366712" cy="533399"/>
          </a:xfrm>
          <a:prstGeom prst="rect">
            <a:avLst/>
          </a:prstGeom>
        </p:spPr>
      </p:pic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Multipack Wrapping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Multipack Wrapping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Multipack Wrapping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Multipack Wrapping,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Multipack Wrapping segment categorizes the market by multipack wrapping.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Shared pack without individual wr…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Individually wrapped muffins with…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Multipack Wrapping split shows how demand is distributed across multipack wrapping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5_586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8_94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4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5_31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8_801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5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8759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'Shared pack without individual wrapping' holds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85775" y="4397077"/>
            <a:ext cx="14800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largest share in 2026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913847" y="4387298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2081343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615009"/>
            <a:ext cx="2743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'Individually wrapped muffins within an outer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85775" y="4782649"/>
            <a:ext cx="25386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pack' is the fastest-growing sub-segment at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972511" y="4772870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485775" y="495028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555379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multipack wrapping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838575" y="4229437"/>
            <a:ext cx="2547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Shared pack without individual wrapping: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334316" y="421965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650181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361262" y="4219658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838575" y="439707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838575" y="4615009"/>
            <a:ext cx="31616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E72AE"/>
                </a:solidFill>
                <a:latin typeface="Calibri"/>
              </a:rPr>
              <a:t>● Individually wrapped muffins within an outer pack: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48232" y="4605230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7115727" y="4615009"/>
            <a:ext cx="5108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E72AE"/>
                </a:solidFill>
                <a:latin typeface="Calibri"/>
              </a:rPr>
              <a:t>of 2026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838575" y="4782649"/>
            <a:ext cx="4601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E72AE"/>
                </a:solidFill>
                <a:latin typeface="Calibri"/>
              </a:rPr>
              <a:t>value ·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46728" y="4772870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4414224" y="4782649"/>
            <a:ext cx="12458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E72AE"/>
                </a:solidFill>
                <a:latin typeface="Calibri"/>
              </a:rPr>
              <a:t>CAGR grows fastest.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8524875" y="5842641"/>
            <a:ext cx="3036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Multipack Wrapping segment is projected to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Multipack Wrapping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Multipack Wrapping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Multipack Wrapping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Multipack Wrapping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698425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'Individually wrapped muffins within an outer pack'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89482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7356978" y="5861685"/>
            <a:ext cx="34393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'Shared pack without individual wrapping'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744398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10911894" y="5861685"/>
            <a:ext cx="8082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38925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Multipack Wrapping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Multipack Wrapping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Individually wrapped muffins within an outer pack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Shared pack without individual wrapping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7556" y="3674659"/>
            <a:ext cx="395643" cy="57548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6881" y="3674659"/>
            <a:ext cx="395643" cy="57548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Multipack Wrapping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Multipack Wrapping,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09850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Multipack Wrapping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1431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Wrapping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8251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wrapped muffins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within an outer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pack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63233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without individual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wrapping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390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724275"/>
            <a:ext cx="11906250" cy="2905125"/>
          </a:xfrm>
          <a:prstGeom prst="roundRect">
            <a:avLst>
              <a:gd name="adj" fmla="val 26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100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Multipack Wrapping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0481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133850"/>
            <a:ext cx="11639550" cy="24193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26256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143375"/>
            <a:ext cx="48005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'Shared pack without individual wrapping' is the largest multipack wrapping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5954" y="41331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201063" y="41433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30796" y="41331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405905" y="41433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371213"/>
            <a:ext cx="40286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54057" y="43609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4429166" y="43712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599050"/>
            <a:ext cx="4537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'Individually wrapped muffins within an outer pack'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63235" y="45888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938344" y="4599050"/>
            <a:ext cx="39080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'Shared pack without individual wrapping'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95514" y="45888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970623" y="45990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8268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8166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8268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8166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8268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Multipack Wrapping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Multipack Wrapping,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Multipack Wrapping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67958"/>
                <a:gridCol w="491930"/>
                <a:gridCol w="491930"/>
                <a:gridCol w="491930"/>
                <a:gridCol w="514209"/>
                <a:gridCol w="514209"/>
                <a:gridCol w="514209"/>
                <a:gridCol w="514209"/>
                <a:gridCol w="514209"/>
                <a:gridCol w="514209"/>
                <a:gridCol w="514209"/>
                <a:gridCol w="514209"/>
                <a:gridCol w="514209"/>
                <a:gridCol w="514209"/>
                <a:gridCol w="514209"/>
                <a:gridCol w="514209"/>
                <a:gridCol w="514209"/>
                <a:gridCol w="55873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Multipack Wrapping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95388" y="1592916"/>
            <a:ext cx="362582" cy="527392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48005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'Shared pack without individual wrapping' is the largest multipack wrapping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5954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201063" y="29908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06996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282105" y="29908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40286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54057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4429166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4537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'Individually wrapped muffins within an outer pack'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63235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938344" y="3446525"/>
            <a:ext cx="39080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'Shared pack without individual wrapping'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95514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970623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6743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Multipack Wrapping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Multipack Wrapping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Multipack Wrapping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80512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280036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72416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Individually wrapped muffins within an outer pack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78607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509131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508655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501035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Shared pack without individual wrapping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507226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Multipack Wrapping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gains the most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829550" y="1575435"/>
            <a:ext cx="5095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+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88204" y="156521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463313" y="1575435"/>
            <a:ext cx="31269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36655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'Shared pack without individual wrapping'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44253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829550" y="197853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2206371"/>
            <a:ext cx="35602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is the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381631"/>
            <a:ext cx="2361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fastest-growing multipack wrapping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40358" y="237140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315467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8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Multipack Wrapping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Multipack Wrapping,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Multipack Wrapping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11714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Multipack Wrapping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Individually wrapped muffins within an outer pack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Shared pack without individual wrapping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2D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24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33838" y="148209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Multipack Wrapping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Multipack Wrapping,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Multipack Wrapping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11714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Multipack Wrapping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Individually wrapped muffins within an outer pack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A5C8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Shared pack without individual wrapping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33838" y="148209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Positioning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Positioning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Price Positioning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Price Positioning,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Price Positioning segment categorizes the market by price positioning.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Premium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Mid-range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Economy / value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Price Positioning split shows how demand is distributed across price positioning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4_13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5_57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3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2_66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5_501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7_5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2_317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2_84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2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1_786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3_819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7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5127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'Premium'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46591" y="421965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114086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099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'Super-premium / speciality' is the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27711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price positioning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229437"/>
            <a:ext cx="7490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Premium: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535678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4703174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62624" y="4219658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730120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4447369"/>
            <a:ext cx="8219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Mid-range: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08529" y="443759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4776025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35475" y="4437590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5802971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665301"/>
            <a:ext cx="11749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Economy / value: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961569" y="4655522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129065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988516" y="4655522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6156011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838575" y="4883233"/>
            <a:ext cx="17700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Super-premium / speciality: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56689" y="4873454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572418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583635" y="4873454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6751130" y="4883233"/>
            <a:ext cx="7697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838575" y="5050873"/>
            <a:ext cx="4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8524875" y="5842641"/>
            <a:ext cx="3148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Price Positioning segment is projected to grow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Price Positioning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Positioning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Positioning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Price Positioning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945505"/>
            <a:ext cx="47266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'Mid-range'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31908" y="5935726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099404" y="5945505"/>
            <a:ext cx="16407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'Premium'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88186" y="5935726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855682" y="5945505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5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Price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Price Positioning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Economy / value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Mid-range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Premium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Super-premium / speciality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Price Positioning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Price Positioning,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Price Positioning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18668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704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04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04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8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speciality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04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114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448050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533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Price Positioning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771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857625"/>
            <a:ext cx="11639550" cy="2695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124454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867150"/>
            <a:ext cx="28097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'Mid-range' is the largest price positioning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35167" y="3856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210276" y="38671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40009" y="3856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15118" y="38671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094987"/>
            <a:ext cx="26597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'Super-premium / speciality'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85123" y="4084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060232" y="4094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322825"/>
            <a:ext cx="21776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'Mid-range'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3044" y="4312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78153" y="4322825"/>
            <a:ext cx="2027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'Premium'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4929" y="4312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30038" y="4322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5506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540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550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540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5506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Price Positioning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Price Positioning,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Price Positioning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55550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Price Positioning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7084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27336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'Premium' is the largest price positioning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59004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34113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40046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215155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26597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'Super-premium / speciality'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85123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060232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21776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'Mid-range'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3044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78153" y="3941825"/>
            <a:ext cx="2027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'Premium'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4929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30038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Price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Price Positioning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Price Positioning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038296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03353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95733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Economy / value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01924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897406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89264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81644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87835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09822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409345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01725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Mid-range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07917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52530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552053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44433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Premium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50625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Price Positioning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22147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93452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168561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17851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'Premium'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63860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738969" y="1803273"/>
            <a:ext cx="19631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(red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2313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34781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'Super-premium / speciality' is the fastest-growing price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381631"/>
            <a:ext cx="888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positioning at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67021" y="2371407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842131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Price Positioning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Price Positioning,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Price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2485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Price Positioning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value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0D52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0D59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0D5D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0D62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0E67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0D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1736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Price Positioning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Price Positioning,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Price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2485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Price Positioning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value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0D629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0D65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DFED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0D609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0C4C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1736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Brand Ownership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Brand Ownership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Brand Ownership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Brand Ownership,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Brand Ownership segment categorizes the market by brand ownership.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Manufacturer brands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Retailer private labels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Brand Ownership split shows how demand is distributed across brand ownership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4_686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7_41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4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4_56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7_67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1_649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2_655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4_9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8892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'Manufacturer brands' holds the largest share in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7097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'Retailer private labels' is the fastest-growing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86153"/>
            <a:ext cx="27913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brand ownership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4410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Manufacturer brands: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27630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39512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54576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422071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615009"/>
            <a:ext cx="14644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Retailer private labels: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51095" y="4605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5418591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78041" y="460523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6445537" y="4615009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832941"/>
            <a:ext cx="19525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Foodservice / operator brands: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739196" y="4823162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906692" y="483294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66142" y="4823162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933638" y="4832941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5000581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Brand Ownership segment is projected to grow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Brand Ownership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Brand Ownership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Brand Ownership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Brand Ownership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3692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'Retailer private labels'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74474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741969" y="5861685"/>
            <a:ext cx="23326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'Manufacturer brands'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22703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190199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Brand Ownership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Brand Ownership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Manufacturer brands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Retailer private labels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Foodservice / operator brands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Brand Ownership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2582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brand ownership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12911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688020" y="4286250"/>
            <a:ext cx="18119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Global 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18299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84644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259754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32225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007334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18054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'Manufacturer brands'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60113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35222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07693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982802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23402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/ operator brands'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9493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770042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42513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517622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Brand Ownership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Brand Ownership,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4476750"/>
          </a:xfrm>
          <a:prstGeom prst="roundRect">
            <a:avLst>
              <a:gd name="adj" fmla="val 17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Brand Ownership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40100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396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84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6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6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labels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6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labels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6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labels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6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labels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6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operator brands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84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5257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5591175"/>
            <a:ext cx="11906250" cy="1028700"/>
          </a:xfrm>
          <a:prstGeom prst="roundRect">
            <a:avLst>
              <a:gd name="adj" fmla="val 740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676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Brand Ownership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915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6000750"/>
            <a:ext cx="11639550" cy="5429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319602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6010275"/>
            <a:ext cx="34781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'Manufacturer brands' is the largest brand ownership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03517" y="60000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8626" y="60102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8359" y="60000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083468" y="60102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6238113"/>
            <a:ext cx="23402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65639" y="62278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40748" y="62381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Brand Ownership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Brand Ownership,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028700"/>
          </a:xfrm>
          <a:prstGeom prst="roundRect">
            <a:avLst>
              <a:gd name="adj" fmla="val 740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Brand Ownership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5429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76225" y="1400175"/>
            <a:ext cx="28494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'Retailer private labels' (+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74817" y="1389951"/>
            <a:ext cx="134549" cy="195707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>
          <a:xfrm>
            <a:off x="3249926" y="1400175"/>
            <a:ext cx="2751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'Manufacturer brands' (-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50106" y="1389951"/>
            <a:ext cx="134549" cy="195707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6125215" y="1400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76225" y="16280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1617789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1965143" y="1628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1617789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2291688" y="16280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Brand Ownership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Brand Ownership,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Brand Ownership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26843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Brand Ownership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2731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35026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is the largest brand ownership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28048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903158" y="44672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09090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984200" y="44672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23402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65639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40748" y="46950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8494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'Retailer private labels'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74817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249926" y="4922900"/>
            <a:ext cx="2751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'Manufacturer brands'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50106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125215" y="49229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1507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1507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Brand Ownership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Brand Ownership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Brand Ownership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013334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00857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93237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9428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331079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3306028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322982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Manufacturer brands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329174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5254904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525014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517394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Retailer private labels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523585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Brand Ownership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2886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65225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840334" y="1400175"/>
            <a:ext cx="856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3134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25085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'Manufacturer brands'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87263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462373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40249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is the fastest-growing brand ownership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15470" y="237140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799057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Brand Ownership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Brand Ownership,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Brand Ownership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08341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Brand Ownership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Manufacturer brands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CA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86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National brands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7B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73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Regional / local brands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D3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7F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Retailer private labels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92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Value private labels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0C3B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0D59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Standard private labels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Premium private labels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48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7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BAD4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BA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70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6C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69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66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3478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Brand Ownership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Brand Ownership,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Brand Ownership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08341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Brand Ownership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Manufacturer brands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CC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CA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86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National brands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6B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Regional / local brands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Retailer private labels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37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Value private labels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0C44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Standard private labels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Premium private labels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48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6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BA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69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64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3478" y="2204276"/>
            <a:ext cx="366712" cy="533400"/>
          </a:xfrm>
          <a:prstGeom prst="rect">
            <a:avLst/>
          </a:prstGeom>
        </p:spPr>
      </p:pic>
      <p:pic>
        <p:nvPicPr>
          <p:cNvPr id="206" name="Picture 2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173601"/>
            <a:ext cx="128699" cy="187198"/>
          </a:xfrm>
          <a:prstGeom prst="rect">
            <a:avLst/>
          </a:prstGeom>
        </p:spPr>
      </p:pic>
      <p:pic>
        <p:nvPicPr>
          <p:cNvPr id="207" name="Picture 2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5307076"/>
            <a:ext cx="128699" cy="187198"/>
          </a:xfrm>
          <a:prstGeom prst="rect">
            <a:avLst/>
          </a:prstGeom>
        </p:spPr>
      </p:pic>
      <p:pic>
        <p:nvPicPr>
          <p:cNvPr id="208" name="Picture 2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Sales Channel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Sales Channel,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Sales Channel segment categorizes the market by sales channel.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Retail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Vending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Sales Channel split shows how demand is distributed across sales channel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6_756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10_31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791165" y="2779432"/>
            <a:ext cx="1409020" cy="361950"/>
          </a:xfrm>
          <a:prstGeom prst="rect">
            <a:avLst/>
          </a:prstGeom>
        </p:spPr>
      </p:pic>
      <p:pic>
        <p:nvPicPr>
          <p:cNvPr id="59" name="Picture 58" descr="4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3_67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6_68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466_5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746_6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4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3168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'Retail' holds the largest share in 2026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750683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2918179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202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'Foodservice and institutional'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5823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sales channel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838575" y="4229437"/>
            <a:ext cx="5531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Retail: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339771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4507266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366717" y="421965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5534212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447369"/>
            <a:ext cx="18731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Foodservice and institutional: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59797" y="443759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5827292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686743" y="443759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6854239" y="4447369"/>
            <a:ext cx="7697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615009"/>
            <a:ext cx="4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832941"/>
            <a:ext cx="6966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Vending: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483291" y="4823162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4650786" y="483294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510237" y="4823162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677732" y="483294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Sales Channel segment is projected to grow at a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Sales Channel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Sales Channel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Sales Channel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777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'Foodservice and institutional'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983175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6150671" y="5861685"/>
            <a:ext cx="14448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'Retail'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43546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711042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Sales Channel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Retail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Foodservice and institutional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Vending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Sales Channel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0397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sales channel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94406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469516" y="4286250"/>
            <a:ext cx="23702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Global market between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9958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8771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31896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307006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879477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54586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2572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11924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68703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59504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43461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10272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'Vending'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281940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7457049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29520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204629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Sales Channel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Sales Channel,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00700"/>
          </a:xfrm>
          <a:prstGeom prst="roundRect">
            <a:avLst>
              <a:gd name="adj" fmla="val 136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Sales Channel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513397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6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45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and hypermarkets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45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stores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6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45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grocery stores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45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and health stores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63223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selling packaged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products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6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45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institutional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45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chains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45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restaurants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381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375799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Sales Channel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Sales Channel,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600450"/>
          </a:xfrm>
          <a:prstGeom prst="roundRect">
            <a:avLst>
              <a:gd name="adj" fmla="val 21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Sales Channel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8" cy="31337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40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restaurants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40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catering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40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institutions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40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institutions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40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catering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381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714875"/>
            <a:ext cx="11906250" cy="1914525"/>
          </a:xfrm>
          <a:prstGeom prst="roundRect">
            <a:avLst>
              <a:gd name="adj" fmla="val 39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8006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Sales Channel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50387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124450"/>
            <a:ext cx="11639550" cy="14287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757868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5133975"/>
            <a:ext cx="23314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is the largest sales channel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56796" y="51237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731905" y="51339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61638" y="51237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936747" y="51339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5361813"/>
            <a:ext cx="27675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2918" y="53515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68027" y="53618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5589650"/>
            <a:ext cx="32767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'Foodservice and institutional'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2096" y="55794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77205" y="5589650"/>
            <a:ext cx="18228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'Retail'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49169" y="55794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624278" y="55896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58174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8072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58174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8072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58174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Sales Channel (US$ Mn)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Sales Channel,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Sales Channel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23262"/>
                <a:gridCol w="535536"/>
                <a:gridCol w="535536"/>
                <a:gridCol w="535536"/>
                <a:gridCol w="535536"/>
                <a:gridCol w="535536"/>
                <a:gridCol w="516672"/>
                <a:gridCol w="511282"/>
                <a:gridCol w="511282"/>
                <a:gridCol w="511282"/>
                <a:gridCol w="511282"/>
                <a:gridCol w="511282"/>
                <a:gridCol w="511282"/>
                <a:gridCol w="511282"/>
                <a:gridCol w="511282"/>
                <a:gridCol w="511282"/>
                <a:gridCol w="559791"/>
                <a:gridCol w="60825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70941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Sales Channel (US$ Mn)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Sales Channel,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Sales Channel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Sales Channel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3314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is the largest sales channel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56796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731905" y="37242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37838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812947" y="37242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675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2918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68027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32767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'Foodservice and institutional'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209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77205" y="4179950"/>
            <a:ext cx="18228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'Retail'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49169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624278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167888" y="44077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Sales Channel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Sales Channel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Sales Channel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67446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6268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8648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Vending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4839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72485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72008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64388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70580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91485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491009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83389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Retail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89580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Sales Channel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3138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92504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1267613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15803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9047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534157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031111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is the fastest-growing sales channel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1951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73854" y="219614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148964" y="220637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43420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42398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43420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42398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43420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6204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Sales Channel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Sales Channel,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143500"/>
          </a:xfrm>
          <a:prstGeom prst="roundRect">
            <a:avLst>
              <a:gd name="adj" fmla="val 14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Sales Channel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46767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79887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59245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49254" y="343299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Sales Channel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Sales Channel,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Sales Channel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286808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286808"/>
          </a:xfrm>
          <a:prstGeom prst="rect">
            <a:avLst/>
          </a:prstGeom>
          <a:solidFill>
            <a:srgbClr val="B3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286808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286808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286808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286808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286808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286808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286808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286808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286808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286808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286808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69650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Supermarkets and hypermarkets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696508"/>
            <a:ext cx="643890" cy="286808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696508"/>
            <a:ext cx="643890" cy="286808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696508"/>
            <a:ext cx="643890" cy="286808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696508"/>
            <a:ext cx="643890" cy="286808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696508"/>
            <a:ext cx="643890" cy="286808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696508"/>
            <a:ext cx="643890" cy="286808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696508"/>
            <a:ext cx="643890" cy="286808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696508"/>
            <a:ext cx="643890" cy="286808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696508"/>
            <a:ext cx="643890" cy="286808"/>
          </a:xfrm>
          <a:prstGeom prst="rect">
            <a:avLst/>
          </a:prstGeom>
          <a:solidFill>
            <a:srgbClr val="D8E8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696508"/>
            <a:ext cx="643890" cy="286808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696508"/>
            <a:ext cx="643890" cy="286808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696508"/>
            <a:ext cx="643890" cy="286808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696508"/>
            <a:ext cx="643890" cy="286808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696508"/>
            <a:ext cx="643890" cy="286808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696508"/>
            <a:ext cx="643890" cy="286808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198331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Convenience stores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1983317"/>
            <a:ext cx="643890" cy="286808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1983317"/>
            <a:ext cx="643890" cy="286808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1983317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1983317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1983317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1983317"/>
            <a:ext cx="643890" cy="286808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1983317"/>
            <a:ext cx="643890" cy="286808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1983317"/>
            <a:ext cx="643890" cy="286808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1983317"/>
            <a:ext cx="643890" cy="286808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27012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Discount stores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270125"/>
            <a:ext cx="643890" cy="286808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270125"/>
            <a:ext cx="643890" cy="286808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270125"/>
            <a:ext cx="643890" cy="286808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270125"/>
            <a:ext cx="643890" cy="286808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270125"/>
            <a:ext cx="643890" cy="286808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270125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270125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270125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270125"/>
            <a:ext cx="643890" cy="286808"/>
          </a:xfrm>
          <a:prstGeom prst="rect">
            <a:avLst/>
          </a:prstGeom>
          <a:solidFill>
            <a:srgbClr val="A0C4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270125"/>
            <a:ext cx="643890" cy="286808"/>
          </a:xfrm>
          <a:prstGeom prst="rect">
            <a:avLst/>
          </a:prstGeom>
          <a:solidFill>
            <a:srgbClr val="A0C4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270125"/>
            <a:ext cx="643890" cy="286808"/>
          </a:xfrm>
          <a:prstGeom prst="rect">
            <a:avLst/>
          </a:prstGeom>
          <a:solidFill>
            <a:srgbClr val="A0C4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270125"/>
            <a:ext cx="643890" cy="286808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270125"/>
            <a:ext cx="643890" cy="286808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270125"/>
            <a:ext cx="643890" cy="286808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270125"/>
            <a:ext cx="643890" cy="286808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255693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Warehouse clubs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2556933"/>
            <a:ext cx="643890" cy="286808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2556933"/>
            <a:ext cx="643890" cy="286808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2556933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2556933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2556933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2556933"/>
            <a:ext cx="643890" cy="286808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2556933"/>
            <a:ext cx="643890" cy="286808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2556933"/>
            <a:ext cx="643890" cy="286808"/>
          </a:xfrm>
          <a:prstGeom prst="rect">
            <a:avLst/>
          </a:prstGeom>
          <a:solidFill>
            <a:srgbClr val="73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2556933"/>
            <a:ext cx="643890" cy="286808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2556933"/>
            <a:ext cx="643890" cy="286808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2556933"/>
            <a:ext cx="643890" cy="286808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2556933"/>
            <a:ext cx="643890" cy="286808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2556933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284374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Traditional grocery stores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2843742"/>
            <a:ext cx="643890" cy="286808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2843742"/>
            <a:ext cx="643890" cy="286808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2843742"/>
            <a:ext cx="643890" cy="286808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2843742"/>
            <a:ext cx="643890" cy="286808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2843742"/>
            <a:ext cx="643890" cy="286808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2843742"/>
            <a:ext cx="643890" cy="286808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2843742"/>
            <a:ext cx="643890" cy="286808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2843742"/>
            <a:ext cx="643890" cy="286808"/>
          </a:xfrm>
          <a:prstGeom prst="rect">
            <a:avLst/>
          </a:prstGeom>
          <a:solidFill>
            <a:srgbClr val="89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2843742"/>
            <a:ext cx="643890" cy="286808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2843742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2843742"/>
            <a:ext cx="643890" cy="286808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2843742"/>
            <a:ext cx="643890" cy="286808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2843742"/>
            <a:ext cx="643890" cy="286808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2843742"/>
            <a:ext cx="643890" cy="286808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2843742"/>
            <a:ext cx="643890" cy="286808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313055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Speciality food and health stores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3130550"/>
            <a:ext cx="643890" cy="286808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3130550"/>
            <a:ext cx="643890" cy="286808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3130550"/>
            <a:ext cx="643890" cy="286808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3130550"/>
            <a:ext cx="643890" cy="286808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3130550"/>
            <a:ext cx="643890" cy="286808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3130550"/>
            <a:ext cx="643890" cy="286808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3130550"/>
            <a:ext cx="643890" cy="286808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3130550"/>
            <a:ext cx="643890" cy="286808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3130550"/>
            <a:ext cx="643890" cy="286808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3130550"/>
            <a:ext cx="643890" cy="286808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3130550"/>
            <a:ext cx="643890" cy="286808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3130550"/>
            <a:ext cx="643890" cy="286808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3130550"/>
            <a:ext cx="643890" cy="286808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3130550"/>
            <a:ext cx="643890" cy="286808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3130550"/>
            <a:ext cx="643890" cy="286808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341735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Bakery outlets selling packaged products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3417358"/>
            <a:ext cx="643890" cy="286808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3417358"/>
            <a:ext cx="643890" cy="286808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3417358"/>
            <a:ext cx="643890" cy="286808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3417358"/>
            <a:ext cx="643890" cy="286808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3417358"/>
            <a:ext cx="643890" cy="286808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3417358"/>
            <a:ext cx="643890" cy="286808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3417358"/>
            <a:ext cx="643890" cy="286808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3417358"/>
            <a:ext cx="643890" cy="286808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3417358"/>
            <a:ext cx="643890" cy="286808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3417358"/>
            <a:ext cx="643890" cy="286808"/>
          </a:xfrm>
          <a:prstGeom prst="rect">
            <a:avLst/>
          </a:prstGeom>
          <a:solidFill>
            <a:srgbClr val="7B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3417358"/>
            <a:ext cx="643890" cy="286808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3417358"/>
            <a:ext cx="643890" cy="286808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3417358"/>
            <a:ext cx="643890" cy="286808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3417358"/>
            <a:ext cx="643890" cy="286808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370416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Online retail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3704167"/>
            <a:ext cx="643890" cy="286808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3704167"/>
            <a:ext cx="643890" cy="286808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3704167"/>
            <a:ext cx="643890" cy="286808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3704167"/>
            <a:ext cx="643890" cy="286808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3704167"/>
            <a:ext cx="643890" cy="286808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3704167"/>
            <a:ext cx="643890" cy="286808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3704167"/>
            <a:ext cx="643890" cy="286808"/>
          </a:xfrm>
          <a:prstGeom prst="rect">
            <a:avLst/>
          </a:prstGeom>
          <a:solidFill>
            <a:srgbClr val="3086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3704167"/>
            <a:ext cx="643890" cy="286808"/>
          </a:xfrm>
          <a:prstGeom prst="rect">
            <a:avLst/>
          </a:prstGeom>
          <a:solidFill>
            <a:srgbClr val="3086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3704167"/>
            <a:ext cx="643890" cy="286808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3704167"/>
            <a:ext cx="643890" cy="286808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3704167"/>
            <a:ext cx="643890" cy="286808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370416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370416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370416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370416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399097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3990975"/>
            <a:ext cx="643890" cy="286808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3990975"/>
            <a:ext cx="643890" cy="286808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3990975"/>
            <a:ext cx="643890" cy="286808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3990975"/>
            <a:ext cx="643890" cy="286808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3990975"/>
            <a:ext cx="643890" cy="286808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3990975"/>
            <a:ext cx="643890" cy="286808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3990975"/>
            <a:ext cx="643890" cy="286808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3990975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3990975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3990975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3990975"/>
            <a:ext cx="643890" cy="286808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3990975"/>
            <a:ext cx="643890" cy="286808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3990975"/>
            <a:ext cx="643890" cy="286808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3990975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3990975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427778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Cafés and coffee chains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4277783"/>
            <a:ext cx="643890" cy="286808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4277783"/>
            <a:ext cx="643890" cy="286808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4277783"/>
            <a:ext cx="643890" cy="286808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4277783"/>
            <a:ext cx="643890" cy="286808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4277783"/>
            <a:ext cx="643890" cy="286808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4277783"/>
            <a:ext cx="643890" cy="286808"/>
          </a:xfrm>
          <a:prstGeom prst="rect">
            <a:avLst/>
          </a:prstGeom>
          <a:solidFill>
            <a:srgbClr val="5D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4277783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4277783"/>
            <a:ext cx="643890" cy="286808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4277783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4277783"/>
            <a:ext cx="643890" cy="286808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4277783"/>
            <a:ext cx="643890" cy="286808"/>
          </a:xfrm>
          <a:prstGeom prst="rect">
            <a:avLst/>
          </a:prstGeom>
          <a:solidFill>
            <a:srgbClr val="59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4277783"/>
            <a:ext cx="643890" cy="286808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4277783"/>
            <a:ext cx="643890" cy="286808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4277783"/>
            <a:ext cx="643890" cy="286808"/>
          </a:xfrm>
          <a:prstGeom prst="rect">
            <a:avLst/>
          </a:prstGeom>
          <a:solidFill>
            <a:srgbClr val="56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238125" y="456459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Hotels and restaurants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1857375" y="4564592"/>
            <a:ext cx="643890" cy="286808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2501265" y="4564592"/>
            <a:ext cx="643890" cy="286808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3145155" y="4564592"/>
            <a:ext cx="643890" cy="286808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3789045" y="4564592"/>
            <a:ext cx="643890" cy="286808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4432935" y="4564592"/>
            <a:ext cx="643890" cy="286808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5076825" y="4564592"/>
            <a:ext cx="643890" cy="286808"/>
          </a:xfrm>
          <a:prstGeom prst="rect">
            <a:avLst/>
          </a:prstGeom>
          <a:solidFill>
            <a:srgbClr val="0C41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5720715" y="4564592"/>
            <a:ext cx="643890" cy="286808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6364605" y="4564592"/>
            <a:ext cx="643890" cy="286808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008495" y="4564592"/>
            <a:ext cx="643890" cy="286808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7652385" y="4564592"/>
            <a:ext cx="643890" cy="286808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8296275" y="4564592"/>
            <a:ext cx="643890" cy="286808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8940165" y="4564592"/>
            <a:ext cx="643890" cy="286808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9584055" y="4564592"/>
            <a:ext cx="643890" cy="286808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0227945" y="4564592"/>
            <a:ext cx="643890" cy="286808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0871835" y="4564592"/>
            <a:ext cx="643890" cy="286808"/>
          </a:xfrm>
          <a:prstGeom prst="rect">
            <a:avLst/>
          </a:prstGeom>
          <a:solidFill>
            <a:srgbClr val="0D57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TextBox 218"/>
          <p:cNvSpPr txBox="1"/>
          <p:nvPr/>
        </p:nvSpPr>
        <p:spPr>
          <a:xfrm>
            <a:off x="238125" y="485140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Quick-service restaurants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1857375" y="4851400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2501265" y="4851400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3145155" y="4851400"/>
            <a:ext cx="643890" cy="286808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3789045" y="4851400"/>
            <a:ext cx="643890" cy="286808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4432935" y="4851400"/>
            <a:ext cx="643890" cy="286808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5076825" y="4851400"/>
            <a:ext cx="643890" cy="286808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5720715" y="4851400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6364605" y="4851400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7008495" y="4851400"/>
            <a:ext cx="643890" cy="286808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7652385" y="4851400"/>
            <a:ext cx="643890" cy="286808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8296275" y="4851400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8940165" y="4851400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9584055" y="4851400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0227945" y="4851400"/>
            <a:ext cx="643890" cy="286808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0871835" y="4851400"/>
            <a:ext cx="643890" cy="286808"/>
          </a:xfrm>
          <a:prstGeom prst="rect">
            <a:avLst/>
          </a:prstGeom>
          <a:solidFill>
            <a:srgbClr val="1C7B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TextBox 234"/>
          <p:cNvSpPr txBox="1"/>
          <p:nvPr/>
        </p:nvSpPr>
        <p:spPr>
          <a:xfrm>
            <a:off x="238125" y="513820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Corporate catering</a:t>
            </a:r>
          </a:p>
        </p:txBody>
      </p:sp>
      <p:sp>
        <p:nvSpPr>
          <p:cNvPr id="236" name="Rectangle 235"/>
          <p:cNvSpPr/>
          <p:nvPr/>
        </p:nvSpPr>
        <p:spPr>
          <a:xfrm>
            <a:off x="1857375" y="5138208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2501265" y="513820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3145155" y="513820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3789045" y="5138208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4432935" y="5138208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5076825" y="5138208"/>
            <a:ext cx="643890" cy="286808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5720715" y="5138208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6364605" y="5138208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7008495" y="5138208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7652385" y="5138208"/>
            <a:ext cx="643890" cy="286808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Rectangle 245"/>
          <p:cNvSpPr/>
          <p:nvPr/>
        </p:nvSpPr>
        <p:spPr>
          <a:xfrm>
            <a:off x="8296275" y="5138208"/>
            <a:ext cx="643890" cy="286808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Rectangle 246"/>
          <p:cNvSpPr/>
          <p:nvPr/>
        </p:nvSpPr>
        <p:spPr>
          <a:xfrm>
            <a:off x="894016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Rectangle 247"/>
          <p:cNvSpPr/>
          <p:nvPr/>
        </p:nvSpPr>
        <p:spPr>
          <a:xfrm>
            <a:off x="958405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Rectangle 248"/>
          <p:cNvSpPr/>
          <p:nvPr/>
        </p:nvSpPr>
        <p:spPr>
          <a:xfrm>
            <a:off x="10227945" y="5138208"/>
            <a:ext cx="643890" cy="286808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Rectangle 249"/>
          <p:cNvSpPr/>
          <p:nvPr/>
        </p:nvSpPr>
        <p:spPr>
          <a:xfrm>
            <a:off x="10871835" y="5138208"/>
            <a:ext cx="643890" cy="286808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TextBox 250"/>
          <p:cNvSpPr txBox="1"/>
          <p:nvPr/>
        </p:nvSpPr>
        <p:spPr>
          <a:xfrm>
            <a:off x="238125" y="542501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Educational institutions</a:t>
            </a:r>
          </a:p>
        </p:txBody>
      </p:sp>
      <p:sp>
        <p:nvSpPr>
          <p:cNvPr id="252" name="Rectangle 251"/>
          <p:cNvSpPr/>
          <p:nvPr/>
        </p:nvSpPr>
        <p:spPr>
          <a:xfrm>
            <a:off x="185737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250126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314515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Rectangle 254"/>
          <p:cNvSpPr/>
          <p:nvPr/>
        </p:nvSpPr>
        <p:spPr>
          <a:xfrm>
            <a:off x="378904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Rectangle 255"/>
          <p:cNvSpPr/>
          <p:nvPr/>
        </p:nvSpPr>
        <p:spPr>
          <a:xfrm>
            <a:off x="4432935" y="5425017"/>
            <a:ext cx="643890" cy="286808"/>
          </a:xfrm>
          <a:prstGeom prst="rect">
            <a:avLst/>
          </a:prstGeom>
          <a:solidFill>
            <a:srgbClr val="5C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Rectangle 256"/>
          <p:cNvSpPr/>
          <p:nvPr/>
        </p:nvSpPr>
        <p:spPr>
          <a:xfrm>
            <a:off x="5076825" y="542501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Rectangle 257"/>
          <p:cNvSpPr/>
          <p:nvPr/>
        </p:nvSpPr>
        <p:spPr>
          <a:xfrm>
            <a:off x="5720715" y="542501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Rectangle 258"/>
          <p:cNvSpPr/>
          <p:nvPr/>
        </p:nvSpPr>
        <p:spPr>
          <a:xfrm>
            <a:off x="6364605" y="542501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Rectangle 259"/>
          <p:cNvSpPr/>
          <p:nvPr/>
        </p:nvSpPr>
        <p:spPr>
          <a:xfrm>
            <a:off x="7008495" y="5425017"/>
            <a:ext cx="643890" cy="286808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7652385" y="5425017"/>
            <a:ext cx="643890" cy="286808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8296275" y="5425017"/>
            <a:ext cx="643890" cy="286808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894016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958405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022794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Rectangle 265"/>
          <p:cNvSpPr/>
          <p:nvPr/>
        </p:nvSpPr>
        <p:spPr>
          <a:xfrm>
            <a:off x="1087183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238125" y="571182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Healthcare institutions</a:t>
            </a:r>
          </a:p>
        </p:txBody>
      </p:sp>
      <p:sp>
        <p:nvSpPr>
          <p:cNvPr id="268" name="Rectangle 267"/>
          <p:cNvSpPr/>
          <p:nvPr/>
        </p:nvSpPr>
        <p:spPr>
          <a:xfrm>
            <a:off x="1857375" y="5711825"/>
            <a:ext cx="643890" cy="286808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2501265" y="5711825"/>
            <a:ext cx="643890" cy="286808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3145155" y="5711825"/>
            <a:ext cx="643890" cy="286808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3789045" y="5711825"/>
            <a:ext cx="643890" cy="286808"/>
          </a:xfrm>
          <a:prstGeom prst="rect">
            <a:avLst/>
          </a:prstGeom>
          <a:solidFill>
            <a:srgbClr val="0D609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4432935" y="5711825"/>
            <a:ext cx="643890" cy="286808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5076825" y="5711825"/>
            <a:ext cx="643890" cy="286808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5720715" y="5711825"/>
            <a:ext cx="643890" cy="286808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6364605" y="5711825"/>
            <a:ext cx="643890" cy="286808"/>
          </a:xfrm>
          <a:prstGeom prst="rect">
            <a:avLst/>
          </a:prstGeom>
          <a:solidFill>
            <a:srgbClr val="0B35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Rectangle 275"/>
          <p:cNvSpPr/>
          <p:nvPr/>
        </p:nvSpPr>
        <p:spPr>
          <a:xfrm>
            <a:off x="7008495" y="5711825"/>
            <a:ext cx="643890" cy="286808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7" name="Rectangle 276"/>
          <p:cNvSpPr/>
          <p:nvPr/>
        </p:nvSpPr>
        <p:spPr>
          <a:xfrm>
            <a:off x="7652385" y="5711825"/>
            <a:ext cx="643890" cy="286808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Rectangle 277"/>
          <p:cNvSpPr/>
          <p:nvPr/>
        </p:nvSpPr>
        <p:spPr>
          <a:xfrm>
            <a:off x="8296275" y="5711825"/>
            <a:ext cx="643890" cy="286808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9" name="Rectangle 278"/>
          <p:cNvSpPr/>
          <p:nvPr/>
        </p:nvSpPr>
        <p:spPr>
          <a:xfrm>
            <a:off x="8940165" y="5711825"/>
            <a:ext cx="643890" cy="286808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9584055" y="5711825"/>
            <a:ext cx="643890" cy="286808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0227945" y="5711825"/>
            <a:ext cx="643890" cy="286808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Rectangle 281"/>
          <p:cNvSpPr/>
          <p:nvPr/>
        </p:nvSpPr>
        <p:spPr>
          <a:xfrm>
            <a:off x="10871835" y="5711825"/>
            <a:ext cx="643890" cy="286808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3" name="TextBox 282"/>
          <p:cNvSpPr txBox="1"/>
          <p:nvPr/>
        </p:nvSpPr>
        <p:spPr>
          <a:xfrm>
            <a:off x="238125" y="599863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Airline and travel catering</a:t>
            </a:r>
          </a:p>
        </p:txBody>
      </p:sp>
      <p:sp>
        <p:nvSpPr>
          <p:cNvPr id="284" name="Rectangle 283"/>
          <p:cNvSpPr/>
          <p:nvPr/>
        </p:nvSpPr>
        <p:spPr>
          <a:xfrm>
            <a:off x="1857375" y="5998633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Rectangle 284"/>
          <p:cNvSpPr/>
          <p:nvPr/>
        </p:nvSpPr>
        <p:spPr>
          <a:xfrm>
            <a:off x="2501265" y="5998633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Rectangle 285"/>
          <p:cNvSpPr/>
          <p:nvPr/>
        </p:nvSpPr>
        <p:spPr>
          <a:xfrm>
            <a:off x="3145155" y="5998633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Rectangle 286"/>
          <p:cNvSpPr/>
          <p:nvPr/>
        </p:nvSpPr>
        <p:spPr>
          <a:xfrm>
            <a:off x="3789045" y="5998633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Rectangle 287"/>
          <p:cNvSpPr/>
          <p:nvPr/>
        </p:nvSpPr>
        <p:spPr>
          <a:xfrm>
            <a:off x="4432935" y="5998633"/>
            <a:ext cx="643890" cy="286808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9" name="Rectangle 288"/>
          <p:cNvSpPr/>
          <p:nvPr/>
        </p:nvSpPr>
        <p:spPr>
          <a:xfrm>
            <a:off x="507682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Rectangle 289"/>
          <p:cNvSpPr/>
          <p:nvPr/>
        </p:nvSpPr>
        <p:spPr>
          <a:xfrm>
            <a:off x="572071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1" name="Rectangle 290"/>
          <p:cNvSpPr/>
          <p:nvPr/>
        </p:nvSpPr>
        <p:spPr>
          <a:xfrm>
            <a:off x="636460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Rectangle 291"/>
          <p:cNvSpPr/>
          <p:nvPr/>
        </p:nvSpPr>
        <p:spPr>
          <a:xfrm>
            <a:off x="700849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3" name="Rectangle 292"/>
          <p:cNvSpPr/>
          <p:nvPr/>
        </p:nvSpPr>
        <p:spPr>
          <a:xfrm>
            <a:off x="765238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Rectangle 293"/>
          <p:cNvSpPr/>
          <p:nvPr/>
        </p:nvSpPr>
        <p:spPr>
          <a:xfrm>
            <a:off x="8296275" y="5998633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5" name="Rectangle 294"/>
          <p:cNvSpPr/>
          <p:nvPr/>
        </p:nvSpPr>
        <p:spPr>
          <a:xfrm>
            <a:off x="8940165" y="5998633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Rectangle 295"/>
          <p:cNvSpPr/>
          <p:nvPr/>
        </p:nvSpPr>
        <p:spPr>
          <a:xfrm>
            <a:off x="9584055" y="5998633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7" name="Rectangle 296"/>
          <p:cNvSpPr/>
          <p:nvPr/>
        </p:nvSpPr>
        <p:spPr>
          <a:xfrm>
            <a:off x="10227945" y="5998633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Rectangle 297"/>
          <p:cNvSpPr/>
          <p:nvPr/>
        </p:nvSpPr>
        <p:spPr>
          <a:xfrm>
            <a:off x="10871835" y="5998633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9" name="TextBox 298"/>
          <p:cNvSpPr txBox="1"/>
          <p:nvPr/>
        </p:nvSpPr>
        <p:spPr>
          <a:xfrm>
            <a:off x="238125" y="628544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Vending</a:t>
            </a:r>
          </a:p>
        </p:txBody>
      </p:sp>
      <p:sp>
        <p:nvSpPr>
          <p:cNvPr id="300" name="Rectangle 299"/>
          <p:cNvSpPr/>
          <p:nvPr/>
        </p:nvSpPr>
        <p:spPr>
          <a:xfrm>
            <a:off x="1857375" y="6285442"/>
            <a:ext cx="643890" cy="286808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1" name="Rectangle 300"/>
          <p:cNvSpPr/>
          <p:nvPr/>
        </p:nvSpPr>
        <p:spPr>
          <a:xfrm>
            <a:off x="2501265" y="6285442"/>
            <a:ext cx="643890" cy="286808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Rectangle 301"/>
          <p:cNvSpPr/>
          <p:nvPr/>
        </p:nvSpPr>
        <p:spPr>
          <a:xfrm>
            <a:off x="3145155" y="6285442"/>
            <a:ext cx="643890" cy="286808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3" name="Rectangle 302"/>
          <p:cNvSpPr/>
          <p:nvPr/>
        </p:nvSpPr>
        <p:spPr>
          <a:xfrm>
            <a:off x="3789045" y="6285442"/>
            <a:ext cx="643890" cy="286808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Rectangle 303"/>
          <p:cNvSpPr/>
          <p:nvPr/>
        </p:nvSpPr>
        <p:spPr>
          <a:xfrm>
            <a:off x="4432935" y="6285442"/>
            <a:ext cx="643890" cy="286808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5" name="Rectangle 304"/>
          <p:cNvSpPr/>
          <p:nvPr/>
        </p:nvSpPr>
        <p:spPr>
          <a:xfrm>
            <a:off x="5076825" y="6285442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Rectangle 305"/>
          <p:cNvSpPr/>
          <p:nvPr/>
        </p:nvSpPr>
        <p:spPr>
          <a:xfrm>
            <a:off x="5720715" y="6285442"/>
            <a:ext cx="643890" cy="286808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7" name="Rectangle 306"/>
          <p:cNvSpPr/>
          <p:nvPr/>
        </p:nvSpPr>
        <p:spPr>
          <a:xfrm>
            <a:off x="6364605" y="6285442"/>
            <a:ext cx="643890" cy="286808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Rectangle 307"/>
          <p:cNvSpPr/>
          <p:nvPr/>
        </p:nvSpPr>
        <p:spPr>
          <a:xfrm>
            <a:off x="7008495" y="6285442"/>
            <a:ext cx="643890" cy="286808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Rectangle 308"/>
          <p:cNvSpPr/>
          <p:nvPr/>
        </p:nvSpPr>
        <p:spPr>
          <a:xfrm>
            <a:off x="7652385" y="6285442"/>
            <a:ext cx="643890" cy="286808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Rectangle 309"/>
          <p:cNvSpPr/>
          <p:nvPr/>
        </p:nvSpPr>
        <p:spPr>
          <a:xfrm>
            <a:off x="8296275" y="6285442"/>
            <a:ext cx="643890" cy="286808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Rectangle 310"/>
          <p:cNvSpPr/>
          <p:nvPr/>
        </p:nvSpPr>
        <p:spPr>
          <a:xfrm>
            <a:off x="8940165" y="6285442"/>
            <a:ext cx="643890" cy="286808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Rectangle 311"/>
          <p:cNvSpPr/>
          <p:nvPr/>
        </p:nvSpPr>
        <p:spPr>
          <a:xfrm>
            <a:off x="9584055" y="6285442"/>
            <a:ext cx="643890" cy="286808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3" name="Rectangle 312"/>
          <p:cNvSpPr/>
          <p:nvPr/>
        </p:nvSpPr>
        <p:spPr>
          <a:xfrm>
            <a:off x="10227945" y="6285442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Rectangle 313"/>
          <p:cNvSpPr/>
          <p:nvPr/>
        </p:nvSpPr>
        <p:spPr>
          <a:xfrm>
            <a:off x="10871835" y="6285442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Rectangle 314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Rectangle 315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7" name="Rectangle 316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Rectangle 317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Rectangle 318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Rectangle 319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Rectangle 320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Rectangle 321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3" name="Rectangle 322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Rectangle 323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5" name="Rectangle 324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Rectangle 325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Rectangle 326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Rectangle 327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9" name="Rectangle 328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Rectangle 329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1" name="Rectangle 330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Rectangle 331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3" name="Rectangle 332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Rectangle 333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5" name="Rectangle 334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Rectangle 335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7" name="Rectangle 336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Rectangle 337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9" name="Rectangle 338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Rectangle 339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1" name="Rectangle 340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Rectangle 341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3" name="Rectangle 342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Rectangle 343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5" name="Rectangle 344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Rectangle 345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7" name="Rectangle 346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Rectangle 347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9" name="Rectangle 348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Rectangle 349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1" name="Rectangle 350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Rectangle 351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3" name="Rectangle 352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Rectangle 353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5" name="Rectangle 354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8" name="TextBox 357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9" name="TextBox 35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60" name="Picture 3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361" name="Picture 3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362" name="Picture 3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Sales Channel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Sales Channel,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143500"/>
          </a:xfrm>
          <a:prstGeom prst="roundRect">
            <a:avLst>
              <a:gd name="adj" fmla="val 14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Sales Channel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46767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39211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59245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28913" y="343299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Sales Channel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Sales Channel,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Sales Channel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286808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286808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286808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286808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286808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286808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286808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286808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286808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286808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286808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286808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286808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286808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69650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Supermarkets and hypermarkets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696508"/>
            <a:ext cx="643890" cy="286808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696508"/>
            <a:ext cx="643890" cy="286808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696508"/>
            <a:ext cx="643890" cy="286808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696508"/>
            <a:ext cx="643890" cy="286808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696508"/>
            <a:ext cx="643890" cy="286808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696508"/>
            <a:ext cx="643890" cy="286808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696508"/>
            <a:ext cx="643890" cy="286808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696508"/>
            <a:ext cx="643890" cy="286808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696508"/>
            <a:ext cx="643890" cy="286808"/>
          </a:xfrm>
          <a:prstGeom prst="rect">
            <a:avLst/>
          </a:prstGeom>
          <a:solidFill>
            <a:srgbClr val="D8E8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696508"/>
            <a:ext cx="643890" cy="286808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696508"/>
            <a:ext cx="643890" cy="286808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696508"/>
            <a:ext cx="643890" cy="286808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696508"/>
            <a:ext cx="643890" cy="286808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696508"/>
            <a:ext cx="643890" cy="286808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696508"/>
            <a:ext cx="643890" cy="286808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198331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Convenience stores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1983317"/>
            <a:ext cx="643890" cy="286808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1983317"/>
            <a:ext cx="643890" cy="286808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1983317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1983317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1983317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1983317"/>
            <a:ext cx="643890" cy="286808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1983317"/>
            <a:ext cx="643890" cy="286808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1983317"/>
            <a:ext cx="643890" cy="286808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1983317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27012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Discount stores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270125"/>
            <a:ext cx="643890" cy="286808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270125"/>
            <a:ext cx="643890" cy="286808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270125"/>
            <a:ext cx="643890" cy="286808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270125"/>
            <a:ext cx="643890" cy="286808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270125"/>
            <a:ext cx="643890" cy="286808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270125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270125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270125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270125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270125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270125"/>
            <a:ext cx="643890" cy="286808"/>
          </a:xfrm>
          <a:prstGeom prst="rect">
            <a:avLst/>
          </a:prstGeom>
          <a:solidFill>
            <a:srgbClr val="A0C4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270125"/>
            <a:ext cx="643890" cy="286808"/>
          </a:xfrm>
          <a:prstGeom prst="rect">
            <a:avLst/>
          </a:prstGeom>
          <a:solidFill>
            <a:srgbClr val="A0C4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270125"/>
            <a:ext cx="643890" cy="286808"/>
          </a:xfrm>
          <a:prstGeom prst="rect">
            <a:avLst/>
          </a:prstGeom>
          <a:solidFill>
            <a:srgbClr val="A0C4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270125"/>
            <a:ext cx="643890" cy="286808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270125"/>
            <a:ext cx="643890" cy="286808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255693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Warehouse clubs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2556933"/>
            <a:ext cx="643890" cy="286808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2556933"/>
            <a:ext cx="643890" cy="286808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2556933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2556933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2556933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2556933"/>
            <a:ext cx="643890" cy="286808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2556933"/>
            <a:ext cx="643890" cy="286808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2556933"/>
            <a:ext cx="643890" cy="286808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2556933"/>
            <a:ext cx="643890" cy="286808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2556933"/>
            <a:ext cx="643890" cy="286808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2556933"/>
            <a:ext cx="643890" cy="286808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2556933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284374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Traditional grocery stores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2843742"/>
            <a:ext cx="643890" cy="286808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2843742"/>
            <a:ext cx="643890" cy="286808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2843742"/>
            <a:ext cx="643890" cy="286808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2843742"/>
            <a:ext cx="643890" cy="286808"/>
          </a:xfrm>
          <a:prstGeom prst="rect">
            <a:avLst/>
          </a:prstGeom>
          <a:solidFill>
            <a:srgbClr val="B0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2843742"/>
            <a:ext cx="643890" cy="286808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2843742"/>
            <a:ext cx="643890" cy="286808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2843742"/>
            <a:ext cx="643890" cy="286808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2843742"/>
            <a:ext cx="643890" cy="286808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2843742"/>
            <a:ext cx="643890" cy="286808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2843742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2843742"/>
            <a:ext cx="643890" cy="286808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2843742"/>
            <a:ext cx="643890" cy="286808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2843742"/>
            <a:ext cx="643890" cy="286808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2843742"/>
            <a:ext cx="643890" cy="286808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2843742"/>
            <a:ext cx="643890" cy="286808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313055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Speciality food and health stores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3130550"/>
            <a:ext cx="643890" cy="286808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3130550"/>
            <a:ext cx="643890" cy="286808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3130550"/>
            <a:ext cx="643890" cy="286808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3130550"/>
            <a:ext cx="643890" cy="286808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3130550"/>
            <a:ext cx="643890" cy="286808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3130550"/>
            <a:ext cx="643890" cy="286808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3130550"/>
            <a:ext cx="643890" cy="286808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3130550"/>
            <a:ext cx="643890" cy="286808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3130550"/>
            <a:ext cx="643890" cy="286808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3130550"/>
            <a:ext cx="643890" cy="286808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3130550"/>
            <a:ext cx="643890" cy="286808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3130550"/>
            <a:ext cx="643890" cy="286808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3130550"/>
            <a:ext cx="643890" cy="286808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3130550"/>
            <a:ext cx="643890" cy="286808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3130550"/>
            <a:ext cx="643890" cy="286808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341735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Bakery outlets selling packaged products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3417358"/>
            <a:ext cx="643890" cy="286808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3417358"/>
            <a:ext cx="643890" cy="286808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3417358"/>
            <a:ext cx="643890" cy="286808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3417358"/>
            <a:ext cx="643890" cy="286808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3417358"/>
            <a:ext cx="643890" cy="286808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3417358"/>
            <a:ext cx="643890" cy="286808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3417358"/>
            <a:ext cx="643890" cy="286808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3417358"/>
            <a:ext cx="643890" cy="286808"/>
          </a:xfrm>
          <a:prstGeom prst="rect">
            <a:avLst/>
          </a:prstGeom>
          <a:solidFill>
            <a:srgbClr val="7C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3417358"/>
            <a:ext cx="643890" cy="286808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3417358"/>
            <a:ext cx="643890" cy="286808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3417358"/>
            <a:ext cx="643890" cy="286808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3417358"/>
            <a:ext cx="643890" cy="286808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3417358"/>
            <a:ext cx="643890" cy="286808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3417358"/>
            <a:ext cx="643890" cy="286808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370416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Online retail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3704167"/>
            <a:ext cx="643890" cy="286808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3704167"/>
            <a:ext cx="643890" cy="286808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3704167"/>
            <a:ext cx="643890" cy="286808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3704167"/>
            <a:ext cx="643890" cy="286808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3704167"/>
            <a:ext cx="643890" cy="286808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3704167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3704167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3704167"/>
            <a:ext cx="643890" cy="286808"/>
          </a:xfrm>
          <a:prstGeom prst="rect">
            <a:avLst/>
          </a:prstGeom>
          <a:solidFill>
            <a:srgbClr val="32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3704167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3704167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3704167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3704167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3704167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3704167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3704167"/>
            <a:ext cx="643890" cy="286808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399097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3990975"/>
            <a:ext cx="643890" cy="286808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3990975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3990975"/>
            <a:ext cx="643890" cy="286808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3990975"/>
            <a:ext cx="643890" cy="286808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3990975"/>
            <a:ext cx="643890" cy="286808"/>
          </a:xfrm>
          <a:prstGeom prst="rect">
            <a:avLst/>
          </a:prstGeom>
          <a:solidFill>
            <a:srgbClr val="3B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3990975"/>
            <a:ext cx="643890" cy="286808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3990975"/>
            <a:ext cx="643890" cy="286808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3990975"/>
            <a:ext cx="643890" cy="286808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3990975"/>
            <a:ext cx="643890" cy="286808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3990975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3990975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3990975"/>
            <a:ext cx="643890" cy="286808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3990975"/>
            <a:ext cx="643890" cy="286808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3990975"/>
            <a:ext cx="643890" cy="286808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3990975"/>
            <a:ext cx="643890" cy="286808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427778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Cafés and coffee chains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4277783"/>
            <a:ext cx="643890" cy="286808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4277783"/>
            <a:ext cx="643890" cy="286808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4277783"/>
            <a:ext cx="643890" cy="286808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4277783"/>
            <a:ext cx="643890" cy="286808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4277783"/>
            <a:ext cx="643890" cy="286808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4277783"/>
            <a:ext cx="643890" cy="286808"/>
          </a:xfrm>
          <a:prstGeom prst="rect">
            <a:avLst/>
          </a:prstGeom>
          <a:solidFill>
            <a:srgbClr val="5C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4277783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4277783"/>
            <a:ext cx="643890" cy="286808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4277783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4277783"/>
            <a:ext cx="643890" cy="286808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4277783"/>
            <a:ext cx="643890" cy="286808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4277783"/>
            <a:ext cx="643890" cy="286808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4277783"/>
            <a:ext cx="643890" cy="286808"/>
          </a:xfrm>
          <a:prstGeom prst="rect">
            <a:avLst/>
          </a:prstGeom>
          <a:solidFill>
            <a:srgbClr val="57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4277783"/>
            <a:ext cx="643890" cy="286808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238125" y="456459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Hotels and restaurants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1857375" y="4564592"/>
            <a:ext cx="643890" cy="286808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2501265" y="4564592"/>
            <a:ext cx="643890" cy="286808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3145155" y="4564592"/>
            <a:ext cx="643890" cy="286808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3789045" y="4564592"/>
            <a:ext cx="643890" cy="286808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4432935" y="4564592"/>
            <a:ext cx="643890" cy="286808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5076825" y="4564592"/>
            <a:ext cx="643890" cy="286808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5720715" y="4564592"/>
            <a:ext cx="643890" cy="286808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6364605" y="4564592"/>
            <a:ext cx="643890" cy="286808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008495" y="4564592"/>
            <a:ext cx="643890" cy="286808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7652385" y="4564592"/>
            <a:ext cx="643890" cy="286808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8296275" y="4564592"/>
            <a:ext cx="643890" cy="286808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8940165" y="4564592"/>
            <a:ext cx="643890" cy="286808"/>
          </a:xfrm>
          <a:prstGeom prst="rect">
            <a:avLst/>
          </a:prstGeom>
          <a:solidFill>
            <a:srgbClr val="0D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9584055" y="4564592"/>
            <a:ext cx="643890" cy="286808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0227945" y="4564592"/>
            <a:ext cx="643890" cy="286808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0871835" y="4564592"/>
            <a:ext cx="643890" cy="286808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TextBox 218"/>
          <p:cNvSpPr txBox="1"/>
          <p:nvPr/>
        </p:nvSpPr>
        <p:spPr>
          <a:xfrm>
            <a:off x="238125" y="485140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Quick-service restaurants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1857375" y="4851400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2501265" y="4851400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3145155" y="4851400"/>
            <a:ext cx="643890" cy="286808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3789045" y="4851400"/>
            <a:ext cx="643890" cy="286808"/>
          </a:xfrm>
          <a:prstGeom prst="rect">
            <a:avLst/>
          </a:prstGeom>
          <a:solidFill>
            <a:srgbClr val="3B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4432935" y="4851400"/>
            <a:ext cx="643890" cy="286808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5076825" y="4851400"/>
            <a:ext cx="643890" cy="286808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5720715" y="4851400"/>
            <a:ext cx="643890" cy="286808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6364605" y="4851400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7008495" y="4851400"/>
            <a:ext cx="643890" cy="286808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7652385" y="4851400"/>
            <a:ext cx="643890" cy="286808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8296275" y="4851400"/>
            <a:ext cx="643890" cy="286808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8940165" y="4851400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9584055" y="4851400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0227945" y="4851400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0871835" y="4851400"/>
            <a:ext cx="643890" cy="286808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TextBox 234"/>
          <p:cNvSpPr txBox="1"/>
          <p:nvPr/>
        </p:nvSpPr>
        <p:spPr>
          <a:xfrm>
            <a:off x="238125" y="513820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Corporate catering</a:t>
            </a:r>
          </a:p>
        </p:txBody>
      </p:sp>
      <p:sp>
        <p:nvSpPr>
          <p:cNvPr id="236" name="Rectangle 235"/>
          <p:cNvSpPr/>
          <p:nvPr/>
        </p:nvSpPr>
        <p:spPr>
          <a:xfrm>
            <a:off x="1857375" y="5138208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2501265" y="513820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3145155" y="513820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3789045" y="5138208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4432935" y="5138208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5076825" y="5138208"/>
            <a:ext cx="643890" cy="286808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5720715" y="5138208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6364605" y="5138208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7008495" y="5138208"/>
            <a:ext cx="643890" cy="286808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7652385" y="5138208"/>
            <a:ext cx="643890" cy="286808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Rectangle 245"/>
          <p:cNvSpPr/>
          <p:nvPr/>
        </p:nvSpPr>
        <p:spPr>
          <a:xfrm>
            <a:off x="8296275" y="5138208"/>
            <a:ext cx="643890" cy="286808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Rectangle 246"/>
          <p:cNvSpPr/>
          <p:nvPr/>
        </p:nvSpPr>
        <p:spPr>
          <a:xfrm>
            <a:off x="894016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Rectangle 247"/>
          <p:cNvSpPr/>
          <p:nvPr/>
        </p:nvSpPr>
        <p:spPr>
          <a:xfrm>
            <a:off x="958405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Rectangle 248"/>
          <p:cNvSpPr/>
          <p:nvPr/>
        </p:nvSpPr>
        <p:spPr>
          <a:xfrm>
            <a:off x="10227945" y="5138208"/>
            <a:ext cx="643890" cy="286808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Rectangle 249"/>
          <p:cNvSpPr/>
          <p:nvPr/>
        </p:nvSpPr>
        <p:spPr>
          <a:xfrm>
            <a:off x="10871835" y="5138208"/>
            <a:ext cx="643890" cy="286808"/>
          </a:xfrm>
          <a:prstGeom prst="rect">
            <a:avLst/>
          </a:prstGeom>
          <a:solidFill>
            <a:srgbClr val="6C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TextBox 250"/>
          <p:cNvSpPr txBox="1"/>
          <p:nvPr/>
        </p:nvSpPr>
        <p:spPr>
          <a:xfrm>
            <a:off x="238125" y="542501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Educational institutions</a:t>
            </a:r>
          </a:p>
        </p:txBody>
      </p:sp>
      <p:sp>
        <p:nvSpPr>
          <p:cNvPr id="252" name="Rectangle 251"/>
          <p:cNvSpPr/>
          <p:nvPr/>
        </p:nvSpPr>
        <p:spPr>
          <a:xfrm>
            <a:off x="185737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250126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314515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Rectangle 254"/>
          <p:cNvSpPr/>
          <p:nvPr/>
        </p:nvSpPr>
        <p:spPr>
          <a:xfrm>
            <a:off x="378904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Rectangle 255"/>
          <p:cNvSpPr/>
          <p:nvPr/>
        </p:nvSpPr>
        <p:spPr>
          <a:xfrm>
            <a:off x="443293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Rectangle 256"/>
          <p:cNvSpPr/>
          <p:nvPr/>
        </p:nvSpPr>
        <p:spPr>
          <a:xfrm>
            <a:off x="5076825" y="542501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Rectangle 257"/>
          <p:cNvSpPr/>
          <p:nvPr/>
        </p:nvSpPr>
        <p:spPr>
          <a:xfrm>
            <a:off x="5720715" y="542501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Rectangle 258"/>
          <p:cNvSpPr/>
          <p:nvPr/>
        </p:nvSpPr>
        <p:spPr>
          <a:xfrm>
            <a:off x="6364605" y="542501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Rectangle 259"/>
          <p:cNvSpPr/>
          <p:nvPr/>
        </p:nvSpPr>
        <p:spPr>
          <a:xfrm>
            <a:off x="7008495" y="542501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7652385" y="5425017"/>
            <a:ext cx="643890" cy="286808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8296275" y="5425017"/>
            <a:ext cx="643890" cy="286808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894016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958405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022794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Rectangle 265"/>
          <p:cNvSpPr/>
          <p:nvPr/>
        </p:nvSpPr>
        <p:spPr>
          <a:xfrm>
            <a:off x="1087183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238125" y="571182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Healthcare institutions</a:t>
            </a:r>
          </a:p>
        </p:txBody>
      </p:sp>
      <p:sp>
        <p:nvSpPr>
          <p:cNvPr id="268" name="Rectangle 267"/>
          <p:cNvSpPr/>
          <p:nvPr/>
        </p:nvSpPr>
        <p:spPr>
          <a:xfrm>
            <a:off x="1857375" y="5711825"/>
            <a:ext cx="643890" cy="286808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2501265" y="5711825"/>
            <a:ext cx="643890" cy="286808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3145155" y="5711825"/>
            <a:ext cx="643890" cy="286808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3789045" y="5711825"/>
            <a:ext cx="643890" cy="286808"/>
          </a:xfrm>
          <a:prstGeom prst="rect">
            <a:avLst/>
          </a:prstGeom>
          <a:solidFill>
            <a:srgbClr val="0D609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4432935" y="5711825"/>
            <a:ext cx="643890" cy="286808"/>
          </a:xfrm>
          <a:prstGeom prst="rect">
            <a:avLst/>
          </a:prstGeom>
          <a:solidFill>
            <a:srgbClr val="0D65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5076825" y="5711825"/>
            <a:ext cx="643890" cy="286808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5720715" y="5711825"/>
            <a:ext cx="643890" cy="286808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6364605" y="5711825"/>
            <a:ext cx="643890" cy="286808"/>
          </a:xfrm>
          <a:prstGeom prst="rect">
            <a:avLst/>
          </a:prstGeom>
          <a:solidFill>
            <a:srgbClr val="0B35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Rectangle 275"/>
          <p:cNvSpPr/>
          <p:nvPr/>
        </p:nvSpPr>
        <p:spPr>
          <a:xfrm>
            <a:off x="7008495" y="5711825"/>
            <a:ext cx="643890" cy="286808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7" name="Rectangle 276"/>
          <p:cNvSpPr/>
          <p:nvPr/>
        </p:nvSpPr>
        <p:spPr>
          <a:xfrm>
            <a:off x="7652385" y="5711825"/>
            <a:ext cx="643890" cy="286808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Rectangle 277"/>
          <p:cNvSpPr/>
          <p:nvPr/>
        </p:nvSpPr>
        <p:spPr>
          <a:xfrm>
            <a:off x="8296275" y="5711825"/>
            <a:ext cx="643890" cy="286808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9" name="Rectangle 278"/>
          <p:cNvSpPr/>
          <p:nvPr/>
        </p:nvSpPr>
        <p:spPr>
          <a:xfrm>
            <a:off x="8940165" y="5711825"/>
            <a:ext cx="643890" cy="286808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9584055" y="5711825"/>
            <a:ext cx="643890" cy="286808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0227945" y="5711825"/>
            <a:ext cx="643890" cy="286808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Rectangle 281"/>
          <p:cNvSpPr/>
          <p:nvPr/>
        </p:nvSpPr>
        <p:spPr>
          <a:xfrm>
            <a:off x="10871835" y="5711825"/>
            <a:ext cx="643890" cy="286808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3" name="TextBox 282"/>
          <p:cNvSpPr txBox="1"/>
          <p:nvPr/>
        </p:nvSpPr>
        <p:spPr>
          <a:xfrm>
            <a:off x="238125" y="599863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Airline and travel catering</a:t>
            </a:r>
          </a:p>
        </p:txBody>
      </p:sp>
      <p:sp>
        <p:nvSpPr>
          <p:cNvPr id="284" name="Rectangle 283"/>
          <p:cNvSpPr/>
          <p:nvPr/>
        </p:nvSpPr>
        <p:spPr>
          <a:xfrm>
            <a:off x="1857375" y="5998633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Rectangle 284"/>
          <p:cNvSpPr/>
          <p:nvPr/>
        </p:nvSpPr>
        <p:spPr>
          <a:xfrm>
            <a:off x="2501265" y="5998633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Rectangle 285"/>
          <p:cNvSpPr/>
          <p:nvPr/>
        </p:nvSpPr>
        <p:spPr>
          <a:xfrm>
            <a:off x="3145155" y="5998633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Rectangle 286"/>
          <p:cNvSpPr/>
          <p:nvPr/>
        </p:nvSpPr>
        <p:spPr>
          <a:xfrm>
            <a:off x="3789045" y="5998633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Rectangle 287"/>
          <p:cNvSpPr/>
          <p:nvPr/>
        </p:nvSpPr>
        <p:spPr>
          <a:xfrm>
            <a:off x="4432935" y="5998633"/>
            <a:ext cx="643890" cy="286808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9" name="Rectangle 288"/>
          <p:cNvSpPr/>
          <p:nvPr/>
        </p:nvSpPr>
        <p:spPr>
          <a:xfrm>
            <a:off x="507682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Rectangle 289"/>
          <p:cNvSpPr/>
          <p:nvPr/>
        </p:nvSpPr>
        <p:spPr>
          <a:xfrm>
            <a:off x="572071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1" name="Rectangle 290"/>
          <p:cNvSpPr/>
          <p:nvPr/>
        </p:nvSpPr>
        <p:spPr>
          <a:xfrm>
            <a:off x="636460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Rectangle 291"/>
          <p:cNvSpPr/>
          <p:nvPr/>
        </p:nvSpPr>
        <p:spPr>
          <a:xfrm>
            <a:off x="700849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3" name="Rectangle 292"/>
          <p:cNvSpPr/>
          <p:nvPr/>
        </p:nvSpPr>
        <p:spPr>
          <a:xfrm>
            <a:off x="7652385" y="5998633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Rectangle 293"/>
          <p:cNvSpPr/>
          <p:nvPr/>
        </p:nvSpPr>
        <p:spPr>
          <a:xfrm>
            <a:off x="8296275" y="5998633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5" name="Rectangle 294"/>
          <p:cNvSpPr/>
          <p:nvPr/>
        </p:nvSpPr>
        <p:spPr>
          <a:xfrm>
            <a:off x="8940165" y="5998633"/>
            <a:ext cx="643890" cy="286808"/>
          </a:xfrm>
          <a:prstGeom prst="rect">
            <a:avLst/>
          </a:prstGeom>
          <a:solidFill>
            <a:srgbClr val="32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Rectangle 295"/>
          <p:cNvSpPr/>
          <p:nvPr/>
        </p:nvSpPr>
        <p:spPr>
          <a:xfrm>
            <a:off x="9584055" y="5998633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7" name="Rectangle 296"/>
          <p:cNvSpPr/>
          <p:nvPr/>
        </p:nvSpPr>
        <p:spPr>
          <a:xfrm>
            <a:off x="10227945" y="5998633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Rectangle 297"/>
          <p:cNvSpPr/>
          <p:nvPr/>
        </p:nvSpPr>
        <p:spPr>
          <a:xfrm>
            <a:off x="10871835" y="5998633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9" name="TextBox 298"/>
          <p:cNvSpPr txBox="1"/>
          <p:nvPr/>
        </p:nvSpPr>
        <p:spPr>
          <a:xfrm>
            <a:off x="238125" y="628544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Vending</a:t>
            </a:r>
          </a:p>
        </p:txBody>
      </p:sp>
      <p:sp>
        <p:nvSpPr>
          <p:cNvPr id="300" name="Rectangle 299"/>
          <p:cNvSpPr/>
          <p:nvPr/>
        </p:nvSpPr>
        <p:spPr>
          <a:xfrm>
            <a:off x="1857375" y="6285442"/>
            <a:ext cx="643890" cy="286808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1" name="Rectangle 300"/>
          <p:cNvSpPr/>
          <p:nvPr/>
        </p:nvSpPr>
        <p:spPr>
          <a:xfrm>
            <a:off x="2501265" y="6285442"/>
            <a:ext cx="643890" cy="286808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Rectangle 301"/>
          <p:cNvSpPr/>
          <p:nvPr/>
        </p:nvSpPr>
        <p:spPr>
          <a:xfrm>
            <a:off x="3145155" y="6285442"/>
            <a:ext cx="643890" cy="286808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3" name="Rectangle 302"/>
          <p:cNvSpPr/>
          <p:nvPr/>
        </p:nvSpPr>
        <p:spPr>
          <a:xfrm>
            <a:off x="3789045" y="6285442"/>
            <a:ext cx="643890" cy="286808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Rectangle 303"/>
          <p:cNvSpPr/>
          <p:nvPr/>
        </p:nvSpPr>
        <p:spPr>
          <a:xfrm>
            <a:off x="4432935" y="6285442"/>
            <a:ext cx="643890" cy="286808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5" name="Rectangle 304"/>
          <p:cNvSpPr/>
          <p:nvPr/>
        </p:nvSpPr>
        <p:spPr>
          <a:xfrm>
            <a:off x="5076825" y="6285442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Rectangle 305"/>
          <p:cNvSpPr/>
          <p:nvPr/>
        </p:nvSpPr>
        <p:spPr>
          <a:xfrm>
            <a:off x="5720715" y="6285442"/>
            <a:ext cx="643890" cy="286808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7" name="Rectangle 306"/>
          <p:cNvSpPr/>
          <p:nvPr/>
        </p:nvSpPr>
        <p:spPr>
          <a:xfrm>
            <a:off x="6364605" y="6285442"/>
            <a:ext cx="643890" cy="286808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Rectangle 307"/>
          <p:cNvSpPr/>
          <p:nvPr/>
        </p:nvSpPr>
        <p:spPr>
          <a:xfrm>
            <a:off x="7008495" y="6285442"/>
            <a:ext cx="643890" cy="286808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Rectangle 308"/>
          <p:cNvSpPr/>
          <p:nvPr/>
        </p:nvSpPr>
        <p:spPr>
          <a:xfrm>
            <a:off x="7652385" y="6285442"/>
            <a:ext cx="643890" cy="286808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Rectangle 309"/>
          <p:cNvSpPr/>
          <p:nvPr/>
        </p:nvSpPr>
        <p:spPr>
          <a:xfrm>
            <a:off x="8296275" y="6285442"/>
            <a:ext cx="643890" cy="286808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Rectangle 310"/>
          <p:cNvSpPr/>
          <p:nvPr/>
        </p:nvSpPr>
        <p:spPr>
          <a:xfrm>
            <a:off x="8940165" y="6285442"/>
            <a:ext cx="643890" cy="286808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Rectangle 311"/>
          <p:cNvSpPr/>
          <p:nvPr/>
        </p:nvSpPr>
        <p:spPr>
          <a:xfrm>
            <a:off x="9584055" y="6285442"/>
            <a:ext cx="643890" cy="286808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3" name="Rectangle 312"/>
          <p:cNvSpPr/>
          <p:nvPr/>
        </p:nvSpPr>
        <p:spPr>
          <a:xfrm>
            <a:off x="10227945" y="6285442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Rectangle 313"/>
          <p:cNvSpPr/>
          <p:nvPr/>
        </p:nvSpPr>
        <p:spPr>
          <a:xfrm>
            <a:off x="10871835" y="6285442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Rectangle 314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Rectangle 315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7" name="Rectangle 316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Rectangle 317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Rectangle 318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Rectangle 319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Rectangle 320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Rectangle 321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3" name="Rectangle 322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Rectangle 323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5" name="Rectangle 324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Rectangle 325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Rectangle 326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Rectangle 327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9" name="Rectangle 328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Rectangle 329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1" name="Rectangle 330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Rectangle 331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3" name="Rectangle 332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Rectangle 333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5" name="Rectangle 334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Rectangle 335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7" name="Rectangle 336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Rectangle 337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9" name="Rectangle 338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Rectangle 339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1" name="Rectangle 340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Rectangle 341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3" name="Rectangle 342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Rectangle 343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5" name="Rectangle 344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Rectangle 345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7" name="Rectangle 346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Rectangle 347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9" name="Rectangle 348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Rectangle 349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1" name="Rectangle 350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Rectangle 351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3" name="Rectangle 352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Rectangle 353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5" name="Rectangle 354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358" name="TextBox 357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359" name="TextBox 35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5558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8987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584575"/>
            <a:ext cx="8458200" cy="16700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Flavour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Packaging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Sales Channel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Individual Muffin Size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Flavour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Snapshot: Product Type × Flavour,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Global market value (US$ Mn) for each product type sub-segment across flavour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Value, Product Type × Flavour,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10607"/>
                <a:gridCol w="1462765"/>
                <a:gridCol w="1462765"/>
                <a:gridCol w="1462765"/>
                <a:gridCol w="1462765"/>
                <a:gridCol w="1462765"/>
                <a:gridCol w="1462765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66155" y="1839958"/>
            <a:ext cx="363680" cy="52898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51856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accounts for the largest share of the Global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11046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586156" y="32385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17835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292945" y="3238500"/>
            <a:ext cx="44956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'Sweet Muffins Flavours' its leading flavour sub-segment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37737" y="3228276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10912847" y="323850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3466337"/>
            <a:ext cx="49942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Sweet Muffins Flavours' is the single largest cross-sectional cell (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19641" y="3456114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5394750" y="3466337"/>
            <a:ext cx="63817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'Sweet muffins × Savoury Muffins Flavours' records the fastest growth at a CAGR of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145" y="363137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37254" y="364159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3869435"/>
            <a:ext cx="55758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flavour cells generate an absolute $ opportunity of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01274" y="3859212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5976383" y="386943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Share Analysis: Product Type × Flavour, 2026E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global market value, each row split across all flavour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895475"/>
          </a:xfrm>
          <a:prstGeom prst="roundRect">
            <a:avLst>
              <a:gd name="adj" fmla="val 402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Share, Product Type × Flavour,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14287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83397"/>
                <a:gridCol w="788880"/>
                <a:gridCol w="1110156"/>
                <a:gridCol w="1308532"/>
                <a:gridCol w="1070776"/>
                <a:gridCol w="1688541"/>
                <a:gridCol w="943374"/>
                <a:gridCol w="1117515"/>
                <a:gridCol w="830550"/>
                <a:gridCol w="1401674"/>
                <a:gridCol w="543806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5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4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40245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6765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09900"/>
            <a:ext cx="7286625" cy="3619500"/>
          </a:xfrm>
          <a:prstGeom prst="roundRect">
            <a:avLst>
              <a:gd name="adj" fmla="val 210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06705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Flavour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295650"/>
          <a:ext cx="7096125" cy="32766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009900"/>
            <a:ext cx="4457700" cy="3619500"/>
          </a:xfrm>
          <a:prstGeom prst="roundRect">
            <a:avLst>
              <a:gd name="adj" fmla="val 210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309562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33375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419475"/>
            <a:ext cx="4191000" cy="31337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451008" y="2029112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09408" y="3990419"/>
            <a:ext cx="440818" cy="64119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3429000"/>
            <a:ext cx="35682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'Fruit-based' holds the highest share of 'Sweet muffins'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32682" y="3418776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7715250" y="360426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715250" y="3832097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is the most concentrated product type sub-segment,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007357"/>
            <a:ext cx="340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04463" y="399713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8179573" y="4007357"/>
            <a:ext cx="17349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'Fruit-based'.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715250" y="4235195"/>
            <a:ext cx="14981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'Cheese-based' gains +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62594" y="4224972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337703" y="4235195"/>
            <a:ext cx="24261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 Global cross-section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715250" y="4410455"/>
            <a:ext cx="6524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2036F.</a:t>
            </a:r>
          </a:p>
        </p:txBody>
      </p:sp>
      <p:sp>
        <p:nvSpPr>
          <p:cNvPr id="36" name="lockshield_17"/>
          <p:cNvSpPr/>
          <p:nvPr/>
        </p:nvSpPr>
        <p:spPr>
          <a:xfrm>
            <a:off x="238125" y="3295650"/>
            <a:ext cx="7096125" cy="32766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&amp; Attractiveness: Product Type × Flavour,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Flavour,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19932"/>
                <a:gridCol w="1511211"/>
                <a:gridCol w="1511211"/>
                <a:gridCol w="1511211"/>
                <a:gridCol w="1511211"/>
                <a:gridCol w="1511211"/>
                <a:gridCol w="1511211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560070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53340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2819400"/>
            <a:ext cx="1943100" cy="3810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2905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3143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3228975"/>
            <a:ext cx="16764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2819400"/>
            <a:ext cx="1943100" cy="3810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2905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3143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3228975"/>
            <a:ext cx="16764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2819400"/>
            <a:ext cx="1943100" cy="3810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2905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3143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3228975"/>
            <a:ext cx="16764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'Sweet muffins × Sweet Muffins Flavours' ranks highest (5/5); 'Savoury muffins × Sweet Muffins Flavours'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9275" y="1837753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3238500"/>
            <a:ext cx="27872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1. Sweet muffins × Sweet Muffins Flavours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12632" y="3228276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3187741" y="323850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49893" y="322827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425002" y="3238500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466337"/>
            <a:ext cx="2895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2. Sweet muffins × Savoury Muffins Flavours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0458" y="3456114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295567" y="3466337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57719" y="3456114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532828" y="3466337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3694175"/>
            <a:ext cx="30029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3. Savoury muffins × Savoury Muffins Flavours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8284" y="3683952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3403393" y="3694175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65544" y="3683952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3640654" y="3694175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3922013"/>
            <a:ext cx="2895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4. Savoury muffins × Sweet Muffins Flavours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0458" y="3911790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295567" y="3922013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57719" y="3911790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3532828" y="3922013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1/5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029325" y="3238500"/>
            <a:ext cx="15469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Sweet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6029325" y="3413760"/>
            <a:ext cx="14114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Muffins Flavours' adds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9952" y="3403536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6029325" y="3589019"/>
            <a:ext cx="12246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 –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3111" y="3578796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7378220" y="3589019"/>
            <a:ext cx="1977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3764279"/>
            <a:ext cx="1366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total opportunity.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124825" y="3238500"/>
            <a:ext cx="16547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Savoury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8124825" y="3413760"/>
            <a:ext cx="16413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Muffins Flavours' grows at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124825" y="3589019"/>
            <a:ext cx="14608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0066" y="357879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8395175" y="358901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90771" y="3578796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8965880" y="3589019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3764279"/>
            <a:ext cx="15170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above the cross-section.</a:t>
            </a: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Packaging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Snapshot: Product Type × Packaging Format,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Global market value (US$ Mn) for each product type sub-segment across packaging format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Value, Product Type × Packaging Format,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84557"/>
                <a:gridCol w="980264"/>
                <a:gridCol w="980264"/>
                <a:gridCol w="980264"/>
                <a:gridCol w="980264"/>
                <a:gridCol w="980264"/>
                <a:gridCol w="980264"/>
                <a:gridCol w="980264"/>
                <a:gridCol w="980264"/>
                <a:gridCol w="980264"/>
                <a:gridCol w="980264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51587" y="183775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51856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accounts for the largest share of the Global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11046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586156" y="32385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17835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292945" y="3238500"/>
            <a:ext cx="47945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'Rigid plastic packs' its leading packaging format sub-segment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6683" y="3228276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11211793" y="3238500"/>
            <a:ext cx="311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3413760"/>
            <a:ext cx="3146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41597"/>
            <a:ext cx="46779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Rigid plastic packs'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3294" y="36313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5078404" y="3641597"/>
            <a:ext cx="63557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'Sweet muffins × Other packaging formats' records the fastest growth at a CAGR of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3319" y="3631374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381685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044695"/>
            <a:ext cx="619118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packaging format cells generate an absolute $ opportunity of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6566" y="4034472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6591676" y="404469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Share Analysis: Product Type × Packaging Format, 2026E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global market value, each row split across all packaging format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Share, Product Type × Packaging Format,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90013"/>
                <a:gridCol w="1122093"/>
                <a:gridCol w="1186252"/>
                <a:gridCol w="1423148"/>
                <a:gridCol w="1358989"/>
                <a:gridCol w="473097"/>
                <a:gridCol w="1830313"/>
                <a:gridCol w="1252879"/>
                <a:gridCol w="1603288"/>
                <a:gridCol w="547127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7286625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Packaging Format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105150"/>
          <a:ext cx="7096125" cy="3467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2819400"/>
            <a:ext cx="445770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290512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14325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228975"/>
            <a:ext cx="41910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454316" y="1837753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09408" y="3864689"/>
            <a:ext cx="440818" cy="64119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3238500"/>
            <a:ext cx="41245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'Windowed cartons' holds the highest share of 'Savoury muffins'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01170" y="3403536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7876279" y="341376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715250" y="3641597"/>
            <a:ext cx="34992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muffins' is the most concentrated product type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3816857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380663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018219" y="3816857"/>
            <a:ext cx="21833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'Windowed cartons'.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715250" y="4044695"/>
            <a:ext cx="19012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'Clamshell containers' gains +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65658" y="4034472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740767" y="4044695"/>
            <a:ext cx="1616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 Global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715250" y="4219955"/>
            <a:ext cx="14626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 by 2036F.</a:t>
            </a:r>
          </a:p>
        </p:txBody>
      </p:sp>
      <p:sp>
        <p:nvSpPr>
          <p:cNvPr id="36" name="lockshield_17"/>
          <p:cNvSpPr/>
          <p:nvPr/>
        </p:nvSpPr>
        <p:spPr>
          <a:xfrm>
            <a:off x="238125" y="3105150"/>
            <a:ext cx="7096125" cy="3467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&amp; Attractiveness: Product Type × Packaging Format,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Packaging Format,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69340"/>
                <a:gridCol w="1001786"/>
                <a:gridCol w="1001786"/>
                <a:gridCol w="1001786"/>
                <a:gridCol w="1001786"/>
                <a:gridCol w="1001786"/>
                <a:gridCol w="1001786"/>
                <a:gridCol w="1001786"/>
                <a:gridCol w="1001786"/>
                <a:gridCol w="1001786"/>
                <a:gridCol w="1001786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560070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53340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2819400"/>
            <a:ext cx="1943100" cy="3810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2905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3143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3228975"/>
            <a:ext cx="16764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2819400"/>
            <a:ext cx="1943100" cy="3810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2905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3143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3228975"/>
            <a:ext cx="16764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2819400"/>
            <a:ext cx="1943100" cy="3810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2905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3143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3228975"/>
            <a:ext cx="16764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'Sweet muffins × Rigid plastic packs' ranks highest (5/5); 'Savoury muffins × Paperboard packs'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3980" y="1837753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3238500"/>
            <a:ext cx="24709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1. Sweet muffins × Rigid plastic packs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6285" y="3228276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2871394" y="323850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33546" y="322827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108655" y="3238500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466337"/>
            <a:ext cx="25787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2. Savoury muffins × Rigid plastic packs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04111" y="3456114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2979220" y="3466337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1372" y="3456114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216481" y="3466337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3694175"/>
            <a:ext cx="24612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3. Sweet muffins × Paperboard packs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6586" y="3683952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2861696" y="3694175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3847" y="3683952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3098957" y="3694175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3922013"/>
            <a:ext cx="22173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4. Sweet muffins × Flexible packs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42694" y="3911790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617804" y="3922013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79955" y="3911790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2855064" y="3922013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4149851"/>
            <a:ext cx="25690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5. Savoury muffins × Paperboard packs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94412" y="4139628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69522" y="4149851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31673" y="413962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3206783" y="4149851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1/5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3238500"/>
            <a:ext cx="14730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Rigid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3413760"/>
            <a:ext cx="1169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plastic packs' adds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47486" y="3403536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7322595" y="3413760"/>
            <a:ext cx="311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3589019"/>
            <a:ext cx="9564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by 2036F –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4972" y="357879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7110081" y="3589019"/>
            <a:ext cx="4293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3764279"/>
            <a:ext cx="11347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total opportunity.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124825" y="3238500"/>
            <a:ext cx="15272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Other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3413760"/>
            <a:ext cx="15908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packaging formats' grows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3589019"/>
            <a:ext cx="2981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 a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72106" y="3578796"/>
            <a:ext cx="134549" cy="195707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8547215" y="358901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42811" y="3578796"/>
            <a:ext cx="134549" cy="195707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117920" y="3589019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124825" y="3764279"/>
            <a:ext cx="15170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above the cross-section.</a:t>
            </a: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Sales Channel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Snapshot: Product Type × Sales Channel,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Global market value (US$ Mn) for each product type sub-segment across sales channel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085975"/>
          </a:xfrm>
          <a:prstGeom prst="roundRect">
            <a:avLst>
              <a:gd name="adj" fmla="val 36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Value, Product Type × Sales Channel,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6192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94554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Retailer websites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apps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Online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marketplaces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Quick-commerce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platforms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Brand-owned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direct-to-consumer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websites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Foodservice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88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867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200400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286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524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609975"/>
            <a:ext cx="11639550" cy="2943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6583" y="222046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619500"/>
            <a:ext cx="51856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accounts for the largest share of the Global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11046" y="3609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586156" y="36195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17835" y="3609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292945" y="3619500"/>
            <a:ext cx="38184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'Retail' its leading sales channel sub-segment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60545" y="3609276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10235654" y="361950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3847337"/>
            <a:ext cx="39439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Retail' is the single largest cross-sectional cell (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69336" y="3837114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4344445" y="3847337"/>
            <a:ext cx="6506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'Sweet muffins × Quick-commerce platforms' records the fastest growth at a CAGR of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00260" y="383711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0975370" y="3847337"/>
            <a:ext cx="3429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022597"/>
            <a:ext cx="9171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2026E–2036F.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250435"/>
            <a:ext cx="5949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sales channel cells generate an absolute $ opportunity of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74386" y="4240212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6349495" y="425043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Share Analysis: Product Type × Sales Channel, 2026E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global market value, each row split across all sales channel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647825"/>
          </a:xfrm>
          <a:prstGeom prst="roundRect">
            <a:avLst>
              <a:gd name="adj" fmla="val 46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Share, Product Type × Sales Channel,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1811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83397"/>
                <a:gridCol w="470225"/>
                <a:gridCol w="1688458"/>
                <a:gridCol w="1331377"/>
                <a:gridCol w="1715112"/>
                <a:gridCol w="2631956"/>
                <a:gridCol w="1820197"/>
                <a:gridCol w="602671"/>
                <a:gridCol w="543806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Retailer websites and apps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Online marketplaces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Quick-commerce platforms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Brand-owned direct-to-consumer websites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3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3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3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288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762250"/>
            <a:ext cx="7286625" cy="3867150"/>
          </a:xfrm>
          <a:prstGeom prst="roundRect">
            <a:avLst>
              <a:gd name="adj" fmla="val 197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1940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Sales Channel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048000"/>
          <a:ext cx="7096125" cy="35242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2762250"/>
            <a:ext cx="4457700" cy="3867150"/>
          </a:xfrm>
          <a:prstGeom prst="roundRect">
            <a:avLst>
              <a:gd name="adj" fmla="val 197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284797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0861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171825"/>
            <a:ext cx="4191000" cy="33813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451008" y="1781556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09408" y="3826970"/>
            <a:ext cx="440818" cy="64119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3181350"/>
            <a:ext cx="32311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holds the highest share of 'Sweet muffins'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95512" y="3171126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11070621" y="318135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715250" y="3409187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is the most concentrated product type sub-segment,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3584447"/>
            <a:ext cx="340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04463" y="357422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8179573" y="3584447"/>
            <a:ext cx="13977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'Retail'.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715250" y="3812285"/>
            <a:ext cx="23887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gains +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53126" y="3802062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0228235" y="3812285"/>
            <a:ext cx="1616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 Global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715250" y="3987545"/>
            <a:ext cx="14626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 by 2036F.</a:t>
            </a:r>
          </a:p>
        </p:txBody>
      </p:sp>
      <p:sp>
        <p:nvSpPr>
          <p:cNvPr id="36" name="lockshield_17"/>
          <p:cNvSpPr/>
          <p:nvPr/>
        </p:nvSpPr>
        <p:spPr>
          <a:xfrm>
            <a:off x="238125" y="3048000"/>
            <a:ext cx="7096125" cy="35242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Share Analysis: Product Type × Sales Channel, 2026E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global market value, each row split across all sales channel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667000"/>
          </a:xfrm>
          <a:prstGeom prst="roundRect">
            <a:avLst>
              <a:gd name="adj" fmla="val 285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 by Sales Channel Sub-segment, Product Type × Sales Channel, 2026E (% of each row) – part 1 of 2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8" cy="22002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83397"/>
                <a:gridCol w="1343220"/>
                <a:gridCol w="1020812"/>
                <a:gridCol w="775543"/>
                <a:gridCol w="919241"/>
                <a:gridCol w="1068395"/>
                <a:gridCol w="1167004"/>
                <a:gridCol w="1335628"/>
                <a:gridCol w="1017721"/>
                <a:gridCol w="1064606"/>
                <a:gridCol w="1091631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7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websites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apps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Online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marketplaces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Quick-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commerce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platforms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825913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Retailer websites and apps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Online marketplaces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Quick-commerce platforms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5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5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5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448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781425"/>
            <a:ext cx="11906250" cy="2276475"/>
          </a:xfrm>
          <a:prstGeom prst="roundRect">
            <a:avLst>
              <a:gd name="adj" fmla="val 334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38125" y="38385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 by Sales Channel Sub-segment, Product Type × Sales Channel, 2026E (% of each row) – part 2 of 2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152400" y="4038600"/>
          <a:ext cx="11887200" cy="18097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83397"/>
                <a:gridCol w="1894693"/>
                <a:gridCol w="1105953"/>
                <a:gridCol w="1202914"/>
                <a:gridCol w="1300117"/>
                <a:gridCol w="1025266"/>
                <a:gridCol w="1239684"/>
                <a:gridCol w="1198995"/>
                <a:gridCol w="1233510"/>
                <a:gridCol w="602671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Brand-owned direct-to-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consumer websites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7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1888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Brand-owned direct-to-consumer websites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219075" y="58578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51007" y="2800493"/>
            <a:ext cx="366712" cy="533400"/>
          </a:xfrm>
          <a:prstGeom prst="rect">
            <a:avLst/>
          </a:prstGeom>
        </p:spPr>
      </p:pic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51008" y="521217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&amp; Attractiveness: Product Type × Sales Channel,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085975"/>
          </a:xfrm>
          <a:prstGeom prst="roundRect">
            <a:avLst>
              <a:gd name="adj" fmla="val 36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Sales Channel,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16192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41554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Retailer websites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apps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Online marketplaces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Quick-commerce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platforms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Brand-owned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direct-to-consumer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websites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Foodservice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88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867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200400"/>
            <a:ext cx="560070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2861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5242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609975"/>
            <a:ext cx="5334000" cy="2943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3200400"/>
            <a:ext cx="1943100" cy="3429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3286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3524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3609975"/>
            <a:ext cx="1676400" cy="2943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3200400"/>
            <a:ext cx="1943100" cy="3429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3286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3524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3609975"/>
            <a:ext cx="1676400" cy="2943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3200400"/>
            <a:ext cx="1943100" cy="3429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3286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3524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3609975"/>
            <a:ext cx="1676400" cy="2943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'Sweet muffins × Foodservice and institutional' ranks highest (5/5); 'Sweet muffins × Retailer websites and apps'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30088" y="2220468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3619500"/>
            <a:ext cx="31169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1. Sweet muffins × Foodservice and institutional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2354" y="3609276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3517463" y="361950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79615" y="360927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754724" y="3619500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847337"/>
            <a:ext cx="32248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2. Savoury muffins × Foodservice and institutional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50180" y="3837114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625289" y="3847337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87441" y="3837114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862550" y="3847337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4075175"/>
            <a:ext cx="17369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3. Sweet muffins × Retail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62327" y="4064952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2137436" y="4075175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99588" y="4064952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2374697" y="4075175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4303013"/>
            <a:ext cx="18447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4. Savoury muffins × Retail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70153" y="4292790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245262" y="4303013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07414" y="4292790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2482523" y="4303013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4530851"/>
            <a:ext cx="30200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5. Sweet muffins × Quick-commerce platforms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45399" y="4520628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3420508" y="4530851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2660" y="452062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3657769" y="4530851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3619500"/>
            <a:ext cx="11478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3794760"/>
            <a:ext cx="10454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Foodservice and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3970019"/>
            <a:ext cx="11379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institutional' adds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16393" y="3959796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7291503" y="3970019"/>
            <a:ext cx="311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029325" y="4145279"/>
            <a:ext cx="9564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by 2036F –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4972" y="4135056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7110081" y="4145279"/>
            <a:ext cx="4293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029325" y="4320539"/>
            <a:ext cx="11347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total opportunity.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3619500"/>
            <a:ext cx="11478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3794760"/>
            <a:ext cx="16573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Quick-commerce platforms'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3970019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3959796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8938584" y="397001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395979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124825" y="4145279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124825" y="4320539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Individual Muffin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Snapshot: Product Type × Individual Muffin Size,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Global market value (US$ Mn) for each product type sub-segment across individual muffin size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895475"/>
          </a:xfrm>
          <a:prstGeom prst="roundRect">
            <a:avLst>
              <a:gd name="adj" fmla="val 402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Value, Product Type × Individual Muffin Size,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287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84557"/>
                <a:gridCol w="980264"/>
                <a:gridCol w="980264"/>
                <a:gridCol w="980264"/>
                <a:gridCol w="980264"/>
                <a:gridCol w="980264"/>
                <a:gridCol w="980264"/>
                <a:gridCol w="980264"/>
                <a:gridCol w="980264"/>
                <a:gridCol w="980264"/>
                <a:gridCol w="980264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Large / jumbo - 100 g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46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6765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09900"/>
            <a:ext cx="11906250" cy="3619500"/>
          </a:xfrm>
          <a:prstGeom prst="roundRect">
            <a:avLst>
              <a:gd name="adj" fmla="val 210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0956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337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19475"/>
            <a:ext cx="11639550" cy="31337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51587" y="2029112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29000"/>
            <a:ext cx="51856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accounts for the largest share of the Global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11046" y="34187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586156" y="34290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17835" y="34187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292945" y="3429000"/>
            <a:ext cx="48039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'Standard - 60 g to below 100 g' its leading individual muffin size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604260"/>
            <a:ext cx="9972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22663" y="359403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397773" y="360426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832097"/>
            <a:ext cx="54181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Standard - 60 g to below 100 g'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43528" y="38218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5818638" y="3832097"/>
            <a:ext cx="59860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'Sweet muffins × Mini / bite-sized - below 30 g' records the fastest growth at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007357"/>
            <a:ext cx="667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2892" y="399713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068001" y="400735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4235195"/>
            <a:ext cx="64145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individual muffin size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9920" y="4224972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815030" y="423519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Share Analysis: Product Type × Individual Muffin Size, 2026E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global market value, each row split across all individual muffin size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Share, Product Type × Individual Muffin Size,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2642"/>
                <a:gridCol w="2148912"/>
                <a:gridCol w="2148912"/>
                <a:gridCol w="2148912"/>
                <a:gridCol w="2148912"/>
                <a:gridCol w="21489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7286625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Individual Muffin Size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857500"/>
          <a:ext cx="7096125" cy="37147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2571750"/>
            <a:ext cx="445770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265747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28956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2981325"/>
            <a:ext cx="419100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480631" y="1589913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09408" y="3701240"/>
            <a:ext cx="440818" cy="64119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2990850"/>
            <a:ext cx="40380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'Standard - 60 g to below 100 g' holds the highest share of 'Sweet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3166110"/>
            <a:ext cx="7103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muffins'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74723" y="315588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8549832" y="316611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3393947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is the most concentrated product type sub-segment,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3569207"/>
            <a:ext cx="340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04463" y="355898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8179573" y="3569207"/>
            <a:ext cx="28719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'Standard - 60 g to below 100 g'.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3797045"/>
            <a:ext cx="25861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'Large / jumbo - 100 g and above' gains +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50553" y="3786822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0425662" y="3797045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715250" y="3972305"/>
            <a:ext cx="18787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Global cross-section by 2036F.</a:t>
            </a:r>
          </a:p>
        </p:txBody>
      </p:sp>
      <p:sp>
        <p:nvSpPr>
          <p:cNvPr id="37" name="lockshield_17"/>
          <p:cNvSpPr/>
          <p:nvPr/>
        </p:nvSpPr>
        <p:spPr>
          <a:xfrm>
            <a:off x="238125" y="2857500"/>
            <a:ext cx="7096125" cy="37147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&amp; Attractiveness: Product Type × Individual Muffin Size,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895475"/>
          </a:xfrm>
          <a:prstGeom prst="roundRect">
            <a:avLst>
              <a:gd name="adj" fmla="val 402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Individual Muffin Size,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4287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69340"/>
                <a:gridCol w="1001786"/>
                <a:gridCol w="1001786"/>
                <a:gridCol w="1001786"/>
                <a:gridCol w="1001786"/>
                <a:gridCol w="1001786"/>
                <a:gridCol w="1001786"/>
                <a:gridCol w="1001786"/>
                <a:gridCol w="1001786"/>
                <a:gridCol w="1001786"/>
                <a:gridCol w="1001786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Large / jumbo - 100 g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46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6765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09900"/>
            <a:ext cx="5600700" cy="3619500"/>
          </a:xfrm>
          <a:prstGeom prst="roundRect">
            <a:avLst>
              <a:gd name="adj" fmla="val 210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0956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337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19475"/>
            <a:ext cx="5334000" cy="31337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3009900"/>
            <a:ext cx="1943100" cy="36195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30956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33337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3419475"/>
            <a:ext cx="1676400" cy="31337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3009900"/>
            <a:ext cx="1943100" cy="36195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30956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33337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3419475"/>
            <a:ext cx="1676400" cy="31337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3009900"/>
            <a:ext cx="1943100" cy="36195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30956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33337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3419475"/>
            <a:ext cx="1676400" cy="31337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'Sweet muffins × Large / jumbo - 100 g and above' ranks highest (5/5); 'Savoury muffins × Small - 30 g to below 60 g'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3980" y="2029112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3429000"/>
            <a:ext cx="32111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1. Sweet muffins × Standard - 60 g to below 100 g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36519" y="3418776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3611628" y="342900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3780" y="341877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848889" y="3429000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656837"/>
            <a:ext cx="33144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2. Sweet muffins × Large / jumbo - 100 g and above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9781" y="3646614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714890" y="3656837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77042" y="3646614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952151" y="3656837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3884675"/>
            <a:ext cx="33189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3. Savoury muffins × Standard - 60 g to below 100 g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44345" y="3874452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3719454" y="3884675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81606" y="3874452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3956715" y="3884675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4112513"/>
            <a:ext cx="34222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4. Savoury muffins × Large / jumbo - 100 g and above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47607" y="4102290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822716" y="4112513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84868" y="4102290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059977" y="4112513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4340351"/>
            <a:ext cx="29207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5. Sweet muffins × Small - 30 g to below 60 g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46130" y="4330128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3321240" y="4340351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3391" y="433012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3558501" y="4340351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2/5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3429000"/>
            <a:ext cx="16573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Standard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3604260"/>
            <a:ext cx="16573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- 60 g to below 100 g' adds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5245" y="3769296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6190354" y="3779519"/>
            <a:ext cx="12246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 –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5245" y="3944556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6190354" y="3954779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029325" y="4130039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124825" y="3429000"/>
            <a:ext cx="15395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Mini /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124825" y="3604260"/>
            <a:ext cx="14419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bite-sized - below 30 g'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3779519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3769296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8938584" y="377951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3769296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8124825" y="3954779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124825" y="4130039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1846580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Packaged Muffins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151380"/>
            <a:ext cx="7239000" cy="9715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North America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3313430"/>
            <a:ext cx="5067300" cy="292989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North America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North America Market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North America Market Analysis By Segments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Flavour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Primary Flour Base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Dietary Formulation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Nutritional Positioning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Recipe and Ingredient Claims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096000" y="3313430"/>
            <a:ext cx="5067300" cy="312674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Structure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Surface Finish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Individual Muffin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Storage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Shelf Life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Packaging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Pack Configuration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Multipack Wrapping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Price Positioning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Brand Ownership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Sales Channel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North America Overview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Pricing &amp; Price Index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&amp; Value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Country Outlook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Summary, By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North America market volume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(MT)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5093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volume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070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682203" y="2450085"/>
            <a:ext cx="19466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9330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2026–2036 more than the previous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500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7246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volume: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224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97570" y="3256280"/>
            <a:ext cx="14109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7627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432736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2138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'Canada'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36079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311188" y="445647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684312"/>
            <a:ext cx="38278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'Sweet muffins' within Product Type.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491215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13998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0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Pricing &amp; Regional Price Index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average price by sub-segment and price variation by country, highlighting where pricing power sits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7696200" cy="2665040"/>
          </a:xfrm>
          <a:prstGeom prst="roundRect">
            <a:avLst>
              <a:gd name="adj" fmla="val 28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by Product Type  ·  range across 2021–2036 (US$/MT)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657225" y="333693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657225" y="2865938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657225" y="2394940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657225" y="1923943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7225" y="145294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657225" y="1452945"/>
            <a:ext cx="0" cy="188399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628650" y="333693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628650" y="286593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628650" y="2394940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628650" y="192394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628650" y="14529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FMI Scale tick"/>
          <p:cNvSpPr txBox="1"/>
          <p:nvPr/>
        </p:nvSpPr>
        <p:spPr>
          <a:xfrm>
            <a:off x="219075" y="3270260"/>
            <a:ext cx="38100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5" name="FMI Scale tick"/>
          <p:cNvSpPr txBox="1"/>
          <p:nvPr/>
        </p:nvSpPr>
        <p:spPr>
          <a:xfrm>
            <a:off x="219075" y="2328265"/>
            <a:ext cx="38100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6" name="FMI Scale tick"/>
          <p:cNvSpPr txBox="1"/>
          <p:nvPr/>
        </p:nvSpPr>
        <p:spPr>
          <a:xfrm>
            <a:off x="219075" y="1386270"/>
            <a:ext cx="38100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 flipV="1">
            <a:off x="2409825" y="1670329"/>
            <a:ext cx="0" cy="531571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2278380" y="220190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2278380" y="167032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2190750" y="1808381"/>
            <a:ext cx="438150" cy="265685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2190750" y="194292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657225" y="1517929"/>
            <a:ext cx="3505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3" name="Connector 32"/>
          <p:cNvCxnSpPr/>
          <p:nvPr/>
        </p:nvCxnSpPr>
        <p:spPr>
          <a:xfrm flipV="1">
            <a:off x="5915025" y="2711033"/>
            <a:ext cx="0" cy="408519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783580" y="3119552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783580" y="271103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5695950" y="2816751"/>
            <a:ext cx="438150" cy="204210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7" name="Connector 36"/>
          <p:cNvCxnSpPr/>
          <p:nvPr/>
        </p:nvCxnSpPr>
        <p:spPr>
          <a:xfrm>
            <a:off x="5695950" y="2920045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4162425" y="2558633"/>
            <a:ext cx="3505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57225" y="3365510"/>
            <a:ext cx="35052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162425" y="3365510"/>
            <a:ext cx="35052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142875" y="3772696"/>
            <a:ext cx="7696200" cy="2783689"/>
          </a:xfrm>
          <a:prstGeom prst="roundRect">
            <a:avLst>
              <a:gd name="adj" fmla="val 27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38125" y="3829846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Country vs North America  ·  2026–2036</a:t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619125" y="432402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619125" y="4758572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619125" y="519311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619125" y="562765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619125" y="6062202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619125" y="4324029"/>
            <a:ext cx="0" cy="1738173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90550" y="432402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590550" y="4758572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590550" y="519311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90550" y="562765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590550" y="6062202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FMI Scale tick"/>
          <p:cNvSpPr txBox="1"/>
          <p:nvPr/>
        </p:nvSpPr>
        <p:spPr>
          <a:xfrm>
            <a:off x="219075" y="4257354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+15%</a:t>
            </a:r>
          </a:p>
        </p:txBody>
      </p:sp>
      <p:sp>
        <p:nvSpPr>
          <p:cNvPr id="55" name="FMI Scale tick"/>
          <p:cNvSpPr txBox="1"/>
          <p:nvPr/>
        </p:nvSpPr>
        <p:spPr>
          <a:xfrm>
            <a:off x="219075" y="4691897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+7%</a:t>
            </a:r>
          </a:p>
        </p:txBody>
      </p:sp>
      <p:sp>
        <p:nvSpPr>
          <p:cNvPr id="56" name="FMI Scale tick"/>
          <p:cNvSpPr txBox="1"/>
          <p:nvPr/>
        </p:nvSpPr>
        <p:spPr>
          <a:xfrm>
            <a:off x="219075" y="5126441"/>
            <a:ext cx="36195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1">
                <a:solidFill>
                  <a:srgbClr val="6C7A89"/>
                </a:solidFill>
                <a:latin typeface="Calibri"/>
              </a:rPr>
              <a:t>North America</a:t>
            </a:r>
          </a:p>
        </p:txBody>
      </p:sp>
      <p:sp>
        <p:nvSpPr>
          <p:cNvPr id="57" name="FMI Scale tick"/>
          <p:cNvSpPr txBox="1"/>
          <p:nvPr/>
        </p:nvSpPr>
        <p:spPr>
          <a:xfrm>
            <a:off x="219075" y="5560984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-7%</a:t>
            </a:r>
          </a:p>
        </p:txBody>
      </p:sp>
      <p:sp>
        <p:nvSpPr>
          <p:cNvPr id="58" name="FMI Scale tick"/>
          <p:cNvSpPr txBox="1"/>
          <p:nvPr/>
        </p:nvSpPr>
        <p:spPr>
          <a:xfrm>
            <a:off x="219075" y="5995527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-15%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619125" y="5193116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2152650" y="5193116"/>
            <a:ext cx="457200" cy="297146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FMI Data Label"/>
          <p:cNvSpPr txBox="1"/>
          <p:nvPr/>
        </p:nvSpPr>
        <p:spPr>
          <a:xfrm>
            <a:off x="619125" y="5499787"/>
            <a:ext cx="35242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2" name="Rectangle 61"/>
          <p:cNvSpPr/>
          <p:nvPr/>
        </p:nvSpPr>
        <p:spPr>
          <a:xfrm>
            <a:off x="5676900" y="4437287"/>
            <a:ext cx="457200" cy="755829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MI Data Label"/>
          <p:cNvSpPr txBox="1"/>
          <p:nvPr/>
        </p:nvSpPr>
        <p:spPr>
          <a:xfrm>
            <a:off x="4143375" y="4294412"/>
            <a:ext cx="35242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19125" y="6242060"/>
            <a:ext cx="35242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U.S.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143375" y="6242060"/>
            <a:ext cx="35242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Canada</a:t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7915275" y="1052895"/>
            <a:ext cx="4133850" cy="5503490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8048625" y="113862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8048625" y="137674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8048625" y="1462470"/>
            <a:ext cx="3867150" cy="50177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491005"/>
            <a:ext cx="128699" cy="187198"/>
          </a:xfrm>
          <a:prstGeom prst="rect">
            <a:avLst/>
          </a:prstGeom>
        </p:spPr>
      </p:pic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2531709"/>
            <a:ext cx="128699" cy="187198"/>
          </a:xfrm>
          <a:prstGeom prst="rect">
            <a:avLst/>
          </a:prstGeom>
        </p:spPr>
      </p:pic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16900" y="5472862"/>
            <a:ext cx="128699" cy="187198"/>
          </a:xfrm>
          <a:prstGeom prst="rect">
            <a:avLst/>
          </a:prstGeom>
        </p:spPr>
      </p:pic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1150" y="4267488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8048625" y="1471995"/>
            <a:ext cx="35896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selling price is derived as Value ÷ Volume; 'Sweet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048625" y="1647255"/>
            <a:ext cx="32248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muffins' commands the highest product type price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22611" y="1637031"/>
            <a:ext cx="134549" cy="195707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8048625" y="1822515"/>
            <a:ext cx="10740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2036.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8048625" y="2050353"/>
            <a:ext cx="32279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shows the steepest price uplift over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8048625" y="2225613"/>
            <a:ext cx="8923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2026–2036 (+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90090" y="2215389"/>
            <a:ext cx="134549" cy="195707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9065199" y="2225613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048625" y="2453451"/>
            <a:ext cx="21885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Against the north america price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86284" y="2443227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10361393" y="2453451"/>
            <a:ext cx="9696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US$/MT, 1 of 2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048625" y="2628711"/>
            <a:ext cx="21548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countries price above and 1 below.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048625" y="2856548"/>
            <a:ext cx="17620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'Canada' is the dearest at +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59829" y="2846325"/>
            <a:ext cx="134549" cy="195707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9934938" y="2856548"/>
            <a:ext cx="17301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versus North America, 'U.S.'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048625" y="3031808"/>
            <a:ext cx="10745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cheapest at -</a:t>
            </a:r>
          </a:p>
        </p:txBody>
      </p:sp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72367" y="3021585"/>
            <a:ext cx="134549" cy="195707"/>
          </a:xfrm>
          <a:prstGeom prst="rect">
            <a:avLst/>
          </a:prstGeom>
        </p:spPr>
      </p:pic>
      <p:sp>
        <p:nvSpPr>
          <p:cNvPr id="92" name="TextBox 91"/>
          <p:cNvSpPr txBox="1"/>
          <p:nvPr/>
        </p:nvSpPr>
        <p:spPr>
          <a:xfrm>
            <a:off x="9247476" y="3031808"/>
            <a:ext cx="2496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pointing to premiumisation headroom in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8048625" y="3207068"/>
            <a:ext cx="16901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lower-priced countries.</a:t>
            </a: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Summary, By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North America market value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value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32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58403" y="2450085"/>
            <a:ext cx="22201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662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2026–2036 more than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104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previous 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600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value: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86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73770" y="3256280"/>
            <a:ext cx="16844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07385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82495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2138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'Canada'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36079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311188" y="445647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684312"/>
            <a:ext cx="38278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'Sweet muffins' within Product Type.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491215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13998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0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Volume &amp; Value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and value growth of the North America market and the incremental $ opportunity it creates,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4695825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Market, 2021–2025 (Historical)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4505325" cy="22288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991100" y="981075"/>
            <a:ext cx="7048500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5086350" y="10382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Market, 2026–2036 (Forecast)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5086350" y="1266825"/>
          <a:ext cx="6858000" cy="22288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2809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4768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2026–2031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88296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142875" y="455295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386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&amp; Value Analysis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276225" y="48768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76225" y="4962525"/>
            <a:ext cx="11639550" cy="1571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33894" y="2050946"/>
            <a:ext cx="205327" cy="298657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30846" y="2011501"/>
            <a:ext cx="259564" cy="377547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21594" y="402240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88594" y="4022407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98494" y="402240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51294" y="4022407"/>
            <a:ext cx="157162" cy="228600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76225" y="4972050"/>
            <a:ext cx="1345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expands from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70958" y="4961826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746068" y="4972050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897504" y="496182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072613" y="4972050"/>
            <a:ext cx="1051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73535" y="4961826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248645" y="4972050"/>
            <a:ext cx="15238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 accelerating from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21644" y="4961826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896754" y="4972050"/>
            <a:ext cx="922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199888"/>
            <a:ext cx="12477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Volume rises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473116" y="5189664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648226" y="51998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99662" y="5189664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974771" y="5199888"/>
            <a:ext cx="1653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the same decade.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27725"/>
            <a:ext cx="888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grows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696" y="5417502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288806" y="5427725"/>
            <a:ext cx="30727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CAGR faster than volume firming price/mix.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655563"/>
            <a:ext cx="16753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forecast decade adds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00712" y="5645340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2075821" y="5655563"/>
            <a:ext cx="22689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incremental opportunity (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93922" y="5645340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469031" y="5655563"/>
            <a:ext cx="2516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the first five years) the market reaches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34732" y="5645340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7109841" y="5655563"/>
            <a:ext cx="1040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its 2026 value.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266825"/>
            <a:ext cx="4505325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lockshield_16"/>
          <p:cNvSpPr/>
          <p:nvPr/>
        </p:nvSpPr>
        <p:spPr>
          <a:xfrm>
            <a:off x="5086350" y="1266825"/>
            <a:ext cx="6858000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Summary Country Indices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3933825" cy="2445995"/>
          </a:xfrm>
          <a:prstGeom prst="roundRect">
            <a:avLst>
              <a:gd name="adj" fmla="val 311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CAGR Index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93011"/>
          <a:ext cx="3743325" cy="210309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489764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3565964"/>
          <a:ext cx="3914776" cy="213206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8071"/>
                <a:gridCol w="1102235"/>
                <a:gridCol w="1102235"/>
                <a:gridCol w="110223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94297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94297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5707558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4114800" y="1007261"/>
            <a:ext cx="3933825" cy="4928498"/>
          </a:xfrm>
          <a:prstGeom prst="roundRect">
            <a:avLst>
              <a:gd name="adj" fmla="val 19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210050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2036 Market By Country (US$ Mn)  ·  Top 10</a:t>
            </a:r>
          </a:p>
        </p:txBody>
      </p:sp>
      <p:sp>
        <p:nvSpPr>
          <p:cNvPr id="18" name="Rectangle 17"/>
          <p:cNvSpPr/>
          <p:nvPr/>
        </p:nvSpPr>
        <p:spPr>
          <a:xfrm>
            <a:off x="4210050" y="1293011"/>
            <a:ext cx="3743325" cy="3091856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U.S.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4210050" y="4384867"/>
            <a:ext cx="3743325" cy="1493742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Canada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8086725" y="1007261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818197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Absolute Index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8181975" y="1293011"/>
          <a:ext cx="3743325" cy="209396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3" name="Rounded Rectangle 22"/>
          <p:cNvSpPr/>
          <p:nvPr/>
        </p:nvSpPr>
        <p:spPr>
          <a:xfrm>
            <a:off x="8086725" y="3471510"/>
            <a:ext cx="3933825" cy="2464249"/>
          </a:xfrm>
          <a:prstGeom prst="roundRect">
            <a:avLst>
              <a:gd name="adj" fmla="val 30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24" name="Table 23"/>
          <p:cNvGraphicFramePr>
            <a:graphicFrameLocks noGrp="1"/>
          </p:cNvGraphicFramePr>
          <p:nvPr/>
        </p:nvGraphicFramePr>
        <p:xfrm>
          <a:off x="8096250" y="3547710"/>
          <a:ext cx="3914776" cy="21594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8071"/>
                <a:gridCol w="1102235"/>
                <a:gridCol w="1102235"/>
                <a:gridCol w="110223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9566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9566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5" name="TextBox 24"/>
          <p:cNvSpPr txBox="1"/>
          <p:nvPr/>
        </p:nvSpPr>
        <p:spPr>
          <a:xfrm>
            <a:off x="8162925" y="5716684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6027028"/>
            <a:ext cx="10858500" cy="602372"/>
          </a:xfrm>
          <a:prstGeom prst="roundRect">
            <a:avLst>
              <a:gd name="adj" fmla="val 1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88017" y="2125483"/>
            <a:ext cx="183356" cy="2667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232897" y="4496595"/>
            <a:ext cx="355389" cy="51693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24086" y="2838939"/>
            <a:ext cx="115252" cy="167639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24086" y="5131738"/>
            <a:ext cx="115252" cy="167639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1867" y="2120920"/>
            <a:ext cx="183356" cy="2667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75439" y="4490163"/>
            <a:ext cx="357960" cy="520669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57175" y="6160574"/>
            <a:ext cx="227045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Canada posts the highest CAGR Index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475681" y="6150795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643177" y="6160574"/>
            <a:ext cx="7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growing at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81208" y="6150795"/>
            <a:ext cx="128699" cy="187198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548704" y="6160574"/>
            <a:ext cx="5105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the North America benchmark, while U.S. offers the largest absolute opportunity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02156" y="6150795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769652" y="6160574"/>
            <a:ext cx="1827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 incremental market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57175" y="6328214"/>
            <a:ext cx="15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33815" y="6318435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901311" y="6328214"/>
            <a:ext cx="19733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North America increment).</a:t>
            </a:r>
          </a:p>
        </p:txBody>
      </p:sp>
      <p:sp>
        <p:nvSpPr>
          <p:cNvPr id="44" name="lockshield_12"/>
          <p:cNvSpPr/>
          <p:nvPr/>
        </p:nvSpPr>
        <p:spPr>
          <a:xfrm>
            <a:off x="238125" y="1293011"/>
            <a:ext cx="3743325" cy="210309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lockshield_22"/>
          <p:cNvSpPr/>
          <p:nvPr/>
        </p:nvSpPr>
        <p:spPr>
          <a:xfrm>
            <a:off x="8181975" y="1293011"/>
            <a:ext cx="3743325" cy="209396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Overview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market size, competitive landscape and the drivers, restraints and trends shaping demand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666875"/>
          </a:xfrm>
          <a:prstGeom prst="roundRect">
            <a:avLst>
              <a:gd name="adj" fmla="val 4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11811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781300"/>
            <a:ext cx="11906250" cy="1666875"/>
          </a:xfrm>
          <a:prstGeom prst="roundRect">
            <a:avLst>
              <a:gd name="adj" fmla="val 4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28670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Landscape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1051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190875"/>
            <a:ext cx="11639550" cy="11811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4581525"/>
            <a:ext cx="3943350" cy="2028825"/>
          </a:xfrm>
          <a:prstGeom prst="roundRect">
            <a:avLst>
              <a:gd name="adj" fmla="val 37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4667250"/>
            <a:ext cx="3676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Drivers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4905375"/>
            <a:ext cx="3676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991100"/>
            <a:ext cx="3676650" cy="1543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238625" y="4581525"/>
            <a:ext cx="3819525" cy="2028825"/>
          </a:xfrm>
          <a:prstGeom prst="roundRect">
            <a:avLst>
              <a:gd name="adj" fmla="val 37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4371975" y="46672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24" name="Rectangle 23"/>
          <p:cNvSpPr/>
          <p:nvPr/>
        </p:nvSpPr>
        <p:spPr>
          <a:xfrm>
            <a:off x="4371975" y="49053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4371975" y="4991100"/>
            <a:ext cx="3552825" cy="1543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8210550" y="4581525"/>
            <a:ext cx="3819525" cy="2028825"/>
          </a:xfrm>
          <a:prstGeom prst="roundRect">
            <a:avLst>
              <a:gd name="adj" fmla="val 37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8343900" y="46672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Trends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8343900" y="49053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343900" y="4991100"/>
            <a:ext cx="3552825" cy="1543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Mix shifting toward 'Sweet muffins' and higher-growth tiers.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Canada outpacing the North America average.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Demand broadening across 2 product type categories.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35363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North America Packaged Muffins market is valued at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61708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3936818" y="1400175"/>
            <a:ext cx="24403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in 2026 and is forecast to reach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26356" y="1389951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501465" y="1400175"/>
            <a:ext cx="1088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1628013"/>
            <a:ext cx="9881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That implies a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13535" y="1617789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1388644" y="1628013"/>
            <a:ext cx="2163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forecast CAGR (2026–2036), versus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1754" y="161778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676863" y="1628013"/>
            <a:ext cx="1078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1855851"/>
            <a:ext cx="10700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An incremental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403" y="184562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470512" y="1855851"/>
            <a:ext cx="29849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is created over the forecast a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4600" y="184562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579710" y="1855851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3200400"/>
            <a:ext cx="51463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is consolidated: the leading product type category 'Sweet muffins' holds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1681" y="3190176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5546791" y="3200400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428237"/>
            <a:ext cx="510408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spans 2 countries and 21 segmentation lenses (2 product type categories).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3656075"/>
            <a:ext cx="22889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U.S. is the largest country market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14293" y="3645852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2689402" y="365607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000625"/>
            <a:ext cx="25205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Accelerating uptake of 'Sweet muffins' (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45919" y="4990401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21028" y="5000625"/>
            <a:ext cx="4909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CAGR).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228463"/>
            <a:ext cx="2146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Fast-growing demand in Canada (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71889" y="5218239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2546998" y="5228463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76225" y="5456300"/>
            <a:ext cx="34972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Momentum in Foodservice and institutional within sales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5631560"/>
            <a:ext cx="6218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channel (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7269" y="5621337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022378" y="563156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371975" y="5000625"/>
            <a:ext cx="25773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Slower momentum in 'Savoury muffins' (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98435" y="4990401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7073544" y="500062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371975" y="5228463"/>
            <a:ext cx="32641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Maturing demand in established categories caps the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371975" y="5403722"/>
            <a:ext cx="562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83401" y="5393499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058510" y="5403722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371975" y="5631560"/>
            <a:ext cx="35300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concentration in 'Sweet muffins' raises barriers for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371975" y="5806820"/>
            <a:ext cx="9022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new entrants.</a:t>
            </a: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Supply Side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recent developments, investments and R&amp;D activity shaping the supply side of the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Recent Developments &amp; Key Industry Activities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95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Capacity and product development are concentrating in 'Sweet muffins' and Canada.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Portfolio expansion tracks the shift toward higher-growth product type categories.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Commercial focus is intensifying across U.S. and Canada.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95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95600"/>
            <a:ext cx="5876925" cy="1285875"/>
          </a:xfrm>
          <a:prstGeom prst="roundRect">
            <a:avLst>
              <a:gd name="adj" fmla="val 59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98132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Acquisitions &amp; New Investments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21945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305175"/>
            <a:ext cx="5610225" cy="8001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95600"/>
            <a:ext cx="5876925" cy="1285875"/>
          </a:xfrm>
          <a:prstGeom prst="roundRect">
            <a:avLst>
              <a:gd name="adj" fmla="val 59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98132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Substantial Investment in R&amp;D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21945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305175"/>
            <a:ext cx="5610225" cy="8001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314825"/>
            <a:ext cx="11906250" cy="2295525"/>
          </a:xfrm>
          <a:prstGeom prst="roundRect">
            <a:avLst>
              <a:gd name="adj" fmla="val 33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38125" y="4371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structure product type share (2036)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238125" y="4600575"/>
          <a:ext cx="11715750" cy="19526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29" name="TextBox 28"/>
          <p:cNvSpPr txBox="1"/>
          <p:nvPr/>
        </p:nvSpPr>
        <p:spPr>
          <a:xfrm>
            <a:off x="3871570" y="5462588"/>
            <a:ext cx="934136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35025" y="5284520"/>
            <a:ext cx="382860" cy="55688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305550" y="1400175"/>
            <a:ext cx="6841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2026 size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37714" y="1390396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105210" y="1400175"/>
            <a:ext cx="8783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Mn; 2036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1645" y="139039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99141" y="1400175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1618107"/>
            <a:ext cx="9918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Forecast CAGR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45444" y="1608328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412940" y="1618107"/>
            <a:ext cx="833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1836039"/>
            <a:ext cx="1856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category 'Sweet muffins'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10430" y="182626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8277926" y="1836039"/>
            <a:ext cx="5430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05550" y="2053970"/>
            <a:ext cx="11520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country U.S.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05655" y="20441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573151" y="205397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2271903"/>
            <a:ext cx="1554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Incremental opportunity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08384" y="22621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975880" y="2271903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314700"/>
            <a:ext cx="43438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Investment is flowing toward the fastest-growing tier 'Sweet muffins' (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569262" y="3304476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4744371" y="331470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3542537"/>
            <a:ext cx="6792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Canada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4605" y="3532314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079714" y="3542537"/>
            <a:ext cx="23622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is a priority country for new capacity.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3770375"/>
            <a:ext cx="2857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Scale players anchor around 'Sweet muffins'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83375" y="3760152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3258484" y="3770375"/>
            <a:ext cx="484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05550" y="3314700"/>
            <a:ext cx="47586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R&amp;D aligns with the migration to 'Sweet muffins' and adjacent premium tiers.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305550" y="3542537"/>
            <a:ext cx="46031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Development spend targets product type categories gaining share to 2036.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305550" y="3770375"/>
            <a:ext cx="16633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Innovation underpins the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18056" y="3760152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8093165" y="3770375"/>
            <a:ext cx="9630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forecast CAGR.</a:t>
            </a:r>
          </a:p>
        </p:txBody>
      </p:sp>
      <p:sp>
        <p:nvSpPr>
          <p:cNvPr id="63" name="lockshield_28"/>
          <p:cNvSpPr/>
          <p:nvPr/>
        </p:nvSpPr>
        <p:spPr>
          <a:xfrm>
            <a:off x="238125" y="4600575"/>
            <a:ext cx="11715750" cy="19526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Analysis and Recommendation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the market approach, differentiating strategy and FMI's analysis and recommendation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43075"/>
          </a:xfrm>
          <a:prstGeom prst="roundRect">
            <a:avLst>
              <a:gd name="adj" fmla="val 4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Overall Market Approach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573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43075"/>
          </a:xfrm>
          <a:prstGeom prst="roundRect">
            <a:avLst>
              <a:gd name="adj" fmla="val 4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Differentiating Strategy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573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Differentiate through the high-growth 'Sweet muffins' tier and Foodservice and institutional within sales channel.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57500"/>
            <a:ext cx="5876925" cy="1562100"/>
          </a:xfrm>
          <a:prstGeom prst="roundRect">
            <a:avLst>
              <a:gd name="adj" fmla="val 48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94322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Segment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8135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267075"/>
            <a:ext cx="5610225" cy="10763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57500"/>
            <a:ext cx="5876925" cy="1562100"/>
          </a:xfrm>
          <a:prstGeom prst="roundRect">
            <a:avLst>
              <a:gd name="adj" fmla="val 48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94322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Country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8135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267075"/>
            <a:ext cx="5610225" cy="10763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55295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76225" y="46386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Fact.MR Analysis &amp; Recommendation</a:t>
            </a:r>
          </a:p>
        </p:txBody>
      </p:sp>
      <p:sp>
        <p:nvSpPr>
          <p:cNvPr id="28" name="Rectangle 27"/>
          <p:cNvSpPr/>
          <p:nvPr/>
        </p:nvSpPr>
        <p:spPr>
          <a:xfrm>
            <a:off x="276225" y="48768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76225" y="4962525"/>
            <a:ext cx="11639550" cy="1571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52524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Balance scale in 'Sweet muffins' with targeted growth in 'Sweet muffins', pursuing the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77796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1575435"/>
            <a:ext cx="15518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trajectory to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276600"/>
            <a:ext cx="17192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'Sweet muffins'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44641" y="326637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119750" y="3276600"/>
            <a:ext cx="1609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'Sweet muffins' anchors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8344" y="3266376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853453" y="3276600"/>
            <a:ext cx="5865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05550" y="3276600"/>
            <a:ext cx="108343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 with U.S.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38135" y="3266376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7513244" y="3276600"/>
            <a:ext cx="17723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capture upside in Canada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34718" y="3266376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409827" y="327660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4972050"/>
            <a:ext cx="15275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Packaged Muffins adds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52950" y="4961826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928060" y="4972050"/>
            <a:ext cx="18151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to 2036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321" y="4961826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867431" y="4972050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199888"/>
            <a:ext cx="63443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Concentrate resources on the leading segment/country while seeding the fastest-growing pockets early.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5427725"/>
            <a:ext cx="42106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share in 'Sweet muffins' as the value anchor of the portfolio.</a:t>
            </a: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Scenario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Scenario outlook comparing optimistic, likely and conservative outcomes for 2036 and the CAGR behind each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3943350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4238625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8210550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Packaged Muffins Market Value (US$ Mn) Scenario Forecast, 2025 &amp; 2036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38125" y="4305300"/>
            <a:ext cx="5686425" cy="0"/>
          </a:xfrm>
          <a:prstGeom prst="line">
            <a:avLst/>
          </a:prstGeom>
          <a:ln w="9525">
            <a:solidFill>
              <a:srgbClr val="BFBFB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/>
        </p:nvSpPr>
        <p:spPr>
          <a:xfrm>
            <a:off x="706342" y="3426160"/>
            <a:ext cx="635826" cy="879140"/>
          </a:xfrm>
          <a:prstGeom prst="rect">
            <a:avLst/>
          </a:prstGeom>
          <a:solidFill>
            <a:srgbClr val="4031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ectangle 16"/>
          <p:cNvSpPr/>
          <p:nvPr/>
        </p:nvSpPr>
        <p:spPr>
          <a:xfrm>
            <a:off x="3043936" y="3090056"/>
            <a:ext cx="635826" cy="1215244"/>
          </a:xfrm>
          <a:prstGeom prst="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4025725" y="2954397"/>
            <a:ext cx="635826" cy="1350903"/>
          </a:xfrm>
          <a:prstGeom prst="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ectangle 18"/>
          <p:cNvSpPr/>
          <p:nvPr/>
        </p:nvSpPr>
        <p:spPr>
          <a:xfrm>
            <a:off x="5007515" y="2805113"/>
            <a:ext cx="635826" cy="1500187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1456468" y="2956706"/>
            <a:ext cx="1568418" cy="0"/>
          </a:xfrm>
          <a:prstGeom prst="line">
            <a:avLst/>
          </a:prstGeom>
          <a:ln w="15875">
            <a:solidFill>
              <a:srgbClr val="92D05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ounded Rectangle 20"/>
          <p:cNvSpPr/>
          <p:nvPr/>
        </p:nvSpPr>
        <p:spPr>
          <a:xfrm>
            <a:off x="1570768" y="2851931"/>
            <a:ext cx="1358868" cy="209550"/>
          </a:xfrm>
          <a:prstGeom prst="round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1456468" y="2699531"/>
            <a:ext cx="2550207" cy="0"/>
          </a:xfrm>
          <a:prstGeom prst="line">
            <a:avLst/>
          </a:prstGeom>
          <a:ln w="15875">
            <a:solidFill>
              <a:srgbClr val="0078D4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Rounded Rectangle 22"/>
          <p:cNvSpPr/>
          <p:nvPr/>
        </p:nvSpPr>
        <p:spPr>
          <a:xfrm>
            <a:off x="1570768" y="2594756"/>
            <a:ext cx="1358868" cy="209550"/>
          </a:xfrm>
          <a:prstGeom prst="round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456468" y="2442356"/>
            <a:ext cx="3531997" cy="0"/>
          </a:xfrm>
          <a:prstGeom prst="line">
            <a:avLst/>
          </a:prstGeom>
          <a:ln w="15875">
            <a:solidFill>
              <a:srgbClr val="80808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ounded Rectangle 24"/>
          <p:cNvSpPr/>
          <p:nvPr/>
        </p:nvSpPr>
        <p:spPr>
          <a:xfrm>
            <a:off x="1570768" y="2337581"/>
            <a:ext cx="1358868" cy="209550"/>
          </a:xfrm>
          <a:prstGeom prst="round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43255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2025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962638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2036</a:t>
            </a:r>
          </a:p>
        </p:txBody>
      </p:sp>
      <p:sp>
        <p:nvSpPr>
          <p:cNvPr id="28" name="Oval 27"/>
          <p:cNvSpPr/>
          <p:nvPr/>
        </p:nvSpPr>
        <p:spPr>
          <a:xfrm>
            <a:off x="304800" y="4572000"/>
            <a:ext cx="133350" cy="133350"/>
          </a:xfrm>
          <a:prstGeom prst="ellipse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8577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Conservative Scenario</a:t>
            </a:r>
          </a:p>
        </p:txBody>
      </p:sp>
      <p:sp>
        <p:nvSpPr>
          <p:cNvPr id="30" name="Oval 29"/>
          <p:cNvSpPr/>
          <p:nvPr/>
        </p:nvSpPr>
        <p:spPr>
          <a:xfrm>
            <a:off x="2200275" y="4572000"/>
            <a:ext cx="133350" cy="133350"/>
          </a:xfrm>
          <a:prstGeom prst="ellipse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0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Likely Scenario</a:t>
            </a:r>
          </a:p>
        </p:txBody>
      </p:sp>
      <p:sp>
        <p:nvSpPr>
          <p:cNvPr id="32" name="Oval 31"/>
          <p:cNvSpPr/>
          <p:nvPr/>
        </p:nvSpPr>
        <p:spPr>
          <a:xfrm>
            <a:off x="4095750" y="4572000"/>
            <a:ext cx="133350" cy="133350"/>
          </a:xfrm>
          <a:prstGeom prst="ellipse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427672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Optimistic Scenario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172200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267450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Packaged Muffins Market Attractiveness Analysis By Region, 2026–2036</a:t>
            </a:r>
          </a:p>
        </p:txBody>
      </p:sp>
      <p:graphicFrame>
        <p:nvGraphicFramePr>
          <p:cNvPr id="36" name="Chart 35"/>
          <p:cNvGraphicFramePr>
            <a:graphicFrameLocks noGrp="1"/>
          </p:cNvGraphicFramePr>
          <p:nvPr/>
        </p:nvGraphicFramePr>
        <p:xfrm>
          <a:off x="6267450" y="2266950"/>
          <a:ext cx="5686425" cy="2495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37" name="Rounded Rectangle 36"/>
          <p:cNvSpPr/>
          <p:nvPr/>
        </p:nvSpPr>
        <p:spPr>
          <a:xfrm>
            <a:off x="142875" y="4953000"/>
            <a:ext cx="1190625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76225" y="5038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Scenario Assumptions &amp; Outlook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276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362575"/>
            <a:ext cx="11639550" cy="1190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35969" y="1214437"/>
            <a:ext cx="157162" cy="228600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69806" y="1214437"/>
            <a:ext cx="157162" cy="228600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41731" y="1214437"/>
            <a:ext cx="157162" cy="22860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572257" y="1107376"/>
            <a:ext cx="11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OPTIMISTIC (2036)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877926" y="1382458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21397" y="1372679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5760624" y="1107376"/>
            <a:ext cx="8517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LIKELY (2036)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5911763" y="1382458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255234" y="1372679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470064" y="1107376"/>
            <a:ext cx="13766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CONSERVATIVE (2036)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9883688" y="1382458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27159" y="1372679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2032418" y="2886297"/>
            <a:ext cx="382383" cy="159867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878082"/>
            <a:ext cx="108107" cy="157246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2032418" y="2629122"/>
            <a:ext cx="382383" cy="159867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620907"/>
            <a:ext cx="108107" cy="157246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2032418" y="2371947"/>
            <a:ext cx="382383" cy="159867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363732"/>
            <a:ext cx="108107" cy="157246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276225" y="5372100"/>
            <a:ext cx="8081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Optimistic: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3540" y="5361876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208649" y="5372100"/>
            <a:ext cx="12038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1612" y="536187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2536721" y="5372100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6225" y="5599938"/>
            <a:ext cx="1448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Likely (base forecast):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3650" y="5589714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848759" y="5599938"/>
            <a:ext cx="6980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95966" y="5589714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671076" y="5599938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5827775"/>
            <a:ext cx="9696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Conservative: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94994" y="5817552"/>
            <a:ext cx="134549" cy="195707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370103" y="5827775"/>
            <a:ext cx="6980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310" y="5817552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192420" y="582777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76225" y="6055613"/>
            <a:ext cx="36601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Scenarios flex the base forecast's year-on-year growth by ±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85509" y="6045390"/>
            <a:ext cx="134549" cy="195707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4060618" y="6055613"/>
            <a:ext cx="1900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across the 2026–2036 horizon.</a:t>
            </a:r>
          </a:p>
        </p:txBody>
      </p:sp>
      <p:sp>
        <p:nvSpPr>
          <p:cNvPr id="78" name="lockshield_36"/>
          <p:cNvSpPr/>
          <p:nvPr/>
        </p:nvSpPr>
        <p:spPr>
          <a:xfrm>
            <a:off x="6267450" y="2266950"/>
            <a:ext cx="5686425" cy="2495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5558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8987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North America Market Analysis By Region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584575"/>
            <a:ext cx="8458200" cy="16700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North America Packaged Muffins – Regional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Share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Share Analysis By Region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– Regional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 countries, highlighting where value concentrates,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North America market down geographically. Each country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U.S.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Canada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By Country split shows where market value concentrates and where growth is fastest.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demand and access dynamics are rebalancing the geographic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2_48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3_609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3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1_11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1_74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4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2175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'U.S.' holds the largest share in 2026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651365" y="421965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2818861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397077"/>
            <a:ext cx="8554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value.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615009"/>
            <a:ext cx="2512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'Canada' is the fastest-growing country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946318" y="4605230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85775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000581"/>
            <a:ext cx="1720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Market value expands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154775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322271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467123" y="499080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634619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86153"/>
            <a:ext cx="283145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countries make up the geographic landscape.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838575" y="4229437"/>
            <a:ext cx="4538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U.S.: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40453" y="4219658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440794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267399" y="421965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434895" y="4229437"/>
            <a:ext cx="1419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market.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838575" y="4447369"/>
            <a:ext cx="6513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Canada: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437997" y="4437590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4605493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64943" y="4437590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5632439" y="4447369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North America market is projected to grow at a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Analysis, By Country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199165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4712970" y="198688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910687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Canada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97260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382521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4712970" y="382045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3744250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U.S.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380616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239000" y="1400175"/>
            <a:ext cx="18664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U.S. is the largest country, at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54607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229716" y="1400175"/>
            <a:ext cx="1040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239000" y="1628013"/>
            <a:ext cx="20364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'Canada' gains the most share +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24618" y="1617789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9399728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239000" y="2031111"/>
            <a:ext cx="14765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'U.S.' cedes the most -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64665" y="202088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839774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239000" y="2258949"/>
            <a:ext cx="14257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Canada grows fastest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13890" y="2248725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788999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8778660" y="2486787"/>
            <a:ext cx="14126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countries.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613208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2026 TOTAL (MT)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84327" y="6077648"/>
            <a:ext cx="233998" cy="340360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5647046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2036 TOTAL (MT)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8165" y="6077648"/>
            <a:ext cx="233998" cy="340360"/>
          </a:xfrm>
          <a:prstGeom prst="rect">
            <a:avLst/>
          </a:prstGeom>
        </p:spPr>
      </p:pic>
      <p:sp>
        <p:nvSpPr>
          <p:cNvPr id="56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Analysis, By Country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2059364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4712970" y="205460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978401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Canada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204031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3892926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4712970" y="388816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3811964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U.S.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387387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09775" y="6070282"/>
            <a:ext cx="209550" cy="3048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3612" y="6070282"/>
            <a:ext cx="209550" cy="3048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239000" y="1400175"/>
            <a:ext cx="18664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U.S. is the largest country, at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54607" y="1389951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9229716" y="140017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239000" y="1628013"/>
            <a:ext cx="20364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'Canada' gains the most share +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24618" y="1617789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399728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239000" y="2031111"/>
            <a:ext cx="14765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'U.S.' cedes the most -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64665" y="202088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839774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239000" y="2258949"/>
            <a:ext cx="14257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Canada grows fastest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13890" y="224872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788999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8778660" y="2486787"/>
            <a:ext cx="1686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countries.</a:t>
            </a:r>
          </a:p>
        </p:txBody>
      </p:sp>
      <p:sp>
        <p:nvSpPr>
          <p:cNvPr id="54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Share Analysis, By Country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 Size, By Country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7264"/>
                <a:gridCol w="604720"/>
                <a:gridCol w="604720"/>
                <a:gridCol w="604720"/>
                <a:gridCol w="604720"/>
                <a:gridCol w="604720"/>
                <a:gridCol w="604720"/>
                <a:gridCol w="604720"/>
                <a:gridCol w="719193"/>
                <a:gridCol w="719193"/>
                <a:gridCol w="719193"/>
                <a:gridCol w="719193"/>
                <a:gridCol w="719193"/>
                <a:gridCol w="719193"/>
                <a:gridCol w="719193"/>
                <a:gridCol w="719193"/>
                <a:gridCol w="719193"/>
                <a:gridCol w="57415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Share Read-out, By Country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12939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742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'U.S.' is the largest country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67747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142856" y="29908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72589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347698" y="29908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6422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'Canada' grows fastest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67622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42732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9993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'Canada'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24760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399870" y="3446525"/>
            <a:ext cx="17189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'U.S.'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68001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243110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674363"/>
            <a:ext cx="14126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countries.</a:t>
            </a:r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Share Analysis, By Country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 Size, By Country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96253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Share Read-out, By Country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7436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742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'U.S.' is the largest country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67747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142856" y="29908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8789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223898" y="29908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6422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'Canada' grows fastest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67622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42732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9993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'Canada'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24760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399870" y="3446525"/>
            <a:ext cx="17189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'U.S.'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68001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243110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674363"/>
            <a:ext cx="1686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countries.</a:t>
            </a: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Trends, By Country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country volume and value shares shift over 2021–2036, highlighting who gains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By Country (MT)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11715750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38125" y="39243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By Country (US$ Mn)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238125" y="4152900"/>
          <a:ext cx="11715750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58646" y="2026489"/>
            <a:ext cx="363375" cy="528545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58646" y="4912564"/>
            <a:ext cx="363375" cy="528545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266825"/>
            <a:ext cx="1171575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238125" y="4152900"/>
            <a:ext cx="1171575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Top 2 Countries (2036)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hierarchy of the North America market in 2036, highlighting the leading countries within each region by value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 by country  ·  2036 (US$ Mn)  ·  tile size = market value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38125" y="1266825"/>
            <a:ext cx="7899386" cy="5305425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U.S.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137511" y="1266825"/>
            <a:ext cx="3816364" cy="5305425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Canada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0192" y="3919537"/>
            <a:ext cx="115252" cy="167639"/>
          </a:xfrm>
          <a:prstGeom prst="rect">
            <a:avLst/>
          </a:prstGeom>
        </p:spPr>
      </p:pic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88066" y="3919537"/>
            <a:ext cx="115252" cy="167639"/>
          </a:xfrm>
          <a:prstGeom prst="rect">
            <a:avLst/>
          </a:prstGeom>
        </p:spPr>
      </p:pic>
    </p:spTree>
  </p:cSld>
  <p:clrMapOvr>
    <a:masterClrMapping/>
  </p:clrMapOvr>
</p:sld>
</file>

<file path=ppt/slides/slide2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666875"/>
            <a:ext cx="103632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009775"/>
            <a:ext cx="103632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North America Market Analysis By Segments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695575"/>
            <a:ext cx="5067300" cy="36385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Flavour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Flour Base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Dietary Formulation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Nutritional Positioning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Recipe and Ingredient Claims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Structure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Surface Finish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Individual Muffin Size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096000" y="2695575"/>
            <a:ext cx="50673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Storage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Shelf Life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Packaging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Configuration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Multipack Wrapping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Positioning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Brand Ownership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Product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Type segment categorizes the market by product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Sweet muffins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Savoury muffins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Type split shows how demand is distributed across product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1_99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3_08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4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1_60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2_268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3_5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8052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'Sweet muffins' holds the largest share in 2026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72307" y="438729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639803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615009"/>
            <a:ext cx="22868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'Sweet muffins' is the fastest-growing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86153"/>
            <a:ext cx="25586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product type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38575" y="4229437"/>
            <a:ext cx="10415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Sweet muffins: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8175" y="4219658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99567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55121" y="4219658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6022617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838575" y="4447369"/>
            <a:ext cx="11446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Savoury muffins: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313" y="4437590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5098809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58259" y="4437590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6125755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Type segment is projected to grow at a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Product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413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'Sweet muffins'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18948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786444" y="5861685"/>
            <a:ext cx="20363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'Savoury muffins'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770861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938357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Sweet muffins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Savoury muffins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7556" y="3674659"/>
            <a:ext cx="395643" cy="57548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6881" y="3674659"/>
            <a:ext cx="395643" cy="57548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Product Type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24098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4938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704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04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04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04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04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04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04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04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84001" y="2299524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Product Type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Product Type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60922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5137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Product Type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39770" y="1956627"/>
            <a:ext cx="366712" cy="533399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8172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is the largest product type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2583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3217692" y="37242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47425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4422535" y="37242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1898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23495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2298604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2407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'Sweet muffins'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2673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807783" y="4179950"/>
            <a:ext cx="24412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'Savoury muffins'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98177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373286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44077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Product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4162425"/>
          </a:xfrm>
          <a:prstGeom prst="roundRect">
            <a:avLst>
              <a:gd name="adj" fmla="val 183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Product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36956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5396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9434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5276850"/>
            <a:ext cx="11906250" cy="1352550"/>
          </a:xfrm>
          <a:prstGeom prst="roundRect">
            <a:avLst>
              <a:gd name="adj" fmla="val 56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3625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6007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686425"/>
            <a:ext cx="11639550" cy="866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7008" y="2942461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695950"/>
            <a:ext cx="259315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'Sweet muffins'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6463" y="5686562"/>
            <a:ext cx="123551" cy="17971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977259" y="5695950"/>
            <a:ext cx="88480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09142" y="5686562"/>
            <a:ext cx="123551" cy="17971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69938" y="5695950"/>
            <a:ext cx="58200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905164"/>
            <a:ext cx="174919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'Sweet muffins'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72501" y="5895776"/>
            <a:ext cx="123551" cy="17971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33297" y="5905164"/>
            <a:ext cx="113964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6114379"/>
            <a:ext cx="221675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Share shifts toward 'Sweet muffins'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40059" y="6104991"/>
            <a:ext cx="123551" cy="179710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00855" y="6114379"/>
            <a:ext cx="224792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BPS) and away from 'Savoury muffins'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95861" y="6104991"/>
            <a:ext cx="123551" cy="17971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956657" y="6114379"/>
            <a:ext cx="170833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6323594"/>
            <a:ext cx="132930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2615" y="6314206"/>
            <a:ext cx="123551" cy="179710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713411" y="6323594"/>
            <a:ext cx="191976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52469" y="6314206"/>
            <a:ext cx="123551" cy="17971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013265" y="6323594"/>
            <a:ext cx="160774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Product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639672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63490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55870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62062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92586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4921100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84490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90681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Product Type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24443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23081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0398191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21987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77478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152587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206371"/>
            <a:ext cx="33395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is the fastest-growing product type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18208" y="219614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293317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9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Product Type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17488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8050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Product Type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Product Type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06819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 muffins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06819"/>
            <a:ext cx="643890" cy="397119"/>
          </a:xfrm>
          <a:prstGeom prst="rect">
            <a:avLst/>
          </a:prstGeom>
          <a:solidFill>
            <a:srgbClr val="AA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06819"/>
            <a:ext cx="643890" cy="397119"/>
          </a:xfrm>
          <a:prstGeom prst="rect">
            <a:avLst/>
          </a:prstGeom>
          <a:solidFill>
            <a:srgbClr val="AA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06819"/>
            <a:ext cx="643890" cy="397119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06819"/>
            <a:ext cx="643890" cy="397119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06819"/>
            <a:ext cx="643890" cy="397119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06819"/>
            <a:ext cx="643890" cy="397119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06819"/>
            <a:ext cx="643890" cy="397119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203938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 and cocoa muffins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203938"/>
            <a:ext cx="643890" cy="397119"/>
          </a:xfrm>
          <a:prstGeom prst="rect">
            <a:avLst/>
          </a:prstGeom>
          <a:solidFill>
            <a:srgbClr val="72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601058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and seed muffins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601058"/>
            <a:ext cx="643890" cy="397119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601058"/>
            <a:ext cx="643890" cy="397119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601058"/>
            <a:ext cx="643890" cy="397119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601058"/>
            <a:ext cx="643890" cy="397119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601058"/>
            <a:ext cx="643890" cy="397119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601058"/>
            <a:ext cx="643890" cy="397119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601058"/>
            <a:ext cx="643890" cy="397119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601058"/>
            <a:ext cx="643890" cy="397119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601058"/>
            <a:ext cx="643890" cy="397119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601058"/>
            <a:ext cx="643890" cy="397119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601058"/>
            <a:ext cx="643890" cy="397119"/>
          </a:xfrm>
          <a:prstGeom prst="rect">
            <a:avLst/>
          </a:prstGeom>
          <a:solidFill>
            <a:srgbClr val="0C41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601058"/>
            <a:ext cx="643890" cy="397119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601058"/>
            <a:ext cx="643890" cy="397119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601058"/>
            <a:ext cx="643890" cy="397119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601058"/>
            <a:ext cx="643890" cy="397119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2998177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and vanilla muffins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395296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Spice-flavoured muffins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3792415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Other sweet muffins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3792415"/>
            <a:ext cx="643890" cy="397119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3792415"/>
            <a:ext cx="643890" cy="397119"/>
          </a:xfrm>
          <a:prstGeom prst="rect">
            <a:avLst/>
          </a:prstGeom>
          <a:solidFill>
            <a:srgbClr val="5D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3792415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3792415"/>
            <a:ext cx="643890" cy="397119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3792415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3792415"/>
            <a:ext cx="643890" cy="397119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3792415"/>
            <a:ext cx="643890" cy="397119"/>
          </a:xfrm>
          <a:prstGeom prst="rect">
            <a:avLst/>
          </a:prstGeom>
          <a:solidFill>
            <a:srgbClr val="24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3792415"/>
            <a:ext cx="643890" cy="397119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3792415"/>
            <a:ext cx="643890" cy="397119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3792415"/>
            <a:ext cx="643890" cy="397119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3792415"/>
            <a:ext cx="643890" cy="397119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3792415"/>
            <a:ext cx="643890" cy="397119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3792415"/>
            <a:ext cx="643890" cy="397119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189535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189535"/>
            <a:ext cx="643890" cy="397119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189535"/>
            <a:ext cx="643890" cy="397119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189535"/>
            <a:ext cx="643890" cy="397119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189535"/>
            <a:ext cx="643890" cy="397119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189535"/>
            <a:ext cx="643890" cy="397119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189535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189535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189535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189535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189535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189535"/>
            <a:ext cx="643890" cy="397119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189535"/>
            <a:ext cx="643890" cy="397119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189535"/>
            <a:ext cx="643890" cy="397119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189535"/>
            <a:ext cx="643890" cy="397119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189535"/>
            <a:ext cx="643890" cy="397119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4586654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 muffins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4586654"/>
            <a:ext cx="643890" cy="397119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4586654"/>
            <a:ext cx="643890" cy="397119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4586654"/>
            <a:ext cx="643890" cy="397119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4586654"/>
            <a:ext cx="643890" cy="397119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4586654"/>
            <a:ext cx="643890" cy="397119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4586654"/>
            <a:ext cx="643890" cy="397119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4586654"/>
            <a:ext cx="643890" cy="397119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4586654"/>
            <a:ext cx="643890" cy="397119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4586654"/>
            <a:ext cx="643890" cy="397119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4586654"/>
            <a:ext cx="643890" cy="397119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4586654"/>
            <a:ext cx="643890" cy="397119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4586654"/>
            <a:ext cx="643890" cy="397119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4586654"/>
            <a:ext cx="643890" cy="397119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4586654"/>
            <a:ext cx="643890" cy="397119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4586654"/>
            <a:ext cx="643890" cy="397119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4983773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Vegetable muffins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4983773"/>
            <a:ext cx="643890" cy="397119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4983773"/>
            <a:ext cx="643890" cy="397119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4983773"/>
            <a:ext cx="643890" cy="397119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4983773"/>
            <a:ext cx="643890" cy="397119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4983773"/>
            <a:ext cx="643890" cy="397119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4983773"/>
            <a:ext cx="643890" cy="397119"/>
          </a:xfrm>
          <a:prstGeom prst="rect">
            <a:avLst/>
          </a:prstGeom>
          <a:solidFill>
            <a:srgbClr val="CC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4983773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4983773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4983773"/>
            <a:ext cx="643890" cy="397119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4983773"/>
            <a:ext cx="643890" cy="397119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4983773"/>
            <a:ext cx="643890" cy="397119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4983773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4983773"/>
            <a:ext cx="643890" cy="397119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4983773"/>
            <a:ext cx="643890" cy="397119"/>
          </a:xfrm>
          <a:prstGeom prst="rect">
            <a:avLst/>
          </a:prstGeom>
          <a:solidFill>
            <a:srgbClr val="CF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4983773"/>
            <a:ext cx="643890" cy="397119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5380892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Meat-containing muffins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5380892"/>
            <a:ext cx="643890" cy="397119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5380892"/>
            <a:ext cx="643890" cy="397119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5380892"/>
            <a:ext cx="643890" cy="397119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5380892"/>
            <a:ext cx="643890" cy="397119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5380892"/>
            <a:ext cx="643890" cy="397119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5380892"/>
            <a:ext cx="643890" cy="397119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5380892"/>
            <a:ext cx="643890" cy="397119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5380892"/>
            <a:ext cx="643890" cy="397119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5380892"/>
            <a:ext cx="643890" cy="397119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5380892"/>
            <a:ext cx="643890" cy="397119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5380892"/>
            <a:ext cx="643890" cy="397119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5380892"/>
            <a:ext cx="643890" cy="397119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5380892"/>
            <a:ext cx="643890" cy="397119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5380892"/>
            <a:ext cx="643890" cy="397119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5380892"/>
            <a:ext cx="643890" cy="397119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238125" y="5778012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Herb and spice muffins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185737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250126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314515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378904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443293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5076825" y="5778012"/>
            <a:ext cx="643890" cy="397119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5720715" y="5778012"/>
            <a:ext cx="643890" cy="397119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6364605" y="5778012"/>
            <a:ext cx="643890" cy="397119"/>
          </a:xfrm>
          <a:prstGeom prst="rect">
            <a:avLst/>
          </a:prstGeom>
          <a:solidFill>
            <a:srgbClr val="4F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00849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765238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829627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894016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958405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022794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087183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TextBox 218"/>
          <p:cNvSpPr txBox="1"/>
          <p:nvPr/>
        </p:nvSpPr>
        <p:spPr>
          <a:xfrm>
            <a:off x="238125" y="6175131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Other savoury muffins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1857375" y="6175131"/>
            <a:ext cx="643890" cy="397119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2501265" y="6175131"/>
            <a:ext cx="643890" cy="397119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3145155" y="6175131"/>
            <a:ext cx="643890" cy="397119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3789045" y="6175131"/>
            <a:ext cx="643890" cy="397119"/>
          </a:xfrm>
          <a:prstGeom prst="rect">
            <a:avLst/>
          </a:prstGeom>
          <a:solidFill>
            <a:srgbClr val="C1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4432935" y="6175131"/>
            <a:ext cx="643890" cy="397119"/>
          </a:xfrm>
          <a:prstGeom prst="rect">
            <a:avLst/>
          </a:prstGeom>
          <a:solidFill>
            <a:srgbClr val="C1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5076825" y="6175131"/>
            <a:ext cx="643890" cy="397119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5720715" y="6175131"/>
            <a:ext cx="643890" cy="397119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6364605" y="6175131"/>
            <a:ext cx="643890" cy="397119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7008495" y="6175131"/>
            <a:ext cx="643890" cy="397119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7652385" y="6175131"/>
            <a:ext cx="643890" cy="397119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8296275" y="6175131"/>
            <a:ext cx="643890" cy="397119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8940165" y="6175131"/>
            <a:ext cx="643890" cy="397119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9584055" y="6175131"/>
            <a:ext cx="643890" cy="397119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0227945" y="6175131"/>
            <a:ext cx="643890" cy="397119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0871835" y="6175131"/>
            <a:ext cx="643890" cy="397119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Rectangle 245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Rectangle 246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Rectangle 247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Rectangle 248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Rectangle 249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Rectangle 254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Rectangle 255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Rectangle 256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Rectangle 257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Rectangle 258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Rectangle 259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Rectangle 265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Rectangle 266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Rectangle 267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279" name="TextBox 27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Product Type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17488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8050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Product Type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Product Type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06819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 muffins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06819"/>
            <a:ext cx="643890" cy="397119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06819"/>
            <a:ext cx="643890" cy="397119"/>
          </a:xfrm>
          <a:prstGeom prst="rect">
            <a:avLst/>
          </a:prstGeom>
          <a:solidFill>
            <a:srgbClr val="AA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06819"/>
            <a:ext cx="643890" cy="397119"/>
          </a:xfrm>
          <a:prstGeom prst="rect">
            <a:avLst/>
          </a:prstGeom>
          <a:solidFill>
            <a:srgbClr val="AA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06819"/>
            <a:ext cx="643890" cy="397119"/>
          </a:xfrm>
          <a:prstGeom prst="rect">
            <a:avLst/>
          </a:prstGeom>
          <a:solidFill>
            <a:srgbClr val="AA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06819"/>
            <a:ext cx="643890" cy="397119"/>
          </a:xfrm>
          <a:prstGeom prst="rect">
            <a:avLst/>
          </a:prstGeom>
          <a:solidFill>
            <a:srgbClr val="AA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06819"/>
            <a:ext cx="643890" cy="397119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06819"/>
            <a:ext cx="643890" cy="397119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06819"/>
            <a:ext cx="643890" cy="397119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06819"/>
            <a:ext cx="643890" cy="397119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06819"/>
            <a:ext cx="643890" cy="397119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06819"/>
            <a:ext cx="643890" cy="397119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203938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 and cocoa muffins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203938"/>
            <a:ext cx="643890" cy="397119"/>
          </a:xfrm>
          <a:prstGeom prst="rect">
            <a:avLst/>
          </a:prstGeom>
          <a:solidFill>
            <a:srgbClr val="72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203938"/>
            <a:ext cx="643890" cy="397119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601058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and seed muffins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601058"/>
            <a:ext cx="643890" cy="397119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601058"/>
            <a:ext cx="643890" cy="397119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601058"/>
            <a:ext cx="643890" cy="397119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601058"/>
            <a:ext cx="643890" cy="397119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601058"/>
            <a:ext cx="643890" cy="397119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601058"/>
            <a:ext cx="643890" cy="397119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601058"/>
            <a:ext cx="643890" cy="397119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601058"/>
            <a:ext cx="643890" cy="397119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601058"/>
            <a:ext cx="643890" cy="397119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601058"/>
            <a:ext cx="643890" cy="397119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601058"/>
            <a:ext cx="643890" cy="397119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601058"/>
            <a:ext cx="643890" cy="397119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601058"/>
            <a:ext cx="643890" cy="397119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601058"/>
            <a:ext cx="643890" cy="397119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601058"/>
            <a:ext cx="643890" cy="397119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2998177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and vanilla muffins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2998177"/>
            <a:ext cx="643890" cy="397119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2998177"/>
            <a:ext cx="643890" cy="397119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2998177"/>
            <a:ext cx="643890" cy="397119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2998177"/>
            <a:ext cx="643890" cy="397119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2998177"/>
            <a:ext cx="643890" cy="397119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2998177"/>
            <a:ext cx="643890" cy="397119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2998177"/>
            <a:ext cx="643890" cy="397119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395296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Spice-flavoured muffins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395296"/>
            <a:ext cx="643890" cy="397119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3792415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Other sweet muffins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3792415"/>
            <a:ext cx="643890" cy="397119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3792415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3792415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3792415"/>
            <a:ext cx="643890" cy="397119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3792415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3792415"/>
            <a:ext cx="643890" cy="397119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3792415"/>
            <a:ext cx="643890" cy="397119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3792415"/>
            <a:ext cx="643890" cy="397119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3792415"/>
            <a:ext cx="643890" cy="397119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3792415"/>
            <a:ext cx="643890" cy="397119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3792415"/>
            <a:ext cx="643890" cy="397119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3792415"/>
            <a:ext cx="643890" cy="397119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3792415"/>
            <a:ext cx="643890" cy="397119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189535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189535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189535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189535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189535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189535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189535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189535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189535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189535"/>
            <a:ext cx="643890" cy="397119"/>
          </a:xfrm>
          <a:prstGeom prst="rect">
            <a:avLst/>
          </a:prstGeom>
          <a:solidFill>
            <a:srgbClr val="A9C9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189535"/>
            <a:ext cx="643890" cy="397119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4586654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 muffins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4586654"/>
            <a:ext cx="643890" cy="397119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4586654"/>
            <a:ext cx="643890" cy="397119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4586654"/>
            <a:ext cx="643890" cy="397119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4586654"/>
            <a:ext cx="643890" cy="397119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4586654"/>
            <a:ext cx="643890" cy="397119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4586654"/>
            <a:ext cx="643890" cy="397119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4586654"/>
            <a:ext cx="643890" cy="397119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4586654"/>
            <a:ext cx="643890" cy="397119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4586654"/>
            <a:ext cx="643890" cy="397119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4586654"/>
            <a:ext cx="643890" cy="397119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4586654"/>
            <a:ext cx="643890" cy="397119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4586654"/>
            <a:ext cx="643890" cy="397119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4586654"/>
            <a:ext cx="643890" cy="397119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4586654"/>
            <a:ext cx="643890" cy="397119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4586654"/>
            <a:ext cx="643890" cy="397119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4983773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Vegetable muffins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4983773"/>
            <a:ext cx="643890" cy="397119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4983773"/>
            <a:ext cx="643890" cy="397119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4983773"/>
            <a:ext cx="643890" cy="397119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4983773"/>
            <a:ext cx="643890" cy="397119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4983773"/>
            <a:ext cx="643890" cy="397119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4983773"/>
            <a:ext cx="643890" cy="397119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4983773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4983773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4983773"/>
            <a:ext cx="643890" cy="397119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4983773"/>
            <a:ext cx="643890" cy="397119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4983773"/>
            <a:ext cx="643890" cy="397119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4983773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4983773"/>
            <a:ext cx="643890" cy="397119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4983773"/>
            <a:ext cx="643890" cy="397119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4983773"/>
            <a:ext cx="643890" cy="397119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5380892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Meat-containing muffins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5380892"/>
            <a:ext cx="643890" cy="397119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5380892"/>
            <a:ext cx="643890" cy="397119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5380892"/>
            <a:ext cx="643890" cy="397119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5380892"/>
            <a:ext cx="643890" cy="397119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5380892"/>
            <a:ext cx="643890" cy="397119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5380892"/>
            <a:ext cx="643890" cy="397119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5380892"/>
            <a:ext cx="643890" cy="397119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5380892"/>
            <a:ext cx="643890" cy="397119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5380892"/>
            <a:ext cx="643890" cy="397119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5380892"/>
            <a:ext cx="643890" cy="397119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5380892"/>
            <a:ext cx="643890" cy="397119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5380892"/>
            <a:ext cx="643890" cy="397119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5380892"/>
            <a:ext cx="643890" cy="397119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5380892"/>
            <a:ext cx="643890" cy="397119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5380892"/>
            <a:ext cx="643890" cy="397119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238125" y="5778012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Herb and spice muffins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185737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250126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314515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378904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443293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5076825" y="5778012"/>
            <a:ext cx="643890" cy="397119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572071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636460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00849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765238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829627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894016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958405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0227945" y="5778012"/>
            <a:ext cx="643890" cy="397119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0871835" y="5778012"/>
            <a:ext cx="643890" cy="397119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TextBox 218"/>
          <p:cNvSpPr txBox="1"/>
          <p:nvPr/>
        </p:nvSpPr>
        <p:spPr>
          <a:xfrm>
            <a:off x="238125" y="6175131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Other savoury muffins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1857375" y="6175131"/>
            <a:ext cx="643890" cy="397119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2501265" y="6175131"/>
            <a:ext cx="643890" cy="397119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3145155" y="6175131"/>
            <a:ext cx="643890" cy="397119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3789045" y="6175131"/>
            <a:ext cx="643890" cy="397119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4432935" y="6175131"/>
            <a:ext cx="643890" cy="397119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5076825" y="6175131"/>
            <a:ext cx="643890" cy="397119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5720715" y="6175131"/>
            <a:ext cx="643890" cy="397119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6364605" y="6175131"/>
            <a:ext cx="643890" cy="397119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7008495" y="6175131"/>
            <a:ext cx="643890" cy="397119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7652385" y="6175131"/>
            <a:ext cx="643890" cy="397119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8296275" y="6175131"/>
            <a:ext cx="643890" cy="397119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8940165" y="6175131"/>
            <a:ext cx="643890" cy="397119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9584055" y="6175131"/>
            <a:ext cx="643890" cy="397119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0227945" y="6175131"/>
            <a:ext cx="643890" cy="397119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0871835" y="6175131"/>
            <a:ext cx="643890" cy="397119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Rectangle 245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Rectangle 246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Rectangle 247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Rectangle 248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Rectangle 249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Rectangle 254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Rectangle 255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Rectangle 256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Rectangle 257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Rectangle 258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Rectangle 259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Rectangle 265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Rectangle 266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Rectangle 267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279" name="TextBox 27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Flavour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Flavour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Flavour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Flavour,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Flavour segment categorizes the market by flavour.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Sweet Muffins Flavours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Savoury Muffins Flavours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Flavour split shows how demand is distributed across flavour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2_08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2_93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3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1_51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2_42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4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8688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'Sweet Muffins Flavours' holds the largest share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85775" y="4397077"/>
            <a:ext cx="4972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2026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31036" y="4387298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1098532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615009"/>
            <a:ext cx="29062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'Savoury Muffins Flavours' is the fastest-growing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5386153"/>
            <a:ext cx="28617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flavour landscape.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38575" y="4229437"/>
            <a:ext cx="15577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Sweet Muffins Flavours: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344410" y="4219658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511906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371356" y="4219658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6538852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838575" y="4615009"/>
            <a:ext cx="16609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Savoury Muffins Flavours: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47548" y="4605230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5615044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474494" y="4605230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6641990" y="4615009"/>
            <a:ext cx="7697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838575" y="4782649"/>
            <a:ext cx="4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Flavour segment is projected to grow at a CAGR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524875" y="6017901"/>
            <a:ext cx="2008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of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674884" y="6007677"/>
            <a:ext cx="134549" cy="195707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8849994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Flavour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Flavour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Flavour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Flavour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266825"/>
          <a:ext cx="5210175" cy="39814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60330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'Savoury Muffins Flavours'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38321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6405817" y="5861685"/>
            <a:ext cx="24494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'Sweet Muffins Flavours'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803332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970828" y="5861685"/>
            <a:ext cx="2741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9596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266825"/>
            <a:ext cx="5210175" cy="39814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Flavour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Flavour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Sweet Muffins Flavours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Savoury Muffins Flavours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7556" y="3674659"/>
            <a:ext cx="395643" cy="57548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6881" y="3674659"/>
            <a:ext cx="395643" cy="57548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Flavour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Flavour,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867150"/>
          </a:xfrm>
          <a:prstGeom prst="roundRect">
            <a:avLst>
              <a:gd name="adj" fmla="val 197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Flavour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34004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54124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420553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48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981575"/>
            <a:ext cx="11906250" cy="1647825"/>
          </a:xfrm>
          <a:prstGeom prst="roundRect">
            <a:avLst>
              <a:gd name="adj" fmla="val 46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0673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Flavour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3054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391150"/>
            <a:ext cx="11639550" cy="1162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86371" y="289122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400675"/>
            <a:ext cx="3008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Flavours' is the largest flavour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3989" y="53904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09098" y="54006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38831" y="53904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613940" y="54006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628513"/>
            <a:ext cx="25456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 Flavours'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1022" y="56182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46131" y="56285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856350"/>
            <a:ext cx="30548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'Savoury Muffins Flavours'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0200" y="58461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455309" y="5856350"/>
            <a:ext cx="2873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'Sweet Muffins Flavours'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7577" y="58461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452687" y="58563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60841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60739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60841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60739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60841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Flavour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Flavour,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Flavour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01670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781550"/>
            <a:ext cx="11906250" cy="1847850"/>
          </a:xfrm>
          <a:prstGeom prst="roundRect">
            <a:avLst>
              <a:gd name="adj" fmla="val 41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867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Flavour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105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191125"/>
            <a:ext cx="11639550" cy="1362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60144" y="269481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200650"/>
            <a:ext cx="3008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Flavours' is the largest flavour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3989" y="5190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09098" y="52006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15031" y="5190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90140" y="52006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428488"/>
            <a:ext cx="25456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 Flavours'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1022" y="5418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46131" y="542848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656325"/>
            <a:ext cx="30548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'Savoury Muffins Flavours'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0200" y="5646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455309" y="5656325"/>
            <a:ext cx="2873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'Sweet Muffins Flavours'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7577" y="5646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452687" y="5656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8841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873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884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873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8841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Flavour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Flavour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Flavour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70587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270111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62491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Savoury Muffins Flavours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68682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992066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498730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91110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Sweet Muffins Flavours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97301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Flavour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30919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 Flavours'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70608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1045717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26306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Flavours'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09352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584461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206371"/>
            <a:ext cx="36387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 Flavours' is the fastest-growing flavour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17439" y="219614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8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Flavour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Flavour,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Flavour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74318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46468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Flavour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Flavour,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Flavour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 Flavours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AA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Fruit-based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Chocolate-based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D4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and seed-based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and classic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7E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Spice and dessert-inspired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E6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BED5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C1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C5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 Flavours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21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Cheese-based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0C41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Vegetable-based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66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1A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Meat-based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Herb and spice-based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Flavour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Flavour,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Flavour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74318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46468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Flavour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Flavour,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Flavour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 Flavours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Fruit-based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Chocolate-based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and seed-based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and classic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C1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C1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C1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C1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Spice and dessert-inspired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 Flavours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Cheese-based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0C3F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Vegetable-based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1F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21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Meat-based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Herb and spice-based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Flour Base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Flour Base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Primary Flour Base Segment Outlook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8 sub-segments of Primary Flour Base,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Primary Flour Base segment categorizes the market by primary flour base.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Oat-based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Rice-based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Wheat-based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Corn-based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Primary Flour Base split shows how demand is distributed across primary flour base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714_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1_243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637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830_2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2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631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948_1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4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551_3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753_1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3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580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'Oat-based'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013985" y="421965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485775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'Millet-based' is the fastest-growing sub-segment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386153"/>
            <a:ext cx="28682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8 sub-segments make up the primary flour base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838575" y="4229437"/>
            <a:ext cx="8164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Oat-based: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03072" y="4219658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77056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30018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5797514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838575" y="4447369"/>
            <a:ext cx="8470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Rice-based: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33632" y="4437590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01128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60578" y="443759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5828074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838575" y="4665301"/>
            <a:ext cx="9913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Wheat-based: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77970" y="4655522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4945466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804916" y="4655522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972412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838575" y="4883233"/>
            <a:ext cx="8805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Corn-based: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67193" y="4873454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4834688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94139" y="4873454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5861634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524875" y="5842641"/>
            <a:ext cx="2937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Primary Flour Base segment is projected to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2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Primary Flour Base Segment Outlook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8 sub-segments of Primary Flour Base,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Primary Flour Base segment categorizes the market by primary flour base.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single-flour bases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Millet-based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Almond and other nut flour-based</a:t>
            </a:r>
          </a:p>
        </p:txBody>
      </p:sp>
      <p:sp>
        <p:nvSpPr>
          <p:cNvPr id="43" name="Rectangle 42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450_9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713_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4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258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57" name="Picture 56" descr="276_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58" name="Picture 57" descr="0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243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60" name="Picture 59" descr="425_4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61" name="Picture 60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109_0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63" name="Picture 62" descr="164_0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64" name="Picture 63" descr="4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15842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single-flour bases: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018077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218557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045023" y="4219658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3212519" y="4229437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447369"/>
            <a:ext cx="22156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Multigrain and blended flour bases: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649455" y="443759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816951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676401" y="443759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843897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485775" y="4665301"/>
            <a:ext cx="9427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Millet-based: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376603" y="4655522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544098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403549" y="4655522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2571045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883233"/>
            <a:ext cx="21722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Almond and other nut flour-based: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606072" y="4873454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2773568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633018" y="4873454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3800514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Primary Flour Base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Primary Flour Base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Flour Base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Primary Flour Base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1886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'Oat-based'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393846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561342" y="5861685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'Rice-based'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48078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415574" y="5861685"/>
            <a:ext cx="4138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Primary Flour Base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Flour Base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Wheat-based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Oat-based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Rice-based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Corn-based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Primary Flour Base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Flour Base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Millet-based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Almond and other nut flour-based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Other single-flour bases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Multigrain and blended flour bases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21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Primary Flour Base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Primary Flour Base,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4000500"/>
          </a:xfrm>
          <a:prstGeom prst="roundRect">
            <a:avLst>
              <a:gd name="adj" fmla="val 190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Primary Flour Base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353377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12457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08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08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bases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7815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5114925"/>
            <a:ext cx="11906250" cy="1514475"/>
          </a:xfrm>
          <a:prstGeom prst="roundRect">
            <a:avLst>
              <a:gd name="adj" fmla="val 50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2006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Primary Flour Base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4387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524500"/>
            <a:ext cx="11639550" cy="10287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5542" y="2957892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534025"/>
            <a:ext cx="27826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'Oat-based' is the largest primary flour base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06891" y="5524245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74387" y="5534025"/>
            <a:ext cx="10369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9349" y="5524245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326844" y="5534025"/>
            <a:ext cx="3414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751957"/>
            <a:ext cx="17201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'Millet-based'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44407" y="5742177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11903" y="5751957"/>
            <a:ext cx="11839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969889"/>
            <a:ext cx="20808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Share shifts toward 'Oat-based'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05117" y="5960109"/>
            <a:ext cx="128699" cy="187198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472612" y="5969889"/>
            <a:ext cx="34093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and away from 'Multigrain and blended flour bases'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30019" y="5960109"/>
            <a:ext cx="128699" cy="187198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997514" y="5969889"/>
            <a:ext cx="17763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6187821"/>
            <a:ext cx="14999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24216" y="6178041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91711" y="61878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6563" y="6178041"/>
            <a:ext cx="128699" cy="187198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04059" y="6187821"/>
            <a:ext cx="1409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MT across 8 categories.</a:t>
            </a:r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Primary Flour Base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Primary Flour Base,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Primary Flour Base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64040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543425"/>
            <a:ext cx="11906250" cy="2085975"/>
          </a:xfrm>
          <a:prstGeom prst="roundRect">
            <a:avLst>
              <a:gd name="adj" fmla="val 36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6291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Primary Flour Base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8672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953000"/>
            <a:ext cx="11639550" cy="16002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41327" y="2575752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962525"/>
            <a:ext cx="29056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'Oat-based' is the largest primary flour base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31012" y="49523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306121" y="49625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12054" y="49523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387163" y="49625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190363"/>
            <a:ext cx="1794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'Millet-based'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0233" y="51801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5342" y="51903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418200"/>
            <a:ext cx="21719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'Oat-based'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97339" y="54079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72448" y="5418200"/>
            <a:ext cx="2130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'Rice-based'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51630" y="54079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826739" y="54182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6460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6358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6460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6358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6460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8 categories.</a:t>
            </a:r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Primary Flour Base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Primary Flour Base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Primary Flour Base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41276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73651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6031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Almond and other nut flour-based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2222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1929313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192455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84835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191026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229006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222424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14804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Millet-based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20995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2715176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271041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263421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single-flour bases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269612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34128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333652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26032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Corn-based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32223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4017468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 rot="10800000">
            <a:off x="5090922" y="401270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393650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Rice-based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399841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477691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477214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469594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Wheat-based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475786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928997" y="571271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>
            <a:off x="5090922" y="570795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5233797" y="563175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Oat-based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896100" y="569366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Primary Flour Base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829550" y="1400175"/>
            <a:ext cx="22090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'Oat-based' gains the most share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87747" y="13899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162856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1803273"/>
            <a:ext cx="18875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'Rice-based' cedes the most -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66266" y="1793049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841375" y="1803273"/>
            <a:ext cx="19631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(red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829550" y="1978533"/>
            <a:ext cx="2313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829550" y="2206371"/>
            <a:ext cx="35600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'Millet-based' is the fastest-growing primary flour base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38709" y="2196147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7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Primary Flour Base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Primary Flour Base,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Primary Flour Base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17919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8268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Primary Flour Base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Primary Flour Base,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Primary Flour Base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Wheat-based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516255"/>
          </a:xfrm>
          <a:prstGeom prst="rect">
            <a:avLst/>
          </a:prstGeom>
          <a:solidFill>
            <a:srgbClr val="44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92595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Refined wheat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925955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925955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925955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925955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925955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44221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Whole wheat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44221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44221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44221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44221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44221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95846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Oat-based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958465"/>
            <a:ext cx="643890" cy="516255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958465"/>
            <a:ext cx="643890" cy="516255"/>
          </a:xfrm>
          <a:prstGeom prst="rect">
            <a:avLst/>
          </a:prstGeom>
          <a:solidFill>
            <a:srgbClr val="0E69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958465"/>
            <a:ext cx="643890" cy="516255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958465"/>
            <a:ext cx="643890" cy="516255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958465"/>
            <a:ext cx="643890" cy="51625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958465"/>
            <a:ext cx="643890" cy="516255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958465"/>
            <a:ext cx="643890" cy="516255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958465"/>
            <a:ext cx="643890" cy="51625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958465"/>
            <a:ext cx="643890" cy="51625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958465"/>
            <a:ext cx="643890" cy="51625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958465"/>
            <a:ext cx="643890" cy="516255"/>
          </a:xfrm>
          <a:prstGeom prst="rect">
            <a:avLst/>
          </a:prstGeom>
          <a:solidFill>
            <a:srgbClr val="0C42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958465"/>
            <a:ext cx="643890" cy="51625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958465"/>
            <a:ext cx="643890" cy="51625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958465"/>
            <a:ext cx="643890" cy="516255"/>
          </a:xfrm>
          <a:prstGeom prst="rect">
            <a:avLst/>
          </a:prstGeom>
          <a:solidFill>
            <a:srgbClr val="0C4A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958465"/>
            <a:ext cx="643890" cy="516255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47472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Rice-based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474720"/>
            <a:ext cx="643890" cy="516255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474720"/>
            <a:ext cx="643890" cy="516255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474720"/>
            <a:ext cx="643890" cy="516255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474720"/>
            <a:ext cx="643890" cy="516255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474720"/>
            <a:ext cx="643890" cy="516255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474720"/>
            <a:ext cx="643890" cy="516255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474720"/>
            <a:ext cx="643890" cy="516255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474720"/>
            <a:ext cx="643890" cy="51625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474720"/>
            <a:ext cx="643890" cy="51625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474720"/>
            <a:ext cx="643890" cy="51625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474720"/>
            <a:ext cx="643890" cy="516255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474720"/>
            <a:ext cx="643890" cy="516255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474720"/>
            <a:ext cx="643890" cy="51625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474720"/>
            <a:ext cx="643890" cy="516255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474720"/>
            <a:ext cx="643890" cy="51625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99097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Corn-based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990975"/>
            <a:ext cx="643890" cy="516255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990975"/>
            <a:ext cx="643890" cy="516255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990975"/>
            <a:ext cx="643890" cy="516255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990975"/>
            <a:ext cx="643890" cy="51625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50723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Millet-based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507230"/>
            <a:ext cx="643890" cy="516255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507230"/>
            <a:ext cx="643890" cy="516255"/>
          </a:xfrm>
          <a:prstGeom prst="rect">
            <a:avLst/>
          </a:prstGeom>
          <a:solidFill>
            <a:srgbClr val="0D64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507230"/>
            <a:ext cx="643890" cy="516255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507230"/>
            <a:ext cx="643890" cy="51625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507230"/>
            <a:ext cx="643890" cy="516255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507230"/>
            <a:ext cx="643890" cy="51625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507230"/>
            <a:ext cx="643890" cy="516255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507230"/>
            <a:ext cx="643890" cy="51625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507230"/>
            <a:ext cx="643890" cy="516255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507230"/>
            <a:ext cx="643890" cy="51625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507230"/>
            <a:ext cx="643890" cy="51625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507230"/>
            <a:ext cx="643890" cy="516255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507230"/>
            <a:ext cx="643890" cy="516255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507230"/>
            <a:ext cx="643890" cy="516255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507230"/>
            <a:ext cx="643890" cy="51625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502348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Almond and other nut flour-based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5023485"/>
            <a:ext cx="643890" cy="51625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5023485"/>
            <a:ext cx="643890" cy="516255"/>
          </a:xfrm>
          <a:prstGeom prst="rect">
            <a:avLst/>
          </a:prstGeom>
          <a:solidFill>
            <a:srgbClr val="41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5023485"/>
            <a:ext cx="643890" cy="516255"/>
          </a:xfrm>
          <a:prstGeom prst="rect">
            <a:avLst/>
          </a:prstGeom>
          <a:solidFill>
            <a:srgbClr val="41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53974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single-flour bases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539740"/>
            <a:ext cx="643890" cy="516255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539740"/>
            <a:ext cx="643890" cy="516255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539740"/>
            <a:ext cx="643890" cy="516255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539740"/>
            <a:ext cx="643890" cy="51625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539740"/>
            <a:ext cx="643890" cy="516255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539740"/>
            <a:ext cx="643890" cy="51625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539740"/>
            <a:ext cx="643890" cy="516255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539740"/>
            <a:ext cx="643890" cy="51625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539740"/>
            <a:ext cx="643890" cy="51625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605599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6055995"/>
            <a:ext cx="643890" cy="51625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6055995"/>
            <a:ext cx="643890" cy="516255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6055995"/>
            <a:ext cx="643890" cy="516255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6055995"/>
            <a:ext cx="643890" cy="51625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6055995"/>
            <a:ext cx="643890" cy="516255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6055995"/>
            <a:ext cx="643890" cy="51625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6055995"/>
            <a:ext cx="643890" cy="51625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6055995"/>
            <a:ext cx="643890" cy="51625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6055995"/>
            <a:ext cx="643890" cy="516255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6055995"/>
            <a:ext cx="643890" cy="516255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6055995"/>
            <a:ext cx="643890" cy="51625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6055995"/>
            <a:ext cx="643890" cy="51625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6055995"/>
            <a:ext cx="643890" cy="516255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6055995"/>
            <a:ext cx="643890" cy="51625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6055995"/>
            <a:ext cx="643890" cy="51625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-1%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Primary Flour Base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Primary Flour Base,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Primary Flour Base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61476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40051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Primary Flour Base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Primary Flour Base,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Primary Flour Base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Wheat-based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92595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Refined wheat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925955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925955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925955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925955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925955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925955"/>
            <a:ext cx="643890" cy="516255"/>
          </a:xfrm>
          <a:prstGeom prst="rect">
            <a:avLst/>
          </a:prstGeom>
          <a:solidFill>
            <a:srgbClr val="44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44221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Whole wheat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44221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44221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44221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44221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44221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95846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Oat-based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958465"/>
            <a:ext cx="643890" cy="516255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958465"/>
            <a:ext cx="643890" cy="516255"/>
          </a:xfrm>
          <a:prstGeom prst="rect">
            <a:avLst/>
          </a:prstGeom>
          <a:solidFill>
            <a:srgbClr val="0E69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958465"/>
            <a:ext cx="643890" cy="516255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958465"/>
            <a:ext cx="643890" cy="516255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958465"/>
            <a:ext cx="643890" cy="51625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958465"/>
            <a:ext cx="643890" cy="51625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958465"/>
            <a:ext cx="643890" cy="516255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958465"/>
            <a:ext cx="643890" cy="516255"/>
          </a:xfrm>
          <a:prstGeom prst="rect">
            <a:avLst/>
          </a:prstGeom>
          <a:solidFill>
            <a:srgbClr val="0C39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958465"/>
            <a:ext cx="643890" cy="516255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958465"/>
            <a:ext cx="643890" cy="516255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958465"/>
            <a:ext cx="643890" cy="516255"/>
          </a:xfrm>
          <a:prstGeom prst="rect">
            <a:avLst/>
          </a:prstGeom>
          <a:solidFill>
            <a:srgbClr val="0C43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958465"/>
            <a:ext cx="643890" cy="51625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958465"/>
            <a:ext cx="643890" cy="51625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958465"/>
            <a:ext cx="643890" cy="516255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958465"/>
            <a:ext cx="643890" cy="516255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47472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Rice-based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474720"/>
            <a:ext cx="643890" cy="516255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474720"/>
            <a:ext cx="643890" cy="516255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474720"/>
            <a:ext cx="643890" cy="516255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474720"/>
            <a:ext cx="643890" cy="516255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474720"/>
            <a:ext cx="643890" cy="516255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474720"/>
            <a:ext cx="643890" cy="516255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474720"/>
            <a:ext cx="643890" cy="516255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474720"/>
            <a:ext cx="643890" cy="516255"/>
          </a:xfrm>
          <a:prstGeom prst="rect">
            <a:avLst/>
          </a:prstGeom>
          <a:solidFill>
            <a:srgbClr val="A9C9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474720"/>
            <a:ext cx="643890" cy="51625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474720"/>
            <a:ext cx="643890" cy="51625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474720"/>
            <a:ext cx="643890" cy="51625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474720"/>
            <a:ext cx="643890" cy="516255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474720"/>
            <a:ext cx="643890" cy="516255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474720"/>
            <a:ext cx="643890" cy="51625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474720"/>
            <a:ext cx="643890" cy="51625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99097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Corn-based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990975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990975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990975"/>
            <a:ext cx="643890" cy="516255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990975"/>
            <a:ext cx="643890" cy="516255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990975"/>
            <a:ext cx="643890" cy="516255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990975"/>
            <a:ext cx="643890" cy="516255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50723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Millet-based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507230"/>
            <a:ext cx="643890" cy="516255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507230"/>
            <a:ext cx="643890" cy="516255"/>
          </a:xfrm>
          <a:prstGeom prst="rect">
            <a:avLst/>
          </a:prstGeom>
          <a:solidFill>
            <a:srgbClr val="0D64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507230"/>
            <a:ext cx="643890" cy="516255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507230"/>
            <a:ext cx="643890" cy="51625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507230"/>
            <a:ext cx="643890" cy="516255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507230"/>
            <a:ext cx="643890" cy="51625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507230"/>
            <a:ext cx="643890" cy="516255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507230"/>
            <a:ext cx="643890" cy="51625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507230"/>
            <a:ext cx="643890" cy="516255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507230"/>
            <a:ext cx="643890" cy="51625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507230"/>
            <a:ext cx="643890" cy="51625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507230"/>
            <a:ext cx="643890" cy="516255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507230"/>
            <a:ext cx="643890" cy="516255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507230"/>
            <a:ext cx="643890" cy="516255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507230"/>
            <a:ext cx="643890" cy="51625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502348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Almond and other nut flour-based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53974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single-flour bases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539740"/>
            <a:ext cx="643890" cy="516255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539740"/>
            <a:ext cx="643890" cy="516255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539740"/>
            <a:ext cx="643890" cy="516255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539740"/>
            <a:ext cx="643890" cy="51625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539740"/>
            <a:ext cx="643890" cy="516255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539740"/>
            <a:ext cx="643890" cy="51625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539740"/>
            <a:ext cx="643890" cy="516255"/>
          </a:xfrm>
          <a:prstGeom prst="rect">
            <a:avLst/>
          </a:prstGeom>
          <a:solidFill>
            <a:srgbClr val="24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539740"/>
            <a:ext cx="643890" cy="516255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539740"/>
            <a:ext cx="643890" cy="51625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539740"/>
            <a:ext cx="643890" cy="51625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539740"/>
            <a:ext cx="643890" cy="51625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605599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6055995"/>
            <a:ext cx="643890" cy="51625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6055995"/>
            <a:ext cx="643890" cy="516255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6055995"/>
            <a:ext cx="643890" cy="516255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6055995"/>
            <a:ext cx="643890" cy="51625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6055995"/>
            <a:ext cx="643890" cy="516255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6055995"/>
            <a:ext cx="643890" cy="51625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6055995"/>
            <a:ext cx="643890" cy="51625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6055995"/>
            <a:ext cx="643890" cy="51625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6055995"/>
            <a:ext cx="643890" cy="516255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6055995"/>
            <a:ext cx="643890" cy="516255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6055995"/>
            <a:ext cx="643890" cy="51625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6055995"/>
            <a:ext cx="643890" cy="51625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6055995"/>
            <a:ext cx="643890" cy="516255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6055995"/>
            <a:ext cx="643890" cy="51625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6055995"/>
            <a:ext cx="643890" cy="51625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Dietary Formulation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Dietary Formulation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Dietary Formulation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Dietary Formulation,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Dietary Formulation segment categorizes the market by dietary formulation.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(base)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and vegan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Conventional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Vegan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Dietary Formulation split shows how demand is distributed across dietary formulation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1_63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2_54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4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1_13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1_56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3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587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974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5_2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238_5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269_8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1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6502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'Gluten-free'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084108" y="421965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485775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615009"/>
            <a:ext cx="22276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'Conventional' is the fastest-growing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38615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dietary formulation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838575" y="4229437"/>
            <a:ext cx="8865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Gluten-free: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73195" y="4219658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84069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700141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5867637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838575" y="4447369"/>
            <a:ext cx="15021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Gluten-free and vegan: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288748" y="4437590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545624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315694" y="443759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6483190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838575" y="4665301"/>
            <a:ext cx="9823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Conventional: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68966" y="4655522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4936462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795912" y="4655522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963408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838575" y="4883233"/>
            <a:ext cx="5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Vegan: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371149" y="4873454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453864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398095" y="4873454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5565590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524875" y="5842641"/>
            <a:ext cx="30214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Dietary Formulation segment is projected to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Dietary Formulation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Dietary Formulation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Dietary Formulation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Dietary Formulation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2587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'Gluten-free'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463969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631464" y="5861685"/>
            <a:ext cx="23938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'Gluten-free and vegan'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73317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140813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Dietary Formulation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Dietary Formulation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Conventional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Gluten-free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Vegan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Gluten-free and vegan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Dietary Formulation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Dietary Formulation,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43125"/>
          </a:xfrm>
          <a:prstGeom prst="roundRect">
            <a:avLst>
              <a:gd name="adj" fmla="val 3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Dietary Formulation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6764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34703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435173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24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257550"/>
            <a:ext cx="11906250" cy="3371850"/>
          </a:xfrm>
          <a:prstGeom prst="roundRect">
            <a:avLst>
              <a:gd name="adj" fmla="val 22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43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Dietary Formulation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581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667125"/>
            <a:ext cx="11639550" cy="2886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6661" y="202920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676650"/>
            <a:ext cx="3046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'Gluten-free' is the largest dietary formulation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71927" y="3666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47037" y="36766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76770" y="3666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651879" y="36766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04487"/>
            <a:ext cx="18362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'Conventional'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61595" y="3894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236704" y="39044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32325"/>
            <a:ext cx="23453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'Conventional'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70773" y="4122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45883" y="4132325"/>
            <a:ext cx="281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'Gluten-free and vegan'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09959" y="4122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685068" y="4132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3601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49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360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49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3601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Dietary Formulation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Dietary Formulation,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Dietary Formulation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90585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Dietary Formulation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04600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046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'Gluten-free' is the largest dietary formulation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71927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47037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52969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528079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18362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'Conventional'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61595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236704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22452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'Gluten-free'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0649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45758" y="3941825"/>
            <a:ext cx="281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'Gluten-free and vegan'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09835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584944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3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Dietary Formulation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Dietary Formulation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Dietary Formulation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86467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8170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0550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Vegan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6741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317621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31285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23665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Conventional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9857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402042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339727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32107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and vegan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38299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157078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515231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07611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(base)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13802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Dietary Formulation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22823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'Gluten-free'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61057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236166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25724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'Gluten-free and vegan'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51160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526270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36689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'Conventional' is the fastest-growing dietary formulation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47676" y="2196147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Dietary Formulation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Dietary Formulation,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Dietary Formulation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31154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Dietary Formulation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C41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Vegan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 and vegan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BAD4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74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24884" y="1713738"/>
            <a:ext cx="366712" cy="533400"/>
          </a:xfrm>
          <a:prstGeom prst="rect">
            <a:avLst/>
          </a:prstGeom>
        </p:spPr>
      </p:pic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192526"/>
            <a:ext cx="128699" cy="187198"/>
          </a:xfrm>
          <a:prstGeom prst="rect">
            <a:avLst/>
          </a:prstGeom>
        </p:spPr>
      </p:pic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816538"/>
            <a:ext cx="128699" cy="187198"/>
          </a:xfrm>
          <a:prstGeom prst="rect">
            <a:avLst/>
          </a:prstGeom>
        </p:spPr>
      </p:pic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3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Dietary Formulation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Dietary Formulation,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Dietary Formulation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39911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Dietary Formulation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0D62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0C3D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Vegan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 and vegan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BA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7A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9266" y="1713738"/>
            <a:ext cx="366712" cy="533400"/>
          </a:xfrm>
          <a:prstGeom prst="rect">
            <a:avLst/>
          </a:prstGeom>
        </p:spPr>
      </p:pic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192526"/>
            <a:ext cx="128699" cy="187198"/>
          </a:xfrm>
          <a:prstGeom prst="rect">
            <a:avLst/>
          </a:prstGeom>
        </p:spPr>
      </p:pic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816538"/>
            <a:ext cx="128699" cy="187198"/>
          </a:xfrm>
          <a:prstGeom prst="rect">
            <a:avLst/>
          </a:prstGeom>
        </p:spPr>
      </p:pic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3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Nutritional Positioning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Nutritional Positioning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Nutritional Positioning Segment Outlook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7 sub-segments of Nutritional Positioning,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Nutritional Positioning segment categorizes the market by nutritional positioning.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Protein-enriched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Standard / indulgent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Reduced-sugar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nutrition-focused formulati…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Nutritional Positioning split shows how demand is distributed across nutritional positioning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789_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1_31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692_1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990_2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3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665_1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1_08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5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526_0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608_8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1_5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'Protein-enriched'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2307" y="438729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639803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615009"/>
            <a:ext cx="2305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'Fibre-enriched' is the fastest-growing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386153"/>
            <a:ext cx="24249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7 sub-segments make up the nutritional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553793"/>
            <a:ext cx="13438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positioning landscape.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838575" y="4229437"/>
            <a:ext cx="11888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Protein-enriched: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975515" y="4219658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514301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002461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6169957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838575" y="4447369"/>
            <a:ext cx="14008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Standard / indulgent: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187520" y="4437590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5355016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214466" y="443759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6381962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838575" y="4665301"/>
            <a:ext cx="1076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Reduced-sugar: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862827" y="4655522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5030323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889773" y="4655522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6057269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838575" y="4883233"/>
            <a:ext cx="23441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nutrition-focused formulations: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130768" y="4873454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629826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157714" y="4873454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7325210" y="4883233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838575" y="5050873"/>
            <a:ext cx="9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Nutritional Positioning segment is projected to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Nutritional Positioning Segment Outlook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7 sub-segments of Nutritional Positioning,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Nutritional Positioning segment categorizes the market by nutritional positioning.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Reduced-fat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No-added-sugar</a:t>
            </a:r>
          </a:p>
        </p:txBody>
      </p:sp>
      <p:sp>
        <p:nvSpPr>
          <p:cNvPr id="29" name="Rectangle 28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Fibre-enriched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2" name="Rectangle 41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6" name="Picture 45" descr="520_6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47" name="Picture 46" descr="749_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48" name="Picture 47" descr="3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49" name="Picture 48" descr="292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50" name="Picture 49" descr="406_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51" name="Picture 50" descr="3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52" name="Picture 51" descr="111_7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53" name="Picture 52" descr="208_3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54" name="Picture 53" descr="6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9231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Reduced-fat: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56957" y="421965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52445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383903" y="4219658"/>
            <a:ext cx="128699" cy="187198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2551399" y="4229437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85775" y="4447369"/>
            <a:ext cx="11452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No-added-sugar: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579059" y="4437590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174655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606005" y="4437590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773500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485775" y="4665301"/>
            <a:ext cx="10601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Fibre-enriched: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493929" y="465552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661425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20875" y="465552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2688371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Nutritional Positioning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Nutritional Positioning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Nutritional Positioning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Nutritional Positioning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5610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'Protein-enriched'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766288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933784" y="5861685"/>
            <a:ext cx="32358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'Other nutrition-focused formulations'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17657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9285153" y="5861685"/>
            <a:ext cx="24213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22794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Nutritional Positioning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Nutritional Positioning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Standard / indulgent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Protein-enriched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Fibre-enriched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Reduced-sugar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Nutritional Positioning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Nutritional Positioning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No-added-sugar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Reduced-fat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Other nutrition-focused formulations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Nutritional Positioning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6305550" y="4286250"/>
            <a:ext cx="35682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7 sub-segments, by nutritional positioning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822982" y="4276026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9998091" y="4286250"/>
            <a:ext cx="1841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North America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4461510"/>
            <a:ext cx="20130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between 2026 and 2036.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689347"/>
            <a:ext cx="15418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'Protein-enriched' adds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96538" y="4679124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971647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44118" y="4679124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719227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05550" y="4917185"/>
            <a:ext cx="14240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'Reduced-sugar' adds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678728" y="4906962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53837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26308" y="4906962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601418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05550" y="5145023"/>
            <a:ext cx="17634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'Standard / indulgent' adds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18180" y="5134800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193290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65760" y="5134800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940870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5372861"/>
            <a:ext cx="33357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nutrition-focused formulations' adds the least: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90500" y="5362638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765609" y="537286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338080" y="5362638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10513189" y="5372861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1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lockshield_15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Nutritional Positioning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Nutritional Positioning,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Nutritional Positioning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12457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40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formulations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Nutritional Positioning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1163955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5542" y="2495931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10100"/>
            <a:ext cx="35246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'Protein-enriched' is the largest nutritional positioning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50013" y="4599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925122" y="46101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54855" y="4599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129964" y="46101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837938"/>
            <a:ext cx="1917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'Fibre-enriched'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42892" y="48277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18002" y="483793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65775"/>
            <a:ext cx="25613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'Protein-enriched'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6710" y="50555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961820" y="5065775"/>
            <a:ext cx="36952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'Other nutrition-focused formulations'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6190" y="50555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781299" y="50657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2936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2833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2936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2833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2936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7 categories.</a:t>
            </a: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Nutritional Positioning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Nutritional Positioning,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Nutritional Positioning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74428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Nutritional Positioning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6525" y="220427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35246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'Protein-enriched' is the largest nutritional positioning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50013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925122" y="42195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1055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006164" y="42195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1917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'Fibre-enriched'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42892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18002" y="44474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25613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'Protein-enriched'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6710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961820" y="4675250"/>
            <a:ext cx="36952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'Other nutrition-focused formulations'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6190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781299" y="46752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9030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9030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7 categories.</a:t>
            </a:r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Nutritional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Nutritional Positioning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Nutritional Positioning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60208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75544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7924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Fibre-enriched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4115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022767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01800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94180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No-added-sugar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00371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456382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45161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37541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nutrition-focused formulations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43733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3036503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303174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295554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Reduced-fat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301745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779492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377473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69853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Standard / indulgent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76044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466366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465890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458270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Reduced-sugar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464461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568430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567953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560333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Protein-enriched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566525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Nutritional Positioning</a:t>
            </a:r>
          </a:p>
        </p:txBody>
      </p:sp>
      <p:sp>
        <p:nvSpPr>
          <p:cNvPr id="46" name="Rectangle 4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7829550" y="1400175"/>
            <a:ext cx="25984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'Protein-enriched' gains the most share +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77118" y="1389951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0552228" y="1400175"/>
            <a:ext cx="11864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575435"/>
            <a:ext cx="19836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1803273"/>
            <a:ext cx="34527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nutrition-focused formulations' cedes the most -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31454" y="1793049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406563" y="1803273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978533"/>
            <a:ext cx="18961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206371"/>
            <a:ext cx="3912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'Fibre-enriched' is the fastest-growing nutritional positioning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15470" y="2371407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799057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8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Nutritional Positioning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Nutritional Positioning,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Nutritional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78911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Nutritional Positioning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/ indulgent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Protein-enriched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Fibre-enriched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Reduced-sugar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7B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7A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No-added-sugar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Reduced-fat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nutrition-focused formulations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8768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Nutritional Positioning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Nutritional Positioning,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Nutritional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78911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Nutritional Positioning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/ indulgent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9CC3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Protein-enriched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Fibre-enriched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Reduced-sugar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7B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7A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No-added-sugar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Reduced-fat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nutrition-focused formulations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8768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Recipe and Ingredient Claims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Recipe and Ingredient Claims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Recipe and Ingredient Claims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Recipe and Ingredient Claims,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Recipe and Ingredient Claims segment categorizes the market by recipe and ingredient claims.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Additional claim mapping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Organic-certified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Conventional / non-organic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Recipe and Ingredient Claims split shows how demand is distributed across recipe and ingredient claims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2_95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4_54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4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576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732_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2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66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748157" y="2286582"/>
            <a:ext cx="982436" cy="361950"/>
          </a:xfrm>
          <a:prstGeom prst="rect">
            <a:avLst/>
          </a:prstGeom>
        </p:spPr>
      </p:pic>
      <p:pic>
        <p:nvPicPr>
          <p:cNvPr id="64" name="Picture 63" descr="80_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748157" y="2779432"/>
            <a:ext cx="982436" cy="361950"/>
          </a:xfrm>
          <a:prstGeom prst="rect">
            <a:avLst/>
          </a:prstGeom>
        </p:spPr>
      </p:pic>
      <p:pic>
        <p:nvPicPr>
          <p:cNvPr id="65" name="Picture 64" descr="2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'Additional claim mapping' holds the largest share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4972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31036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098532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'Additional claim mapping' is the fastest-growing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86153"/>
            <a:ext cx="24229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recipe and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16860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ingredient claims landscape.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6764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Additional claim mapping: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463101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630596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490047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657542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615009"/>
            <a:ext cx="11856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Organic-certified: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972241" y="4605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5139736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999187" y="460523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6166682" y="461500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832941"/>
            <a:ext cx="1782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Conventional / non-organic: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569513" y="4823162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737008" y="483294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596459" y="4823162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763954" y="4832941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5000581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56661"/>
            <a:ext cx="3129352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The Recipe and Ingredient Claims segment is projected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1239018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to grow at a 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711019" y="6008495"/>
            <a:ext cx="123784" cy="180050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872119" y="6017901"/>
            <a:ext cx="1140105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Recipe and Ingredient Claims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Recipe and Ingredient Claims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Recipe and Ingredient Claims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Recipe and Ingredient Claims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60486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'Additional claim mapping'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53874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6421370" y="5861685"/>
            <a:ext cx="20772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'Organic-certified'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46715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614211" y="5861685"/>
            <a:ext cx="31021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5987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Recipe and Ingredient Claims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Recipe and Ingredient Claims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Organic-certified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Conventional / non-organic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Additional claim mapping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Recipe and Ingredient Claims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9239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recipe and ingredient claims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178693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0353803" y="4286250"/>
            <a:ext cx="13181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North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25365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America market 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0515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306287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481396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53867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228976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15384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'Organic-certified'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93115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968224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40695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715804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21628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'Conventional / non-organic'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7536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592645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65116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340225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Recipe and Ingredient Claims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Recipe and Ingredient Claims,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867150"/>
          </a:xfrm>
          <a:prstGeom prst="roundRect">
            <a:avLst>
              <a:gd name="adj" fmla="val 197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Recipe and Ingredient Claims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34004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40272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434405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Claims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48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981575"/>
            <a:ext cx="11906250" cy="1647825"/>
          </a:xfrm>
          <a:prstGeom prst="roundRect">
            <a:avLst>
              <a:gd name="adj" fmla="val 46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0673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Recipe and Ingredient Claims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3054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391150"/>
            <a:ext cx="11639550" cy="1162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9446" y="289122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400675"/>
            <a:ext cx="43900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is the largest recipe and ingredient claims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5473" y="53904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790583" y="54006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20315" y="53904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995425" y="54006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628513"/>
            <a:ext cx="25619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7281" y="56182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62390" y="56285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856350"/>
            <a:ext cx="30710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'Additional claim mapping'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6459" y="58461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471568" y="5856350"/>
            <a:ext cx="2484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'Organic-certified'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04751" y="58461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079860" y="58563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60841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60739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60841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60739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60841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3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Recipe and Ingredient Claims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Recipe and Ingredient Claims,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Recipe and Ingredient Claims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51700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781550"/>
            <a:ext cx="11906250" cy="1847850"/>
          </a:xfrm>
          <a:prstGeom prst="roundRect">
            <a:avLst>
              <a:gd name="adj" fmla="val 41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867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Recipe and Ingredient Claims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105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191125"/>
            <a:ext cx="11639550" cy="1362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85158" y="269481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200650"/>
            <a:ext cx="43900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is the largest recipe and ingredient claims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5473" y="5190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790583" y="52006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96515" y="5190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871625" y="52006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428488"/>
            <a:ext cx="25619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7281" y="5418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62390" y="542848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656325"/>
            <a:ext cx="30710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'Additional claim mapping'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6459" y="5646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471568" y="5656325"/>
            <a:ext cx="2484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'Organic-certified'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04751" y="5646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079860" y="5656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8841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873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884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873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8841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3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Recipe and Ingredient Claims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Recipe and Ingredient Claims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Recipe and Ingredient Claims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05787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0102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2482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Conventional / non-organic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68673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05306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04829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97209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Organic-certified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03401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30472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429995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22375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Additional claim mapping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28567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Recipe and Ingredient Claims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108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86867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1061976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22415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'Organic-certified'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20266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195375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37094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is the fastest-growing recipe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2381631"/>
            <a:ext cx="12460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claims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24730" y="237140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19983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3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Recipe and Ingredient Claims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Recipe and Ingredient Claims,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Recipe and Ingredient Claims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99690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09152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Recipe and Ingredient Claims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Recipe and Ingredient Claims,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Recipe and Ingredient Claims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Organic-certified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 / non-organic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D1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Additional claim mapping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Clean-label positioning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0C43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0D50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0D54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colours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flavours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preservatives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Non-GMO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0D65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0D50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Dairy-free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CF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CF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Egg-free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C1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A0C4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Nut-free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56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-0%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Recipe and Ingredient Claims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Recipe and Ingredient Claims,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Recipe and Ingredient Claims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27921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73273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Recipe and Ingredient Claims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Recipe and Ingredient Claims,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Recipe and Ingredient Claims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Organic-certified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C5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 / non-organic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DFED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D3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Additional claim mapping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Clean-label positioning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0D5E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0B35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colours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flavours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preservatives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Non-GMO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0D65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Dairy-free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CF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Egg-free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Nut-free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56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2D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3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Structure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Structure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Structure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Product Structure,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Structure segment categorizes the market by product structure.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Filled muffins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Unfilled muffins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Structure split shows how demand is distributed across product structure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2_299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3_44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4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1_29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1_909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3_9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7588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'Filled muffins' holds the largest share in 2026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72307" y="438729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639803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615009"/>
            <a:ext cx="22404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'Filled muffins' is the fastest-growing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86153"/>
            <a:ext cx="28270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product structure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38575" y="4229437"/>
            <a:ext cx="9951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Filled muffins: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781790" y="4219658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949286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08736" y="4219658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5976232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838575" y="4447369"/>
            <a:ext cx="11367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Unfilled muffins: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23400" y="4437590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5090896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50346" y="4437590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6117842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Structure segment is projected to grow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Product Structure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Structure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Structure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Structure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3673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'Filled muffins'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72564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740059" y="5861685"/>
            <a:ext cx="20284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'Unfilled muffins'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716564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884060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Product Structure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Structure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Unfilled muffins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Filled muffins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7556" y="3674659"/>
            <a:ext cx="395643" cy="57548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6881" y="3674659"/>
            <a:ext cx="395643" cy="57548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Product Structure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Structure,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371850"/>
          </a:xfrm>
          <a:prstGeom prst="roundRect">
            <a:avLst>
              <a:gd name="adj" fmla="val 22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Product Structure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29051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17334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457343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152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486275"/>
            <a:ext cx="11906250" cy="2143125"/>
          </a:xfrm>
          <a:prstGeom prst="roundRect">
            <a:avLst>
              <a:gd name="adj" fmla="val 3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5720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Product Structure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8101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895850"/>
            <a:ext cx="11639550" cy="16573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67977" y="264356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905375"/>
            <a:ext cx="30494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is the largest product structure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74780" y="48951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49889" y="49053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79622" y="48951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654731" y="49053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133213"/>
            <a:ext cx="1849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75002" y="51229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250111" y="51332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361050"/>
            <a:ext cx="23588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'Filled muffins'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4180" y="53508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59289" y="5361050"/>
            <a:ext cx="24329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'Unfilled muffins'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41411" y="53508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316520" y="53610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5888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5786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5888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5786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5888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3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Product Structure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Structure,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Product Structure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68770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2957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3815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Product Structure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619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705350"/>
            <a:ext cx="11639550" cy="18478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3691" y="245192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714875"/>
            <a:ext cx="30494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is the largest product structure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74780" y="47046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49889" y="47148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55822" y="47046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530931" y="47148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942713"/>
            <a:ext cx="1849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75002" y="49324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250111" y="49427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170550"/>
            <a:ext cx="23588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'Filled muffins'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4180" y="51603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59289" y="5170550"/>
            <a:ext cx="24329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'Unfilled muffins'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41411" y="51603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316520" y="51705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3983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3881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3983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3881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3983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Product Structure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Structure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Product Structure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48640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481638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40543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Unfilled muffins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46735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772591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476782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69162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Filled muffins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75354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Product Structure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23958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74588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0349697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21905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'Unfilled muffins'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69205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144315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206371"/>
            <a:ext cx="35717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is the fastest-growing product structure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50405" y="219614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8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Product Structure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Structure,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Product Structure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9041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1052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Product Structure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4767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Unfilled muffins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476750"/>
            <a:ext cx="643890" cy="232833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476750"/>
            <a:ext cx="643890" cy="232833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476750"/>
            <a:ext cx="643890" cy="232833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476750"/>
            <a:ext cx="643890" cy="232833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476750"/>
            <a:ext cx="643890" cy="232833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476750"/>
            <a:ext cx="643890" cy="23283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476750"/>
            <a:ext cx="643890" cy="23283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476750"/>
            <a:ext cx="643890" cy="23283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476750"/>
            <a:ext cx="643890" cy="23283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476750"/>
            <a:ext cx="643890" cy="23283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476750"/>
            <a:ext cx="643890" cy="23283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476750"/>
            <a:ext cx="643890" cy="23283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476750"/>
            <a:ext cx="643890" cy="23283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476750"/>
            <a:ext cx="643890" cy="232833"/>
          </a:xfrm>
          <a:prstGeom prst="rect">
            <a:avLst/>
          </a:prstGeom>
          <a:solidFill>
            <a:srgbClr val="93BE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476750"/>
            <a:ext cx="643890" cy="23283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7095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batter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709583"/>
            <a:ext cx="643890" cy="23283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709583"/>
            <a:ext cx="643890" cy="23283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709583"/>
            <a:ext cx="643890" cy="23283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709583"/>
            <a:ext cx="643890" cy="23283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709583"/>
            <a:ext cx="643890" cy="23283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709583"/>
            <a:ext cx="643890" cy="23283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709583"/>
            <a:ext cx="643890" cy="23283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709583"/>
            <a:ext cx="643890" cy="232833"/>
          </a:xfrm>
          <a:prstGeom prst="rect">
            <a:avLst/>
          </a:prstGeom>
          <a:solidFill>
            <a:srgbClr val="CC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709583"/>
            <a:ext cx="643890" cy="232833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709583"/>
            <a:ext cx="643890" cy="232833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709583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709583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709583"/>
            <a:ext cx="643890" cy="232833"/>
          </a:xfrm>
          <a:prstGeom prst="rect">
            <a:avLst/>
          </a:prstGeom>
          <a:solidFill>
            <a:srgbClr val="CF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709583"/>
            <a:ext cx="643890" cy="23283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709583"/>
            <a:ext cx="643890" cy="232833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424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Batter with inclusions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42417"/>
            <a:ext cx="643890" cy="232833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42417"/>
            <a:ext cx="643890" cy="232833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42417"/>
            <a:ext cx="643890" cy="232833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42417"/>
            <a:ext cx="643890" cy="232833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42417"/>
            <a:ext cx="643890" cy="232833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42417"/>
            <a:ext cx="643890" cy="232833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752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Filled muffins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75250"/>
            <a:ext cx="643890" cy="23283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75250"/>
            <a:ext cx="643890" cy="23283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75250"/>
            <a:ext cx="643890" cy="23283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75250"/>
            <a:ext cx="643890" cy="23283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75250"/>
            <a:ext cx="643890" cy="23283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75250"/>
            <a:ext cx="643890" cy="232833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75250"/>
            <a:ext cx="643890" cy="232833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75250"/>
            <a:ext cx="643890" cy="232833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75250"/>
            <a:ext cx="643890" cy="232833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75250"/>
            <a:ext cx="643890" cy="232833"/>
          </a:xfrm>
          <a:prstGeom prst="rect">
            <a:avLst/>
          </a:prstGeom>
          <a:solidFill>
            <a:srgbClr val="74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75250"/>
            <a:ext cx="643890" cy="232833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75250"/>
            <a:ext cx="643890" cy="232833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75250"/>
            <a:ext cx="643890" cy="232833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75250"/>
            <a:ext cx="643890" cy="232833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75250"/>
            <a:ext cx="643890" cy="232833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80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 and jam-filled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8083"/>
            <a:ext cx="643890" cy="232833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8083"/>
            <a:ext cx="643890" cy="23283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8083"/>
            <a:ext cx="643890" cy="23283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8083"/>
            <a:ext cx="643890" cy="23283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8083"/>
            <a:ext cx="643890" cy="232833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8083"/>
            <a:ext cx="643890" cy="23283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8083"/>
            <a:ext cx="643890" cy="232833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8083"/>
            <a:ext cx="643890" cy="23283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8083"/>
            <a:ext cx="643890" cy="23283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8083"/>
            <a:ext cx="643890" cy="232833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8083"/>
            <a:ext cx="643890" cy="23283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8083"/>
            <a:ext cx="643890" cy="232833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8083"/>
            <a:ext cx="643890" cy="23283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8083"/>
            <a:ext cx="643890" cy="23283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8083"/>
            <a:ext cx="643890" cy="23283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409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Chocolate-filled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8737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Cream and custard-filled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873750"/>
            <a:ext cx="643890" cy="232833"/>
          </a:xfrm>
          <a:prstGeom prst="rect">
            <a:avLst/>
          </a:prstGeom>
          <a:solidFill>
            <a:srgbClr val="0E69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873750"/>
            <a:ext cx="643890" cy="232833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873750"/>
            <a:ext cx="643890" cy="232833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873750"/>
            <a:ext cx="643890" cy="232833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873750"/>
            <a:ext cx="643890" cy="232833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873750"/>
            <a:ext cx="643890" cy="232833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873750"/>
            <a:ext cx="643890" cy="232833"/>
          </a:xfrm>
          <a:prstGeom prst="rect">
            <a:avLst/>
          </a:prstGeom>
          <a:solidFill>
            <a:srgbClr val="0C41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873750"/>
            <a:ext cx="643890" cy="232833"/>
          </a:xfrm>
          <a:prstGeom prst="rect">
            <a:avLst/>
          </a:prstGeom>
          <a:solidFill>
            <a:srgbClr val="0C44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873750"/>
            <a:ext cx="643890" cy="232833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873750"/>
            <a:ext cx="643890" cy="232833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873750"/>
            <a:ext cx="643890" cy="232833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873750"/>
            <a:ext cx="643890" cy="232833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873750"/>
            <a:ext cx="643890" cy="232833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873750"/>
            <a:ext cx="643890" cy="232833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873750"/>
            <a:ext cx="643890" cy="232833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1065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butter-filled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106583"/>
            <a:ext cx="643890" cy="232833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106583"/>
            <a:ext cx="643890" cy="232833"/>
          </a:xfrm>
          <a:prstGeom prst="rect">
            <a:avLst/>
          </a:prstGeom>
          <a:solidFill>
            <a:srgbClr val="0D5D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106583"/>
            <a:ext cx="643890" cy="232833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106583"/>
            <a:ext cx="643890" cy="232833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106583"/>
            <a:ext cx="643890" cy="232833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106583"/>
            <a:ext cx="643890" cy="23283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106583"/>
            <a:ext cx="643890" cy="232833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106583"/>
            <a:ext cx="643890" cy="232833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106583"/>
            <a:ext cx="643890" cy="232833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106583"/>
            <a:ext cx="643890" cy="232833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106583"/>
            <a:ext cx="643890" cy="232833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106583"/>
            <a:ext cx="643890" cy="232833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106583"/>
            <a:ext cx="643890" cy="232833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106583"/>
            <a:ext cx="643890" cy="232833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106583"/>
            <a:ext cx="643890" cy="232833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238125" y="63394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 and savoury-filled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857375" y="6339417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2501265" y="6339417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3145155" y="6339417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3789045" y="6339417"/>
            <a:ext cx="643890" cy="232833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4432935" y="6339417"/>
            <a:ext cx="643890" cy="232833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507682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5720715" y="6339417"/>
            <a:ext cx="643890" cy="23283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6364605" y="6339417"/>
            <a:ext cx="643890" cy="23283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7008495" y="6339417"/>
            <a:ext cx="643890" cy="23283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7652385" y="6339417"/>
            <a:ext cx="643890" cy="23283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8296275" y="6339417"/>
            <a:ext cx="643890" cy="23283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8940165" y="6339417"/>
            <a:ext cx="643890" cy="23283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9584055" y="6339417"/>
            <a:ext cx="643890" cy="23283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0227945" y="6339417"/>
            <a:ext cx="643890" cy="232833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0871835" y="6339417"/>
            <a:ext cx="643890" cy="23283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4514850"/>
            <a:ext cx="104775" cy="5810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4565332"/>
            <a:ext cx="104775" cy="5810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4615815"/>
            <a:ext cx="104775" cy="5810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4666298"/>
            <a:ext cx="104775" cy="5810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4716780"/>
            <a:ext cx="104775" cy="5810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4767262"/>
            <a:ext cx="104775" cy="5810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4817745"/>
            <a:ext cx="104775" cy="5810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4868228"/>
            <a:ext cx="104775" cy="5810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918710"/>
            <a:ext cx="104775" cy="5810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4969192"/>
            <a:ext cx="104775" cy="5810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019675"/>
            <a:ext cx="104775" cy="5810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070158"/>
            <a:ext cx="104775" cy="5810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120640"/>
            <a:ext cx="104775" cy="5810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171122"/>
            <a:ext cx="104775" cy="5810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221605"/>
            <a:ext cx="104775" cy="5810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5272088"/>
            <a:ext cx="104775" cy="5810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5322570"/>
            <a:ext cx="104775" cy="5810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5373052"/>
            <a:ext cx="104775" cy="5810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5423535"/>
            <a:ext cx="104775" cy="5810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5474018"/>
            <a:ext cx="104775" cy="5810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5524500"/>
            <a:ext cx="104775" cy="5810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5574982"/>
            <a:ext cx="104775" cy="5810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5625465"/>
            <a:ext cx="104775" cy="5810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5675948"/>
            <a:ext cx="104775" cy="5810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5726430"/>
            <a:ext cx="104775" cy="5810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1572875" y="5776912"/>
            <a:ext cx="104775" cy="5810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1572875" y="5827395"/>
            <a:ext cx="104775" cy="5810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5877878"/>
            <a:ext cx="104775" cy="5810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5928360"/>
            <a:ext cx="104775" cy="5810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5978842"/>
            <a:ext cx="104775" cy="5810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6029325"/>
            <a:ext cx="104775" cy="5810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6079808"/>
            <a:ext cx="104775" cy="5810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6130290"/>
            <a:ext cx="104775" cy="5810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6180772"/>
            <a:ext cx="104775" cy="5810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6231255"/>
            <a:ext cx="104775" cy="5810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6281738"/>
            <a:ext cx="104775" cy="5810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6332220"/>
            <a:ext cx="104775" cy="5810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6382702"/>
            <a:ext cx="104775" cy="5810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6433185"/>
            <a:ext cx="104775" cy="5810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6483668"/>
            <a:ext cx="104775" cy="5810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4514850"/>
            <a:ext cx="104775" cy="20193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TextBox 216"/>
          <p:cNvSpPr txBox="1"/>
          <p:nvPr/>
        </p:nvSpPr>
        <p:spPr>
          <a:xfrm>
            <a:off x="11687175" y="4448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11687175" y="54578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21" name="Picture 2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8831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Product Structure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Structure,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Product Structure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9041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1052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Product Structure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4767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Unfilled muffins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476750"/>
            <a:ext cx="643890" cy="232833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476750"/>
            <a:ext cx="643890" cy="232833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476750"/>
            <a:ext cx="643890" cy="232833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476750"/>
            <a:ext cx="643890" cy="232833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476750"/>
            <a:ext cx="643890" cy="232833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476750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476750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476750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476750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476750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476750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476750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476750"/>
            <a:ext cx="643890" cy="232833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476750"/>
            <a:ext cx="643890" cy="232833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476750"/>
            <a:ext cx="643890" cy="232833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7095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batter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709583"/>
            <a:ext cx="643890" cy="23283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709583"/>
            <a:ext cx="643890" cy="232833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709583"/>
            <a:ext cx="643890" cy="23283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709583"/>
            <a:ext cx="643890" cy="23283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709583"/>
            <a:ext cx="643890" cy="23283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709583"/>
            <a:ext cx="643890" cy="23283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709583"/>
            <a:ext cx="643890" cy="23283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709583"/>
            <a:ext cx="643890" cy="232833"/>
          </a:xfrm>
          <a:prstGeom prst="rect">
            <a:avLst/>
          </a:prstGeom>
          <a:solidFill>
            <a:srgbClr val="CC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709583"/>
            <a:ext cx="643890" cy="232833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709583"/>
            <a:ext cx="643890" cy="232833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709583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709583"/>
            <a:ext cx="643890" cy="232833"/>
          </a:xfrm>
          <a:prstGeom prst="rect">
            <a:avLst/>
          </a:prstGeom>
          <a:solidFill>
            <a:srgbClr val="CF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709583"/>
            <a:ext cx="643890" cy="232833"/>
          </a:xfrm>
          <a:prstGeom prst="rect">
            <a:avLst/>
          </a:prstGeom>
          <a:solidFill>
            <a:srgbClr val="CF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709583"/>
            <a:ext cx="643890" cy="23283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709583"/>
            <a:ext cx="643890" cy="232833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424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Batter with inclusions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42417"/>
            <a:ext cx="643890" cy="232833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42417"/>
            <a:ext cx="643890" cy="232833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42417"/>
            <a:ext cx="643890" cy="232833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42417"/>
            <a:ext cx="643890" cy="232833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42417"/>
            <a:ext cx="643890" cy="232833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752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Filled muffins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75250"/>
            <a:ext cx="643890" cy="23283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75250"/>
            <a:ext cx="643890" cy="23283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75250"/>
            <a:ext cx="643890" cy="23283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75250"/>
            <a:ext cx="643890" cy="23283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75250"/>
            <a:ext cx="643890" cy="23283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75250"/>
            <a:ext cx="643890" cy="232833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75250"/>
            <a:ext cx="643890" cy="232833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75250"/>
            <a:ext cx="643890" cy="23283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75250"/>
            <a:ext cx="643890" cy="23283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75250"/>
            <a:ext cx="643890" cy="23283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75250"/>
            <a:ext cx="643890" cy="23283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75250"/>
            <a:ext cx="643890" cy="23283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75250"/>
            <a:ext cx="643890" cy="23283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75250"/>
            <a:ext cx="643890" cy="232833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75250"/>
            <a:ext cx="643890" cy="232833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80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 and jam-filled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8083"/>
            <a:ext cx="643890" cy="232833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8083"/>
            <a:ext cx="643890" cy="23283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8083"/>
            <a:ext cx="643890" cy="23283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8083"/>
            <a:ext cx="643890" cy="23283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8083"/>
            <a:ext cx="643890" cy="232833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8083"/>
            <a:ext cx="643890" cy="23283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8083"/>
            <a:ext cx="643890" cy="232833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8083"/>
            <a:ext cx="643890" cy="23283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8083"/>
            <a:ext cx="643890" cy="23283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8083"/>
            <a:ext cx="643890" cy="232833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8083"/>
            <a:ext cx="643890" cy="23283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8083"/>
            <a:ext cx="643890" cy="232833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8083"/>
            <a:ext cx="643890" cy="23283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8083"/>
            <a:ext cx="643890" cy="23283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8083"/>
            <a:ext cx="643890" cy="23283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409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Chocolate-filled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8737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Cream and custard-filled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873750"/>
            <a:ext cx="643890" cy="232833"/>
          </a:xfrm>
          <a:prstGeom prst="rect">
            <a:avLst/>
          </a:prstGeom>
          <a:solidFill>
            <a:srgbClr val="0E69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873750"/>
            <a:ext cx="643890" cy="232833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873750"/>
            <a:ext cx="643890" cy="232833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873750"/>
            <a:ext cx="643890" cy="232833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873750"/>
            <a:ext cx="643890" cy="232833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873750"/>
            <a:ext cx="643890" cy="232833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873750"/>
            <a:ext cx="643890" cy="232833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873750"/>
            <a:ext cx="643890" cy="232833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873750"/>
            <a:ext cx="643890" cy="232833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873750"/>
            <a:ext cx="643890" cy="232833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873750"/>
            <a:ext cx="643890" cy="232833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873750"/>
            <a:ext cx="643890" cy="232833"/>
          </a:xfrm>
          <a:prstGeom prst="rect">
            <a:avLst/>
          </a:prstGeom>
          <a:solidFill>
            <a:srgbClr val="0D52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873750"/>
            <a:ext cx="643890" cy="232833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873750"/>
            <a:ext cx="643890" cy="232833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873750"/>
            <a:ext cx="643890" cy="232833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1065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butter-filled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106583"/>
            <a:ext cx="643890" cy="232833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106583"/>
            <a:ext cx="643890" cy="232833"/>
          </a:xfrm>
          <a:prstGeom prst="rect">
            <a:avLst/>
          </a:prstGeom>
          <a:solidFill>
            <a:srgbClr val="0D5D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106583"/>
            <a:ext cx="643890" cy="232833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106583"/>
            <a:ext cx="643890" cy="232833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106583"/>
            <a:ext cx="643890" cy="232833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106583"/>
            <a:ext cx="643890" cy="23283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106583"/>
            <a:ext cx="643890" cy="232833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106583"/>
            <a:ext cx="643890" cy="232833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106583"/>
            <a:ext cx="643890" cy="232833"/>
          </a:xfrm>
          <a:prstGeom prst="rect">
            <a:avLst/>
          </a:prstGeom>
          <a:solidFill>
            <a:srgbClr val="0C3B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106583"/>
            <a:ext cx="643890" cy="232833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106583"/>
            <a:ext cx="643890" cy="232833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106583"/>
            <a:ext cx="643890" cy="232833"/>
          </a:xfrm>
          <a:prstGeom prst="rect">
            <a:avLst/>
          </a:prstGeom>
          <a:solidFill>
            <a:srgbClr val="0C45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106583"/>
            <a:ext cx="643890" cy="232833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106583"/>
            <a:ext cx="643890" cy="232833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106583"/>
            <a:ext cx="643890" cy="232833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238125" y="63394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 and savoury-filled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857375" y="6339417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2501265" y="6339417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3145155" y="6339417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3789045" y="6339417"/>
            <a:ext cx="643890" cy="232833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4432935" y="6339417"/>
            <a:ext cx="643890" cy="232833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507682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5720715" y="6339417"/>
            <a:ext cx="643890" cy="23283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6364605" y="6339417"/>
            <a:ext cx="643890" cy="23283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7008495" y="6339417"/>
            <a:ext cx="643890" cy="23283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7652385" y="6339417"/>
            <a:ext cx="643890" cy="23283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8296275" y="6339417"/>
            <a:ext cx="643890" cy="23283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8940165" y="6339417"/>
            <a:ext cx="643890" cy="23283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9584055" y="6339417"/>
            <a:ext cx="643890" cy="23283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0227945" y="6339417"/>
            <a:ext cx="643890" cy="232833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0871835" y="6339417"/>
            <a:ext cx="643890" cy="23283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4514850"/>
            <a:ext cx="104775" cy="5810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4565332"/>
            <a:ext cx="104775" cy="5810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4615815"/>
            <a:ext cx="104775" cy="5810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4666298"/>
            <a:ext cx="104775" cy="5810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4716780"/>
            <a:ext cx="104775" cy="5810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4767262"/>
            <a:ext cx="104775" cy="5810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4817745"/>
            <a:ext cx="104775" cy="5810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4868228"/>
            <a:ext cx="104775" cy="5810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918710"/>
            <a:ext cx="104775" cy="5810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4969192"/>
            <a:ext cx="104775" cy="5810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019675"/>
            <a:ext cx="104775" cy="5810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070158"/>
            <a:ext cx="104775" cy="5810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120640"/>
            <a:ext cx="104775" cy="5810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171122"/>
            <a:ext cx="104775" cy="5810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221605"/>
            <a:ext cx="104775" cy="5810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5272088"/>
            <a:ext cx="104775" cy="5810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5322570"/>
            <a:ext cx="104775" cy="5810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5373052"/>
            <a:ext cx="104775" cy="5810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5423535"/>
            <a:ext cx="104775" cy="5810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5474018"/>
            <a:ext cx="104775" cy="5810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5524500"/>
            <a:ext cx="104775" cy="5810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5574982"/>
            <a:ext cx="104775" cy="5810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5625465"/>
            <a:ext cx="104775" cy="5810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5675948"/>
            <a:ext cx="104775" cy="5810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5726430"/>
            <a:ext cx="104775" cy="5810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1572875" y="5776912"/>
            <a:ext cx="104775" cy="5810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1572875" y="5827395"/>
            <a:ext cx="104775" cy="5810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5877878"/>
            <a:ext cx="104775" cy="5810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5928360"/>
            <a:ext cx="104775" cy="5810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5978842"/>
            <a:ext cx="104775" cy="5810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6029325"/>
            <a:ext cx="104775" cy="5810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6079808"/>
            <a:ext cx="104775" cy="5810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6130290"/>
            <a:ext cx="104775" cy="5810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6180772"/>
            <a:ext cx="104775" cy="5810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6231255"/>
            <a:ext cx="104775" cy="5810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6281738"/>
            <a:ext cx="104775" cy="5810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6332220"/>
            <a:ext cx="104775" cy="5810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6382702"/>
            <a:ext cx="104775" cy="5810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6433185"/>
            <a:ext cx="104775" cy="5810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6483668"/>
            <a:ext cx="104775" cy="5810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4514850"/>
            <a:ext cx="104775" cy="20193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TextBox 216"/>
          <p:cNvSpPr txBox="1"/>
          <p:nvPr/>
        </p:nvSpPr>
        <p:spPr>
          <a:xfrm>
            <a:off x="11687175" y="4448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11687175" y="54578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21" name="Picture 2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8831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Surface Finish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Surface Finish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Surface Finish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6 sub-segments of Surface Finish,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Surface Finish segment categorizes the market by surface finish.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57162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Nut and seed-topped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490788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5528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552825" y="1992961"/>
            <a:ext cx="157162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5909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Glazed / drizzled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5528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5528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5528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23875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238750" y="1992961"/>
            <a:ext cx="1571625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27685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Sugar-topped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23875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23875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23875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862638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92467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924675" y="1992961"/>
            <a:ext cx="1571625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96277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Untopped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92467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92467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92467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7548562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86106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8610600" y="1992961"/>
            <a:ext cx="1571625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6487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toppings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06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86106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86106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102965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10296525" y="1992961"/>
            <a:ext cx="1571625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103346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Crumb / streusel-topped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102965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102965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10920412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0" name="Rounded Rectangle 69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2" name="Rectangle 71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Surface Finish split shows how demand is distributed across surface finish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74" name="Rectangle 73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8" name="Picture 77" descr="1_166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4848" y="2286582"/>
            <a:ext cx="1195728" cy="361950"/>
          </a:xfrm>
          <a:prstGeom prst="rect">
            <a:avLst/>
          </a:prstGeom>
        </p:spPr>
      </p:pic>
      <p:pic>
        <p:nvPicPr>
          <p:cNvPr id="79" name="Picture 78" descr="1_972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4848" y="2779432"/>
            <a:ext cx="1195728" cy="361950"/>
          </a:xfrm>
          <a:prstGeom prst="rect">
            <a:avLst/>
          </a:prstGeom>
        </p:spPr>
      </p:pic>
      <p:pic>
        <p:nvPicPr>
          <p:cNvPr id="80" name="Picture 79" descr="5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61494" y="3272281"/>
            <a:ext cx="982436" cy="361950"/>
          </a:xfrm>
          <a:prstGeom prst="rect">
            <a:avLst/>
          </a:prstGeom>
        </p:spPr>
      </p:pic>
      <p:pic>
        <p:nvPicPr>
          <p:cNvPr id="81" name="Picture 80" descr="1_12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82" name="Picture 81" descr="1_720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83" name="Picture 82" descr="4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84" name="Picture 83" descr="406_9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26698" y="2286582"/>
            <a:ext cx="1195728" cy="361950"/>
          </a:xfrm>
          <a:prstGeom prst="rect">
            <a:avLst/>
          </a:prstGeom>
        </p:spPr>
      </p:pic>
      <p:pic>
        <p:nvPicPr>
          <p:cNvPr id="85" name="Picture 84" descr="476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26698" y="2779432"/>
            <a:ext cx="1195728" cy="361950"/>
          </a:xfrm>
          <a:prstGeom prst="rect">
            <a:avLst/>
          </a:prstGeom>
        </p:spPr>
      </p:pic>
      <p:pic>
        <p:nvPicPr>
          <p:cNvPr id="86" name="Picture 85" descr="1_6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533344" y="3272281"/>
            <a:ext cx="982436" cy="361950"/>
          </a:xfrm>
          <a:prstGeom prst="rect">
            <a:avLst/>
          </a:prstGeom>
        </p:spPr>
      </p:pic>
      <p:pic>
        <p:nvPicPr>
          <p:cNvPr id="87" name="Picture 86" descr="334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112623" y="2286582"/>
            <a:ext cx="1195728" cy="361950"/>
          </a:xfrm>
          <a:prstGeom prst="rect">
            <a:avLst/>
          </a:prstGeom>
        </p:spPr>
      </p:pic>
      <p:pic>
        <p:nvPicPr>
          <p:cNvPr id="88" name="Picture 87" descr="374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12623" y="2779432"/>
            <a:ext cx="1195728" cy="361950"/>
          </a:xfrm>
          <a:prstGeom prst="rect">
            <a:avLst/>
          </a:prstGeom>
        </p:spPr>
      </p:pic>
      <p:pic>
        <p:nvPicPr>
          <p:cNvPr id="89" name="Picture 88" descr="1_1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219269" y="3272281"/>
            <a:ext cx="982436" cy="361950"/>
          </a:xfrm>
          <a:prstGeom prst="rect">
            <a:avLst/>
          </a:prstGeom>
        </p:spPr>
      </p:pic>
      <p:pic>
        <p:nvPicPr>
          <p:cNvPr id="90" name="Picture 89" descr="305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91" name="Picture 90" descr="514_5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92" name="Picture 91" descr="5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93" name="Picture 92" descr="256_2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484473" y="2286582"/>
            <a:ext cx="1195728" cy="361950"/>
          </a:xfrm>
          <a:prstGeom prst="rect">
            <a:avLst/>
          </a:prstGeom>
        </p:spPr>
      </p:pic>
      <p:pic>
        <p:nvPicPr>
          <p:cNvPr id="94" name="Picture 93" descr="296_6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84473" y="2779432"/>
            <a:ext cx="1195728" cy="361950"/>
          </a:xfrm>
          <a:prstGeom prst="rect">
            <a:avLst/>
          </a:prstGeom>
        </p:spPr>
      </p:pic>
      <p:pic>
        <p:nvPicPr>
          <p:cNvPr id="95" name="Picture 94" descr="1_5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591119" y="3272281"/>
            <a:ext cx="982436" cy="36195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9367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245292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931217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617142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30306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988992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28857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'Nut and seed-topped' holds the largest share in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4615009"/>
            <a:ext cx="2682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'Nut and seed-topped' is the fastest-growing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5386153"/>
            <a:ext cx="25798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6 sub-segments make up the surface finish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838575" y="4229437"/>
            <a:ext cx="14374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Nut and seed-topped: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224083" y="4219658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539157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251029" y="4219658"/>
            <a:ext cx="128699" cy="187198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6418524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838575" y="4615009"/>
            <a:ext cx="11719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Glazed / drizzled: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958598" y="4605230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5126094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985544" y="4605230"/>
            <a:ext cx="128699" cy="187198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6153040" y="461500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3838575" y="4832941"/>
            <a:ext cx="10017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Sugar-topped: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788339" y="4823162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4955834" y="483294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815285" y="4823162"/>
            <a:ext cx="128699" cy="187198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5982780" y="483294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3838575" y="5050872"/>
            <a:ext cx="8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Untopped: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589703" y="5041093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4757198" y="5050872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16649" y="5041093"/>
            <a:ext cx="128699" cy="187198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5784145" y="5050872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838575" y="5268804"/>
            <a:ext cx="1085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toppings: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872377" y="5259025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5039873" y="5268804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899323" y="5259025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6066819" y="5268804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838575" y="5486736"/>
            <a:ext cx="16314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Crumb / streusel-topped: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18080" y="5476957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5585576" y="5486736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445026" y="5476957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6612522" y="5486736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838575" y="5654377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8524875" y="5842641"/>
            <a:ext cx="3133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Surface Finish segment is projected to grow at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Surface Finish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Surface Finish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Surface Finish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Surface Finish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8096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'Nut and seed-topped'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14856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6182352" y="5861685"/>
            <a:ext cx="18933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'Sugar-topped'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23795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191291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Surface Finish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Surface Finish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Untopped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Crumb / streusel-topped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Sugar-topped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Nut and seed-topped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Surface Finish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Surface Finish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Glazed / drizzled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Other toppings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Surface Finish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305550" y="1400175"/>
            <a:ext cx="30371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6 sub-segments, by surface finish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91839" y="13899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466948" y="1400175"/>
            <a:ext cx="23006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North America market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1575435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1803273"/>
            <a:ext cx="18017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56404" y="179304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8231514" y="180327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803985" y="17930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8979094" y="180327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031111"/>
            <a:ext cx="15241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'Glazed / drizzled'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778852" y="202088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953962" y="203111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26432" y="202088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701542" y="2031111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2258949"/>
            <a:ext cx="14340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toppings'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688712" y="2248725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863821" y="225894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36292" y="224872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611402" y="2258949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2486787"/>
            <a:ext cx="17246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'Untopped' adds the least: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79386" y="2476563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154495" y="248678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26966" y="2476563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902075" y="2486787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5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Surface Finish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Surface Finish,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Surface Finish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67002"/>
                <a:gridCol w="549861"/>
                <a:gridCol w="549861"/>
                <a:gridCol w="549861"/>
                <a:gridCol w="549861"/>
                <a:gridCol w="549861"/>
                <a:gridCol w="549861"/>
                <a:gridCol w="549861"/>
                <a:gridCol w="661227"/>
                <a:gridCol w="661227"/>
                <a:gridCol w="661227"/>
                <a:gridCol w="661227"/>
                <a:gridCol w="661227"/>
                <a:gridCol w="661227"/>
                <a:gridCol w="661227"/>
                <a:gridCol w="661227"/>
                <a:gridCol w="661227"/>
                <a:gridCol w="52012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Surface Finish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92809" y="208045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29758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'Glazed / drizzled' is the largest surface finish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01184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376294" y="39719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6027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581136" y="39719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3120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7399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12508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28211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'Nut and seed-topped'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6577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221686" y="4427600"/>
            <a:ext cx="22917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'Sugar-topped'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2607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637716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6554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6 categories.</a:t>
            </a:r>
          </a:p>
        </p:txBody>
      </p:sp>
    </p:spTree>
  </p:cSld>
  <p:clrMapOvr>
    <a:masterClrMapping/>
  </p:clrMapOvr>
</p:sld>
</file>

<file path=ppt/slides/slide3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Surface Finish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Surface Finish,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Surface Finish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19130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Surface Finish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68877" y="208045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253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is the largest surface finish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8736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653846" y="39719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9778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734888" y="39719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3120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7399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12508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28211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'Nut and seed-topped'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6577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221686" y="4427600"/>
            <a:ext cx="22917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'Sugar-topped'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2607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637716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6554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6 categories.</a:t>
            </a:r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Surface Finish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Surface Finish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Surface Finish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97944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9318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1698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Crumb / streusel-topped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7889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084492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07972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00352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Untopped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06544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447633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44287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36667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Sugar-topped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42858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2870633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2865870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278967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toppings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285158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82489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5090922" y="382013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74393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Glazed / drizzled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80584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5401539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539677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532057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Nut and seed-topped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538248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Surface Finish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829550" y="1400175"/>
            <a:ext cx="28582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gains the most share +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36985" y="1389951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0812094" y="1400175"/>
            <a:ext cx="856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1575435"/>
            <a:ext cx="23134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1803273"/>
            <a:ext cx="2049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'Sugar-topped' cedes the most -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828005" y="1793049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0003114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206371"/>
            <a:ext cx="37756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is the fastest-growing surface finish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554361" y="2196147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4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Surface Finish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Surface Finish,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Surface Finish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62417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Surface Finish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Untopped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Crumb / streusel-topped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Sugar-topped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 and seed-topped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13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0B30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0B35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Glazed / drizzled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toppings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0C3F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0C41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0C43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0522" y="1956627"/>
            <a:ext cx="366712" cy="533400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678301"/>
            <a:ext cx="128699" cy="187198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5059426"/>
            <a:ext cx="128699" cy="187198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3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Surface Finish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Surface Finish,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Surface Finish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8323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Surface Finish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Untopped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Crumb / streusel-topped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Sugar-topped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 and seed-topped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13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0B30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0B35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Glazed / drizzled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toppings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0C3F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0C41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0C43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8467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Individual Muffin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Individual Muffin Size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Individual Muffin Size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Individual Muffin Size,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Individual Muffin Size segment categorizes the market by individual muffin size.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Standard - 60 g to below 100 g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Small - 30 g to below 60 g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Mini / bite-sized - below 30 g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Individual Muffin Size split shows how demand is distributed across individual muffin size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1_594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2_37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4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979_2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1_190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2_0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843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1_475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180_3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316_9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'Standard - 60 g to below 100 g' holds the largest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2090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'Mini / bite-sized - below 30 g' is the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27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individual muffin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5721433"/>
            <a:ext cx="9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size landscape.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229437"/>
            <a:ext cx="19632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Standard - 60 g to below 100 g: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749868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591736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776814" y="4219658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6944309" y="4229437"/>
            <a:ext cx="723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838575" y="4615009"/>
            <a:ext cx="1685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Small - 30 g to below 60 g: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472105" y="4605230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5639600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499051" y="4605230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6666546" y="4615009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3838575" y="4782649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838575" y="5000581"/>
            <a:ext cx="20620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Large / jumbo - 100 g and above: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48640" y="4990801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6016136" y="500058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875586" y="4990801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7043082" y="5000581"/>
            <a:ext cx="7872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838575" y="5168221"/>
            <a:ext cx="5176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niche.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838575" y="5386153"/>
            <a:ext cx="1879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Mini / bite-sized - below 30 g: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666375" y="5376373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5833871" y="538615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693321" y="5376373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6860817" y="5386153"/>
            <a:ext cx="7697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3838575" y="5553793"/>
            <a:ext cx="4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8524875" y="5842641"/>
            <a:ext cx="31138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Individual Muffin Size segment is projected to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Individual Muffin Size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Individual Muffin Size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Individual Muffin Size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Individual Muffin Size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64341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'Large / jumbo - 100 g and above'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39413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6806909" y="5861685"/>
            <a:ext cx="25771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'Small - 30 g to below 60 g'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32118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9499614" y="5861685"/>
            <a:ext cx="2182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25184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Individual Muffin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Individual Muffin Size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Mini / bite-sized - below 30 g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Small - 30 g to below 60 g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Standard - 60 g to below 100 g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Large / jumbo - 100 g and above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Individual Muffin Size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Individual Muffin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43125"/>
          </a:xfrm>
          <a:prstGeom prst="roundRect">
            <a:avLst>
              <a:gd name="adj" fmla="val 3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Individual Muffin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6764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85105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418171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24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257550"/>
            <a:ext cx="11906250" cy="3371850"/>
          </a:xfrm>
          <a:prstGeom prst="roundRect">
            <a:avLst>
              <a:gd name="adj" fmla="val 22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43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Individual Muffin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581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667125"/>
            <a:ext cx="11639550" cy="2886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01865" y="202920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676650"/>
            <a:ext cx="42711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'Standard - 60 g to below 100 g' is the largest individual muffin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96522" y="3666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671632" y="36766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01365" y="3666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876474" y="36766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04487"/>
            <a:ext cx="27744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'Mini / bite-sized - below 30 g'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9795" y="3894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174904" y="39044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32325"/>
            <a:ext cx="3474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'Large / jumbo - 100 g and above'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9523" y="4122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74632" y="4132325"/>
            <a:ext cx="30066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'Small - 30 g to below 60 g'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0400" y="4122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005509" y="4132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3601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49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360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49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3601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3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Individual Muffin Size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Individual Muffin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Individual Muffin Size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156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Individual Muffin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7110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42711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'Standard - 60 g to below 100 g' is the largest individual muffin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96522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671632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77564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752674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27744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'Mini / bite-sized - below 30 g'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9795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174904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474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'Large / jumbo - 100 g and above'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9523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74632" y="3941825"/>
            <a:ext cx="30066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'Small - 30 g to below 60 g'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0400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005509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Individual Muffin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Individual Muffin Size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Individual Muffin Size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06607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0184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2564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Mini / bite-sized - below 30 g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8755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450347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44558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36938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Small - 30 g to below 60 g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43129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588578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358381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50761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56952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231029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522626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15006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Standard - 60 g to below 100 g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21197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Individual Muffin Size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35112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'Large / jumbo - 100 g and above'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89931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465040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2764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'Small - 30 g to below 60 g'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542851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717960" y="1803273"/>
            <a:ext cx="8298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38740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'Mini / bite-sized - below 30 g' is the fastest-growing individual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381631"/>
            <a:ext cx="8751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muffin size at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53900" y="2371407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82900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Individual Muffin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Individual Muffin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Individual Muffin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03190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Individual Muffin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Mini / bite-sized - below 30 g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1A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Small - 30 g to below 60 g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- 60 g to below 100 g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71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1F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0904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Individual Muffin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Individual Muffin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Individual Muffin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03190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Individual Muffin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Mini / bite-sized - below 30 g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Small - 30 g to below 60 g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- 60 g to below 100 g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71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71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71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1F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0904" y="1713738"/>
            <a:ext cx="366712" cy="533400"/>
          </a:xfrm>
          <a:prstGeom prst="rect">
            <a:avLst/>
          </a:prstGeom>
        </p:spPr>
      </p:pic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192526"/>
            <a:ext cx="128699" cy="187198"/>
          </a:xfrm>
          <a:prstGeom prst="rect">
            <a:avLst/>
          </a:prstGeom>
        </p:spPr>
      </p:pic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816538"/>
            <a:ext cx="128699" cy="187198"/>
          </a:xfrm>
          <a:prstGeom prst="rect">
            <a:avLst/>
          </a:prstGeom>
        </p:spPr>
      </p:pic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3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Storage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Storage Format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Storage Format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Storage Format,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Storage Format segment categorizes the market by storage format.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Frozen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Chilled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Ambient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Storage Format split shows how demand is distributed across storage format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2_04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2_72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2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1_19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2_01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5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355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609_6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5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3779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'Frozen' holds the largest share in 2026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811802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2979298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8753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'Ambient' is the fastest-growing sub-segment 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72307" y="477287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639803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85775" y="5386153"/>
            <a:ext cx="26732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storage format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838575" y="4229437"/>
            <a:ext cx="614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Frozen: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400889" y="4219658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456838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427835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595331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838575" y="4447369"/>
            <a:ext cx="6169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Chilled: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403618" y="4437590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57111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430564" y="443759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5598060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3838575" y="4665301"/>
            <a:ext cx="7174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Ambient: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504027" y="465552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4671523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530973" y="4655522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698469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Storage Format segment is projected to grow at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Storage Format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Storage Format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Storage Format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Storage Format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945505"/>
            <a:ext cx="49891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'Chilled'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94391" y="5935726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361887" y="5945505"/>
            <a:ext cx="1505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'Frozen'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815881" y="5935726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983377" y="5945505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5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Storage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Storage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Ambient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Chilled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Frozen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Storage Format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1346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storage format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89396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564505" y="4286250"/>
            <a:ext cx="1841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North America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20130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9439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'Chilled'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98646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373755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46226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121335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941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'Frozen'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95793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37090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43373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11848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10489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'Ambient'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303619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7478729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51199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226309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Storage Format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Storage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895475"/>
          </a:xfrm>
          <a:prstGeom prst="roundRect">
            <a:avLst>
              <a:gd name="adj" fmla="val 402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Storage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4287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1583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693420"/>
                <a:gridCol w="693420"/>
                <a:gridCol w="693420"/>
                <a:gridCol w="693420"/>
                <a:gridCol w="693420"/>
                <a:gridCol w="693420"/>
                <a:gridCol w="693420"/>
                <a:gridCol w="693420"/>
                <a:gridCol w="693420"/>
                <a:gridCol w="549237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6765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09900"/>
            <a:ext cx="11906250" cy="3619500"/>
          </a:xfrm>
          <a:prstGeom prst="roundRect">
            <a:avLst>
              <a:gd name="adj" fmla="val 210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0956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Storage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337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19475"/>
            <a:ext cx="11639550" cy="31337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7228" y="1905381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29000"/>
            <a:ext cx="24903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'Frozen' is the largest storage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15682" y="34187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90792" y="34290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0524" y="34187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095634" y="34290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656837"/>
            <a:ext cx="15592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'Ambient'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84613" y="36466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959723" y="36568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884675"/>
            <a:ext cx="1963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'Chilled'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818" y="38744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363928" y="3884675"/>
            <a:ext cx="1886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'Frozen'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99788" y="38744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374897" y="38846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125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1022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1125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1022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1125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3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Storage Format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Storage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Storage Format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74586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Storage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96605" y="1713738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24903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'Frozen' is the largest storage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15682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90792" y="323850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96724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71834" y="323850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15592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'Ambient'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84613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959723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1963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'Chilled'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8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363928" y="3694175"/>
            <a:ext cx="1886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'Frozen'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99788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374897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3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Storage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Storage Format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Storage Format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931594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92683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5063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Ambient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1254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3053483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304872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97252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Chilled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303443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507933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507457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99837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Frozen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506028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Storage Format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20005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'Chilled'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79226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954336" y="1400175"/>
            <a:ext cx="1772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1397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16442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'Frozen'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422944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598053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031111"/>
            <a:ext cx="31204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'Ambient' is the fastest-growing storage format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99133" y="202088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074242" y="203111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829550" y="220637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43420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42398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43420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42398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43420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6204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Storage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Storage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Storage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89750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Storage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Ambient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30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Chilled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3B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Frozen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DDEB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54187" y="1589913"/>
            <a:ext cx="366712" cy="533400"/>
          </a:xfrm>
          <a:prstGeom prst="rect">
            <a:avLst/>
          </a:prstGeom>
        </p:spPr>
      </p:pic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2944876"/>
            <a:ext cx="128699" cy="187198"/>
          </a:xfrm>
          <a:prstGeom prst="rect">
            <a:avLst/>
          </a:prstGeom>
        </p:spPr>
      </p:pic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692714"/>
            <a:ext cx="128699" cy="187198"/>
          </a:xfrm>
          <a:prstGeom prst="rect">
            <a:avLst/>
          </a:prstGeom>
        </p:spPr>
      </p:pic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3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Storage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Storage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Storage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89750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Storage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Ambient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Chilled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Frozen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54187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Shelf Life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Shelf Life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Shelf Life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Shelf Life,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Shelf Life segment categorizes the market by shelf life.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Up to 7 days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8-30 days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31-90 days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More than 90 days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Shelf Life split shows how demand is distributed across shelf life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2_0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3_099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4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667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799_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1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480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816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5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438_3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638_2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3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7010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'Up to 7 days'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134858" y="421965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485775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615009"/>
            <a:ext cx="2858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'31-90 days' is the fastest-growing sub-segment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38615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shelf life landscape.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3838575" y="4229437"/>
            <a:ext cx="9373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Up to 7 days: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23946" y="4219658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489144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750892" y="4219658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918387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838575" y="4447369"/>
            <a:ext cx="7749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8-30 days: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561599" y="4437590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4729095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88545" y="4437590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5756041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838575" y="4665301"/>
            <a:ext cx="8459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31-90 days: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32540" y="4655522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4800036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59486" y="4655522"/>
            <a:ext cx="128699" cy="187198"/>
          </a:xfrm>
          <a:prstGeom prst="rect">
            <a:avLst/>
          </a:prstGeom>
        </p:spPr>
      </p:pic>
      <p:sp>
        <p:nvSpPr>
          <p:cNvPr id="108" name="TextBox 107"/>
          <p:cNvSpPr txBox="1"/>
          <p:nvPr/>
        </p:nvSpPr>
        <p:spPr>
          <a:xfrm>
            <a:off x="5826982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838575" y="4883233"/>
            <a:ext cx="12966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More than 90 days: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083291" y="4873454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5250787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110237" y="4873454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6277733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8524875" y="5842641"/>
            <a:ext cx="295298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Shelf Life segment is projected to grow at a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Shelf Life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Shelf Life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Shelf Life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Shelf Life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266825"/>
          <a:ext cx="5210175" cy="39814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3094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'Up to 7 days'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14719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682215" y="5861685"/>
            <a:ext cx="16666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'8-30 days'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96918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464414" y="5861685"/>
            <a:ext cx="4138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266825"/>
            <a:ext cx="5210175" cy="39814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Shelf Life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Shelf Life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Up to 7 days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8-30 days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31-90 days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More than 90 days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Shelf Life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Shelf Life,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Shelf Life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26486"/>
                <a:gridCol w="569818"/>
                <a:gridCol w="569818"/>
                <a:gridCol w="569818"/>
                <a:gridCol w="569818"/>
                <a:gridCol w="569818"/>
                <a:gridCol w="569818"/>
                <a:gridCol w="569818"/>
                <a:gridCol w="681327"/>
                <a:gridCol w="681327"/>
                <a:gridCol w="681327"/>
                <a:gridCol w="681327"/>
                <a:gridCol w="681327"/>
                <a:gridCol w="681327"/>
                <a:gridCol w="681327"/>
                <a:gridCol w="681327"/>
                <a:gridCol w="681327"/>
                <a:gridCol w="54004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Shelf Life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2552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24435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'Up to 7 days' is the largest shelf life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8901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44010" y="34861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73743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048852" y="34861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16935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'31-90 days'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18968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94077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2298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'Up to 7 days'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23706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98816" y="3941825"/>
            <a:ext cx="20547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'8-30 days'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02691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877800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1696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3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Shelf Life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Shelf Life,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Shelf Life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77045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Shelf Life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97829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24435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'Up to 7 days' is the largest shelf life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8901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44010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9943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25052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16935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'31-90 days'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18968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94077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2298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'Up to 7 days'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23706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98816" y="3941825"/>
            <a:ext cx="20547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'8-30 days'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02691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877800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3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Shelf Life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Shelf Life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Shelf Life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943827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93906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6286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More than 90 days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2477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557762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55299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47679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8-30 days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53871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247964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324320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16700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31-90 days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22891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4920219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491545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483925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Up to 7 days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490116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Shelf Life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23354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'Up to 7 days'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14114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289224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1812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'8-30 days'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90959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766068" y="1803273"/>
            <a:ext cx="19631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(red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2313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28702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'31-90 days' is the fastest-growing shelf life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48965" y="2196147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0824075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Shelf Life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Shelf Life,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Shelf Life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09262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Shelf Life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7 days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32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8-30 days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31-90 days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0B2E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More than 90 days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3944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Shelf Life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Shelf Life,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Shelf Life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09262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Shelf Life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7 days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32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3086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8-30 days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E6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31-90 days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1E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0B30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0B32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More than 90 days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6B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B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3944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Packaging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Packaging Format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Packaging Format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Packaging Format,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Packaging Format segment categorizes the market by packaging format.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Rigid plastic packs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Paperboard packs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Flexible packs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packaging formats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Packaging Format split shows how demand is distributed across packaging format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1_71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2_61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4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1_302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1_71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2_8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434_7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729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5_3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147_9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301_7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7_4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7034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'Rigid plastic packs' holds the largest share in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8813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'Other packaging formats' is the fastest-growing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2" name="TextBox 91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86153"/>
            <a:ext cx="28139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packaging format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229437"/>
            <a:ext cx="12551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Rigid plastic packs: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041818" y="4219658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209314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068764" y="4219658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236260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4447369"/>
            <a:ext cx="12459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Paperboard packs: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032541" y="4437590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5200037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059487" y="4437590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6226983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838575" y="4665301"/>
            <a:ext cx="10126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Flexible packs:</a:t>
            </a:r>
          </a:p>
        </p:txBody>
      </p:sp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4799253" y="4655522"/>
            <a:ext cx="128699" cy="187198"/>
          </a:xfrm>
          <a:prstGeom prst="rect">
            <a:avLst/>
          </a:prstGeom>
        </p:spPr>
      </p:pic>
      <p:sp>
        <p:nvSpPr>
          <p:cNvPr id="108" name="TextBox 107"/>
          <p:cNvSpPr txBox="1"/>
          <p:nvPr/>
        </p:nvSpPr>
        <p:spPr>
          <a:xfrm>
            <a:off x="4966748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26199" y="4655522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5993695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3838575" y="4883233"/>
            <a:ext cx="16360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packaging formats: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422718" y="4873454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559021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449665" y="4873454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6617160" y="4883233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Packaging Format segment is projected to grow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Packaging Format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Packaging Format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Packaging Format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Packaging Format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3847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'Flexible packs'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90026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757522" y="5861685"/>
            <a:ext cx="21375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'Paperboard packs'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843167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010663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Packaging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Packaging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Flexible packs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Rigid plastic packs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Paperboard packs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Other packaging formats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Packaging Format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Packaging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867150"/>
          </a:xfrm>
          <a:prstGeom prst="roundRect">
            <a:avLst>
              <a:gd name="adj" fmla="val 197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Packaging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34004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4591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645795"/>
                <a:gridCol w="645795"/>
                <a:gridCol w="645795"/>
                <a:gridCol w="645795"/>
                <a:gridCol w="645795"/>
                <a:gridCol w="645795"/>
                <a:gridCol w="645795"/>
                <a:gridCol w="645795"/>
                <a:gridCol w="645795"/>
                <a:gridCol w="452485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48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981575"/>
            <a:ext cx="11906250" cy="1647825"/>
          </a:xfrm>
          <a:prstGeom prst="roundRect">
            <a:avLst>
              <a:gd name="adj" fmla="val 46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0673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Packaging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3054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391150"/>
            <a:ext cx="11639550" cy="1162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605" y="289122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400675"/>
            <a:ext cx="33075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'Rigid plastic packs' is the largest packaging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935" y="53904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708044" y="54006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37777" y="53904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912886" y="54006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628513"/>
            <a:ext cx="25196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packaging formats'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45063" y="56182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20173" y="56285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856350"/>
            <a:ext cx="30288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'Other packaging formats'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4242" y="58461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429351" y="5856350"/>
            <a:ext cx="25470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'Paperboard packs'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25574" y="58461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100683" y="58563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60841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60739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60841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60739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60841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3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Packaging Format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Packaging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Packaging Format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1620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781550"/>
            <a:ext cx="11906250" cy="1847850"/>
          </a:xfrm>
          <a:prstGeom prst="roundRect">
            <a:avLst>
              <a:gd name="adj" fmla="val 41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867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Packaging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105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191125"/>
            <a:ext cx="11639550" cy="1362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7416" y="269481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200650"/>
            <a:ext cx="33075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'Rigid plastic packs' is the largest packaging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935" y="5190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708044" y="52006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3977" y="5190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789086" y="52006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428488"/>
            <a:ext cx="25196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packaging formats'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45063" y="5418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20173" y="542848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656325"/>
            <a:ext cx="23770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'Flexible packs'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02436" y="5646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77546" y="5656325"/>
            <a:ext cx="25470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'Paperboard packs'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73769" y="5646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448878" y="5656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8841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873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884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873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8841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3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Packaging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Packaging Format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Packaging Format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00082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79531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1911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packaging formats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8103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24033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23557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15937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Flexible packs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2128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28316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327840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20220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Paperboard packs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26411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129099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512433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04813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Rigid plastic packs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11004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Packaging Format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24141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'Flexible packs'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92844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367954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23046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'Paperboard packs'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83307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258416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packaging formats' is the fastest-growing packaging format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381631"/>
            <a:ext cx="1951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73854" y="2371407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148964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Packaging Format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Packaging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Packaging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96965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07794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Packaging Format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Packaging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Packaging Format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Flexible packs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7F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Flow-wrap packs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Pouches and bags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C8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Rigid plastic packs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Trays with sealed film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Clamshell containers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Tubs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Paperboard packs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E2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D8E8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Cartons with inner wrapping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Windowed cartons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packaging formats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0D5D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0D62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0C39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3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Packaging Format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Packaging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Packaging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96965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07794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Packaging Format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Packaging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Packaging Format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Flexible packs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57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51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Flow-wrap packs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Pouches and bags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Rigid plastic packs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Trays with sealed film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Clamshell containers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Tubs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E6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Paperboard packs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D6E6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Cartons with inner wrapping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92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Windowed cartons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DF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packaging formats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0D62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3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Configuration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Configuration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Pack Configuration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Pack Configuration,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Pack Configuration segment categorizes the market by pack configuration.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Multipacks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Single-muffin packs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Bulk foodservice packs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Pack Configuration split shows how demand is distributed across pack configuration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1_92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12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5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1_121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1_561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3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555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666_7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1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6150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'Multipacks' holds the largest share in 2026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048910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485775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4615009"/>
            <a:ext cx="28639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'Multipacks' is the fastest-growing sub-segment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85775" y="5386153"/>
            <a:ext cx="2881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pack configuration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838575" y="4229437"/>
            <a:ext cx="8513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Multipacks: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637997" y="4219658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480549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64943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832439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838575" y="4447369"/>
            <a:ext cx="13345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Single-muffin packs: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121218" y="4437590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5288713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148164" y="443759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6315659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3838575" y="4665301"/>
            <a:ext cx="15160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Bulk foodservice packs: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302664" y="465552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5470160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29610" y="4655522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6497106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8524875" y="5842641"/>
            <a:ext cx="29421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Pack Configuration segment is projected to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Pack Configuration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Pack Configuration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Configuration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Pack Configuration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2235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'Multipacks'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428771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596267" y="5861685"/>
            <a:ext cx="24077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'Bulk foodservice packs'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52035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119531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Pack Configuration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Pack Configuration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Single-muffin packs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Multipacks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Bulk foodservice packs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Pack Configuration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3526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pack configuration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607330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782439" y="4286250"/>
            <a:ext cx="1841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North America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20130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11889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43679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618788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91259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366368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16941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'Single-muffin packs'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48864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12397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96444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87155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1883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'Bulk foodservice packs'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38557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313667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86138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061247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Pack Configuration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 Configuration,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Pack Configuration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04316"/>
                <a:gridCol w="553201"/>
                <a:gridCol w="553201"/>
                <a:gridCol w="553201"/>
                <a:gridCol w="553201"/>
                <a:gridCol w="553201"/>
                <a:gridCol w="553201"/>
                <a:gridCol w="553201"/>
                <a:gridCol w="665243"/>
                <a:gridCol w="665243"/>
                <a:gridCol w="665243"/>
                <a:gridCol w="665243"/>
                <a:gridCol w="665243"/>
                <a:gridCol w="665243"/>
                <a:gridCol w="665243"/>
                <a:gridCol w="665243"/>
                <a:gridCol w="665243"/>
                <a:gridCol w="52328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Pack Configuration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1464" y="2204276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29561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is the largest pack configuration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1502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356611" y="42195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86344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561453" y="42195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1699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24673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99782" y="44474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2208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'Multipacks'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3851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08961" y="4675250"/>
            <a:ext cx="28294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'Bulk foodservice packs'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87585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562695" y="46752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9030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9030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3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Pack Configuration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Pack Configuration,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Pack Configuration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52966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Pack Configuration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35795" y="220427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29561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is the largest pack configuration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1502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356611" y="42195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62544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37653" y="42195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1699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24673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99782" y="44474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2208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'Multipacks'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3851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08961" y="4675250"/>
            <a:ext cx="28294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'Bulk foodservice packs'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87585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562695" y="46752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9030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9030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4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Pack Configuration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Pack Configuration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Pack Configuration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95596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95120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7500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Bulk foodservice packs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3691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907202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90244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82624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Single-muffin packs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88815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908681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490391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82771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Multipacks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88963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Pack Configuration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2245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24259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199369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25870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'Bulk foodservice packs'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65708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540818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34784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is the fastest-growing pack configuration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57127" y="219614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1432236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3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Pack Configuration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 Configuration,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Pack Configuration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7120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Pack Configuration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Single-muffin packs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BA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Multipacks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2-4 muffins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0D64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C44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5-8 muffins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9-12 muffins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5A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59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More than 12 muffins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Bulk foodservice packs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2867" y="2080450"/>
            <a:ext cx="366712" cy="533399"/>
          </a:xfrm>
          <a:prstGeom prst="rect">
            <a:avLst/>
          </a:prstGeom>
        </p:spPr>
      </p:pic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925951"/>
            <a:ext cx="128699" cy="187198"/>
          </a:xfrm>
          <a:prstGeom prst="rect">
            <a:avLst/>
          </a:prstGeom>
        </p:spPr>
      </p:pic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5183251"/>
            <a:ext cx="128699" cy="187198"/>
          </a:xfrm>
          <a:prstGeom prst="rect">
            <a:avLst/>
          </a:prstGeom>
        </p:spPr>
      </p:pic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4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Pack Configuration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 Configuration,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Pack Configuration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7120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Pack Configuration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Single-muffin packs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BA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BED5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Multipacks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4C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2-4 muffins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C3B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5-8 muffins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2982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9-12 muffins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More than 12 muffins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Bulk foodservice packs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2867" y="2080450"/>
            <a:ext cx="366712" cy="533399"/>
          </a:xfrm>
          <a:prstGeom prst="rect">
            <a:avLst/>
          </a:prstGeom>
        </p:spPr>
      </p:pic>
    </p:spTree>
  </p:cSld>
  <p:clrMapOvr>
    <a:masterClrMapping/>
  </p:clrMapOvr>
</p:sld>
</file>

<file path=ppt/slides/slide4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Multipack Wrapping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Multipack Wrapping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Multipack Wrapping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Multipack Wrapping,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Multipack Wrapping segment categorizes the market by multipack wrapping.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Individually wrapped muffins with…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Shared pack without individual wr…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Multipack Wrapping split shows how demand is distributed across multipack wrapping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1_959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2_97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4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1_63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2_38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3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743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'Individually wrapped muffins within an outer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85775" y="4397077"/>
            <a:ext cx="2144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pack' holds the largest share in 2026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78241" y="4387298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2745737" y="439707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56471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85775" y="4782649"/>
            <a:ext cx="2743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'Individually wrapped muffins within an outer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85775" y="4950289"/>
            <a:ext cx="25386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pack' is the fastest-growing sub-segment at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972511" y="4940509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485775" y="511792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85775" y="533586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532608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407947" y="533586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5326081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2720294" y="533586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550350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572143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multipack wrapping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588907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3838575" y="4229437"/>
            <a:ext cx="31616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B2E4A"/>
                </a:solidFill>
                <a:latin typeface="Calibri"/>
              </a:rPr>
              <a:t>● Individually wrapped muffins within an outer pack: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48232" y="4219658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7115727" y="4229437"/>
            <a:ext cx="5108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B2E4A"/>
                </a:solidFill>
                <a:latin typeface="Calibri"/>
              </a:rPr>
              <a:t>of 2026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838575" y="4397077"/>
            <a:ext cx="4601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B2E4A"/>
                </a:solidFill>
                <a:latin typeface="Calibri"/>
              </a:rPr>
              <a:t>value ·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46728" y="4387298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414224" y="4397077"/>
            <a:ext cx="15332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B2E4A"/>
                </a:solidFill>
                <a:latin typeface="Calibri"/>
              </a:rPr>
              <a:t>CAGR leads the segment.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838575" y="4615009"/>
            <a:ext cx="2547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Shared pack without individual wrapping: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334316" y="4605230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6501811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361262" y="4605230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3838575" y="478264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524875" y="5842641"/>
            <a:ext cx="3036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Multipack Wrapping segment is projected to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Multipack Wrapping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Multipack Wrapping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Multipack Wrapping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Multipack Wrapping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7451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'Individually wrapped muffins within an outer pack'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656877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7824373" y="5861685"/>
            <a:ext cx="34393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'Shared pack without individual wrapping'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11792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11379288" y="5861685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43768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Bubbles 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Multipack Wrapping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Multipack Wrapping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Individually wrapped muffins within an outer pack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Shared pack without individual wrapping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7556" y="3674659"/>
            <a:ext cx="395643" cy="57548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6881" y="3674659"/>
            <a:ext cx="395643" cy="57548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Multipack Wrapping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Multipack Wrapping,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038350"/>
          </a:xfrm>
          <a:prstGeom prst="roundRect">
            <a:avLst>
              <a:gd name="adj" fmla="val 373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Multipack Wrapping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15716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12457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4183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within an outer pack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4183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wrapping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90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819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152775"/>
            <a:ext cx="11906250" cy="3476625"/>
          </a:xfrm>
          <a:prstGeom prst="roundRect">
            <a:avLst>
              <a:gd name="adj" fmla="val 219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2385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Multipack Wrapping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476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562350"/>
            <a:ext cx="11639550" cy="29908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5542" y="197681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571875"/>
            <a:ext cx="48005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'Shared pack without individual wrapping' is the largest multipack wrapping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5954" y="35616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201063" y="35718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30796" y="35616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405905" y="35718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99712"/>
            <a:ext cx="40286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54057" y="37894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4429166" y="37997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027550"/>
            <a:ext cx="4537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'Individually wrapped muffins within an outer pack'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63235" y="40173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938344" y="4027550"/>
            <a:ext cx="39080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'Shared pack without individual wrapping'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95514" y="40173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970623" y="40275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2553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2451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2553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2451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2553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4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Multipack Wrapping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Multipack Wrapping,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Multipack Wrapping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315725"/>
                <a:gridCol w="514876"/>
                <a:gridCol w="514876"/>
                <a:gridCol w="514876"/>
                <a:gridCol w="514876"/>
                <a:gridCol w="514876"/>
                <a:gridCol w="496739"/>
                <a:gridCol w="491557"/>
                <a:gridCol w="491557"/>
                <a:gridCol w="491557"/>
                <a:gridCol w="491557"/>
                <a:gridCol w="491557"/>
                <a:gridCol w="491557"/>
                <a:gridCol w="491557"/>
                <a:gridCol w="491557"/>
                <a:gridCol w="491557"/>
                <a:gridCol w="491557"/>
                <a:gridCol w="5847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Multipack Wrapping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70848" y="1595160"/>
            <a:ext cx="359497" cy="522905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5356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is the largest multipack wrapping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81913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757023" y="29908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2956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838065" y="29908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40286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54057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4429166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4537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'Individually wrapped muffins within an outer pack'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63235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938344" y="3446525"/>
            <a:ext cx="39080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'Shared pack without individual wrapping'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95514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970623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6743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4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Multipack Wrapping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Multipack Wrapping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Multipack Wrapping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689138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68437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60817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Shared pack without individual wrapping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67008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975329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497056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89436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Individually wrapped muffins within an outer pack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95627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Multipack Wrapping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gains the most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829550" y="1575435"/>
            <a:ext cx="5095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+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88204" y="156521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463313" y="1575435"/>
            <a:ext cx="31269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36655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'Shared pack without individual wrapping'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44253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829550" y="197853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2206371"/>
            <a:ext cx="35602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is the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381631"/>
            <a:ext cx="2361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fastest-growing multipack wrapping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40358" y="237140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315467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8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Multipack Wrapping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Multipack Wrapping,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Multipack Wrapping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11714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Multipack Wrapping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Individually wrapped muffins within an outer pack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0C41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0C44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Shared pack without individual wrapping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33838" y="148209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4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Multipack Wrapping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Multipack Wrapping,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Multipack Wrapping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11714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Multipack Wrapping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Individually wrapped muffins within an outer pack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0B32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Shared pack without individual wrapping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33838" y="148209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4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Positioning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Positioning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Price Positioning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Price Positioning,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Price Positioning segment categorizes the market by price positioning.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Premium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Mid-range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Economy / value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Price Positioning split shows how demand is distributed across price positioning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1_37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1_69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2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920_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1_74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6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760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849_4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1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540_9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1_058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6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5127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'Premium'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46591" y="421965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114086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099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'Super-premium / speciality' is the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27711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price positioning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229437"/>
            <a:ext cx="7490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Premium: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535678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4703174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62624" y="4219658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730120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4447369"/>
            <a:ext cx="8219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Mid-range: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08529" y="443759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4776025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35475" y="4437590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5802971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665301"/>
            <a:ext cx="11749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Economy / value: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961569" y="4655522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129065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988516" y="4655522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6156011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838575" y="4883233"/>
            <a:ext cx="17700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Super-premium / speciality: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56689" y="4873454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572418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583635" y="4873454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6751130" y="4883233"/>
            <a:ext cx="7697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838575" y="5050873"/>
            <a:ext cx="4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8524875" y="5842641"/>
            <a:ext cx="3148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Price Positioning segment is projected to grow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Price Positioning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Positioning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Positioning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Price Positioning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194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'Mid-range'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399303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566799" y="5861685"/>
            <a:ext cx="16407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'Premium'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55581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323077" y="5861685"/>
            <a:ext cx="4138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Price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Price Positioning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Economy / value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Mid-range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Premium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Super-premium / speciality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Price Positioning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Price Positioning,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43125"/>
          </a:xfrm>
          <a:prstGeom prst="roundRect">
            <a:avLst>
              <a:gd name="adj" fmla="val 3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Price Positioning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6764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02618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472059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24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257550"/>
            <a:ext cx="11906250" cy="3371850"/>
          </a:xfrm>
          <a:prstGeom prst="roundRect">
            <a:avLst>
              <a:gd name="adj" fmla="val 22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43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Price Positioning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581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667125"/>
            <a:ext cx="11639550" cy="2886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60619" y="202920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676650"/>
            <a:ext cx="28097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'Mid-range' is the largest price positioning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35167" y="3666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210276" y="36766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40009" y="3666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15118" y="36766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04487"/>
            <a:ext cx="26597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'Super-premium / speciality'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85123" y="3894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060232" y="39044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32325"/>
            <a:ext cx="21776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'Mid-range'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3044" y="4122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78153" y="4132325"/>
            <a:ext cx="2027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'Premium'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4929" y="4122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30038" y="4132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3601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49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360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49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3601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4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Price Positioning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Price Positioning,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Price Positioning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55550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Price Positioning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7084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28097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'Mid-range' is the largest price positioning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35167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210276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6209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291318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26597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'Super-premium / speciality'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85123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060232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21776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'Mid-range'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3044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78153" y="3941825"/>
            <a:ext cx="2027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'Premium'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4929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30038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4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Price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Price Positioning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Price Positioning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03401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02925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95305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Economy / value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01496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848823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84406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76786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82977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02599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402122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94502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Premium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00694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497373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549261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41641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Mid-range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47832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Price Positioning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22147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93452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168561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17851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'Premium'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63860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738969" y="1803273"/>
            <a:ext cx="19631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(red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2313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34781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'Super-premium / speciality' is the fastest-growing price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381631"/>
            <a:ext cx="888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positioning at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67021" y="2371407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842131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Price Positioning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Price Positioning,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Price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01628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Price Positioning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value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0C50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0D5E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0C39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0D59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-0%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60125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Price Positioning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Price Positioning,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Price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2485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Price Positioning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value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0E6E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0D5F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0C39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0C3F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1736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Brand Ownership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Brand Ownership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Brand Ownership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Brand Ownership,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Brand Ownership segment categorizes the market by brand ownership.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Retailer private labels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Manufacturer brands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Brand Ownership split shows how demand is distributed across brand ownership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1_549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2_37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4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1_45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2_09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3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598_9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883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4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9127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'Retailer private labels' holds the largest share in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7097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'Retailer private labels' is the fastest-growing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86153"/>
            <a:ext cx="27913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brand ownership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4644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Retailer private labels: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51095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41859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78041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445537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615009"/>
            <a:ext cx="14410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Manufacturer brands: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27630" y="4605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5395125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54576" y="460523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6422071" y="461500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832941"/>
            <a:ext cx="19525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Foodservice / operator brands: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739196" y="4823162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906692" y="483294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66142" y="4823162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933638" y="4832941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5000581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Brand Ownership segment is projected to grow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Brand Ownership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Brand Ownership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Brand Ownership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Brand Ownership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8366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'Retailer private labels'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41868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6209364" y="5861685"/>
            <a:ext cx="23326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'Manufacturer brands'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90098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657594" y="5861685"/>
            <a:ext cx="31021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5987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Brand Ownership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Brand Ownership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Manufacturer brands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Retailer private labels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Foodservice / operator brands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Brand Ownership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2582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brand ownership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12911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688020" y="4286250"/>
            <a:ext cx="1841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North America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20130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18299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84644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259754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32225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007334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18054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'Manufacturer brands'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60113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35222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07693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982802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23402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/ operator brands'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9493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770042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42513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517622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Brand Ownership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Brand Ownership,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24200"/>
          </a:xfrm>
          <a:prstGeom prst="roundRect">
            <a:avLst>
              <a:gd name="adj" fmla="val 24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Brand Ownership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26574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6817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645795"/>
                <a:gridCol w="645795"/>
                <a:gridCol w="645795"/>
                <a:gridCol w="645795"/>
                <a:gridCol w="645795"/>
                <a:gridCol w="645795"/>
                <a:gridCol w="645795"/>
                <a:gridCol w="645795"/>
                <a:gridCol w="645795"/>
                <a:gridCol w="44026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052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238625"/>
            <a:ext cx="11906250" cy="2390775"/>
          </a:xfrm>
          <a:prstGeom prst="roundRect">
            <a:avLst>
              <a:gd name="adj" fmla="val 31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3243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Brand Ownership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624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48200"/>
            <a:ext cx="11639550" cy="1905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2718" y="251974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57725"/>
            <a:ext cx="34781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'Manufacturer brands' is the largest brand ownership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03517" y="46475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8626" y="46577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8359" y="46475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083468" y="46577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885563"/>
            <a:ext cx="23402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65639" y="48753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40748" y="48855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113400"/>
            <a:ext cx="28494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'Retailer private labels'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74817" y="51031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249926" y="5113400"/>
            <a:ext cx="2751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'Manufacturer brands'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50106" y="51031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125215" y="51134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3412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3310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3412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3310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3412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4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Brand Ownership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Brand Ownership,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Brand Ownership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26843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Brand Ownership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2731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35026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is the largest brand ownership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28048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903158" y="44672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09090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984200" y="44672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23402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65639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40748" y="46950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8494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'Retailer private labels'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74817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249926" y="4922900"/>
            <a:ext cx="2751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'Manufacturer brands'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50106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125215" y="49229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1507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1507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4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Brand Ownership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Brand Ownership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Brand Ownership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04835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04358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96738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02930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332008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331532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323912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Manufacturer brands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330103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522918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522442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514822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Retailer private labels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521013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Brand Ownership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2886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65225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840334" y="1400175"/>
            <a:ext cx="856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3134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25085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'Manufacturer brands'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87263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462373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40249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is the fastest-growing brand ownership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15470" y="237140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799057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Brand Ownership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Brand Ownership,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Brand Ownership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08341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Brand Ownership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Manufacturer brands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86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National brands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C5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7C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Regional / local brands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9CC3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Retailer private labels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Value private labels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0D52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0D57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0D62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Standard private labels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Premium private labels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3478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Brand Ownership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Brand Ownership,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Brand Ownership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08341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Brand Ownership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Manufacturer brands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National brands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Regional / local brands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99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93BE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Retailer private labels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B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Value private labels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0C3D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0C44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0D56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0D619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Standard private labels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D4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Premium private labels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4C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3478" y="2204276"/>
            <a:ext cx="366712" cy="533400"/>
          </a:xfrm>
          <a:prstGeom prst="rect">
            <a:avLst/>
          </a:prstGeom>
        </p:spPr>
      </p:pic>
      <p:pic>
        <p:nvPicPr>
          <p:cNvPr id="206" name="Picture 2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173601"/>
            <a:ext cx="128699" cy="187198"/>
          </a:xfrm>
          <a:prstGeom prst="rect">
            <a:avLst/>
          </a:prstGeom>
        </p:spPr>
      </p:pic>
      <p:pic>
        <p:nvPicPr>
          <p:cNvPr id="207" name="Picture 2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5307076"/>
            <a:ext cx="128699" cy="187198"/>
          </a:xfrm>
          <a:prstGeom prst="rect">
            <a:avLst/>
          </a:prstGeom>
        </p:spPr>
      </p:pic>
      <p:pic>
        <p:nvPicPr>
          <p:cNvPr id="208" name="Picture 2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4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Sales Channel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Sales Channel,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Sales Channel segment categorizes the market by sales channel.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Retail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Vending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Sales Channel split shows how demand is distributed across sales channel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2_214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092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3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1_22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2_028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5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158_9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233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3_9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3168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'Retail' holds the largest share in 2026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750683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2918179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202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'Foodservice and institutional'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5823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sales channel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838575" y="4229437"/>
            <a:ext cx="5531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Retail: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339771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4507266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366717" y="421965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5534212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447369"/>
            <a:ext cx="18731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Foodservice and institutional: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59797" y="443759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5827292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686743" y="443759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6854239" y="4447369"/>
            <a:ext cx="7697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615009"/>
            <a:ext cx="4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832941"/>
            <a:ext cx="6966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Vending: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483291" y="4823162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4650786" y="483294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510237" y="4823162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677732" y="483294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Sales Channel segment is projected to grow at a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Sales Channel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Sales Channel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Sales Channel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62453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'Foodservice and institutional'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450570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6618066" y="5861685"/>
            <a:ext cx="14448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'Retail'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10941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178437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Sales Channel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Retail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Foodservice and institutional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Vending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Sales Channel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0397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sales channel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94406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469516" y="4286250"/>
            <a:ext cx="23006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North America 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8771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31896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307006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879477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54586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2572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11924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68703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59504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43461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10272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'Vending'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281940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7457049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29520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204629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Sales Channel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Sales Channel,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4686300"/>
          </a:xfrm>
          <a:prstGeom prst="roundRect">
            <a:avLst>
              <a:gd name="adj" fmla="val 16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Sales Channel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421957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22528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5467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576" y="320440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Sales Channel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Sales Channel,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390775"/>
          </a:xfrm>
          <a:prstGeom prst="roundRect">
            <a:avLst>
              <a:gd name="adj" fmla="val 31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Sales Channel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1924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24692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449985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75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5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5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5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5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5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171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505200"/>
            <a:ext cx="11906250" cy="3124200"/>
          </a:xfrm>
          <a:prstGeom prst="roundRect">
            <a:avLst>
              <a:gd name="adj" fmla="val 24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5909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Sales Channel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8290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914775"/>
            <a:ext cx="11639550" cy="26384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1656" y="2153031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924300"/>
            <a:ext cx="23314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is the largest sales channel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56796" y="391407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731905" y="39243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61638" y="3914076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936747" y="39243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4152137"/>
            <a:ext cx="27675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2918" y="4141914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68027" y="41521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379975"/>
            <a:ext cx="32767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'Foodservice and institutional'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2096" y="4369752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77205" y="4379975"/>
            <a:ext cx="18228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'Retail'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49169" y="4369752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624278" y="43799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6078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597590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46078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597590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46078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4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Sales Channel (US$ Mn)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Sales Channel,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Sales Channel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35240"/>
                <a:gridCol w="537731"/>
                <a:gridCol w="537731"/>
                <a:gridCol w="537731"/>
                <a:gridCol w="537731"/>
                <a:gridCol w="537731"/>
                <a:gridCol w="518789"/>
                <a:gridCol w="513377"/>
                <a:gridCol w="513377"/>
                <a:gridCol w="513377"/>
                <a:gridCol w="513377"/>
                <a:gridCol w="513377"/>
                <a:gridCol w="513377"/>
                <a:gridCol w="513377"/>
                <a:gridCol w="513377"/>
                <a:gridCol w="513377"/>
                <a:gridCol w="513377"/>
                <a:gridCol w="61075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76932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Sales Channel (US$ Mn)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Sales Channel,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Sales Channel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Sales Channel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3314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is the largest sales channel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56796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731905" y="37242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37838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812947" y="37242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675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2918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68027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32767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'Foodservice and institutional'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209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77205" y="4179950"/>
            <a:ext cx="18228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'Retail'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49169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624278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167888" y="44077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4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Sales Channel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Sales Channel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Sales Channel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70747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6598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8978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Vending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5169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73651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73174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65554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71746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923211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491844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84224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Retail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90416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Sales Channel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3138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92504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1267613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15803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9047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534157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031111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is the fastest-growing sales channel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1951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73854" y="219614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148964" y="220637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43420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42398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43420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42398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43420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6204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Sales Channel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Sales Channel,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143500"/>
          </a:xfrm>
          <a:prstGeom prst="roundRect">
            <a:avLst>
              <a:gd name="adj" fmla="val 14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Sales Channel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46767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79887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59245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49254" y="343299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Sales Channel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Sales Channel,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Sales Channel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286808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286808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286808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286808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286808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286808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286808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69650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Supermarkets and hypermarkets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696508"/>
            <a:ext cx="643890" cy="286808"/>
          </a:xfrm>
          <a:prstGeom prst="rect">
            <a:avLst/>
          </a:prstGeom>
          <a:solidFill>
            <a:srgbClr val="DFED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696508"/>
            <a:ext cx="643890" cy="286808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696508"/>
            <a:ext cx="643890" cy="286808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696508"/>
            <a:ext cx="643890" cy="286808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696508"/>
            <a:ext cx="643890" cy="286808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696508"/>
            <a:ext cx="643890" cy="286808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696508"/>
            <a:ext cx="643890" cy="286808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696508"/>
            <a:ext cx="643890" cy="286808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696508"/>
            <a:ext cx="643890" cy="286808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696508"/>
            <a:ext cx="643890" cy="286808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696508"/>
            <a:ext cx="643890" cy="286808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696508"/>
            <a:ext cx="643890" cy="286808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696508"/>
            <a:ext cx="643890" cy="286808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696508"/>
            <a:ext cx="643890" cy="286808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696508"/>
            <a:ext cx="643890" cy="286808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198331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Convenience stores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1983317"/>
            <a:ext cx="643890" cy="286808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1983317"/>
            <a:ext cx="643890" cy="286808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1983317"/>
            <a:ext cx="643890" cy="286808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1983317"/>
            <a:ext cx="643890" cy="286808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1983317"/>
            <a:ext cx="643890" cy="286808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1983317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1983317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1983317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1983317"/>
            <a:ext cx="643890" cy="286808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1983317"/>
            <a:ext cx="643890" cy="286808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27012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Discount stores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270125"/>
            <a:ext cx="643890" cy="286808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270125"/>
            <a:ext cx="643890" cy="286808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270125"/>
            <a:ext cx="643890" cy="286808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270125"/>
            <a:ext cx="643890" cy="286808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270125"/>
            <a:ext cx="643890" cy="286808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270125"/>
            <a:ext cx="643890" cy="286808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270125"/>
            <a:ext cx="643890" cy="286808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270125"/>
            <a:ext cx="643890" cy="286808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270125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270125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270125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270125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270125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270125"/>
            <a:ext cx="643890" cy="286808"/>
          </a:xfrm>
          <a:prstGeom prst="rect">
            <a:avLst/>
          </a:prstGeom>
          <a:solidFill>
            <a:srgbClr val="9CC3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270125"/>
            <a:ext cx="643890" cy="286808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255693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Warehouse clubs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2556933"/>
            <a:ext cx="643890" cy="286808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2556933"/>
            <a:ext cx="643890" cy="286808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2556933"/>
            <a:ext cx="643890" cy="286808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2556933"/>
            <a:ext cx="643890" cy="286808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2556933"/>
            <a:ext cx="643890" cy="286808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284374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Traditional grocery stores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2843742"/>
            <a:ext cx="643890" cy="286808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2843742"/>
            <a:ext cx="643890" cy="286808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2843742"/>
            <a:ext cx="643890" cy="286808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2843742"/>
            <a:ext cx="643890" cy="286808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2843742"/>
            <a:ext cx="643890" cy="286808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2843742"/>
            <a:ext cx="643890" cy="286808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2843742"/>
            <a:ext cx="643890" cy="286808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2843742"/>
            <a:ext cx="643890" cy="286808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313055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Speciality food and health stores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3130550"/>
            <a:ext cx="643890" cy="286808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3130550"/>
            <a:ext cx="643890" cy="286808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3130550"/>
            <a:ext cx="643890" cy="286808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3130550"/>
            <a:ext cx="643890" cy="286808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3130550"/>
            <a:ext cx="643890" cy="286808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3130550"/>
            <a:ext cx="643890" cy="286808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3130550"/>
            <a:ext cx="643890" cy="286808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3130550"/>
            <a:ext cx="643890" cy="286808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3130550"/>
            <a:ext cx="643890" cy="286808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3130550"/>
            <a:ext cx="643890" cy="286808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3130550"/>
            <a:ext cx="643890" cy="286808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3130550"/>
            <a:ext cx="643890" cy="286808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3130550"/>
            <a:ext cx="643890" cy="286808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3130550"/>
            <a:ext cx="643890" cy="286808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3130550"/>
            <a:ext cx="643890" cy="286808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341735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Bakery outlets selling packaged products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341735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341735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341735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341735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341735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370416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Online retail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3704167"/>
            <a:ext cx="643890" cy="286808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3704167"/>
            <a:ext cx="643890" cy="286808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3704167"/>
            <a:ext cx="643890" cy="286808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3704167"/>
            <a:ext cx="643890" cy="286808"/>
          </a:xfrm>
          <a:prstGeom prst="rect">
            <a:avLst/>
          </a:prstGeom>
          <a:solidFill>
            <a:srgbClr val="52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3704167"/>
            <a:ext cx="643890" cy="286808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3704167"/>
            <a:ext cx="643890" cy="286808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3704167"/>
            <a:ext cx="643890" cy="286808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3704167"/>
            <a:ext cx="643890" cy="286808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3704167"/>
            <a:ext cx="643890" cy="286808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3704167"/>
            <a:ext cx="643890" cy="286808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370416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370416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3704167"/>
            <a:ext cx="643890" cy="286808"/>
          </a:xfrm>
          <a:prstGeom prst="rect">
            <a:avLst/>
          </a:prstGeom>
          <a:solidFill>
            <a:srgbClr val="2D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370416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370416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399097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3990975"/>
            <a:ext cx="643890" cy="286808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3990975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3990975"/>
            <a:ext cx="643890" cy="286808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3990975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3990975"/>
            <a:ext cx="643890" cy="286808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3990975"/>
            <a:ext cx="643890" cy="286808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3990975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3990975"/>
            <a:ext cx="643890" cy="286808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3990975"/>
            <a:ext cx="643890" cy="286808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3990975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3990975"/>
            <a:ext cx="643890" cy="286808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3990975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3990975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3990975"/>
            <a:ext cx="643890" cy="286808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3990975"/>
            <a:ext cx="643890" cy="286808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427778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Cafés and coffee chains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4277783"/>
            <a:ext cx="643890" cy="286808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4277783"/>
            <a:ext cx="643890" cy="286808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4277783"/>
            <a:ext cx="643890" cy="286808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4277783"/>
            <a:ext cx="643890" cy="286808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4277783"/>
            <a:ext cx="643890" cy="286808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4277783"/>
            <a:ext cx="643890" cy="286808"/>
          </a:xfrm>
          <a:prstGeom prst="rect">
            <a:avLst/>
          </a:prstGeom>
          <a:solidFill>
            <a:srgbClr val="5C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4277783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4277783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238125" y="456459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Hotels and restaurants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1857375" y="4564592"/>
            <a:ext cx="643890" cy="286808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2501265" y="4564592"/>
            <a:ext cx="643890" cy="286808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3145155" y="4564592"/>
            <a:ext cx="643890" cy="286808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3789045" y="4564592"/>
            <a:ext cx="643890" cy="286808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4432935" y="4564592"/>
            <a:ext cx="643890" cy="286808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5076825" y="4564592"/>
            <a:ext cx="643890" cy="286808"/>
          </a:xfrm>
          <a:prstGeom prst="rect">
            <a:avLst/>
          </a:prstGeom>
          <a:solidFill>
            <a:srgbClr val="0C44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5720715" y="4564592"/>
            <a:ext cx="643890" cy="286808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6364605" y="4564592"/>
            <a:ext cx="643890" cy="286808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008495" y="4564592"/>
            <a:ext cx="643890" cy="286808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7652385" y="4564592"/>
            <a:ext cx="643890" cy="286808"/>
          </a:xfrm>
          <a:prstGeom prst="rect">
            <a:avLst/>
          </a:prstGeom>
          <a:solidFill>
            <a:srgbClr val="0D52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8296275" y="4564592"/>
            <a:ext cx="643890" cy="286808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8940165" y="4564592"/>
            <a:ext cx="643890" cy="286808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9584055" y="4564592"/>
            <a:ext cx="643890" cy="286808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0227945" y="4564592"/>
            <a:ext cx="643890" cy="286808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0871835" y="4564592"/>
            <a:ext cx="643890" cy="286808"/>
          </a:xfrm>
          <a:prstGeom prst="rect">
            <a:avLst/>
          </a:prstGeom>
          <a:solidFill>
            <a:srgbClr val="0D619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TextBox 218"/>
          <p:cNvSpPr txBox="1"/>
          <p:nvPr/>
        </p:nvSpPr>
        <p:spPr>
          <a:xfrm>
            <a:off x="238125" y="485140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Quick-service restaurants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1857375" y="4851400"/>
            <a:ext cx="643890" cy="286808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2501265" y="4851400"/>
            <a:ext cx="643890" cy="286808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3145155" y="4851400"/>
            <a:ext cx="643890" cy="286808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3789045" y="4851400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4432935" y="4851400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5076825" y="4851400"/>
            <a:ext cx="643890" cy="286808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5720715" y="4851400"/>
            <a:ext cx="643890" cy="286808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6364605" y="4851400"/>
            <a:ext cx="643890" cy="286808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7008495" y="4851400"/>
            <a:ext cx="643890" cy="286808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7652385" y="4851400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8296275" y="4851400"/>
            <a:ext cx="643890" cy="286808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8940165" y="4851400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9584055" y="4851400"/>
            <a:ext cx="643890" cy="286808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0227945" y="4851400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0871835" y="4851400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TextBox 234"/>
          <p:cNvSpPr txBox="1"/>
          <p:nvPr/>
        </p:nvSpPr>
        <p:spPr>
          <a:xfrm>
            <a:off x="238125" y="513820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Corporate catering</a:t>
            </a:r>
          </a:p>
        </p:txBody>
      </p:sp>
      <p:sp>
        <p:nvSpPr>
          <p:cNvPr id="236" name="Rectangle 235"/>
          <p:cNvSpPr/>
          <p:nvPr/>
        </p:nvSpPr>
        <p:spPr>
          <a:xfrm>
            <a:off x="1857375" y="5138208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2501265" y="5138208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3145155" y="5138208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3789045" y="5138208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4432935" y="5138208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507682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572071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636460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700849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765238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Rectangle 245"/>
          <p:cNvSpPr/>
          <p:nvPr/>
        </p:nvSpPr>
        <p:spPr>
          <a:xfrm>
            <a:off x="829627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Rectangle 246"/>
          <p:cNvSpPr/>
          <p:nvPr/>
        </p:nvSpPr>
        <p:spPr>
          <a:xfrm>
            <a:off x="894016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Rectangle 247"/>
          <p:cNvSpPr/>
          <p:nvPr/>
        </p:nvSpPr>
        <p:spPr>
          <a:xfrm>
            <a:off x="958405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Rectangle 248"/>
          <p:cNvSpPr/>
          <p:nvPr/>
        </p:nvSpPr>
        <p:spPr>
          <a:xfrm>
            <a:off x="1022794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Rectangle 249"/>
          <p:cNvSpPr/>
          <p:nvPr/>
        </p:nvSpPr>
        <p:spPr>
          <a:xfrm>
            <a:off x="1087183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TextBox 250"/>
          <p:cNvSpPr txBox="1"/>
          <p:nvPr/>
        </p:nvSpPr>
        <p:spPr>
          <a:xfrm>
            <a:off x="238125" y="542501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Educational institutions</a:t>
            </a:r>
          </a:p>
        </p:txBody>
      </p:sp>
      <p:sp>
        <p:nvSpPr>
          <p:cNvPr id="252" name="Rectangle 251"/>
          <p:cNvSpPr/>
          <p:nvPr/>
        </p:nvSpPr>
        <p:spPr>
          <a:xfrm>
            <a:off x="1857375" y="5425017"/>
            <a:ext cx="643890" cy="286808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2501265" y="5425017"/>
            <a:ext cx="643890" cy="286808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3145155" y="5425017"/>
            <a:ext cx="643890" cy="286808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Rectangle 254"/>
          <p:cNvSpPr/>
          <p:nvPr/>
        </p:nvSpPr>
        <p:spPr>
          <a:xfrm>
            <a:off x="3789045" y="5425017"/>
            <a:ext cx="643890" cy="286808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Rectangle 255"/>
          <p:cNvSpPr/>
          <p:nvPr/>
        </p:nvSpPr>
        <p:spPr>
          <a:xfrm>
            <a:off x="4432935" y="5425017"/>
            <a:ext cx="643890" cy="286808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Rectangle 256"/>
          <p:cNvSpPr/>
          <p:nvPr/>
        </p:nvSpPr>
        <p:spPr>
          <a:xfrm>
            <a:off x="5076825" y="5425017"/>
            <a:ext cx="643890" cy="286808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Rectangle 257"/>
          <p:cNvSpPr/>
          <p:nvPr/>
        </p:nvSpPr>
        <p:spPr>
          <a:xfrm>
            <a:off x="5720715" y="5425017"/>
            <a:ext cx="643890" cy="286808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Rectangle 258"/>
          <p:cNvSpPr/>
          <p:nvPr/>
        </p:nvSpPr>
        <p:spPr>
          <a:xfrm>
            <a:off x="6364605" y="542501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Rectangle 259"/>
          <p:cNvSpPr/>
          <p:nvPr/>
        </p:nvSpPr>
        <p:spPr>
          <a:xfrm>
            <a:off x="7008495" y="542501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7652385" y="542501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8296275" y="5425017"/>
            <a:ext cx="643890" cy="286808"/>
          </a:xfrm>
          <a:prstGeom prst="rect">
            <a:avLst/>
          </a:prstGeom>
          <a:solidFill>
            <a:srgbClr val="2D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8940165" y="542501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9584055" y="542501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0227945" y="5425017"/>
            <a:ext cx="643890" cy="286808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Rectangle 265"/>
          <p:cNvSpPr/>
          <p:nvPr/>
        </p:nvSpPr>
        <p:spPr>
          <a:xfrm>
            <a:off x="1087183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238125" y="571182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Healthcare institutions</a:t>
            </a:r>
          </a:p>
        </p:txBody>
      </p:sp>
      <p:sp>
        <p:nvSpPr>
          <p:cNvPr id="268" name="Rectangle 267"/>
          <p:cNvSpPr/>
          <p:nvPr/>
        </p:nvSpPr>
        <p:spPr>
          <a:xfrm>
            <a:off x="1857375" y="5711825"/>
            <a:ext cx="643890" cy="286808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2501265" y="5711825"/>
            <a:ext cx="643890" cy="286808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3145155" y="5711825"/>
            <a:ext cx="643890" cy="286808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3789045" y="5711825"/>
            <a:ext cx="643890" cy="286808"/>
          </a:xfrm>
          <a:prstGeom prst="rect">
            <a:avLst/>
          </a:prstGeom>
          <a:solidFill>
            <a:srgbClr val="0D5E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4432935" y="5711825"/>
            <a:ext cx="643890" cy="286808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5076825" y="5711825"/>
            <a:ext cx="643890" cy="286808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5720715" y="5711825"/>
            <a:ext cx="643890" cy="286808"/>
          </a:xfrm>
          <a:prstGeom prst="rect">
            <a:avLst/>
          </a:prstGeom>
          <a:solidFill>
            <a:srgbClr val="0B32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6364605" y="5711825"/>
            <a:ext cx="643890" cy="286808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Rectangle 275"/>
          <p:cNvSpPr/>
          <p:nvPr/>
        </p:nvSpPr>
        <p:spPr>
          <a:xfrm>
            <a:off x="7008495" y="5711825"/>
            <a:ext cx="643890" cy="286808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7" name="Rectangle 276"/>
          <p:cNvSpPr/>
          <p:nvPr/>
        </p:nvSpPr>
        <p:spPr>
          <a:xfrm>
            <a:off x="7652385" y="5711825"/>
            <a:ext cx="643890" cy="286808"/>
          </a:xfrm>
          <a:prstGeom prst="rect">
            <a:avLst/>
          </a:prstGeom>
          <a:solidFill>
            <a:srgbClr val="0C3F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Rectangle 277"/>
          <p:cNvSpPr/>
          <p:nvPr/>
        </p:nvSpPr>
        <p:spPr>
          <a:xfrm>
            <a:off x="8296275" y="5711825"/>
            <a:ext cx="643890" cy="286808"/>
          </a:xfrm>
          <a:prstGeom prst="rect">
            <a:avLst/>
          </a:prstGeom>
          <a:solidFill>
            <a:srgbClr val="0C42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9" name="Rectangle 278"/>
          <p:cNvSpPr/>
          <p:nvPr/>
        </p:nvSpPr>
        <p:spPr>
          <a:xfrm>
            <a:off x="8940165" y="5711825"/>
            <a:ext cx="643890" cy="286808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9584055" y="5711825"/>
            <a:ext cx="643890" cy="286808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0227945" y="5711825"/>
            <a:ext cx="643890" cy="286808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Rectangle 281"/>
          <p:cNvSpPr/>
          <p:nvPr/>
        </p:nvSpPr>
        <p:spPr>
          <a:xfrm>
            <a:off x="10871835" y="5711825"/>
            <a:ext cx="643890" cy="286808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3" name="TextBox 282"/>
          <p:cNvSpPr txBox="1"/>
          <p:nvPr/>
        </p:nvSpPr>
        <p:spPr>
          <a:xfrm>
            <a:off x="238125" y="599863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Airline and travel catering</a:t>
            </a:r>
          </a:p>
        </p:txBody>
      </p:sp>
      <p:sp>
        <p:nvSpPr>
          <p:cNvPr id="284" name="Rectangle 283"/>
          <p:cNvSpPr/>
          <p:nvPr/>
        </p:nvSpPr>
        <p:spPr>
          <a:xfrm>
            <a:off x="1857375" y="599863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Rectangle 284"/>
          <p:cNvSpPr/>
          <p:nvPr/>
        </p:nvSpPr>
        <p:spPr>
          <a:xfrm>
            <a:off x="2501265" y="599863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Rectangle 285"/>
          <p:cNvSpPr/>
          <p:nvPr/>
        </p:nvSpPr>
        <p:spPr>
          <a:xfrm>
            <a:off x="3145155" y="5998633"/>
            <a:ext cx="643890" cy="286808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Rectangle 286"/>
          <p:cNvSpPr/>
          <p:nvPr/>
        </p:nvSpPr>
        <p:spPr>
          <a:xfrm>
            <a:off x="3789045" y="5998633"/>
            <a:ext cx="643890" cy="286808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Rectangle 287"/>
          <p:cNvSpPr/>
          <p:nvPr/>
        </p:nvSpPr>
        <p:spPr>
          <a:xfrm>
            <a:off x="4432935" y="5998633"/>
            <a:ext cx="643890" cy="286808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9" name="Rectangle 288"/>
          <p:cNvSpPr/>
          <p:nvPr/>
        </p:nvSpPr>
        <p:spPr>
          <a:xfrm>
            <a:off x="5076825" y="5998633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Rectangle 289"/>
          <p:cNvSpPr/>
          <p:nvPr/>
        </p:nvSpPr>
        <p:spPr>
          <a:xfrm>
            <a:off x="5720715" y="5998633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1" name="Rectangle 290"/>
          <p:cNvSpPr/>
          <p:nvPr/>
        </p:nvSpPr>
        <p:spPr>
          <a:xfrm>
            <a:off x="6364605" y="5998633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Rectangle 291"/>
          <p:cNvSpPr/>
          <p:nvPr/>
        </p:nvSpPr>
        <p:spPr>
          <a:xfrm>
            <a:off x="700849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3" name="Rectangle 292"/>
          <p:cNvSpPr/>
          <p:nvPr/>
        </p:nvSpPr>
        <p:spPr>
          <a:xfrm>
            <a:off x="765238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Rectangle 293"/>
          <p:cNvSpPr/>
          <p:nvPr/>
        </p:nvSpPr>
        <p:spPr>
          <a:xfrm>
            <a:off x="829627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5" name="Rectangle 294"/>
          <p:cNvSpPr/>
          <p:nvPr/>
        </p:nvSpPr>
        <p:spPr>
          <a:xfrm>
            <a:off x="894016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Rectangle 295"/>
          <p:cNvSpPr/>
          <p:nvPr/>
        </p:nvSpPr>
        <p:spPr>
          <a:xfrm>
            <a:off x="958405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7" name="Rectangle 296"/>
          <p:cNvSpPr/>
          <p:nvPr/>
        </p:nvSpPr>
        <p:spPr>
          <a:xfrm>
            <a:off x="10227945" y="5998633"/>
            <a:ext cx="643890" cy="286808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Rectangle 297"/>
          <p:cNvSpPr/>
          <p:nvPr/>
        </p:nvSpPr>
        <p:spPr>
          <a:xfrm>
            <a:off x="10871835" y="5998633"/>
            <a:ext cx="643890" cy="286808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9" name="TextBox 298"/>
          <p:cNvSpPr txBox="1"/>
          <p:nvPr/>
        </p:nvSpPr>
        <p:spPr>
          <a:xfrm>
            <a:off x="238125" y="628544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Vending</a:t>
            </a:r>
          </a:p>
        </p:txBody>
      </p:sp>
      <p:sp>
        <p:nvSpPr>
          <p:cNvPr id="300" name="Rectangle 299"/>
          <p:cNvSpPr/>
          <p:nvPr/>
        </p:nvSpPr>
        <p:spPr>
          <a:xfrm>
            <a:off x="1857375" y="6285442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1" name="Rectangle 300"/>
          <p:cNvSpPr/>
          <p:nvPr/>
        </p:nvSpPr>
        <p:spPr>
          <a:xfrm>
            <a:off x="2501265" y="6285442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Rectangle 301"/>
          <p:cNvSpPr/>
          <p:nvPr/>
        </p:nvSpPr>
        <p:spPr>
          <a:xfrm>
            <a:off x="3145155" y="6285442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3" name="Rectangle 302"/>
          <p:cNvSpPr/>
          <p:nvPr/>
        </p:nvSpPr>
        <p:spPr>
          <a:xfrm>
            <a:off x="3789045" y="6285442"/>
            <a:ext cx="643890" cy="286808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Rectangle 303"/>
          <p:cNvSpPr/>
          <p:nvPr/>
        </p:nvSpPr>
        <p:spPr>
          <a:xfrm>
            <a:off x="4432935" y="6285442"/>
            <a:ext cx="643890" cy="286808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5" name="Rectangle 304"/>
          <p:cNvSpPr/>
          <p:nvPr/>
        </p:nvSpPr>
        <p:spPr>
          <a:xfrm>
            <a:off x="5076825" y="6285442"/>
            <a:ext cx="643890" cy="286808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Rectangle 305"/>
          <p:cNvSpPr/>
          <p:nvPr/>
        </p:nvSpPr>
        <p:spPr>
          <a:xfrm>
            <a:off x="572071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7" name="Rectangle 306"/>
          <p:cNvSpPr/>
          <p:nvPr/>
        </p:nvSpPr>
        <p:spPr>
          <a:xfrm>
            <a:off x="636460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Rectangle 307"/>
          <p:cNvSpPr/>
          <p:nvPr/>
        </p:nvSpPr>
        <p:spPr>
          <a:xfrm>
            <a:off x="700849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Rectangle 308"/>
          <p:cNvSpPr/>
          <p:nvPr/>
        </p:nvSpPr>
        <p:spPr>
          <a:xfrm>
            <a:off x="765238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Rectangle 309"/>
          <p:cNvSpPr/>
          <p:nvPr/>
        </p:nvSpPr>
        <p:spPr>
          <a:xfrm>
            <a:off x="829627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Rectangle 310"/>
          <p:cNvSpPr/>
          <p:nvPr/>
        </p:nvSpPr>
        <p:spPr>
          <a:xfrm>
            <a:off x="894016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Rectangle 311"/>
          <p:cNvSpPr/>
          <p:nvPr/>
        </p:nvSpPr>
        <p:spPr>
          <a:xfrm>
            <a:off x="958405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3" name="Rectangle 312"/>
          <p:cNvSpPr/>
          <p:nvPr/>
        </p:nvSpPr>
        <p:spPr>
          <a:xfrm>
            <a:off x="1022794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Rectangle 313"/>
          <p:cNvSpPr/>
          <p:nvPr/>
        </p:nvSpPr>
        <p:spPr>
          <a:xfrm>
            <a:off x="1087183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Rectangle 314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Rectangle 315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7" name="Rectangle 316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Rectangle 317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Rectangle 318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Rectangle 319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Rectangle 320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Rectangle 321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3" name="Rectangle 322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Rectangle 323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5" name="Rectangle 324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Rectangle 325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Rectangle 326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Rectangle 327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9" name="Rectangle 328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Rectangle 329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1" name="Rectangle 330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Rectangle 331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3" name="Rectangle 332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Rectangle 333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5" name="Rectangle 334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Rectangle 335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7" name="Rectangle 336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Rectangle 337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9" name="Rectangle 338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Rectangle 339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1" name="Rectangle 340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Rectangle 341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3" name="Rectangle 342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Rectangle 343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5" name="Rectangle 344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Rectangle 345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7" name="Rectangle 346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Rectangle 347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9" name="Rectangle 348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Rectangle 349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1" name="Rectangle 350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Rectangle 351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3" name="Rectangle 352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Rectangle 353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5" name="Rectangle 354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8" name="TextBox 357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9" name="TextBox 35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60" name="Picture 3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361" name="Picture 3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362" name="Picture 3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4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Sales Channel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Sales Channel,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143500"/>
          </a:xfrm>
          <a:prstGeom prst="roundRect">
            <a:avLst>
              <a:gd name="adj" fmla="val 14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Sales Channel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46767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79887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59245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49254" y="343299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Sales Channel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Sales Channel,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Sales Channel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286808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286808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286808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286808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286808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286808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286808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286808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286808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286808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286808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286808"/>
          </a:xfrm>
          <a:prstGeom prst="rect">
            <a:avLst/>
          </a:prstGeom>
          <a:solidFill>
            <a:srgbClr val="7B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286808"/>
          </a:xfrm>
          <a:prstGeom prst="rect">
            <a:avLst/>
          </a:prstGeom>
          <a:solidFill>
            <a:srgbClr val="7B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286808"/>
          </a:xfrm>
          <a:prstGeom prst="rect">
            <a:avLst/>
          </a:prstGeom>
          <a:solidFill>
            <a:srgbClr val="7B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286808"/>
          </a:xfrm>
          <a:prstGeom prst="rect">
            <a:avLst/>
          </a:prstGeom>
          <a:solidFill>
            <a:srgbClr val="7B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69650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Supermarkets and hypermarkets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696508"/>
            <a:ext cx="643890" cy="286808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696508"/>
            <a:ext cx="643890" cy="286808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696508"/>
            <a:ext cx="643890" cy="286808"/>
          </a:xfrm>
          <a:prstGeom prst="rect">
            <a:avLst/>
          </a:prstGeom>
          <a:solidFill>
            <a:srgbClr val="E2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696508"/>
            <a:ext cx="643890" cy="286808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696508"/>
            <a:ext cx="643890" cy="286808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696508"/>
            <a:ext cx="643890" cy="286808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696508"/>
            <a:ext cx="643890" cy="286808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696508"/>
            <a:ext cx="643890" cy="286808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696508"/>
            <a:ext cx="643890" cy="286808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696508"/>
            <a:ext cx="643890" cy="286808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696508"/>
            <a:ext cx="643890" cy="286808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696508"/>
            <a:ext cx="643890" cy="286808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696508"/>
            <a:ext cx="643890" cy="286808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696508"/>
            <a:ext cx="643890" cy="286808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696508"/>
            <a:ext cx="643890" cy="286808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198331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Convenience stores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1983317"/>
            <a:ext cx="643890" cy="286808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1983317"/>
            <a:ext cx="643890" cy="286808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1983317"/>
            <a:ext cx="643890" cy="286808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1983317"/>
            <a:ext cx="643890" cy="286808"/>
          </a:xfrm>
          <a:prstGeom prst="rect">
            <a:avLst/>
          </a:prstGeom>
          <a:solidFill>
            <a:srgbClr val="67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1983317"/>
            <a:ext cx="643890" cy="286808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1983317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1983317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1983317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1983317"/>
            <a:ext cx="643890" cy="286808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1983317"/>
            <a:ext cx="643890" cy="286808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27012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Discount stores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270125"/>
            <a:ext cx="643890" cy="286808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270125"/>
            <a:ext cx="643890" cy="286808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270125"/>
            <a:ext cx="643890" cy="286808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270125"/>
            <a:ext cx="643890" cy="286808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270125"/>
            <a:ext cx="643890" cy="286808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270125"/>
            <a:ext cx="643890" cy="286808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270125"/>
            <a:ext cx="643890" cy="286808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270125"/>
            <a:ext cx="643890" cy="286808"/>
          </a:xfrm>
          <a:prstGeom prst="rect">
            <a:avLst/>
          </a:prstGeom>
          <a:solidFill>
            <a:srgbClr val="9A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270125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270125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270125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270125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270125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270125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270125"/>
            <a:ext cx="643890" cy="286808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255693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Warehouse clubs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2556933"/>
            <a:ext cx="643890" cy="286808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2556933"/>
            <a:ext cx="643890" cy="286808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2556933"/>
            <a:ext cx="643890" cy="286808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2556933"/>
            <a:ext cx="643890" cy="286808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2556933"/>
            <a:ext cx="643890" cy="286808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284374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Traditional grocery stores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2843742"/>
            <a:ext cx="643890" cy="286808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2843742"/>
            <a:ext cx="643890" cy="286808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2843742"/>
            <a:ext cx="643890" cy="286808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2843742"/>
            <a:ext cx="643890" cy="286808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2843742"/>
            <a:ext cx="643890" cy="286808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313055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Speciality food and health stores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3130550"/>
            <a:ext cx="643890" cy="286808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3130550"/>
            <a:ext cx="643890" cy="286808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3130550"/>
            <a:ext cx="643890" cy="286808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3130550"/>
            <a:ext cx="643890" cy="286808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3130550"/>
            <a:ext cx="643890" cy="286808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3130550"/>
            <a:ext cx="643890" cy="286808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3130550"/>
            <a:ext cx="643890" cy="286808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3130550"/>
            <a:ext cx="643890" cy="286808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3130550"/>
            <a:ext cx="643890" cy="286808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3130550"/>
            <a:ext cx="643890" cy="286808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3130550"/>
            <a:ext cx="643890" cy="286808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3130550"/>
            <a:ext cx="643890" cy="286808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3130550"/>
            <a:ext cx="643890" cy="286808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3130550"/>
            <a:ext cx="643890" cy="286808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3130550"/>
            <a:ext cx="643890" cy="286808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341735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Bakery outlets selling packaged products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3417358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3417358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3417358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3417358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3417358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3417358"/>
            <a:ext cx="643890" cy="286808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3417358"/>
            <a:ext cx="643890" cy="286808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3417358"/>
            <a:ext cx="643890" cy="286808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370416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Online retail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3704167"/>
            <a:ext cx="643890" cy="286808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3704167"/>
            <a:ext cx="643890" cy="286808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3704167"/>
            <a:ext cx="643890" cy="286808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3704167"/>
            <a:ext cx="643890" cy="286808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3704167"/>
            <a:ext cx="643890" cy="286808"/>
          </a:xfrm>
          <a:prstGeom prst="rect">
            <a:avLst/>
          </a:prstGeom>
          <a:solidFill>
            <a:srgbClr val="56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370416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370416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370416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370416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370416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370416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370416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370416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3704167"/>
            <a:ext cx="643890" cy="286808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370416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399097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3990975"/>
            <a:ext cx="643890" cy="286808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3990975"/>
            <a:ext cx="643890" cy="286808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3990975"/>
            <a:ext cx="643890" cy="286808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3990975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3990975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3990975"/>
            <a:ext cx="643890" cy="286808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3990975"/>
            <a:ext cx="643890" cy="286808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3990975"/>
            <a:ext cx="643890" cy="286808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3990975"/>
            <a:ext cx="643890" cy="286808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3990975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3990975"/>
            <a:ext cx="643890" cy="286808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3990975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3990975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3990975"/>
            <a:ext cx="643890" cy="286808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3990975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427778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Cafés and coffee chains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4277783"/>
            <a:ext cx="643890" cy="286808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4277783"/>
            <a:ext cx="643890" cy="286808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4277783"/>
            <a:ext cx="643890" cy="286808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4277783"/>
            <a:ext cx="643890" cy="286808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4277783"/>
            <a:ext cx="643890" cy="286808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4277783"/>
            <a:ext cx="643890" cy="286808"/>
          </a:xfrm>
          <a:prstGeom prst="rect">
            <a:avLst/>
          </a:prstGeom>
          <a:solidFill>
            <a:srgbClr val="5C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4277783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4277783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4277783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238125" y="456459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Hotels and restaurants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1857375" y="4564592"/>
            <a:ext cx="643890" cy="286808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2501265" y="4564592"/>
            <a:ext cx="643890" cy="286808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3145155" y="4564592"/>
            <a:ext cx="643890" cy="286808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3789045" y="4564592"/>
            <a:ext cx="643890" cy="286808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4432935" y="4564592"/>
            <a:ext cx="643890" cy="286808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5076825" y="4564592"/>
            <a:ext cx="643890" cy="286808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5720715" y="4564592"/>
            <a:ext cx="643890" cy="286808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6364605" y="4564592"/>
            <a:ext cx="643890" cy="286808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008495" y="4564592"/>
            <a:ext cx="643890" cy="286808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7652385" y="4564592"/>
            <a:ext cx="643890" cy="286808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8296275" y="4564592"/>
            <a:ext cx="643890" cy="286808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8940165" y="4564592"/>
            <a:ext cx="643890" cy="286808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9584055" y="4564592"/>
            <a:ext cx="643890" cy="286808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0227945" y="4564592"/>
            <a:ext cx="643890" cy="286808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0871835" y="4564592"/>
            <a:ext cx="643890" cy="286808"/>
          </a:xfrm>
          <a:prstGeom prst="rect">
            <a:avLst/>
          </a:prstGeom>
          <a:solidFill>
            <a:srgbClr val="0D619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TextBox 218"/>
          <p:cNvSpPr txBox="1"/>
          <p:nvPr/>
        </p:nvSpPr>
        <p:spPr>
          <a:xfrm>
            <a:off x="238125" y="485140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Quick-service restaurants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1857375" y="4851400"/>
            <a:ext cx="643890" cy="286808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2501265" y="4851400"/>
            <a:ext cx="643890" cy="286808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3145155" y="4851400"/>
            <a:ext cx="643890" cy="286808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3789045" y="4851400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4432935" y="4851400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5076825" y="4851400"/>
            <a:ext cx="643890" cy="286808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5720715" y="4851400"/>
            <a:ext cx="643890" cy="286808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6364605" y="4851400"/>
            <a:ext cx="643890" cy="286808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7008495" y="4851400"/>
            <a:ext cx="643890" cy="286808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7652385" y="4851400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8296275" y="4851400"/>
            <a:ext cx="643890" cy="286808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8940165" y="4851400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9584055" y="4851400"/>
            <a:ext cx="643890" cy="286808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0227945" y="4851400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0871835" y="4851400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TextBox 234"/>
          <p:cNvSpPr txBox="1"/>
          <p:nvPr/>
        </p:nvSpPr>
        <p:spPr>
          <a:xfrm>
            <a:off x="238125" y="513820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Corporate catering</a:t>
            </a:r>
          </a:p>
        </p:txBody>
      </p:sp>
      <p:sp>
        <p:nvSpPr>
          <p:cNvPr id="236" name="Rectangle 235"/>
          <p:cNvSpPr/>
          <p:nvPr/>
        </p:nvSpPr>
        <p:spPr>
          <a:xfrm>
            <a:off x="1857375" y="5138208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2501265" y="5138208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3145155" y="5138208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3789045" y="5138208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4432935" y="5138208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507682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572071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636460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700849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765238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Rectangle 245"/>
          <p:cNvSpPr/>
          <p:nvPr/>
        </p:nvSpPr>
        <p:spPr>
          <a:xfrm>
            <a:off x="829627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Rectangle 246"/>
          <p:cNvSpPr/>
          <p:nvPr/>
        </p:nvSpPr>
        <p:spPr>
          <a:xfrm>
            <a:off x="894016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Rectangle 247"/>
          <p:cNvSpPr/>
          <p:nvPr/>
        </p:nvSpPr>
        <p:spPr>
          <a:xfrm>
            <a:off x="958405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Rectangle 248"/>
          <p:cNvSpPr/>
          <p:nvPr/>
        </p:nvSpPr>
        <p:spPr>
          <a:xfrm>
            <a:off x="1022794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Rectangle 249"/>
          <p:cNvSpPr/>
          <p:nvPr/>
        </p:nvSpPr>
        <p:spPr>
          <a:xfrm>
            <a:off x="1087183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TextBox 250"/>
          <p:cNvSpPr txBox="1"/>
          <p:nvPr/>
        </p:nvSpPr>
        <p:spPr>
          <a:xfrm>
            <a:off x="238125" y="542501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Educational institutions</a:t>
            </a:r>
          </a:p>
        </p:txBody>
      </p:sp>
      <p:sp>
        <p:nvSpPr>
          <p:cNvPr id="252" name="Rectangle 251"/>
          <p:cNvSpPr/>
          <p:nvPr/>
        </p:nvSpPr>
        <p:spPr>
          <a:xfrm>
            <a:off x="1857375" y="5425017"/>
            <a:ext cx="643890" cy="286808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2501265" y="5425017"/>
            <a:ext cx="643890" cy="286808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3145155" y="5425017"/>
            <a:ext cx="643890" cy="286808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Rectangle 254"/>
          <p:cNvSpPr/>
          <p:nvPr/>
        </p:nvSpPr>
        <p:spPr>
          <a:xfrm>
            <a:off x="3789045" y="5425017"/>
            <a:ext cx="643890" cy="286808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Rectangle 255"/>
          <p:cNvSpPr/>
          <p:nvPr/>
        </p:nvSpPr>
        <p:spPr>
          <a:xfrm>
            <a:off x="4432935" y="5425017"/>
            <a:ext cx="643890" cy="286808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Rectangle 256"/>
          <p:cNvSpPr/>
          <p:nvPr/>
        </p:nvSpPr>
        <p:spPr>
          <a:xfrm>
            <a:off x="5076825" y="5425017"/>
            <a:ext cx="643890" cy="286808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Rectangle 257"/>
          <p:cNvSpPr/>
          <p:nvPr/>
        </p:nvSpPr>
        <p:spPr>
          <a:xfrm>
            <a:off x="5720715" y="5425017"/>
            <a:ext cx="643890" cy="286808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Rectangle 258"/>
          <p:cNvSpPr/>
          <p:nvPr/>
        </p:nvSpPr>
        <p:spPr>
          <a:xfrm>
            <a:off x="6364605" y="542501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Rectangle 259"/>
          <p:cNvSpPr/>
          <p:nvPr/>
        </p:nvSpPr>
        <p:spPr>
          <a:xfrm>
            <a:off x="7008495" y="542501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7652385" y="542501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8296275" y="542501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8940165" y="542501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9584055" y="542501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0227945" y="542501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Rectangle 265"/>
          <p:cNvSpPr/>
          <p:nvPr/>
        </p:nvSpPr>
        <p:spPr>
          <a:xfrm>
            <a:off x="10871835" y="5425017"/>
            <a:ext cx="643890" cy="286808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238125" y="571182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Healthcare institutions</a:t>
            </a:r>
          </a:p>
        </p:txBody>
      </p:sp>
      <p:sp>
        <p:nvSpPr>
          <p:cNvPr id="268" name="Rectangle 267"/>
          <p:cNvSpPr/>
          <p:nvPr/>
        </p:nvSpPr>
        <p:spPr>
          <a:xfrm>
            <a:off x="1857375" y="5711825"/>
            <a:ext cx="643890" cy="286808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2501265" y="5711825"/>
            <a:ext cx="643890" cy="286808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3145155" y="5711825"/>
            <a:ext cx="643890" cy="286808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3789045" y="5711825"/>
            <a:ext cx="643890" cy="286808"/>
          </a:xfrm>
          <a:prstGeom prst="rect">
            <a:avLst/>
          </a:prstGeom>
          <a:solidFill>
            <a:srgbClr val="0D5E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4432935" y="5711825"/>
            <a:ext cx="643890" cy="286808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5076825" y="5711825"/>
            <a:ext cx="643890" cy="286808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5720715" y="5711825"/>
            <a:ext cx="643890" cy="286808"/>
          </a:xfrm>
          <a:prstGeom prst="rect">
            <a:avLst/>
          </a:prstGeom>
          <a:solidFill>
            <a:srgbClr val="0B32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6364605" y="5711825"/>
            <a:ext cx="643890" cy="286808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Rectangle 275"/>
          <p:cNvSpPr/>
          <p:nvPr/>
        </p:nvSpPr>
        <p:spPr>
          <a:xfrm>
            <a:off x="7008495" y="5711825"/>
            <a:ext cx="643890" cy="286808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7" name="Rectangle 276"/>
          <p:cNvSpPr/>
          <p:nvPr/>
        </p:nvSpPr>
        <p:spPr>
          <a:xfrm>
            <a:off x="7652385" y="5711825"/>
            <a:ext cx="643890" cy="286808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Rectangle 277"/>
          <p:cNvSpPr/>
          <p:nvPr/>
        </p:nvSpPr>
        <p:spPr>
          <a:xfrm>
            <a:off x="8296275" y="5711825"/>
            <a:ext cx="643890" cy="286808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9" name="Rectangle 278"/>
          <p:cNvSpPr/>
          <p:nvPr/>
        </p:nvSpPr>
        <p:spPr>
          <a:xfrm>
            <a:off x="8940165" y="5711825"/>
            <a:ext cx="643890" cy="286808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9584055" y="5711825"/>
            <a:ext cx="643890" cy="286808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0227945" y="5711825"/>
            <a:ext cx="643890" cy="286808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Rectangle 281"/>
          <p:cNvSpPr/>
          <p:nvPr/>
        </p:nvSpPr>
        <p:spPr>
          <a:xfrm>
            <a:off x="10871835" y="5711825"/>
            <a:ext cx="643890" cy="286808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3" name="TextBox 282"/>
          <p:cNvSpPr txBox="1"/>
          <p:nvPr/>
        </p:nvSpPr>
        <p:spPr>
          <a:xfrm>
            <a:off x="238125" y="599863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Airline and travel catering</a:t>
            </a:r>
          </a:p>
        </p:txBody>
      </p:sp>
      <p:sp>
        <p:nvSpPr>
          <p:cNvPr id="284" name="Rectangle 283"/>
          <p:cNvSpPr/>
          <p:nvPr/>
        </p:nvSpPr>
        <p:spPr>
          <a:xfrm>
            <a:off x="1857375" y="599863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Rectangle 284"/>
          <p:cNvSpPr/>
          <p:nvPr/>
        </p:nvSpPr>
        <p:spPr>
          <a:xfrm>
            <a:off x="2501265" y="5998633"/>
            <a:ext cx="643890" cy="286808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Rectangle 285"/>
          <p:cNvSpPr/>
          <p:nvPr/>
        </p:nvSpPr>
        <p:spPr>
          <a:xfrm>
            <a:off x="3145155" y="5998633"/>
            <a:ext cx="643890" cy="286808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Rectangle 286"/>
          <p:cNvSpPr/>
          <p:nvPr/>
        </p:nvSpPr>
        <p:spPr>
          <a:xfrm>
            <a:off x="3789045" y="5998633"/>
            <a:ext cx="643890" cy="286808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Rectangle 287"/>
          <p:cNvSpPr/>
          <p:nvPr/>
        </p:nvSpPr>
        <p:spPr>
          <a:xfrm>
            <a:off x="4432935" y="5998633"/>
            <a:ext cx="643890" cy="286808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9" name="Rectangle 288"/>
          <p:cNvSpPr/>
          <p:nvPr/>
        </p:nvSpPr>
        <p:spPr>
          <a:xfrm>
            <a:off x="5076825" y="5998633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Rectangle 289"/>
          <p:cNvSpPr/>
          <p:nvPr/>
        </p:nvSpPr>
        <p:spPr>
          <a:xfrm>
            <a:off x="5720715" y="5998633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1" name="Rectangle 290"/>
          <p:cNvSpPr/>
          <p:nvPr/>
        </p:nvSpPr>
        <p:spPr>
          <a:xfrm>
            <a:off x="6364605" y="5998633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Rectangle 291"/>
          <p:cNvSpPr/>
          <p:nvPr/>
        </p:nvSpPr>
        <p:spPr>
          <a:xfrm>
            <a:off x="700849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3" name="Rectangle 292"/>
          <p:cNvSpPr/>
          <p:nvPr/>
        </p:nvSpPr>
        <p:spPr>
          <a:xfrm>
            <a:off x="765238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Rectangle 293"/>
          <p:cNvSpPr/>
          <p:nvPr/>
        </p:nvSpPr>
        <p:spPr>
          <a:xfrm>
            <a:off x="829627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5" name="Rectangle 294"/>
          <p:cNvSpPr/>
          <p:nvPr/>
        </p:nvSpPr>
        <p:spPr>
          <a:xfrm>
            <a:off x="894016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Rectangle 295"/>
          <p:cNvSpPr/>
          <p:nvPr/>
        </p:nvSpPr>
        <p:spPr>
          <a:xfrm>
            <a:off x="958405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7" name="Rectangle 296"/>
          <p:cNvSpPr/>
          <p:nvPr/>
        </p:nvSpPr>
        <p:spPr>
          <a:xfrm>
            <a:off x="10227945" y="5998633"/>
            <a:ext cx="643890" cy="286808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Rectangle 297"/>
          <p:cNvSpPr/>
          <p:nvPr/>
        </p:nvSpPr>
        <p:spPr>
          <a:xfrm>
            <a:off x="10871835" y="5998633"/>
            <a:ext cx="643890" cy="286808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9" name="TextBox 298"/>
          <p:cNvSpPr txBox="1"/>
          <p:nvPr/>
        </p:nvSpPr>
        <p:spPr>
          <a:xfrm>
            <a:off x="238125" y="628544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Vending</a:t>
            </a:r>
          </a:p>
        </p:txBody>
      </p:sp>
      <p:sp>
        <p:nvSpPr>
          <p:cNvPr id="300" name="Rectangle 299"/>
          <p:cNvSpPr/>
          <p:nvPr/>
        </p:nvSpPr>
        <p:spPr>
          <a:xfrm>
            <a:off x="1857375" y="6285442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1" name="Rectangle 300"/>
          <p:cNvSpPr/>
          <p:nvPr/>
        </p:nvSpPr>
        <p:spPr>
          <a:xfrm>
            <a:off x="2501265" y="6285442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Rectangle 301"/>
          <p:cNvSpPr/>
          <p:nvPr/>
        </p:nvSpPr>
        <p:spPr>
          <a:xfrm>
            <a:off x="3145155" y="6285442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3" name="Rectangle 302"/>
          <p:cNvSpPr/>
          <p:nvPr/>
        </p:nvSpPr>
        <p:spPr>
          <a:xfrm>
            <a:off x="3789045" y="6285442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Rectangle 303"/>
          <p:cNvSpPr/>
          <p:nvPr/>
        </p:nvSpPr>
        <p:spPr>
          <a:xfrm>
            <a:off x="4432935" y="6285442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5" name="Rectangle 304"/>
          <p:cNvSpPr/>
          <p:nvPr/>
        </p:nvSpPr>
        <p:spPr>
          <a:xfrm>
            <a:off x="5076825" y="6285442"/>
            <a:ext cx="643890" cy="286808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Rectangle 305"/>
          <p:cNvSpPr/>
          <p:nvPr/>
        </p:nvSpPr>
        <p:spPr>
          <a:xfrm>
            <a:off x="5720715" y="6285442"/>
            <a:ext cx="643890" cy="286808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7" name="Rectangle 306"/>
          <p:cNvSpPr/>
          <p:nvPr/>
        </p:nvSpPr>
        <p:spPr>
          <a:xfrm>
            <a:off x="636460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Rectangle 307"/>
          <p:cNvSpPr/>
          <p:nvPr/>
        </p:nvSpPr>
        <p:spPr>
          <a:xfrm>
            <a:off x="700849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Rectangle 308"/>
          <p:cNvSpPr/>
          <p:nvPr/>
        </p:nvSpPr>
        <p:spPr>
          <a:xfrm>
            <a:off x="765238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Rectangle 309"/>
          <p:cNvSpPr/>
          <p:nvPr/>
        </p:nvSpPr>
        <p:spPr>
          <a:xfrm>
            <a:off x="829627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Rectangle 310"/>
          <p:cNvSpPr/>
          <p:nvPr/>
        </p:nvSpPr>
        <p:spPr>
          <a:xfrm>
            <a:off x="894016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Rectangle 311"/>
          <p:cNvSpPr/>
          <p:nvPr/>
        </p:nvSpPr>
        <p:spPr>
          <a:xfrm>
            <a:off x="958405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3" name="Rectangle 312"/>
          <p:cNvSpPr/>
          <p:nvPr/>
        </p:nvSpPr>
        <p:spPr>
          <a:xfrm>
            <a:off x="1022794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Rectangle 313"/>
          <p:cNvSpPr/>
          <p:nvPr/>
        </p:nvSpPr>
        <p:spPr>
          <a:xfrm>
            <a:off x="1087183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Rectangle 314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Rectangle 315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7" name="Rectangle 316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Rectangle 317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Rectangle 318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Rectangle 319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Rectangle 320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Rectangle 321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3" name="Rectangle 322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Rectangle 323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5" name="Rectangle 324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Rectangle 325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Rectangle 326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Rectangle 327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9" name="Rectangle 328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Rectangle 329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1" name="Rectangle 330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Rectangle 331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3" name="Rectangle 332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Rectangle 333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5" name="Rectangle 334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Rectangle 335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7" name="Rectangle 336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Rectangle 337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9" name="Rectangle 338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Rectangle 339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1" name="Rectangle 340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Rectangle 341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3" name="Rectangle 342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Rectangle 343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5" name="Rectangle 344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Rectangle 345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7" name="Rectangle 346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Rectangle 347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9" name="Rectangle 348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Rectangle 349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1" name="Rectangle 350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Rectangle 351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3" name="Rectangle 352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Rectangle 353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5" name="Rectangle 354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8" name="TextBox 357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9" name="TextBox 35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60" name="Picture 3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361" name="Picture 3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362" name="Picture 3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4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22129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Packaged Muffins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5177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Country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3222625"/>
            <a:ext cx="5067300" cy="281178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Overview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Segment Overview (Volume &amp; Value)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Flavour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Primary Flour Base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Dietary Formulation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Nutritional Positioning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Recipe and Ingredient Claims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Structure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096000" y="3222625"/>
            <a:ext cx="5067300" cy="28511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Surface Finish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Individual Muffin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Storage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Shelf Life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Packaging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Pack Configuration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Multipack Wrapping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Price Positioning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Brand Ownership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Sales Channel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Key Segments (Value)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Volume Overview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U.S. market in volume: size, growth, YoY momentum and gap to the Global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(MT), 2021–2036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505325" cy="14382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91100" y="1819275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086350" y="18764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 &amp; Growth Deviation from Regional Benchmark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86350" y="2105025"/>
          <a:ext cx="2880360" cy="14382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8042910" y="2124075"/>
            <a:ext cx="3901440" cy="7048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22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North America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042910" y="2867025"/>
            <a:ext cx="3901440" cy="6381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(MT)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Market Share, 2026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142875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6172200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2661285"/>
            <a:ext cx="165021" cy="24003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62365" y="2599095"/>
            <a:ext cx="191595" cy="278683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78378" y="2141220"/>
            <a:ext cx="230504" cy="33527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4575810"/>
            <a:ext cx="165021" cy="240030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15708" y="4462938"/>
            <a:ext cx="261282" cy="38004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071485" y="2876550"/>
            <a:ext cx="25059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U.S.'s packaged muffins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5479" y="2866771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692975" y="2876550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71485" y="3044190"/>
            <a:ext cx="2731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2036, trailing the North America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750855" y="303441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918350" y="3044190"/>
            <a:ext cx="212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079301" y="3034411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246797" y="3044190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57175" y="5966460"/>
            <a:ext cx="6393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U.S.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4592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1012088" y="5966460"/>
            <a:ext cx="10350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global and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995140" y="5956680"/>
            <a:ext cx="128699" cy="187198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2162635" y="5966460"/>
            <a:ext cx="34090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North America packaged muffins market in 2026; by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57175" y="6134100"/>
            <a:ext cx="16109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 those shares move to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816216" y="6124320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983712" y="6134100"/>
            <a:ext cx="2898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221606" y="6124320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2389102" y="6134100"/>
            <a:ext cx="7937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respectively.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286500" y="5966460"/>
            <a:ext cx="1586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821530" y="5956680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7989026" y="5966460"/>
            <a:ext cx="31171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MT between 2026 and 2036 the U.S. market grows to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054208" y="5956680"/>
            <a:ext cx="128699" cy="187198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1221704" y="5966460"/>
            <a:ext cx="3111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its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286500" y="6134100"/>
            <a:ext cx="15902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 size over the decade.</a:t>
            </a:r>
          </a:p>
        </p:txBody>
      </p:sp>
      <p:sp>
        <p:nvSpPr>
          <p:cNvPr id="65" name="lockshield_17"/>
          <p:cNvSpPr/>
          <p:nvPr/>
        </p:nvSpPr>
        <p:spPr>
          <a:xfrm>
            <a:off x="238125" y="2105025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lockshield_20"/>
          <p:cNvSpPr/>
          <p:nvPr/>
        </p:nvSpPr>
        <p:spPr>
          <a:xfrm>
            <a:off x="5086350" y="2105025"/>
            <a:ext cx="288036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lockshield_25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lockshield_28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Value Overview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U.S. market in value: size, growth, YoY momentum and gap to the Global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(US$ Mn), 2021–2036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505325" cy="14382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91100" y="1819275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086350" y="18764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 &amp; Growth Deviation from Regional Benchmark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86350" y="2105025"/>
          <a:ext cx="2880360" cy="14382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8042910" y="2124075"/>
            <a:ext cx="3901440" cy="7048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22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North America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042910" y="2867025"/>
            <a:ext cx="3901440" cy="6381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(US$ Mn)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Market Share, 2026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142875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6172200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2661285"/>
            <a:ext cx="165021" cy="24003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62365" y="2599095"/>
            <a:ext cx="191595" cy="278683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78378" y="2141220"/>
            <a:ext cx="230504" cy="33527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4575810"/>
            <a:ext cx="165021" cy="240030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15708" y="4462938"/>
            <a:ext cx="261282" cy="38004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071485" y="2876550"/>
            <a:ext cx="25059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U.S.'s packaged muffins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5479" y="2866771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692975" y="2876550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71485" y="3044190"/>
            <a:ext cx="2731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2036, trailing the North America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750855" y="303441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918350" y="3044190"/>
            <a:ext cx="212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079301" y="3034411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246797" y="3044190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57175" y="5966460"/>
            <a:ext cx="6393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U.S.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4592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1012088" y="5966460"/>
            <a:ext cx="10350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global and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995140" y="5956680"/>
            <a:ext cx="128699" cy="187198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2162635" y="5966460"/>
            <a:ext cx="34090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North America packaged muffins market in 2026; by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57175" y="6134100"/>
            <a:ext cx="16109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 those shares move to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816216" y="6124320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983712" y="6134100"/>
            <a:ext cx="2898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221606" y="6124320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2389102" y="6134100"/>
            <a:ext cx="7937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respectively.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286500" y="5966460"/>
            <a:ext cx="1586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821530" y="5956680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7989026" y="5966460"/>
            <a:ext cx="33787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 2036 the U.S. market grows to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315873" y="5956680"/>
            <a:ext cx="128699" cy="187198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1483369" y="5966460"/>
            <a:ext cx="3111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its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286500" y="6134100"/>
            <a:ext cx="15902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 size over the decade.</a:t>
            </a:r>
          </a:p>
        </p:txBody>
      </p:sp>
      <p:sp>
        <p:nvSpPr>
          <p:cNvPr id="65" name="lockshield_17"/>
          <p:cNvSpPr/>
          <p:nvPr/>
        </p:nvSpPr>
        <p:spPr>
          <a:xfrm>
            <a:off x="238125" y="2105025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lockshield_20"/>
          <p:cNvSpPr/>
          <p:nvPr/>
        </p:nvSpPr>
        <p:spPr>
          <a:xfrm>
            <a:off x="5086350" y="2105025"/>
            <a:ext cx="288036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lockshield_25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lockshield_28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Key Segments Overview, By Value (2026) (1/3)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U.S.'s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31527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32480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Flavour  (US$ Mn)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32480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1626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2579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Flour Base  (US$ Mn)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62579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91725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92678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Dietary Formulation  (US$ Mn)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92678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Rounded Rectangle 22"/>
          <p:cNvSpPr/>
          <p:nvPr/>
        </p:nvSpPr>
        <p:spPr>
          <a:xfrm>
            <a:off x="1428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Nutritional Positioning  (US$ Mn)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7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31527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3248025" y="2962275"/>
            <a:ext cx="266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Recipe and Ingredient Claims  (US$ Mn)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3248025" y="3362325"/>
          <a:ext cx="2667000" cy="1276350"/>
        </p:xfrm>
        <a:graphic>
          <a:graphicData uri="http://schemas.openxmlformats.org/drawingml/2006/chart">
            <c:chart xmlns:c="http://schemas.openxmlformats.org/drawingml/2006/chart" r:id="rId8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61626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62579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Structure  (US$ Mn)</a:t>
            </a:r>
          </a:p>
        </p:txBody>
      </p:sp>
      <p:graphicFrame>
        <p:nvGraphicFramePr>
          <p:cNvPr id="31" name="Chart 30"/>
          <p:cNvGraphicFramePr>
            <a:graphicFrameLocks noGrp="1"/>
          </p:cNvGraphicFramePr>
          <p:nvPr/>
        </p:nvGraphicFramePr>
        <p:xfrm>
          <a:off x="62579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9"/>
          </a:graphicData>
        </a:graphic>
      </p:graphicFrame>
      <p:sp>
        <p:nvSpPr>
          <p:cNvPr id="32" name="Rounded Rectangle 31"/>
          <p:cNvSpPr/>
          <p:nvPr/>
        </p:nvSpPr>
        <p:spPr>
          <a:xfrm>
            <a:off x="91725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92678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Surface Finish  (US$ Mn)</a:t>
            </a:r>
          </a:p>
        </p:txBody>
      </p:sp>
      <p:graphicFrame>
        <p:nvGraphicFramePr>
          <p:cNvPr id="34" name="Chart 33"/>
          <p:cNvGraphicFramePr>
            <a:graphicFrameLocks noGrp="1"/>
          </p:cNvGraphicFramePr>
          <p:nvPr/>
        </p:nvGraphicFramePr>
        <p:xfrm>
          <a:off x="92678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10"/>
          </a:graphicData>
        </a:graphic>
      </p:graphicFrame>
      <p:sp>
        <p:nvSpPr>
          <p:cNvPr id="35" name="Rounded Rectangle 34"/>
          <p:cNvSpPr/>
          <p:nvPr/>
        </p:nvSpPr>
        <p:spPr>
          <a:xfrm>
            <a:off x="142875" y="48291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38125" y="48863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Individual Muffin Size  (US$ Mn)</a:t>
            </a:r>
          </a:p>
        </p:txBody>
      </p:sp>
      <p:graphicFrame>
        <p:nvGraphicFramePr>
          <p:cNvPr id="37" name="Chart 36"/>
          <p:cNvGraphicFramePr>
            <a:graphicFrameLocks noGrp="1"/>
          </p:cNvGraphicFramePr>
          <p:nvPr/>
        </p:nvGraphicFramePr>
        <p:xfrm>
          <a:off x="238125" y="5114925"/>
          <a:ext cx="2667000" cy="1447800"/>
        </p:xfrm>
        <a:graphic>
          <a:graphicData uri="http://schemas.openxmlformats.org/drawingml/2006/chart">
            <c:chart xmlns:c="http://schemas.openxmlformats.org/drawingml/2006/chart" r:id="rId11"/>
          </a:graphicData>
        </a:graphic>
      </p:graphicFrame>
      <p:sp>
        <p:nvSpPr>
          <p:cNvPr id="38" name="Rounded Rectangle 37"/>
          <p:cNvSpPr/>
          <p:nvPr/>
        </p:nvSpPr>
        <p:spPr>
          <a:xfrm>
            <a:off x="3152775" y="48291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248025" y="48863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Storage Format  (US$ Mn)</a:t>
            </a:r>
          </a:p>
        </p:txBody>
      </p:sp>
      <p:graphicFrame>
        <p:nvGraphicFramePr>
          <p:cNvPr id="40" name="Chart 39"/>
          <p:cNvGraphicFramePr>
            <a:graphicFrameLocks noGrp="1"/>
          </p:cNvGraphicFramePr>
          <p:nvPr/>
        </p:nvGraphicFramePr>
        <p:xfrm>
          <a:off x="3248025" y="5114925"/>
          <a:ext cx="2667000" cy="1447800"/>
        </p:xfrm>
        <a:graphic>
          <a:graphicData uri="http://schemas.openxmlformats.org/drawingml/2006/chart">
            <c:chart xmlns:c="http://schemas.openxmlformats.org/drawingml/2006/chart" r:id="rId12"/>
          </a:graphicData>
        </a:graphic>
      </p:graphicFrame>
      <p:sp>
        <p:nvSpPr>
          <p:cNvPr id="41" name="Rounded Rectangle 40"/>
          <p:cNvSpPr/>
          <p:nvPr/>
        </p:nvSpPr>
        <p:spPr>
          <a:xfrm>
            <a:off x="6162675" y="48291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257925" y="48863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Shelf Life  (US$ Mn)</a:t>
            </a:r>
          </a:p>
        </p:txBody>
      </p:sp>
      <p:graphicFrame>
        <p:nvGraphicFramePr>
          <p:cNvPr id="43" name="Chart 42"/>
          <p:cNvGraphicFramePr>
            <a:graphicFrameLocks noGrp="1"/>
          </p:cNvGraphicFramePr>
          <p:nvPr/>
        </p:nvGraphicFramePr>
        <p:xfrm>
          <a:off x="6257925" y="5114925"/>
          <a:ext cx="2667000" cy="1447800"/>
        </p:xfrm>
        <a:graphic>
          <a:graphicData uri="http://schemas.openxmlformats.org/drawingml/2006/chart">
            <c:chart xmlns:c="http://schemas.openxmlformats.org/drawingml/2006/chart" r:id="rId13"/>
          </a:graphicData>
        </a:graphic>
      </p:graphicFrame>
      <p:sp>
        <p:nvSpPr>
          <p:cNvPr id="44" name="Rounded Rectangle 43"/>
          <p:cNvSpPr/>
          <p:nvPr/>
        </p:nvSpPr>
        <p:spPr>
          <a:xfrm>
            <a:off x="9172575" y="48291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9267825" y="48863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Packaging Format  (US$ Mn)</a:t>
            </a:r>
          </a:p>
        </p:txBody>
      </p:sp>
      <p:graphicFrame>
        <p:nvGraphicFramePr>
          <p:cNvPr id="46" name="Chart 45"/>
          <p:cNvGraphicFramePr>
            <a:graphicFrameLocks noGrp="1"/>
          </p:cNvGraphicFramePr>
          <p:nvPr/>
        </p:nvGraphicFramePr>
        <p:xfrm>
          <a:off x="9267825" y="5114925"/>
          <a:ext cx="2667000" cy="1447800"/>
        </p:xfrm>
        <a:graphic>
          <a:graphicData uri="http://schemas.openxmlformats.org/drawingml/2006/chart">
            <c:chart xmlns:c="http://schemas.openxmlformats.org/drawingml/2006/chart" r:id="rId14"/>
          </a:graphicData>
        </a:graphic>
      </p:graphicFrame>
      <p:sp>
        <p:nvSpPr>
          <p:cNvPr id="47" name="TextBox 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811655" y="1771650"/>
            <a:ext cx="183356" cy="266700"/>
          </a:xfrm>
          <a:prstGeom prst="rect">
            <a:avLst/>
          </a:prstGeom>
        </p:spPr>
      </p:pic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821555" y="1771650"/>
            <a:ext cx="183356" cy="266700"/>
          </a:xfrm>
          <a:prstGeom prst="rect">
            <a:avLst/>
          </a:prstGeom>
        </p:spPr>
      </p:pic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31455" y="1771650"/>
            <a:ext cx="183356" cy="266700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841355" y="1771650"/>
            <a:ext cx="183356" cy="266700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811655" y="3695700"/>
            <a:ext cx="183356" cy="266700"/>
          </a:xfrm>
          <a:prstGeom prst="rect">
            <a:avLst/>
          </a:prstGeom>
        </p:spPr>
      </p:pic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821555" y="3781425"/>
            <a:ext cx="183356" cy="266700"/>
          </a:xfrm>
          <a:prstGeom prst="rect">
            <a:avLst/>
          </a:prstGeom>
        </p:spPr>
      </p:pic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31455" y="3695700"/>
            <a:ext cx="183356" cy="266700"/>
          </a:xfrm>
          <a:prstGeom prst="rect">
            <a:avLst/>
          </a:prstGeom>
        </p:spPr>
      </p:pic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841355" y="3695700"/>
            <a:ext cx="183356" cy="26670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811655" y="5619750"/>
            <a:ext cx="183356" cy="266700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821555" y="5619750"/>
            <a:ext cx="183356" cy="266700"/>
          </a:xfrm>
          <a:prstGeom prst="rect">
            <a:avLst/>
          </a:prstGeom>
        </p:spPr>
      </p:pic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31455" y="5619750"/>
            <a:ext cx="183356" cy="266700"/>
          </a:xfrm>
          <a:prstGeom prst="rect">
            <a:avLst/>
          </a:prstGeom>
        </p:spPr>
      </p:pic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841355" y="5619750"/>
            <a:ext cx="183356" cy="266700"/>
          </a:xfrm>
          <a:prstGeom prst="rect">
            <a:avLst/>
          </a:prstGeom>
        </p:spPr>
      </p:pic>
      <p:sp>
        <p:nvSpPr>
          <p:cNvPr id="60" name="lockshield_13"/>
          <p:cNvSpPr/>
          <p:nvPr/>
        </p:nvSpPr>
        <p:spPr>
          <a:xfrm>
            <a:off x="2381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16"/>
          <p:cNvSpPr/>
          <p:nvPr/>
        </p:nvSpPr>
        <p:spPr>
          <a:xfrm>
            <a:off x="32480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19"/>
          <p:cNvSpPr/>
          <p:nvPr/>
        </p:nvSpPr>
        <p:spPr>
          <a:xfrm>
            <a:off x="62579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2"/>
          <p:cNvSpPr/>
          <p:nvPr/>
        </p:nvSpPr>
        <p:spPr>
          <a:xfrm>
            <a:off x="92678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lockshield_25"/>
          <p:cNvSpPr/>
          <p:nvPr/>
        </p:nvSpPr>
        <p:spPr>
          <a:xfrm>
            <a:off x="2381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lockshield_28"/>
          <p:cNvSpPr/>
          <p:nvPr/>
        </p:nvSpPr>
        <p:spPr>
          <a:xfrm>
            <a:off x="3248025" y="3362325"/>
            <a:ext cx="26670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lockshield_31"/>
          <p:cNvSpPr/>
          <p:nvPr/>
        </p:nvSpPr>
        <p:spPr>
          <a:xfrm>
            <a:off x="62579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lockshield_34"/>
          <p:cNvSpPr/>
          <p:nvPr/>
        </p:nvSpPr>
        <p:spPr>
          <a:xfrm>
            <a:off x="92678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lockshield_37"/>
          <p:cNvSpPr/>
          <p:nvPr/>
        </p:nvSpPr>
        <p:spPr>
          <a:xfrm>
            <a:off x="238125" y="51149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lockshield_40"/>
          <p:cNvSpPr/>
          <p:nvPr/>
        </p:nvSpPr>
        <p:spPr>
          <a:xfrm>
            <a:off x="3248025" y="51149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lockshield_43"/>
          <p:cNvSpPr/>
          <p:nvPr/>
        </p:nvSpPr>
        <p:spPr>
          <a:xfrm>
            <a:off x="6257925" y="51149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lockshield_46"/>
          <p:cNvSpPr/>
          <p:nvPr/>
        </p:nvSpPr>
        <p:spPr>
          <a:xfrm>
            <a:off x="9267825" y="51149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Key Segments Overview, By Value (2026) (2/3)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U.S.'s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285750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Configuration  (US$ Mn)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2667000" cy="13335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3152775" y="981075"/>
            <a:ext cx="285750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2480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Multipack Wrapping  (US$ Mn)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3248025" y="1266825"/>
          <a:ext cx="2667000" cy="13335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6162675" y="981075"/>
            <a:ext cx="285750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2579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Positioning 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6257925" y="1266825"/>
          <a:ext cx="2667000" cy="1333500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9172575" y="981075"/>
            <a:ext cx="285750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92678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Brand Ownership 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9267825" y="1266825"/>
          <a:ext cx="2667000" cy="1333500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142875" y="2790825"/>
            <a:ext cx="297180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38125" y="2847975"/>
            <a:ext cx="27813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 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238125" y="3076575"/>
          <a:ext cx="2781300" cy="1333500"/>
        </p:xfrm>
        <a:graphic>
          <a:graphicData uri="http://schemas.openxmlformats.org/drawingml/2006/chart">
            <c:chart xmlns:c="http://schemas.openxmlformats.org/drawingml/2006/chart" r:id="rId7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600575"/>
            <a:ext cx="11906250" cy="2019300"/>
          </a:xfrm>
          <a:prstGeom prst="roundRect">
            <a:avLst>
              <a:gd name="adj" fmla="val 377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6863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49244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010150"/>
            <a:ext cx="11639550" cy="15335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811655" y="1714500"/>
            <a:ext cx="183356" cy="2667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821555" y="1714500"/>
            <a:ext cx="183356" cy="2667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831455" y="1714500"/>
            <a:ext cx="183356" cy="2667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841355" y="1714500"/>
            <a:ext cx="183356" cy="2667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868805" y="3524250"/>
            <a:ext cx="183356" cy="266700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276225" y="4695825"/>
            <a:ext cx="146803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Key Takeaways · 2026 Total: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688698" y="4687503"/>
            <a:ext cx="109510" cy="15928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1831222" y="4695825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US$ Mn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5019675"/>
            <a:ext cx="24960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Product Type, 'Sweet muffins' leads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720375" y="5009895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2887871" y="5019675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35452" y="5009895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602948" y="5019675"/>
            <a:ext cx="20786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'Savoury muffins'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629657" y="5009895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5797153" y="5019675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76225" y="5237607"/>
            <a:ext cx="26805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Flavour, 'Sweet Muffins Flavours' leads at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904823" y="5227827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3072319" y="5237607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619900" y="5227827"/>
            <a:ext cx="128699" cy="187198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3787395" y="5237607"/>
            <a:ext cx="25948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'Savoury Muffins Flavours' (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30340" y="5227827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6497836" y="5237607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5455539"/>
            <a:ext cx="2583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Primary Flour Base, 'Oat-based' leads at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07961" y="5445759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2975456" y="5455539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523037" y="5445759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690533" y="5455539"/>
            <a:ext cx="1925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'Wheat-based' (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563900" y="5445759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5731396" y="5455539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76225" y="5673471"/>
            <a:ext cx="27293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Dietary Formulation, 'Gluten-free' leads at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953634" y="5663691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3121129" y="5673471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668710" y="5663691"/>
            <a:ext cx="128699" cy="187198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3836206" y="5673471"/>
            <a:ext cx="24360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'Gluten-free and vegan' (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220351" y="5663691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387847" y="5673471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6225" y="5891403"/>
            <a:ext cx="31684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Nutritional Positioning, 'Protein-enriched' leads at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392682" y="5881623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3560177" y="5891403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107758" y="5881623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4275254" y="5891403"/>
            <a:ext cx="2334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'Standard / indulgent' (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58171" y="5881623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6725667" y="5891403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76225" y="6109335"/>
            <a:ext cx="40257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Recipe and Ingredient Claims, 'Additional claim mapping' leads 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249981" y="6099555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417477" y="6109335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965058" y="6099555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5132554" y="6109335"/>
            <a:ext cx="21195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'Organic-certified' (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200191" y="6099555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7367686" y="6109335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0" name="lockshield_12"/>
          <p:cNvSpPr/>
          <p:nvPr/>
        </p:nvSpPr>
        <p:spPr>
          <a:xfrm>
            <a:off x="238125" y="1266825"/>
            <a:ext cx="2667000" cy="13335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lockshield_15"/>
          <p:cNvSpPr/>
          <p:nvPr/>
        </p:nvSpPr>
        <p:spPr>
          <a:xfrm>
            <a:off x="3248025" y="1266825"/>
            <a:ext cx="2667000" cy="13335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lockshield_18"/>
          <p:cNvSpPr/>
          <p:nvPr/>
        </p:nvSpPr>
        <p:spPr>
          <a:xfrm>
            <a:off x="6257925" y="1266825"/>
            <a:ext cx="2667000" cy="13335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lockshield_21"/>
          <p:cNvSpPr/>
          <p:nvPr/>
        </p:nvSpPr>
        <p:spPr>
          <a:xfrm>
            <a:off x="9267825" y="1266825"/>
            <a:ext cx="2667000" cy="13335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lockshield_24"/>
          <p:cNvSpPr/>
          <p:nvPr/>
        </p:nvSpPr>
        <p:spPr>
          <a:xfrm>
            <a:off x="238125" y="3076575"/>
            <a:ext cx="2781300" cy="13335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Key Segments Overview, By Value (2026) (3/3)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U.S.'s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505200"/>
          </a:xfrm>
          <a:prstGeom prst="roundRect">
            <a:avLst>
              <a:gd name="adj" fmla="val 217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30194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76225" y="1076325"/>
            <a:ext cx="146803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Key Takeaways · 2026 Total: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8698" y="1068003"/>
            <a:ext cx="109510" cy="159288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>
          <a:xfrm>
            <a:off x="1831222" y="1076325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US$ Mn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76225" y="1400175"/>
            <a:ext cx="2706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Product Structure, 'Filled muffins' leads at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30744" y="1390396"/>
            <a:ext cx="128699" cy="187198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3098240" y="1400175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45821" y="1390396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3813316" y="1400175"/>
            <a:ext cx="20707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'Unfilled muffins'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32113" y="1390396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5999609" y="1400175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1618107"/>
            <a:ext cx="26587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Surface Finish, 'Glazed / drizzled' leads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82995" y="1608328"/>
            <a:ext cx="128699" cy="187198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050491" y="1618107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98072" y="1608328"/>
            <a:ext cx="128699" cy="187198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3765567" y="1618107"/>
            <a:ext cx="23714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'Nut and seed-topped'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85046" y="1608328"/>
            <a:ext cx="128699" cy="187198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252542" y="1618107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836039"/>
            <a:ext cx="38870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Individual Muffin Size, 'Standard - 60 g to below 100 g' leads at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1373" y="1826260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4278868" y="1836039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26449" y="1826260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4993945" y="1836039"/>
            <a:ext cx="26194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'Small - 30 g to below 60 g' (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61446" y="1826260"/>
            <a:ext cx="128699" cy="187198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728942" y="1836039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76225" y="2053970"/>
            <a:ext cx="2194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Storage Format, 'Frozen' leads at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18572" y="2044192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2586067" y="2053970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33648" y="2044192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3301144" y="2053970"/>
            <a:ext cx="15509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'Chilled'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00158" y="20441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967654" y="2053970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2271903"/>
            <a:ext cx="21544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Shelf Life, 'Up to 7 days' leads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78765" y="22621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2546261" y="2271903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93842" y="2262124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261338" y="2271903"/>
            <a:ext cx="17089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'8-30 days' (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18333" y="2262124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5085829" y="2271903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2489835"/>
            <a:ext cx="29653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Packaging Format, 'Rigid plastic packs' leads at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9650" y="2480056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3357146" y="2489835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04727" y="2480056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072223" y="2489835"/>
            <a:ext cx="21798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'Paperboard packs'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00160" y="2480056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6367656" y="2489835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2707766"/>
            <a:ext cx="26229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Pack Configuration, 'Multipacks' leads at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7251" y="2697988"/>
            <a:ext cx="128699" cy="187198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3014747" y="2707766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2328" y="2697988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3729824" y="2707766"/>
            <a:ext cx="22685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'Single-muffin packs'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46438" y="2697988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6113934" y="2707766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2925698"/>
            <a:ext cx="49373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Multipack Wrapping, 'Individually wrapped muffins within an outer pack' leads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61578" y="2915920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329074" y="2925698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76655" y="2915920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6044151" y="2925698"/>
            <a:ext cx="34816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'Shared pack without individual wrapping' (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73863" y="2915920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9641359" y="2925698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76225" y="3143630"/>
            <a:ext cx="23937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Price Positioning, 'Premium' leads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18056" y="3133852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785552" y="3143630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33133" y="3133852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500628" y="3143630"/>
            <a:ext cx="17558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'Mid-range' (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04554" y="3133852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5372050" y="3143630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76225" y="3361562"/>
            <a:ext cx="31531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Brand Ownership, 'Retailer private labels' leads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77402" y="3351784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3544898" y="3361562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92479" y="3351784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4259974" y="3361562"/>
            <a:ext cx="23749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'Manufacturer brands' (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3000" y="3351784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6750496" y="3361562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276225" y="3579494"/>
            <a:ext cx="20360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Sales Channel, 'Retail' leads at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60348" y="3569716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2427843" y="3579494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75424" y="3569716"/>
            <a:ext cx="128699" cy="187198"/>
          </a:xfrm>
          <a:prstGeom prst="rect">
            <a:avLst/>
          </a:prstGeom>
        </p:spPr>
      </p:pic>
      <p:sp>
        <p:nvSpPr>
          <p:cNvPr id="92" name="TextBox 91"/>
          <p:cNvSpPr txBox="1"/>
          <p:nvPr/>
        </p:nvSpPr>
        <p:spPr>
          <a:xfrm>
            <a:off x="3142920" y="3579494"/>
            <a:ext cx="28071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'Foodservice and institutional' (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98113" y="3569716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6065609" y="3579494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76225" y="3797426"/>
            <a:ext cx="66778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Use the Country slicer in the top band to switch country the selection stays synced across every page of the report.</a:t>
            </a:r>
          </a:p>
        </p:txBody>
      </p:sp>
    </p:spTree>
  </p:cSld>
  <p:clrMapOvr>
    <a:masterClrMapping/>
  </p:clrMapOvr>
</p:sld>
</file>

<file path=ppt/slides/slide4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666875"/>
            <a:ext cx="103632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009775"/>
            <a:ext cx="103632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Segment 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695575"/>
            <a:ext cx="5067300" cy="36385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Flavour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Primary Flour Base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Dietary Formulation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Nutritional Positioning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Recipe and Ingredient Claims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Structure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Surface Finish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Individual Muffin Size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096000" y="2695575"/>
            <a:ext cx="50673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Storage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Shelf Life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Packaging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Pack Configuration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Multipack Wrapping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Price Positioning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Brand Ownership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Sales Channel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Product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6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70520"/>
                <a:gridCol w="1146839"/>
                <a:gridCol w="1146839"/>
                <a:gridCol w="1146839"/>
                <a:gridCol w="114683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Type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6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70520"/>
                <a:gridCol w="1146839"/>
                <a:gridCol w="1146839"/>
                <a:gridCol w="1146839"/>
                <a:gridCol w="114683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59233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59233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Product Type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Product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4162425"/>
          </a:xfrm>
          <a:prstGeom prst="roundRect">
            <a:avLst>
              <a:gd name="adj" fmla="val 183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36956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4938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9434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84001" y="294246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Product Type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Product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4162425"/>
          </a:xfrm>
          <a:prstGeom prst="roundRect">
            <a:avLst>
              <a:gd name="adj" fmla="val 183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Product Type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2" cy="36956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5396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9434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7008" y="294246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Product Type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Product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17488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8050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Product Type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Product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3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17488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8050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Flavour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Flavour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Flavour: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Flavour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Flavour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25077"/>
                <a:gridCol w="1033200"/>
                <a:gridCol w="1033200"/>
                <a:gridCol w="1033200"/>
                <a:gridCol w="10332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Flavour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Flavour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25077"/>
                <a:gridCol w="1033200"/>
                <a:gridCol w="1033200"/>
                <a:gridCol w="1033200"/>
                <a:gridCol w="10332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86512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86512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Flavour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Flavour,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Flavour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2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20268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9440" y="269481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Flavour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Flavour,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Flavour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8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01670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60144" y="269481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Flavour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Flavour,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Flavour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74318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54342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6005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Flavour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800600"/>
          <a:ext cx="11887195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7120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9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46468" y="2575752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2867" y="539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Flavour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Flavour,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Flavour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8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74318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46468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Flour Base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Primary Flour Base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Primary Flour Base: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Primary Flour Base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Primary Flour Base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9768"/>
                <a:gridCol w="856786"/>
                <a:gridCol w="856786"/>
                <a:gridCol w="1082029"/>
                <a:gridCol w="6125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Primary Flour Base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Primary Flour Base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9768"/>
                <a:gridCol w="856786"/>
                <a:gridCol w="856786"/>
                <a:gridCol w="1082029"/>
                <a:gridCol w="6125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8855" y="2237612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8855" y="5123687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Primary Flour Base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Primary Flour Base,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Primary Flour Base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14444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54342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6005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Primary Flour Base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800600"/>
          <a:ext cx="1188719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77045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9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6534" y="2575752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97829" y="539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Primary Flour Base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Primary Flour Base,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Primary Flour Base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6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64040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41327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Primary Flour Base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Primary Flour Base,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Primary Flour Base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17919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2957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3529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Primary Flour Base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552950"/>
          <a:ext cx="1188720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09262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04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8268" y="245192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3944" y="51522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Primary Flour Base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Primary Flour Base,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Primary Flour Base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17919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8268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Dietary Formulation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Dietary Formulation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Dietary Formulation: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Dietary Formulation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Dietary Formulation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3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87165"/>
                <a:gridCol w="1067677"/>
                <a:gridCol w="1067677"/>
                <a:gridCol w="1067677"/>
                <a:gridCol w="106767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Dietary Formulation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Dietary Formulation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3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87165"/>
                <a:gridCol w="1067677"/>
                <a:gridCol w="1067677"/>
                <a:gridCol w="1067677"/>
                <a:gridCol w="106767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17554" y="2237612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17554" y="5123687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Dietary Formulation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Dietary Formulation,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Dietary Formulation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0472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Dietary Formulation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196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90585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9549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04600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Dietary Formulation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Dietary Formulation,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Dietary Formulation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31154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Dietary Formulation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1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39911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24884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9266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Nutritional Positioning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Nutritional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Nutritional Positioning: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Nutritional Positioning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Nutritional Positioning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34448"/>
                <a:gridCol w="835498"/>
                <a:gridCol w="835498"/>
                <a:gridCol w="1055144"/>
                <a:gridCol w="5972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Nutritional Positioning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Nutritional Positioning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34448"/>
                <a:gridCol w="835498"/>
                <a:gridCol w="835498"/>
                <a:gridCol w="1055144"/>
                <a:gridCol w="5972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91196" y="2237614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91196" y="5123689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Nutritional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Nutritional Positioning,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Nutritional Positioning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29934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3328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Nutritional Positioning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74428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74276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6525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Nutritional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Nutritional Positioning,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Nutritional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78911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Nutritional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78911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8768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8768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Recipe and Ingredient Claims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Recipe and Ingredient Claims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Recipe and Ingredient Claims: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Recipe and Ingredient Claims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Recipe and Ingredient Claims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9930"/>
                <a:gridCol w="994486"/>
                <a:gridCol w="994486"/>
                <a:gridCol w="994486"/>
                <a:gridCol w="9944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Recipe and Ingredient Claims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Recipe and Ingredient Claims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9930"/>
                <a:gridCol w="994486"/>
                <a:gridCol w="994486"/>
                <a:gridCol w="994486"/>
                <a:gridCol w="9944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63937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63937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Recipe and Ingredient Claims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Recipe and Ingredient Claims,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Recipe and Ingredient Claims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68557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3588" y="269481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Recipe and Ingredient Claims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Recipe and Ingredient Claims,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Recipe and Ingredient Claims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7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51700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85158" y="269481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Recipe and Ingredient Claims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Recipe and Ingredient Claims,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Recipe and Ingredient Claims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99690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54342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6005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Recipe and Ingredient Claims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800600"/>
          <a:ext cx="11887206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27921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9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09152" y="2575752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73273" y="539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Recipe and Ingredient Claims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Recipe and Ingredient Claims,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Recipe and Ingredient Claims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6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27921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73273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Structure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Product Structure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Product Structure: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Structure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Structure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6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50200"/>
                <a:gridCol w="1126919"/>
                <a:gridCol w="1126919"/>
                <a:gridCol w="1126919"/>
                <a:gridCol w="11269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Structure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Structure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6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50200"/>
                <a:gridCol w="1126919"/>
                <a:gridCol w="1126919"/>
                <a:gridCol w="1126919"/>
                <a:gridCol w="11269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9073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9073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Product Structure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Product Structure,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Product Structure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88524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3574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Product Structure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Product Structure,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Product Structure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3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68770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3691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Product Structure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Product Structure,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Product Structure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15115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6686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Product Structure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Product Structure,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Product Structure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9041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8831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Surface Finish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Surface Finish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Surface Finish: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Surface Finish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Surface Finish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93762"/>
                <a:gridCol w="1041028"/>
                <a:gridCol w="1041028"/>
                <a:gridCol w="1041028"/>
                <a:gridCol w="104102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Surface Finish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Surface Finish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93762"/>
                <a:gridCol w="1041028"/>
                <a:gridCol w="1041028"/>
                <a:gridCol w="1041028"/>
                <a:gridCol w="104102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70853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70853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Surface Finish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Surface Finish,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Surface Finish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44255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Surface Finish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4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19130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31436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68877" y="4652200"/>
            <a:ext cx="366712" cy="533399"/>
          </a:xfrm>
          <a:prstGeom prst="rect">
            <a:avLst/>
          </a:prstGeom>
        </p:spPr>
      </p:pic>
    </p:spTree>
  </p:cSld>
  <p:clrMapOvr>
    <a:masterClrMapping/>
  </p:clrMapOvr>
</p:sld>
</file>

<file path=ppt/slides/slide4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Surface Finish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Surface Finish,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Surface Finish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62417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Surface Finish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62350"/>
          <a:ext cx="11887193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8323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295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0522" y="1956627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8467" y="42807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Individual Muffin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Individual Muffin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Individual Muffin Size: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Individual Muffin Size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Individual Muffin Size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32167"/>
                <a:gridCol w="886351"/>
                <a:gridCol w="886351"/>
                <a:gridCol w="1119366"/>
                <a:gridCol w="63364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Individual Muffin Size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Individual Muffin Size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32167"/>
                <a:gridCol w="886351"/>
                <a:gridCol w="886351"/>
                <a:gridCol w="1119366"/>
                <a:gridCol w="63364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090056" y="2237612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090056" y="5123687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Individual Muffin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Individual Muffin Size,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43125"/>
          </a:xfrm>
          <a:prstGeom prst="roundRect">
            <a:avLst>
              <a:gd name="adj" fmla="val 3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Individual Muffin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6764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7493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20922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24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2575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147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Individual Muffin Size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1472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156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0101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8055" y="202920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7110" y="41140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Individual Muffin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Individual Muffin Size,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Individual Muffin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03190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Individual Muffin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03190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0904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0904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Storage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Storage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Storage Format: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Storage Format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Storage Format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22690"/>
                <a:gridCol w="1158796"/>
                <a:gridCol w="1158796"/>
                <a:gridCol w="1158796"/>
                <a:gridCol w="115879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Storage Format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Storage Format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22690"/>
                <a:gridCol w="1158796"/>
                <a:gridCol w="1158796"/>
                <a:gridCol w="1158796"/>
                <a:gridCol w="115879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35317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35317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Storage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Storage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Storage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20814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Storage Format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74586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69718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96605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Storage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Storage Format,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Storage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89750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Storage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20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89750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54187" y="158991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54187" y="318058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Shelf Life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Shelf Life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Shelf Life: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Shelf Life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Shelf Life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7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03925"/>
                <a:gridCol w="1113488"/>
                <a:gridCol w="1113488"/>
                <a:gridCol w="1113488"/>
                <a:gridCol w="111348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Shelf Life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Shelf Life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7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03925"/>
                <a:gridCol w="1113488"/>
                <a:gridCol w="1113488"/>
                <a:gridCol w="1113488"/>
                <a:gridCol w="111348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625935" y="2237612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625935" y="5123687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Shelf Life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Shelf Life,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Shelf Life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15142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Shelf Life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19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77045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6883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97829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Shelf Life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Shelf Life,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Shelf Life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09262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Shelf Life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09262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3944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3944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Packaging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Packaging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Packaging Format: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Packaging Format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Packaging Format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3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95617"/>
                <a:gridCol w="1040564"/>
                <a:gridCol w="1040564"/>
                <a:gridCol w="1040564"/>
                <a:gridCol w="104056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Packaging Format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Packaging Format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3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95617"/>
                <a:gridCol w="1040564"/>
                <a:gridCol w="1040564"/>
                <a:gridCol w="1040564"/>
                <a:gridCol w="104056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71780" y="2237612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71780" y="5123687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Packaging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Packaging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Packaging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30850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74737" y="269481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Packaging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Packaging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Packaging Format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6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1620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7416" y="269481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Packaging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Packaging Format,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Packaging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96965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54342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6005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Packaging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80060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4647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9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07794" y="2575752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1631" y="539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Packaging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Packaging Format,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Packaging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96965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07794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Configuration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Pack Configuration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Pack Configuration: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Pack Configuration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Pack Configuration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02726"/>
                <a:gridCol w="1063787"/>
                <a:gridCol w="1063787"/>
                <a:gridCol w="1063787"/>
                <a:gridCol w="10637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Pack Configuration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Pack Configuration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02726"/>
                <a:gridCol w="1063787"/>
                <a:gridCol w="1063787"/>
                <a:gridCol w="1063787"/>
                <a:gridCol w="10637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25334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25334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Pack Configuration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Pack Configuration,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Pack Configuration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80524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Pack Configuration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4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52966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99571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35795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Pack Configuration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Pack Configuration,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Pack Configuration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7120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Pack Configuration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19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7120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2867" y="2080450"/>
            <a:ext cx="366712" cy="533399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2867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Multipack Wrapping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Multipack Wrapping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Multipack Wrapping: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Multipack Wrapping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Multipack Wrapping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38749"/>
                <a:gridCol w="670480"/>
                <a:gridCol w="670480"/>
                <a:gridCol w="861687"/>
                <a:gridCol w="516479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92354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92354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Multipack Wrapping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Multipack Wrapping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38749"/>
                <a:gridCol w="670480"/>
                <a:gridCol w="670480"/>
                <a:gridCol w="861687"/>
                <a:gridCol w="516479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92354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92354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12015" y="2360675"/>
            <a:ext cx="330041" cy="48006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12015" y="5246750"/>
            <a:ext cx="330041" cy="48006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Multipack Wrapping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Multipack Wrapping,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838325"/>
          </a:xfrm>
          <a:prstGeom prst="roundRect">
            <a:avLst>
              <a:gd name="adj" fmla="val 41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Multipack Wrapping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371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5795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394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pack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6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619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952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009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Multipack Wrapping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209925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315725"/>
                <a:gridCol w="514876"/>
                <a:gridCol w="514876"/>
                <a:gridCol w="514876"/>
                <a:gridCol w="514876"/>
                <a:gridCol w="514876"/>
                <a:gridCol w="496739"/>
                <a:gridCol w="491557"/>
                <a:gridCol w="491557"/>
                <a:gridCol w="491557"/>
                <a:gridCol w="491557"/>
                <a:gridCol w="491557"/>
                <a:gridCol w="491557"/>
                <a:gridCol w="491557"/>
                <a:gridCol w="491557"/>
                <a:gridCol w="491557"/>
                <a:gridCol w="491557"/>
                <a:gridCol w="5847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2211" y="187680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70848" y="3566835"/>
            <a:ext cx="359497" cy="522905"/>
          </a:xfrm>
          <a:prstGeom prst="rect">
            <a:avLst/>
          </a:prstGeom>
        </p:spPr>
      </p:pic>
    </p:spTree>
  </p:cSld>
  <p:clrMapOvr>
    <a:masterClrMapping/>
  </p:clrMapOvr>
</p:sld>
</file>

<file path=ppt/slides/slide5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Multipack Wrapping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Multipack Wrapping,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Multipack Wrapping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11714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Multipack Wrapping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581275"/>
          <a:ext cx="11887204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11714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333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33838" y="1482090"/>
            <a:ext cx="330041" cy="48006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33838" y="2825115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5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Positioning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Price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Price Positioning: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Price Positioning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Price Positioning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3982"/>
                <a:gridCol w="1013473"/>
                <a:gridCol w="1013473"/>
                <a:gridCol w="1013473"/>
                <a:gridCol w="101347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Price Positioning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Price Positioning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3982"/>
                <a:gridCol w="1013473"/>
                <a:gridCol w="1013473"/>
                <a:gridCol w="1013473"/>
                <a:gridCol w="101347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25963" y="2237612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25963" y="5123687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Price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Price Positioning,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Price Positioning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75771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Price Positioning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55550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196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7084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Price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Price Positioning,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Price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01628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Price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19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2485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60125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1736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Brand Ownership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Brand Ownership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Brand Ownership: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Brand Ownership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Brand Ownership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38315"/>
                <a:gridCol w="979890"/>
                <a:gridCol w="979890"/>
                <a:gridCol w="979890"/>
                <a:gridCol w="97989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Brand Ownership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Brand Ownership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38315"/>
                <a:gridCol w="979890"/>
                <a:gridCol w="979890"/>
                <a:gridCol w="979890"/>
                <a:gridCol w="97989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93130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93130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Brand Ownership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Brand Ownership,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Brand Ownership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41124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7986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Brand Ownership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Brand Ownership,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Brand Ownership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26843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2731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Brand Ownership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Brand Ownership,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Brand Ownership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08341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Brand Ownership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196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08341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3478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3478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Sales Channel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Sales Channel: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Sales Channel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Sales Channel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9903"/>
                <a:gridCol w="994493"/>
                <a:gridCol w="994493"/>
                <a:gridCol w="994493"/>
                <a:gridCol w="99449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Sales Channel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Sales Channel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9903"/>
                <a:gridCol w="994493"/>
                <a:gridCol w="994493"/>
                <a:gridCol w="994493"/>
                <a:gridCol w="99449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63924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63924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Sales Channel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Sales Channel,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391150"/>
          </a:xfrm>
          <a:prstGeom prst="roundRect">
            <a:avLst>
              <a:gd name="adj" fmla="val 141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Sales Channel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49244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22528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172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576" y="355682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Sales Channel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Sales Channel,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391150"/>
          </a:xfrm>
          <a:prstGeom prst="roundRect">
            <a:avLst>
              <a:gd name="adj" fmla="val 141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Sales Channel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4" cy="49244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35240"/>
                <a:gridCol w="537731"/>
                <a:gridCol w="537731"/>
                <a:gridCol w="537731"/>
                <a:gridCol w="537731"/>
                <a:gridCol w="537731"/>
                <a:gridCol w="518789"/>
                <a:gridCol w="513377"/>
                <a:gridCol w="513377"/>
                <a:gridCol w="513377"/>
                <a:gridCol w="513377"/>
                <a:gridCol w="513377"/>
                <a:gridCol w="513377"/>
                <a:gridCol w="513377"/>
                <a:gridCol w="513377"/>
                <a:gridCol w="513377"/>
                <a:gridCol w="513377"/>
                <a:gridCol w="61075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6172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76932" y="355682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Sales Channel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Sales Channel,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143500"/>
          </a:xfrm>
          <a:prstGeom prst="roundRect">
            <a:avLst>
              <a:gd name="adj" fmla="val 14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Sales Channel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46767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79887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59245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49254" y="343299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Sales Channel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Sales Channel,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143500"/>
          </a:xfrm>
          <a:prstGeom prst="roundRect">
            <a:avLst>
              <a:gd name="adj" fmla="val 14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Sales Channel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2" cy="46767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79887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9245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49254" y="343299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Packaged Muffins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Pricing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Pricing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Pricing &amp; Regional Price Index Trends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Global Pricing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Price Positioning &amp; Key Findings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Key Pricing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Factors Impacting Pricing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Product Pricing &amp; Regional Price Index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range by sub-segment and indexed regional price movement, highlighting dispersion and structural shifts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average USD pricing by product type and indexed regional price movement with base-year inflation adjustments.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Pricing by Product Type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11919" y="3471051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3381.6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11919" y="2561000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4237.4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11919" y="1650949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5093.2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2409825" y="1927636"/>
            <a:ext cx="0" cy="541712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Rectangle 16"/>
          <p:cNvSpPr/>
          <p:nvPr/>
        </p:nvSpPr>
        <p:spPr>
          <a:xfrm>
            <a:off x="2190750" y="1927636"/>
            <a:ext cx="438150" cy="541712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57225" y="1775236"/>
            <a:ext cx="3505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57225" y="3566301"/>
            <a:ext cx="35052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5915025" y="2907429"/>
            <a:ext cx="0" cy="420285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ectangle 20"/>
          <p:cNvSpPr/>
          <p:nvPr/>
        </p:nvSpPr>
        <p:spPr>
          <a:xfrm>
            <a:off x="5695950" y="2907429"/>
            <a:ext cx="438150" cy="420285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4162425" y="2755029"/>
            <a:ext cx="3505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4162425" y="3566301"/>
            <a:ext cx="35052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142875" y="3991741"/>
            <a:ext cx="7696200" cy="2564645"/>
          </a:xfrm>
          <a:prstGeom prst="roundRect">
            <a:avLst>
              <a:gd name="adj" fmla="val 29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238125" y="4048891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Region</a:t>
            </a:r>
          </a:p>
        </p:txBody>
      </p:sp>
      <p:cxnSp>
        <p:nvCxnSpPr>
          <p:cNvPr id="26" name="Connector 25"/>
          <p:cNvCxnSpPr/>
          <p:nvPr/>
        </p:nvCxnSpPr>
        <p:spPr>
          <a:xfrm>
            <a:off x="619125" y="4517252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619125" y="488327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19125" y="5249298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619125" y="561532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619125" y="5981344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619125" y="4517252"/>
            <a:ext cx="0" cy="1464092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90550" y="4517252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90550" y="488327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90550" y="524929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90550" y="561532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590550" y="5981344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FMI Scale tick"/>
          <p:cNvSpPr txBox="1"/>
          <p:nvPr/>
        </p:nvSpPr>
        <p:spPr>
          <a:xfrm>
            <a:off x="138112" y="4450577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+9.3%</a:t>
            </a:r>
          </a:p>
        </p:txBody>
      </p:sp>
      <p:sp>
        <p:nvSpPr>
          <p:cNvPr id="38" name="FMI Scale tick"/>
          <p:cNvSpPr txBox="1"/>
          <p:nvPr/>
        </p:nvSpPr>
        <p:spPr>
          <a:xfrm>
            <a:off x="138112" y="4816600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+4.7%</a:t>
            </a:r>
          </a:p>
        </p:txBody>
      </p:sp>
      <p:sp>
        <p:nvSpPr>
          <p:cNvPr id="39" name="FMI Scale tick"/>
          <p:cNvSpPr txBox="1"/>
          <p:nvPr/>
        </p:nvSpPr>
        <p:spPr>
          <a:xfrm>
            <a:off x="219075" y="5182623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0" name="FMI Scale tick"/>
          <p:cNvSpPr txBox="1"/>
          <p:nvPr/>
        </p:nvSpPr>
        <p:spPr>
          <a:xfrm>
            <a:off x="164306" y="5548646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-4.7%</a:t>
            </a:r>
          </a:p>
        </p:txBody>
      </p:sp>
      <p:sp>
        <p:nvSpPr>
          <p:cNvPr id="41" name="FMI Scale tick"/>
          <p:cNvSpPr txBox="1"/>
          <p:nvPr/>
        </p:nvSpPr>
        <p:spPr>
          <a:xfrm>
            <a:off x="164306" y="5914669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-9.3%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619125" y="5249298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Rectangle 42"/>
          <p:cNvSpPr/>
          <p:nvPr/>
        </p:nvSpPr>
        <p:spPr>
          <a:xfrm>
            <a:off x="977900" y="4659176"/>
            <a:ext cx="457200" cy="59012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FMI Data Label"/>
          <p:cNvSpPr txBox="1"/>
          <p:nvPr/>
        </p:nvSpPr>
        <p:spPr>
          <a:xfrm>
            <a:off x="619125" y="4516301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152650" y="4669646"/>
            <a:ext cx="457200" cy="57965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FMI Data Label"/>
          <p:cNvSpPr txBox="1"/>
          <p:nvPr/>
        </p:nvSpPr>
        <p:spPr>
          <a:xfrm>
            <a:off x="1793875" y="4526771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327400" y="4662998"/>
            <a:ext cx="457200" cy="586300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FMI Data Label"/>
          <p:cNvSpPr txBox="1"/>
          <p:nvPr/>
        </p:nvSpPr>
        <p:spPr>
          <a:xfrm>
            <a:off x="2968625" y="4520123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49" name="Rectangle 48"/>
          <p:cNvSpPr/>
          <p:nvPr/>
        </p:nvSpPr>
        <p:spPr>
          <a:xfrm>
            <a:off x="4502150" y="4686569"/>
            <a:ext cx="457200" cy="562729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FMI Data Label"/>
          <p:cNvSpPr txBox="1"/>
          <p:nvPr/>
        </p:nvSpPr>
        <p:spPr>
          <a:xfrm>
            <a:off x="4143375" y="4543694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1" name="Rectangle 50"/>
          <p:cNvSpPr/>
          <p:nvPr/>
        </p:nvSpPr>
        <p:spPr>
          <a:xfrm>
            <a:off x="5676900" y="4614107"/>
            <a:ext cx="457200" cy="63519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FMI Data Label"/>
          <p:cNvSpPr txBox="1"/>
          <p:nvPr/>
        </p:nvSpPr>
        <p:spPr>
          <a:xfrm>
            <a:off x="5318125" y="4471232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3" name="Rectangle 52"/>
          <p:cNvSpPr/>
          <p:nvPr/>
        </p:nvSpPr>
        <p:spPr>
          <a:xfrm>
            <a:off x="6851650" y="4644036"/>
            <a:ext cx="457200" cy="60526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FMI Data Label"/>
          <p:cNvSpPr txBox="1"/>
          <p:nvPr/>
        </p:nvSpPr>
        <p:spPr>
          <a:xfrm>
            <a:off x="6492875" y="4501161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1912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79387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Latin America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96862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414337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East Asia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31812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49287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Middle East &amp; Africa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748312"/>
            <a:ext cx="128699" cy="187198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2728105"/>
            <a:ext cx="128699" cy="187198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2150" y="4489377"/>
            <a:ext cx="128699" cy="187198"/>
          </a:xfrm>
          <a:prstGeom prst="rect">
            <a:avLst/>
          </a:prstGeom>
        </p:spPr>
      </p:pic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16900" y="4499847"/>
            <a:ext cx="128699" cy="187198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91650" y="4493199"/>
            <a:ext cx="128699" cy="187198"/>
          </a:xfrm>
          <a:prstGeom prst="rect">
            <a:avLst/>
          </a:prstGeom>
        </p:spPr>
      </p:pic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6400" y="4516770"/>
            <a:ext cx="128699" cy="187198"/>
          </a:xfrm>
          <a:prstGeom prst="rect">
            <a:avLst/>
          </a:prstGeom>
        </p:spPr>
      </p:pic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1150" y="4444308"/>
            <a:ext cx="128699" cy="187198"/>
          </a:xfrm>
          <a:prstGeom prst="rect">
            <a:avLst/>
          </a:prstGeom>
        </p:spPr>
      </p:pic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5900" y="447423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048625" y="1736673"/>
            <a:ext cx="36544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chart shows global average pricing of key product type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8048625" y="1911934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types in USD, harmonised across regions. Each candlestick spans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048625" y="2087194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minimum-to-maximum observed price within the base year,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048625" y="2262454"/>
            <a:ext cx="34062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giving a clear read of price range and market dispersion.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048625" y="2490292"/>
            <a:ext cx="37930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Wider bodies mark a larger gap between opening and closing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8048625" y="2665551"/>
            <a:ext cx="34881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levels 'Sweet muffins' shows the most movement (+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85900" y="2655328"/>
            <a:ext cx="134549" cy="195707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1661010" y="2665551"/>
            <a:ext cx="1204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8048625" y="2840811"/>
            <a:ext cx="20510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'Savoury muffins' the least (+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48791" y="2830588"/>
            <a:ext cx="134549" cy="195707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10223901" y="2840811"/>
            <a:ext cx="15301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variability stakeholders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8048625" y="3016071"/>
            <a:ext cx="3347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should monitor when planning procurement or pricing.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048625" y="3243909"/>
            <a:ext cx="37186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lower chart indexes region-level price movement to the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048625" y="3419169"/>
            <a:ext cx="3716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base year, applied consistently across the horizon to strip out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8048625" y="3594429"/>
            <a:ext cx="36932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year-on-year inflationary volatility and reveal structural price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048625" y="3769689"/>
            <a:ext cx="431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shifts.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048625" y="3997527"/>
            <a:ext cx="23402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 price indices diverge by up to</a:t>
            </a:r>
          </a:p>
        </p:txBody>
      </p:sp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38039" y="3987304"/>
            <a:ext cx="134549" cy="195707"/>
          </a:xfrm>
          <a:prstGeom prst="rect">
            <a:avLst/>
          </a:prstGeom>
        </p:spPr>
      </p:pic>
      <p:sp>
        <p:nvSpPr>
          <p:cNvPr id="92" name="TextBox 91"/>
          <p:cNvSpPr txBox="1"/>
          <p:nvPr/>
        </p:nvSpPr>
        <p:spPr>
          <a:xfrm>
            <a:off x="10513148" y="3997527"/>
            <a:ext cx="11875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8048625" y="4172787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2036: higher-priced regions start higher and grow steadily, while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048625" y="4348047"/>
            <a:ext cx="34547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lower-priced regions start lower and converge, reflecting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8048625" y="4523307"/>
            <a:ext cx="10908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catch-up growth.</a:t>
            </a:r>
          </a:p>
        </p:txBody>
      </p:sp>
    </p:spTree>
  </p:cSld>
  <p:clrMapOvr>
    <a:masterClrMapping/>
  </p:clrMapOvr>
</p:sld>
</file>

<file path=ppt/slides/slide5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Pricing Assessment: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Average price (US$/MT) by product type, 2021 to 2036, with 2026 price index and growth outlook</a:t>
            </a:r>
          </a:p>
        </p:txBody>
      </p:sp>
      <p:sp>
        <p:nvSpPr>
          <p:cNvPr id="10" name="Rectangle 9"/>
          <p:cNvSpPr/>
          <p:nvPr/>
        </p:nvSpPr>
        <p:spPr>
          <a:xfrm>
            <a:off x="274320" y="981075"/>
            <a:ext cx="11640312" cy="457200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wrap="square" lIns="137160"/>
          <a:lstStyle/>
          <a:p>
            <a:pPr algn="l"/>
            <a:r>
              <a:rPr sz="13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1" name="Rectangle 10"/>
          <p:cNvSpPr/>
          <p:nvPr/>
        </p:nvSpPr>
        <p:spPr>
          <a:xfrm>
            <a:off x="274320" y="1529715"/>
            <a:ext cx="6446520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84048" y="1575435"/>
            <a:ext cx="621792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Trend by Product Type, 2021 to 2036 (US$/MT)</a:t>
            </a:r>
          </a:p>
        </p:txBody>
      </p:sp>
      <p:graphicFrame>
        <p:nvGraphicFramePr>
          <p:cNvPr id="13" name="FMI Price Chart"/>
          <p:cNvGraphicFramePr>
            <a:graphicFrameLocks noGrp="1"/>
          </p:cNvGraphicFramePr>
          <p:nvPr/>
        </p:nvGraphicFramePr>
        <p:xfrm>
          <a:off x="347472" y="1831467"/>
          <a:ext cx="6309360" cy="3182112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572000" y="1593723"/>
            <a:ext cx="2103120" cy="2286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r"/>
            <a:r>
              <a:rPr sz="850" b="0" i="1">
                <a:solidFill>
                  <a:srgbClr val="59636E"/>
                </a:solidFill>
                <a:latin typeface="Calibri"/>
              </a:rPr>
              <a:t>Forecast period: 2026 to 2036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858000" y="1529715"/>
            <a:ext cx="5056632" cy="160020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967728" y="1575435"/>
            <a:ext cx="484632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/>
            </a:r>
          </a:p>
        </p:txBody>
      </p:sp>
      <p:graphicFrame>
        <p:nvGraphicFramePr>
          <p:cNvPr id="17" name="FMI Open Chart"/>
          <p:cNvGraphicFramePr>
            <a:graphicFrameLocks noGrp="1"/>
          </p:cNvGraphicFramePr>
          <p:nvPr/>
        </p:nvGraphicFramePr>
        <p:xfrm>
          <a:off x="6903720" y="1785747"/>
          <a:ext cx="4965192" cy="132588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graphicFrame>
        <p:nvGraphicFramePr>
          <p:cNvPr id="18" name="Table 17"/>
          <p:cNvGraphicFramePr>
            <a:graphicFrameLocks noGrp="1"/>
          </p:cNvGraphicFramePr>
          <p:nvPr/>
        </p:nvGraphicFramePr>
        <p:xfrm>
          <a:off x="6858000" y="3203067"/>
          <a:ext cx="5056632" cy="18470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30552"/>
                <a:gridCol w="548640"/>
                <a:gridCol w="548640"/>
                <a:gridCol w="548640"/>
                <a:gridCol w="777240"/>
                <a:gridCol w="502920"/>
              </a:tblGrid>
              <a:tr h="461772">
                <a:tc>
                  <a:txBody>
                    <a:bodyPr wrap="square"/>
                    <a:lstStyle/>
                    <a:p>
                      <a:pPr algn="l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Product Type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2021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2026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2036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CAGR 2026 to 2036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Index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</a:tr>
              <a:tr h="461772">
                <a:tc>
                  <a:txBody>
                    <a:bodyPr wrap="square"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Sweet muffins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</a:tr>
              <a:tr h="461772">
                <a:tc>
                  <a:txBody>
                    <a:bodyPr wrap="square"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Savoury muffins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</a:tr>
              <a:tr h="461772">
                <a:tc>
                  <a:txBody>
                    <a:bodyPr wrap="square"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Global Average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</a:tbl>
          </a:graphicData>
        </a:graphic>
      </p:graphicFrame>
      <p:sp>
        <p:nvSpPr>
          <p:cNvPr id="19" name="Rectangle 18"/>
          <p:cNvSpPr/>
          <p:nvPr/>
        </p:nvSpPr>
        <p:spPr>
          <a:xfrm>
            <a:off x="274320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388620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79145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Hierarchy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79145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4200144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Oval 23"/>
          <p:cNvSpPr/>
          <p:nvPr/>
        </p:nvSpPr>
        <p:spPr>
          <a:xfrm>
            <a:off x="4314444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704969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Momentum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704969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27" name="Rectangle 26"/>
          <p:cNvSpPr/>
          <p:nvPr/>
        </p:nvSpPr>
        <p:spPr>
          <a:xfrm>
            <a:off x="8125968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Oval 27"/>
          <p:cNvSpPr/>
          <p:nvPr/>
        </p:nvSpPr>
        <p:spPr>
          <a:xfrm>
            <a:off x="8240268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8630793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Outlook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630793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4320" y="6363843"/>
            <a:ext cx="11612880" cy="20955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Source: FMI analysis. Average price = market value (US$) / market volume (MT). 2021 to 2025 historical, 2026 to 2036 forecast.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83571" y="4117466"/>
            <a:ext cx="330041" cy="48006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411480" y="1110615"/>
            <a:ext cx="4226272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Sweet muffins command the highest 2026 price point at US$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90213" y="1099058"/>
            <a:ext cx="152098" cy="221234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4788162" y="1110615"/>
            <a:ext cx="535061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/MT, a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275685" y="1099058"/>
            <a:ext cx="152098" cy="221234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5473635" y="1110615"/>
            <a:ext cx="2244749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premium over Savoury muffins.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995160" y="1602867"/>
            <a:ext cx="2164334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2026 Price Index vs Global Average (=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06620" y="1593461"/>
            <a:ext cx="123784" cy="180050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267721" y="1602867"/>
            <a:ext cx="118189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)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06576" y="5530976"/>
            <a:ext cx="3143250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Sweet muffins sit at the top of the 2026 price ladder at an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6576" y="5690996"/>
            <a:ext cx="512452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index of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265978" y="5681662"/>
            <a:ext cx="122849" cy="178689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425861" y="5690996"/>
            <a:ext cx="1797508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while Savoury muffins trade at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70319" y="5681662"/>
            <a:ext cx="122849" cy="178689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3330201" y="5690996"/>
            <a:ext cx="462446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which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6576" y="5851016"/>
            <a:ext cx="2307468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keeps the full product type spread within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60994" y="5841682"/>
            <a:ext cx="122849" cy="178689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220877" y="5851016"/>
            <a:ext cx="109797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732401" y="5530976"/>
            <a:ext cx="2678608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Sweet muffins post the fastest price growth at a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357958" y="5521642"/>
            <a:ext cx="122849" cy="178689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732401" y="5690996"/>
            <a:ext cx="2611917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CAGR between 2026 and 2036, compared with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91267" y="5681662"/>
            <a:ext cx="122849" cy="178689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7451149" y="5690996"/>
            <a:ext cx="233771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for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4732401" y="5851016"/>
            <a:ext cx="98334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Savoury muffins.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658225" y="5530976"/>
            <a:ext cx="223584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The Global average price rises from US$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841019" y="5521642"/>
            <a:ext cx="122849" cy="178689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11000901" y="5530976"/>
            <a:ext cx="739043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in 2026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658225" y="5690996"/>
            <a:ext cx="436140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to US$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41315" y="5681662"/>
            <a:ext cx="122849" cy="178689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9201197" y="5690996"/>
            <a:ext cx="2593181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in 2036, and the gap between the highest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8658225" y="5851016"/>
            <a:ext cx="2451236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and lowest priced product type moves from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56410" y="5841682"/>
            <a:ext cx="122849" cy="178689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11216293" y="5851016"/>
            <a:ext cx="478073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in 2021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658225" y="6011036"/>
            <a:ext cx="191318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to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96492" y="6001702"/>
            <a:ext cx="122849" cy="178689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8956375" y="6011036"/>
            <a:ext cx="511671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in 2036.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18190" y="3048804"/>
            <a:ext cx="454926" cy="661711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03270" y="2219134"/>
            <a:ext cx="256698" cy="373379"/>
          </a:xfrm>
          <a:prstGeom prst="rect">
            <a:avLst/>
          </a:prstGeom>
        </p:spPr>
      </p:pic>
      <p:sp>
        <p:nvSpPr>
          <p:cNvPr id="71" name="lockshield_13"/>
          <p:cNvSpPr/>
          <p:nvPr/>
        </p:nvSpPr>
        <p:spPr>
          <a:xfrm>
            <a:off x="347472" y="1831467"/>
            <a:ext cx="6309360" cy="3182112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lockshield_17"/>
          <p:cNvSpPr/>
          <p:nvPr/>
        </p:nvSpPr>
        <p:spPr>
          <a:xfrm>
            <a:off x="6903720" y="1785747"/>
            <a:ext cx="4965192" cy="132588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Price Matrix: Product Type × Flavour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Average price (US$/MT) for every product type and flavour combination, 2026</a:t>
            </a:r>
          </a:p>
        </p:txBody>
      </p:sp>
      <p:sp>
        <p:nvSpPr>
          <p:cNvPr id="10" name="Rectangle 9"/>
          <p:cNvSpPr/>
          <p:nvPr/>
        </p:nvSpPr>
        <p:spPr>
          <a:xfrm>
            <a:off x="274320" y="981075"/>
            <a:ext cx="11640312" cy="457200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wrap="square" lIns="137160"/>
          <a:lstStyle/>
          <a:p>
            <a:pPr algn="l"/>
            <a:r>
              <a:rPr sz="13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1" name="Rectangle 10"/>
          <p:cNvSpPr/>
          <p:nvPr/>
        </p:nvSpPr>
        <p:spPr>
          <a:xfrm>
            <a:off x="274320" y="1529715"/>
            <a:ext cx="7543800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84048" y="1575435"/>
            <a:ext cx="731520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2026 Price Matrix (US$/MT), Shaded by Index vs Global Average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365760" y="1868043"/>
          <a:ext cx="7360920" cy="2834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54480"/>
                <a:gridCol w="2601468"/>
                <a:gridCol w="2601468"/>
                <a:gridCol w="603504"/>
              </a:tblGrid>
              <a:tr h="708660">
                <a:tc>
                  <a:txBody>
                    <a:bodyPr wrap="square"/>
                    <a:lstStyle/>
                    <a:p>
                      <a:pPr algn="l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Product Type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Sweet Muffins Flavours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Savoury Muffins Flavours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Row Avg.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</a:tr>
              <a:tr h="70866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Sweet muffins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70866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Savoury muffins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70866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Column Avg.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</a:tbl>
          </a:graphicData>
        </a:graphic>
      </p:graphicFrame>
      <p:sp>
        <p:nvSpPr>
          <p:cNvPr id="14" name="Rectangle 13"/>
          <p:cNvSpPr/>
          <p:nvPr/>
        </p:nvSpPr>
        <p:spPr>
          <a:xfrm>
            <a:off x="384048" y="4794123"/>
            <a:ext cx="180975" cy="142875"/>
          </a:xfrm>
          <a:prstGeom prst="rect">
            <a:avLst/>
          </a:prstGeom>
          <a:solidFill>
            <a:srgbClr val="9DC0E0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5" name="FMI Scale legend"/>
          <p:cNvSpPr txBox="1"/>
          <p:nvPr/>
        </p:nvSpPr>
        <p:spPr>
          <a:xfrm>
            <a:off x="593598" y="4739259"/>
            <a:ext cx="1276350" cy="23812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Index below 97.5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50898" y="4794123"/>
            <a:ext cx="180975" cy="142875"/>
          </a:xfrm>
          <a:prstGeom prst="rect">
            <a:avLst/>
          </a:prstGeom>
          <a:solidFill>
            <a:srgbClr val="D9E6F2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7" name="FMI Scale legend"/>
          <p:cNvSpPr txBox="1"/>
          <p:nvPr/>
        </p:nvSpPr>
        <p:spPr>
          <a:xfrm>
            <a:off x="2060448" y="4739259"/>
            <a:ext cx="1276350" cy="23812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97.5 to 99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317748" y="4794123"/>
            <a:ext cx="180975" cy="142875"/>
          </a:xfrm>
          <a:prstGeom prst="rect">
            <a:avLst/>
          </a:prstGeom>
          <a:solidFill>
            <a:srgbClr val="F7F7F7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9" name="FMI Scale legend"/>
          <p:cNvSpPr txBox="1"/>
          <p:nvPr/>
        </p:nvSpPr>
        <p:spPr>
          <a:xfrm>
            <a:off x="3527298" y="4739259"/>
            <a:ext cx="1276350" cy="23812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Parity: 99 to 101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784598" y="4794123"/>
            <a:ext cx="180975" cy="142875"/>
          </a:xfrm>
          <a:prstGeom prst="rect">
            <a:avLst/>
          </a:prstGeom>
          <a:solidFill>
            <a:srgbClr val="FBE3D3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1" name="FMI Scale legend"/>
          <p:cNvSpPr txBox="1"/>
          <p:nvPr/>
        </p:nvSpPr>
        <p:spPr>
          <a:xfrm>
            <a:off x="4994148" y="4739259"/>
            <a:ext cx="1276350" cy="23812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101 to 102.5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251448" y="4794123"/>
            <a:ext cx="180975" cy="142875"/>
          </a:xfrm>
          <a:prstGeom prst="rect">
            <a:avLst/>
          </a:prstGeom>
          <a:solidFill>
            <a:srgbClr val="F4B183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FMI Scale legend"/>
          <p:cNvSpPr txBox="1"/>
          <p:nvPr/>
        </p:nvSpPr>
        <p:spPr>
          <a:xfrm>
            <a:off x="6460998" y="4739259"/>
            <a:ext cx="1276350" cy="23812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Index above 102.5</a:t>
            </a:r>
          </a:p>
        </p:txBody>
      </p:sp>
      <p:sp>
        <p:nvSpPr>
          <p:cNvPr id="24" name="Rectangle 23"/>
          <p:cNvSpPr/>
          <p:nvPr/>
        </p:nvSpPr>
        <p:spPr>
          <a:xfrm>
            <a:off x="7955280" y="1529715"/>
            <a:ext cx="3959352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8065008" y="1575435"/>
            <a:ext cx="374904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Range Across All Flavour Sub-Types, 2026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065008" y="1965579"/>
            <a:ext cx="3749040" cy="2190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1">
                <a:solidFill>
                  <a:srgbClr val="59636E"/>
                </a:solidFill>
                <a:latin typeface="Calibri"/>
              </a:rPr>
              <a:t>Bar spans lowest to highest price (US$/MT) at the finest data level.</a:t>
            </a:r>
          </a:p>
        </p:txBody>
      </p:sp>
      <p:graphicFrame>
        <p:nvGraphicFramePr>
          <p:cNvPr id="27" name="FMI Price Chart"/>
          <p:cNvGraphicFramePr>
            <a:graphicFrameLocks noGrp="1"/>
          </p:cNvGraphicFramePr>
          <p:nvPr/>
        </p:nvGraphicFramePr>
        <p:xfrm>
          <a:off x="8001000" y="2032635"/>
          <a:ext cx="3867912" cy="29718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28" name="Rectangle 27"/>
          <p:cNvSpPr/>
          <p:nvPr/>
        </p:nvSpPr>
        <p:spPr>
          <a:xfrm>
            <a:off x="274320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388620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9145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Premium Pockets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79145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200144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4314444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704969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Value Pockets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4704969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36" name="Rectangle 35"/>
          <p:cNvSpPr/>
          <p:nvPr/>
        </p:nvSpPr>
        <p:spPr>
          <a:xfrm>
            <a:off x="8125968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8240268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630793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Within-Type Spread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630793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4320" y="6363843"/>
            <a:ext cx="11612880" cy="20955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36769" y="3372993"/>
            <a:ext cx="366712" cy="533400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411480" y="1110615"/>
            <a:ext cx="6417394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Sweet muffins for Savoury Muffins Flavours is the highest priced combination in 2026 at US$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781335" y="1099058"/>
            <a:ext cx="152098" cy="221234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979284" y="1110615"/>
            <a:ext cx="535706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/MT, +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67452" y="1099058"/>
            <a:ext cx="152098" cy="221234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7665402" y="1110615"/>
            <a:ext cx="1871984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above the Global average.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6576" y="5530976"/>
            <a:ext cx="302422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Sweet muffins positioned on Savoury Muffins Flavours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06576" y="5690996"/>
            <a:ext cx="2398365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carry the strongest premium at an index of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51891" y="5681662"/>
            <a:ext cx="122849" cy="178689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3311773" y="5690996"/>
            <a:ext cx="462446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which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06576" y="5851016"/>
            <a:ext cx="3130227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signals room for value-added claims in this combination.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732401" y="5530976"/>
            <a:ext cx="3143249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Savoury muffins for Sweet Muffins Flavours is the lowest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732401" y="5690996"/>
            <a:ext cx="1900125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priced combination at an index of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579476" y="5681662"/>
            <a:ext cx="122849" cy="178689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6739358" y="5690996"/>
            <a:ext cx="475729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sitting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2036" y="5681662"/>
            <a:ext cx="122849" cy="178689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7321919" y="5690996"/>
            <a:ext cx="40905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below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732401" y="5851016"/>
            <a:ext cx="1483667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the Global average of US$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163017" y="5841682"/>
            <a:ext cx="122849" cy="178689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6322900" y="5851016"/>
            <a:ext cx="340555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658225" y="5530976"/>
            <a:ext cx="3062510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Sweet muffins show the widest internal price spread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45369" y="5681662"/>
            <a:ext cx="122849" cy="178689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8805252" y="5690996"/>
            <a:ext cx="1085701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ranging from US$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837902" y="5681662"/>
            <a:ext cx="122849" cy="178689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997784" y="5690996"/>
            <a:ext cx="697110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to US$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41845" y="5681662"/>
            <a:ext cx="122849" cy="178689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10801727" y="5690996"/>
            <a:ext cx="678619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across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658225" y="5851016"/>
            <a:ext cx="636686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sub-types.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301752" y="6391275"/>
            <a:ext cx="5770697" cy="14340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16" b="0">
                <a:solidFill>
                  <a:srgbClr val="59636E"/>
                </a:solidFill>
                <a:latin typeface="Calibri"/>
              </a:rPr>
              <a:t>Source: FMI analysis. Cell price = combined value (US$) / combined volume (MT); shading shows the index vs the Global average of US$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4239" y="6384020"/>
            <a:ext cx="95470" cy="138866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6138491" y="6391275"/>
            <a:ext cx="281642" cy="14340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16" b="0">
                <a:solidFill>
                  <a:srgbClr val="59636E"/>
                </a:solidFill>
                <a:latin typeface="Calibri"/>
              </a:rPr>
              <a:t>/MT.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13437" y="3234020"/>
            <a:ext cx="332271" cy="483303"/>
          </a:xfrm>
          <a:prstGeom prst="rect">
            <a:avLst/>
          </a:prstGeom>
        </p:spPr>
      </p:pic>
      <p:sp>
        <p:nvSpPr>
          <p:cNvPr id="74" name="lockshield_27"/>
          <p:cNvSpPr/>
          <p:nvPr/>
        </p:nvSpPr>
        <p:spPr>
          <a:xfrm>
            <a:off x="8001000" y="2032635"/>
            <a:ext cx="3867912" cy="2971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Pricing Assessment: Region Benchmarking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 average price and price range across product types, 2026 (US$/MT)</a:t>
            </a:r>
          </a:p>
        </p:txBody>
      </p:sp>
      <p:sp>
        <p:nvSpPr>
          <p:cNvPr id="10" name="Rectangle 9"/>
          <p:cNvSpPr/>
          <p:nvPr/>
        </p:nvSpPr>
        <p:spPr>
          <a:xfrm>
            <a:off x="274320" y="981075"/>
            <a:ext cx="11640312" cy="457200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wrap="square" lIns="137160"/>
          <a:lstStyle/>
          <a:p>
            <a:pPr algn="l"/>
            <a:r>
              <a:rPr sz="13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1" name="Rectangle 10"/>
          <p:cNvSpPr/>
          <p:nvPr/>
        </p:nvSpPr>
        <p:spPr>
          <a:xfrm>
            <a:off x="274320" y="1529715"/>
            <a:ext cx="7543800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84048" y="1575435"/>
            <a:ext cx="731520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2026 Price Range Across Product Types by Region (US$/MT), Ranked by Average</a:t>
            </a:r>
          </a:p>
        </p:txBody>
      </p:sp>
      <p:graphicFrame>
        <p:nvGraphicFramePr>
          <p:cNvPr id="13" name="FMI Open Chart"/>
          <p:cNvGraphicFramePr>
            <a:graphicFrameLocks noGrp="1"/>
          </p:cNvGraphicFramePr>
          <p:nvPr/>
        </p:nvGraphicFramePr>
        <p:xfrm>
          <a:off x="347472" y="2014347"/>
          <a:ext cx="7406640" cy="301752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384048" y="1804035"/>
            <a:ext cx="7223760" cy="2190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1">
                <a:solidFill>
                  <a:srgbClr val="59636E"/>
                </a:solidFill>
                <a:latin typeface="Calibri"/>
              </a:rPr>
              <a:t/>
            </a:r>
          </a:p>
        </p:txBody>
      </p:sp>
      <p:sp>
        <p:nvSpPr>
          <p:cNvPr id="15" name="Rectangle 14"/>
          <p:cNvSpPr/>
          <p:nvPr/>
        </p:nvSpPr>
        <p:spPr>
          <a:xfrm>
            <a:off x="7955280" y="1529715"/>
            <a:ext cx="3959352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8065008" y="1575435"/>
            <a:ext cx="374904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Premium and Discount Markets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8046720" y="1868043"/>
          <a:ext cx="3776472" cy="30906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17320"/>
                <a:gridCol w="786384"/>
                <a:gridCol w="658368"/>
                <a:gridCol w="914400"/>
              </a:tblGrid>
              <a:tr h="441525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Region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Avg. 2026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Index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CAGR 2026 to 2036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</a:tr>
              <a:tr h="441525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Europe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</a:tr>
              <a:tr h="441525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Middle East &amp; Africa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441525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Latin America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</a:tr>
              <a:tr h="441525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South Asia &amp; Pacific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441525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East Asia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</a:tr>
              <a:tr h="441525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North America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</a:tbl>
          </a:graphicData>
        </a:graphic>
      </p:graphicFrame>
      <p:sp>
        <p:nvSpPr>
          <p:cNvPr id="18" name="Rectangle 17"/>
          <p:cNvSpPr/>
          <p:nvPr/>
        </p:nvSpPr>
        <p:spPr>
          <a:xfrm>
            <a:off x="274320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388620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79145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Region Spread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79145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4200144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Oval 22"/>
          <p:cNvSpPr/>
          <p:nvPr/>
        </p:nvSpPr>
        <p:spPr>
          <a:xfrm>
            <a:off x="4314444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4704969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Growth Leader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704969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26" name="Rectangle 25"/>
          <p:cNvSpPr/>
          <p:nvPr/>
        </p:nvSpPr>
        <p:spPr>
          <a:xfrm>
            <a:off x="8125968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Oval 26"/>
          <p:cNvSpPr/>
          <p:nvPr/>
        </p:nvSpPr>
        <p:spPr>
          <a:xfrm>
            <a:off x="8240268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630793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Mix Exposure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8630793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74320" y="6363843"/>
            <a:ext cx="11612880" cy="20955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Source: FMI analysis. Range = lowest to highest product type price in each region; ranked by average price. Other geographies grouped as 'Other' are excluded from the ranking.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62494" y="3375398"/>
            <a:ext cx="355774" cy="517489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80" y="1110615"/>
            <a:ext cx="3466876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Europe is the most premium Global region at US$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30817" y="1099058"/>
            <a:ext cx="152098" cy="221234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028767" y="1110615"/>
            <a:ext cx="1075183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/MT in 2026, +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56412" y="1099058"/>
            <a:ext cx="152098" cy="221234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254361" y="1110615"/>
            <a:ext cx="4718992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above the global average, while North America is the lowest priced.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11480" y="1831467"/>
            <a:ext cx="4975274" cy="1485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50" b="0">
                <a:solidFill>
                  <a:srgbClr val="59636E"/>
                </a:solidFill>
                <a:latin typeface="Calibri"/>
              </a:rPr>
              <a:t>Bar spans the lowest to highest product type price in each region, read on the price index axis (Global average =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29294" y="1823910"/>
            <a:ext cx="99449" cy="144653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5458723" y="1831467"/>
            <a:ext cx="2037010" cy="1485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50" b="0">
                <a:solidFill>
                  <a:srgbClr val="59636E"/>
                </a:solidFill>
                <a:latin typeface="Calibri"/>
              </a:rPr>
              <a:t>). Teal = above Global average, blue = below.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806576" y="5530976"/>
            <a:ext cx="277832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Average prices across the ranked regions differ by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531850" y="5521642"/>
            <a:ext cx="122849" cy="178689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3691732" y="5530976"/>
            <a:ext cx="176993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in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6576" y="5690996"/>
            <a:ext cx="91953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2026, from US$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3060" y="5681662"/>
            <a:ext cx="122849" cy="178689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832943" y="5690996"/>
            <a:ext cx="1654261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in North America to US$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721" y="5841682"/>
            <a:ext cx="122849" cy="178689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3604" y="5851016"/>
            <a:ext cx="89036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in Europe.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732401" y="5530976"/>
            <a:ext cx="2951819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South Asia &amp; Pacific records the fastest average price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4732401" y="5690996"/>
            <a:ext cx="69893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growth at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78284" y="5681662"/>
            <a:ext cx="122849" cy="178689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5538166" y="5690996"/>
            <a:ext cx="2178529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CAGR between 2026 and 2036, against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719545" y="5841682"/>
            <a:ext cx="122849" cy="178689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4879428" y="5851016"/>
            <a:ext cx="1250565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for Global as a whole.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8658225" y="5530976"/>
            <a:ext cx="2737730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North America shows the widest gap between its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658225" y="5690996"/>
            <a:ext cx="2544216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cheapest and most expensive product type at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49391" y="5681662"/>
            <a:ext cx="122849" cy="178689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1309273" y="5690996"/>
            <a:ext cx="262160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so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658225" y="5851016"/>
            <a:ext cx="2851807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product mix shifts move its average price the most.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2821" y="3129375"/>
            <a:ext cx="482444" cy="701737"/>
          </a:xfrm>
          <a:prstGeom prst="rect">
            <a:avLst/>
          </a:prstGeom>
        </p:spPr>
      </p:pic>
      <p:sp>
        <p:nvSpPr>
          <p:cNvPr id="61" name="lockshield_13"/>
          <p:cNvSpPr/>
          <p:nvPr/>
        </p:nvSpPr>
        <p:spPr>
          <a:xfrm>
            <a:off x="347472" y="2014347"/>
            <a:ext cx="7406640" cy="301752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Price Positioning &amp; Key Findings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positioning of each region on a common axis with FMI's key findings on where premiums and discounts sit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Average selling price and price range by region on a shared price scale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&amp; Range by Region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3620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11442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3,221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61175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236410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3,595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386143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61378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3,970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511111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86346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4,344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636079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611314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4,718</a:t>
            </a:r>
          </a:p>
        </p:txBody>
      </p:sp>
      <p:cxnSp>
        <p:nvCxnSpPr>
          <p:cNvPr id="23" name="Connector 22"/>
          <p:cNvCxnSpPr/>
          <p:nvPr/>
        </p:nvCxnSpPr>
        <p:spPr>
          <a:xfrm>
            <a:off x="76104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736282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5,093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2203404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26" name="Rectangle 25"/>
          <p:cNvSpPr/>
          <p:nvPr/>
        </p:nvSpPr>
        <p:spPr>
          <a:xfrm>
            <a:off x="2045494" y="2100912"/>
            <a:ext cx="2695742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Oval 26"/>
          <p:cNvSpPr/>
          <p:nvPr/>
        </p:nvSpPr>
        <p:spPr>
          <a:xfrm>
            <a:off x="3331452" y="222721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38125" y="2927314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Latin America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54194" y="2824823"/>
            <a:ext cx="2896943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4740753" y="295112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51224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32" name="Rectangle 31"/>
          <p:cNvSpPr/>
          <p:nvPr/>
        </p:nvSpPr>
        <p:spPr>
          <a:xfrm>
            <a:off x="3926499" y="3548733"/>
            <a:ext cx="3000558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5364865" y="367503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238125" y="4375135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East Asia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123213" y="4272643"/>
            <a:ext cx="2632043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4377321" y="439894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38125" y="5099045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South Asia &amp; Pacific</a:t>
            </a:r>
          </a:p>
        </p:txBody>
      </p:sp>
      <p:sp>
        <p:nvSpPr>
          <p:cNvPr id="38" name="Rectangle 37"/>
          <p:cNvSpPr/>
          <p:nvPr/>
        </p:nvSpPr>
        <p:spPr>
          <a:xfrm>
            <a:off x="3199539" y="4996553"/>
            <a:ext cx="2864817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4570035" y="512285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38125" y="5822955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Middle East &amp; Africa</a:t>
            </a:r>
          </a:p>
        </p:txBody>
      </p:sp>
      <p:sp>
        <p:nvSpPr>
          <p:cNvPr id="41" name="Rectangle 40"/>
          <p:cNvSpPr/>
          <p:nvPr/>
        </p:nvSpPr>
        <p:spPr>
          <a:xfrm>
            <a:off x="3380679" y="5720463"/>
            <a:ext cx="2825567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4731550" y="5846768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1362075" y="1727149"/>
            <a:ext cx="114300" cy="114300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495425" y="1717624"/>
            <a:ext cx="838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Average Price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390775" y="1736674"/>
            <a:ext cx="190500" cy="114300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619375" y="1717624"/>
            <a:ext cx="8001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Price Range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915275" y="1317574"/>
            <a:ext cx="413385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048625" y="1727149"/>
            <a:ext cx="3867150" cy="343877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Rounded Rectangle 50"/>
          <p:cNvSpPr/>
          <p:nvPr/>
        </p:nvSpPr>
        <p:spPr>
          <a:xfrm>
            <a:off x="7915275" y="5351641"/>
            <a:ext cx="4133850" cy="1204744"/>
          </a:xfrm>
          <a:prstGeom prst="roundRect">
            <a:avLst>
              <a:gd name="adj" fmla="val 63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the above information is indicative in nature and does not constitute any form of analysis.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1736673"/>
            <a:ext cx="37516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prices sit within a tight band across regions, ranging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1911934"/>
            <a:ext cx="471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from ~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69055" y="1901710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644164" y="1911934"/>
            <a:ext cx="19417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'North America' to ~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35079" y="1901710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0710188" y="1911934"/>
            <a:ext cx="707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2087194"/>
            <a:ext cx="10848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'Europe' at 2026.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048625" y="2315032"/>
            <a:ext cx="38352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'Europe' commands the premium a signal of stronger demand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8048625" y="2490292"/>
            <a:ext cx="35756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limited price-competitive supply while 'North America'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048625" y="2665551"/>
            <a:ext cx="30630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remains the most accessible, value-led geography.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8048625" y="2893389"/>
            <a:ext cx="38135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orange dot is each region's average selling price; the blue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8048625" y="3068649"/>
            <a:ext cx="36401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band is its full low-to-high price range, all derived as Value ÷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048625" y="3243909"/>
            <a:ext cx="5728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Volume.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048625" y="3471747"/>
            <a:ext cx="3776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Narrow bands point to commoditised, price-led competition;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048625" y="3647007"/>
            <a:ext cx="38121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wider bands flag premiumisation headroom to trade buyers up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048625" y="3822267"/>
            <a:ext cx="5582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mix.</a:t>
            </a:r>
          </a:p>
        </p:txBody>
      </p:sp>
    </p:spTree>
  </p:cSld>
  <p:clrMapOvr>
    <a:masterClrMapping/>
  </p:clrMapOvr>
</p:sld>
</file>

<file path=ppt/slides/slide5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Key Pricing Drivers Influencing Packaged Muffins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input costs, market conditions and competitive forces shaping pricing strategies and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input costs, market conditions, and competitive forces shaping pricing strategies and profitability across the value chain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12470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69342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Impacting Factors</a:t>
            </a:r>
          </a:p>
        </p:txBody>
      </p:sp>
      <p:sp>
        <p:nvSpPr>
          <p:cNvPr id="14" name="Freeform 13"/>
          <p:cNvSpPr/>
          <p:nvPr/>
        </p:nvSpPr>
        <p:spPr>
          <a:xfrm>
            <a:off x="3343275" y="3705225"/>
            <a:ext cx="723900" cy="752475"/>
          </a:xfrm>
          <a:custGeom>
            <a:avLst/>
            <a:gdLst/>
            <a:ahLst/>
            <a:cxnLst/>
            <a:rect l="l" t="t" r="r" b="b"/>
            <a:pathLst>
              <a:path w="76" h="79">
                <a:moveTo>
                  <a:pt x="38" y="0"/>
                </a:moveTo>
                <a:lnTo>
                  <a:pt x="61" y="7"/>
                </a:lnTo>
                <a:lnTo>
                  <a:pt x="76" y="27"/>
                </a:lnTo>
                <a:lnTo>
                  <a:pt x="76" y="51"/>
                </a:lnTo>
                <a:lnTo>
                  <a:pt x="61" y="71"/>
                </a:lnTo>
                <a:lnTo>
                  <a:pt x="38" y="79"/>
                </a:lnTo>
                <a:lnTo>
                  <a:pt x="15" y="71"/>
                </a:lnTo>
                <a:lnTo>
                  <a:pt x="0" y="51"/>
                </a:lnTo>
                <a:lnTo>
                  <a:pt x="0" y="27"/>
                </a:lnTo>
                <a:lnTo>
                  <a:pt x="15" y="7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Freeform 14"/>
          <p:cNvSpPr/>
          <p:nvPr/>
        </p:nvSpPr>
        <p:spPr>
          <a:xfrm>
            <a:off x="2990850" y="3324225"/>
            <a:ext cx="1428750" cy="1504950"/>
          </a:xfrm>
          <a:custGeom>
            <a:avLst/>
            <a:gdLst/>
            <a:ahLst/>
            <a:cxnLst/>
            <a:rect l="l" t="t" r="r" b="b"/>
            <a:pathLst>
              <a:path w="150" h="158">
                <a:moveTo>
                  <a:pt x="75" y="0"/>
                </a:moveTo>
                <a:lnTo>
                  <a:pt x="122" y="15"/>
                </a:lnTo>
                <a:lnTo>
                  <a:pt x="150" y="55"/>
                </a:lnTo>
                <a:lnTo>
                  <a:pt x="150" y="104"/>
                </a:lnTo>
                <a:lnTo>
                  <a:pt x="122" y="143"/>
                </a:lnTo>
                <a:lnTo>
                  <a:pt x="75" y="158"/>
                </a:lnTo>
                <a:lnTo>
                  <a:pt x="28" y="143"/>
                </a:lnTo>
                <a:lnTo>
                  <a:pt x="0" y="104"/>
                </a:lnTo>
                <a:lnTo>
                  <a:pt x="0" y="55"/>
                </a:lnTo>
                <a:lnTo>
                  <a:pt x="28" y="15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2628900" y="2943225"/>
            <a:ext cx="2152650" cy="2266950"/>
          </a:xfrm>
          <a:custGeom>
            <a:avLst/>
            <a:gdLst/>
            <a:ahLst/>
            <a:cxnLst/>
            <a:rect l="l" t="t" r="r" b="b"/>
            <a:pathLst>
              <a:path w="226" h="238">
                <a:moveTo>
                  <a:pt x="113" y="0"/>
                </a:moveTo>
                <a:lnTo>
                  <a:pt x="183" y="23"/>
                </a:lnTo>
                <a:lnTo>
                  <a:pt x="226" y="82"/>
                </a:lnTo>
                <a:lnTo>
                  <a:pt x="226" y="156"/>
                </a:lnTo>
                <a:lnTo>
                  <a:pt x="183" y="215"/>
                </a:lnTo>
                <a:lnTo>
                  <a:pt x="113" y="238"/>
                </a:lnTo>
                <a:lnTo>
                  <a:pt x="43" y="215"/>
                </a:lnTo>
                <a:lnTo>
                  <a:pt x="0" y="156"/>
                </a:lnTo>
                <a:lnTo>
                  <a:pt x="0" y="82"/>
                </a:lnTo>
                <a:lnTo>
                  <a:pt x="43" y="23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Freeform 16"/>
          <p:cNvSpPr/>
          <p:nvPr/>
        </p:nvSpPr>
        <p:spPr>
          <a:xfrm>
            <a:off x="2266950" y="2571750"/>
            <a:ext cx="2876550" cy="3019425"/>
          </a:xfrm>
          <a:custGeom>
            <a:avLst/>
            <a:gdLst/>
            <a:ahLst/>
            <a:cxnLst/>
            <a:rect l="l" t="t" r="r" b="b"/>
            <a:pathLst>
              <a:path w="302" h="317">
                <a:moveTo>
                  <a:pt x="151" y="0"/>
                </a:moveTo>
                <a:lnTo>
                  <a:pt x="244" y="30"/>
                </a:lnTo>
                <a:lnTo>
                  <a:pt x="302" y="109"/>
                </a:lnTo>
                <a:lnTo>
                  <a:pt x="302" y="207"/>
                </a:lnTo>
                <a:lnTo>
                  <a:pt x="244" y="286"/>
                </a:lnTo>
                <a:lnTo>
                  <a:pt x="151" y="317"/>
                </a:lnTo>
                <a:lnTo>
                  <a:pt x="58" y="286"/>
                </a:lnTo>
                <a:lnTo>
                  <a:pt x="0" y="207"/>
                </a:lnTo>
                <a:lnTo>
                  <a:pt x="0" y="109"/>
                </a:lnTo>
                <a:lnTo>
                  <a:pt x="58" y="30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Freeform 17"/>
          <p:cNvSpPr/>
          <p:nvPr/>
        </p:nvSpPr>
        <p:spPr>
          <a:xfrm>
            <a:off x="1914525" y="2190750"/>
            <a:ext cx="3581400" cy="3771900"/>
          </a:xfrm>
          <a:custGeom>
            <a:avLst/>
            <a:gdLst/>
            <a:ahLst/>
            <a:cxnLst/>
            <a:rect l="l" t="t" r="r" b="b"/>
            <a:pathLst>
              <a:path w="376" h="396">
                <a:moveTo>
                  <a:pt x="188" y="0"/>
                </a:moveTo>
                <a:lnTo>
                  <a:pt x="304" y="38"/>
                </a:lnTo>
                <a:lnTo>
                  <a:pt x="376" y="137"/>
                </a:lnTo>
                <a:lnTo>
                  <a:pt x="376" y="259"/>
                </a:lnTo>
                <a:lnTo>
                  <a:pt x="304" y="358"/>
                </a:lnTo>
                <a:lnTo>
                  <a:pt x="188" y="396"/>
                </a:lnTo>
                <a:lnTo>
                  <a:pt x="72" y="358"/>
                </a:lnTo>
                <a:lnTo>
                  <a:pt x="0" y="259"/>
                </a:lnTo>
                <a:lnTo>
                  <a:pt x="0" y="137"/>
                </a:lnTo>
                <a:lnTo>
                  <a:pt x="72" y="38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9" name="Connector 18"/>
          <p:cNvCxnSpPr/>
          <p:nvPr/>
        </p:nvCxnSpPr>
        <p:spPr>
          <a:xfrm flipV="1">
            <a:off x="3705225" y="2192281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V="1">
            <a:off x="3705225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V="1">
            <a:off x="3705225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3705225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3705225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3705225" y="4078660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596439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1911172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 flipV="1">
            <a:off x="1911172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 flipH="1" flipV="1">
            <a:off x="2596439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543175" y="2381250"/>
            <a:ext cx="2505075" cy="3209925"/>
          </a:xfrm>
          <a:custGeom>
            <a:avLst/>
            <a:gdLst/>
            <a:ahLst/>
            <a:cxnLst/>
            <a:rect l="l" t="t" r="r" b="b"/>
            <a:pathLst>
              <a:path w="263" h="337">
                <a:moveTo>
                  <a:pt x="122" y="0"/>
                </a:moveTo>
                <a:lnTo>
                  <a:pt x="203" y="66"/>
                </a:lnTo>
                <a:lnTo>
                  <a:pt x="244" y="138"/>
                </a:lnTo>
                <a:lnTo>
                  <a:pt x="263" y="224"/>
                </a:lnTo>
                <a:lnTo>
                  <a:pt x="221" y="314"/>
                </a:lnTo>
                <a:lnTo>
                  <a:pt x="122" y="337"/>
                </a:lnTo>
                <a:lnTo>
                  <a:pt x="52" y="274"/>
                </a:lnTo>
                <a:lnTo>
                  <a:pt x="18" y="212"/>
                </a:lnTo>
                <a:lnTo>
                  <a:pt x="0" y="138"/>
                </a:lnTo>
                <a:lnTo>
                  <a:pt x="70" y="106"/>
                </a:lnTo>
                <a:close/>
              </a:path>
            </a:pathLst>
          </a:custGeom>
          <a:solidFill>
            <a:srgbClr val="2B5F8E">
              <a:alpha val="62000"/>
            </a:srgbClr>
          </a:solidFill>
          <a:ln w="27940">
            <a:solidFill>
              <a:srgbClr val="2B5F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3671888" y="234758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4448037" y="2977044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Oval 31"/>
          <p:cNvSpPr/>
          <p:nvPr/>
        </p:nvSpPr>
        <p:spPr>
          <a:xfrm>
            <a:off x="4838022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5017427" y="4482515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Oval 33"/>
          <p:cNvSpPr/>
          <p:nvPr/>
        </p:nvSpPr>
        <p:spPr>
          <a:xfrm>
            <a:off x="4614355" y="5342518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Oval 34"/>
          <p:cNvSpPr/>
          <p:nvPr/>
        </p:nvSpPr>
        <p:spPr>
          <a:xfrm>
            <a:off x="3671888" y="5554426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3006616" y="496099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2685158" y="436593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Oval 37"/>
          <p:cNvSpPr/>
          <p:nvPr/>
        </p:nvSpPr>
        <p:spPr>
          <a:xfrm>
            <a:off x="2505753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3172934" y="335857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3733800" y="3634709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733800" y="3257434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733800" y="2880158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733800" y="2502882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733800" y="2125606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048000" y="1839856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279956" y="224014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041347" y="3288108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5041347" y="458346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279956" y="5631427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048000" y="6031714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816044" y="5631427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054653" y="458346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054653" y="3288108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816044" y="224014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7343775" y="1354081"/>
            <a:ext cx="4705350" cy="3479443"/>
          </a:xfrm>
          <a:prstGeom prst="roundRect">
            <a:avLst>
              <a:gd name="adj" fmla="val 219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7477125" y="1439806"/>
            <a:ext cx="4438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7477125" y="1677931"/>
            <a:ext cx="4438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7477125" y="1763656"/>
            <a:ext cx="4438650" cy="299366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Pricing across the Packaged Muffins Market is shaped by a mix of input costs, operational efficiency and market dynamics with raw-material and input costs carrying the single heaviest weight on selling prices today.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Raw-material and input costs and demand and broader market conditions are the dominant cost pressures; as they fluctuate they feed directly into prices and squeeze margins along the value chain.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Competitive intensity and supply-chain and logistics conditions are the next most influential forces helping offset cost inflation and setting how aggressively players can price without ceding share.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Demand strength, competitive intensity and supply-chain reliability together define the ceiling on pricing power across the Packaged Muffins Market.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Regulatory, currency and brand factors add second-order effects while aftermarket and service costs exert the least pressure collectively creating a pricing balance that must be monitored to stay competitive and profitable.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7343775" y="4943046"/>
            <a:ext cx="4705350" cy="1686354"/>
          </a:xfrm>
          <a:prstGeom prst="roundRect">
            <a:avLst>
              <a:gd name="adj" fmla="val 45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7477125" y="5028771"/>
            <a:ext cx="4438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Highest-Impact Drivers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477125" y="5266896"/>
            <a:ext cx="4438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477125" y="5352621"/>
            <a:ext cx="4438650" cy="1200579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336396" y="1898910"/>
            <a:ext cx="659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Input Cost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44277" y="1889132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4362308" y="2322667"/>
            <a:ext cx="1115044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Labor &amp; Production Costs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18613" y="2315626"/>
            <a:ext cx="92663" cy="134782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5130968" y="3370632"/>
            <a:ext cx="1100506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Technology &amp; Innovation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72736" y="3363591"/>
            <a:ext cx="92663" cy="13478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20171" y="4662634"/>
            <a:ext cx="1115939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Supply Chain &amp; Logistics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78341" y="4655202"/>
            <a:ext cx="97811" cy="14227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4327292" y="5653601"/>
            <a:ext cx="1238538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Demand &amp; Market Conditions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85613" y="5767261"/>
            <a:ext cx="92663" cy="13478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3144658" y="6110885"/>
            <a:ext cx="108027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Competitive Landscape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67161" y="6103453"/>
            <a:ext cx="97811" cy="142270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954338" y="5653601"/>
            <a:ext cx="1114061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Regulatory &amp; Compliance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308296" y="5774302"/>
            <a:ext cx="295245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Costs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44802" y="5767261"/>
            <a:ext cx="92663" cy="134782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144816" y="4605637"/>
            <a:ext cx="1195711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Currency &amp; Trade Dynamics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0310" y="4719297"/>
            <a:ext cx="92663" cy="134782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127477" y="3370632"/>
            <a:ext cx="1134100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Brand &amp; Value Perception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02838" y="3363591"/>
            <a:ext cx="92663" cy="134782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898348" y="2262317"/>
            <a:ext cx="1203570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Aftermarket &amp; Service Costs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21701" y="2375977"/>
            <a:ext cx="92663" cy="134782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7477125" y="5362146"/>
            <a:ext cx="7408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Input Cost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6043" y="5352366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8333538" y="5362146"/>
            <a:ext cx="17441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dominant cost pressure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477125" y="5580078"/>
            <a:ext cx="18513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 &amp; Market Conditions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76548" y="557029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9444044" y="5580078"/>
            <a:ext cx="15272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major cost pressure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7477125" y="5798010"/>
            <a:ext cx="14783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Landscape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03560" y="5788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9071056" y="5798010"/>
            <a:ext cx="1330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7477125" y="6015942"/>
            <a:ext cx="15253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Chain &amp; Logistics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50491" y="600616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117987" y="6015942"/>
            <a:ext cx="1330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477125" y="6233874"/>
            <a:ext cx="16000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Labor &amp; Production Costs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25252" y="6224094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9192748" y="6233874"/>
            <a:ext cx="1387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supporting factor</a:t>
            </a:r>
          </a:p>
        </p:txBody>
      </p:sp>
    </p:spTree>
  </p:cSld>
  <p:clrMapOvr>
    <a:masterClrMapping/>
  </p:clrMapOvr>
</p:sld>
</file>

<file path=ppt/slides/slide5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Factors Impacting Pricing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Factors affecting the pricing decision of the product: category, price impact, direction of pressure and rationale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The cost, demand, efficiency and regulatory forces shaping and impacting achievable selling prices grouped by category, with each factor's direction, impact and score.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3286125"/>
          </a:xfrm>
          <a:prstGeom prst="roundRect">
            <a:avLst>
              <a:gd name="adj" fmla="val 23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0650"/>
          <a:ext cx="11887199" cy="2981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61515"/>
                <a:gridCol w="2697613"/>
                <a:gridCol w="1098187"/>
                <a:gridCol w="1211368"/>
                <a:gridCol w="1098187"/>
                <a:gridCol w="32203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Impact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Score (0–10)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It Shapes Price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Raw-material and input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Labour and production expenses.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Supply-chain and logistics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and broader market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intensity.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strength and value perception.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Technology and process innovation.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Aftermarket and service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 and compliance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Currency and trade dynamics.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381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7529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838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the Factors Imply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5076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162550"/>
            <a:ext cx="11639550" cy="13049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02155" y="2764346"/>
            <a:ext cx="330041" cy="48006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5172075"/>
            <a:ext cx="5425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Input Cost and Demand &amp; Market Conditions carry the heaviest weight on selling prices (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50945" y="51618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826054" y="5172075"/>
            <a:ext cx="2995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762" y="51618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249871" y="5172075"/>
            <a:ext cx="395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10).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5399913"/>
            <a:ext cx="83334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8 of 10 factors exert upward pressure on price; the rest pull prices down chiefly Technology &amp; Innovation and the Competitive Landscape.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627750"/>
            <a:ext cx="8053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Cost-side factors set the price floor; demand, brand and competitive forces determine how much of that cost can be passed through.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6225" y="5855588"/>
            <a:ext cx="70483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Aftermarket &amp; Service Costs exerts the least pressure a second-order effect to monitor rather than actively manage.</a:t>
            </a:r>
          </a:p>
        </p:txBody>
      </p:sp>
    </p:spTree>
  </p:cSld>
  <p:clrMapOvr>
    <a:masterClrMapping/>
  </p:clrMapOvr>
</p:sld>
</file>

<file path=ppt/slides/slide5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Regional Price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price assessment across the value chain, from manufacturer to retail, and average price by geography,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price assessment across the value chain (US$/MT) and price trajectory to 2036.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5905500" cy="2738055"/>
          </a:xfrm>
          <a:prstGeom prst="roundRect">
            <a:avLst>
              <a:gd name="adj" fmla="val 278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Regional Price by Value-Chain Level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5886452" cy="2271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70904"/>
                <a:gridCol w="1128887"/>
                <a:gridCol w="1128887"/>
                <a:gridCol w="1128887"/>
                <a:gridCol w="11288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Distribution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South Asia &amp; Pacific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Middle East &amp; Africa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5604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200775" y="1317574"/>
            <a:ext cx="5848350" cy="2738055"/>
          </a:xfrm>
          <a:prstGeom prst="roundRect">
            <a:avLst>
              <a:gd name="adj" fmla="val 278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296025" y="1374724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by Geography (US$/MT)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6210300" y="1574749"/>
          <a:ext cx="5829299" cy="2271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8759"/>
                <a:gridCol w="947635"/>
                <a:gridCol w="947635"/>
                <a:gridCol w="947635"/>
                <a:gridCol w="94763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South Asia &amp; Pacific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Middle East &amp; Africa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6276975" y="3855604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201658"/>
            <a:ext cx="119062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4287383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This Section Covers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525508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11233"/>
            <a:ext cx="116395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Manufacturer-level pricing ex-works / producer price benchmarked for each geography.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Distribution &amp; channel pricing logistics and channel margin layered onto the producer price.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Retail / end-market pricing the average price paid by the end customer across geographies.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Value-chain margin build-up cumulative margin from manufacturer to retail, by geography (prices derived as Value ÷ Volume).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94387" y="2566777"/>
            <a:ext cx="366712" cy="533399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57639" y="256677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Global Pricing Benchmarking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price range by region and sub-segment against the weighted average price of each region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Development-stage price assumptions and manufacturer benchmarking price range by product type type and region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16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Benchmarking by Region &amp;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1625"/>
          <a:ext cx="11887200" cy="24098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01366"/>
                <a:gridCol w="2895278"/>
                <a:gridCol w="2895278"/>
                <a:gridCol w="289527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Weighted Avg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6061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6061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6061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6061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6061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South Asia &amp; Pacific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6061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Middle East &amp; Africa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909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333875"/>
            <a:ext cx="11906250" cy="2209800"/>
          </a:xfrm>
          <a:prstGeom prst="roundRect">
            <a:avLst>
              <a:gd name="adj" fmla="val 344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4196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Benchmarking Insights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6577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743450"/>
            <a:ext cx="11639550" cy="17240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09992" y="263289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752975"/>
            <a:ext cx="41955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On a weighted-average basis 'Europe' is the highest-priced region (~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20930" y="47427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596039" y="4752975"/>
            <a:ext cx="3290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US$/MT) and 'North America' the most competitive (~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35920" y="47427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011029" y="4752975"/>
            <a:ext cx="644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980813"/>
            <a:ext cx="5929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Price ranges are benchmarked per product type type at 2026, derived as Value ÷ Volume with a ±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54989" y="49705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30098" y="4980813"/>
            <a:ext cx="14551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observed trading band.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208650"/>
            <a:ext cx="2140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Cross-region price dispersion of ~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66246" y="51984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41355" y="5208650"/>
            <a:ext cx="36270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reflects differences in mix, logistics and channel structure.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436488"/>
            <a:ext cx="56917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Benchmarks support price-corridor setting and margin-defence decisions across geographies.</a:t>
            </a:r>
          </a:p>
        </p:txBody>
      </p:sp>
    </p:spTree>
  </p:cSld>
  <p:clrMapOvr>
    <a:masterClrMapping/>
  </p:clrMapOvr>
</p:sld>
</file>

<file path=ppt/slides/slide5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Price Forecast &amp; Dynamics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Forward price trajectory to 2036 by product type type and the structural factors shaping it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11887198" cy="15046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81674"/>
                <a:gridCol w="1534254"/>
                <a:gridCol w="1534254"/>
                <a:gridCol w="1534254"/>
                <a:gridCol w="1534254"/>
                <a:gridCol w="1534254"/>
                <a:gridCol w="153425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2927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2927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88948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Factors Impacting Pricing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7491"/>
                <a:gridCol w="1509479"/>
                <a:gridCol w="150947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Pricing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Impact (H/M/L)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79820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3398495"/>
            <a:ext cx="5848350" cy="3157890"/>
          </a:xfrm>
          <a:prstGeom prst="roundRect">
            <a:avLst>
              <a:gd name="adj" fmla="val 241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34125" y="3484220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Dynamics &amp; Outlook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34125" y="3722345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34125" y="3808070"/>
            <a:ext cx="5581650" cy="26721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50146" y="2183449"/>
            <a:ext cx="366712" cy="53340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334125" y="3817595"/>
            <a:ext cx="33406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product type price is projected to rise from ~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23884" y="3807371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798993" y="3817595"/>
            <a:ext cx="3081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 ~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56259" y="3807371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0231368" y="3817595"/>
            <a:ext cx="12785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by 2036 a 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9067" y="3807371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334125" y="399285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34125" y="4220692"/>
            <a:ext cx="4080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shows the strongest forecast price appreciation (+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63873" y="421046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0538982" y="4220692"/>
            <a:ext cx="11715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over the horizon.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34125" y="4448530"/>
            <a:ext cx="52424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Upward pressure is led by input cost and demand &amp; market conditions; efficiency and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34125" y="4623790"/>
            <a:ext cx="25670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competitive intensity work the other way.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34125" y="4851628"/>
            <a:ext cx="52036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Net outlook: modest, structural price appreciation mix and geography will determine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34125" y="5026888"/>
            <a:ext cx="10161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realised pricing.</a:t>
            </a:r>
          </a:p>
        </p:txBody>
      </p:sp>
    </p:spTree>
  </p:cSld>
  <p:clrMapOvr>
    <a:masterClrMapping/>
  </p:clrMapOvr>
</p:sld>
</file>

<file path=ppt/slides/slide5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Competitor Pricing Strategies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leading players position price: tier, price position versus peers and strategy focus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769620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Competitor pricing strategies how leading players position price and the levers they use to sustain it.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3774"/>
          <a:ext cx="7677150" cy="36197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47324"/>
                <a:gridCol w="559656"/>
                <a:gridCol w="1176561"/>
                <a:gridCol w="1101405"/>
                <a:gridCol w="26922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ASP vs Peers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Strategy Focus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Grupo Bimbo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Premium, brand-led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McKee Foods Corporation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Value-based premium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Hostess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Innovation-led price leadership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Rich Products Corporation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 pricing with mix upsell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ARYZTA / Aspire Bakeries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Penetration &amp; share-led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Europastry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/ discount-led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023044"/>
            <a:ext cx="75438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5351641"/>
            <a:ext cx="7696200" cy="365074"/>
          </a:xfrm>
          <a:prstGeom prst="roundRect">
            <a:avLst>
              <a:gd name="adj" fmla="val 2087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Pricing Themes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Tier 1 players anchor premium pricing, defending ASP through brand, product development and certification rather than discounting.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Mid-tier players price at or just below parity, using launches and expansion to win share in fast-growing segments.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Emerging players compete on value pricing, trading margin for access and volume in price-sensitive regions.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Across tiers, R&amp;D investment and selective M&amp;A are the primary levers to move up the price ladder over time.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8622" y="308668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5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Packaged Muffins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Supply Chain Analysis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Supply Chain Analysis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Supply Chain Analysis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Chain &amp; Stakeholder Mapping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Operating Margin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Buyers Assessment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Value Chain &amp; Stakeholder Mapping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Mapping of the value chain stages, the stakeholders at each stage and the value added along the chain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668000" cy="164283"/>
          </a:xfrm>
          <a:prstGeom prst="rect">
            <a:avLst/>
          </a:prstGeom>
          <a:noFill/>
        </p:spPr>
        <p:txBody>
          <a:bodyPr wrap="square" lIns="0" rIns="19050" tIns="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End-to-end value chain with the key stakeholders at each stage and their indicative contribution to value addition.</a:t>
            </a:r>
          </a:p>
        </p:txBody>
      </p:sp>
      <p:sp>
        <p:nvSpPr>
          <p:cNvPr id="11" name="Right Arrow 10"/>
          <p:cNvSpPr/>
          <p:nvPr/>
        </p:nvSpPr>
        <p:spPr>
          <a:xfrm>
            <a:off x="1885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ight Arrow 11"/>
          <p:cNvSpPr/>
          <p:nvPr/>
        </p:nvSpPr>
        <p:spPr>
          <a:xfrm>
            <a:off x="4171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ight Arrow 12"/>
          <p:cNvSpPr/>
          <p:nvPr/>
        </p:nvSpPr>
        <p:spPr>
          <a:xfrm>
            <a:off x="6457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ight Arrow 13"/>
          <p:cNvSpPr/>
          <p:nvPr/>
        </p:nvSpPr>
        <p:spPr>
          <a:xfrm>
            <a:off x="8743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19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Raw Material</a:t>
            </a:r>
          </a:p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Suppliers</a:t>
            </a:r>
          </a:p>
        </p:txBody>
      </p:sp>
      <p:sp>
        <p:nvSpPr>
          <p:cNvPr id="16" name="Oval 15"/>
          <p:cNvSpPr/>
          <p:nvPr/>
        </p:nvSpPr>
        <p:spPr>
          <a:xfrm>
            <a:off x="1076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1123950" y="1719155"/>
            <a:ext cx="800100" cy="76665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1509712" y="2084229"/>
            <a:ext cx="28575" cy="15515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 rot="19500000">
            <a:off x="1381125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 rot="2100000">
            <a:off x="1524000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ounded Rectangle 20"/>
          <p:cNvSpPr/>
          <p:nvPr/>
        </p:nvSpPr>
        <p:spPr>
          <a:xfrm>
            <a:off x="1000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57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Rectangle 22"/>
          <p:cNvSpPr/>
          <p:nvPr/>
        </p:nvSpPr>
        <p:spPr>
          <a:xfrm>
            <a:off x="457200" y="2905646"/>
            <a:ext cx="2133600" cy="4563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542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Raw Material Suppliers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42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2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Growers and primary producers supply core inputs; some forward-integrate into small-scale processing.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05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Manufacturers</a:t>
            </a:r>
          </a:p>
        </p:txBody>
      </p:sp>
      <p:sp>
        <p:nvSpPr>
          <p:cNvPr id="28" name="Oval 27"/>
          <p:cNvSpPr/>
          <p:nvPr/>
        </p:nvSpPr>
        <p:spPr>
          <a:xfrm>
            <a:off x="3362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3409950" y="1719155"/>
            <a:ext cx="800100" cy="766655"/>
          </a:xfrm>
          <a:prstGeom prst="ellipse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638550" y="2084229"/>
            <a:ext cx="34290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667125" y="1983834"/>
            <a:ext cx="66675" cy="10952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3771900" y="2020341"/>
            <a:ext cx="66675" cy="7301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3876675" y="1992961"/>
            <a:ext cx="66675" cy="10039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ounded Rectangle 33"/>
          <p:cNvSpPr/>
          <p:nvPr/>
        </p:nvSpPr>
        <p:spPr>
          <a:xfrm>
            <a:off x="3286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2743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2743200" y="2905646"/>
            <a:ext cx="2133600" cy="4563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828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Manufacturers / Processors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28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28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Convert inputs into finished and semi-finished product the single largest value-addition stage.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991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Distributors</a:t>
            </a:r>
          </a:p>
        </p:txBody>
      </p:sp>
      <p:sp>
        <p:nvSpPr>
          <p:cNvPr id="41" name="Oval 40"/>
          <p:cNvSpPr/>
          <p:nvPr/>
        </p:nvSpPr>
        <p:spPr>
          <a:xfrm>
            <a:off x="5648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5695950" y="1719155"/>
            <a:ext cx="800100" cy="766655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5915025" y="2002088"/>
            <a:ext cx="20955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6134100" y="2075102"/>
            <a:ext cx="123825" cy="9126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5972175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6153150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ounded Rectangle 46"/>
          <p:cNvSpPr/>
          <p:nvPr/>
        </p:nvSpPr>
        <p:spPr>
          <a:xfrm>
            <a:off x="5572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5029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29200" y="2905646"/>
            <a:ext cx="2133600" cy="4563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5114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Distributors &amp; Wholesalers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114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114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Move product to market, hold inventory and provide logistics, reach and credit to downstream channels.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277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Retailers</a:t>
            </a:r>
          </a:p>
        </p:txBody>
      </p:sp>
      <p:sp>
        <p:nvSpPr>
          <p:cNvPr id="54" name="Oval 53"/>
          <p:cNvSpPr/>
          <p:nvPr/>
        </p:nvSpPr>
        <p:spPr>
          <a:xfrm>
            <a:off x="7934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7981950" y="1719155"/>
            <a:ext cx="800100" cy="766655"/>
          </a:xfrm>
          <a:prstGeom prst="ellipse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Isosceles Triangle 55"/>
          <p:cNvSpPr/>
          <p:nvPr/>
        </p:nvSpPr>
        <p:spPr>
          <a:xfrm>
            <a:off x="8201025" y="1965580"/>
            <a:ext cx="361950" cy="109522"/>
          </a:xfrm>
          <a:prstGeom prst="triangl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8239125" y="2065976"/>
            <a:ext cx="285750" cy="18253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8343900" y="2138990"/>
            <a:ext cx="76200" cy="109522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ounded Rectangle 58"/>
          <p:cNvSpPr/>
          <p:nvPr/>
        </p:nvSpPr>
        <p:spPr>
          <a:xfrm>
            <a:off x="7858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7315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7315200" y="2905646"/>
            <a:ext cx="2133600" cy="4563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400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Retailers &amp; Channels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400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400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Sell to end customers across offline and online channels, capturing point-of-sale margin and brand visibility.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9563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66" name="Oval 65"/>
          <p:cNvSpPr/>
          <p:nvPr/>
        </p:nvSpPr>
        <p:spPr>
          <a:xfrm>
            <a:off x="10220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Oval 66"/>
          <p:cNvSpPr/>
          <p:nvPr/>
        </p:nvSpPr>
        <p:spPr>
          <a:xfrm>
            <a:off x="10267950" y="1719155"/>
            <a:ext cx="800100" cy="766655"/>
          </a:xfrm>
          <a:prstGeom prst="ellipse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Oval 67"/>
          <p:cNvSpPr/>
          <p:nvPr/>
        </p:nvSpPr>
        <p:spPr>
          <a:xfrm>
            <a:off x="10601325" y="1956453"/>
            <a:ext cx="133350" cy="127776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Freeform 68"/>
          <p:cNvSpPr/>
          <p:nvPr/>
        </p:nvSpPr>
        <p:spPr>
          <a:xfrm>
            <a:off x="10544175" y="2111610"/>
            <a:ext cx="247650" cy="127776"/>
          </a:xfrm>
          <a:custGeom>
            <a:avLst/>
            <a:gdLst/>
            <a:ahLst/>
            <a:cxnLst/>
            <a:rect l="l" t="t" r="r" b="b"/>
            <a:pathLst>
              <a:path w="26" h="14">
                <a:moveTo>
                  <a:pt x="0" y="14"/>
                </a:moveTo>
                <a:lnTo>
                  <a:pt x="4" y="0"/>
                </a:lnTo>
                <a:lnTo>
                  <a:pt x="22" y="0"/>
                </a:lnTo>
                <a:lnTo>
                  <a:pt x="26" y="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ounded Rectangle 69"/>
          <p:cNvSpPr/>
          <p:nvPr/>
        </p:nvSpPr>
        <p:spPr>
          <a:xfrm>
            <a:off x="10144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71" name="Rounded Rectangle 70"/>
          <p:cNvSpPr/>
          <p:nvPr/>
        </p:nvSpPr>
        <p:spPr>
          <a:xfrm>
            <a:off x="9601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601200" y="2905646"/>
            <a:ext cx="2133600" cy="4563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9686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9686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9686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Consumers and downstream industries; large end users sometimes backward-integrate to secure supply and cost.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81000" y="5315134"/>
            <a:ext cx="11430000" cy="1204744"/>
          </a:xfrm>
          <a:prstGeom prst="roundRect">
            <a:avLst>
              <a:gd name="adj" fmla="val 606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514350" y="5397275"/>
            <a:ext cx="11163300" cy="20079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Value-Added Read-out</a:t>
            </a:r>
          </a:p>
        </p:txBody>
      </p:sp>
      <p:sp>
        <p:nvSpPr>
          <p:cNvPr id="78" name="Rectangle 77"/>
          <p:cNvSpPr/>
          <p:nvPr/>
        </p:nvSpPr>
        <p:spPr>
          <a:xfrm>
            <a:off x="514350" y="5625447"/>
            <a:ext cx="111633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514350" y="5707588"/>
            <a:ext cx="11163300" cy="739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650" y="2611256"/>
            <a:ext cx="128699" cy="187198"/>
          </a:xfrm>
          <a:prstGeom prst="rect">
            <a:avLst/>
          </a:prstGeom>
        </p:spPr>
      </p:pic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5650" y="2611256"/>
            <a:ext cx="128699" cy="187198"/>
          </a:xfrm>
          <a:prstGeom prst="rect">
            <a:avLst/>
          </a:prstGeom>
        </p:spPr>
      </p:pic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1650" y="2611256"/>
            <a:ext cx="128699" cy="187198"/>
          </a:xfrm>
          <a:prstGeom prst="rect">
            <a:avLst/>
          </a:prstGeom>
        </p:spPr>
      </p:pic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17650" y="2611256"/>
            <a:ext cx="128699" cy="187198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03650" y="2611256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514350" y="5717113"/>
            <a:ext cx="6432549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The Packaged Muffins Market value chain runs from raw-material suppliers through manufacturers, distributors and retailers to end users.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14350" y="5891458"/>
            <a:ext cx="3108563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'Manufacturers / Processors' captures the largest value addition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6114" y="5883635"/>
            <a:ext cx="102959" cy="14975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3700111" y="5891458"/>
            <a:ext cx="2123678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), reflecting processing and scale advantages.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14350" y="6065804"/>
            <a:ext cx="5690369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Forward and backward integration is common some suppliers process, and some large end users produce their own input.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14350" y="6240149"/>
            <a:ext cx="3730228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Percentages show each stage's indicative share of value added along the chain.</a:t>
            </a:r>
          </a:p>
        </p:txBody>
      </p:sp>
    </p:spTree>
  </p:cSld>
  <p:clrMapOvr>
    <a:masterClrMapping/>
  </p:clrMapOvr>
</p:sld>
</file>

<file path=ppt/slides/slide5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Industry-Wide Operating Margin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Operating margin by region and value chain node, highlighting where value concentrates along the chain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Packaged Muffins Market Operating Margin by Region &amp; Node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2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08402"/>
                <a:gridCol w="2669700"/>
                <a:gridCol w="2669700"/>
                <a:gridCol w="2669700"/>
                <a:gridCol w="26697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Node of Supply Chain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Operating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Comparison to Parent Market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 Material Suppliers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Commodity-linked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Highest margins (value-add + scale)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Volume-led, thin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Channel-dependent PoS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 Material Suppliers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Commodity-linked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Highest margins (value-add + scale)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Volume-led, thin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Channel-dependent PoS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 Material Suppliers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Commodity-linked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Highest margins (value-add + scale)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Volume-led, thin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Channel-dependent PoS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781550"/>
            <a:ext cx="11906250" cy="1847850"/>
          </a:xfrm>
          <a:prstGeom prst="roundRect">
            <a:avLst>
              <a:gd name="adj" fmla="val 41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867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How to Read This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5105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191125"/>
            <a:ext cx="11639550" cy="1362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Node of Supply Chain: each major stage, from raw-material suppliers through to retailers.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Operating Margin: the indicative margin earned at each node, by region.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Comparison to Parent Market: margin versus the parent / associated market (e.g. the broader food or pharmaceutical value chain).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Margins are broken down by both region and node to surface where value concentrates along the chain.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512" y="269481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Buyers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Assessment of buyers and end users by volume, average price and revenue, highlighting purchasing power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Packaged Muffins Market Buyers / End-User Assessment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83353"/>
                <a:gridCol w="1113221"/>
                <a:gridCol w="1116270"/>
                <a:gridCol w="1184142"/>
                <a:gridCol w="1681873"/>
                <a:gridCol w="1342511"/>
                <a:gridCol w="1472555"/>
                <a:gridCol w="1416039"/>
                <a:gridCol w="15772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/ End-User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Procurement Vol.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Avg Price (US$/MT)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Revenue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Selection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Brazil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4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Mexico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5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Rest of LATAM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7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U.K.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8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9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10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2957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3815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Notes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619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705350"/>
            <a:ext cx="11639550" cy="18478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This is a representative subset the full assessment lists 20–30 active participants (with brands, specifications, procurement strategies and SWOT). Note: value-chain economics are indicative derived from market modelling and expert validation, not company disclosures.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121" y="2451926"/>
            <a:ext cx="366712" cy="533399"/>
          </a:xfrm>
          <a:prstGeom prst="rect">
            <a:avLst/>
          </a:prstGeom>
        </p:spPr>
      </p:pic>
    </p:spTree>
  </p:cSld>
  <p:clrMapOvr>
    <a:masterClrMapping/>
  </p:clrMapOvr>
</p:sld>
</file>

<file path=ppt/slides/slide5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Packaged Muffins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Dynamics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Restraints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Opportunities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Recent Developments &amp; Milestones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Five Forces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Dynamics by Region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region of the global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80975" y="1025515"/>
            <a:ext cx="85725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Region  ·  ranked by 2036 value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42875" y="1262813"/>
            <a:ext cx="11906250" cy="255552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00025" y="1262813"/>
            <a:ext cx="14287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Region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724025" y="1262813"/>
            <a:ext cx="37147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534025" y="1262813"/>
            <a:ext cx="27622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8391525" y="1262813"/>
            <a:ext cx="361950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42875" y="1518365"/>
            <a:ext cx="11906250" cy="51110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00025" y="1518365"/>
            <a:ext cx="1428750" cy="51110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724025" y="1545745"/>
            <a:ext cx="36766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534025" y="1545745"/>
            <a:ext cx="27241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391525" y="1545745"/>
            <a:ext cx="358140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142875" y="2029468"/>
            <a:ext cx="11906250" cy="51110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00025" y="2029468"/>
            <a:ext cx="1428750" cy="51110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724025" y="2056849"/>
            <a:ext cx="36766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534025" y="2056849"/>
            <a:ext cx="27241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391525" y="2056849"/>
            <a:ext cx="358140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ectangle 26"/>
          <p:cNvSpPr/>
          <p:nvPr/>
        </p:nvSpPr>
        <p:spPr>
          <a:xfrm>
            <a:off x="142875" y="2540572"/>
            <a:ext cx="11906250" cy="51110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00025" y="2540572"/>
            <a:ext cx="1428750" cy="51110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724025" y="2567952"/>
            <a:ext cx="36766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5534025" y="2567952"/>
            <a:ext cx="27241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8391525" y="2567952"/>
            <a:ext cx="358140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142875" y="3051675"/>
            <a:ext cx="11906250" cy="51110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200025" y="3051675"/>
            <a:ext cx="1428750" cy="51110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East Asia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724025" y="3079056"/>
            <a:ext cx="36766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534025" y="3079056"/>
            <a:ext cx="27241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391525" y="3079056"/>
            <a:ext cx="358140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142875" y="3562779"/>
            <a:ext cx="11906250" cy="51110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00025" y="3562779"/>
            <a:ext cx="1428750" cy="51110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Latin America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24025" y="3590159"/>
            <a:ext cx="36766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534025" y="3590159"/>
            <a:ext cx="27241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8391525" y="3590159"/>
            <a:ext cx="358140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ectangle 41"/>
          <p:cNvSpPr/>
          <p:nvPr/>
        </p:nvSpPr>
        <p:spPr>
          <a:xfrm>
            <a:off x="142875" y="4073882"/>
            <a:ext cx="11906250" cy="51110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00025" y="4073882"/>
            <a:ext cx="1428750" cy="51110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Middle East &amp; Africa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724025" y="4101263"/>
            <a:ext cx="36766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534025" y="4101263"/>
            <a:ext cx="27241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391525" y="4101263"/>
            <a:ext cx="358140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47" name="Connector 46"/>
          <p:cNvCxnSpPr/>
          <p:nvPr/>
        </p:nvCxnSpPr>
        <p:spPr>
          <a:xfrm>
            <a:off x="142875" y="4584986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TextBox 47"/>
          <p:cNvSpPr txBox="1"/>
          <p:nvPr/>
        </p:nvSpPr>
        <p:spPr>
          <a:xfrm>
            <a:off x="200025" y="4603240"/>
            <a:ext cx="38100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142875" y="4858791"/>
            <a:ext cx="11906250" cy="994827"/>
          </a:xfrm>
          <a:prstGeom prst="roundRect">
            <a:avLst>
              <a:gd name="adj" fmla="val 479"/>
            </a:avLst>
          </a:prstGeom>
          <a:solidFill>
            <a:srgbClr val="FFFFFF"/>
          </a:solidFill>
          <a:ln w="1270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276225" y="4895299"/>
            <a:ext cx="38100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KEY TAKEAWAY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276225" y="5132597"/>
            <a:ext cx="11639550" cy="0"/>
          </a:xfrm>
          <a:prstGeom prst="line">
            <a:avLst/>
          </a:prstGeom>
          <a:ln w="15875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276225" y="5187358"/>
            <a:ext cx="1152525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752600" y="1606276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1596497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2606285" y="1606276"/>
            <a:ext cx="15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1596497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278252" y="1606276"/>
            <a:ext cx="85435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Sweet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752600" y="1773915"/>
            <a:ext cx="2386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muffins demand, Accelerating vs history.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5562600" y="1606276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1596497"/>
            <a:ext cx="128699" cy="187198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6965262" y="1606276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5562600" y="1773915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1764137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425562" y="1773915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420100" y="1690095"/>
            <a:ext cx="1285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Sweet muffins (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53902" y="1680317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9821398" y="169009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22866" y="1680317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0090362" y="1690095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752600" y="2117380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2107601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606285" y="2117380"/>
            <a:ext cx="16835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Above-market pace (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37905" y="2107601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405401" y="2117380"/>
            <a:ext cx="5351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Sweet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752600" y="2285020"/>
            <a:ext cx="2386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muffins demand, Accelerating vs history.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5562600" y="2201200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2191421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6791183" y="2201200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8420100" y="2201200"/>
            <a:ext cx="1285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Sweet muffins (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53902" y="219142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9821398" y="220120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22866" y="2191421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10090362" y="2201200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752600" y="2628483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2618704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606285" y="2628483"/>
            <a:ext cx="16835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Above-market pace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37905" y="2618704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4405401" y="2628483"/>
            <a:ext cx="5351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Sweet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752600" y="2796123"/>
            <a:ext cx="2386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muffins demand, Accelerating vs history.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562600" y="2712303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2702524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6791183" y="2712303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420100" y="2712303"/>
            <a:ext cx="1285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Sweet muffins (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53902" y="2702524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821398" y="2712303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22866" y="2702524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10090362" y="2712303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752600" y="3139587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3129808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3002465" y="3139587"/>
            <a:ext cx="18510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Sweet muffins demand,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752600" y="3307227"/>
            <a:ext cx="13897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Accelerating vs history.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5562600" y="3139587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3129808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6965262" y="3139587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5562600" y="3307227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3297448"/>
            <a:ext cx="128699" cy="187198"/>
          </a:xfrm>
          <a:prstGeom prst="rect">
            <a:avLst/>
          </a:prstGeom>
        </p:spPr>
      </p:pic>
      <p:sp>
        <p:nvSpPr>
          <p:cNvPr id="108" name="TextBox 107"/>
          <p:cNvSpPr txBox="1"/>
          <p:nvPr/>
        </p:nvSpPr>
        <p:spPr>
          <a:xfrm>
            <a:off x="6425562" y="3307227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8420100" y="3223407"/>
            <a:ext cx="1285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Sweet muffins (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53902" y="321362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9821398" y="3223407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22866" y="3213628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10090362" y="3223407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752600" y="3650690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3640911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3129614" y="3650690"/>
            <a:ext cx="22424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Sweet muffins demand, Accelerating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752600" y="3818330"/>
            <a:ext cx="6535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vs history.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5562600" y="3734510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3724731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6791183" y="3734510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8420100" y="3734510"/>
            <a:ext cx="1285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Sweet muffins (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53902" y="3724731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9821398" y="37345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22866" y="3724731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10090362" y="3734510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1752600" y="4161794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4152015"/>
            <a:ext cx="128699" cy="187198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3002465" y="4161794"/>
            <a:ext cx="18510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Sweet muffins demand,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1752600" y="4329434"/>
            <a:ext cx="13897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Accelerating vs history.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562600" y="4161794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4152015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6965262" y="4161794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5562600" y="4329434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4319655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6425562" y="4329434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8420100" y="4245614"/>
            <a:ext cx="1285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Sweet muffins (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53902" y="4235835"/>
            <a:ext cx="128699" cy="187198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9821398" y="4245614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22866" y="4235835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10090362" y="4245614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304800" y="5232520"/>
            <a:ext cx="4373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North America, Europe, South Asia &amp; Pacific anchor scale with a combined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6463" y="5222741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4793959" y="5232520"/>
            <a:ext cx="46229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Global value in 2036, while 'South Asia &amp; Pacific' offers the steepest upside at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65009" y="5222741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9532505" y="5232520"/>
            <a:ext cx="18197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a market pace of</a:t>
            </a:r>
          </a:p>
        </p:txBody>
      </p:sp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1332" y="5390381"/>
            <a:ext cx="128699" cy="187198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458828" y="5400160"/>
            <a:ext cx="110088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 3 of 6 regions grow at or above that pace, so entry logic has to differ by region scale defence in the leaders, mix and premiumisation in the mid-tier, and availability-led expansion in the fastest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04800" y="5567800"/>
            <a:ext cx="5326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movers.</a:t>
            </a:r>
          </a:p>
        </p:txBody>
      </p:sp>
    </p:spTree>
  </p:cSld>
  <p:clrMapOvr>
    <a:masterClrMapping/>
  </p:clrMapOvr>
</p:sld>
</file>

<file path=ppt/slides/slide5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Global Driving Factors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economic and supply-side factors scored by their impact on the global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Oval 10"/>
          <p:cNvSpPr/>
          <p:nvPr/>
        </p:nvSpPr>
        <p:spPr>
          <a:xfrm>
            <a:off x="2381250" y="1609633"/>
            <a:ext cx="4762500" cy="4563424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Oval 11"/>
          <p:cNvSpPr/>
          <p:nvPr/>
        </p:nvSpPr>
        <p:spPr>
          <a:xfrm>
            <a:off x="2619375" y="1837804"/>
            <a:ext cx="4286250" cy="410708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Oval 12"/>
          <p:cNvSpPr/>
          <p:nvPr/>
        </p:nvSpPr>
        <p:spPr>
          <a:xfrm>
            <a:off x="2857500" y="2065976"/>
            <a:ext cx="3810000" cy="365074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3095625" y="2294147"/>
            <a:ext cx="3333750" cy="319439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3333750" y="2522318"/>
            <a:ext cx="2857500" cy="273805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3571875" y="2750489"/>
            <a:ext cx="2381250" cy="228171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3810000" y="2978660"/>
            <a:ext cx="1905000" cy="182537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4048125" y="3206832"/>
            <a:ext cx="1428750" cy="136902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4286250" y="3435003"/>
            <a:ext cx="952500" cy="91268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4524375" y="3663174"/>
            <a:ext cx="476250" cy="45634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1" name="Connector 20"/>
          <p:cNvCxnSpPr/>
          <p:nvPr/>
        </p:nvCxnSpPr>
        <p:spPr>
          <a:xfrm flipV="1">
            <a:off x="4762500" y="1609633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 flipV="1">
            <a:off x="3729314" y="1835594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 flipV="1">
            <a:off x="2900764" y="2468721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H="1" flipV="1">
            <a:off x="2440953" y="3383617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440953" y="3891345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2900764" y="3891345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>
            <a:off x="3729314" y="3891345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4762500" y="3891345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438400" y="2604460"/>
            <a:ext cx="2324100" cy="2309093"/>
          </a:xfrm>
          <a:custGeom>
            <a:avLst/>
            <a:gdLst/>
            <a:ahLst/>
            <a:cxnLst/>
            <a:rect l="l" t="t" r="r" b="b"/>
            <a:pathLst>
              <a:path w="244" h="253">
                <a:moveTo>
                  <a:pt x="244" y="10"/>
                </a:moveTo>
                <a:lnTo>
                  <a:pt x="176" y="0"/>
                </a:lnTo>
                <a:lnTo>
                  <a:pt x="120" y="42"/>
                </a:lnTo>
                <a:lnTo>
                  <a:pt x="97" y="107"/>
                </a:lnTo>
                <a:lnTo>
                  <a:pt x="0" y="197"/>
                </a:lnTo>
                <a:lnTo>
                  <a:pt x="149" y="217"/>
                </a:lnTo>
                <a:lnTo>
                  <a:pt x="217" y="197"/>
                </a:lnTo>
                <a:lnTo>
                  <a:pt x="244" y="253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4714875" y="1563999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400300" y="128106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681689" y="178996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1385456" y="151968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Oval 33"/>
          <p:cNvSpPr/>
          <p:nvPr/>
        </p:nvSpPr>
        <p:spPr>
          <a:xfrm>
            <a:off x="2853139" y="2423087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510507" y="227040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Oval 35"/>
          <p:cNvSpPr/>
          <p:nvPr/>
        </p:nvSpPr>
        <p:spPr>
          <a:xfrm>
            <a:off x="2393328" y="3337982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4946" y="323653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2393328" y="435344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4946" y="4308858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2853139" y="5268335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510507" y="527498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Oval 41"/>
          <p:cNvSpPr/>
          <p:nvPr/>
        </p:nvSpPr>
        <p:spPr>
          <a:xfrm>
            <a:off x="3681689" y="590146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1385456" y="602571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Oval 43"/>
          <p:cNvSpPr/>
          <p:nvPr/>
        </p:nvSpPr>
        <p:spPr>
          <a:xfrm>
            <a:off x="4714875" y="612742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2400300" y="6264326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476250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Scale 0"/>
          <p:cNvSpPr txBox="1"/>
          <p:nvPr/>
        </p:nvSpPr>
        <p:spPr>
          <a:xfrm>
            <a:off x="4286250" y="381833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4286250" y="3590159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4286250" y="336198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4286250" y="3133817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4286250" y="2905646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4286250" y="2677474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4286250" y="2449303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4286250" y="2221132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4286250" y="199296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4286250" y="1764790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4286250" y="153661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4762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4972050" y="1080276"/>
            <a:ext cx="7077075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Economic and Supply-side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4972050" y="1335828"/>
            <a:ext cx="70770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4972050" y="1427096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972050" y="1883439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972050" y="2339781"/>
            <a:ext cx="70770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972050" y="2613586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Portfolio breadth spans 2 product type lines and 3 sales channel routes, giving producers focused reformulation and channel latitude.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972050" y="3069929"/>
            <a:ext cx="70770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972050" y="3343734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466991" y="1322601"/>
            <a:ext cx="11252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Production Scale-up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2482772" y="1561215"/>
            <a:ext cx="109460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Input Cost Pressure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943191" y="2311939"/>
            <a:ext cx="75923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Capacity Add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1014573" y="3278069"/>
            <a:ext cx="120229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Supply Concentration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148118" y="4350392"/>
            <a:ext cx="106874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Geographic Spread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1722039" y="5316521"/>
            <a:ext cx="98038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Portfolio Breadth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838472" y="6067245"/>
            <a:ext cx="73890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Route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616852" y="6305860"/>
            <a:ext cx="97536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Value Realisation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5000625" y="1496754"/>
            <a:ext cx="32104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Supply-side conditions are led by Geographic Spread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59122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326618" y="1496754"/>
            <a:ext cx="11973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Capacity Add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72016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9639512" y="1496754"/>
            <a:ext cx="15618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Input Cost Pressure (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49441" y="1486975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11316936" y="1496754"/>
            <a:ext cx="5916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00625" y="1664394"/>
            <a:ext cx="27640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0-10 scale scored from the global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00625" y="1953097"/>
            <a:ext cx="12459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Volume expands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4591" y="194331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6362087" y="1953097"/>
            <a:ext cx="30027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(2026–2036) while average realisation moves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12927" y="1943318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480423" y="1953097"/>
            <a:ext cx="23465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the balance of those two sets the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5000625" y="2120737"/>
            <a:ext cx="15714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cost-pass-through picture.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00625" y="2401990"/>
            <a:ext cx="25400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is dispersed: 'North America' holds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88726" y="2392211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7656222" y="2401990"/>
            <a:ext cx="1821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6 regions.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5000625" y="3132138"/>
            <a:ext cx="29315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Capacity added between 2026 and 2036 is worth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80268" y="3122359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8047764" y="3132138"/>
            <a:ext cx="6590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54826" y="3122359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8822322" y="3132138"/>
            <a:ext cx="18019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expansion on the 2026 base.</a:t>
            </a:r>
          </a:p>
        </p:txBody>
      </p:sp>
    </p:spTree>
  </p:cSld>
  <p:clrMapOvr>
    <a:masterClrMapping/>
  </p:clrMapOvr>
</p:sld>
</file>

<file path=ppt/slides/slide5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Global Driving Factors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demand-side factors scored by their impact on the global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Oval 10"/>
          <p:cNvSpPr/>
          <p:nvPr/>
        </p:nvSpPr>
        <p:spPr>
          <a:xfrm>
            <a:off x="5048250" y="1609633"/>
            <a:ext cx="4762500" cy="4563424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Oval 11"/>
          <p:cNvSpPr/>
          <p:nvPr/>
        </p:nvSpPr>
        <p:spPr>
          <a:xfrm>
            <a:off x="5286375" y="1837804"/>
            <a:ext cx="4286250" cy="410708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Oval 12"/>
          <p:cNvSpPr/>
          <p:nvPr/>
        </p:nvSpPr>
        <p:spPr>
          <a:xfrm>
            <a:off x="5524500" y="2065976"/>
            <a:ext cx="3810000" cy="365074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5762625" y="2294147"/>
            <a:ext cx="3333750" cy="319439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00750" y="2522318"/>
            <a:ext cx="2857500" cy="273805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238875" y="2750489"/>
            <a:ext cx="2381250" cy="228171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6477000" y="2978660"/>
            <a:ext cx="1905000" cy="182537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6715125" y="3206832"/>
            <a:ext cx="1428750" cy="136902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6953250" y="3435003"/>
            <a:ext cx="952500" cy="91268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7191375" y="3663174"/>
            <a:ext cx="476250" cy="45634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1" name="Connector 20"/>
          <p:cNvCxnSpPr/>
          <p:nvPr/>
        </p:nvCxnSpPr>
        <p:spPr>
          <a:xfrm flipV="1">
            <a:off x="7429500" y="1609633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V="1">
            <a:off x="7429500" y="1835594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V="1">
            <a:off x="7429500" y="2468721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V="1">
            <a:off x="7429500" y="3383617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7429500" y="3891345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7429500" y="3891345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7429500" y="3891345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7429500" y="3891345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7429500" y="2595333"/>
            <a:ext cx="1504950" cy="3103129"/>
          </a:xfrm>
          <a:custGeom>
            <a:avLst/>
            <a:gdLst/>
            <a:ahLst/>
            <a:cxnLst/>
            <a:rect l="l" t="t" r="r" b="b"/>
            <a:pathLst>
              <a:path w="158" h="340">
                <a:moveTo>
                  <a:pt x="0" y="17"/>
                </a:moveTo>
                <a:lnTo>
                  <a:pt x="69" y="0"/>
                </a:lnTo>
                <a:lnTo>
                  <a:pt x="49" y="103"/>
                </a:lnTo>
                <a:lnTo>
                  <a:pt x="97" y="120"/>
                </a:lnTo>
                <a:lnTo>
                  <a:pt x="158" y="178"/>
                </a:lnTo>
                <a:lnTo>
                  <a:pt x="100" y="222"/>
                </a:lnTo>
                <a:lnTo>
                  <a:pt x="95" y="340"/>
                </a:lnTo>
                <a:lnTo>
                  <a:pt x="0" y="273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7381875" y="1563999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505700" y="128106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8415061" y="178996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8520544" y="151968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Oval 33"/>
          <p:cNvSpPr/>
          <p:nvPr/>
        </p:nvSpPr>
        <p:spPr>
          <a:xfrm>
            <a:off x="9243611" y="2423087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9395493" y="227040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Oval 35"/>
          <p:cNvSpPr/>
          <p:nvPr/>
        </p:nvSpPr>
        <p:spPr>
          <a:xfrm>
            <a:off x="9703422" y="3337982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9881054" y="3236535"/>
            <a:ext cx="2168071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9703422" y="435344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9881054" y="4308858"/>
            <a:ext cx="2168071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9243611" y="5268335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9395493" y="527498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Oval 41"/>
          <p:cNvSpPr/>
          <p:nvPr/>
        </p:nvSpPr>
        <p:spPr>
          <a:xfrm>
            <a:off x="8415061" y="590146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520544" y="602571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Oval 43"/>
          <p:cNvSpPr/>
          <p:nvPr/>
        </p:nvSpPr>
        <p:spPr>
          <a:xfrm>
            <a:off x="7381875" y="612742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505700" y="6264326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Scale 0"/>
          <p:cNvSpPr txBox="1"/>
          <p:nvPr/>
        </p:nvSpPr>
        <p:spPr>
          <a:xfrm>
            <a:off x="7486650" y="381833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7486650" y="3590159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7486650" y="336198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7486650" y="3133817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7486650" y="2905646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7486650" y="2677474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7486650" y="2449303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7486650" y="2221132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7486650" y="199296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7486650" y="1764790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7486650" y="153661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7429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180975" y="1080276"/>
            <a:ext cx="7038975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Demand-side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80975" y="1335828"/>
            <a:ext cx="70389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180975" y="1427096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80975" y="1883439"/>
            <a:ext cx="70389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80975" y="2157244"/>
            <a:ext cx="70389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80975" y="2431050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80975" y="2887392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80975" y="3343734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7534275" y="1322601"/>
            <a:ext cx="943988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Demand Growth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24374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8549119" y="1561215"/>
            <a:ext cx="90357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Premiumisation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98803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424068" y="2311939"/>
            <a:ext cx="76576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App. Breadth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35940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9909628" y="3278069"/>
            <a:ext cx="79111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Emerging Pull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855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9909628" y="4350392"/>
            <a:ext cx="113526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Volume Momentum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1008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9424068" y="5316521"/>
            <a:ext cx="103209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Category Maturity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02276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8549119" y="6067245"/>
            <a:ext cx="91185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Adoption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07087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7534275" y="6305860"/>
            <a:ext cx="95578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Consumer Reach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36172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209550" y="1496754"/>
            <a:ext cx="31408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Demand-side conditions are led by Adoption Depth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8470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465966" y="1496754"/>
            <a:ext cx="16060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Volume Momentum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0096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187592" y="1496754"/>
            <a:ext cx="13542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Premiumisation (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9880" y="1486975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6657376" y="1496754"/>
            <a:ext cx="3143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209550" y="1664394"/>
            <a:ext cx="30412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on a 0-10 scale scored from the global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09550" y="1945648"/>
            <a:ext cx="9984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Value grows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6039" y="1935869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1323535" y="1945648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volume at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4882" y="1935869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2522378" y="1945648"/>
            <a:ext cx="2230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premiumising market through 2036.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209550" y="2219453"/>
            <a:ext cx="14426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'Sweet muffins' carries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242" y="2209674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1767738" y="2219453"/>
            <a:ext cx="39588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product type demand while 'Sweet muffins' compounds fastest at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74667" y="2209674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842163" y="221945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209550" y="2584528"/>
            <a:ext cx="2476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Pull is strongest in 'South Asia &amp; Pacific' (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4349" y="2574749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2801845" y="2584528"/>
            <a:ext cx="5315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+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469" y="2574749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3448965" y="2584528"/>
            <a:ext cx="3522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versus the market), with 3 of 6 regions at or above pace.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209550" y="2957050"/>
            <a:ext cx="3533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Reach runs through 3 sales channel routes, led by 'Retail' at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1376" y="2947271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3858872" y="2957050"/>
            <a:ext cx="32156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with 'Foodservice and institutional' growing fastest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209550" y="3124690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580" y="3114911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515076" y="312469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</p:spTree>
  </p:cSld>
  <p:clrMapOvr>
    <a:masterClrMapping/>
  </p:clrMapOvr>
</p:sld>
</file>

<file path=ppt/slides/slide5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Restraints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restraints on the global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C0603A"/>
          </a:solidFill>
          <a:ln w="12700">
            <a:solidFill>
              <a:srgbClr val="C060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Restraints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Savoury muffins Lags the Category and Dilutes Blended Growth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Uneven Region Performance Caps the Blended Rate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Concentration Risk Limits Pricing and Sourcing Flexibility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837332"/>
            <a:ext cx="18470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'Savoury muffins' grows at only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85558" y="1827554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2153054" y="1837332"/>
            <a:ext cx="46551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the market's 5.0%, a -52 BPS gap, and 'Savoury muffins' surrenders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56283" y="1827554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6923779" y="1837332"/>
            <a:ext cx="23962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 product type share between 2026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90500" y="2004972"/>
            <a:ext cx="92983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2036. Because these lines still carry meaningful volume, the drag is absorbed by the whole category: blended growth sits below what the leading lines achieve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172613"/>
            <a:ext cx="80939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on their own. Rationalising or repositioning the lagging end of a 2-line portfolio is therefore a precondition for realising the headline forecast.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90500" y="3498419"/>
            <a:ext cx="17315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'North America' grows at just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70142" y="3488640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037637" y="3498419"/>
            <a:ext cx="469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-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55597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623093" y="3498419"/>
            <a:ext cx="66169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against the market and 3 of 6 regions sit below the market pace altogether. Demand is therefore not uniformly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86180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available: suppliers carrying a broad geographic footprint fund presence in slow regions out of returns earned in the fast ones. With 'North America'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56642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8924138" y="3666059"/>
            <a:ext cx="5640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value,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51703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shortfall in a single leading region is difficult to offset elsewhere in the forecast window.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250774"/>
            <a:ext cx="33375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is concentrated: 'North America' accounts for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6146" y="5240995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643642" y="5250774"/>
            <a:ext cx="29575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and the leading product type line for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49206" y="5240995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6716702" y="5250774"/>
            <a:ext cx="24450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its segment. Average realisation moves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032" y="540863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44528" y="5418414"/>
            <a:ext cx="91247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year, so cost movements cannot be passed on evenly across 6 regions. The practical constraint is the same in either case commercial terms set for the market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90500" y="5586054"/>
            <a:ext cx="61918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 a whole underserve part of it, and margin is lost in the mismatch rather than in the headline growth rate.</a:t>
            </a:r>
          </a:p>
        </p:txBody>
      </p:sp>
    </p:spTree>
  </p:cSld>
  <p:clrMapOvr>
    <a:masterClrMapping/>
  </p:clrMapOvr>
</p:sld>
</file>

<file path=ppt/slides/slide5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Opportunities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opportunities in the global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Opportunities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U.S. Carries the Largest Absolute Opportunity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Netherlands Offers Under-penetrated, Above-pace Headroom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Foodservice and institutional Opens the Fastest Route to Market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746064"/>
            <a:ext cx="6620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'U.S.' adds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0563" y="1736285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68059" y="1746064"/>
            <a:ext cx="84330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 2036 the single largest absolute increment of any geography in the dataset. Capturing it is a question of scale execution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90500" y="1913704"/>
            <a:ext cx="37692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rather than market creation: demand already exists and grows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07797" y="1903925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075293" y="1913704"/>
            <a:ext cx="54025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 the market level. Prioritising supply, channel coverage and service levels there converts the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081344"/>
            <a:ext cx="1175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of the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13797" y="2071565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481293" y="2081344"/>
            <a:ext cx="33064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the whole market adds over the forecast period.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90500" y="3498419"/>
            <a:ext cx="16802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'Netherlands' compounds 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18845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1986341" y="3498419"/>
            <a:ext cx="73152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from a below-median base one of 7 geographies in the dataset combining above-median growth with below-median size.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74254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That profile is where share is cheapest to buy: competitive intensity is lower than in the 30.2%-share leaders, while growth runs +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64008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7731504" y="3666059"/>
            <a:ext cx="18251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ahead of the market. Early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45566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distribution and reference accounts established here compound through 2036.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250774"/>
            <a:ext cx="23012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'Foodservice and institutional' grows at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9826" y="5240995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607322" y="5250774"/>
            <a:ext cx="30838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the fastest of 3 sales channel routes, and adds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39199" y="5240995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5806695" y="5250774"/>
            <a:ext cx="33277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over the forecast period while 'Retail' still carries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82518" y="524099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90500" y="5418414"/>
            <a:ext cx="7293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demand today. Pairing the incumbent route for volume with the fastest route for growth and leading with 'Sweet muffins' at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32493" y="540863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7599989" y="5418414"/>
            <a:ext cx="18936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is the highest-yield combination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190500" y="5586054"/>
            <a:ext cx="12884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dataset supports.</a:t>
            </a:r>
          </a:p>
        </p:txBody>
      </p:sp>
    </p:spTree>
  </p:cSld>
  <p:clrMapOvr>
    <a:masterClrMapping/>
  </p:clrMapOvr>
</p:sld>
</file>

<file path=ppt/slides/slide5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Recent Developments &amp; Milestones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Recent developments and milestones shaping the global market, by year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025515"/>
            <a:ext cx="11906250" cy="29205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1428750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Year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14500" y="1025515"/>
            <a:ext cx="102393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Recent Development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42875" y="1317574"/>
            <a:ext cx="11906250" cy="1049588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142875" y="1317574"/>
            <a:ext cx="1428750" cy="104958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2025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571625" y="1317574"/>
            <a:ext cx="0" cy="1049588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1714500" y="1641578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ectangle 17"/>
          <p:cNvSpPr/>
          <p:nvPr/>
        </p:nvSpPr>
        <p:spPr>
          <a:xfrm>
            <a:off x="142875" y="2367162"/>
            <a:ext cx="11906250" cy="1049588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142875" y="2367162"/>
            <a:ext cx="1428750" cy="104958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2026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71625" y="2367162"/>
            <a:ext cx="0" cy="1049588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714500" y="2691164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142875" y="3416749"/>
            <a:ext cx="11906250" cy="1049588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142875" y="3416749"/>
            <a:ext cx="1428750" cy="104958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2035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71625" y="3416749"/>
            <a:ext cx="0" cy="1049588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1714500" y="3740753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ectangle 25"/>
          <p:cNvSpPr/>
          <p:nvPr/>
        </p:nvSpPr>
        <p:spPr>
          <a:xfrm>
            <a:off x="142875" y="4466337"/>
            <a:ext cx="11906250" cy="1049588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142875" y="4466337"/>
            <a:ext cx="1428750" cy="104958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2031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571625" y="4466337"/>
            <a:ext cx="0" cy="1049588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1714500" y="4790339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142875" y="5515924"/>
            <a:ext cx="11906250" cy="1049588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142875" y="5515924"/>
            <a:ext cx="1428750" cy="104958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1571625" y="5515924"/>
            <a:ext cx="0" cy="1049588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714500" y="5839928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743075" y="1681434"/>
            <a:ext cx="337896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Strongest historical expansion on record: Global value rose +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69126" y="1672046"/>
            <a:ext cx="123551" cy="179710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229922" y="1681434"/>
            <a:ext cx="901565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year on year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8569" y="1672046"/>
            <a:ext cx="123551" cy="17971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6239365" y="1681434"/>
            <a:ext cx="517717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the steepest single-year move of the 2021–2025 period. Demand for 'Sweet muffins'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63617" y="1672046"/>
            <a:ext cx="123551" cy="179710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743075" y="1842368"/>
            <a:ext cx="683916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product type value by 2036 set the pace, and the 3 sales channel routes tracked here all carried volume through the year.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743075" y="2731020"/>
            <a:ext cx="3340465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Base year for the forecast: the global market is estimated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0621" y="2721632"/>
            <a:ext cx="123551" cy="179710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5191417" y="2731020"/>
            <a:ext cx="182568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having compounded at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4179" y="2721632"/>
            <a:ext cx="123551" cy="179710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124975" y="2731020"/>
            <a:ext cx="231078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across 2021–2025. 'North America' holds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2846" y="2721632"/>
            <a:ext cx="123551" cy="179710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43642" y="2731020"/>
            <a:ext cx="1896665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value across 6 regions, and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743075" y="2891954"/>
            <a:ext cx="422162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is built from 21 segment breakdowns covering 2 product type lines.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743075" y="3780609"/>
            <a:ext cx="108937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The market passes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9530" y="3771221"/>
            <a:ext cx="123551" cy="179710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2940326" y="3780609"/>
            <a:ext cx="294520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one and a half times the 2026 base reaching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32609" y="3771221"/>
            <a:ext cx="123551" cy="179710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5993405" y="3780609"/>
            <a:ext cx="317675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Mn. Growth by this point is led by 'Sweet muffins'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17241" y="3771221"/>
            <a:ext cx="123551" cy="179710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278037" y="3780609"/>
            <a:ext cx="235111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and by 'South Asia &amp; Pacific' among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743075" y="3941543"/>
            <a:ext cx="61710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regions at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07257" y="3932155"/>
            <a:ext cx="123551" cy="179710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2468053" y="3941543"/>
            <a:ext cx="317806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with 3 of 6 regions running at or above the market rate.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743075" y="4830195"/>
            <a:ext cx="219029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Mid-horizon checkpoint: value reaches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80454" y="4820807"/>
            <a:ext cx="123551" cy="179710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4041250" y="4830195"/>
            <a:ext cx="54113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9470" y="4820807"/>
            <a:ext cx="123551" cy="179710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690266" y="4830195"/>
            <a:ext cx="258133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the 2026 base. Average realisation stands at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18681" y="4820807"/>
            <a:ext cx="123551" cy="179710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7379477" y="4830195"/>
            <a:ext cx="174028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US$/MT, and mix has moved +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66848" y="4820807"/>
            <a:ext cx="123551" cy="179710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9227644" y="4830195"/>
            <a:ext cx="189823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toward 'Sweet muffins' while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743075" y="4991129"/>
            <a:ext cx="148935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'Savoury muffins' gives up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79509" y="4981741"/>
            <a:ext cx="123551" cy="179710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3340305" y="4991129"/>
            <a:ext cx="31403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743075" y="5879784"/>
            <a:ext cx="2544146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outcome: the global market reaches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34303" y="5870396"/>
            <a:ext cx="123551" cy="179710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4395098" y="5879784"/>
            <a:ext cx="63569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7879" y="5870396"/>
            <a:ext cx="123551" cy="179710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138675" y="5879784"/>
            <a:ext cx="143775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expansion on 2026 and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3507" y="5870396"/>
            <a:ext cx="123551" cy="179710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6684303" y="5879784"/>
            <a:ext cx="179922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of incremental value at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30610" y="5870396"/>
            <a:ext cx="123551" cy="17971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8591406" y="5879784"/>
            <a:ext cx="167871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CAGR. Volume compounds at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17204" y="5870396"/>
            <a:ext cx="123551" cy="179710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10378000" y="5879784"/>
            <a:ext cx="85467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over the same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743075" y="6040718"/>
            <a:ext cx="156505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window, leaving realisation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5209" y="6031330"/>
            <a:ext cx="123551" cy="179710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3416005" y="6040718"/>
            <a:ext cx="425541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 year the gap between the two is the premiumisation the forecast assumes.</a:t>
            </a:r>
          </a:p>
        </p:txBody>
      </p:sp>
    </p:spTree>
  </p:cSld>
  <p:clrMapOvr>
    <a:masterClrMapping/>
  </p:clrMapOvr>
</p:sld>
</file>

<file path=ppt/slides/slide5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Porter's Five Forces Analysis Global Packaged Muffins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supplier power, buyer power, competition, substitutes and entry barriers shaping the market's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875" y="989007"/>
            <a:ext cx="11906250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2" name="Oval 11"/>
          <p:cNvSpPr/>
          <p:nvPr/>
        </p:nvSpPr>
        <p:spPr>
          <a:xfrm>
            <a:off x="876300" y="1427096"/>
            <a:ext cx="914400" cy="876177"/>
          </a:xfrm>
          <a:prstGeom prst="ellipse">
            <a:avLst/>
          </a:prstGeom>
          <a:solidFill>
            <a:srgbClr val="F2D24B"/>
          </a:solidFill>
          <a:ln w="12700">
            <a:solidFill>
              <a:srgbClr val="F2D24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1047750" y="1664394"/>
            <a:ext cx="571500" cy="40158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3400" b="1">
                <a:solidFill>
                  <a:srgbClr val="8A6A00"/>
                </a:solidFill>
                <a:latin typeface="Calibri"/>
              </a:rPr>
              <a:t>$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190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Suppliers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4765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47650" y="3663174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247650" y="4530225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Buyers can rebalance across 2 product type lines, which caps supplier leverage in commodity grades.</a:t>
            </a:r>
          </a:p>
        </p:txBody>
      </p:sp>
      <p:sp>
        <p:nvSpPr>
          <p:cNvPr id="18" name="Oval 17"/>
          <p:cNvSpPr/>
          <p:nvPr/>
        </p:nvSpPr>
        <p:spPr>
          <a:xfrm>
            <a:off x="3257550" y="1427096"/>
            <a:ext cx="914400" cy="876177"/>
          </a:xfrm>
          <a:prstGeom prst="ellipse">
            <a:avLst/>
          </a:prstGeom>
          <a:solidFill>
            <a:srgbClr val="D9D9D9"/>
          </a:solidFill>
          <a:ln w="12700">
            <a:solidFill>
              <a:srgbClr val="D9D9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3476625" y="1710028"/>
            <a:ext cx="152400" cy="209918"/>
          </a:xfrm>
          <a:custGeom>
            <a:avLst/>
            <a:gdLst/>
            <a:ahLst/>
            <a:cxnLst/>
            <a:rect l="l" t="t" r="r" b="b"/>
            <a:pathLst>
              <a:path w="16" h="23">
                <a:moveTo>
                  <a:pt x="0" y="0"/>
                </a:moveTo>
                <a:lnTo>
                  <a:pt x="8" y="0"/>
                </a:lnTo>
                <a:lnTo>
                  <a:pt x="16" y="23"/>
                </a:lnTo>
              </a:path>
            </a:pathLst>
          </a:custGeom>
          <a:noFill/>
          <a:ln w="4318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Freeform 19"/>
          <p:cNvSpPr/>
          <p:nvPr/>
        </p:nvSpPr>
        <p:spPr>
          <a:xfrm>
            <a:off x="3609975" y="1783043"/>
            <a:ext cx="342900" cy="155156"/>
          </a:xfrm>
          <a:custGeom>
            <a:avLst/>
            <a:gdLst/>
            <a:ahLst/>
            <a:cxnLst/>
            <a:rect l="l" t="t" r="r" b="b"/>
            <a:pathLst>
              <a:path w="36" h="17">
                <a:moveTo>
                  <a:pt x="0" y="0"/>
                </a:moveTo>
                <a:lnTo>
                  <a:pt x="36" y="0"/>
                </a:lnTo>
                <a:lnTo>
                  <a:pt x="31" y="17"/>
                </a:lnTo>
                <a:lnTo>
                  <a:pt x="5" y="17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Oval 20"/>
          <p:cNvSpPr/>
          <p:nvPr/>
        </p:nvSpPr>
        <p:spPr>
          <a:xfrm>
            <a:off x="3648075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Oval 21"/>
          <p:cNvSpPr/>
          <p:nvPr/>
        </p:nvSpPr>
        <p:spPr>
          <a:xfrm>
            <a:off x="3829050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60032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Buyers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262890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628900" y="3663174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628900" y="4347688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Switching is easiest where 2 comparable product type lines compete for the same demand.</a:t>
            </a:r>
          </a:p>
        </p:txBody>
      </p:sp>
      <p:sp>
        <p:nvSpPr>
          <p:cNvPr id="27" name="Oval 26"/>
          <p:cNvSpPr/>
          <p:nvPr/>
        </p:nvSpPr>
        <p:spPr>
          <a:xfrm>
            <a:off x="5638800" y="1427096"/>
            <a:ext cx="914400" cy="876177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Oval 27"/>
          <p:cNvSpPr/>
          <p:nvPr/>
        </p:nvSpPr>
        <p:spPr>
          <a:xfrm>
            <a:off x="5876925" y="1655267"/>
            <a:ext cx="438150" cy="419835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5943600" y="1719155"/>
            <a:ext cx="304800" cy="292059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6010275" y="1783043"/>
            <a:ext cx="171450" cy="164283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6062662" y="1833240"/>
            <a:ext cx="66675" cy="63888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Freeform 31"/>
          <p:cNvSpPr/>
          <p:nvPr/>
        </p:nvSpPr>
        <p:spPr>
          <a:xfrm>
            <a:off x="6134100" y="1627887"/>
            <a:ext cx="209550" cy="200791"/>
          </a:xfrm>
          <a:custGeom>
            <a:avLst/>
            <a:gdLst/>
            <a:ahLst/>
            <a:cxnLst/>
            <a:rect l="l" t="t" r="r" b="b"/>
            <a:pathLst>
              <a:path w="22" h="22">
                <a:moveTo>
                  <a:pt x="0" y="22"/>
                </a:moveTo>
                <a:lnTo>
                  <a:pt x="22" y="0"/>
                </a:lnTo>
              </a:path>
            </a:pathLst>
          </a:custGeom>
          <a:noFill/>
          <a:ln w="381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Freeform 32"/>
          <p:cNvSpPr/>
          <p:nvPr/>
        </p:nvSpPr>
        <p:spPr>
          <a:xfrm>
            <a:off x="6267450" y="1591379"/>
            <a:ext cx="114300" cy="109522"/>
          </a:xfrm>
          <a:custGeom>
            <a:avLst/>
            <a:gdLst/>
            <a:ahLst/>
            <a:cxnLst/>
            <a:rect l="l" t="t" r="r" b="b"/>
            <a:pathLst>
              <a:path w="12" h="12">
                <a:moveTo>
                  <a:pt x="0" y="0"/>
                </a:moveTo>
                <a:lnTo>
                  <a:pt x="12" y="0"/>
                </a:lnTo>
                <a:lnTo>
                  <a:pt x="12" y="12"/>
                </a:lnTo>
                <a:close/>
              </a:path>
            </a:pathLst>
          </a:custGeom>
          <a:solidFill>
            <a:srgbClr val="B23A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49815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Intensity of Competition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010150" y="2796123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010150" y="3480637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5010150" y="4165151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8020050" y="1427096"/>
            <a:ext cx="914400" cy="876177"/>
          </a:xfrm>
          <a:prstGeom prst="ellipse">
            <a:avLst/>
          </a:prstGeom>
          <a:solidFill>
            <a:srgbClr val="C9C0E0"/>
          </a:solidFill>
          <a:ln w="12700">
            <a:solidFill>
              <a:srgbClr val="C9C0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ounded Rectangle 38"/>
          <p:cNvSpPr/>
          <p:nvPr/>
        </p:nvSpPr>
        <p:spPr>
          <a:xfrm>
            <a:off x="8382000" y="1637014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ounded Rectangle 39"/>
          <p:cNvSpPr/>
          <p:nvPr/>
        </p:nvSpPr>
        <p:spPr>
          <a:xfrm>
            <a:off x="82486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ounded Rectangle 40"/>
          <p:cNvSpPr/>
          <p:nvPr/>
        </p:nvSpPr>
        <p:spPr>
          <a:xfrm>
            <a:off x="85153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36282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Substitutes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391400" y="2796123"/>
            <a:ext cx="2171700" cy="96744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391400" y="3854838"/>
            <a:ext cx="21717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391400" y="4347688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01300" y="1427096"/>
            <a:ext cx="914400" cy="876177"/>
          </a:xfrm>
          <a:prstGeom prst="ellipse">
            <a:avLst/>
          </a:prstGeom>
          <a:solidFill>
            <a:srgbClr val="BFDCEA"/>
          </a:solidFill>
          <a:ln w="12700">
            <a:solidFill>
              <a:srgbClr val="BFDC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10610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Freeform 47"/>
          <p:cNvSpPr/>
          <p:nvPr/>
        </p:nvSpPr>
        <p:spPr>
          <a:xfrm>
            <a:off x="10563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Oval 48"/>
          <p:cNvSpPr/>
          <p:nvPr/>
        </p:nvSpPr>
        <p:spPr>
          <a:xfrm>
            <a:off x="10991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Freeform 49"/>
          <p:cNvSpPr/>
          <p:nvPr/>
        </p:nvSpPr>
        <p:spPr>
          <a:xfrm>
            <a:off x="10944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10782300" y="1609633"/>
            <a:ext cx="152400" cy="146030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Freeform 51"/>
          <p:cNvSpPr/>
          <p:nvPr/>
        </p:nvSpPr>
        <p:spPr>
          <a:xfrm>
            <a:off x="10715625" y="1783043"/>
            <a:ext cx="285750" cy="255552"/>
          </a:xfrm>
          <a:custGeom>
            <a:avLst/>
            <a:gdLst/>
            <a:ahLst/>
            <a:cxnLst/>
            <a:rect l="l" t="t" r="r" b="b"/>
            <a:pathLst>
              <a:path w="30" h="28">
                <a:moveTo>
                  <a:pt x="0" y="28"/>
                </a:moveTo>
                <a:lnTo>
                  <a:pt x="4" y="0"/>
                </a:lnTo>
                <a:lnTo>
                  <a:pt x="26" y="0"/>
                </a:lnTo>
                <a:lnTo>
                  <a:pt x="30" y="28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7440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New Entrants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977265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9772650" y="3663174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9772650" y="4347688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1450" y="1069470"/>
            <a:ext cx="100063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Supplier power, buyer power, competitive intensity, substitution and entry barriers scored from the global dataset 2 product type lines, 3 sales channel routes and 6 regions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25861" y="105969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293357" y="1069470"/>
            <a:ext cx="430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CAGR.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76225" y="2848734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 to high. 'North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276225" y="3016374"/>
            <a:ext cx="10710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America' supplies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293" y="3006595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462789" y="3016374"/>
            <a:ext cx="8445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6225" y="3184014"/>
            <a:ext cx="18420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6 regions, concentrating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6225" y="3351654"/>
            <a:ext cx="11736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upstream leverage.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3799605"/>
            <a:ext cx="1676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Average realisation moves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00439" y="3789826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067935" y="3799605"/>
            <a:ext cx="1430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3967245"/>
            <a:ext cx="20311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(2026–2036), indicating input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6225" y="4134885"/>
            <a:ext cx="18742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costs are being passed through.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657475" y="2848734"/>
            <a:ext cx="18300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moderate. Demand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657475" y="3016374"/>
            <a:ext cx="18219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routes through 3 sales channel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657475" y="3184014"/>
            <a:ext cx="15163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channels led by 'Retail'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1837" y="317423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4289332" y="3184014"/>
            <a:ext cx="4751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giving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657475" y="3351654"/>
            <a:ext cx="11234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 buyers scale.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657475" y="3708336"/>
            <a:ext cx="20620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Price sensitivity tracks realisation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657475" y="3875976"/>
            <a:ext cx="4958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moving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01372" y="3866197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3268868" y="3875976"/>
            <a:ext cx="13165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against volume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657475" y="4043616"/>
            <a:ext cx="6325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of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8070" y="4033837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3405566" y="4043616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5038725" y="2841285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low. 2 product type lines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038725" y="3008925"/>
            <a:ext cx="19506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compete inside the segment; the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038725" y="3176565"/>
            <a:ext cx="7755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leader holds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62295" y="3166786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5929790" y="317656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038725" y="3525799"/>
            <a:ext cx="19340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Growth is unevenly distributed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38725" y="3693439"/>
            <a:ext cx="10953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'Sweet muffins' at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82077" y="368366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6249573" y="3693439"/>
            <a:ext cx="482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5038725" y="3861079"/>
            <a:ext cx="11984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'Savoury muffins' at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85215" y="3851300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6352710" y="386107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5038725" y="4210313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3 of 6 regions grow at or above the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5257" y="4368174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5192753" y="4377953"/>
            <a:ext cx="16431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pace, keeping share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5038725" y="4545593"/>
            <a:ext cx="678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contested.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7419975" y="2944566"/>
            <a:ext cx="18333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moderate. 'Savoury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7419975" y="3112206"/>
            <a:ext cx="8535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muffins' loses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1580" y="3102427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8389076" y="3112206"/>
            <a:ext cx="9337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 share to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7419975" y="3279846"/>
            <a:ext cx="10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'Sweet muffins' (+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61417" y="3270067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8628913" y="3279846"/>
            <a:ext cx="8148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by 2036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7419975" y="3447486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substitution is visible inside the mix.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7419975" y="3894694"/>
            <a:ext cx="155038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▸ The slowest line grows at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17440" y="3885306"/>
            <a:ext cx="123551" cy="179710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9078236" y="3894694"/>
            <a:ext cx="181236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-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06555" y="3885306"/>
            <a:ext cx="123551" cy="17971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7419975" y="4055628"/>
            <a:ext cx="136886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against the market.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7419975" y="4392850"/>
            <a:ext cx="12543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Realisation moving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22399" y="4383071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8789895" y="4392850"/>
            <a:ext cx="4232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7419975" y="4560490"/>
            <a:ext cx="19113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widens the price gap substitutes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7419975" y="4728130"/>
            <a:ext cx="7187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must close.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9801225" y="2848734"/>
            <a:ext cx="19891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 to high. The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9801225" y="3016374"/>
            <a:ext cx="10033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grows at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52626" y="3006595"/>
            <a:ext cx="128699" cy="187198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10920122" y="3016374"/>
            <a:ext cx="940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and adds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87757" y="317423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9955253" y="3184014"/>
            <a:ext cx="16298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by 2036, attracting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9801225" y="3351654"/>
            <a:ext cx="4134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entry.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9801225" y="3708336"/>
            <a:ext cx="19714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Demand spreads over 6 regions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9801225" y="3875976"/>
            <a:ext cx="14931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with no single one above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42394" y="3866197"/>
            <a:ext cx="128699" cy="187198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11409890" y="3875976"/>
            <a:ext cx="2710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so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9801225" y="4043616"/>
            <a:ext cx="14985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regional entry is feasible.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9801225" y="4400299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Incumbent scale in 'North America'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9801225" y="4567939"/>
            <a:ext cx="12691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'Sweet muffins' (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18383" y="4558160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11185879" y="4567939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9801225" y="4735579"/>
            <a:ext cx="1843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segment) remains the principal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9801225" y="4903219"/>
            <a:ext cx="4999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barrier.</a:t>
            </a:r>
          </a:p>
        </p:txBody>
      </p:sp>
    </p:spTree>
  </p:cSld>
  <p:clrMapOvr>
    <a:masterClrMapping/>
  </p:clrMapOvr>
</p:sld>
</file>

<file path=ppt/slides/slide5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Packaged Muffins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Competition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Competitive Landscape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Share by Leading Players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Competitive Landscape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Pipeline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Strategic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Competition Dashboard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Competitive Landscape at a Glance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Market concentration, segment leadership and the moves that will shift share, 2026–2036, in one page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190500" y="10477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24765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4765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6668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72402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72402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31432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320040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product types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320040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46196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67677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end use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67677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/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609600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615315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Named competitors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15315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10</a:t>
            </a:r>
          </a:p>
        </p:txBody>
      </p:sp>
      <p:cxnSp>
        <p:nvCxnSpPr>
          <p:cNvPr id="25" name="Connector 24"/>
          <p:cNvCxnSpPr/>
          <p:nvPr/>
        </p:nvCxnSpPr>
        <p:spPr>
          <a:xfrm>
            <a:off x="75723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TextBox 25"/>
          <p:cNvSpPr txBox="1"/>
          <p:nvPr/>
        </p:nvSpPr>
        <p:spPr>
          <a:xfrm>
            <a:off x="762952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Moves tracked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62952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50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90487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910590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player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910590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Grupo Bimbo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05251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1058227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058227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90500" y="1733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95300" y="19050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Leadership is concentrated in value, spread in capability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95300" y="21145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95300" y="30099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The tier structure is steep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5300" y="32194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43" name="Rectangle 42"/>
          <p:cNvSpPr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5300" y="41148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Growth is shifting inside the product mix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5300" y="43243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47" name="Rectangle 46"/>
          <p:cNvSpPr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591300" y="19050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Reach divides the field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591300" y="21145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players compete globally, 2 regionally and 4 in one market or niche.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591300" y="30099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Consolidation is an active lever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6591300" y="32194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is an active strategy at 5 of 10 named players; the independent target list is shrinking.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591300" y="41148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Success factors, in order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591300" y="43243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 segment breadth, 2 scale and share, 3 geographic reach, 4 innovation pipeline, 5 strategic momentum.  Ranking leads: McKee Foods Corporation, Grupo Bimbo, Rich Products Corporation.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190500" y="5276850"/>
            <a:ext cx="38100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THIS SECTION IS BUILT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90500" y="5448300"/>
            <a:ext cx="11811000" cy="571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Pages 2 to 4 show where the market is and who plays.  Pages 5 to 7 rate every named company on twenty Ps (who they are, what they sell, how they win); a cell reads n/a where no evidence exists.  Page 8 turns the pattern into five success factors and a ranking.  Pages 9 and 10 list what each player is doing and what each of your departments should do about it.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3863" y="1401826"/>
            <a:ext cx="128699" cy="187198"/>
          </a:xfrm>
          <a:prstGeom prst="rect">
            <a:avLst/>
          </a:prstGeom>
        </p:spPr>
      </p:pic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0238" y="1401826"/>
            <a:ext cx="128699" cy="187198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6613" y="1401826"/>
            <a:ext cx="128699" cy="187198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8488" y="1401826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4705350" y="1304925"/>
            <a:ext cx="447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F2D52"/>
                </a:solidFill>
                <a:latin typeface="Calibri"/>
              </a:rPr>
              <a:t>Retail,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00952" y="1295146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23875" y="2124075"/>
            <a:ext cx="11373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three hold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9246" y="2114296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776742" y="2124075"/>
            <a:ext cx="39493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2026 value, but 2 companies lead the 5 sub-segments tracked; no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3875" y="2291715"/>
            <a:ext cx="13864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one leads more than 3.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23875" y="3228975"/>
            <a:ext cx="13640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Tier 1 (4 players) holds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35985" y="3219196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003481" y="3228975"/>
            <a:ext cx="1875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; Tier 2 and Tier 3 together hold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7189" y="3219196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994685" y="32289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523875" y="4333875"/>
            <a:ext cx="41449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'Sweet muffins' is the largest line; 'Sweet muffins' compounds fastest at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6889" y="4324096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784384" y="4333875"/>
            <a:ext cx="430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CAGR.</a:t>
            </a:r>
          </a:p>
        </p:txBody>
      </p:sp>
    </p:spTree>
  </p:cSld>
  <p:clrMapOvr>
    <a:masterClrMapping/>
  </p:clrMapOvr>
</p:sld>
</file>

<file path=ppt/slides/slide5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Segment Leadership Map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Share by player group and which named player leads or is active in each sub-segment, 2026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90500" y="1047750"/>
            <a:ext cx="5715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holds the market, 2026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90500" y="1257300"/>
            <a:ext cx="4509884" cy="266700"/>
          </a:xfrm>
          <a:prstGeom prst="rect">
            <a:avLst/>
          </a:prstGeom>
          <a:solidFill>
            <a:srgbClr val="0F2D52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47650" y="1257300"/>
            <a:ext cx="4433684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3" name="Rectangle 12"/>
          <p:cNvSpPr/>
          <p:nvPr/>
        </p:nvSpPr>
        <p:spPr>
          <a:xfrm>
            <a:off x="4700384" y="1257300"/>
            <a:ext cx="1536162" cy="266700"/>
          </a:xfrm>
          <a:prstGeom prst="rect">
            <a:avLst/>
          </a:prstGeom>
          <a:solidFill>
            <a:srgbClr val="1F6FA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757534" y="1257300"/>
            <a:ext cx="1459962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5" name="Rectangle 14"/>
          <p:cNvSpPr/>
          <p:nvPr/>
        </p:nvSpPr>
        <p:spPr>
          <a:xfrm>
            <a:off x="6236546" y="1257300"/>
            <a:ext cx="2242416" cy="266700"/>
          </a:xfrm>
          <a:prstGeom prst="rect">
            <a:avLst/>
          </a:prstGeom>
          <a:solidFill>
            <a:srgbClr val="6FA0CF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293696" y="1257300"/>
            <a:ext cx="2166216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7" name="Rectangle 16"/>
          <p:cNvSpPr/>
          <p:nvPr/>
        </p:nvSpPr>
        <p:spPr>
          <a:xfrm>
            <a:off x="8478962" y="1257300"/>
            <a:ext cx="3522538" cy="266700"/>
          </a:xfrm>
          <a:prstGeom prst="rect">
            <a:avLst/>
          </a:prstGeom>
          <a:solidFill>
            <a:srgbClr val="A9C6E3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536112" y="1257300"/>
            <a:ext cx="3446338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/>
            </a:r>
          </a:p>
        </p:txBody>
      </p:sp>
      <p:sp>
        <p:nvSpPr>
          <p:cNvPr id="19" name="Rectangle 18"/>
          <p:cNvSpPr/>
          <p:nvPr/>
        </p:nvSpPr>
        <p:spPr>
          <a:xfrm>
            <a:off x="190500" y="1600200"/>
            <a:ext cx="85725" cy="857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31432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Grupo Bimbo, McKee Foods Corporation, Hostess Brands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3143250" y="1600200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326707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Rich Products Corporation, ARYZTA / Aspire Bakeries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096000" y="1600200"/>
            <a:ext cx="85725" cy="85725"/>
          </a:xfrm>
          <a:prstGeom prst="rect">
            <a:avLst/>
          </a:prstGeom>
          <a:solidFill>
            <a:srgbClr val="6FA0C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21982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Europastry, Bridor, Lantmännen Unibake, Flowers Foods, Premier Foods</a:t>
            </a:r>
          </a:p>
        </p:txBody>
      </p:sp>
      <p:sp>
        <p:nvSpPr>
          <p:cNvPr id="25" name="Rectangle 24"/>
          <p:cNvSpPr/>
          <p:nvPr/>
        </p:nvSpPr>
        <p:spPr>
          <a:xfrm>
            <a:off x="9048750" y="1600200"/>
            <a:ext cx="85725" cy="857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917257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Long tail of regional and niche suppliers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9240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190500" y="1981200"/>
            <a:ext cx="8572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leads which sub-segment, 2026  (full = leader, half = active)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114550" y="2114550"/>
            <a:ext cx="19431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Sweet muffins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4095750" y="2114550"/>
            <a:ext cx="19431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Savoury muffins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076950" y="2114550"/>
            <a:ext cx="19431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Retail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058150" y="2114550"/>
            <a:ext cx="19431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0039350" y="2114550"/>
            <a:ext cx="19431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Vending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90500" y="2609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2638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85750" y="26289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Grupo Bimbo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27908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8" name="Oval 37"/>
          <p:cNvSpPr/>
          <p:nvPr/>
        </p:nvSpPr>
        <p:spPr>
          <a:xfrm>
            <a:off x="3009900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Freeform 38"/>
          <p:cNvSpPr/>
          <p:nvPr/>
        </p:nvSpPr>
        <p:spPr>
          <a:xfrm>
            <a:off x="3086100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Oval 39"/>
          <p:cNvSpPr/>
          <p:nvPr/>
        </p:nvSpPr>
        <p:spPr>
          <a:xfrm>
            <a:off x="4991100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Oval 40"/>
          <p:cNvSpPr/>
          <p:nvPr/>
        </p:nvSpPr>
        <p:spPr>
          <a:xfrm>
            <a:off x="6972300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8953500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10934700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4" name="Connector 43"/>
          <p:cNvCxnSpPr/>
          <p:nvPr/>
        </p:nvCxnSpPr>
        <p:spPr>
          <a:xfrm>
            <a:off x="190500" y="2952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190500" y="2981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85750" y="29718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McKee Foods Corporation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5750" y="31337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8" name="Oval 47"/>
          <p:cNvSpPr/>
          <p:nvPr/>
        </p:nvSpPr>
        <p:spPr>
          <a:xfrm>
            <a:off x="3009900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Freeform 48"/>
          <p:cNvSpPr/>
          <p:nvPr/>
        </p:nvSpPr>
        <p:spPr>
          <a:xfrm>
            <a:off x="3086100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Oval 49"/>
          <p:cNvSpPr/>
          <p:nvPr/>
        </p:nvSpPr>
        <p:spPr>
          <a:xfrm>
            <a:off x="4991100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reeform 50"/>
          <p:cNvSpPr/>
          <p:nvPr/>
        </p:nvSpPr>
        <p:spPr>
          <a:xfrm>
            <a:off x="5067300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Oval 51"/>
          <p:cNvSpPr/>
          <p:nvPr/>
        </p:nvSpPr>
        <p:spPr>
          <a:xfrm>
            <a:off x="6972300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7048500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8953500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10934700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Freeform 55"/>
          <p:cNvSpPr/>
          <p:nvPr/>
        </p:nvSpPr>
        <p:spPr>
          <a:xfrm>
            <a:off x="11010900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7" name="Connector 56"/>
          <p:cNvCxnSpPr/>
          <p:nvPr/>
        </p:nvCxnSpPr>
        <p:spPr>
          <a:xfrm>
            <a:off x="190500" y="3295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Rectangle 57"/>
          <p:cNvSpPr/>
          <p:nvPr/>
        </p:nvSpPr>
        <p:spPr>
          <a:xfrm>
            <a:off x="190500" y="3324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85750" y="33147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Hostess Brands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85750" y="34766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1" name="Oval 60"/>
          <p:cNvSpPr/>
          <p:nvPr/>
        </p:nvSpPr>
        <p:spPr>
          <a:xfrm>
            <a:off x="3009900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Oval 61"/>
          <p:cNvSpPr/>
          <p:nvPr/>
        </p:nvSpPr>
        <p:spPr>
          <a:xfrm>
            <a:off x="4991100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Oval 62"/>
          <p:cNvSpPr/>
          <p:nvPr/>
        </p:nvSpPr>
        <p:spPr>
          <a:xfrm>
            <a:off x="6972300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8953500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Freeform 64"/>
          <p:cNvSpPr/>
          <p:nvPr/>
        </p:nvSpPr>
        <p:spPr>
          <a:xfrm>
            <a:off x="9029700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10934700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7" name="Connector 66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8" name="Rectangle 67"/>
          <p:cNvSpPr/>
          <p:nvPr/>
        </p:nvSpPr>
        <p:spPr>
          <a:xfrm>
            <a:off x="190500" y="3667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285750" y="36576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Rich Products Corporation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85750" y="38195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71" name="Oval 70"/>
          <p:cNvSpPr/>
          <p:nvPr/>
        </p:nvSpPr>
        <p:spPr>
          <a:xfrm>
            <a:off x="3009900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Oval 71"/>
          <p:cNvSpPr/>
          <p:nvPr/>
        </p:nvSpPr>
        <p:spPr>
          <a:xfrm>
            <a:off x="4991100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Freeform 72"/>
          <p:cNvSpPr/>
          <p:nvPr/>
        </p:nvSpPr>
        <p:spPr>
          <a:xfrm>
            <a:off x="5067300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Oval 73"/>
          <p:cNvSpPr/>
          <p:nvPr/>
        </p:nvSpPr>
        <p:spPr>
          <a:xfrm>
            <a:off x="6972300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Freeform 74"/>
          <p:cNvSpPr/>
          <p:nvPr/>
        </p:nvSpPr>
        <p:spPr>
          <a:xfrm>
            <a:off x="7048500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Oval 75"/>
          <p:cNvSpPr/>
          <p:nvPr/>
        </p:nvSpPr>
        <p:spPr>
          <a:xfrm>
            <a:off x="8953500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Freeform 76"/>
          <p:cNvSpPr/>
          <p:nvPr/>
        </p:nvSpPr>
        <p:spPr>
          <a:xfrm>
            <a:off x="9029700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Oval 77"/>
          <p:cNvSpPr/>
          <p:nvPr/>
        </p:nvSpPr>
        <p:spPr>
          <a:xfrm>
            <a:off x="10934700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9" name="Connector 78"/>
          <p:cNvCxnSpPr/>
          <p:nvPr/>
        </p:nvCxnSpPr>
        <p:spPr>
          <a:xfrm>
            <a:off x="190500" y="3981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Rectangle 79"/>
          <p:cNvSpPr/>
          <p:nvPr/>
        </p:nvSpPr>
        <p:spPr>
          <a:xfrm>
            <a:off x="190500" y="4010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285750" y="40005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ARYZTA / Aspire Bakeries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85750" y="41624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3" name="Oval 82"/>
          <p:cNvSpPr/>
          <p:nvPr/>
        </p:nvSpPr>
        <p:spPr>
          <a:xfrm>
            <a:off x="3009900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Freeform 83"/>
          <p:cNvSpPr/>
          <p:nvPr/>
        </p:nvSpPr>
        <p:spPr>
          <a:xfrm>
            <a:off x="3086100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Oval 84"/>
          <p:cNvSpPr/>
          <p:nvPr/>
        </p:nvSpPr>
        <p:spPr>
          <a:xfrm>
            <a:off x="4991100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Freeform 85"/>
          <p:cNvSpPr/>
          <p:nvPr/>
        </p:nvSpPr>
        <p:spPr>
          <a:xfrm>
            <a:off x="5067300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Oval 86"/>
          <p:cNvSpPr/>
          <p:nvPr/>
        </p:nvSpPr>
        <p:spPr>
          <a:xfrm>
            <a:off x="6972300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Freeform 87"/>
          <p:cNvSpPr/>
          <p:nvPr/>
        </p:nvSpPr>
        <p:spPr>
          <a:xfrm>
            <a:off x="7048500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Oval 88"/>
          <p:cNvSpPr/>
          <p:nvPr/>
        </p:nvSpPr>
        <p:spPr>
          <a:xfrm>
            <a:off x="8953500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Oval 89"/>
          <p:cNvSpPr/>
          <p:nvPr/>
        </p:nvSpPr>
        <p:spPr>
          <a:xfrm>
            <a:off x="10934700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Freeform 90"/>
          <p:cNvSpPr/>
          <p:nvPr/>
        </p:nvSpPr>
        <p:spPr>
          <a:xfrm>
            <a:off x="11010900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2" name="Connector 91"/>
          <p:cNvCxnSpPr/>
          <p:nvPr/>
        </p:nvCxnSpPr>
        <p:spPr>
          <a:xfrm>
            <a:off x="190500" y="4324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Rectangle 92"/>
          <p:cNvSpPr/>
          <p:nvPr/>
        </p:nvSpPr>
        <p:spPr>
          <a:xfrm>
            <a:off x="190500" y="4352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285750" y="43434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Europastry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85750" y="45053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96" name="Oval 95"/>
          <p:cNvSpPr/>
          <p:nvPr/>
        </p:nvSpPr>
        <p:spPr>
          <a:xfrm>
            <a:off x="3009900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Freeform 96"/>
          <p:cNvSpPr/>
          <p:nvPr/>
        </p:nvSpPr>
        <p:spPr>
          <a:xfrm>
            <a:off x="3086100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Oval 97"/>
          <p:cNvSpPr/>
          <p:nvPr/>
        </p:nvSpPr>
        <p:spPr>
          <a:xfrm>
            <a:off x="4991100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Freeform 98"/>
          <p:cNvSpPr/>
          <p:nvPr/>
        </p:nvSpPr>
        <p:spPr>
          <a:xfrm>
            <a:off x="5067300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Oval 99"/>
          <p:cNvSpPr/>
          <p:nvPr/>
        </p:nvSpPr>
        <p:spPr>
          <a:xfrm>
            <a:off x="6972300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Oval 100"/>
          <p:cNvSpPr/>
          <p:nvPr/>
        </p:nvSpPr>
        <p:spPr>
          <a:xfrm>
            <a:off x="8953500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Freeform 101"/>
          <p:cNvSpPr/>
          <p:nvPr/>
        </p:nvSpPr>
        <p:spPr>
          <a:xfrm>
            <a:off x="9029700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Oval 102"/>
          <p:cNvSpPr/>
          <p:nvPr/>
        </p:nvSpPr>
        <p:spPr>
          <a:xfrm>
            <a:off x="10934700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Freeform 103"/>
          <p:cNvSpPr/>
          <p:nvPr/>
        </p:nvSpPr>
        <p:spPr>
          <a:xfrm>
            <a:off x="11010900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5" name="Connector 104"/>
          <p:cNvCxnSpPr/>
          <p:nvPr/>
        </p:nvCxnSpPr>
        <p:spPr>
          <a:xfrm>
            <a:off x="190500" y="4667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6" name="Rectangle 105"/>
          <p:cNvSpPr/>
          <p:nvPr/>
        </p:nvSpPr>
        <p:spPr>
          <a:xfrm>
            <a:off x="190500" y="4695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85750" y="46863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Bridor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285750" y="48482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9" name="Oval 108"/>
          <p:cNvSpPr/>
          <p:nvPr/>
        </p:nvSpPr>
        <p:spPr>
          <a:xfrm>
            <a:off x="3009900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Freeform 109"/>
          <p:cNvSpPr/>
          <p:nvPr/>
        </p:nvSpPr>
        <p:spPr>
          <a:xfrm>
            <a:off x="3086100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Oval 110"/>
          <p:cNvSpPr/>
          <p:nvPr/>
        </p:nvSpPr>
        <p:spPr>
          <a:xfrm>
            <a:off x="4991100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Oval 111"/>
          <p:cNvSpPr/>
          <p:nvPr/>
        </p:nvSpPr>
        <p:spPr>
          <a:xfrm>
            <a:off x="6972300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Freeform 112"/>
          <p:cNvSpPr/>
          <p:nvPr/>
        </p:nvSpPr>
        <p:spPr>
          <a:xfrm>
            <a:off x="7048500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Oval 113"/>
          <p:cNvSpPr/>
          <p:nvPr/>
        </p:nvSpPr>
        <p:spPr>
          <a:xfrm>
            <a:off x="8953500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Freeform 114"/>
          <p:cNvSpPr/>
          <p:nvPr/>
        </p:nvSpPr>
        <p:spPr>
          <a:xfrm>
            <a:off x="9029700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Oval 115"/>
          <p:cNvSpPr/>
          <p:nvPr/>
        </p:nvSpPr>
        <p:spPr>
          <a:xfrm>
            <a:off x="10934700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17" name="Connector 116"/>
          <p:cNvCxnSpPr/>
          <p:nvPr/>
        </p:nvCxnSpPr>
        <p:spPr>
          <a:xfrm>
            <a:off x="190500" y="5010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" name="Rectangle 117"/>
          <p:cNvSpPr/>
          <p:nvPr/>
        </p:nvSpPr>
        <p:spPr>
          <a:xfrm>
            <a:off x="190500" y="5038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285750" y="50292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Lantmännen Unibake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85750" y="51911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1" name="Oval 120"/>
          <p:cNvSpPr/>
          <p:nvPr/>
        </p:nvSpPr>
        <p:spPr>
          <a:xfrm>
            <a:off x="3009900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Oval 121"/>
          <p:cNvSpPr/>
          <p:nvPr/>
        </p:nvSpPr>
        <p:spPr>
          <a:xfrm>
            <a:off x="4991100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Freeform 122"/>
          <p:cNvSpPr/>
          <p:nvPr/>
        </p:nvSpPr>
        <p:spPr>
          <a:xfrm>
            <a:off x="5067300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Oval 123"/>
          <p:cNvSpPr/>
          <p:nvPr/>
        </p:nvSpPr>
        <p:spPr>
          <a:xfrm>
            <a:off x="6972300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Freeform 124"/>
          <p:cNvSpPr/>
          <p:nvPr/>
        </p:nvSpPr>
        <p:spPr>
          <a:xfrm>
            <a:off x="7048500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Oval 125"/>
          <p:cNvSpPr/>
          <p:nvPr/>
        </p:nvSpPr>
        <p:spPr>
          <a:xfrm>
            <a:off x="8953500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Oval 126"/>
          <p:cNvSpPr/>
          <p:nvPr/>
        </p:nvSpPr>
        <p:spPr>
          <a:xfrm>
            <a:off x="10934700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Freeform 127"/>
          <p:cNvSpPr/>
          <p:nvPr/>
        </p:nvSpPr>
        <p:spPr>
          <a:xfrm>
            <a:off x="11010900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29" name="Connector 128"/>
          <p:cNvCxnSpPr/>
          <p:nvPr/>
        </p:nvCxnSpPr>
        <p:spPr>
          <a:xfrm>
            <a:off x="190500" y="5353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0" name="Rectangle 129"/>
          <p:cNvSpPr/>
          <p:nvPr/>
        </p:nvSpPr>
        <p:spPr>
          <a:xfrm>
            <a:off x="190500" y="5381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TextBox 130"/>
          <p:cNvSpPr txBox="1"/>
          <p:nvPr/>
        </p:nvSpPr>
        <p:spPr>
          <a:xfrm>
            <a:off x="285750" y="53721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Flowers Foods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285750" y="55340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33" name="Oval 132"/>
          <p:cNvSpPr/>
          <p:nvPr/>
        </p:nvSpPr>
        <p:spPr>
          <a:xfrm>
            <a:off x="3009900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3086100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Oval 134"/>
          <p:cNvSpPr/>
          <p:nvPr/>
        </p:nvSpPr>
        <p:spPr>
          <a:xfrm>
            <a:off x="4991100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Freeform 135"/>
          <p:cNvSpPr/>
          <p:nvPr/>
        </p:nvSpPr>
        <p:spPr>
          <a:xfrm>
            <a:off x="5067300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Oval 136"/>
          <p:cNvSpPr/>
          <p:nvPr/>
        </p:nvSpPr>
        <p:spPr>
          <a:xfrm>
            <a:off x="6972300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Oval 137"/>
          <p:cNvSpPr/>
          <p:nvPr/>
        </p:nvSpPr>
        <p:spPr>
          <a:xfrm>
            <a:off x="8953500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Freeform 138"/>
          <p:cNvSpPr/>
          <p:nvPr/>
        </p:nvSpPr>
        <p:spPr>
          <a:xfrm>
            <a:off x="9029700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Oval 139"/>
          <p:cNvSpPr/>
          <p:nvPr/>
        </p:nvSpPr>
        <p:spPr>
          <a:xfrm>
            <a:off x="10934700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Freeform 140"/>
          <p:cNvSpPr/>
          <p:nvPr/>
        </p:nvSpPr>
        <p:spPr>
          <a:xfrm>
            <a:off x="11010900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42" name="Connector 141"/>
          <p:cNvCxnSpPr/>
          <p:nvPr/>
        </p:nvCxnSpPr>
        <p:spPr>
          <a:xfrm>
            <a:off x="190500" y="5695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Rectangle 142"/>
          <p:cNvSpPr/>
          <p:nvPr/>
        </p:nvSpPr>
        <p:spPr>
          <a:xfrm>
            <a:off x="190500" y="5724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85750" y="57150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Premier Foods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285750" y="58769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6" name="Oval 145"/>
          <p:cNvSpPr/>
          <p:nvPr/>
        </p:nvSpPr>
        <p:spPr>
          <a:xfrm>
            <a:off x="3009900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Freeform 146"/>
          <p:cNvSpPr/>
          <p:nvPr/>
        </p:nvSpPr>
        <p:spPr>
          <a:xfrm>
            <a:off x="3086100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Oval 147"/>
          <p:cNvSpPr/>
          <p:nvPr/>
        </p:nvSpPr>
        <p:spPr>
          <a:xfrm>
            <a:off x="4991100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Freeform 148"/>
          <p:cNvSpPr/>
          <p:nvPr/>
        </p:nvSpPr>
        <p:spPr>
          <a:xfrm>
            <a:off x="5067300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Oval 149"/>
          <p:cNvSpPr/>
          <p:nvPr/>
        </p:nvSpPr>
        <p:spPr>
          <a:xfrm>
            <a:off x="6972300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Freeform 150"/>
          <p:cNvSpPr/>
          <p:nvPr/>
        </p:nvSpPr>
        <p:spPr>
          <a:xfrm>
            <a:off x="7048500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Oval 151"/>
          <p:cNvSpPr/>
          <p:nvPr/>
        </p:nvSpPr>
        <p:spPr>
          <a:xfrm>
            <a:off x="8953500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Freeform 152"/>
          <p:cNvSpPr/>
          <p:nvPr/>
        </p:nvSpPr>
        <p:spPr>
          <a:xfrm>
            <a:off x="9029700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Oval 153"/>
          <p:cNvSpPr/>
          <p:nvPr/>
        </p:nvSpPr>
        <p:spPr>
          <a:xfrm>
            <a:off x="10934700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55" name="Connector 154"/>
          <p:cNvCxnSpPr/>
          <p:nvPr/>
        </p:nvCxnSpPr>
        <p:spPr>
          <a:xfrm>
            <a:off x="190500" y="6038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6" name="Rectangle 155"/>
          <p:cNvSpPr/>
          <p:nvPr/>
        </p:nvSpPr>
        <p:spPr>
          <a:xfrm>
            <a:off x="190500" y="6124575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TextBox 156"/>
          <p:cNvSpPr txBox="1"/>
          <p:nvPr/>
        </p:nvSpPr>
        <p:spPr>
          <a:xfrm>
            <a:off x="314325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158" name="Rectangle 157"/>
          <p:cNvSpPr/>
          <p:nvPr/>
        </p:nvSpPr>
        <p:spPr>
          <a:xfrm>
            <a:off x="847725" y="6124575"/>
            <a:ext cx="85725" cy="85725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971550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160" name="Rectangle 159"/>
          <p:cNvSpPr/>
          <p:nvPr/>
        </p:nvSpPr>
        <p:spPr>
          <a:xfrm>
            <a:off x="1504950" y="6124575"/>
            <a:ext cx="85725" cy="85725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TextBox 160"/>
          <p:cNvSpPr txBox="1"/>
          <p:nvPr/>
        </p:nvSpPr>
        <p:spPr>
          <a:xfrm>
            <a:off x="1628775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190500" y="62865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190500" y="64008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Read across a row to see breadth; down a column to see contestability.  'Sweet muffins' is the most contested column (8 players active); 'Vending' is the most open (6).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76225" y="1306830"/>
            <a:ext cx="3981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Top 3</a:t>
            </a:r>
          </a:p>
        </p:txBody>
      </p:sp>
      <p:pic>
        <p:nvPicPr>
          <p:cNvPr id="166" name="Picture 1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2441" y="1297051"/>
            <a:ext cx="128699" cy="187198"/>
          </a:xfrm>
          <a:prstGeom prst="rect">
            <a:avLst/>
          </a:prstGeom>
        </p:spPr>
      </p:pic>
      <p:sp>
        <p:nvSpPr>
          <p:cNvPr id="167" name="TextBox 166"/>
          <p:cNvSpPr txBox="1"/>
          <p:nvPr/>
        </p:nvSpPr>
        <p:spPr>
          <a:xfrm>
            <a:off x="4786109" y="1306830"/>
            <a:ext cx="8131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Rest of top 5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332" y="1297051"/>
            <a:ext cx="128699" cy="187198"/>
          </a:xfrm>
          <a:prstGeom prst="rect">
            <a:avLst/>
          </a:prstGeom>
        </p:spPr>
      </p:pic>
      <p:sp>
        <p:nvSpPr>
          <p:cNvPr id="169" name="TextBox 168"/>
          <p:cNvSpPr txBox="1"/>
          <p:nvPr/>
        </p:nvSpPr>
        <p:spPr>
          <a:xfrm>
            <a:off x="6322271" y="1306830"/>
            <a:ext cx="6202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Emerging</a:t>
            </a:r>
          </a:p>
        </p:txBody>
      </p:sp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90588" y="1297051"/>
            <a:ext cx="128699" cy="187198"/>
          </a:xfrm>
          <a:prstGeom prst="rect">
            <a:avLst/>
          </a:prstGeom>
        </p:spPr>
      </p:pic>
      <p:sp>
        <p:nvSpPr>
          <p:cNvPr id="171" name="TextBox 170"/>
          <p:cNvSpPr txBox="1"/>
          <p:nvPr/>
        </p:nvSpPr>
        <p:spPr>
          <a:xfrm>
            <a:off x="8564687" y="1306830"/>
            <a:ext cx="4699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F2D52"/>
                </a:solidFill>
                <a:latin typeface="Calibri"/>
              </a:rPr>
              <a:t>Others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2663" y="12970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5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Value Chain Positioning of Leading Players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How the market is organised by product type and end use, and who leads at each stage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47650" y="1047750"/>
            <a:ext cx="2857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47650" y="1238250"/>
            <a:ext cx="28575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2" name="Connector 11"/>
          <p:cNvCxnSpPr/>
          <p:nvPr/>
        </p:nvCxnSpPr>
        <p:spPr>
          <a:xfrm>
            <a:off x="314325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3200400" y="1047750"/>
            <a:ext cx="2857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200400" y="1238250"/>
            <a:ext cx="28575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60960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6153150" y="1047750"/>
            <a:ext cx="2857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Sweet muffins, share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6153150" y="1238250"/>
            <a:ext cx="28575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904875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9105900" y="1047750"/>
            <a:ext cx="2857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Savoury muffins, share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105900" y="1238250"/>
            <a:ext cx="28575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90500" y="154305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angle 21"/>
          <p:cNvSpPr/>
          <p:nvPr/>
        </p:nvSpPr>
        <p:spPr>
          <a:xfrm>
            <a:off x="190500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Rectangle 22"/>
          <p:cNvSpPr/>
          <p:nvPr/>
        </p:nvSpPr>
        <p:spPr>
          <a:xfrm>
            <a:off x="190500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85750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Sweet muffins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85750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1550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971550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285750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TextBox 29"/>
          <p:cNvSpPr txBox="1"/>
          <p:nvPr/>
        </p:nvSpPr>
        <p:spPr>
          <a:xfrm>
            <a:off x="285750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85750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Hostess Brands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85750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85750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Grupo Bimbo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85750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McKee Foods Corporation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85750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ARYZTA / Aspire Bakeries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85750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Europastry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285750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285750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5750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2995612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Freeform 40"/>
          <p:cNvSpPr/>
          <p:nvPr/>
        </p:nvSpPr>
        <p:spPr>
          <a:xfrm>
            <a:off x="3105150" y="3448050"/>
            <a:ext cx="57150" cy="95250"/>
          </a:xfrm>
          <a:custGeom>
            <a:avLst/>
            <a:gdLst/>
            <a:ahLst/>
            <a:cxnLst/>
            <a:rect l="l" t="t" r="r" b="b"/>
            <a:pathLst>
              <a:path w="6" h="10">
                <a:moveTo>
                  <a:pt x="6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3205162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3205162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3300412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Savoury muffins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300412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986212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300412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986212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49" name="Connector 48"/>
          <p:cNvCxnSpPr/>
          <p:nvPr/>
        </p:nvCxnSpPr>
        <p:spPr>
          <a:xfrm>
            <a:off x="3300412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3300412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300412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Grupo Bimbo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300412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300412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McKee Foods Corporation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300412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Rich Products Corporation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300412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ARYZTA / Aspire Bakeries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300412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Europastry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3300412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300412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300412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6010275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Freeform 60"/>
          <p:cNvSpPr/>
          <p:nvPr/>
        </p:nvSpPr>
        <p:spPr>
          <a:xfrm>
            <a:off x="6115050" y="3448050"/>
            <a:ext cx="66675" cy="95250"/>
          </a:xfrm>
          <a:custGeom>
            <a:avLst/>
            <a:gdLst/>
            <a:ahLst/>
            <a:cxnLst/>
            <a:rect l="l" t="t" r="r" b="b"/>
            <a:pathLst>
              <a:path w="7" h="10">
                <a:moveTo>
                  <a:pt x="7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9234488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9234488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9329738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Sales Channel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9329738" y="1924050"/>
            <a:ext cx="25765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By application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9329738" y="2133600"/>
            <a:ext cx="25765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Who buys the output.</a:t>
            </a:r>
          </a:p>
        </p:txBody>
      </p:sp>
      <p:cxnSp>
        <p:nvCxnSpPr>
          <p:cNvPr id="67" name="Connector 66"/>
          <p:cNvCxnSpPr/>
          <p:nvPr/>
        </p:nvCxnSpPr>
        <p:spPr>
          <a:xfrm>
            <a:off x="9329738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8" name="TextBox 67"/>
          <p:cNvSpPr txBox="1"/>
          <p:nvPr/>
        </p:nvSpPr>
        <p:spPr>
          <a:xfrm>
            <a:off x="9329738" y="24193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Retail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0682288" y="2524125"/>
            <a:ext cx="766762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11487150" y="24860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9329738" y="274320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0682288" y="2847975"/>
            <a:ext cx="417326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1137713" y="280987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9329738" y="30670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Vending</a:t>
            </a:r>
          </a:p>
        </p:txBody>
      </p:sp>
      <p:sp>
        <p:nvSpPr>
          <p:cNvPr id="75" name="Rectangle 74"/>
          <p:cNvSpPr/>
          <p:nvPr/>
        </p:nvSpPr>
        <p:spPr>
          <a:xfrm>
            <a:off x="10682288" y="3171825"/>
            <a:ext cx="52948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10773336" y="31337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77" name="Connector 76"/>
          <p:cNvCxnSpPr/>
          <p:nvPr/>
        </p:nvCxnSpPr>
        <p:spPr>
          <a:xfrm>
            <a:off x="9329738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9329738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9329738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0" name="Rectangle 79"/>
          <p:cNvSpPr/>
          <p:nvPr/>
        </p:nvSpPr>
        <p:spPr>
          <a:xfrm>
            <a:off x="190500" y="54673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90500" y="5467350"/>
            <a:ext cx="47625" cy="4000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304800" y="5467350"/>
            <a:ext cx="104775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ENABLERS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428750" y="5467350"/>
            <a:ext cx="104775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Sweet muffins Compounds Fastest Across the Product Type Mix  |  South Asia &amp; Pacific Emerges as the Growth Engine Among Regions  |  Premiumisation Lifts Average Realisation</a:t>
            </a:r>
          </a:p>
        </p:txBody>
      </p:sp>
      <p:sp>
        <p:nvSpPr>
          <p:cNvPr id="84" name="Rectangle 83"/>
          <p:cNvSpPr/>
          <p:nvPr/>
        </p:nvSpPr>
        <p:spPr>
          <a:xfrm>
            <a:off x="190500" y="59245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90500" y="5924550"/>
            <a:ext cx="47625" cy="400050"/>
          </a:xfrm>
          <a:prstGeom prst="rect">
            <a:avLst/>
          </a:prstGeom>
          <a:solidFill>
            <a:srgbClr val="8B1E2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304800" y="5924550"/>
            <a:ext cx="104775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8B1E2D"/>
                </a:solidFill>
                <a:latin typeface="Calibri"/>
              </a:rPr>
              <a:t>CONSTRAINTS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428750" y="5924550"/>
            <a:ext cx="104775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Savoury muffins Lags the Category and Dilutes Blended Growth  |  Uneven Region Performance Caps the Blended Rate  |  Concentration Risk Limits Pricing and Sourcing Flexibility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12050" y="1258951"/>
            <a:ext cx="128699" cy="187198"/>
          </a:xfrm>
          <a:prstGeom prst="rect">
            <a:avLst/>
          </a:prstGeom>
        </p:spPr>
      </p:pic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64800" y="1258951"/>
            <a:ext cx="128699" cy="187198"/>
          </a:xfrm>
          <a:prstGeom prst="rect">
            <a:avLst/>
          </a:prstGeom>
        </p:spPr>
      </p:pic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17550" y="1258951"/>
            <a:ext cx="128699" cy="187198"/>
          </a:xfrm>
          <a:prstGeom prst="rect">
            <a:avLst/>
          </a:prstGeom>
        </p:spPr>
      </p:pic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70300" y="1258951"/>
            <a:ext cx="128699" cy="187198"/>
          </a:xfrm>
          <a:prstGeom prst="rect">
            <a:avLst/>
          </a:prstGeom>
        </p:spPr>
      </p:pic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1925701"/>
            <a:ext cx="128699" cy="187198"/>
          </a:xfrm>
          <a:prstGeom prst="rect">
            <a:avLst/>
          </a:prstGeom>
        </p:spPr>
      </p:pic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2135251"/>
            <a:ext cx="128699" cy="187198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1925701"/>
            <a:ext cx="128699" cy="187198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2135251"/>
            <a:ext cx="128699" cy="187198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60925" y="2487676"/>
            <a:ext cx="128699" cy="187198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11488" y="2811526"/>
            <a:ext cx="128699" cy="187198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47111" y="3135376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314325" y="4676775"/>
            <a:ext cx="22925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'Sweet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14325" y="4844415"/>
            <a:ext cx="8371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muffins' adds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559" y="4834636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1267055" y="4844415"/>
            <a:ext cx="104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 2036.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328987" y="4676775"/>
            <a:ext cx="23957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'Savoury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328987" y="4844415"/>
            <a:ext cx="8371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muffins' adds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4221" y="4834636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4281717" y="4844415"/>
            <a:ext cx="104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 2036.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9358313" y="4676775"/>
            <a:ext cx="17288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two end uses pay for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5226" y="4666996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11202722" y="4676775"/>
            <a:ext cx="4139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the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9358313" y="4844415"/>
            <a:ext cx="25193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market; vendors package for one vertical at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9358313" y="5012055"/>
            <a:ext cx="4701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a time.</a:t>
            </a:r>
          </a:p>
        </p:txBody>
      </p:sp>
    </p:spTree>
  </p:cSld>
  <p:clrMapOvr>
    <a:masterClrMapping/>
  </p:clrMapOvr>
</p:sld>
</file>

<file path=ppt/slides/slide5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Player Landscape by Business Type and Reach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Named players by business type and geographic reach, with how each group competes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38300" y="1047750"/>
            <a:ext cx="3422650" cy="2667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171450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1  (4)</a:t>
            </a:r>
          </a:p>
        </p:txBody>
      </p:sp>
      <p:sp>
        <p:nvSpPr>
          <p:cNvPr id="12" name="Rectangle 11"/>
          <p:cNvSpPr/>
          <p:nvPr/>
        </p:nvSpPr>
        <p:spPr>
          <a:xfrm>
            <a:off x="5099050" y="1047750"/>
            <a:ext cx="3422650" cy="2667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517525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2  (2)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559800" y="1047750"/>
            <a:ext cx="3422650" cy="2667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863600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3  (4)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90500" y="14097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Global (4)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90500" y="15811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Sells in most major regions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647825" y="13906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733550" y="1447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1733550" y="14382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924050" y="14287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Grupo Bimbo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733550" y="1638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1733550" y="16287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924050" y="16192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McKee Foods Corporation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733550" y="1828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1733550" y="18192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924050" y="18097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Hostess Brands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733550" y="2019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733550" y="20097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924050" y="20002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Rich Products Corporation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5108575" y="13906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8569325" y="13906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90500" y="24384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Regional (2)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90500" y="26098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Strong in one or two regions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40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1647825" y="24193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5108575" y="24193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5194300" y="24765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5194300" y="24669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384800" y="24574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ARYZTA / Aspire Bakeries</a:t>
            </a:r>
          </a:p>
        </p:txBody>
      </p:sp>
      <p:sp>
        <p:nvSpPr>
          <p:cNvPr id="41" name="Rectangle 40"/>
          <p:cNvSpPr/>
          <p:nvPr/>
        </p:nvSpPr>
        <p:spPr>
          <a:xfrm>
            <a:off x="5194300" y="26670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5194300" y="26574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384800" y="26479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Europastry</a:t>
            </a:r>
          </a:p>
        </p:txBody>
      </p:sp>
      <p:cxnSp>
        <p:nvCxnSpPr>
          <p:cNvPr id="44" name="Connector 43"/>
          <p:cNvCxnSpPr/>
          <p:nvPr/>
        </p:nvCxnSpPr>
        <p:spPr>
          <a:xfrm>
            <a:off x="8569325" y="24193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/>
          <p:cNvSpPr txBox="1"/>
          <p:nvPr/>
        </p:nvSpPr>
        <p:spPr>
          <a:xfrm>
            <a:off x="190500" y="34671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Local or niche (4)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90500" y="36385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One market or one specialist use</a:t>
            </a:r>
          </a:p>
        </p:txBody>
      </p:sp>
      <p:cxnSp>
        <p:nvCxnSpPr>
          <p:cNvPr id="47" name="Connector 46"/>
          <p:cNvCxnSpPr/>
          <p:nvPr/>
        </p:nvCxnSpPr>
        <p:spPr>
          <a:xfrm>
            <a:off x="190500" y="3429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647825" y="34480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108575" y="34480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8569325" y="34480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Rectangle 50"/>
          <p:cNvSpPr/>
          <p:nvPr/>
        </p:nvSpPr>
        <p:spPr>
          <a:xfrm>
            <a:off x="8655050" y="3505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655050" y="34956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845550" y="34861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Bridor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55050" y="3695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8655050" y="36861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845550" y="36766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Lantmännen Unibake</a:t>
            </a:r>
          </a:p>
        </p:txBody>
      </p:sp>
      <p:sp>
        <p:nvSpPr>
          <p:cNvPr id="57" name="Rectangle 56"/>
          <p:cNvSpPr/>
          <p:nvPr/>
        </p:nvSpPr>
        <p:spPr>
          <a:xfrm>
            <a:off x="8655050" y="3886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655050" y="38766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845550" y="38671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Flowers Foods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655050" y="4076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655050" y="40671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845550" y="40576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Premier Foods</a:t>
            </a:r>
          </a:p>
        </p:txBody>
      </p:sp>
      <p:sp>
        <p:nvSpPr>
          <p:cNvPr id="63" name="Rectangle 62"/>
          <p:cNvSpPr/>
          <p:nvPr/>
        </p:nvSpPr>
        <p:spPr>
          <a:xfrm>
            <a:off x="190500" y="4524375"/>
            <a:ext cx="123825" cy="1238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36195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1915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44780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67" name="Rectangle 66"/>
          <p:cNvSpPr/>
          <p:nvPr/>
        </p:nvSpPr>
        <p:spPr>
          <a:xfrm>
            <a:off x="2952750" y="4524375"/>
            <a:ext cx="123825" cy="1238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312420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21005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1" name="Rectangle 70"/>
          <p:cNvSpPr/>
          <p:nvPr/>
        </p:nvSpPr>
        <p:spPr>
          <a:xfrm>
            <a:off x="5715000" y="4524375"/>
            <a:ext cx="123825" cy="1238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588645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34365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97230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90500" y="4705350"/>
            <a:ext cx="11811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BY TYPE   Tier 1 4   |   Tier 2 2   |   Tier 3 4      BY REACH   Global 4   |   Regional 2   |   Local or niche 4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90500" y="4972050"/>
            <a:ext cx="2809875" cy="38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190500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90500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accounts; premium / bundled positioning.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90500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2" name="Rectangle 81"/>
          <p:cNvSpPr/>
          <p:nvPr/>
        </p:nvSpPr>
        <p:spPr>
          <a:xfrm>
            <a:off x="3190875" y="4972050"/>
            <a:ext cx="2809875" cy="38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3190875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190875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190875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Distributors; mid / value-added positioning.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190875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190875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8" name="Rectangle 87"/>
          <p:cNvSpPr/>
          <p:nvPr/>
        </p:nvSpPr>
        <p:spPr>
          <a:xfrm>
            <a:off x="6191250" y="4972050"/>
            <a:ext cx="2809875" cy="38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6191250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6191250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191250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partners; value / entry positioning.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191250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6191250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600" y="4487926"/>
            <a:ext cx="128699" cy="187198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1850" y="4487926"/>
            <a:ext cx="128699" cy="187198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4487926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219075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834" y="5867145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1127330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219450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60209" y="5867145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4127705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6219825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0584" y="586714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128080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</p:spTree>
  </p:cSld>
  <p:clrMapOvr>
    <a:masterClrMapping/>
  </p:clrMapOvr>
</p:sld>
</file>

<file path=ppt/slides/slide5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Corporate Scorecard: Who They Are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Eight corporate Ps for every named competitor: ownership, strategy, breadth, presence, scale and performance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1, CORPORATE: WHO THEY ARE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23050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Parent and ownership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2305050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From the company roster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419600" y="129540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Purpose (strategy)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4419600" y="1657350"/>
            <a:ext cx="1193800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Dominant active move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689600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Portfolio breadth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89600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Sub-segments: 6+ 3, 4+ 2, 2+ 1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7933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Presence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7933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 3, regional 2, local 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806267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Power (scale)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806267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1 = 3, 2 = 2, 3 = 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864600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Performance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864600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922933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People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9922933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Talent; not assessed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981267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Partnerships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0981267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alliances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Grupo Bimbo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000250" y="22288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19600" y="22288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34" name="Oval 33"/>
          <p:cNvSpPr/>
          <p:nvPr/>
        </p:nvSpPr>
        <p:spPr>
          <a:xfrm>
            <a:off x="6104467" y="2324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Freeform 34"/>
          <p:cNvSpPr/>
          <p:nvPr/>
        </p:nvSpPr>
        <p:spPr>
          <a:xfrm>
            <a:off x="6181725" y="2324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7162800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8221133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Oval 37"/>
          <p:cNvSpPr/>
          <p:nvPr/>
        </p:nvSpPr>
        <p:spPr>
          <a:xfrm>
            <a:off x="9279467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9884833" y="22288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0943167" y="22288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41" name="Connector 40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Rectangle 41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McKee Foods Corporation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000250" y="25717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419600" y="25717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47" name="Oval 46"/>
          <p:cNvSpPr/>
          <p:nvPr/>
        </p:nvSpPr>
        <p:spPr>
          <a:xfrm>
            <a:off x="6104467" y="2667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Freeform 47"/>
          <p:cNvSpPr/>
          <p:nvPr/>
        </p:nvSpPr>
        <p:spPr>
          <a:xfrm>
            <a:off x="6181725" y="2667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Oval 48"/>
          <p:cNvSpPr/>
          <p:nvPr/>
        </p:nvSpPr>
        <p:spPr>
          <a:xfrm>
            <a:off x="7162800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Oval 49"/>
          <p:cNvSpPr/>
          <p:nvPr/>
        </p:nvSpPr>
        <p:spPr>
          <a:xfrm>
            <a:off x="8221133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927946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884833" y="25717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0943167" y="25717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Rectangle 54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Hostess Brands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000250" y="29146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419600" y="29146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60" name="Oval 59"/>
          <p:cNvSpPr/>
          <p:nvPr/>
        </p:nvSpPr>
        <p:spPr>
          <a:xfrm>
            <a:off x="6104467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Freeform 60"/>
          <p:cNvSpPr/>
          <p:nvPr/>
        </p:nvSpPr>
        <p:spPr>
          <a:xfrm>
            <a:off x="6181725" y="30099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Oval 61"/>
          <p:cNvSpPr/>
          <p:nvPr/>
        </p:nvSpPr>
        <p:spPr>
          <a:xfrm>
            <a:off x="7162800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Oval 62"/>
          <p:cNvSpPr/>
          <p:nvPr/>
        </p:nvSpPr>
        <p:spPr>
          <a:xfrm>
            <a:off x="8221133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9279467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Freeform 64"/>
          <p:cNvSpPr/>
          <p:nvPr/>
        </p:nvSpPr>
        <p:spPr>
          <a:xfrm>
            <a:off x="93535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884833" y="29146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0943167" y="29146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68" name="Connector 67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Rectangle 68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Rich Products Corporation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000250" y="32575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419600" y="32575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74" name="Oval 73"/>
          <p:cNvSpPr/>
          <p:nvPr/>
        </p:nvSpPr>
        <p:spPr>
          <a:xfrm>
            <a:off x="6104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Freeform 74"/>
          <p:cNvSpPr/>
          <p:nvPr/>
        </p:nvSpPr>
        <p:spPr>
          <a:xfrm>
            <a:off x="6181725" y="33528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Oval 75"/>
          <p:cNvSpPr/>
          <p:nvPr/>
        </p:nvSpPr>
        <p:spPr>
          <a:xfrm>
            <a:off x="7162800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Oval 76"/>
          <p:cNvSpPr/>
          <p:nvPr/>
        </p:nvSpPr>
        <p:spPr>
          <a:xfrm>
            <a:off x="8221133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Oval 77"/>
          <p:cNvSpPr/>
          <p:nvPr/>
        </p:nvSpPr>
        <p:spPr>
          <a:xfrm>
            <a:off x="9279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Freeform 78"/>
          <p:cNvSpPr/>
          <p:nvPr/>
        </p:nvSpPr>
        <p:spPr>
          <a:xfrm>
            <a:off x="9353550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884833" y="32575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0943167" y="32575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82" name="Connector 81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Rectangle 82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ARYZTA / Aspire Bakeries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2000250" y="36004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419600" y="36004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88" name="Oval 87"/>
          <p:cNvSpPr/>
          <p:nvPr/>
        </p:nvSpPr>
        <p:spPr>
          <a:xfrm>
            <a:off x="6104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Freeform 88"/>
          <p:cNvSpPr/>
          <p:nvPr/>
        </p:nvSpPr>
        <p:spPr>
          <a:xfrm>
            <a:off x="618172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Oval 89"/>
          <p:cNvSpPr/>
          <p:nvPr/>
        </p:nvSpPr>
        <p:spPr>
          <a:xfrm>
            <a:off x="7162800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Freeform 90"/>
          <p:cNvSpPr/>
          <p:nvPr/>
        </p:nvSpPr>
        <p:spPr>
          <a:xfrm>
            <a:off x="723900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Oval 91"/>
          <p:cNvSpPr/>
          <p:nvPr/>
        </p:nvSpPr>
        <p:spPr>
          <a:xfrm>
            <a:off x="8221133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Freeform 92"/>
          <p:cNvSpPr/>
          <p:nvPr/>
        </p:nvSpPr>
        <p:spPr>
          <a:xfrm>
            <a:off x="82962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Oval 93"/>
          <p:cNvSpPr/>
          <p:nvPr/>
        </p:nvSpPr>
        <p:spPr>
          <a:xfrm>
            <a:off x="9279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Freeform 94"/>
          <p:cNvSpPr/>
          <p:nvPr/>
        </p:nvSpPr>
        <p:spPr>
          <a:xfrm>
            <a:off x="93535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884833" y="36004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0943167" y="36004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Rectangle 98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Europastry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2000250" y="39433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419600" y="39433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04" name="Oval 103"/>
          <p:cNvSpPr/>
          <p:nvPr/>
        </p:nvSpPr>
        <p:spPr>
          <a:xfrm>
            <a:off x="6104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Freeform 104"/>
          <p:cNvSpPr/>
          <p:nvPr/>
        </p:nvSpPr>
        <p:spPr>
          <a:xfrm>
            <a:off x="618172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Oval 105"/>
          <p:cNvSpPr/>
          <p:nvPr/>
        </p:nvSpPr>
        <p:spPr>
          <a:xfrm>
            <a:off x="7162800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Freeform 106"/>
          <p:cNvSpPr/>
          <p:nvPr/>
        </p:nvSpPr>
        <p:spPr>
          <a:xfrm>
            <a:off x="723900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Oval 107"/>
          <p:cNvSpPr/>
          <p:nvPr/>
        </p:nvSpPr>
        <p:spPr>
          <a:xfrm>
            <a:off x="8221133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Freeform 108"/>
          <p:cNvSpPr/>
          <p:nvPr/>
        </p:nvSpPr>
        <p:spPr>
          <a:xfrm>
            <a:off x="82962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Oval 109"/>
          <p:cNvSpPr/>
          <p:nvPr/>
        </p:nvSpPr>
        <p:spPr>
          <a:xfrm>
            <a:off x="9279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Freeform 110"/>
          <p:cNvSpPr/>
          <p:nvPr/>
        </p:nvSpPr>
        <p:spPr>
          <a:xfrm>
            <a:off x="935355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9884833" y="39433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943167" y="39433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14" name="Connector 113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" name="Rectangle 114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Bridor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2000250" y="42862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4419600" y="42862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20" name="Oval 119"/>
          <p:cNvSpPr/>
          <p:nvPr/>
        </p:nvSpPr>
        <p:spPr>
          <a:xfrm>
            <a:off x="6104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Freeform 120"/>
          <p:cNvSpPr/>
          <p:nvPr/>
        </p:nvSpPr>
        <p:spPr>
          <a:xfrm>
            <a:off x="6181725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Oval 121"/>
          <p:cNvSpPr/>
          <p:nvPr/>
        </p:nvSpPr>
        <p:spPr>
          <a:xfrm>
            <a:off x="7162800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Freeform 122"/>
          <p:cNvSpPr/>
          <p:nvPr/>
        </p:nvSpPr>
        <p:spPr>
          <a:xfrm>
            <a:off x="7239000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Oval 123"/>
          <p:cNvSpPr/>
          <p:nvPr/>
        </p:nvSpPr>
        <p:spPr>
          <a:xfrm>
            <a:off x="8221133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Freeform 124"/>
          <p:cNvSpPr/>
          <p:nvPr/>
        </p:nvSpPr>
        <p:spPr>
          <a:xfrm>
            <a:off x="8296275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Oval 125"/>
          <p:cNvSpPr/>
          <p:nvPr/>
        </p:nvSpPr>
        <p:spPr>
          <a:xfrm>
            <a:off x="9279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reeform 126"/>
          <p:cNvSpPr/>
          <p:nvPr/>
        </p:nvSpPr>
        <p:spPr>
          <a:xfrm>
            <a:off x="93535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9884833" y="42862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10943167" y="42862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Rectangle 130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Lantmännen Unibake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2000250" y="46291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4419600" y="46291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36" name="Oval 135"/>
          <p:cNvSpPr/>
          <p:nvPr/>
        </p:nvSpPr>
        <p:spPr>
          <a:xfrm>
            <a:off x="6104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Freeform 136"/>
          <p:cNvSpPr/>
          <p:nvPr/>
        </p:nvSpPr>
        <p:spPr>
          <a:xfrm>
            <a:off x="6181725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Oval 137"/>
          <p:cNvSpPr/>
          <p:nvPr/>
        </p:nvSpPr>
        <p:spPr>
          <a:xfrm>
            <a:off x="7162800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Freeform 138"/>
          <p:cNvSpPr/>
          <p:nvPr/>
        </p:nvSpPr>
        <p:spPr>
          <a:xfrm>
            <a:off x="723900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Oval 139"/>
          <p:cNvSpPr/>
          <p:nvPr/>
        </p:nvSpPr>
        <p:spPr>
          <a:xfrm>
            <a:off x="8221133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Freeform 140"/>
          <p:cNvSpPr/>
          <p:nvPr/>
        </p:nvSpPr>
        <p:spPr>
          <a:xfrm>
            <a:off x="8296275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Oval 141"/>
          <p:cNvSpPr/>
          <p:nvPr/>
        </p:nvSpPr>
        <p:spPr>
          <a:xfrm>
            <a:off x="9279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Freeform 142"/>
          <p:cNvSpPr/>
          <p:nvPr/>
        </p:nvSpPr>
        <p:spPr>
          <a:xfrm>
            <a:off x="935355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9884833" y="46291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0943167" y="46291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46" name="Connector 145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7" name="Rectangle 146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Flowers Foods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2000250" y="49720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4419600" y="49720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52" name="Oval 151"/>
          <p:cNvSpPr/>
          <p:nvPr/>
        </p:nvSpPr>
        <p:spPr>
          <a:xfrm>
            <a:off x="6104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Freeform 152"/>
          <p:cNvSpPr/>
          <p:nvPr/>
        </p:nvSpPr>
        <p:spPr>
          <a:xfrm>
            <a:off x="618172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Oval 153"/>
          <p:cNvSpPr/>
          <p:nvPr/>
        </p:nvSpPr>
        <p:spPr>
          <a:xfrm>
            <a:off x="7162800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Freeform 154"/>
          <p:cNvSpPr/>
          <p:nvPr/>
        </p:nvSpPr>
        <p:spPr>
          <a:xfrm>
            <a:off x="723900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Oval 155"/>
          <p:cNvSpPr/>
          <p:nvPr/>
        </p:nvSpPr>
        <p:spPr>
          <a:xfrm>
            <a:off x="8221133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Freeform 156"/>
          <p:cNvSpPr/>
          <p:nvPr/>
        </p:nvSpPr>
        <p:spPr>
          <a:xfrm>
            <a:off x="8296275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Oval 157"/>
          <p:cNvSpPr/>
          <p:nvPr/>
        </p:nvSpPr>
        <p:spPr>
          <a:xfrm>
            <a:off x="9279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Freeform 158"/>
          <p:cNvSpPr/>
          <p:nvPr/>
        </p:nvSpPr>
        <p:spPr>
          <a:xfrm>
            <a:off x="935355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9884833" y="49720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10943167" y="49720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62" name="Connector 161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3" name="Rectangle 162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Premier Foods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000250" y="53149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4419600" y="53149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68" name="Oval 167"/>
          <p:cNvSpPr/>
          <p:nvPr/>
        </p:nvSpPr>
        <p:spPr>
          <a:xfrm>
            <a:off x="6104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Freeform 168"/>
          <p:cNvSpPr/>
          <p:nvPr/>
        </p:nvSpPr>
        <p:spPr>
          <a:xfrm>
            <a:off x="618172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Oval 169"/>
          <p:cNvSpPr/>
          <p:nvPr/>
        </p:nvSpPr>
        <p:spPr>
          <a:xfrm>
            <a:off x="7162800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Freeform 170"/>
          <p:cNvSpPr/>
          <p:nvPr/>
        </p:nvSpPr>
        <p:spPr>
          <a:xfrm>
            <a:off x="723900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Oval 171"/>
          <p:cNvSpPr/>
          <p:nvPr/>
        </p:nvSpPr>
        <p:spPr>
          <a:xfrm>
            <a:off x="8221133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Freeform 172"/>
          <p:cNvSpPr/>
          <p:nvPr/>
        </p:nvSpPr>
        <p:spPr>
          <a:xfrm>
            <a:off x="8296275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Oval 173"/>
          <p:cNvSpPr/>
          <p:nvPr/>
        </p:nvSpPr>
        <p:spPr>
          <a:xfrm>
            <a:off x="9279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Freeform 174"/>
          <p:cNvSpPr/>
          <p:nvPr/>
        </p:nvSpPr>
        <p:spPr>
          <a:xfrm>
            <a:off x="935355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9884833" y="53149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10943167" y="53149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78" name="Connector 177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9" name="Oval 178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81" name="Oval 180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Freeform 181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TextBox 182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84" name="Oval 183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Freeform 184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87" name="Oval 186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of 10 named players compete globally; scale and share follow the tier structure.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8893175" y="1666875"/>
            <a:ext cx="3989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Share</a:t>
            </a:r>
          </a:p>
        </p:txBody>
      </p:sp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40209" y="1657096"/>
            <a:ext cx="128699" cy="187198"/>
          </a:xfrm>
          <a:prstGeom prst="rect">
            <a:avLst/>
          </a:prstGeom>
        </p:spPr>
      </p:pic>
      <p:sp>
        <p:nvSpPr>
          <p:cNvPr id="194" name="TextBox 193"/>
          <p:cNvSpPr txBox="1"/>
          <p:nvPr/>
        </p:nvSpPr>
        <p:spPr>
          <a:xfrm>
            <a:off x="9407705" y="1666875"/>
            <a:ext cx="3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+ = 3,</a:t>
            </a:r>
          </a:p>
        </p:txBody>
      </p:sp>
      <p:pic>
        <p:nvPicPr>
          <p:cNvPr id="195" name="Picture 1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9707" y="1824736"/>
            <a:ext cx="128699" cy="187198"/>
          </a:xfrm>
          <a:prstGeom prst="rect">
            <a:avLst/>
          </a:prstGeom>
        </p:spPr>
      </p:pic>
      <p:sp>
        <p:nvSpPr>
          <p:cNvPr id="196" name="TextBox 195"/>
          <p:cNvSpPr txBox="1"/>
          <p:nvPr/>
        </p:nvSpPr>
        <p:spPr>
          <a:xfrm>
            <a:off x="9047203" y="1834515"/>
            <a:ext cx="6434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= 2, else 1</a:t>
            </a:r>
          </a:p>
        </p:txBody>
      </p:sp>
      <p:pic>
        <p:nvPicPr>
          <p:cNvPr id="197" name="Picture 1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2306701"/>
            <a:ext cx="128699" cy="187198"/>
          </a:xfrm>
          <a:prstGeom prst="rect">
            <a:avLst/>
          </a:prstGeom>
        </p:spPr>
      </p:pic>
      <p:pic>
        <p:nvPicPr>
          <p:cNvPr id="198" name="Picture 1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2306701"/>
            <a:ext cx="128699" cy="187198"/>
          </a:xfrm>
          <a:prstGeom prst="rect">
            <a:avLst/>
          </a:prstGeom>
        </p:spPr>
      </p:pic>
      <p:pic>
        <p:nvPicPr>
          <p:cNvPr id="199" name="Picture 1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2306701"/>
            <a:ext cx="128699" cy="187198"/>
          </a:xfrm>
          <a:prstGeom prst="rect">
            <a:avLst/>
          </a:prstGeom>
        </p:spPr>
      </p:pic>
      <p:pic>
        <p:nvPicPr>
          <p:cNvPr id="200" name="Picture 1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2649601"/>
            <a:ext cx="128699" cy="187198"/>
          </a:xfrm>
          <a:prstGeom prst="rect">
            <a:avLst/>
          </a:prstGeom>
        </p:spPr>
      </p:pic>
      <p:pic>
        <p:nvPicPr>
          <p:cNvPr id="201" name="Picture 2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2649601"/>
            <a:ext cx="128699" cy="187198"/>
          </a:xfrm>
          <a:prstGeom prst="rect">
            <a:avLst/>
          </a:prstGeom>
        </p:spPr>
      </p:pic>
      <p:pic>
        <p:nvPicPr>
          <p:cNvPr id="202" name="Picture 2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2649601"/>
            <a:ext cx="128699" cy="187198"/>
          </a:xfrm>
          <a:prstGeom prst="rect">
            <a:avLst/>
          </a:prstGeom>
        </p:spPr>
      </p:pic>
      <p:pic>
        <p:nvPicPr>
          <p:cNvPr id="203" name="Picture 2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2992501"/>
            <a:ext cx="128699" cy="187198"/>
          </a:xfrm>
          <a:prstGeom prst="rect">
            <a:avLst/>
          </a:prstGeom>
        </p:spPr>
      </p:pic>
      <p:pic>
        <p:nvPicPr>
          <p:cNvPr id="204" name="Picture 2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2992501"/>
            <a:ext cx="128699" cy="187198"/>
          </a:xfrm>
          <a:prstGeom prst="rect">
            <a:avLst/>
          </a:prstGeom>
        </p:spPr>
      </p:pic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2992501"/>
            <a:ext cx="128699" cy="187198"/>
          </a:xfrm>
          <a:prstGeom prst="rect">
            <a:avLst/>
          </a:prstGeom>
        </p:spPr>
      </p:pic>
      <p:pic>
        <p:nvPicPr>
          <p:cNvPr id="206" name="Picture 2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3335401"/>
            <a:ext cx="128699" cy="187198"/>
          </a:xfrm>
          <a:prstGeom prst="rect">
            <a:avLst/>
          </a:prstGeom>
        </p:spPr>
      </p:pic>
      <p:pic>
        <p:nvPicPr>
          <p:cNvPr id="207" name="Picture 2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3335401"/>
            <a:ext cx="128699" cy="187198"/>
          </a:xfrm>
          <a:prstGeom prst="rect">
            <a:avLst/>
          </a:prstGeom>
        </p:spPr>
      </p:pic>
      <p:pic>
        <p:nvPicPr>
          <p:cNvPr id="208" name="Picture 2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3335401"/>
            <a:ext cx="128699" cy="187198"/>
          </a:xfrm>
          <a:prstGeom prst="rect">
            <a:avLst/>
          </a:prstGeom>
        </p:spPr>
      </p:pic>
      <p:pic>
        <p:nvPicPr>
          <p:cNvPr id="209" name="Picture 2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3678301"/>
            <a:ext cx="128699" cy="187198"/>
          </a:xfrm>
          <a:prstGeom prst="rect">
            <a:avLst/>
          </a:prstGeom>
        </p:spPr>
      </p:pic>
      <p:pic>
        <p:nvPicPr>
          <p:cNvPr id="210" name="Picture 2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3678301"/>
            <a:ext cx="128699" cy="187198"/>
          </a:xfrm>
          <a:prstGeom prst="rect">
            <a:avLst/>
          </a:prstGeom>
        </p:spPr>
      </p:pic>
      <p:pic>
        <p:nvPicPr>
          <p:cNvPr id="211" name="Picture 21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3678301"/>
            <a:ext cx="128699" cy="187198"/>
          </a:xfrm>
          <a:prstGeom prst="rect">
            <a:avLst/>
          </a:prstGeom>
        </p:spPr>
      </p:pic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4021201"/>
            <a:ext cx="128699" cy="187198"/>
          </a:xfrm>
          <a:prstGeom prst="rect">
            <a:avLst/>
          </a:prstGeom>
        </p:spPr>
      </p:pic>
      <p:pic>
        <p:nvPicPr>
          <p:cNvPr id="213" name="Picture 2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4021201"/>
            <a:ext cx="128699" cy="187198"/>
          </a:xfrm>
          <a:prstGeom prst="rect">
            <a:avLst/>
          </a:prstGeom>
        </p:spPr>
      </p:pic>
      <p:pic>
        <p:nvPicPr>
          <p:cNvPr id="214" name="Picture 2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4021201"/>
            <a:ext cx="128699" cy="187198"/>
          </a:xfrm>
          <a:prstGeom prst="rect">
            <a:avLst/>
          </a:prstGeom>
        </p:spPr>
      </p:pic>
      <p:pic>
        <p:nvPicPr>
          <p:cNvPr id="215" name="Picture 2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4364101"/>
            <a:ext cx="128699" cy="187198"/>
          </a:xfrm>
          <a:prstGeom prst="rect">
            <a:avLst/>
          </a:prstGeom>
        </p:spPr>
      </p:pic>
      <p:pic>
        <p:nvPicPr>
          <p:cNvPr id="216" name="Picture 2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4364101"/>
            <a:ext cx="128699" cy="187198"/>
          </a:xfrm>
          <a:prstGeom prst="rect">
            <a:avLst/>
          </a:prstGeom>
        </p:spPr>
      </p:pic>
      <p:pic>
        <p:nvPicPr>
          <p:cNvPr id="217" name="Picture 2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4364101"/>
            <a:ext cx="128699" cy="187198"/>
          </a:xfrm>
          <a:prstGeom prst="rect">
            <a:avLst/>
          </a:prstGeom>
        </p:spPr>
      </p:pic>
      <p:pic>
        <p:nvPicPr>
          <p:cNvPr id="218" name="Picture 2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4707001"/>
            <a:ext cx="128699" cy="187198"/>
          </a:xfrm>
          <a:prstGeom prst="rect">
            <a:avLst/>
          </a:prstGeom>
        </p:spPr>
      </p:pic>
      <p:pic>
        <p:nvPicPr>
          <p:cNvPr id="219" name="Picture 2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4707001"/>
            <a:ext cx="128699" cy="187198"/>
          </a:xfrm>
          <a:prstGeom prst="rect">
            <a:avLst/>
          </a:prstGeom>
        </p:spPr>
      </p:pic>
      <p:pic>
        <p:nvPicPr>
          <p:cNvPr id="220" name="Picture 2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4707001"/>
            <a:ext cx="128699" cy="187198"/>
          </a:xfrm>
          <a:prstGeom prst="rect">
            <a:avLst/>
          </a:prstGeom>
        </p:spPr>
      </p:pic>
      <p:pic>
        <p:nvPicPr>
          <p:cNvPr id="221" name="Picture 2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5049901"/>
            <a:ext cx="128699" cy="187198"/>
          </a:xfrm>
          <a:prstGeom prst="rect">
            <a:avLst/>
          </a:prstGeom>
        </p:spPr>
      </p:pic>
      <p:pic>
        <p:nvPicPr>
          <p:cNvPr id="222" name="Picture 2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5049901"/>
            <a:ext cx="128699" cy="187198"/>
          </a:xfrm>
          <a:prstGeom prst="rect">
            <a:avLst/>
          </a:prstGeom>
        </p:spPr>
      </p:pic>
      <p:pic>
        <p:nvPicPr>
          <p:cNvPr id="223" name="Picture 2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5049901"/>
            <a:ext cx="128699" cy="187198"/>
          </a:xfrm>
          <a:prstGeom prst="rect">
            <a:avLst/>
          </a:prstGeom>
        </p:spPr>
      </p:pic>
      <p:pic>
        <p:nvPicPr>
          <p:cNvPr id="224" name="Picture 2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5392801"/>
            <a:ext cx="128699" cy="187198"/>
          </a:xfrm>
          <a:prstGeom prst="rect">
            <a:avLst/>
          </a:prstGeom>
        </p:spPr>
      </p:pic>
      <p:pic>
        <p:nvPicPr>
          <p:cNvPr id="225" name="Picture 2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5392801"/>
            <a:ext cx="128699" cy="187198"/>
          </a:xfrm>
          <a:prstGeom prst="rect">
            <a:avLst/>
          </a:prstGeom>
        </p:spPr>
      </p:pic>
      <p:pic>
        <p:nvPicPr>
          <p:cNvPr id="226" name="Picture 2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53928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5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Offering Scorecard: What They Sell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offering Ps: product, technology, price and model, verticals, proof and IP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2, OFFERING: WHAT THEY SELL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Product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Of the top three types offered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509122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Platform (technology)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509122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development: both 3, one 2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979894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Price and model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9894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Positioning by tier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4821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Positioning (verticals)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4821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End uses served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509747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Proof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509747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customer references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274674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Patents and IP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274674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Where the study covers patents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Grupo Bimbo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Oval 27"/>
          <p:cNvSpPr/>
          <p:nvPr/>
        </p:nvSpPr>
        <p:spPr>
          <a:xfrm>
            <a:off x="2659436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4130208" y="2324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Freeform 29"/>
          <p:cNvSpPr/>
          <p:nvPr/>
        </p:nvSpPr>
        <p:spPr>
          <a:xfrm>
            <a:off x="4210050" y="2324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4979894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744821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Retail, Foodservice and institutional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8471647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0236574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McKee Foods Corporation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9" name="Oval 38"/>
          <p:cNvSpPr/>
          <p:nvPr/>
        </p:nvSpPr>
        <p:spPr>
          <a:xfrm>
            <a:off x="2659436" y="2667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Freeform 39"/>
          <p:cNvSpPr/>
          <p:nvPr/>
        </p:nvSpPr>
        <p:spPr>
          <a:xfrm>
            <a:off x="2733675" y="2667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Oval 40"/>
          <p:cNvSpPr/>
          <p:nvPr/>
        </p:nvSpPr>
        <p:spPr>
          <a:xfrm>
            <a:off x="4130208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979894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744821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Retail, Vending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471647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236574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Hostess Brands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0" name="Oval 49"/>
          <p:cNvSpPr/>
          <p:nvPr/>
        </p:nvSpPr>
        <p:spPr>
          <a:xfrm>
            <a:off x="2659436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reeform 50"/>
          <p:cNvSpPr/>
          <p:nvPr/>
        </p:nvSpPr>
        <p:spPr>
          <a:xfrm>
            <a:off x="2733675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Oval 51"/>
          <p:cNvSpPr/>
          <p:nvPr/>
        </p:nvSpPr>
        <p:spPr>
          <a:xfrm>
            <a:off x="4130208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42100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4979894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744821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Foodservice and institutional, Vending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471647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0236574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Rich Products Corporation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2" name="Oval 61"/>
          <p:cNvSpPr/>
          <p:nvPr/>
        </p:nvSpPr>
        <p:spPr>
          <a:xfrm>
            <a:off x="2659436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reeform 62"/>
          <p:cNvSpPr/>
          <p:nvPr/>
        </p:nvSpPr>
        <p:spPr>
          <a:xfrm>
            <a:off x="273367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4130208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979894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744821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Retail, Foodservice and institutional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471647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0236574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Rectangle 6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ARYZTA / Aspire Bakeries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3" name="Oval 72"/>
          <p:cNvSpPr/>
          <p:nvPr/>
        </p:nvSpPr>
        <p:spPr>
          <a:xfrm>
            <a:off x="2659436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Oval 73"/>
          <p:cNvSpPr/>
          <p:nvPr/>
        </p:nvSpPr>
        <p:spPr>
          <a:xfrm>
            <a:off x="4130208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Freeform 74"/>
          <p:cNvSpPr/>
          <p:nvPr/>
        </p:nvSpPr>
        <p:spPr>
          <a:xfrm>
            <a:off x="42100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4979894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744821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Retail, Vending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471647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0236574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80" name="Connector 7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Rectangle 80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Europastry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4" name="Oval 83"/>
          <p:cNvSpPr/>
          <p:nvPr/>
        </p:nvSpPr>
        <p:spPr>
          <a:xfrm>
            <a:off x="2659436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27336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Oval 85"/>
          <p:cNvSpPr/>
          <p:nvPr/>
        </p:nvSpPr>
        <p:spPr>
          <a:xfrm>
            <a:off x="4130208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4979894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6744821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Foodservice and institutional, Vending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471647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0236574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91" name="Connector 9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Rectangle 9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Bridor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5" name="Oval 94"/>
          <p:cNvSpPr/>
          <p:nvPr/>
        </p:nvSpPr>
        <p:spPr>
          <a:xfrm>
            <a:off x="2659436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27336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Oval 96"/>
          <p:cNvSpPr/>
          <p:nvPr/>
        </p:nvSpPr>
        <p:spPr>
          <a:xfrm>
            <a:off x="4130208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Freeform 97"/>
          <p:cNvSpPr/>
          <p:nvPr/>
        </p:nvSpPr>
        <p:spPr>
          <a:xfrm>
            <a:off x="42100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4979894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6744821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Retail, Foodservice and institutional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471647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0236574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Lantmännen Unibake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7" name="Oval 106"/>
          <p:cNvSpPr/>
          <p:nvPr/>
        </p:nvSpPr>
        <p:spPr>
          <a:xfrm>
            <a:off x="2659436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27336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Oval 108"/>
          <p:cNvSpPr/>
          <p:nvPr/>
        </p:nvSpPr>
        <p:spPr>
          <a:xfrm>
            <a:off x="4130208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979894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6744821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Retail, Vending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8471647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236574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14" name="Connector 113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" name="Rectangle 114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Flowers Foods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8" name="Oval 117"/>
          <p:cNvSpPr/>
          <p:nvPr/>
        </p:nvSpPr>
        <p:spPr>
          <a:xfrm>
            <a:off x="2659436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4130208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Freeform 119"/>
          <p:cNvSpPr/>
          <p:nvPr/>
        </p:nvSpPr>
        <p:spPr>
          <a:xfrm>
            <a:off x="4210050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4979894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744821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Foodservice and institutional, Vending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8471647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0236574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25" name="Connector 124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Rectangle 125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Premier Foods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9" name="Oval 128"/>
          <p:cNvSpPr/>
          <p:nvPr/>
        </p:nvSpPr>
        <p:spPr>
          <a:xfrm>
            <a:off x="2659436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Freeform 129"/>
          <p:cNvSpPr/>
          <p:nvPr/>
        </p:nvSpPr>
        <p:spPr>
          <a:xfrm>
            <a:off x="27336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Oval 130"/>
          <p:cNvSpPr/>
          <p:nvPr/>
        </p:nvSpPr>
        <p:spPr>
          <a:xfrm>
            <a:off x="4130208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4979894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6744821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Retail, Foodservice and institutional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471647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0236574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Oval 136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9" name="Oval 138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42" name="Oval 141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Freeform 142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45" name="Oval 144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breadth and technology strength do not always go together; the end uses each player serves show where it competes head to head.  Proof needs customer research.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2306701"/>
            <a:ext cx="128699" cy="187198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2306701"/>
            <a:ext cx="128699" cy="187198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2649601"/>
            <a:ext cx="128699" cy="187198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2649601"/>
            <a:ext cx="128699" cy="187198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2992501"/>
            <a:ext cx="128699" cy="187198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2992501"/>
            <a:ext cx="128699" cy="187198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3335401"/>
            <a:ext cx="128699" cy="187198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3335401"/>
            <a:ext cx="128699" cy="187198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3678301"/>
            <a:ext cx="128699" cy="187198"/>
          </a:xfrm>
          <a:prstGeom prst="rect">
            <a:avLst/>
          </a:prstGeom>
        </p:spPr>
      </p:pic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3678301"/>
            <a:ext cx="128699" cy="187198"/>
          </a:xfrm>
          <a:prstGeom prst="rect">
            <a:avLst/>
          </a:prstGeom>
        </p:spPr>
      </p:pic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4021201"/>
            <a:ext cx="128699" cy="187198"/>
          </a:xfrm>
          <a:prstGeom prst="rect">
            <a:avLst/>
          </a:prstGeom>
        </p:spPr>
      </p:pic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4021201"/>
            <a:ext cx="128699" cy="187198"/>
          </a:xfrm>
          <a:prstGeom prst="rect">
            <a:avLst/>
          </a:prstGeom>
        </p:spPr>
      </p:pic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4364101"/>
            <a:ext cx="128699" cy="187198"/>
          </a:xfrm>
          <a:prstGeom prst="rect">
            <a:avLst/>
          </a:prstGeom>
        </p:spPr>
      </p:pic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4364101"/>
            <a:ext cx="128699" cy="187198"/>
          </a:xfrm>
          <a:prstGeom prst="rect">
            <a:avLst/>
          </a:prstGeom>
        </p:spPr>
      </p:pic>
      <p:pic>
        <p:nvPicPr>
          <p:cNvPr id="164" name="Picture 1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4707001"/>
            <a:ext cx="128699" cy="187198"/>
          </a:xfrm>
          <a:prstGeom prst="rect">
            <a:avLst/>
          </a:prstGeom>
        </p:spPr>
      </p:pic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4707001"/>
            <a:ext cx="128699" cy="187198"/>
          </a:xfrm>
          <a:prstGeom prst="rect">
            <a:avLst/>
          </a:prstGeom>
        </p:spPr>
      </p:pic>
      <p:pic>
        <p:nvPicPr>
          <p:cNvPr id="166" name="Picture 1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5049901"/>
            <a:ext cx="128699" cy="187198"/>
          </a:xfrm>
          <a:prstGeom prst="rect">
            <a:avLst/>
          </a:prstGeom>
        </p:spPr>
      </p:pic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5049901"/>
            <a:ext cx="128699" cy="187198"/>
          </a:xfrm>
          <a:prstGeom prst="rect">
            <a:avLst/>
          </a:prstGeom>
        </p:spPr>
      </p:pic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5392801"/>
            <a:ext cx="128699" cy="187198"/>
          </a:xfrm>
          <a:prstGeom prst="rect">
            <a:avLst/>
          </a:prstGeom>
        </p:spPr>
      </p:pic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53928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5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Execution Scorecard: How They Win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execution Ps: channel, promotion, momentum, pipeline, policy exposure and prospects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3, EXECUTION: HOW THEY WIN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Place (channel)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Route to market by tier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803276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Promotion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803276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Go-to-market; not assessed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568203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Pace (momentum)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568203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Active moves: 5+ = 3, 3-4 = 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7038975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Pipeline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038975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Launch or development in motion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803901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Policy exposure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803901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Regulation in its favour or against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568828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Prospects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68828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Gaining 3, holding 2, at risk 1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Grupo Bimbo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038350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3765176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0" name="Oval 29"/>
          <p:cNvSpPr/>
          <p:nvPr/>
        </p:nvSpPr>
        <p:spPr>
          <a:xfrm>
            <a:off x="6189289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000875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765801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11189914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4" name="Connector 33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McKee Foods Corporation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038350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765176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6189289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038975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765801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3" name="Oval 42"/>
          <p:cNvSpPr/>
          <p:nvPr/>
        </p:nvSpPr>
        <p:spPr>
          <a:xfrm>
            <a:off x="11189914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4" name="Connector 43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Hostess Brands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038350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765176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0" name="Oval 49"/>
          <p:cNvSpPr/>
          <p:nvPr/>
        </p:nvSpPr>
        <p:spPr>
          <a:xfrm>
            <a:off x="6189289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000875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765801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3" name="Oval 52"/>
          <p:cNvSpPr/>
          <p:nvPr/>
        </p:nvSpPr>
        <p:spPr>
          <a:xfrm>
            <a:off x="11189914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4" name="Connector 53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Rectangle 54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Rich Products Corporation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038350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765176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60" name="Oval 59"/>
          <p:cNvSpPr/>
          <p:nvPr/>
        </p:nvSpPr>
        <p:spPr>
          <a:xfrm>
            <a:off x="6189289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7038975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765801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63" name="Oval 62"/>
          <p:cNvSpPr/>
          <p:nvPr/>
        </p:nvSpPr>
        <p:spPr>
          <a:xfrm>
            <a:off x="11189914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4" name="Connector 63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Rectangle 64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ARYZTA / Aspire Bakeries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038350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765176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0" name="Oval 69"/>
          <p:cNvSpPr/>
          <p:nvPr/>
        </p:nvSpPr>
        <p:spPr>
          <a:xfrm>
            <a:off x="6189289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7000875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765801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3" name="Oval 72"/>
          <p:cNvSpPr/>
          <p:nvPr/>
        </p:nvSpPr>
        <p:spPr>
          <a:xfrm>
            <a:off x="11189914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Freeform 73"/>
          <p:cNvSpPr/>
          <p:nvPr/>
        </p:nvSpPr>
        <p:spPr>
          <a:xfrm>
            <a:off x="112680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5" name="Connector 7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Rectangle 7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Europastry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038350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765176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81" name="Oval 80"/>
          <p:cNvSpPr/>
          <p:nvPr/>
        </p:nvSpPr>
        <p:spPr>
          <a:xfrm>
            <a:off x="6189289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038975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765801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84" name="Oval 83"/>
          <p:cNvSpPr/>
          <p:nvPr/>
        </p:nvSpPr>
        <p:spPr>
          <a:xfrm>
            <a:off x="11189914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112680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6" name="Connector 85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Bridor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038350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765176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92" name="Oval 91"/>
          <p:cNvSpPr/>
          <p:nvPr/>
        </p:nvSpPr>
        <p:spPr>
          <a:xfrm>
            <a:off x="6189289" y="43815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7000875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765801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95" name="Oval 94"/>
          <p:cNvSpPr/>
          <p:nvPr/>
        </p:nvSpPr>
        <p:spPr>
          <a:xfrm>
            <a:off x="11189914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11268075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7" name="Connector 9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Lantmännen Unibake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2038350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765176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03" name="Oval 102"/>
          <p:cNvSpPr/>
          <p:nvPr/>
        </p:nvSpPr>
        <p:spPr>
          <a:xfrm>
            <a:off x="6189289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7038975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765801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06" name="Oval 105"/>
          <p:cNvSpPr/>
          <p:nvPr/>
        </p:nvSpPr>
        <p:spPr>
          <a:xfrm>
            <a:off x="11189914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Freeform 106"/>
          <p:cNvSpPr/>
          <p:nvPr/>
        </p:nvSpPr>
        <p:spPr>
          <a:xfrm>
            <a:off x="11268075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8" name="Connector 107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" name="Rectangle 108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Flowers Foods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2038350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765176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4" name="Oval 113"/>
          <p:cNvSpPr/>
          <p:nvPr/>
        </p:nvSpPr>
        <p:spPr>
          <a:xfrm>
            <a:off x="6189289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7000875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765801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7" name="Oval 116"/>
          <p:cNvSpPr/>
          <p:nvPr/>
        </p:nvSpPr>
        <p:spPr>
          <a:xfrm>
            <a:off x="11189914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1126807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19" name="Connector 11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Rectangle 11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Premier Foods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038350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765176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25" name="Oval 124"/>
          <p:cNvSpPr/>
          <p:nvPr/>
        </p:nvSpPr>
        <p:spPr>
          <a:xfrm>
            <a:off x="6189289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7038975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8765801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28" name="Oval 127"/>
          <p:cNvSpPr/>
          <p:nvPr/>
        </p:nvSpPr>
        <p:spPr>
          <a:xfrm>
            <a:off x="11189914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reeform 128"/>
          <p:cNvSpPr/>
          <p:nvPr/>
        </p:nvSpPr>
        <p:spPr>
          <a:xfrm>
            <a:off x="112680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30" name="Connector 129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Oval 130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3" name="Oval 132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36" name="Oval 135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Freeform 136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39" name="Oval 138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Momentum sits with the players running the most strategic moves; prospects combine breadth, reach, scale and pace.  Promotion and policy exposure need market and regulatory research.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2306701"/>
            <a:ext cx="128699" cy="187198"/>
          </a:xfrm>
          <a:prstGeom prst="rect">
            <a:avLst/>
          </a:prstGeom>
        </p:spPr>
      </p:pic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2306701"/>
            <a:ext cx="128699" cy="187198"/>
          </a:xfrm>
          <a:prstGeom prst="rect">
            <a:avLst/>
          </a:prstGeom>
        </p:spPr>
      </p:pic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2306701"/>
            <a:ext cx="128699" cy="187198"/>
          </a:xfrm>
          <a:prstGeom prst="rect">
            <a:avLst/>
          </a:prstGeom>
        </p:spPr>
      </p:pic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2649601"/>
            <a:ext cx="128699" cy="187198"/>
          </a:xfrm>
          <a:prstGeom prst="rect">
            <a:avLst/>
          </a:prstGeom>
        </p:spPr>
      </p:pic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2649601"/>
            <a:ext cx="128699" cy="187198"/>
          </a:xfrm>
          <a:prstGeom prst="rect">
            <a:avLst/>
          </a:prstGeom>
        </p:spPr>
      </p:pic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2992501"/>
            <a:ext cx="128699" cy="187198"/>
          </a:xfrm>
          <a:prstGeom prst="rect">
            <a:avLst/>
          </a:prstGeom>
        </p:spPr>
      </p:pic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2992501"/>
            <a:ext cx="128699" cy="187198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2992501"/>
            <a:ext cx="128699" cy="187198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3335401"/>
            <a:ext cx="128699" cy="187198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3335401"/>
            <a:ext cx="128699" cy="187198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3678301"/>
            <a:ext cx="128699" cy="187198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3678301"/>
            <a:ext cx="128699" cy="187198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3678301"/>
            <a:ext cx="128699" cy="187198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4021201"/>
            <a:ext cx="128699" cy="187198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4021201"/>
            <a:ext cx="128699" cy="187198"/>
          </a:xfrm>
          <a:prstGeom prst="rect">
            <a:avLst/>
          </a:prstGeom>
        </p:spPr>
      </p:pic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4364101"/>
            <a:ext cx="128699" cy="187198"/>
          </a:xfrm>
          <a:prstGeom prst="rect">
            <a:avLst/>
          </a:prstGeom>
        </p:spPr>
      </p:pic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4364101"/>
            <a:ext cx="128699" cy="187198"/>
          </a:xfrm>
          <a:prstGeom prst="rect">
            <a:avLst/>
          </a:prstGeom>
        </p:spPr>
      </p:pic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4364101"/>
            <a:ext cx="128699" cy="187198"/>
          </a:xfrm>
          <a:prstGeom prst="rect">
            <a:avLst/>
          </a:prstGeom>
        </p:spPr>
      </p:pic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4707001"/>
            <a:ext cx="128699" cy="187198"/>
          </a:xfrm>
          <a:prstGeom prst="rect">
            <a:avLst/>
          </a:prstGeom>
        </p:spPr>
      </p:pic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4707001"/>
            <a:ext cx="128699" cy="187198"/>
          </a:xfrm>
          <a:prstGeom prst="rect">
            <a:avLst/>
          </a:prstGeom>
        </p:spPr>
      </p:pic>
      <p:pic>
        <p:nvPicPr>
          <p:cNvPr id="164" name="Picture 1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5049901"/>
            <a:ext cx="128699" cy="187198"/>
          </a:xfrm>
          <a:prstGeom prst="rect">
            <a:avLst/>
          </a:prstGeom>
        </p:spPr>
      </p:pic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5049901"/>
            <a:ext cx="128699" cy="187198"/>
          </a:xfrm>
          <a:prstGeom prst="rect">
            <a:avLst/>
          </a:prstGeom>
        </p:spPr>
      </p:pic>
      <p:pic>
        <p:nvPicPr>
          <p:cNvPr id="166" name="Picture 1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5049901"/>
            <a:ext cx="128699" cy="187198"/>
          </a:xfrm>
          <a:prstGeom prst="rect">
            <a:avLst/>
          </a:prstGeom>
        </p:spPr>
      </p:pic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5392801"/>
            <a:ext cx="128699" cy="187198"/>
          </a:xfrm>
          <a:prstGeom prst="rect">
            <a:avLst/>
          </a:prstGeom>
        </p:spPr>
      </p:pic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53928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5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Success Factors and Composite Ranking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Five weighted success factors and the composite ranking they produce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1336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Segment breadth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1336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1336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Lead or be active in several sub-segments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9095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Scale and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79095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9095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position and share of market value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4483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Geographic reach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4483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4483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Global, regional or single-market footprint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10565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Innovation pipeline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10565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10565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product development in motion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630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5. Strategic momentum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7630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87630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Number of active strategic moves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420350" y="104775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Composite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420350" y="1219200"/>
            <a:ext cx="16192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weighted 0 to 3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Rectangle 27"/>
          <p:cNvSpPr/>
          <p:nvPr/>
        </p:nvSpPr>
        <p:spPr>
          <a:xfrm>
            <a:off x="190500" y="18478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85750" y="18097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McKee Foods Corporation</a:t>
            </a:r>
          </a:p>
        </p:txBody>
      </p:sp>
      <p:sp>
        <p:nvSpPr>
          <p:cNvPr id="30" name="Oval 29"/>
          <p:cNvSpPr/>
          <p:nvPr/>
        </p:nvSpPr>
        <p:spPr>
          <a:xfrm>
            <a:off x="2847975" y="1885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Freeform 30"/>
          <p:cNvSpPr/>
          <p:nvPr/>
        </p:nvSpPr>
        <p:spPr>
          <a:xfrm>
            <a:off x="2924175" y="1885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Oval 31"/>
          <p:cNvSpPr/>
          <p:nvPr/>
        </p:nvSpPr>
        <p:spPr>
          <a:xfrm>
            <a:off x="45053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61626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Oval 33"/>
          <p:cNvSpPr/>
          <p:nvPr/>
        </p:nvSpPr>
        <p:spPr>
          <a:xfrm>
            <a:off x="78200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Oval 34"/>
          <p:cNvSpPr/>
          <p:nvPr/>
        </p:nvSpPr>
        <p:spPr>
          <a:xfrm>
            <a:off x="94773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10420350" y="1895475"/>
            <a:ext cx="10287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11487150" y="18097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38" name="Connector 37"/>
          <p:cNvCxnSpPr/>
          <p:nvPr/>
        </p:nvCxnSpPr>
        <p:spPr>
          <a:xfrm>
            <a:off x="190500" y="2114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Rectangle 38"/>
          <p:cNvSpPr/>
          <p:nvPr/>
        </p:nvSpPr>
        <p:spPr>
          <a:xfrm>
            <a:off x="190500" y="21526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85750" y="21145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Grupo Bimbo</a:t>
            </a:r>
          </a:p>
        </p:txBody>
      </p:sp>
      <p:sp>
        <p:nvSpPr>
          <p:cNvPr id="41" name="Oval 40"/>
          <p:cNvSpPr/>
          <p:nvPr/>
        </p:nvSpPr>
        <p:spPr>
          <a:xfrm>
            <a:off x="2847975" y="2190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Freeform 41"/>
          <p:cNvSpPr/>
          <p:nvPr/>
        </p:nvSpPr>
        <p:spPr>
          <a:xfrm>
            <a:off x="2924175" y="2190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450532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Oval 43"/>
          <p:cNvSpPr/>
          <p:nvPr/>
        </p:nvSpPr>
        <p:spPr>
          <a:xfrm>
            <a:off x="61626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7820025" y="2190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Freeform 45"/>
          <p:cNvSpPr/>
          <p:nvPr/>
        </p:nvSpPr>
        <p:spPr>
          <a:xfrm>
            <a:off x="7896225" y="2190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94773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10420350" y="2200275"/>
            <a:ext cx="9715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11430000" y="21145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50" name="Connector 49"/>
          <p:cNvCxnSpPr/>
          <p:nvPr/>
        </p:nvCxnSpPr>
        <p:spPr>
          <a:xfrm>
            <a:off x="190500" y="2419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Rectangle 50"/>
          <p:cNvSpPr/>
          <p:nvPr/>
        </p:nvSpPr>
        <p:spPr>
          <a:xfrm>
            <a:off x="190500" y="24574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285750" y="24193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Rich Products Corporation</a:t>
            </a:r>
          </a:p>
        </p:txBody>
      </p:sp>
      <p:sp>
        <p:nvSpPr>
          <p:cNvPr id="53" name="Oval 52"/>
          <p:cNvSpPr/>
          <p:nvPr/>
        </p:nvSpPr>
        <p:spPr>
          <a:xfrm>
            <a:off x="2847975" y="2495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Freeform 53"/>
          <p:cNvSpPr/>
          <p:nvPr/>
        </p:nvSpPr>
        <p:spPr>
          <a:xfrm>
            <a:off x="2924175" y="2495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450532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Oval 55"/>
          <p:cNvSpPr/>
          <p:nvPr/>
        </p:nvSpPr>
        <p:spPr>
          <a:xfrm>
            <a:off x="61626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Oval 56"/>
          <p:cNvSpPr/>
          <p:nvPr/>
        </p:nvSpPr>
        <p:spPr>
          <a:xfrm>
            <a:off x="782002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Oval 57"/>
          <p:cNvSpPr/>
          <p:nvPr/>
        </p:nvSpPr>
        <p:spPr>
          <a:xfrm>
            <a:off x="94773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10420350" y="2505075"/>
            <a:ext cx="9144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1372850" y="24193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61" name="Connector 60"/>
          <p:cNvCxnSpPr/>
          <p:nvPr/>
        </p:nvCxnSpPr>
        <p:spPr>
          <a:xfrm>
            <a:off x="190500" y="2724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Rectangle 61"/>
          <p:cNvSpPr/>
          <p:nvPr/>
        </p:nvSpPr>
        <p:spPr>
          <a:xfrm>
            <a:off x="190500" y="27622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285750" y="27241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Europastry</a:t>
            </a:r>
          </a:p>
        </p:txBody>
      </p:sp>
      <p:sp>
        <p:nvSpPr>
          <p:cNvPr id="64" name="Oval 63"/>
          <p:cNvSpPr/>
          <p:nvPr/>
        </p:nvSpPr>
        <p:spPr>
          <a:xfrm>
            <a:off x="2847975" y="2800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Freeform 64"/>
          <p:cNvSpPr/>
          <p:nvPr/>
        </p:nvSpPr>
        <p:spPr>
          <a:xfrm>
            <a:off x="2924175" y="2800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4505325" y="2800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Freeform 66"/>
          <p:cNvSpPr/>
          <p:nvPr/>
        </p:nvSpPr>
        <p:spPr>
          <a:xfrm>
            <a:off x="4581525" y="2800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Oval 67"/>
          <p:cNvSpPr/>
          <p:nvPr/>
        </p:nvSpPr>
        <p:spPr>
          <a:xfrm>
            <a:off x="6162675" y="2800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Freeform 68"/>
          <p:cNvSpPr/>
          <p:nvPr/>
        </p:nvSpPr>
        <p:spPr>
          <a:xfrm>
            <a:off x="6238875" y="2800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Oval 69"/>
          <p:cNvSpPr/>
          <p:nvPr/>
        </p:nvSpPr>
        <p:spPr>
          <a:xfrm>
            <a:off x="78200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Oval 70"/>
          <p:cNvSpPr/>
          <p:nvPr/>
        </p:nvSpPr>
        <p:spPr>
          <a:xfrm>
            <a:off x="94773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0420350" y="2809875"/>
            <a:ext cx="8763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1334750" y="27241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74" name="Connector 73"/>
          <p:cNvCxnSpPr/>
          <p:nvPr/>
        </p:nvCxnSpPr>
        <p:spPr>
          <a:xfrm>
            <a:off x="190500" y="3028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Rectangle 74"/>
          <p:cNvSpPr/>
          <p:nvPr/>
        </p:nvSpPr>
        <p:spPr>
          <a:xfrm>
            <a:off x="190500" y="30670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285750" y="30289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Hostess Brands</a:t>
            </a:r>
          </a:p>
        </p:txBody>
      </p:sp>
      <p:sp>
        <p:nvSpPr>
          <p:cNvPr id="77" name="Oval 76"/>
          <p:cNvSpPr/>
          <p:nvPr/>
        </p:nvSpPr>
        <p:spPr>
          <a:xfrm>
            <a:off x="28479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Freeform 77"/>
          <p:cNvSpPr/>
          <p:nvPr/>
        </p:nvSpPr>
        <p:spPr>
          <a:xfrm>
            <a:off x="2924175" y="3105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Oval 78"/>
          <p:cNvSpPr/>
          <p:nvPr/>
        </p:nvSpPr>
        <p:spPr>
          <a:xfrm>
            <a:off x="450532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Oval 79"/>
          <p:cNvSpPr/>
          <p:nvPr/>
        </p:nvSpPr>
        <p:spPr>
          <a:xfrm>
            <a:off x="616267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Oval 80"/>
          <p:cNvSpPr/>
          <p:nvPr/>
        </p:nvSpPr>
        <p:spPr>
          <a:xfrm>
            <a:off x="782002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Freeform 81"/>
          <p:cNvSpPr/>
          <p:nvPr/>
        </p:nvSpPr>
        <p:spPr>
          <a:xfrm>
            <a:off x="789622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Oval 82"/>
          <p:cNvSpPr/>
          <p:nvPr/>
        </p:nvSpPr>
        <p:spPr>
          <a:xfrm>
            <a:off x="947737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0420350" y="3114675"/>
            <a:ext cx="8572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11315700" y="30289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86" name="Connector 85"/>
          <p:cNvCxnSpPr/>
          <p:nvPr/>
        </p:nvCxnSpPr>
        <p:spPr>
          <a:xfrm>
            <a:off x="190500" y="3333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33718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85750" y="33337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ARYZTA / Aspire Bakeries</a:t>
            </a:r>
          </a:p>
        </p:txBody>
      </p:sp>
      <p:sp>
        <p:nvSpPr>
          <p:cNvPr id="89" name="Oval 88"/>
          <p:cNvSpPr/>
          <p:nvPr/>
        </p:nvSpPr>
        <p:spPr>
          <a:xfrm>
            <a:off x="28479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Freeform 89"/>
          <p:cNvSpPr/>
          <p:nvPr/>
        </p:nvSpPr>
        <p:spPr>
          <a:xfrm>
            <a:off x="29241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Oval 90"/>
          <p:cNvSpPr/>
          <p:nvPr/>
        </p:nvSpPr>
        <p:spPr>
          <a:xfrm>
            <a:off x="45053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Freeform 91"/>
          <p:cNvSpPr/>
          <p:nvPr/>
        </p:nvSpPr>
        <p:spPr>
          <a:xfrm>
            <a:off x="45815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Oval 92"/>
          <p:cNvSpPr/>
          <p:nvPr/>
        </p:nvSpPr>
        <p:spPr>
          <a:xfrm>
            <a:off x="61626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Freeform 93"/>
          <p:cNvSpPr/>
          <p:nvPr/>
        </p:nvSpPr>
        <p:spPr>
          <a:xfrm>
            <a:off x="62388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Oval 94"/>
          <p:cNvSpPr/>
          <p:nvPr/>
        </p:nvSpPr>
        <p:spPr>
          <a:xfrm>
            <a:off x="78200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78962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Oval 96"/>
          <p:cNvSpPr/>
          <p:nvPr/>
        </p:nvSpPr>
        <p:spPr>
          <a:xfrm>
            <a:off x="9477375" y="3409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0420350" y="3419475"/>
            <a:ext cx="8191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1277600" y="33337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00" name="Connector 99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1" name="Rectangle 100"/>
          <p:cNvSpPr/>
          <p:nvPr/>
        </p:nvSpPr>
        <p:spPr>
          <a:xfrm>
            <a:off x="190500" y="36766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85750" y="36385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Premier Foods</a:t>
            </a:r>
          </a:p>
        </p:txBody>
      </p:sp>
      <p:sp>
        <p:nvSpPr>
          <p:cNvPr id="103" name="Oval 102"/>
          <p:cNvSpPr/>
          <p:nvPr/>
        </p:nvSpPr>
        <p:spPr>
          <a:xfrm>
            <a:off x="28479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Freeform 103"/>
          <p:cNvSpPr/>
          <p:nvPr/>
        </p:nvSpPr>
        <p:spPr>
          <a:xfrm>
            <a:off x="2924175" y="3714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Oval 104"/>
          <p:cNvSpPr/>
          <p:nvPr/>
        </p:nvSpPr>
        <p:spPr>
          <a:xfrm>
            <a:off x="450532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Freeform 105"/>
          <p:cNvSpPr/>
          <p:nvPr/>
        </p:nvSpPr>
        <p:spPr>
          <a:xfrm>
            <a:off x="458152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Oval 106"/>
          <p:cNvSpPr/>
          <p:nvPr/>
        </p:nvSpPr>
        <p:spPr>
          <a:xfrm>
            <a:off x="61626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623887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Oval 108"/>
          <p:cNvSpPr/>
          <p:nvPr/>
        </p:nvSpPr>
        <p:spPr>
          <a:xfrm>
            <a:off x="782002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Oval 109"/>
          <p:cNvSpPr/>
          <p:nvPr/>
        </p:nvSpPr>
        <p:spPr>
          <a:xfrm>
            <a:off x="947737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420350" y="37242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1182350" y="36385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Rectangle 113"/>
          <p:cNvSpPr/>
          <p:nvPr/>
        </p:nvSpPr>
        <p:spPr>
          <a:xfrm>
            <a:off x="190500" y="39814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285750" y="39433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Flowers Foods</a:t>
            </a:r>
          </a:p>
        </p:txBody>
      </p:sp>
      <p:sp>
        <p:nvSpPr>
          <p:cNvPr id="116" name="Oval 115"/>
          <p:cNvSpPr/>
          <p:nvPr/>
        </p:nvSpPr>
        <p:spPr>
          <a:xfrm>
            <a:off x="28479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Freeform 116"/>
          <p:cNvSpPr/>
          <p:nvPr/>
        </p:nvSpPr>
        <p:spPr>
          <a:xfrm>
            <a:off x="2924175" y="4019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Oval 117"/>
          <p:cNvSpPr/>
          <p:nvPr/>
        </p:nvSpPr>
        <p:spPr>
          <a:xfrm>
            <a:off x="450532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Freeform 118"/>
          <p:cNvSpPr/>
          <p:nvPr/>
        </p:nvSpPr>
        <p:spPr>
          <a:xfrm>
            <a:off x="458152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Oval 119"/>
          <p:cNvSpPr/>
          <p:nvPr/>
        </p:nvSpPr>
        <p:spPr>
          <a:xfrm>
            <a:off x="61626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Freeform 120"/>
          <p:cNvSpPr/>
          <p:nvPr/>
        </p:nvSpPr>
        <p:spPr>
          <a:xfrm>
            <a:off x="623887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Oval 121"/>
          <p:cNvSpPr/>
          <p:nvPr/>
        </p:nvSpPr>
        <p:spPr>
          <a:xfrm>
            <a:off x="782002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Freeform 122"/>
          <p:cNvSpPr/>
          <p:nvPr/>
        </p:nvSpPr>
        <p:spPr>
          <a:xfrm>
            <a:off x="7896225" y="4019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Oval 123"/>
          <p:cNvSpPr/>
          <p:nvPr/>
        </p:nvSpPr>
        <p:spPr>
          <a:xfrm>
            <a:off x="947737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0420350" y="40290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11125200" y="39433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190500" y="4248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Rectangle 127"/>
          <p:cNvSpPr/>
          <p:nvPr/>
        </p:nvSpPr>
        <p:spPr>
          <a:xfrm>
            <a:off x="190500" y="42862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285750" y="42481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Lantmännen Unibake</a:t>
            </a:r>
          </a:p>
        </p:txBody>
      </p:sp>
      <p:sp>
        <p:nvSpPr>
          <p:cNvPr id="130" name="Oval 129"/>
          <p:cNvSpPr/>
          <p:nvPr/>
        </p:nvSpPr>
        <p:spPr>
          <a:xfrm>
            <a:off x="28479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Freeform 130"/>
          <p:cNvSpPr/>
          <p:nvPr/>
        </p:nvSpPr>
        <p:spPr>
          <a:xfrm>
            <a:off x="292417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Oval 131"/>
          <p:cNvSpPr/>
          <p:nvPr/>
        </p:nvSpPr>
        <p:spPr>
          <a:xfrm>
            <a:off x="45053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Freeform 132"/>
          <p:cNvSpPr/>
          <p:nvPr/>
        </p:nvSpPr>
        <p:spPr>
          <a:xfrm>
            <a:off x="458152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Oval 133"/>
          <p:cNvSpPr/>
          <p:nvPr/>
        </p:nvSpPr>
        <p:spPr>
          <a:xfrm>
            <a:off x="61626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Freeform 134"/>
          <p:cNvSpPr/>
          <p:nvPr/>
        </p:nvSpPr>
        <p:spPr>
          <a:xfrm>
            <a:off x="623887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Oval 135"/>
          <p:cNvSpPr/>
          <p:nvPr/>
        </p:nvSpPr>
        <p:spPr>
          <a:xfrm>
            <a:off x="7820025" y="4324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Oval 136"/>
          <p:cNvSpPr/>
          <p:nvPr/>
        </p:nvSpPr>
        <p:spPr>
          <a:xfrm>
            <a:off x="9477375" y="4324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420350" y="4333875"/>
            <a:ext cx="6096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11068050" y="42481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40" name="Connector 139"/>
          <p:cNvCxnSpPr/>
          <p:nvPr/>
        </p:nvCxnSpPr>
        <p:spPr>
          <a:xfrm>
            <a:off x="190500" y="4552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1" name="Rectangle 140"/>
          <p:cNvSpPr/>
          <p:nvPr/>
        </p:nvSpPr>
        <p:spPr>
          <a:xfrm>
            <a:off x="190500" y="45910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285750" y="45529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Bridor</a:t>
            </a:r>
          </a:p>
        </p:txBody>
      </p:sp>
      <p:sp>
        <p:nvSpPr>
          <p:cNvPr id="143" name="Oval 142"/>
          <p:cNvSpPr/>
          <p:nvPr/>
        </p:nvSpPr>
        <p:spPr>
          <a:xfrm>
            <a:off x="28479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Freeform 143"/>
          <p:cNvSpPr/>
          <p:nvPr/>
        </p:nvSpPr>
        <p:spPr>
          <a:xfrm>
            <a:off x="292417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Oval 144"/>
          <p:cNvSpPr/>
          <p:nvPr/>
        </p:nvSpPr>
        <p:spPr>
          <a:xfrm>
            <a:off x="45053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Freeform 145"/>
          <p:cNvSpPr/>
          <p:nvPr/>
        </p:nvSpPr>
        <p:spPr>
          <a:xfrm>
            <a:off x="458152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Oval 146"/>
          <p:cNvSpPr/>
          <p:nvPr/>
        </p:nvSpPr>
        <p:spPr>
          <a:xfrm>
            <a:off x="61626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Freeform 147"/>
          <p:cNvSpPr/>
          <p:nvPr/>
        </p:nvSpPr>
        <p:spPr>
          <a:xfrm>
            <a:off x="623887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Oval 148"/>
          <p:cNvSpPr/>
          <p:nvPr/>
        </p:nvSpPr>
        <p:spPr>
          <a:xfrm>
            <a:off x="78200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Freeform 149"/>
          <p:cNvSpPr/>
          <p:nvPr/>
        </p:nvSpPr>
        <p:spPr>
          <a:xfrm>
            <a:off x="789622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Oval 150"/>
          <p:cNvSpPr/>
          <p:nvPr/>
        </p:nvSpPr>
        <p:spPr>
          <a:xfrm>
            <a:off x="9477375" y="4629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0420350" y="4638675"/>
            <a:ext cx="5524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11010900" y="45529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190500" y="4857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Oval 154"/>
          <p:cNvSpPr/>
          <p:nvPr/>
        </p:nvSpPr>
        <p:spPr>
          <a:xfrm>
            <a:off x="200025" y="49339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8100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57" name="Oval 156"/>
          <p:cNvSpPr/>
          <p:nvPr/>
        </p:nvSpPr>
        <p:spPr>
          <a:xfrm>
            <a:off x="2065020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Freeform 157"/>
          <p:cNvSpPr/>
          <p:nvPr/>
        </p:nvSpPr>
        <p:spPr>
          <a:xfrm>
            <a:off x="2133600" y="49339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2245995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60" name="Oval 159"/>
          <p:cNvSpPr/>
          <p:nvPr/>
        </p:nvSpPr>
        <p:spPr>
          <a:xfrm>
            <a:off x="367855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Freeform 160"/>
          <p:cNvSpPr/>
          <p:nvPr/>
        </p:nvSpPr>
        <p:spPr>
          <a:xfrm>
            <a:off x="3743325" y="49339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385953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63" name="Oval 162"/>
          <p:cNvSpPr/>
          <p:nvPr/>
        </p:nvSpPr>
        <p:spPr>
          <a:xfrm>
            <a:off x="510349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528447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190500" y="51435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STRATEGIC GROUPS</a:t>
            </a:r>
          </a:p>
        </p:txBody>
      </p:sp>
      <p:sp>
        <p:nvSpPr>
          <p:cNvPr id="166" name="Rectangle 165"/>
          <p:cNvSpPr/>
          <p:nvPr/>
        </p:nvSpPr>
        <p:spPr>
          <a:xfrm>
            <a:off x="190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TextBox 166"/>
          <p:cNvSpPr txBox="1"/>
          <p:nvPr/>
        </p:nvSpPr>
        <p:spPr>
          <a:xfrm>
            <a:off x="1905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1905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McKee Foods Corporation, Grupo Bimbo, Rich Products Corporation, Hostess Brands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905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scale and share; weakest on segment breadth.</a:t>
            </a:r>
          </a:p>
        </p:txBody>
      </p:sp>
      <p:sp>
        <p:nvSpPr>
          <p:cNvPr id="170" name="Rectangle 169"/>
          <p:cNvSpPr/>
          <p:nvPr/>
        </p:nvSpPr>
        <p:spPr>
          <a:xfrm>
            <a:off x="41910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41910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41910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Europastry, ARYZTA / Aspire Bakeries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41910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segment breadth.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8191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TextBox 174"/>
          <p:cNvSpPr txBox="1"/>
          <p:nvPr/>
        </p:nvSpPr>
        <p:spPr>
          <a:xfrm>
            <a:off x="81915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81915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Premier Foods, Flowers Foods, Lantmännen Unibake, Bridor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81915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scale and share.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32350" y="1868551"/>
            <a:ext cx="128699" cy="187198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75200" y="2173351"/>
            <a:ext cx="128699" cy="187198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18050" y="2478151"/>
            <a:ext cx="128699" cy="187198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9950" y="2782951"/>
            <a:ext cx="128699" cy="187198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60900" y="3087751"/>
            <a:ext cx="128699" cy="187198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22800" y="3392551"/>
            <a:ext cx="128699" cy="187198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3697351"/>
            <a:ext cx="128699" cy="187198"/>
          </a:xfrm>
          <a:prstGeom prst="rect">
            <a:avLst/>
          </a:prstGeom>
        </p:spPr>
      </p:pic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002151"/>
            <a:ext cx="128699" cy="187198"/>
          </a:xfrm>
          <a:prstGeom prst="rect">
            <a:avLst/>
          </a:prstGeom>
        </p:spPr>
      </p:pic>
      <p:pic>
        <p:nvPicPr>
          <p:cNvPr id="187" name="Picture 1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13250" y="4306951"/>
            <a:ext cx="128699" cy="187198"/>
          </a:xfrm>
          <a:prstGeom prst="rect">
            <a:avLst/>
          </a:prstGeom>
        </p:spPr>
      </p:pic>
      <p:pic>
        <p:nvPicPr>
          <p:cNvPr id="188" name="Picture 1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56100" y="4611751"/>
            <a:ext cx="128699" cy="187198"/>
          </a:xfrm>
          <a:prstGeom prst="rect">
            <a:avLst/>
          </a:prstGeom>
        </p:spPr>
      </p:pic>
      <p:sp>
        <p:nvSpPr>
          <p:cNvPr id="189" name="TextBox 188"/>
          <p:cNvSpPr txBox="1"/>
          <p:nvPr/>
        </p:nvSpPr>
        <p:spPr>
          <a:xfrm>
            <a:off x="21621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2959" y="1212159"/>
            <a:ext cx="92663" cy="134782"/>
          </a:xfrm>
          <a:prstGeom prst="rect">
            <a:avLst/>
          </a:prstGeom>
        </p:spPr>
      </p:pic>
      <p:sp>
        <p:nvSpPr>
          <p:cNvPr id="191" name="TextBox 190"/>
          <p:cNvSpPr txBox="1"/>
          <p:nvPr/>
        </p:nvSpPr>
        <p:spPr>
          <a:xfrm>
            <a:off x="381952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40309" y="1212159"/>
            <a:ext cx="92663" cy="134782"/>
          </a:xfrm>
          <a:prstGeom prst="rect">
            <a:avLst/>
          </a:prstGeom>
        </p:spPr>
      </p:pic>
      <p:sp>
        <p:nvSpPr>
          <p:cNvPr id="193" name="TextBox 192"/>
          <p:cNvSpPr txBox="1"/>
          <p:nvPr/>
        </p:nvSpPr>
        <p:spPr>
          <a:xfrm>
            <a:off x="54768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7659" y="1212159"/>
            <a:ext cx="92663" cy="134782"/>
          </a:xfrm>
          <a:prstGeom prst="rect">
            <a:avLst/>
          </a:prstGeom>
        </p:spPr>
      </p:pic>
      <p:sp>
        <p:nvSpPr>
          <p:cNvPr id="195" name="TextBox 194"/>
          <p:cNvSpPr txBox="1"/>
          <p:nvPr/>
        </p:nvSpPr>
        <p:spPr>
          <a:xfrm>
            <a:off x="713422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55009" y="1212159"/>
            <a:ext cx="92663" cy="134782"/>
          </a:xfrm>
          <a:prstGeom prst="rect">
            <a:avLst/>
          </a:prstGeom>
        </p:spPr>
      </p:pic>
      <p:sp>
        <p:nvSpPr>
          <p:cNvPr id="197" name="TextBox 196"/>
          <p:cNvSpPr txBox="1"/>
          <p:nvPr/>
        </p:nvSpPr>
        <p:spPr>
          <a:xfrm>
            <a:off x="87915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8" name="Picture 1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12359" y="1212159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5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Strategic Activity Tracker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Each player's active strategic moves: what, type, source department, signal and who should act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09550" y="1047750"/>
            <a:ext cx="12954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COMPANY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543050" y="1047750"/>
            <a:ext cx="2343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DEVELOPMENT (WHAT IS HAPPENING)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924300" y="1047750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DATE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4495800" y="1047750"/>
            <a:ext cx="43815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TYPE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972050" y="10477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SOURCE DEPT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210300" y="1047750"/>
            <a:ext cx="9144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EVIDENCE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7162800" y="1047750"/>
            <a:ext cx="21526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SIGNAL (WHAT IT INDICATES)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353550" y="1047750"/>
            <a:ext cx="26289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SHOULD ACT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90500" y="12382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90500" y="12954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66700" y="12858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Grupo Bimbo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543050" y="12858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North America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924300" y="12858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972050" y="12858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210300" y="12858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162800" y="12858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9353550" y="12858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90500" y="17907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66700" y="17811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McKee Foods Corporation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43050" y="17811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Sweet muffins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3924300" y="17811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972050" y="17811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210300" y="17811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162800" y="17811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9353550" y="17811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190500" y="22479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2860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66700" y="22764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Hostess Brands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543050" y="22764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South Asia &amp; Pacific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924300" y="22764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72050" y="22764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210300" y="22764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162800" y="22764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353550" y="22764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90500" y="27432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Rectangle 51"/>
          <p:cNvSpPr/>
          <p:nvPr/>
        </p:nvSpPr>
        <p:spPr>
          <a:xfrm>
            <a:off x="190500" y="27813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66700" y="27717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Rich Products Corporation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43050" y="27717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Savoury muffins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924300" y="27717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6" name="Rectangle 55"/>
          <p:cNvSpPr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4972050" y="27717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210300" y="27717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162800" y="27717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9353550" y="27717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62" name="Connector 61"/>
          <p:cNvCxnSpPr/>
          <p:nvPr/>
        </p:nvCxnSpPr>
        <p:spPr>
          <a:xfrm>
            <a:off x="190500" y="32385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Rectangle 62"/>
          <p:cNvSpPr/>
          <p:nvPr/>
        </p:nvSpPr>
        <p:spPr>
          <a:xfrm>
            <a:off x="190500" y="32766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66700" y="32670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ARYZTA / Aspire Bakeries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543050" y="32670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Latin America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924300" y="32670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972050" y="32670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210300" y="32670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162800" y="32670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9353550" y="32670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190500" y="37338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Rectangle 73"/>
          <p:cNvSpPr/>
          <p:nvPr/>
        </p:nvSpPr>
        <p:spPr>
          <a:xfrm>
            <a:off x="190500" y="37719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66700" y="37623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Europastry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543050" y="37623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Sweet muffins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24300" y="37623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8" name="Rectangle 77"/>
          <p:cNvSpPr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972050" y="37623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6210300" y="37623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7162800" y="37623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9353550" y="37623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90500" y="42291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Rectangle 84"/>
          <p:cNvSpPr/>
          <p:nvPr/>
        </p:nvSpPr>
        <p:spPr>
          <a:xfrm>
            <a:off x="190500" y="42672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266700" y="42576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Bridor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543050" y="42576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North America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3924300" y="42576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89" name="Rectangle 88"/>
          <p:cNvSpPr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4972050" y="42576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210300" y="42576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162800" y="42576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53550" y="42576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190500" y="47244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47625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66700" y="47529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Lantmännen Unibake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543050" y="47529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Savoury muffins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24300" y="47529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00" name="Rectangle 99"/>
          <p:cNvSpPr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4972050" y="47529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6210300" y="47529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162800" y="47529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353550" y="47529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Rectangle 106"/>
          <p:cNvSpPr/>
          <p:nvPr/>
        </p:nvSpPr>
        <p:spPr>
          <a:xfrm>
            <a:off x="190500" y="52578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266700" y="52482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Flowers Foods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1543050" y="52482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South Asia &amp; Pacific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924300" y="52482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1" name="Rectangle 110"/>
          <p:cNvSpPr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4972050" y="52482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210300" y="52482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7162800" y="52482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9353550" y="52482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117" name="Connector 116"/>
          <p:cNvCxnSpPr/>
          <p:nvPr/>
        </p:nvCxnSpPr>
        <p:spPr>
          <a:xfrm>
            <a:off x="190500" y="5715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" name="Rectangle 117"/>
          <p:cNvSpPr/>
          <p:nvPr/>
        </p:nvSpPr>
        <p:spPr>
          <a:xfrm>
            <a:off x="190500" y="57531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266700" y="57435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Premier Foods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543050" y="57435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Sweet muffins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924300" y="57435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22" name="Rectangle 121"/>
          <p:cNvSpPr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4972050" y="57435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6210300" y="57435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162800" y="57435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9353550" y="57435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28" name="Connector 127"/>
          <p:cNvCxnSpPr/>
          <p:nvPr/>
        </p:nvCxnSpPr>
        <p:spPr>
          <a:xfrm>
            <a:off x="190500" y="621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Rectangle 128"/>
          <p:cNvSpPr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51435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M&amp;A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2477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Product / portfolio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solidFill>
            <a:srgbClr val="6B7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EX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04800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Expansion</a:t>
            </a:r>
          </a:p>
        </p:txBody>
      </p:sp>
      <p:sp>
        <p:nvSpPr>
          <p:cNvPr id="138" name="Rectangle 137"/>
          <p:cNvSpPr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RD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1814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R&amp;D / technology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solidFill>
            <a:srgbClr val="C039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RG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7816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Regulation / compliance</a:t>
            </a:r>
          </a:p>
        </p:txBody>
      </p:sp>
      <p:sp>
        <p:nvSpPr>
          <p:cNvPr id="144" name="Rectangle 143"/>
          <p:cNvSpPr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solidFill>
            <a:srgbClr val="17768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CP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84860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Capital / funding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0500" y="6457950"/>
            <a:ext cx="11811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Dates, deal values and evidence sources populate from the research feed; until then each row reads the player's most telling active strategy.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1278001"/>
            <a:ext cx="128699" cy="187198"/>
          </a:xfrm>
          <a:prstGeom prst="rect">
            <a:avLst/>
          </a:prstGeom>
        </p:spPr>
      </p:pic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1773301"/>
            <a:ext cx="128699" cy="187198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2268601"/>
            <a:ext cx="128699" cy="187198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2763901"/>
            <a:ext cx="128699" cy="187198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3259201"/>
            <a:ext cx="128699" cy="187198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3754501"/>
            <a:ext cx="128699" cy="187198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4249801"/>
            <a:ext cx="128699" cy="187198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4745101"/>
            <a:ext cx="128699" cy="187198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5240401"/>
            <a:ext cx="128699" cy="187198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57357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5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Strategic Activity by Function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Where competitor activity concentrates by type and department, and what it means for each function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6383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85750" y="16002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Grupo Bimbo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90500" y="18859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85750" y="18478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McKee Foods Corporation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90500" y="21336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85750" y="20955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Hostess Brands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90500" y="23812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85750" y="23431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Rich Products Corporation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90500" y="262890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85750" y="25908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ARYZTA / Aspire Bakeries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0500" y="287655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85750" y="28384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Europastry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90500" y="31242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85750" y="30861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Bridor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90500" y="33718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285750" y="33337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Lantmännen Unibake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90500" y="36195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85750" y="35814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Flowers Foods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90500" y="38671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85750" y="38290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Premier Foods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7145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Moves by type (count)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714500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MA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264833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815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EX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365500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15833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RG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466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CP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724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714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274358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2824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2815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2" name="Rectangle 41"/>
          <p:cNvSpPr/>
          <p:nvPr/>
        </p:nvSpPr>
        <p:spPr>
          <a:xfrm>
            <a:off x="3375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3365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925358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3915833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6" name="Rectangle 45"/>
          <p:cNvSpPr/>
          <p:nvPr/>
        </p:nvSpPr>
        <p:spPr>
          <a:xfrm>
            <a:off x="4475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4466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8" name="Rectangle 47"/>
          <p:cNvSpPr/>
          <p:nvPr/>
        </p:nvSpPr>
        <p:spPr>
          <a:xfrm>
            <a:off x="1724025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2274358" y="18573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2264833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2824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2815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375025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365500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925358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4475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466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724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714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0" name="Rectangle 59"/>
          <p:cNvSpPr/>
          <p:nvPr/>
        </p:nvSpPr>
        <p:spPr>
          <a:xfrm>
            <a:off x="2274358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24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2815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3375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3365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3925358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3915833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475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466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724025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2274358" y="23526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2264833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824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815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4" name="Rectangle 73"/>
          <p:cNvSpPr/>
          <p:nvPr/>
        </p:nvSpPr>
        <p:spPr>
          <a:xfrm>
            <a:off x="3375025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3365500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6" name="Rectangle 75"/>
          <p:cNvSpPr/>
          <p:nvPr/>
        </p:nvSpPr>
        <p:spPr>
          <a:xfrm>
            <a:off x="3925358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4475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466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724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714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2274358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824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2815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4" name="Rectangle 83"/>
          <p:cNvSpPr/>
          <p:nvPr/>
        </p:nvSpPr>
        <p:spPr>
          <a:xfrm>
            <a:off x="3375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3365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6" name="Rectangle 85"/>
          <p:cNvSpPr/>
          <p:nvPr/>
        </p:nvSpPr>
        <p:spPr>
          <a:xfrm>
            <a:off x="3925358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3915833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8" name="Rectangle 87"/>
          <p:cNvSpPr/>
          <p:nvPr/>
        </p:nvSpPr>
        <p:spPr>
          <a:xfrm>
            <a:off x="4475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4466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724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2274358" y="28479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2264833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2824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2815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375025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365500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7" name="Rectangle 96"/>
          <p:cNvSpPr/>
          <p:nvPr/>
        </p:nvSpPr>
        <p:spPr>
          <a:xfrm>
            <a:off x="3925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4475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4466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724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714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274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2824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2815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375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3365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3925358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3915833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475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466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724025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2274358" y="33432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264833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2824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2815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3375025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3365500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3925358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4475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4466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724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714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2274358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2824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2815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3375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3365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3925358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3915833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4475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TextBox 130"/>
          <p:cNvSpPr txBox="1"/>
          <p:nvPr/>
        </p:nvSpPr>
        <p:spPr>
          <a:xfrm>
            <a:off x="4466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724025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2274358" y="38385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2264833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824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2815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3375025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365500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3925358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4475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4466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52070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department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2070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Product &amp; R&amp;D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0325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Corp. dev.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68580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Operations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835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Legal &amp; reg.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5216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2070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6042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60325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867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8580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693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76835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5216525" y="18573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5207000" y="18573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6042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6867525" y="18573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6858000" y="18573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0" name="Rectangle 159"/>
          <p:cNvSpPr/>
          <p:nvPr/>
        </p:nvSpPr>
        <p:spPr>
          <a:xfrm>
            <a:off x="7693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216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52070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042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60325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6867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68580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7693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76835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5216525" y="23526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5207000" y="23526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6042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6867525" y="23526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6858000" y="23526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7693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5216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52070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6042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0325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867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8580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693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6835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5216525" y="28479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5207000" y="28479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6042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6867525" y="28479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6858000" y="28479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7693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5216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52070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042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60325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6867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68580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7693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76835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5216525" y="33432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5207000" y="33432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042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6867525" y="33432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6858000" y="33432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2" name="Rectangle 201"/>
          <p:cNvSpPr/>
          <p:nvPr/>
        </p:nvSpPr>
        <p:spPr>
          <a:xfrm>
            <a:off x="7693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5216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52070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6042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60325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6867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68580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7693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76835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5216525" y="38385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5207000" y="38385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6042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6867525" y="38385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TextBox 214"/>
          <p:cNvSpPr txBox="1"/>
          <p:nvPr/>
        </p:nvSpPr>
        <p:spPr>
          <a:xfrm>
            <a:off x="6858000" y="38385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6" name="Rectangle 215"/>
          <p:cNvSpPr/>
          <p:nvPr/>
        </p:nvSpPr>
        <p:spPr>
          <a:xfrm>
            <a:off x="7693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TextBox 216"/>
          <p:cNvSpPr txBox="1"/>
          <p:nvPr/>
        </p:nvSpPr>
        <p:spPr>
          <a:xfrm>
            <a:off x="86995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region of activity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8699500" y="1219200"/>
            <a:ext cx="550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N. America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9249833" y="1219200"/>
            <a:ext cx="550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Europe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9800167" y="1219200"/>
            <a:ext cx="550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S. Asia &amp; Pac.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10350500" y="1219200"/>
            <a:ext cx="550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E. Asia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10900833" y="1219200"/>
            <a:ext cx="550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LATAM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11451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MEA</a:t>
            </a:r>
          </a:p>
        </p:txBody>
      </p:sp>
      <p:sp>
        <p:nvSpPr>
          <p:cNvPr id="224" name="Rectangle 223"/>
          <p:cNvSpPr/>
          <p:nvPr/>
        </p:nvSpPr>
        <p:spPr>
          <a:xfrm>
            <a:off x="8709025" y="16097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TextBox 224"/>
          <p:cNvSpPr txBox="1"/>
          <p:nvPr/>
        </p:nvSpPr>
        <p:spPr>
          <a:xfrm>
            <a:off x="8699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6" name="Rectangle 225"/>
          <p:cNvSpPr/>
          <p:nvPr/>
        </p:nvSpPr>
        <p:spPr>
          <a:xfrm>
            <a:off x="9259358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TextBox 226"/>
          <p:cNvSpPr txBox="1"/>
          <p:nvPr/>
        </p:nvSpPr>
        <p:spPr>
          <a:xfrm>
            <a:off x="9249833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28" name="Rectangle 227"/>
          <p:cNvSpPr/>
          <p:nvPr/>
        </p:nvSpPr>
        <p:spPr>
          <a:xfrm>
            <a:off x="9809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TextBox 228"/>
          <p:cNvSpPr txBox="1"/>
          <p:nvPr/>
        </p:nvSpPr>
        <p:spPr>
          <a:xfrm>
            <a:off x="9800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30" name="Rectangle 229"/>
          <p:cNvSpPr/>
          <p:nvPr/>
        </p:nvSpPr>
        <p:spPr>
          <a:xfrm>
            <a:off x="10360025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0910358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460692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8709025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9259358" y="18573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TextBox 234"/>
          <p:cNvSpPr txBox="1"/>
          <p:nvPr/>
        </p:nvSpPr>
        <p:spPr>
          <a:xfrm>
            <a:off x="9249833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6" name="Rectangle 235"/>
          <p:cNvSpPr/>
          <p:nvPr/>
        </p:nvSpPr>
        <p:spPr>
          <a:xfrm>
            <a:off x="9809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TextBox 236"/>
          <p:cNvSpPr txBox="1"/>
          <p:nvPr/>
        </p:nvSpPr>
        <p:spPr>
          <a:xfrm>
            <a:off x="9800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38" name="Rectangle 237"/>
          <p:cNvSpPr/>
          <p:nvPr/>
        </p:nvSpPr>
        <p:spPr>
          <a:xfrm>
            <a:off x="10360025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TextBox 238"/>
          <p:cNvSpPr txBox="1"/>
          <p:nvPr/>
        </p:nvSpPr>
        <p:spPr>
          <a:xfrm>
            <a:off x="10350500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40" name="Rectangle 239"/>
          <p:cNvSpPr/>
          <p:nvPr/>
        </p:nvSpPr>
        <p:spPr>
          <a:xfrm>
            <a:off x="10910358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460692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8709025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9259358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9809692" y="21050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TextBox 244"/>
          <p:cNvSpPr txBox="1"/>
          <p:nvPr/>
        </p:nvSpPr>
        <p:spPr>
          <a:xfrm>
            <a:off x="9800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46" name="Rectangle 245"/>
          <p:cNvSpPr/>
          <p:nvPr/>
        </p:nvSpPr>
        <p:spPr>
          <a:xfrm>
            <a:off x="10360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TextBox 246"/>
          <p:cNvSpPr txBox="1"/>
          <p:nvPr/>
        </p:nvSpPr>
        <p:spPr>
          <a:xfrm>
            <a:off x="10350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48" name="Rectangle 247"/>
          <p:cNvSpPr/>
          <p:nvPr/>
        </p:nvSpPr>
        <p:spPr>
          <a:xfrm>
            <a:off x="10910358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TextBox 248"/>
          <p:cNvSpPr txBox="1"/>
          <p:nvPr/>
        </p:nvSpPr>
        <p:spPr>
          <a:xfrm>
            <a:off x="10900833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50" name="Rectangle 249"/>
          <p:cNvSpPr/>
          <p:nvPr/>
        </p:nvSpPr>
        <p:spPr>
          <a:xfrm>
            <a:off x="11460692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8709025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9259358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9809692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10360025" y="23526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TextBox 254"/>
          <p:cNvSpPr txBox="1"/>
          <p:nvPr/>
        </p:nvSpPr>
        <p:spPr>
          <a:xfrm>
            <a:off x="10350500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56" name="Rectangle 255"/>
          <p:cNvSpPr/>
          <p:nvPr/>
        </p:nvSpPr>
        <p:spPr>
          <a:xfrm>
            <a:off x="10910358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TextBox 256"/>
          <p:cNvSpPr txBox="1"/>
          <p:nvPr/>
        </p:nvSpPr>
        <p:spPr>
          <a:xfrm>
            <a:off x="10900833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58" name="Rectangle 257"/>
          <p:cNvSpPr/>
          <p:nvPr/>
        </p:nvSpPr>
        <p:spPr>
          <a:xfrm>
            <a:off x="11460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TextBox 258"/>
          <p:cNvSpPr txBox="1"/>
          <p:nvPr/>
        </p:nvSpPr>
        <p:spPr>
          <a:xfrm>
            <a:off x="11451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60" name="Rectangle 259"/>
          <p:cNvSpPr/>
          <p:nvPr/>
        </p:nvSpPr>
        <p:spPr>
          <a:xfrm>
            <a:off x="8709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TextBox 260"/>
          <p:cNvSpPr txBox="1"/>
          <p:nvPr/>
        </p:nvSpPr>
        <p:spPr>
          <a:xfrm>
            <a:off x="8699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62" name="Rectangle 261"/>
          <p:cNvSpPr/>
          <p:nvPr/>
        </p:nvSpPr>
        <p:spPr>
          <a:xfrm>
            <a:off x="9259358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9809692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10360025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0910358" y="26003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10900833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11460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11451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709025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699500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9259358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9249833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9809692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10360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10910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Rectangle 275"/>
          <p:cNvSpPr/>
          <p:nvPr/>
        </p:nvSpPr>
        <p:spPr>
          <a:xfrm>
            <a:off x="11460692" y="28479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7" name="TextBox 276"/>
          <p:cNvSpPr txBox="1"/>
          <p:nvPr/>
        </p:nvSpPr>
        <p:spPr>
          <a:xfrm>
            <a:off x="11451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78" name="Rectangle 277"/>
          <p:cNvSpPr/>
          <p:nvPr/>
        </p:nvSpPr>
        <p:spPr>
          <a:xfrm>
            <a:off x="8709025" y="30956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9" name="TextBox 278"/>
          <p:cNvSpPr txBox="1"/>
          <p:nvPr/>
        </p:nvSpPr>
        <p:spPr>
          <a:xfrm>
            <a:off x="8699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80" name="Rectangle 279"/>
          <p:cNvSpPr/>
          <p:nvPr/>
        </p:nvSpPr>
        <p:spPr>
          <a:xfrm>
            <a:off x="9259358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TextBox 280"/>
          <p:cNvSpPr txBox="1"/>
          <p:nvPr/>
        </p:nvSpPr>
        <p:spPr>
          <a:xfrm>
            <a:off x="9249833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82" name="Rectangle 281"/>
          <p:cNvSpPr/>
          <p:nvPr/>
        </p:nvSpPr>
        <p:spPr>
          <a:xfrm>
            <a:off x="9809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3" name="TextBox 282"/>
          <p:cNvSpPr txBox="1"/>
          <p:nvPr/>
        </p:nvSpPr>
        <p:spPr>
          <a:xfrm>
            <a:off x="9800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84" name="Rectangle 283"/>
          <p:cNvSpPr/>
          <p:nvPr/>
        </p:nvSpPr>
        <p:spPr>
          <a:xfrm>
            <a:off x="10360025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Rectangle 284"/>
          <p:cNvSpPr/>
          <p:nvPr/>
        </p:nvSpPr>
        <p:spPr>
          <a:xfrm>
            <a:off x="10910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Rectangle 285"/>
          <p:cNvSpPr/>
          <p:nvPr/>
        </p:nvSpPr>
        <p:spPr>
          <a:xfrm>
            <a:off x="11460692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Rectangle 286"/>
          <p:cNvSpPr/>
          <p:nvPr/>
        </p:nvSpPr>
        <p:spPr>
          <a:xfrm>
            <a:off x="8709025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Rectangle 287"/>
          <p:cNvSpPr/>
          <p:nvPr/>
        </p:nvSpPr>
        <p:spPr>
          <a:xfrm>
            <a:off x="9259358" y="33432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9" name="TextBox 288"/>
          <p:cNvSpPr txBox="1"/>
          <p:nvPr/>
        </p:nvSpPr>
        <p:spPr>
          <a:xfrm>
            <a:off x="9249833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90" name="Rectangle 289"/>
          <p:cNvSpPr/>
          <p:nvPr/>
        </p:nvSpPr>
        <p:spPr>
          <a:xfrm>
            <a:off x="9809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1" name="TextBox 290"/>
          <p:cNvSpPr txBox="1"/>
          <p:nvPr/>
        </p:nvSpPr>
        <p:spPr>
          <a:xfrm>
            <a:off x="9800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92" name="Rectangle 291"/>
          <p:cNvSpPr/>
          <p:nvPr/>
        </p:nvSpPr>
        <p:spPr>
          <a:xfrm>
            <a:off x="10360025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3" name="TextBox 292"/>
          <p:cNvSpPr txBox="1"/>
          <p:nvPr/>
        </p:nvSpPr>
        <p:spPr>
          <a:xfrm>
            <a:off x="10350500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94" name="Rectangle 293"/>
          <p:cNvSpPr/>
          <p:nvPr/>
        </p:nvSpPr>
        <p:spPr>
          <a:xfrm>
            <a:off x="10910358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5" name="Rectangle 294"/>
          <p:cNvSpPr/>
          <p:nvPr/>
        </p:nvSpPr>
        <p:spPr>
          <a:xfrm>
            <a:off x="11460692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Rectangle 295"/>
          <p:cNvSpPr/>
          <p:nvPr/>
        </p:nvSpPr>
        <p:spPr>
          <a:xfrm>
            <a:off x="8709025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7" name="Rectangle 296"/>
          <p:cNvSpPr/>
          <p:nvPr/>
        </p:nvSpPr>
        <p:spPr>
          <a:xfrm>
            <a:off x="9259358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Rectangle 297"/>
          <p:cNvSpPr/>
          <p:nvPr/>
        </p:nvSpPr>
        <p:spPr>
          <a:xfrm>
            <a:off x="9809692" y="35909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9" name="TextBox 298"/>
          <p:cNvSpPr txBox="1"/>
          <p:nvPr/>
        </p:nvSpPr>
        <p:spPr>
          <a:xfrm>
            <a:off x="9800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300" name="Rectangle 299"/>
          <p:cNvSpPr/>
          <p:nvPr/>
        </p:nvSpPr>
        <p:spPr>
          <a:xfrm>
            <a:off x="10360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1" name="TextBox 300"/>
          <p:cNvSpPr txBox="1"/>
          <p:nvPr/>
        </p:nvSpPr>
        <p:spPr>
          <a:xfrm>
            <a:off x="10350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02" name="Rectangle 301"/>
          <p:cNvSpPr/>
          <p:nvPr/>
        </p:nvSpPr>
        <p:spPr>
          <a:xfrm>
            <a:off x="10910358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3" name="TextBox 302"/>
          <p:cNvSpPr txBox="1"/>
          <p:nvPr/>
        </p:nvSpPr>
        <p:spPr>
          <a:xfrm>
            <a:off x="10900833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04" name="Rectangle 303"/>
          <p:cNvSpPr/>
          <p:nvPr/>
        </p:nvSpPr>
        <p:spPr>
          <a:xfrm>
            <a:off x="11460692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5" name="Rectangle 304"/>
          <p:cNvSpPr/>
          <p:nvPr/>
        </p:nvSpPr>
        <p:spPr>
          <a:xfrm>
            <a:off x="8709025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Rectangle 305"/>
          <p:cNvSpPr/>
          <p:nvPr/>
        </p:nvSpPr>
        <p:spPr>
          <a:xfrm>
            <a:off x="9259358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7" name="Rectangle 306"/>
          <p:cNvSpPr/>
          <p:nvPr/>
        </p:nvSpPr>
        <p:spPr>
          <a:xfrm>
            <a:off x="9809692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Rectangle 307"/>
          <p:cNvSpPr/>
          <p:nvPr/>
        </p:nvSpPr>
        <p:spPr>
          <a:xfrm>
            <a:off x="10360025" y="38385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TextBox 308"/>
          <p:cNvSpPr txBox="1"/>
          <p:nvPr/>
        </p:nvSpPr>
        <p:spPr>
          <a:xfrm>
            <a:off x="10350500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310" name="Rectangle 309"/>
          <p:cNvSpPr/>
          <p:nvPr/>
        </p:nvSpPr>
        <p:spPr>
          <a:xfrm>
            <a:off x="10910358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TextBox 310"/>
          <p:cNvSpPr txBox="1"/>
          <p:nvPr/>
        </p:nvSpPr>
        <p:spPr>
          <a:xfrm>
            <a:off x="10900833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12" name="Rectangle 311"/>
          <p:cNvSpPr/>
          <p:nvPr/>
        </p:nvSpPr>
        <p:spPr>
          <a:xfrm>
            <a:off x="11460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3" name="TextBox 312"/>
          <p:cNvSpPr txBox="1"/>
          <p:nvPr/>
        </p:nvSpPr>
        <p:spPr>
          <a:xfrm>
            <a:off x="11451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14" name="Rectangle 313"/>
          <p:cNvSpPr/>
          <p:nvPr/>
        </p:nvSpPr>
        <p:spPr>
          <a:xfrm>
            <a:off x="190500" y="4171950"/>
            <a:ext cx="209550" cy="123825"/>
          </a:xfrm>
          <a:prstGeom prst="rect">
            <a:avLst/>
          </a:prstGeom>
          <a:solidFill>
            <a:srgbClr val="CFE0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TextBox 314"/>
          <p:cNvSpPr txBox="1"/>
          <p:nvPr/>
        </p:nvSpPr>
        <p:spPr>
          <a:xfrm>
            <a:off x="43815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1 move</a:t>
            </a:r>
          </a:p>
        </p:txBody>
      </p:sp>
      <p:sp>
        <p:nvSpPr>
          <p:cNvPr id="316" name="Rectangle 315"/>
          <p:cNvSpPr/>
          <p:nvPr/>
        </p:nvSpPr>
        <p:spPr>
          <a:xfrm>
            <a:off x="1238250" y="4171950"/>
            <a:ext cx="209550" cy="123825"/>
          </a:xfrm>
          <a:prstGeom prst="rect">
            <a:avLst/>
          </a:prstGeom>
          <a:solidFill>
            <a:srgbClr val="8FB4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7" name="TextBox 316"/>
          <p:cNvSpPr txBox="1"/>
          <p:nvPr/>
        </p:nvSpPr>
        <p:spPr>
          <a:xfrm>
            <a:off x="148590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2 moves</a:t>
            </a:r>
          </a:p>
        </p:txBody>
      </p:sp>
      <p:sp>
        <p:nvSpPr>
          <p:cNvPr id="318" name="Rectangle 317"/>
          <p:cNvSpPr/>
          <p:nvPr/>
        </p:nvSpPr>
        <p:spPr>
          <a:xfrm>
            <a:off x="2286000" y="4171950"/>
            <a:ext cx="209550" cy="123825"/>
          </a:xfrm>
          <a:prstGeom prst="rect">
            <a:avLst/>
          </a:prstGeom>
          <a:solidFill>
            <a:srgbClr val="3D73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TextBox 318"/>
          <p:cNvSpPr txBox="1"/>
          <p:nvPr/>
        </p:nvSpPr>
        <p:spPr>
          <a:xfrm>
            <a:off x="253365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3+ moves</a:t>
            </a:r>
          </a:p>
        </p:txBody>
      </p:sp>
      <p:sp>
        <p:nvSpPr>
          <p:cNvPr id="320" name="TextBox 319"/>
          <p:cNvSpPr txBox="1"/>
          <p:nvPr/>
        </p:nvSpPr>
        <p:spPr>
          <a:xfrm>
            <a:off x="3524250" y="4133850"/>
            <a:ext cx="84772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Type codes: MA M&amp;A, PR Product / portfolio, EX Expansion, RD R&amp;D / technology, RG Regulation / compliance, CP Capital / funding</a:t>
            </a:r>
          </a:p>
        </p:txBody>
      </p:sp>
      <p:cxnSp>
        <p:nvCxnSpPr>
          <p:cNvPr id="321" name="Connector 320"/>
          <p:cNvCxnSpPr/>
          <p:nvPr/>
        </p:nvCxnSpPr>
        <p:spPr>
          <a:xfrm>
            <a:off x="190500" y="4400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2" name="TextBox 321"/>
          <p:cNvSpPr txBox="1"/>
          <p:nvPr/>
        </p:nvSpPr>
        <p:spPr>
          <a:xfrm>
            <a:off x="190500" y="4457700"/>
            <a:ext cx="5715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IT MEANS FOR EACH OF YOUR DEPARTMENTS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1905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2667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Sales</a:t>
            </a:r>
          </a:p>
        </p:txBody>
      </p:sp>
      <p:sp>
        <p:nvSpPr>
          <p:cNvPr id="325" name="TextBox 324"/>
          <p:cNvSpPr txBox="1"/>
          <p:nvPr/>
        </p:nvSpPr>
        <p:spPr>
          <a:xfrm>
            <a:off x="1905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10 expansion moves target new regions and volume tiers: defend key accounts where rivals expand.</a:t>
            </a:r>
          </a:p>
        </p:txBody>
      </p:sp>
      <p:sp>
        <p:nvSpPr>
          <p:cNvPr id="326" name="Rectangle 325"/>
          <p:cNvSpPr/>
          <p:nvPr/>
        </p:nvSpPr>
        <p:spPr>
          <a:xfrm>
            <a:off x="21780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TextBox 326"/>
          <p:cNvSpPr txBox="1"/>
          <p:nvPr/>
        </p:nvSpPr>
        <p:spPr>
          <a:xfrm>
            <a:off x="22542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Marketing</a:t>
            </a:r>
          </a:p>
        </p:txBody>
      </p:sp>
      <p:sp>
        <p:nvSpPr>
          <p:cNvPr id="328" name="TextBox 327"/>
          <p:cNvSpPr txBox="1"/>
          <p:nvPr/>
        </p:nvSpPr>
        <p:spPr>
          <a:xfrm>
            <a:off x="21780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Certification and compliance are being used as trust signals; make your own credentials visible.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41656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42418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Product and R&amp;D</a:t>
            </a:r>
          </a:p>
        </p:txBody>
      </p:sp>
      <p:sp>
        <p:nvSpPr>
          <p:cNvPr id="331" name="TextBox 330"/>
          <p:cNvSpPr txBox="1"/>
          <p:nvPr/>
        </p:nvSpPr>
        <p:spPr>
          <a:xfrm>
            <a:off x="41656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20 product and R&amp;D moves: benchmark launches and the technology roadmap.</a:t>
            </a:r>
          </a:p>
        </p:txBody>
      </p:sp>
      <p:sp>
        <p:nvSpPr>
          <p:cNvPr id="332" name="Rectangle 331"/>
          <p:cNvSpPr/>
          <p:nvPr/>
        </p:nvSpPr>
        <p:spPr>
          <a:xfrm>
            <a:off x="61531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3" name="TextBox 332"/>
          <p:cNvSpPr txBox="1"/>
          <p:nvPr/>
        </p:nvSpPr>
        <p:spPr>
          <a:xfrm>
            <a:off x="62293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Corporate development</a:t>
            </a:r>
          </a:p>
        </p:txBody>
      </p:sp>
      <p:sp>
        <p:nvSpPr>
          <p:cNvPr id="334" name="TextBox 333"/>
          <p:cNvSpPr txBox="1"/>
          <p:nvPr/>
        </p:nvSpPr>
        <p:spPr>
          <a:xfrm>
            <a:off x="61531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are acquiring; the independent target list is shrinking.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81407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82169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Operations</a:t>
            </a:r>
          </a:p>
        </p:txBody>
      </p:sp>
      <p:sp>
        <p:nvSpPr>
          <p:cNvPr id="337" name="TextBox 336"/>
          <p:cNvSpPr txBox="1"/>
          <p:nvPr/>
        </p:nvSpPr>
        <p:spPr>
          <a:xfrm>
            <a:off x="81407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Expansion moves add capacity in rivals' home regions; review supply and lead times.</a:t>
            </a:r>
          </a:p>
        </p:txBody>
      </p:sp>
      <p:sp>
        <p:nvSpPr>
          <p:cNvPr id="338" name="Rectangle 337"/>
          <p:cNvSpPr/>
          <p:nvPr/>
        </p:nvSpPr>
        <p:spPr>
          <a:xfrm>
            <a:off x="101282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9" name="TextBox 338"/>
          <p:cNvSpPr txBox="1"/>
          <p:nvPr/>
        </p:nvSpPr>
        <p:spPr>
          <a:xfrm>
            <a:off x="102044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Legal and regulatory</a:t>
            </a:r>
          </a:p>
        </p:txBody>
      </p:sp>
      <p:sp>
        <p:nvSpPr>
          <p:cNvPr id="340" name="TextBox 339"/>
          <p:cNvSpPr txBox="1"/>
          <p:nvPr/>
        </p:nvSpPr>
        <p:spPr>
          <a:xfrm>
            <a:off x="101282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lean on certification; audit your own compliance position.</a:t>
            </a:r>
          </a:p>
        </p:txBody>
      </p:sp>
      <p:sp>
        <p:nvSpPr>
          <p:cNvPr id="341" name="TextBox 3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Packaged Muffins Market, Global 2026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5810250" cy="400050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5619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Ladder – Share of Market Value,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38125" y="1304925"/>
            <a:ext cx="56197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/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7175" y="160020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80975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266825" y="1581150"/>
            <a:ext cx="4533900" cy="476250"/>
          </a:xfrm>
          <a:prstGeom prst="rect">
            <a:avLst/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1362075" y="160972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362075" y="1809750"/>
            <a:ext cx="43815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266825" y="206692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Grupo Bimbo · McKee Foods Corporation · Hostess Brands · Rich Products Corporation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257175" y="245745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2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266700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Mid-sized players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266825" y="2438400"/>
            <a:ext cx="3786554" cy="476250"/>
          </a:xfrm>
          <a:prstGeom prst="rect">
            <a:avLst/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362075" y="246697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362075" y="2667000"/>
            <a:ext cx="3634154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66825" y="292417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ARYZTA / Aspire Bakeries · Europastry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331470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3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57175" y="352425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Emerging / local players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266825" y="3295650"/>
            <a:ext cx="3487615" cy="476250"/>
          </a:xfrm>
          <a:prstGeom prst="rect">
            <a:avLst/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362075" y="332422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362075" y="3524250"/>
            <a:ext cx="333521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266825" y="378142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Bridor · Lantmännen Unibake · Flowers Foods · Premier Foods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57175" y="417195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438150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Long tail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266825" y="4152900"/>
            <a:ext cx="3637085" cy="476250"/>
          </a:xfrm>
          <a:prstGeom prst="rect">
            <a:avLst/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1362075" y="418147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62075" y="4381500"/>
            <a:ext cx="348468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266825" y="463867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Regional &amp; niche suppliers</a:t>
            </a:r>
          </a:p>
        </p:txBody>
      </p:sp>
      <p:sp>
        <p:nvSpPr>
          <p:cNvPr id="37" name="Rounded Rectangle 36"/>
          <p:cNvSpPr/>
          <p:nvPr/>
        </p:nvSpPr>
        <p:spPr>
          <a:xfrm>
            <a:off x="142875" y="5162550"/>
            <a:ext cx="5810250" cy="146685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38125" y="5219700"/>
            <a:ext cx="5619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Concentration Read-out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solidFill>
            <a:srgbClr val="C9DAF0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Fragmented HHI &lt; 1,500</a:t>
            </a:r>
          </a:p>
        </p:txBody>
      </p:sp>
      <p:sp>
        <p:nvSpPr>
          <p:cNvPr id="41" name="Rectangle 40"/>
          <p:cNvSpPr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Moderate 1,500–2,500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Concentrated &gt; 2,500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69665" y="5762625"/>
            <a:ext cx="17145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38125" y="5981700"/>
            <a:ext cx="561975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6096000" y="1047750"/>
            <a:ext cx="5953125" cy="400050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191250" y="1104900"/>
            <a:ext cx="5762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Profile Matrix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191250" y="1304925"/>
            <a:ext cx="576262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>Size, growth and competitive characteristics of each tier</a:t>
            </a:r>
          </a:p>
        </p:txBody>
      </p:sp>
      <p:sp>
        <p:nvSpPr>
          <p:cNvPr id="50" name="Rectangle 49"/>
          <p:cNvSpPr/>
          <p:nvPr/>
        </p:nvSpPr>
        <p:spPr>
          <a:xfrm>
            <a:off x="6191250" y="1562100"/>
            <a:ext cx="16192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6248400" y="1562100"/>
            <a:ext cx="15430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Metric</a:t>
            </a:r>
          </a:p>
        </p:txBody>
      </p:sp>
      <p:sp>
        <p:nvSpPr>
          <p:cNvPr id="52" name="Rectangle 51"/>
          <p:cNvSpPr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solidFill>
            <a:srgbClr val="2E6DB4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solidFill>
            <a:srgbClr val="9FC5E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solidFill>
            <a:srgbClr val="102447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Total</a:t>
            </a:r>
          </a:p>
        </p:txBody>
      </p:sp>
      <p:sp>
        <p:nvSpPr>
          <p:cNvPr id="62" name="Rectangle 61"/>
          <p:cNvSpPr/>
          <p:nvPr/>
        </p:nvSpPr>
        <p:spPr>
          <a:xfrm>
            <a:off x="6191250" y="1809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6248400" y="18097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Players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78105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782955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66" name="Rectangle 65"/>
          <p:cNvSpPr/>
          <p:nvPr/>
        </p:nvSpPr>
        <p:spPr>
          <a:xfrm>
            <a:off x="863917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8658225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2</a:t>
            </a:r>
          </a:p>
        </p:txBody>
      </p:sp>
      <p:sp>
        <p:nvSpPr>
          <p:cNvPr id="68" name="Rectangle 67"/>
          <p:cNvSpPr/>
          <p:nvPr/>
        </p:nvSpPr>
        <p:spPr>
          <a:xfrm>
            <a:off x="946785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948690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70" name="Rectangle 69"/>
          <p:cNvSpPr/>
          <p:nvPr/>
        </p:nvSpPr>
        <p:spPr>
          <a:xfrm>
            <a:off x="1029652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10315575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1252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114425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191250" y="2038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6248400" y="20383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Value 2026 (US$ Mn)</a:t>
            </a:r>
          </a:p>
        </p:txBody>
      </p:sp>
      <p:sp>
        <p:nvSpPr>
          <p:cNvPr id="76" name="Rectangle 75"/>
          <p:cNvSpPr/>
          <p:nvPr/>
        </p:nvSpPr>
        <p:spPr>
          <a:xfrm>
            <a:off x="78105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782955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863917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8658225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0" name="Rectangle 79"/>
          <p:cNvSpPr/>
          <p:nvPr/>
        </p:nvSpPr>
        <p:spPr>
          <a:xfrm>
            <a:off x="946785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948690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029652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10315575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4" name="Rectangle 83"/>
          <p:cNvSpPr/>
          <p:nvPr/>
        </p:nvSpPr>
        <p:spPr>
          <a:xfrm>
            <a:off x="111252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1114425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6191250" y="22669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6248400" y="22669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2026</a:t>
            </a:r>
          </a:p>
        </p:txBody>
      </p:sp>
      <p:sp>
        <p:nvSpPr>
          <p:cNvPr id="88" name="Rectangle 87"/>
          <p:cNvSpPr/>
          <p:nvPr/>
        </p:nvSpPr>
        <p:spPr>
          <a:xfrm>
            <a:off x="78105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8076248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363902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63917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904922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9192578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4" name="Rectangle 93"/>
          <p:cNvSpPr/>
          <p:nvPr/>
        </p:nvSpPr>
        <p:spPr>
          <a:xfrm>
            <a:off x="946785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9733598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10021252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029652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10562272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0849928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11252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1144250" y="22669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6191250" y="24955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6248400" y="24955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2036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78105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8076248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8363902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863917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8904922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192578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946785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9733598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0021252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29652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0562272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10849928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111252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11144250" y="24955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6191250" y="27241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6248400" y="27241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change (pp)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78105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7975282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8108632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63917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803958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8937308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946785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9632632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765982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029652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0461308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−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0594658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11252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11144250" y="27241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6191250" y="2952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6248400" y="29527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CAGR 2026–2036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8105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810863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33151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863917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8937308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9160192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2" name="Rectangle 141"/>
          <p:cNvSpPr/>
          <p:nvPr/>
        </p:nvSpPr>
        <p:spPr>
          <a:xfrm>
            <a:off x="946785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TextBox 142"/>
          <p:cNvSpPr txBox="1"/>
          <p:nvPr/>
        </p:nvSpPr>
        <p:spPr>
          <a:xfrm>
            <a:off x="976598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998886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029652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10594658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0817542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8" name="Rectangle 147"/>
          <p:cNvSpPr/>
          <p:nvPr/>
        </p:nvSpPr>
        <p:spPr>
          <a:xfrm>
            <a:off x="111252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TextBox 148"/>
          <p:cNvSpPr txBox="1"/>
          <p:nvPr/>
        </p:nvSpPr>
        <p:spPr>
          <a:xfrm>
            <a:off x="1142333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164621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191250" y="3181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248400" y="31813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Avg / player (US$ Mn)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8105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782955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863917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8658225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946785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948690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1029652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10315575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11252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1114425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191250" y="34099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6248400" y="34099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Installed base share (units)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78105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076248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363902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68" name="Rectangle 167"/>
          <p:cNvSpPr/>
          <p:nvPr/>
        </p:nvSpPr>
        <p:spPr>
          <a:xfrm>
            <a:off x="863917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8904922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9192578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946785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9733598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10021252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1029652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TextBox 174"/>
          <p:cNvSpPr txBox="1"/>
          <p:nvPr/>
        </p:nvSpPr>
        <p:spPr>
          <a:xfrm>
            <a:off x="10562272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10849928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111252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11144250" y="34099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191250" y="37338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248400" y="373380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Price positioning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8105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82955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Premium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63917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658225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Mid / value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946785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948690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Value / entry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1029652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10315575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Mixed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111252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1114425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191250" y="40576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6248400" y="40576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Route-to-market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78105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782955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Direct / key accounts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863917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8658225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Distributors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946785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948690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Regional partners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1029652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10315575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Local / online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111252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1114425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6191250" y="43815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6248400" y="438150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Portfolio breadth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78105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782955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Full portfolio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863917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8658225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2–3 core lines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946785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948690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Single line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29652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0315575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Niche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111252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1114425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191250" y="47053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248400" y="47053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Strategic posture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781050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782955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Defend &amp; bundle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863917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8658225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Niche deepening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46785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48690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Scale-up or exit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1029652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10315575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Long-tail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1125200" y="47053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14425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27" name="Rounded Rectangle 226"/>
          <p:cNvSpPr/>
          <p:nvPr/>
        </p:nvSpPr>
        <p:spPr>
          <a:xfrm>
            <a:off x="6096000" y="5162550"/>
            <a:ext cx="5953125" cy="146685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6191250" y="5219700"/>
            <a:ext cx="5762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6210300" y="54673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6343650" y="5467350"/>
            <a:ext cx="5591175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6210300" y="58483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6343650" y="5848350"/>
            <a:ext cx="5591175" cy="3714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6210300" y="6067425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6343650" y="6067425"/>
            <a:ext cx="5591175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6" name="Picture 2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1620901"/>
            <a:ext cx="128699" cy="187198"/>
          </a:xfrm>
          <a:prstGeom prst="rect">
            <a:avLst/>
          </a:prstGeom>
        </p:spPr>
      </p:pic>
      <p:pic>
        <p:nvPicPr>
          <p:cNvPr id="237" name="Picture 2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2478151"/>
            <a:ext cx="128699" cy="187198"/>
          </a:xfrm>
          <a:prstGeom prst="rect">
            <a:avLst/>
          </a:prstGeom>
        </p:spPr>
      </p:pic>
      <p:pic>
        <p:nvPicPr>
          <p:cNvPr id="238" name="Picture 2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3335401"/>
            <a:ext cx="128699" cy="187198"/>
          </a:xfrm>
          <a:prstGeom prst="rect">
            <a:avLst/>
          </a:prstGeom>
        </p:spPr>
      </p:pic>
      <p:pic>
        <p:nvPicPr>
          <p:cNvPr id="239" name="Picture 2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4192651"/>
            <a:ext cx="128699" cy="187198"/>
          </a:xfrm>
          <a:prstGeom prst="rect">
            <a:avLst/>
          </a:prstGeom>
        </p:spPr>
      </p:pic>
      <p:pic>
        <p:nvPicPr>
          <p:cNvPr id="240" name="Picture 2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1830451"/>
            <a:ext cx="128699" cy="187198"/>
          </a:xfrm>
          <a:prstGeom prst="rect">
            <a:avLst/>
          </a:prstGeom>
        </p:spPr>
      </p:pic>
      <p:pic>
        <p:nvPicPr>
          <p:cNvPr id="241" name="Picture 2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059051"/>
            <a:ext cx="128699" cy="187198"/>
          </a:xfrm>
          <a:prstGeom prst="rect">
            <a:avLst/>
          </a:prstGeom>
        </p:spPr>
      </p:pic>
      <p:pic>
        <p:nvPicPr>
          <p:cNvPr id="242" name="Picture 2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059051"/>
            <a:ext cx="128699" cy="187198"/>
          </a:xfrm>
          <a:prstGeom prst="rect">
            <a:avLst/>
          </a:prstGeom>
        </p:spPr>
      </p:pic>
      <p:pic>
        <p:nvPicPr>
          <p:cNvPr id="243" name="Picture 2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059051"/>
            <a:ext cx="128699" cy="187198"/>
          </a:xfrm>
          <a:prstGeom prst="rect">
            <a:avLst/>
          </a:prstGeom>
        </p:spPr>
      </p:pic>
      <p:pic>
        <p:nvPicPr>
          <p:cNvPr id="244" name="Picture 2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059051"/>
            <a:ext cx="128699" cy="187198"/>
          </a:xfrm>
          <a:prstGeom prst="rect">
            <a:avLst/>
          </a:prstGeom>
        </p:spPr>
      </p:pic>
      <p:pic>
        <p:nvPicPr>
          <p:cNvPr id="245" name="Picture 2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2059051"/>
            <a:ext cx="128699" cy="187198"/>
          </a:xfrm>
          <a:prstGeom prst="rect">
            <a:avLst/>
          </a:prstGeom>
        </p:spPr>
      </p:pic>
      <p:pic>
        <p:nvPicPr>
          <p:cNvPr id="246" name="Picture 2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287651"/>
            <a:ext cx="128699" cy="187198"/>
          </a:xfrm>
          <a:prstGeom prst="rect">
            <a:avLst/>
          </a:prstGeom>
        </p:spPr>
      </p:pic>
      <p:pic>
        <p:nvPicPr>
          <p:cNvPr id="247" name="Picture 2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287651"/>
            <a:ext cx="128699" cy="187198"/>
          </a:xfrm>
          <a:prstGeom prst="rect">
            <a:avLst/>
          </a:prstGeom>
        </p:spPr>
      </p:pic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28765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287651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516251"/>
            <a:ext cx="128699" cy="187198"/>
          </a:xfrm>
          <a:prstGeom prst="rect">
            <a:avLst/>
          </a:prstGeom>
        </p:spPr>
      </p:pic>
      <p:pic>
        <p:nvPicPr>
          <p:cNvPr id="251" name="Picture 2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516251"/>
            <a:ext cx="128699" cy="187198"/>
          </a:xfrm>
          <a:prstGeom prst="rect">
            <a:avLst/>
          </a:prstGeom>
        </p:spPr>
      </p:pic>
      <p:pic>
        <p:nvPicPr>
          <p:cNvPr id="252" name="Picture 2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516251"/>
            <a:ext cx="128699" cy="187198"/>
          </a:xfrm>
          <a:prstGeom prst="rect">
            <a:avLst/>
          </a:prstGeom>
        </p:spPr>
      </p:pic>
      <p:pic>
        <p:nvPicPr>
          <p:cNvPr id="253" name="Picture 2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516251"/>
            <a:ext cx="128699" cy="187198"/>
          </a:xfrm>
          <a:prstGeom prst="rect">
            <a:avLst/>
          </a:prstGeom>
        </p:spPr>
      </p:pic>
      <p:pic>
        <p:nvPicPr>
          <p:cNvPr id="254" name="Picture 2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744851"/>
            <a:ext cx="128699" cy="187198"/>
          </a:xfrm>
          <a:prstGeom prst="rect">
            <a:avLst/>
          </a:prstGeom>
        </p:spPr>
      </p:pic>
      <p:pic>
        <p:nvPicPr>
          <p:cNvPr id="255" name="Picture 2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744851"/>
            <a:ext cx="128699" cy="187198"/>
          </a:xfrm>
          <a:prstGeom prst="rect">
            <a:avLst/>
          </a:prstGeom>
        </p:spPr>
      </p:pic>
      <p:pic>
        <p:nvPicPr>
          <p:cNvPr id="256" name="Picture 2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744851"/>
            <a:ext cx="128699" cy="187198"/>
          </a:xfrm>
          <a:prstGeom prst="rect">
            <a:avLst/>
          </a:prstGeom>
        </p:spPr>
      </p:pic>
      <p:pic>
        <p:nvPicPr>
          <p:cNvPr id="257" name="Picture 2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744851"/>
            <a:ext cx="128699" cy="187198"/>
          </a:xfrm>
          <a:prstGeom prst="rect">
            <a:avLst/>
          </a:prstGeom>
        </p:spPr>
      </p:pic>
      <p:pic>
        <p:nvPicPr>
          <p:cNvPr id="258" name="Picture 2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973451"/>
            <a:ext cx="128699" cy="187198"/>
          </a:xfrm>
          <a:prstGeom prst="rect">
            <a:avLst/>
          </a:prstGeom>
        </p:spPr>
      </p:pic>
      <p:pic>
        <p:nvPicPr>
          <p:cNvPr id="259" name="Picture 2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973451"/>
            <a:ext cx="128699" cy="187198"/>
          </a:xfrm>
          <a:prstGeom prst="rect">
            <a:avLst/>
          </a:prstGeom>
        </p:spPr>
      </p:pic>
      <p:pic>
        <p:nvPicPr>
          <p:cNvPr id="260" name="Picture 2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973451"/>
            <a:ext cx="128699" cy="187198"/>
          </a:xfrm>
          <a:prstGeom prst="rect">
            <a:avLst/>
          </a:prstGeom>
        </p:spPr>
      </p:pic>
      <p:pic>
        <p:nvPicPr>
          <p:cNvPr id="261" name="Picture 2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973451"/>
            <a:ext cx="128699" cy="187198"/>
          </a:xfrm>
          <a:prstGeom prst="rect">
            <a:avLst/>
          </a:prstGeom>
        </p:spPr>
      </p:pic>
      <p:pic>
        <p:nvPicPr>
          <p:cNvPr id="262" name="Picture 2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7" y="2973451"/>
            <a:ext cx="128699" cy="187198"/>
          </a:xfrm>
          <a:prstGeom prst="rect">
            <a:avLst/>
          </a:prstGeom>
        </p:spPr>
      </p:pic>
      <p:pic>
        <p:nvPicPr>
          <p:cNvPr id="263" name="Picture 2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202051"/>
            <a:ext cx="128699" cy="187198"/>
          </a:xfrm>
          <a:prstGeom prst="rect">
            <a:avLst/>
          </a:prstGeom>
        </p:spPr>
      </p:pic>
      <p:pic>
        <p:nvPicPr>
          <p:cNvPr id="264" name="Picture 2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3202051"/>
            <a:ext cx="128699" cy="187198"/>
          </a:xfrm>
          <a:prstGeom prst="rect">
            <a:avLst/>
          </a:prstGeom>
        </p:spPr>
      </p:pic>
      <p:pic>
        <p:nvPicPr>
          <p:cNvPr id="265" name="Picture 2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202051"/>
            <a:ext cx="128699" cy="187198"/>
          </a:xfrm>
          <a:prstGeom prst="rect">
            <a:avLst/>
          </a:prstGeom>
        </p:spPr>
      </p:pic>
      <p:pic>
        <p:nvPicPr>
          <p:cNvPr id="266" name="Picture 2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478276"/>
            <a:ext cx="128699" cy="187198"/>
          </a:xfrm>
          <a:prstGeom prst="rect">
            <a:avLst/>
          </a:prstGeom>
        </p:spPr>
      </p:pic>
      <p:pic>
        <p:nvPicPr>
          <p:cNvPr id="267" name="Picture 2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3478276"/>
            <a:ext cx="128699" cy="187198"/>
          </a:xfrm>
          <a:prstGeom prst="rect">
            <a:avLst/>
          </a:prstGeom>
        </p:spPr>
      </p:pic>
      <p:pic>
        <p:nvPicPr>
          <p:cNvPr id="268" name="Picture 2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478276"/>
            <a:ext cx="128699" cy="187198"/>
          </a:xfrm>
          <a:prstGeom prst="rect">
            <a:avLst/>
          </a:prstGeom>
        </p:spPr>
      </p:pic>
      <p:pic>
        <p:nvPicPr>
          <p:cNvPr id="269" name="Picture 2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3478276"/>
            <a:ext cx="128699" cy="187198"/>
          </a:xfrm>
          <a:prstGeom prst="rect">
            <a:avLst/>
          </a:prstGeom>
        </p:spPr>
      </p:pic>
      <p:sp>
        <p:nvSpPr>
          <p:cNvPr id="270" name="TextBox 269"/>
          <p:cNvSpPr txBox="1"/>
          <p:nvPr/>
        </p:nvSpPr>
        <p:spPr>
          <a:xfrm>
            <a:off x="266700" y="1344930"/>
            <a:ext cx="4914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Market</a:t>
            </a:r>
          </a:p>
        </p:txBody>
      </p:sp>
      <p:pic>
        <p:nvPicPr>
          <p:cNvPr id="271" name="Picture 2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231" y="1335151"/>
            <a:ext cx="128699" cy="187198"/>
          </a:xfrm>
          <a:prstGeom prst="rect">
            <a:avLst/>
          </a:prstGeom>
        </p:spPr>
      </p:pic>
      <p:sp>
        <p:nvSpPr>
          <p:cNvPr id="272" name="TextBox 271"/>
          <p:cNvSpPr txBox="1"/>
          <p:nvPr/>
        </p:nvSpPr>
        <p:spPr>
          <a:xfrm>
            <a:off x="873727" y="1344930"/>
            <a:ext cx="1290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US$ Mn · Tier 1 share</a:t>
            </a:r>
          </a:p>
        </p:txBody>
      </p:sp>
      <p:pic>
        <p:nvPicPr>
          <p:cNvPr id="273" name="Picture 2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2168" y="1335151"/>
            <a:ext cx="128699" cy="187198"/>
          </a:xfrm>
          <a:prstGeom prst="rect">
            <a:avLst/>
          </a:prstGeom>
        </p:spPr>
      </p:pic>
      <p:sp>
        <p:nvSpPr>
          <p:cNvPr id="274" name="TextBox 273"/>
          <p:cNvSpPr txBox="1"/>
          <p:nvPr/>
        </p:nvSpPr>
        <p:spPr>
          <a:xfrm>
            <a:off x="2279664" y="134493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→</a:t>
            </a:r>
          </a:p>
        </p:txBody>
      </p:sp>
      <p:pic>
        <p:nvPicPr>
          <p:cNvPr id="275" name="Picture 2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0519" y="1335151"/>
            <a:ext cx="128699" cy="187198"/>
          </a:xfrm>
          <a:prstGeom prst="rect">
            <a:avLst/>
          </a:prstGeom>
        </p:spPr>
      </p:pic>
      <p:sp>
        <p:nvSpPr>
          <p:cNvPr id="276" name="TextBox 275"/>
          <p:cNvSpPr txBox="1"/>
          <p:nvPr/>
        </p:nvSpPr>
        <p:spPr>
          <a:xfrm>
            <a:off x="2598014" y="1344930"/>
            <a:ext cx="528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by 2036</a:t>
            </a:r>
          </a:p>
        </p:txBody>
      </p:sp>
      <p:pic>
        <p:nvPicPr>
          <p:cNvPr id="277" name="Picture 2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1839976"/>
            <a:ext cx="128699" cy="187198"/>
          </a:xfrm>
          <a:prstGeom prst="rect">
            <a:avLst/>
          </a:prstGeom>
        </p:spPr>
      </p:pic>
      <p:sp>
        <p:nvSpPr>
          <p:cNvPr id="278" name="TextBox 277"/>
          <p:cNvSpPr txBox="1"/>
          <p:nvPr/>
        </p:nvSpPr>
        <p:spPr>
          <a:xfrm>
            <a:off x="1544678" y="184975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79" name="Picture 2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1839976"/>
            <a:ext cx="128699" cy="187198"/>
          </a:xfrm>
          <a:prstGeom prst="rect">
            <a:avLst/>
          </a:prstGeom>
        </p:spPr>
      </p:pic>
      <p:sp>
        <p:nvSpPr>
          <p:cNvPr id="280" name="TextBox 279"/>
          <p:cNvSpPr txBox="1"/>
          <p:nvPr/>
        </p:nvSpPr>
        <p:spPr>
          <a:xfrm>
            <a:off x="3089769" y="184975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1" name="Picture 2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2697226"/>
            <a:ext cx="128699" cy="187198"/>
          </a:xfrm>
          <a:prstGeom prst="rect">
            <a:avLst/>
          </a:prstGeom>
        </p:spPr>
      </p:pic>
      <p:sp>
        <p:nvSpPr>
          <p:cNvPr id="282" name="TextBox 281"/>
          <p:cNvSpPr txBox="1"/>
          <p:nvPr/>
        </p:nvSpPr>
        <p:spPr>
          <a:xfrm>
            <a:off x="1544678" y="270700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2 players · avg</a:t>
            </a:r>
          </a:p>
        </p:txBody>
      </p:sp>
      <p:pic>
        <p:nvPicPr>
          <p:cNvPr id="283" name="Picture 2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2697226"/>
            <a:ext cx="128699" cy="187198"/>
          </a:xfrm>
          <a:prstGeom prst="rect">
            <a:avLst/>
          </a:prstGeom>
        </p:spPr>
      </p:pic>
      <p:sp>
        <p:nvSpPr>
          <p:cNvPr id="284" name="TextBox 283"/>
          <p:cNvSpPr txBox="1"/>
          <p:nvPr/>
        </p:nvSpPr>
        <p:spPr>
          <a:xfrm>
            <a:off x="3089769" y="270700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5" name="Picture 2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3554476"/>
            <a:ext cx="128699" cy="187198"/>
          </a:xfrm>
          <a:prstGeom prst="rect">
            <a:avLst/>
          </a:prstGeom>
        </p:spPr>
      </p:pic>
      <p:sp>
        <p:nvSpPr>
          <p:cNvPr id="286" name="TextBox 285"/>
          <p:cNvSpPr txBox="1"/>
          <p:nvPr/>
        </p:nvSpPr>
        <p:spPr>
          <a:xfrm>
            <a:off x="1544678" y="356425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87" name="Picture 2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3554476"/>
            <a:ext cx="128699" cy="187198"/>
          </a:xfrm>
          <a:prstGeom prst="rect">
            <a:avLst/>
          </a:prstGeom>
        </p:spPr>
      </p:pic>
      <p:sp>
        <p:nvSpPr>
          <p:cNvPr id="288" name="TextBox 287"/>
          <p:cNvSpPr txBox="1"/>
          <p:nvPr/>
        </p:nvSpPr>
        <p:spPr>
          <a:xfrm>
            <a:off x="3089769" y="356425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9" name="Picture 2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4411726"/>
            <a:ext cx="128699" cy="187198"/>
          </a:xfrm>
          <a:prstGeom prst="rect">
            <a:avLst/>
          </a:prstGeom>
        </p:spPr>
      </p:pic>
      <p:sp>
        <p:nvSpPr>
          <p:cNvPr id="290" name="TextBox 289"/>
          <p:cNvSpPr txBox="1"/>
          <p:nvPr/>
        </p:nvSpPr>
        <p:spPr>
          <a:xfrm>
            <a:off x="1544678" y="4421505"/>
            <a:ext cx="12470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· – · long tail</a:t>
            </a:r>
          </a:p>
        </p:txBody>
      </p:sp>
      <p:sp>
        <p:nvSpPr>
          <p:cNvPr id="291" name="TextBox 290"/>
          <p:cNvSpPr txBox="1"/>
          <p:nvPr/>
        </p:nvSpPr>
        <p:spPr>
          <a:xfrm>
            <a:off x="1241169" y="5802630"/>
            <a:ext cx="493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2E7D32"/>
                </a:solidFill>
                <a:latin typeface="Calibri"/>
              </a:rPr>
              <a:t>▲</a:t>
            </a:r>
            <a:r>
              <a:rPr sz="1100" b="1">
                <a:solidFill>
                  <a:srgbClr val="14213D"/>
                </a:solidFill>
                <a:latin typeface="Calibri"/>
              </a:rPr>
              <a:t> HHI =</a:t>
            </a:r>
          </a:p>
        </p:txBody>
      </p:sp>
      <p:pic>
        <p:nvPicPr>
          <p:cNvPr id="292" name="Picture 2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2883" y="5792851"/>
            <a:ext cx="128699" cy="187198"/>
          </a:xfrm>
          <a:prstGeom prst="rect">
            <a:avLst/>
          </a:prstGeom>
        </p:spPr>
      </p:pic>
      <p:sp>
        <p:nvSpPr>
          <p:cNvPr id="293" name="TextBox 292"/>
          <p:cNvSpPr txBox="1"/>
          <p:nvPr/>
        </p:nvSpPr>
        <p:spPr>
          <a:xfrm>
            <a:off x="876202" y="6107430"/>
            <a:ext cx="4008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CR4 =</a:t>
            </a:r>
          </a:p>
        </p:txBody>
      </p:sp>
      <p:pic>
        <p:nvPicPr>
          <p:cNvPr id="294" name="Picture 2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25147" y="6097651"/>
            <a:ext cx="128699" cy="187198"/>
          </a:xfrm>
          <a:prstGeom prst="rect">
            <a:avLst/>
          </a:prstGeom>
        </p:spPr>
      </p:pic>
      <p:sp>
        <p:nvSpPr>
          <p:cNvPr id="295" name="TextBox 294"/>
          <p:cNvSpPr txBox="1"/>
          <p:nvPr/>
        </p:nvSpPr>
        <p:spPr>
          <a:xfrm>
            <a:off x="1392643" y="6107430"/>
            <a:ext cx="10682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Tier 1 : Others =</a:t>
            </a:r>
          </a:p>
        </p:txBody>
      </p:sp>
      <p:pic>
        <p:nvPicPr>
          <p:cNvPr id="296" name="Picture 2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8983" y="6097651"/>
            <a:ext cx="128699" cy="187198"/>
          </a:xfrm>
          <a:prstGeom prst="rect">
            <a:avLst/>
          </a:prstGeom>
        </p:spPr>
      </p:pic>
      <p:sp>
        <p:nvSpPr>
          <p:cNvPr id="297" name="TextBox 296"/>
          <p:cNvSpPr txBox="1"/>
          <p:nvPr/>
        </p:nvSpPr>
        <p:spPr>
          <a:xfrm>
            <a:off x="2576478" y="6107430"/>
            <a:ext cx="13976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: 1 · Top-player share =</a:t>
            </a:r>
          </a:p>
        </p:txBody>
      </p:sp>
      <p:pic>
        <p:nvPicPr>
          <p:cNvPr id="298" name="Picture 2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150" y="6097651"/>
            <a:ext cx="128699" cy="187198"/>
          </a:xfrm>
          <a:prstGeom prst="rect">
            <a:avLst/>
          </a:prstGeom>
        </p:spPr>
      </p:pic>
      <p:sp>
        <p:nvSpPr>
          <p:cNvPr id="299" name="TextBox 298"/>
          <p:cNvSpPr txBox="1"/>
          <p:nvPr/>
        </p:nvSpPr>
        <p:spPr>
          <a:xfrm>
            <a:off x="4089646" y="6107430"/>
            <a:ext cx="12063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Class: Fragmented</a:t>
            </a:r>
          </a:p>
        </p:txBody>
      </p:sp>
      <p:sp>
        <p:nvSpPr>
          <p:cNvPr id="300" name="TextBox 299"/>
          <p:cNvSpPr txBox="1"/>
          <p:nvPr/>
        </p:nvSpPr>
        <p:spPr>
          <a:xfrm>
            <a:off x="6372225" y="5476875"/>
            <a:ext cx="4715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1 (</a:t>
            </a:r>
          </a:p>
        </p:txBody>
      </p:sp>
      <p:pic>
        <p:nvPicPr>
          <p:cNvPr id="301" name="Picture 3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1838" y="5467095"/>
            <a:ext cx="128699" cy="187198"/>
          </a:xfrm>
          <a:prstGeom prst="rect">
            <a:avLst/>
          </a:prstGeom>
        </p:spPr>
      </p:pic>
      <p:sp>
        <p:nvSpPr>
          <p:cNvPr id="302" name="TextBox 301"/>
          <p:cNvSpPr txBox="1"/>
          <p:nvPr/>
        </p:nvSpPr>
        <p:spPr>
          <a:xfrm>
            <a:off x="6959334" y="5476875"/>
            <a:ext cx="25501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 holds the largest single block of value on a</a:t>
            </a:r>
          </a:p>
        </p:txBody>
      </p:sp>
      <p:pic>
        <p:nvPicPr>
          <p:cNvPr id="303" name="Picture 3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57531" y="5467095"/>
            <a:ext cx="128699" cy="187198"/>
          </a:xfrm>
          <a:prstGeom prst="rect">
            <a:avLst/>
          </a:prstGeom>
        </p:spPr>
      </p:pic>
      <p:sp>
        <p:nvSpPr>
          <p:cNvPr id="304" name="TextBox 303"/>
          <p:cNvSpPr txBox="1"/>
          <p:nvPr/>
        </p:nvSpPr>
        <p:spPr>
          <a:xfrm>
            <a:off x="9625026" y="5476875"/>
            <a:ext cx="12598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base; CR4 of</a:t>
            </a:r>
          </a:p>
        </p:txBody>
      </p:sp>
      <p:pic>
        <p:nvPicPr>
          <p:cNvPr id="305" name="Picture 3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32908" y="5467095"/>
            <a:ext cx="128699" cy="187198"/>
          </a:xfrm>
          <a:prstGeom prst="rect">
            <a:avLst/>
          </a:prstGeom>
        </p:spPr>
      </p:pic>
      <p:sp>
        <p:nvSpPr>
          <p:cNvPr id="306" name="TextBox 305"/>
          <p:cNvSpPr txBox="1"/>
          <p:nvPr/>
        </p:nvSpPr>
        <p:spPr>
          <a:xfrm>
            <a:off x="11000404" y="5476875"/>
            <a:ext cx="678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and HHI of</a:t>
            </a:r>
          </a:p>
        </p:txBody>
      </p:sp>
      <p:pic>
        <p:nvPicPr>
          <p:cNvPr id="307" name="Picture 3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8757" y="5634735"/>
            <a:ext cx="128699" cy="187198"/>
          </a:xfrm>
          <a:prstGeom prst="rect">
            <a:avLst/>
          </a:prstGeom>
        </p:spPr>
      </p:pic>
      <p:sp>
        <p:nvSpPr>
          <p:cNvPr id="308" name="TextBox 307"/>
          <p:cNvSpPr txBox="1"/>
          <p:nvPr/>
        </p:nvSpPr>
        <p:spPr>
          <a:xfrm>
            <a:off x="6526253" y="5644515"/>
            <a:ext cx="20306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classify the market as fragmented.</a:t>
            </a:r>
          </a:p>
        </p:txBody>
      </p:sp>
      <p:sp>
        <p:nvSpPr>
          <p:cNvPr id="309" name="TextBox 308"/>
          <p:cNvSpPr txBox="1"/>
          <p:nvPr/>
        </p:nvSpPr>
        <p:spPr>
          <a:xfrm>
            <a:off x="6372225" y="5857875"/>
            <a:ext cx="13310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2 grows fastest at</a:t>
            </a:r>
          </a:p>
        </p:txBody>
      </p:sp>
      <p:pic>
        <p:nvPicPr>
          <p:cNvPr id="310" name="Picture 3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51320" y="5848095"/>
            <a:ext cx="128699" cy="187198"/>
          </a:xfrm>
          <a:prstGeom prst="rect">
            <a:avLst/>
          </a:prstGeom>
        </p:spPr>
      </p:pic>
      <p:sp>
        <p:nvSpPr>
          <p:cNvPr id="311" name="TextBox 310"/>
          <p:cNvSpPr txBox="1"/>
          <p:nvPr/>
        </p:nvSpPr>
        <p:spPr>
          <a:xfrm>
            <a:off x="7818816" y="5857875"/>
            <a:ext cx="9828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CAGR, moving +</a:t>
            </a:r>
          </a:p>
        </p:txBody>
      </p:sp>
      <p:pic>
        <p:nvPicPr>
          <p:cNvPr id="312" name="Picture 3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49737" y="5848095"/>
            <a:ext cx="128699" cy="187198"/>
          </a:xfrm>
          <a:prstGeom prst="rect">
            <a:avLst/>
          </a:prstGeom>
        </p:spPr>
      </p:pic>
      <p:sp>
        <p:nvSpPr>
          <p:cNvPr id="313" name="TextBox 312"/>
          <p:cNvSpPr txBox="1"/>
          <p:nvPr/>
        </p:nvSpPr>
        <p:spPr>
          <a:xfrm>
            <a:off x="8917232" y="5857875"/>
            <a:ext cx="12347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pp of share by 2036.</a:t>
            </a:r>
          </a:p>
        </p:txBody>
      </p:sp>
      <p:sp>
        <p:nvSpPr>
          <p:cNvPr id="314" name="TextBox 313"/>
          <p:cNvSpPr txBox="1"/>
          <p:nvPr/>
        </p:nvSpPr>
        <p:spPr>
          <a:xfrm>
            <a:off x="6372225" y="6076950"/>
            <a:ext cx="21616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together hold</a:t>
            </a:r>
          </a:p>
        </p:txBody>
      </p:sp>
      <p:pic>
        <p:nvPicPr>
          <p:cNvPr id="315" name="Picture 3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81881" y="6067170"/>
            <a:ext cx="128699" cy="187198"/>
          </a:xfrm>
          <a:prstGeom prst="rect">
            <a:avLst/>
          </a:prstGeom>
        </p:spPr>
      </p:pic>
      <p:sp>
        <p:nvSpPr>
          <p:cNvPr id="316" name="TextBox 315"/>
          <p:cNvSpPr txBox="1"/>
          <p:nvPr/>
        </p:nvSpPr>
        <p:spPr>
          <a:xfrm>
            <a:off x="8649376" y="6076950"/>
            <a:ext cx="21274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value; the average Tier 3 player is</a:t>
            </a:r>
          </a:p>
        </p:txBody>
      </p:sp>
      <p:pic>
        <p:nvPicPr>
          <p:cNvPr id="317" name="Picture 3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24926" y="6067170"/>
            <a:ext cx="128699" cy="187198"/>
          </a:xfrm>
          <a:prstGeom prst="rect">
            <a:avLst/>
          </a:prstGeom>
        </p:spPr>
      </p:pic>
      <p:sp>
        <p:nvSpPr>
          <p:cNvPr id="318" name="TextBox 317"/>
          <p:cNvSpPr txBox="1"/>
          <p:nvPr/>
        </p:nvSpPr>
        <p:spPr>
          <a:xfrm>
            <a:off x="10892422" y="6076950"/>
            <a:ext cx="8764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x smaller than</a:t>
            </a:r>
          </a:p>
        </p:txBody>
      </p:sp>
      <p:sp>
        <p:nvSpPr>
          <p:cNvPr id="319" name="TextBox 318"/>
          <p:cNvSpPr txBox="1"/>
          <p:nvPr/>
        </p:nvSpPr>
        <p:spPr>
          <a:xfrm>
            <a:off x="6372225" y="6244590"/>
            <a:ext cx="10205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 Tier 1 supplier.</a:t>
            </a:r>
          </a:p>
        </p:txBody>
      </p:sp>
    </p:spTree>
  </p:cSld>
  <p:clrMapOvr>
    <a:masterClrMapping/>
  </p:clrMapOvr>
</p:sld>
</file>

<file path=ppt/slides/slide5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Packaged Muffins Market, Global 2026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11906250" cy="2381250"/>
          </a:xfrm>
          <a:prstGeom prst="roundRect">
            <a:avLst>
              <a:gd name="adj" fmla="val 64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11715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Shift, 2026 → 2036 – Tier Migration and Entry / Exit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71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5717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9527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23837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23145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22383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9" name="Connector 18"/>
          <p:cNvCxnSpPr/>
          <p:nvPr/>
        </p:nvCxnSpPr>
        <p:spPr>
          <a:xfrm>
            <a:off x="22383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/>
          <p:nvPr/>
        </p:nvSpPr>
        <p:spPr>
          <a:xfrm>
            <a:off x="33432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23837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35147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351472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51472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Mid-sized players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355282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9592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557212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Freeform 27"/>
          <p:cNvSpPr/>
          <p:nvPr/>
        </p:nvSpPr>
        <p:spPr>
          <a:xfrm>
            <a:off x="549592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49592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Freeform 29"/>
          <p:cNvSpPr/>
          <p:nvPr/>
        </p:nvSpPr>
        <p:spPr>
          <a:xfrm>
            <a:off x="660082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549592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67722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677227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677227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Emerging / local players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81037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75347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2 up-tier (M&amp;A)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88296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Freeform 37"/>
          <p:cNvSpPr/>
          <p:nvPr/>
        </p:nvSpPr>
        <p:spPr>
          <a:xfrm>
            <a:off x="87534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9" name="Connector 38"/>
          <p:cNvCxnSpPr/>
          <p:nvPr/>
        </p:nvCxnSpPr>
        <p:spPr>
          <a:xfrm>
            <a:off x="87534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Freeform 39"/>
          <p:cNvSpPr/>
          <p:nvPr/>
        </p:nvSpPr>
        <p:spPr>
          <a:xfrm>
            <a:off x="98583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875347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1 down / exit</a:t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100298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1002982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002982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06792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2571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KPI Value"/>
          <p:cNvSpPr txBox="1"/>
          <p:nvPr/>
        </p:nvSpPr>
        <p:spPr>
          <a:xfrm>
            <a:off x="35242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9062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New entrants 2026–2036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9062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scaling up from the long tail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32099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MI KPI Value"/>
          <p:cNvSpPr txBox="1"/>
          <p:nvPr/>
        </p:nvSpPr>
        <p:spPr>
          <a:xfrm>
            <a:off x="330517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14337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Exits / acquisitions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14337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absorbed mainly by Tier 1–2 acquirers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61626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FMI KPI Value"/>
          <p:cNvSpPr txBox="1"/>
          <p:nvPr/>
        </p:nvSpPr>
        <p:spPr>
          <a:xfrm>
            <a:off x="625792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09612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Net change in player count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09612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Between 2026 and 2036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91154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FMI KPI Value"/>
          <p:cNvSpPr txBox="1"/>
          <p:nvPr/>
        </p:nvSpPr>
        <p:spPr>
          <a:xfrm>
            <a:off x="921067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04887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moving between tiers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004887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largest transfer: Others → Tier 2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42875" y="3543300"/>
            <a:ext cx="7096125" cy="3086100"/>
          </a:xfrm>
          <a:prstGeom prst="roundRect">
            <a:avLst>
              <a:gd name="adj" fmla="val 107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238125" y="3600450"/>
            <a:ext cx="6905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Forces Shaping the Tier Structure (1 = weak, 5 = strong)</a:t>
            </a:r>
          </a:p>
        </p:txBody>
      </p:sp>
      <p:sp>
        <p:nvSpPr>
          <p:cNvPr id="64" name="Rectangle 63"/>
          <p:cNvSpPr/>
          <p:nvPr/>
        </p:nvSpPr>
        <p:spPr>
          <a:xfrm>
            <a:off x="238125" y="3867150"/>
            <a:ext cx="1428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295275" y="3867150"/>
            <a:ext cx="13525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Force</a:t>
            </a:r>
          </a:p>
        </p:txBody>
      </p:sp>
      <p:sp>
        <p:nvSpPr>
          <p:cNvPr id="66" name="Rectangle 65"/>
          <p:cNvSpPr/>
          <p:nvPr/>
        </p:nvSpPr>
        <p:spPr>
          <a:xfrm>
            <a:off x="1666875" y="3867150"/>
            <a:ext cx="233362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1724025" y="3867150"/>
            <a:ext cx="225742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Drivers in the market</a:t>
            </a:r>
          </a:p>
        </p:txBody>
      </p:sp>
      <p:sp>
        <p:nvSpPr>
          <p:cNvPr id="68" name="Rectangle 67"/>
          <p:cNvSpPr/>
          <p:nvPr/>
        </p:nvSpPr>
        <p:spPr>
          <a:xfrm>
            <a:off x="4000500" y="3867150"/>
            <a:ext cx="666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057650" y="3867150"/>
            <a:ext cx="5905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Score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667250" y="3867150"/>
            <a:ext cx="2476500" cy="247650"/>
          </a:xfrm>
          <a:prstGeom prst="rect">
            <a:avLst/>
          </a:prstGeom>
          <a:solidFill>
            <a:srgbClr val="0E8C8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724400" y="3867150"/>
            <a:ext cx="24003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Effect on tier structure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38125" y="41148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95275" y="411480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Entry barriers</a:t>
            </a:r>
          </a:p>
        </p:txBody>
      </p:sp>
      <p:sp>
        <p:nvSpPr>
          <p:cNvPr id="74" name="Rectangle 73"/>
          <p:cNvSpPr/>
          <p:nvPr/>
        </p:nvSpPr>
        <p:spPr>
          <a:xfrm>
            <a:off x="1666875" y="41148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1724025" y="411480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Certification, qualification, scale economics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4000500" y="41148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4057650" y="411480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2 / 5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667250" y="41148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724400" y="411480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Protects Tier 1–2; slows new entry</a:t>
            </a:r>
          </a:p>
        </p:txBody>
      </p:sp>
      <p:sp>
        <p:nvSpPr>
          <p:cNvPr id="80" name="Rectangle 79"/>
          <p:cNvSpPr/>
          <p:nvPr/>
        </p:nvSpPr>
        <p:spPr>
          <a:xfrm>
            <a:off x="238125" y="45243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295275" y="452437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Buyer power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666875" y="45243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1724025" y="452437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Key-account purchasing, multi-year supply contracts</a:t>
            </a:r>
          </a:p>
        </p:txBody>
      </p:sp>
      <p:sp>
        <p:nvSpPr>
          <p:cNvPr id="84" name="Rectangle 83"/>
          <p:cNvSpPr/>
          <p:nvPr/>
        </p:nvSpPr>
        <p:spPr>
          <a:xfrm>
            <a:off x="4000500" y="45243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4057650" y="452437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3 / 5</a:t>
            </a:r>
          </a:p>
        </p:txBody>
      </p:sp>
      <p:sp>
        <p:nvSpPr>
          <p:cNvPr id="86" name="Rectangle 85"/>
          <p:cNvSpPr/>
          <p:nvPr/>
        </p:nvSpPr>
        <p:spPr>
          <a:xfrm>
            <a:off x="4667250" y="45243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4724400" y="452437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Compresses Tier 3 pricing</a:t>
            </a:r>
          </a:p>
        </p:txBody>
      </p:sp>
      <p:sp>
        <p:nvSpPr>
          <p:cNvPr id="88" name="Rectangle 87"/>
          <p:cNvSpPr/>
          <p:nvPr/>
        </p:nvSpPr>
        <p:spPr>
          <a:xfrm>
            <a:off x="238125" y="493395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295275" y="493395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Switching costs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666875" y="493395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1724025" y="493395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Requalification, integration and retraining</a:t>
            </a:r>
          </a:p>
        </p:txBody>
      </p:sp>
      <p:sp>
        <p:nvSpPr>
          <p:cNvPr id="92" name="Rectangle 91"/>
          <p:cNvSpPr/>
          <p:nvPr/>
        </p:nvSpPr>
        <p:spPr>
          <a:xfrm>
            <a:off x="4000500" y="493395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4057650" y="493395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4 / 5</a:t>
            </a:r>
          </a:p>
        </p:txBody>
      </p:sp>
      <p:sp>
        <p:nvSpPr>
          <p:cNvPr id="94" name="Rectangle 93"/>
          <p:cNvSpPr/>
          <p:nvPr/>
        </p:nvSpPr>
        <p:spPr>
          <a:xfrm>
            <a:off x="4667250" y="493395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4724400" y="493395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Locks in the installed base</a:t>
            </a:r>
          </a:p>
        </p:txBody>
      </p:sp>
      <p:sp>
        <p:nvSpPr>
          <p:cNvPr id="96" name="Rectangle 95"/>
          <p:cNvSpPr/>
          <p:nvPr/>
        </p:nvSpPr>
        <p:spPr>
          <a:xfrm>
            <a:off x="238125" y="534352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95275" y="534352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Technology substitution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666875" y="534352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724025" y="534352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Alternative materials and next-generation formats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4000500" y="534352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4057650" y="534352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3 / 5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4667250" y="534352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4724400" y="534352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Opens demand to Tier 2–3 innovators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38125" y="57531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95275" y="575310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Supplier power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666875" y="57531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1724025" y="575310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Few qualified input and component suppliers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4000500" y="57531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4057650" y="575310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3 / 5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4667250" y="57531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4724400" y="575310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Raises input cost for sub-scale players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238125" y="61626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95275" y="616267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Overall structural pressure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1666875" y="61626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1724025" y="616267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Average of the five forces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000500" y="61626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4057650" y="616267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3.0 / 5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667250" y="61626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4724400" y="616267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Consolidation towards Tier 1–2</a:t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7381875" y="3543300"/>
            <a:ext cx="4667250" cy="3086100"/>
          </a:xfrm>
          <a:prstGeom prst="roundRect">
            <a:avLst>
              <a:gd name="adj" fmla="val 163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7477125" y="3600450"/>
            <a:ext cx="447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496175" y="384810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629525" y="3848100"/>
            <a:ext cx="4305300" cy="69532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7496175" y="4429125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7629525" y="4429125"/>
            <a:ext cx="4305300" cy="69532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1 Tier 2 player is positioned to move up-tier by 2036 through M&amp;A and key-account wins – the main structural change of the decade.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496175" y="50101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7629525" y="5010150"/>
            <a:ext cx="4305300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7496175" y="54292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7629525" y="5429250"/>
            <a:ext cx="4305300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Switching costs (4 / 5) and buyer power (3 / 5) are the dominant forces shaping the tier structure.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726" y="2545080"/>
            <a:ext cx="257397" cy="374396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57476" y="2545080"/>
            <a:ext cx="257397" cy="374396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0226" y="2545080"/>
            <a:ext cx="257397" cy="374396"/>
          </a:xfrm>
          <a:prstGeom prst="rect">
            <a:avLst/>
          </a:prstGeom>
        </p:spPr>
      </p:pic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62976" y="2545080"/>
            <a:ext cx="257397" cy="374396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54701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5 players ·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24204" y="1860931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159169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42554" y="1860931"/>
            <a:ext cx="128699" cy="187198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104978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80456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2 → 2 players ·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1754" y="1860931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484924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00104" y="1860931"/>
            <a:ext cx="128699" cy="187198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430733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706211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4 players ·</a:t>
            </a:r>
          </a:p>
        </p:txBody>
      </p:sp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9304" y="1860931"/>
            <a:ext cx="128699" cy="187198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810679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57654" y="1860931"/>
            <a:ext cx="128699" cy="187198"/>
          </a:xfrm>
          <a:prstGeom prst="rect">
            <a:avLst/>
          </a:prstGeom>
        </p:spPr>
      </p:pic>
      <p:sp>
        <p:nvSpPr>
          <p:cNvPr id="149" name="TextBox 148"/>
          <p:cNvSpPr txBox="1"/>
          <p:nvPr/>
        </p:nvSpPr>
        <p:spPr>
          <a:xfrm>
            <a:off x="756488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0286075" y="1954530"/>
            <a:ext cx="6388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Long tail ·</a:t>
            </a:r>
          </a:p>
        </p:txBody>
      </p:sp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72946" y="1944751"/>
            <a:ext cx="128699" cy="187198"/>
          </a:xfrm>
          <a:prstGeom prst="rect">
            <a:avLst/>
          </a:prstGeom>
        </p:spPr>
      </p:pic>
      <p:sp>
        <p:nvSpPr>
          <p:cNvPr id="152" name="TextBox 151"/>
          <p:cNvSpPr txBox="1"/>
          <p:nvPr/>
        </p:nvSpPr>
        <p:spPr>
          <a:xfrm>
            <a:off x="11040442" y="195453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→</a:t>
            </a:r>
          </a:p>
        </p:txBody>
      </p:sp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91297" y="1944751"/>
            <a:ext cx="128699" cy="187198"/>
          </a:xfrm>
          <a:prstGeom prst="rect">
            <a:avLst/>
          </a:prstGeom>
        </p:spPr>
      </p:pic>
      <p:sp>
        <p:nvSpPr>
          <p:cNvPr id="154" name="TextBox 153"/>
          <p:cNvSpPr txBox="1"/>
          <p:nvPr/>
        </p:nvSpPr>
        <p:spPr>
          <a:xfrm>
            <a:off x="11358792" y="195453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share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7658100" y="3857625"/>
            <a:ext cx="18281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The market is fragmented (HHI</a:t>
            </a:r>
          </a:p>
        </p:txBody>
      </p:sp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4331" y="3847846"/>
            <a:ext cx="128699" cy="187198"/>
          </a:xfrm>
          <a:prstGeom prst="rect">
            <a:avLst/>
          </a:prstGeom>
        </p:spPr>
      </p:pic>
      <p:sp>
        <p:nvSpPr>
          <p:cNvPr id="157" name="TextBox 156"/>
          <p:cNvSpPr txBox="1"/>
          <p:nvPr/>
        </p:nvSpPr>
        <p:spPr>
          <a:xfrm>
            <a:off x="9601827" y="3857625"/>
            <a:ext cx="20685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); Tier 1 sets pricing and innovation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7658100" y="4025265"/>
            <a:ext cx="21247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benchmarks and is expected to hold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30921" y="4015486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9898416" y="4025265"/>
            <a:ext cx="10169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 in 2036.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7658100" y="5019675"/>
            <a:ext cx="34710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face the highest structural pressure (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7170" y="5009895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11244666" y="5019675"/>
            <a:ext cx="4150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/ 5); 2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7658100" y="5187315"/>
            <a:ext cx="25414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players are expected to exit or be acquired.</a:t>
            </a:r>
          </a:p>
        </p:txBody>
      </p:sp>
    </p:spTree>
  </p:cSld>
  <p:clrMapOvr>
    <a:masterClrMapping/>
  </p:clrMapOvr>
</p:sld>
</file>

<file path=ppt/slides/slide5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Competitive Dashboard View (2026)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companies on portfolio, coverage, revenue, share, regional presence and strategy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477500" cy="164283"/>
          </a:xfrm>
          <a:prstGeom prst="rect">
            <a:avLst/>
          </a:prstGeom>
          <a:noFill/>
        </p:spPr>
        <p:txBody>
          <a:bodyPr wrap="square" lIns="0" rIns="19050" tIns="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Intensified competition across the leading players portfolio, revenue, share, regional presence and strategy.  All figures 2026.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33350" y="1153291"/>
            <a:ext cx="11925300" cy="4563424"/>
          </a:xfrm>
          <a:prstGeom prst="roundRect">
            <a:avLst>
              <a:gd name="adj" fmla="val 16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133350" y="1171544"/>
            <a:ext cx="11925300" cy="365074"/>
          </a:xfrm>
          <a:prstGeom prst="rect">
            <a:avLst/>
          </a:prstGeom>
          <a:solidFill>
            <a:srgbClr val="F1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ectangle 12"/>
          <p:cNvSpPr/>
          <p:nvPr/>
        </p:nvSpPr>
        <p:spPr>
          <a:xfrm>
            <a:off x="133350" y="1171544"/>
            <a:ext cx="1143000" cy="4526917"/>
          </a:xfrm>
          <a:prstGeom prst="rect">
            <a:avLst/>
          </a:prstGeom>
          <a:solidFill>
            <a:srgbClr val="F7FA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4" name="Connector 13"/>
          <p:cNvCxnSpPr/>
          <p:nvPr/>
        </p:nvCxnSpPr>
        <p:spPr>
          <a:xfrm>
            <a:off x="133350" y="153661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133350" y="179217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133350" y="263184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133350" y="2960407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133350" y="3288973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133350" y="4055629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133350" y="504132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13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12954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23717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34480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45243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56007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6770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775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88296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99060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109823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133350" y="5698461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171450" y="1536618"/>
            <a:ext cx="1085850" cy="255552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Company / Brand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71450" y="1792170"/>
            <a:ext cx="1085850" cy="839670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Product Portfolio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71450" y="2631840"/>
            <a:ext cx="1085850" cy="328567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Overall Rev (US$ Mn)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1450" y="2960407"/>
            <a:ext cx="1085850" cy="328567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Target Rev (US$ Mn)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1450" y="3288973"/>
            <a:ext cx="1085850" cy="766655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Market Share (%)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1450" y="4055629"/>
            <a:ext cx="1085850" cy="985700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Regional Presence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1450" y="5041328"/>
            <a:ext cx="1085850" cy="657133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Strategies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3239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Grupo Bimbo</a:t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16049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13239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3144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3144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6049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17764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19478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13239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3239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2" name="Oval 51"/>
          <p:cNvSpPr/>
          <p:nvPr/>
        </p:nvSpPr>
        <p:spPr>
          <a:xfrm>
            <a:off x="15859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1828800" y="3416749"/>
            <a:ext cx="209550" cy="237298"/>
          </a:xfrm>
          <a:custGeom>
            <a:avLst/>
            <a:gdLst/>
            <a:ahLst/>
            <a:cxnLst/>
            <a:rect l="l" t="t" r="r" b="b"/>
            <a:pathLst>
              <a:path w="22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8" y="1"/>
                </a:lnTo>
                <a:lnTo>
                  <a:pt x="11" y="2"/>
                </a:lnTo>
                <a:lnTo>
                  <a:pt x="14" y="4"/>
                </a:lnTo>
                <a:lnTo>
                  <a:pt x="17" y="6"/>
                </a:lnTo>
                <a:lnTo>
                  <a:pt x="20" y="8"/>
                </a:lnTo>
                <a:lnTo>
                  <a:pt x="22" y="11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16948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1585912" y="3590159"/>
            <a:ext cx="495300" cy="12777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3430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North America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57" name="Oval 56"/>
          <p:cNvSpPr/>
          <p:nvPr/>
        </p:nvSpPr>
        <p:spPr>
          <a:xfrm>
            <a:off x="14287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4287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59" name="Oval 58"/>
          <p:cNvSpPr/>
          <p:nvPr/>
        </p:nvSpPr>
        <p:spPr>
          <a:xfrm>
            <a:off x="16383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6383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61" name="Oval 60"/>
          <p:cNvSpPr/>
          <p:nvPr/>
        </p:nvSpPr>
        <p:spPr>
          <a:xfrm>
            <a:off x="18478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8478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63" name="Oval 62"/>
          <p:cNvSpPr/>
          <p:nvPr/>
        </p:nvSpPr>
        <p:spPr>
          <a:xfrm>
            <a:off x="20574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0574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65" name="Oval 64"/>
          <p:cNvSpPr/>
          <p:nvPr/>
        </p:nvSpPr>
        <p:spPr>
          <a:xfrm>
            <a:off x="15335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5335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67" name="Oval 66"/>
          <p:cNvSpPr/>
          <p:nvPr/>
        </p:nvSpPr>
        <p:spPr>
          <a:xfrm>
            <a:off x="17430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17430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69" name="Oval 68"/>
          <p:cNvSpPr/>
          <p:nvPr/>
        </p:nvSpPr>
        <p:spPr>
          <a:xfrm>
            <a:off x="19526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19526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4003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McKee Foods Corporation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26812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4003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B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3907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3907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76" name="Rectangle 75"/>
          <p:cNvSpPr/>
          <p:nvPr/>
        </p:nvSpPr>
        <p:spPr>
          <a:xfrm>
            <a:off x="26812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8527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0241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24003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4003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1" name="Oval 80"/>
          <p:cNvSpPr/>
          <p:nvPr/>
        </p:nvSpPr>
        <p:spPr>
          <a:xfrm>
            <a:off x="26622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Freeform 81"/>
          <p:cNvSpPr/>
          <p:nvPr/>
        </p:nvSpPr>
        <p:spPr>
          <a:xfrm>
            <a:off x="2914650" y="3416749"/>
            <a:ext cx="180975" cy="237298"/>
          </a:xfrm>
          <a:custGeom>
            <a:avLst/>
            <a:gdLst/>
            <a:ahLst/>
            <a:cxnLst/>
            <a:rect l="l" t="t" r="r" b="b"/>
            <a:pathLst>
              <a:path w="19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lnTo>
                  <a:pt x="13" y="4"/>
                </a:lnTo>
                <a:lnTo>
                  <a:pt x="16" y="6"/>
                </a:lnTo>
                <a:lnTo>
                  <a:pt x="19" y="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Oval 82"/>
          <p:cNvSpPr/>
          <p:nvPr/>
        </p:nvSpPr>
        <p:spPr>
          <a:xfrm>
            <a:off x="27712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2662238" y="3590159"/>
            <a:ext cx="495300" cy="12777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4193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86" name="Oval 85"/>
          <p:cNvSpPr/>
          <p:nvPr/>
        </p:nvSpPr>
        <p:spPr>
          <a:xfrm>
            <a:off x="25050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25050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88" name="Oval 87"/>
          <p:cNvSpPr/>
          <p:nvPr/>
        </p:nvSpPr>
        <p:spPr>
          <a:xfrm>
            <a:off x="27146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27146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90" name="Oval 89"/>
          <p:cNvSpPr/>
          <p:nvPr/>
        </p:nvSpPr>
        <p:spPr>
          <a:xfrm>
            <a:off x="29241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9241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92" name="Oval 91"/>
          <p:cNvSpPr/>
          <p:nvPr/>
        </p:nvSpPr>
        <p:spPr>
          <a:xfrm>
            <a:off x="3133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31337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94" name="Oval 93"/>
          <p:cNvSpPr/>
          <p:nvPr/>
        </p:nvSpPr>
        <p:spPr>
          <a:xfrm>
            <a:off x="26098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26098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96" name="Oval 95"/>
          <p:cNvSpPr/>
          <p:nvPr/>
        </p:nvSpPr>
        <p:spPr>
          <a:xfrm>
            <a:off x="28194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8194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98" name="Oval 97"/>
          <p:cNvSpPr/>
          <p:nvPr/>
        </p:nvSpPr>
        <p:spPr>
          <a:xfrm>
            <a:off x="30289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30289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47662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Hostess Brands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7576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47662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C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6710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46710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7576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39290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41005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347662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7662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Oval 109"/>
          <p:cNvSpPr/>
          <p:nvPr/>
        </p:nvSpPr>
        <p:spPr>
          <a:xfrm>
            <a:off x="37385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Freeform 110"/>
          <p:cNvSpPr/>
          <p:nvPr/>
        </p:nvSpPr>
        <p:spPr>
          <a:xfrm>
            <a:off x="3981450" y="3416749"/>
            <a:ext cx="142875" cy="237298"/>
          </a:xfrm>
          <a:custGeom>
            <a:avLst/>
            <a:gdLst/>
            <a:ahLst/>
            <a:cxnLst/>
            <a:rect l="l" t="t" r="r" b="b"/>
            <a:pathLst>
              <a:path w="15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8" y="1"/>
                </a:lnTo>
                <a:lnTo>
                  <a:pt x="12" y="2"/>
                </a:lnTo>
                <a:lnTo>
                  <a:pt x="15" y="4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Oval 111"/>
          <p:cNvSpPr/>
          <p:nvPr/>
        </p:nvSpPr>
        <p:spPr>
          <a:xfrm>
            <a:off x="384752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373856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49567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Latin America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115" name="Oval 114"/>
          <p:cNvSpPr/>
          <p:nvPr/>
        </p:nvSpPr>
        <p:spPr>
          <a:xfrm>
            <a:off x="35814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5814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17" name="Oval 116"/>
          <p:cNvSpPr/>
          <p:nvPr/>
        </p:nvSpPr>
        <p:spPr>
          <a:xfrm>
            <a:off x="37909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37909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19" name="Oval 118"/>
          <p:cNvSpPr/>
          <p:nvPr/>
        </p:nvSpPr>
        <p:spPr>
          <a:xfrm>
            <a:off x="40005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40005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21" name="Oval 120"/>
          <p:cNvSpPr/>
          <p:nvPr/>
        </p:nvSpPr>
        <p:spPr>
          <a:xfrm>
            <a:off x="42100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42100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23" name="Oval 122"/>
          <p:cNvSpPr/>
          <p:nvPr/>
        </p:nvSpPr>
        <p:spPr>
          <a:xfrm>
            <a:off x="36861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36861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25" name="Oval 124"/>
          <p:cNvSpPr/>
          <p:nvPr/>
        </p:nvSpPr>
        <p:spPr>
          <a:xfrm>
            <a:off x="38957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38957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27" name="Oval 126"/>
          <p:cNvSpPr/>
          <p:nvPr/>
        </p:nvSpPr>
        <p:spPr>
          <a:xfrm>
            <a:off x="41052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41052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455295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Rich Products Corporation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48339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455295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D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54342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454342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48339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0053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51768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455295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55295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9" name="Oval 138"/>
          <p:cNvSpPr/>
          <p:nvPr/>
        </p:nvSpPr>
        <p:spPr>
          <a:xfrm>
            <a:off x="48148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5067300" y="3416749"/>
            <a:ext cx="95250" cy="237298"/>
          </a:xfrm>
          <a:custGeom>
            <a:avLst/>
            <a:gdLst/>
            <a:ahLst/>
            <a:cxnLst/>
            <a:rect l="l" t="t" r="r" b="b"/>
            <a:pathLst>
              <a:path w="10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Oval 140"/>
          <p:cNvSpPr/>
          <p:nvPr/>
        </p:nvSpPr>
        <p:spPr>
          <a:xfrm>
            <a:off x="49238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481488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457200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Latin America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Middle East &amp; Africa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144" name="Oval 143"/>
          <p:cNvSpPr/>
          <p:nvPr/>
        </p:nvSpPr>
        <p:spPr>
          <a:xfrm>
            <a:off x="4657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46577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46" name="Oval 145"/>
          <p:cNvSpPr/>
          <p:nvPr/>
        </p:nvSpPr>
        <p:spPr>
          <a:xfrm>
            <a:off x="48672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TextBox 146"/>
          <p:cNvSpPr txBox="1"/>
          <p:nvPr/>
        </p:nvSpPr>
        <p:spPr>
          <a:xfrm>
            <a:off x="48672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48" name="Oval 147"/>
          <p:cNvSpPr/>
          <p:nvPr/>
        </p:nvSpPr>
        <p:spPr>
          <a:xfrm>
            <a:off x="50768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TextBox 148"/>
          <p:cNvSpPr txBox="1"/>
          <p:nvPr/>
        </p:nvSpPr>
        <p:spPr>
          <a:xfrm>
            <a:off x="50768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50" name="Oval 149"/>
          <p:cNvSpPr/>
          <p:nvPr/>
        </p:nvSpPr>
        <p:spPr>
          <a:xfrm>
            <a:off x="5286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TextBox 150"/>
          <p:cNvSpPr txBox="1"/>
          <p:nvPr/>
        </p:nvSpPr>
        <p:spPr>
          <a:xfrm>
            <a:off x="52863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52" name="Oval 151"/>
          <p:cNvSpPr/>
          <p:nvPr/>
        </p:nvSpPr>
        <p:spPr>
          <a:xfrm>
            <a:off x="47625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47625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54" name="Oval 153"/>
          <p:cNvSpPr/>
          <p:nvPr/>
        </p:nvSpPr>
        <p:spPr>
          <a:xfrm>
            <a:off x="49720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49720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56" name="Oval 155"/>
          <p:cNvSpPr/>
          <p:nvPr/>
        </p:nvSpPr>
        <p:spPr>
          <a:xfrm>
            <a:off x="51816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TextBox 156"/>
          <p:cNvSpPr txBox="1"/>
          <p:nvPr/>
        </p:nvSpPr>
        <p:spPr>
          <a:xfrm>
            <a:off x="51816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56292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ARYZTA / Aspire Bakeries</a:t>
            </a:r>
          </a:p>
        </p:txBody>
      </p:sp>
      <p:cxnSp>
        <p:nvCxnSpPr>
          <p:cNvPr id="159" name="Connector 158"/>
          <p:cNvCxnSpPr/>
          <p:nvPr/>
        </p:nvCxnSpPr>
        <p:spPr>
          <a:xfrm>
            <a:off x="59102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TextBox 159"/>
          <p:cNvSpPr txBox="1"/>
          <p:nvPr/>
        </p:nvSpPr>
        <p:spPr>
          <a:xfrm>
            <a:off x="56292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56197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56197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59102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60817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62531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56292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56292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8" name="Oval 167"/>
          <p:cNvSpPr/>
          <p:nvPr/>
        </p:nvSpPr>
        <p:spPr>
          <a:xfrm>
            <a:off x="58912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Freeform 168"/>
          <p:cNvSpPr/>
          <p:nvPr/>
        </p:nvSpPr>
        <p:spPr>
          <a:xfrm>
            <a:off x="6134100" y="3416749"/>
            <a:ext cx="104775" cy="237298"/>
          </a:xfrm>
          <a:custGeom>
            <a:avLst/>
            <a:gdLst/>
            <a:ahLst/>
            <a:cxnLst/>
            <a:rect l="l" t="t" r="r" b="b"/>
            <a:pathLst>
              <a:path w="11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7" y="1"/>
                </a:lnTo>
                <a:lnTo>
                  <a:pt x="11" y="2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Oval 169"/>
          <p:cNvSpPr/>
          <p:nvPr/>
        </p:nvSpPr>
        <p:spPr>
          <a:xfrm>
            <a:off x="600017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589121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56483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Latin America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Middle East &amp; Africa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North America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173" name="Oval 172"/>
          <p:cNvSpPr/>
          <p:nvPr/>
        </p:nvSpPr>
        <p:spPr>
          <a:xfrm>
            <a:off x="57340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57340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75" name="Oval 174"/>
          <p:cNvSpPr/>
          <p:nvPr/>
        </p:nvSpPr>
        <p:spPr>
          <a:xfrm>
            <a:off x="59436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59436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77" name="Oval 176"/>
          <p:cNvSpPr/>
          <p:nvPr/>
        </p:nvSpPr>
        <p:spPr>
          <a:xfrm>
            <a:off x="61531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1531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79" name="Oval 178"/>
          <p:cNvSpPr/>
          <p:nvPr/>
        </p:nvSpPr>
        <p:spPr>
          <a:xfrm>
            <a:off x="63627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3627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81" name="Oval 180"/>
          <p:cNvSpPr/>
          <p:nvPr/>
        </p:nvSpPr>
        <p:spPr>
          <a:xfrm>
            <a:off x="58388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58388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83" name="Oval 182"/>
          <p:cNvSpPr/>
          <p:nvPr/>
        </p:nvSpPr>
        <p:spPr>
          <a:xfrm>
            <a:off x="60483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60483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85" name="Oval 184"/>
          <p:cNvSpPr/>
          <p:nvPr/>
        </p:nvSpPr>
        <p:spPr>
          <a:xfrm>
            <a:off x="62579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62579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67056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Europastry</a:t>
            </a:r>
          </a:p>
        </p:txBody>
      </p:sp>
      <p:cxnSp>
        <p:nvCxnSpPr>
          <p:cNvPr id="188" name="Connector 187"/>
          <p:cNvCxnSpPr/>
          <p:nvPr/>
        </p:nvCxnSpPr>
        <p:spPr>
          <a:xfrm>
            <a:off x="69865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9" name="TextBox 188"/>
          <p:cNvSpPr txBox="1"/>
          <p:nvPr/>
        </p:nvSpPr>
        <p:spPr>
          <a:xfrm>
            <a:off x="67056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F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66960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66960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69865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71580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73294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TextBox 194"/>
          <p:cNvSpPr txBox="1"/>
          <p:nvPr/>
        </p:nvSpPr>
        <p:spPr>
          <a:xfrm>
            <a:off x="67056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67056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7" name="Oval 196"/>
          <p:cNvSpPr/>
          <p:nvPr/>
        </p:nvSpPr>
        <p:spPr>
          <a:xfrm>
            <a:off x="69675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Freeform 197"/>
          <p:cNvSpPr/>
          <p:nvPr/>
        </p:nvSpPr>
        <p:spPr>
          <a:xfrm>
            <a:off x="7219950" y="3416749"/>
            <a:ext cx="95250" cy="237298"/>
          </a:xfrm>
          <a:custGeom>
            <a:avLst/>
            <a:gdLst/>
            <a:ahLst/>
            <a:cxnLst/>
            <a:rect l="l" t="t" r="r" b="b"/>
            <a:pathLst>
              <a:path w="10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6" y="1"/>
                </a:lnTo>
                <a:lnTo>
                  <a:pt x="10" y="2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Oval 198"/>
          <p:cNvSpPr/>
          <p:nvPr/>
        </p:nvSpPr>
        <p:spPr>
          <a:xfrm>
            <a:off x="70765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96753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7246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Middle East &amp; Africa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North America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02" name="Oval 201"/>
          <p:cNvSpPr/>
          <p:nvPr/>
        </p:nvSpPr>
        <p:spPr>
          <a:xfrm>
            <a:off x="6810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68103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04" name="Oval 203"/>
          <p:cNvSpPr/>
          <p:nvPr/>
        </p:nvSpPr>
        <p:spPr>
          <a:xfrm>
            <a:off x="70199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TextBox 204"/>
          <p:cNvSpPr txBox="1"/>
          <p:nvPr/>
        </p:nvSpPr>
        <p:spPr>
          <a:xfrm>
            <a:off x="70199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06" name="Oval 205"/>
          <p:cNvSpPr/>
          <p:nvPr/>
        </p:nvSpPr>
        <p:spPr>
          <a:xfrm>
            <a:off x="72294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TextBox 206"/>
          <p:cNvSpPr txBox="1"/>
          <p:nvPr/>
        </p:nvSpPr>
        <p:spPr>
          <a:xfrm>
            <a:off x="72294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08" name="Oval 207"/>
          <p:cNvSpPr/>
          <p:nvPr/>
        </p:nvSpPr>
        <p:spPr>
          <a:xfrm>
            <a:off x="7439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TextBox 208"/>
          <p:cNvSpPr txBox="1"/>
          <p:nvPr/>
        </p:nvSpPr>
        <p:spPr>
          <a:xfrm>
            <a:off x="74390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10" name="Oval 209"/>
          <p:cNvSpPr/>
          <p:nvPr/>
        </p:nvSpPr>
        <p:spPr>
          <a:xfrm>
            <a:off x="69151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TextBox 210"/>
          <p:cNvSpPr txBox="1"/>
          <p:nvPr/>
        </p:nvSpPr>
        <p:spPr>
          <a:xfrm>
            <a:off x="69151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12" name="Oval 211"/>
          <p:cNvSpPr/>
          <p:nvPr/>
        </p:nvSpPr>
        <p:spPr>
          <a:xfrm>
            <a:off x="71247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TextBox 212"/>
          <p:cNvSpPr txBox="1"/>
          <p:nvPr/>
        </p:nvSpPr>
        <p:spPr>
          <a:xfrm>
            <a:off x="71247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14" name="Oval 213"/>
          <p:cNvSpPr/>
          <p:nvPr/>
        </p:nvSpPr>
        <p:spPr>
          <a:xfrm>
            <a:off x="73342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TextBox 214"/>
          <p:cNvSpPr txBox="1"/>
          <p:nvPr/>
        </p:nvSpPr>
        <p:spPr>
          <a:xfrm>
            <a:off x="73342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78192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Bridor</a:t>
            </a:r>
          </a:p>
        </p:txBody>
      </p:sp>
      <p:cxnSp>
        <p:nvCxnSpPr>
          <p:cNvPr id="217" name="Connector 216"/>
          <p:cNvCxnSpPr/>
          <p:nvPr/>
        </p:nvCxnSpPr>
        <p:spPr>
          <a:xfrm>
            <a:off x="80629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8" name="TextBox 217"/>
          <p:cNvSpPr txBox="1"/>
          <p:nvPr/>
        </p:nvSpPr>
        <p:spPr>
          <a:xfrm>
            <a:off x="778192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G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777240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777240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80629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82343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84058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778192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778192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6" name="Oval 225"/>
          <p:cNvSpPr/>
          <p:nvPr/>
        </p:nvSpPr>
        <p:spPr>
          <a:xfrm>
            <a:off x="80438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Freeform 226"/>
          <p:cNvSpPr/>
          <p:nvPr/>
        </p:nvSpPr>
        <p:spPr>
          <a:xfrm>
            <a:off x="8286750" y="3416749"/>
            <a:ext cx="85725" cy="237298"/>
          </a:xfrm>
          <a:custGeom>
            <a:avLst/>
            <a:gdLst/>
            <a:ahLst/>
            <a:cxnLst/>
            <a:rect l="l" t="t" r="r" b="b"/>
            <a:pathLst>
              <a:path w="9" h="26">
                <a:moveTo>
                  <a:pt x="0" y="26"/>
                </a:moveTo>
                <a:lnTo>
                  <a:pt x="0" y="0"/>
                </a:lnTo>
                <a:lnTo>
                  <a:pt x="5" y="0"/>
                </a:lnTo>
                <a:lnTo>
                  <a:pt x="9" y="1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Oval 227"/>
          <p:cNvSpPr/>
          <p:nvPr/>
        </p:nvSpPr>
        <p:spPr>
          <a:xfrm>
            <a:off x="815282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TextBox 228"/>
          <p:cNvSpPr txBox="1"/>
          <p:nvPr/>
        </p:nvSpPr>
        <p:spPr>
          <a:xfrm>
            <a:off x="804386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780097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North America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31" name="Oval 230"/>
          <p:cNvSpPr/>
          <p:nvPr/>
        </p:nvSpPr>
        <p:spPr>
          <a:xfrm>
            <a:off x="78867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78867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33" name="Oval 232"/>
          <p:cNvSpPr/>
          <p:nvPr/>
        </p:nvSpPr>
        <p:spPr>
          <a:xfrm>
            <a:off x="80962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80962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35" name="Oval 234"/>
          <p:cNvSpPr/>
          <p:nvPr/>
        </p:nvSpPr>
        <p:spPr>
          <a:xfrm>
            <a:off x="83058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83058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37" name="Oval 236"/>
          <p:cNvSpPr/>
          <p:nvPr/>
        </p:nvSpPr>
        <p:spPr>
          <a:xfrm>
            <a:off x="85153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85153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39" name="Oval 238"/>
          <p:cNvSpPr/>
          <p:nvPr/>
        </p:nvSpPr>
        <p:spPr>
          <a:xfrm>
            <a:off x="79914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79914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41" name="Oval 240"/>
          <p:cNvSpPr/>
          <p:nvPr/>
        </p:nvSpPr>
        <p:spPr>
          <a:xfrm>
            <a:off x="82010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82010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43" name="Oval 242"/>
          <p:cNvSpPr/>
          <p:nvPr/>
        </p:nvSpPr>
        <p:spPr>
          <a:xfrm>
            <a:off x="84105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4105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885825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Lantmännen Unibake</a:t>
            </a:r>
          </a:p>
        </p:txBody>
      </p:sp>
      <p:cxnSp>
        <p:nvCxnSpPr>
          <p:cNvPr id="246" name="Connector 245"/>
          <p:cNvCxnSpPr/>
          <p:nvPr/>
        </p:nvCxnSpPr>
        <p:spPr>
          <a:xfrm>
            <a:off x="91392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TextBox 246"/>
          <p:cNvSpPr txBox="1"/>
          <p:nvPr/>
        </p:nvSpPr>
        <p:spPr>
          <a:xfrm>
            <a:off x="885825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H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884872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49" name="TextBox 248"/>
          <p:cNvSpPr txBox="1"/>
          <p:nvPr/>
        </p:nvSpPr>
        <p:spPr>
          <a:xfrm>
            <a:off x="884872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50" name="Rectangle 249"/>
          <p:cNvSpPr/>
          <p:nvPr/>
        </p:nvSpPr>
        <p:spPr>
          <a:xfrm>
            <a:off x="91392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93106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94821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TextBox 252"/>
          <p:cNvSpPr txBox="1"/>
          <p:nvPr/>
        </p:nvSpPr>
        <p:spPr>
          <a:xfrm>
            <a:off x="885825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885825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5" name="Oval 254"/>
          <p:cNvSpPr/>
          <p:nvPr/>
        </p:nvSpPr>
        <p:spPr>
          <a:xfrm>
            <a:off x="91201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Freeform 255"/>
          <p:cNvSpPr/>
          <p:nvPr/>
        </p:nvSpPr>
        <p:spPr>
          <a:xfrm>
            <a:off x="9372600" y="3416749"/>
            <a:ext cx="47625" cy="237298"/>
          </a:xfrm>
          <a:custGeom>
            <a:avLst/>
            <a:gdLst/>
            <a:ahLst/>
            <a:cxnLst/>
            <a:rect l="l" t="t" r="r" b="b"/>
            <a:pathLst>
              <a:path w="5" h="26">
                <a:moveTo>
                  <a:pt x="0" y="26"/>
                </a:move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Oval 256"/>
          <p:cNvSpPr/>
          <p:nvPr/>
        </p:nvSpPr>
        <p:spPr>
          <a:xfrm>
            <a:off x="92291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912018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887730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60" name="Oval 259"/>
          <p:cNvSpPr/>
          <p:nvPr/>
        </p:nvSpPr>
        <p:spPr>
          <a:xfrm>
            <a:off x="8963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TextBox 260"/>
          <p:cNvSpPr txBox="1"/>
          <p:nvPr/>
        </p:nvSpPr>
        <p:spPr>
          <a:xfrm>
            <a:off x="89630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62" name="Oval 261"/>
          <p:cNvSpPr/>
          <p:nvPr/>
        </p:nvSpPr>
        <p:spPr>
          <a:xfrm>
            <a:off x="91725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TextBox 262"/>
          <p:cNvSpPr txBox="1"/>
          <p:nvPr/>
        </p:nvSpPr>
        <p:spPr>
          <a:xfrm>
            <a:off x="91725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64" name="Oval 263"/>
          <p:cNvSpPr/>
          <p:nvPr/>
        </p:nvSpPr>
        <p:spPr>
          <a:xfrm>
            <a:off x="93821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TextBox 264"/>
          <p:cNvSpPr txBox="1"/>
          <p:nvPr/>
        </p:nvSpPr>
        <p:spPr>
          <a:xfrm>
            <a:off x="93821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66" name="Oval 265"/>
          <p:cNvSpPr/>
          <p:nvPr/>
        </p:nvSpPr>
        <p:spPr>
          <a:xfrm>
            <a:off x="9591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95916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68" name="Oval 267"/>
          <p:cNvSpPr/>
          <p:nvPr/>
        </p:nvSpPr>
        <p:spPr>
          <a:xfrm>
            <a:off x="90678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TextBox 268"/>
          <p:cNvSpPr txBox="1"/>
          <p:nvPr/>
        </p:nvSpPr>
        <p:spPr>
          <a:xfrm>
            <a:off x="90678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70" name="Oval 269"/>
          <p:cNvSpPr/>
          <p:nvPr/>
        </p:nvSpPr>
        <p:spPr>
          <a:xfrm>
            <a:off x="92773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TextBox 270"/>
          <p:cNvSpPr txBox="1"/>
          <p:nvPr/>
        </p:nvSpPr>
        <p:spPr>
          <a:xfrm>
            <a:off x="92773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72" name="Oval 271"/>
          <p:cNvSpPr/>
          <p:nvPr/>
        </p:nvSpPr>
        <p:spPr>
          <a:xfrm>
            <a:off x="94869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TextBox 272"/>
          <p:cNvSpPr txBox="1"/>
          <p:nvPr/>
        </p:nvSpPr>
        <p:spPr>
          <a:xfrm>
            <a:off x="94869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99345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Flowers Foods</a:t>
            </a:r>
          </a:p>
        </p:txBody>
      </p:sp>
      <p:cxnSp>
        <p:nvCxnSpPr>
          <p:cNvPr id="275" name="Connector 274"/>
          <p:cNvCxnSpPr/>
          <p:nvPr/>
        </p:nvCxnSpPr>
        <p:spPr>
          <a:xfrm>
            <a:off x="102155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6" name="TextBox 275"/>
          <p:cNvSpPr txBox="1"/>
          <p:nvPr/>
        </p:nvSpPr>
        <p:spPr>
          <a:xfrm>
            <a:off x="99345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I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99250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99250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102155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103870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05584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99345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3" name="TextBox 282"/>
          <p:cNvSpPr txBox="1"/>
          <p:nvPr/>
        </p:nvSpPr>
        <p:spPr>
          <a:xfrm>
            <a:off x="99345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4" name="Oval 283"/>
          <p:cNvSpPr/>
          <p:nvPr/>
        </p:nvSpPr>
        <p:spPr>
          <a:xfrm>
            <a:off x="101965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Freeform 284"/>
          <p:cNvSpPr/>
          <p:nvPr/>
        </p:nvSpPr>
        <p:spPr>
          <a:xfrm>
            <a:off x="10439400" y="3416749"/>
            <a:ext cx="38100" cy="237298"/>
          </a:xfrm>
          <a:custGeom>
            <a:avLst/>
            <a:gdLst/>
            <a:ahLst/>
            <a:cxnLst/>
            <a:rect l="l" t="t" r="r" b="b"/>
            <a:pathLst>
              <a:path w="4" h="26">
                <a:moveTo>
                  <a:pt x="0" y="26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Oval 285"/>
          <p:cNvSpPr/>
          <p:nvPr/>
        </p:nvSpPr>
        <p:spPr>
          <a:xfrm>
            <a:off x="103054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TextBox 286"/>
          <p:cNvSpPr txBox="1"/>
          <p:nvPr/>
        </p:nvSpPr>
        <p:spPr>
          <a:xfrm>
            <a:off x="1019651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88" name="TextBox 287"/>
          <p:cNvSpPr txBox="1"/>
          <p:nvPr/>
        </p:nvSpPr>
        <p:spPr>
          <a:xfrm>
            <a:off x="99536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Latin America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89" name="Oval 288"/>
          <p:cNvSpPr/>
          <p:nvPr/>
        </p:nvSpPr>
        <p:spPr>
          <a:xfrm>
            <a:off x="100393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100393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91" name="Oval 290"/>
          <p:cNvSpPr/>
          <p:nvPr/>
        </p:nvSpPr>
        <p:spPr>
          <a:xfrm>
            <a:off x="102489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02489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93" name="Oval 292"/>
          <p:cNvSpPr/>
          <p:nvPr/>
        </p:nvSpPr>
        <p:spPr>
          <a:xfrm>
            <a:off x="104584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104584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95" name="Oval 294"/>
          <p:cNvSpPr/>
          <p:nvPr/>
        </p:nvSpPr>
        <p:spPr>
          <a:xfrm>
            <a:off x="106680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106680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97" name="Oval 296"/>
          <p:cNvSpPr/>
          <p:nvPr/>
        </p:nvSpPr>
        <p:spPr>
          <a:xfrm>
            <a:off x="101441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101441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99" name="Oval 298"/>
          <p:cNvSpPr/>
          <p:nvPr/>
        </p:nvSpPr>
        <p:spPr>
          <a:xfrm>
            <a:off x="103536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103536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01" name="Oval 300"/>
          <p:cNvSpPr/>
          <p:nvPr/>
        </p:nvSpPr>
        <p:spPr>
          <a:xfrm>
            <a:off x="105632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105632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03" name="TextBox 302"/>
          <p:cNvSpPr txBox="1"/>
          <p:nvPr/>
        </p:nvSpPr>
        <p:spPr>
          <a:xfrm>
            <a:off x="110109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Premier Foods</a:t>
            </a:r>
          </a:p>
        </p:txBody>
      </p:sp>
      <p:cxnSp>
        <p:nvCxnSpPr>
          <p:cNvPr id="304" name="Connector 303"/>
          <p:cNvCxnSpPr/>
          <p:nvPr/>
        </p:nvCxnSpPr>
        <p:spPr>
          <a:xfrm>
            <a:off x="112918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5" name="TextBox 304"/>
          <p:cNvSpPr txBox="1"/>
          <p:nvPr/>
        </p:nvSpPr>
        <p:spPr>
          <a:xfrm>
            <a:off x="110109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J</a:t>
            </a:r>
          </a:p>
        </p:txBody>
      </p:sp>
      <p:sp>
        <p:nvSpPr>
          <p:cNvPr id="306" name="TextBox 305"/>
          <p:cNvSpPr txBox="1"/>
          <p:nvPr/>
        </p:nvSpPr>
        <p:spPr>
          <a:xfrm>
            <a:off x="110013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307" name="TextBox 306"/>
          <p:cNvSpPr txBox="1"/>
          <p:nvPr/>
        </p:nvSpPr>
        <p:spPr>
          <a:xfrm>
            <a:off x="110013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308" name="Rectangle 307"/>
          <p:cNvSpPr/>
          <p:nvPr/>
        </p:nvSpPr>
        <p:spPr>
          <a:xfrm>
            <a:off x="112918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Rectangle 308"/>
          <p:cNvSpPr/>
          <p:nvPr/>
        </p:nvSpPr>
        <p:spPr>
          <a:xfrm>
            <a:off x="114633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Rectangle 309"/>
          <p:cNvSpPr/>
          <p:nvPr/>
        </p:nvSpPr>
        <p:spPr>
          <a:xfrm>
            <a:off x="116347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TextBox 310"/>
          <p:cNvSpPr txBox="1"/>
          <p:nvPr/>
        </p:nvSpPr>
        <p:spPr>
          <a:xfrm>
            <a:off x="110109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2" name="TextBox 311"/>
          <p:cNvSpPr txBox="1"/>
          <p:nvPr/>
        </p:nvSpPr>
        <p:spPr>
          <a:xfrm>
            <a:off x="110109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3" name="Oval 312"/>
          <p:cNvSpPr/>
          <p:nvPr/>
        </p:nvSpPr>
        <p:spPr>
          <a:xfrm>
            <a:off x="112728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Freeform 313"/>
          <p:cNvSpPr/>
          <p:nvPr/>
        </p:nvSpPr>
        <p:spPr>
          <a:xfrm>
            <a:off x="11525250" y="3416749"/>
            <a:ext cx="28575" cy="237298"/>
          </a:xfrm>
          <a:custGeom>
            <a:avLst/>
            <a:gdLst/>
            <a:ahLst/>
            <a:cxnLst/>
            <a:rect l="l" t="t" r="r" b="b"/>
            <a:pathLst>
              <a:path w="3" h="26">
                <a:moveTo>
                  <a:pt x="0" y="26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Oval 314"/>
          <p:cNvSpPr/>
          <p:nvPr/>
        </p:nvSpPr>
        <p:spPr>
          <a:xfrm>
            <a:off x="113818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1127283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7" name="TextBox 316"/>
          <p:cNvSpPr txBox="1"/>
          <p:nvPr/>
        </p:nvSpPr>
        <p:spPr>
          <a:xfrm>
            <a:off x="110299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Latin America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Middle East &amp; Africa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318" name="Oval 317"/>
          <p:cNvSpPr/>
          <p:nvPr/>
        </p:nvSpPr>
        <p:spPr>
          <a:xfrm>
            <a:off x="11115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TextBox 318"/>
          <p:cNvSpPr txBox="1"/>
          <p:nvPr/>
        </p:nvSpPr>
        <p:spPr>
          <a:xfrm>
            <a:off x="111156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20" name="Oval 319"/>
          <p:cNvSpPr/>
          <p:nvPr/>
        </p:nvSpPr>
        <p:spPr>
          <a:xfrm>
            <a:off x="113252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TextBox 320"/>
          <p:cNvSpPr txBox="1"/>
          <p:nvPr/>
        </p:nvSpPr>
        <p:spPr>
          <a:xfrm>
            <a:off x="113252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22" name="Oval 321"/>
          <p:cNvSpPr/>
          <p:nvPr/>
        </p:nvSpPr>
        <p:spPr>
          <a:xfrm>
            <a:off x="115347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3" name="TextBox 322"/>
          <p:cNvSpPr txBox="1"/>
          <p:nvPr/>
        </p:nvSpPr>
        <p:spPr>
          <a:xfrm>
            <a:off x="115347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24" name="Oval 323"/>
          <p:cNvSpPr/>
          <p:nvPr/>
        </p:nvSpPr>
        <p:spPr>
          <a:xfrm>
            <a:off x="117443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5" name="TextBox 324"/>
          <p:cNvSpPr txBox="1"/>
          <p:nvPr/>
        </p:nvSpPr>
        <p:spPr>
          <a:xfrm>
            <a:off x="117443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26" name="Oval 325"/>
          <p:cNvSpPr/>
          <p:nvPr/>
        </p:nvSpPr>
        <p:spPr>
          <a:xfrm>
            <a:off x="112204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TextBox 326"/>
          <p:cNvSpPr txBox="1"/>
          <p:nvPr/>
        </p:nvSpPr>
        <p:spPr>
          <a:xfrm>
            <a:off x="112204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28" name="Oval 327"/>
          <p:cNvSpPr/>
          <p:nvPr/>
        </p:nvSpPr>
        <p:spPr>
          <a:xfrm>
            <a:off x="114300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9" name="TextBox 328"/>
          <p:cNvSpPr txBox="1"/>
          <p:nvPr/>
        </p:nvSpPr>
        <p:spPr>
          <a:xfrm>
            <a:off x="114300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30" name="Oval 329"/>
          <p:cNvSpPr/>
          <p:nvPr/>
        </p:nvSpPr>
        <p:spPr>
          <a:xfrm>
            <a:off x="116395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1" name="TextBox 330"/>
          <p:cNvSpPr txBox="1"/>
          <p:nvPr/>
        </p:nvSpPr>
        <p:spPr>
          <a:xfrm>
            <a:off x="116395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32" name="TextBox 331"/>
          <p:cNvSpPr txBox="1"/>
          <p:nvPr/>
        </p:nvSpPr>
        <p:spPr>
          <a:xfrm>
            <a:off x="285750" y="5716715"/>
            <a:ext cx="1116806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Product Portfolio: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1383506" y="5744096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1535906" y="5716715"/>
            <a:ext cx="890588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2483644" y="5744096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2636044" y="5716715"/>
            <a:ext cx="997744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3690938" y="5744096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6C7A8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3843338" y="5716715"/>
            <a:ext cx="740569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offered</a:t>
            </a:r>
          </a:p>
        </p:txBody>
      </p:sp>
      <p:sp>
        <p:nvSpPr>
          <p:cNvPr id="339" name="TextBox 338"/>
          <p:cNvSpPr txBox="1"/>
          <p:nvPr/>
        </p:nvSpPr>
        <p:spPr>
          <a:xfrm>
            <a:off x="28575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008189"/>
                </a:solidFill>
                <a:latin typeface="Calibri"/>
              </a:rPr>
              <a:t>✔</a:t>
            </a:r>
          </a:p>
        </p:txBody>
      </p:sp>
      <p:sp>
        <p:nvSpPr>
          <p:cNvPr id="340" name="TextBox 339"/>
          <p:cNvSpPr txBox="1"/>
          <p:nvPr/>
        </p:nvSpPr>
        <p:spPr>
          <a:xfrm>
            <a:off x="475615" y="5890125"/>
            <a:ext cx="457200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served</a:t>
            </a:r>
          </a:p>
        </p:txBody>
      </p:sp>
      <p:sp>
        <p:nvSpPr>
          <p:cNvPr id="341" name="TextBox 340"/>
          <p:cNvSpPr txBox="1"/>
          <p:nvPr/>
        </p:nvSpPr>
        <p:spPr>
          <a:xfrm>
            <a:off x="913765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E44D3A"/>
                </a:solidFill>
                <a:latin typeface="Calibri"/>
              </a:rPr>
              <a:t>✘</a:t>
            </a:r>
          </a:p>
        </p:txBody>
      </p:sp>
      <p:sp>
        <p:nvSpPr>
          <p:cNvPr id="342" name="TextBox 341"/>
          <p:cNvSpPr txBox="1"/>
          <p:nvPr/>
        </p:nvSpPr>
        <p:spPr>
          <a:xfrm>
            <a:off x="1103630" y="5890125"/>
            <a:ext cx="683419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served</a:t>
            </a:r>
          </a:p>
        </p:txBody>
      </p:sp>
      <p:sp>
        <p:nvSpPr>
          <p:cNvPr id="343" name="TextBox 342"/>
          <p:cNvSpPr txBox="1"/>
          <p:nvPr/>
        </p:nvSpPr>
        <p:spPr>
          <a:xfrm>
            <a:off x="1939449" y="5890125"/>
            <a:ext cx="11834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Regional presence:</a:t>
            </a:r>
          </a:p>
        </p:txBody>
      </p:sp>
      <p:sp>
        <p:nvSpPr>
          <p:cNvPr id="344" name="TextBox 343"/>
          <p:cNvSpPr txBox="1"/>
          <p:nvPr/>
        </p:nvSpPr>
        <p:spPr>
          <a:xfrm>
            <a:off x="310388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345" name="TextBox 344"/>
          <p:cNvSpPr txBox="1"/>
          <p:nvPr/>
        </p:nvSpPr>
        <p:spPr>
          <a:xfrm>
            <a:off x="3293745" y="5890125"/>
            <a:ext cx="338138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High</a:t>
            </a:r>
          </a:p>
        </p:txBody>
      </p:sp>
      <p:sp>
        <p:nvSpPr>
          <p:cNvPr id="346" name="TextBox 345"/>
          <p:cNvSpPr txBox="1"/>
          <p:nvPr/>
        </p:nvSpPr>
        <p:spPr>
          <a:xfrm>
            <a:off x="3612832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</p:txBody>
      </p:sp>
      <p:sp>
        <p:nvSpPr>
          <p:cNvPr id="347" name="TextBox 346"/>
          <p:cNvSpPr txBox="1"/>
          <p:nvPr/>
        </p:nvSpPr>
        <p:spPr>
          <a:xfrm>
            <a:off x="3802698" y="5890125"/>
            <a:ext cx="576262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Medium</a:t>
            </a:r>
          </a:p>
        </p:txBody>
      </p:sp>
      <p:sp>
        <p:nvSpPr>
          <p:cNvPr id="348" name="TextBox 347"/>
          <p:cNvSpPr txBox="1"/>
          <p:nvPr/>
        </p:nvSpPr>
        <p:spPr>
          <a:xfrm>
            <a:off x="434086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349" name="TextBox 348"/>
          <p:cNvSpPr txBox="1"/>
          <p:nvPr/>
        </p:nvSpPr>
        <p:spPr>
          <a:xfrm>
            <a:off x="4530725" y="5890125"/>
            <a:ext cx="309562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Low</a:t>
            </a:r>
          </a:p>
        </p:txBody>
      </p:sp>
      <p:sp>
        <p:nvSpPr>
          <p:cNvPr id="350" name="Oval 349"/>
          <p:cNvSpPr/>
          <p:nvPr/>
        </p:nvSpPr>
        <p:spPr>
          <a:xfrm>
            <a:off x="285750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1" name="TextBox 350"/>
          <p:cNvSpPr txBox="1"/>
          <p:nvPr/>
        </p:nvSpPr>
        <p:spPr>
          <a:xfrm>
            <a:off x="285750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52" name="TextBox 351"/>
          <p:cNvSpPr txBox="1"/>
          <p:nvPr/>
        </p:nvSpPr>
        <p:spPr>
          <a:xfrm>
            <a:off x="495300" y="6072662"/>
            <a:ext cx="657225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Expansion</a:t>
            </a:r>
          </a:p>
        </p:txBody>
      </p:sp>
      <p:sp>
        <p:nvSpPr>
          <p:cNvPr id="353" name="Oval 352"/>
          <p:cNvSpPr/>
          <p:nvPr/>
        </p:nvSpPr>
        <p:spPr>
          <a:xfrm>
            <a:off x="124777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1247775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55" name="TextBox 354"/>
          <p:cNvSpPr txBox="1"/>
          <p:nvPr/>
        </p:nvSpPr>
        <p:spPr>
          <a:xfrm>
            <a:off x="1457325" y="6072662"/>
            <a:ext cx="1012031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R&amp;D Investment</a:t>
            </a:r>
          </a:p>
        </p:txBody>
      </p:sp>
      <p:sp>
        <p:nvSpPr>
          <p:cNvPr id="356" name="Oval 355"/>
          <p:cNvSpPr/>
          <p:nvPr/>
        </p:nvSpPr>
        <p:spPr>
          <a:xfrm>
            <a:off x="25646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7" name="TextBox 356"/>
          <p:cNvSpPr txBox="1"/>
          <p:nvPr/>
        </p:nvSpPr>
        <p:spPr>
          <a:xfrm>
            <a:off x="2564606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58" name="TextBox 357"/>
          <p:cNvSpPr txBox="1"/>
          <p:nvPr/>
        </p:nvSpPr>
        <p:spPr>
          <a:xfrm>
            <a:off x="2774156" y="6072662"/>
            <a:ext cx="800100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Financial Aid</a:t>
            </a:r>
          </a:p>
        </p:txBody>
      </p:sp>
      <p:sp>
        <p:nvSpPr>
          <p:cNvPr id="359" name="Oval 358"/>
          <p:cNvSpPr/>
          <p:nvPr/>
        </p:nvSpPr>
        <p:spPr>
          <a:xfrm>
            <a:off x="36695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3669506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61" name="TextBox 360"/>
          <p:cNvSpPr txBox="1"/>
          <p:nvPr/>
        </p:nvSpPr>
        <p:spPr>
          <a:xfrm>
            <a:off x="3879056" y="6072662"/>
            <a:ext cx="1328738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Development</a:t>
            </a:r>
          </a:p>
        </p:txBody>
      </p:sp>
      <p:sp>
        <p:nvSpPr>
          <p:cNvPr id="362" name="Oval 361"/>
          <p:cNvSpPr/>
          <p:nvPr/>
        </p:nvSpPr>
        <p:spPr>
          <a:xfrm>
            <a:off x="5303044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3" name="TextBox 362"/>
          <p:cNvSpPr txBox="1"/>
          <p:nvPr/>
        </p:nvSpPr>
        <p:spPr>
          <a:xfrm>
            <a:off x="5303044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64" name="TextBox 363"/>
          <p:cNvSpPr txBox="1"/>
          <p:nvPr/>
        </p:nvSpPr>
        <p:spPr>
          <a:xfrm>
            <a:off x="5512594" y="6072662"/>
            <a:ext cx="714375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Acquisition</a:t>
            </a:r>
          </a:p>
        </p:txBody>
      </p:sp>
      <p:sp>
        <p:nvSpPr>
          <p:cNvPr id="365" name="Oval 364"/>
          <p:cNvSpPr/>
          <p:nvPr/>
        </p:nvSpPr>
        <p:spPr>
          <a:xfrm>
            <a:off x="6322219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6322219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67" name="TextBox 366"/>
          <p:cNvSpPr txBox="1"/>
          <p:nvPr/>
        </p:nvSpPr>
        <p:spPr>
          <a:xfrm>
            <a:off x="6531769" y="6072662"/>
            <a:ext cx="964406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Launch</a:t>
            </a:r>
          </a:p>
        </p:txBody>
      </p:sp>
      <p:sp>
        <p:nvSpPr>
          <p:cNvPr id="368" name="Oval 367"/>
          <p:cNvSpPr/>
          <p:nvPr/>
        </p:nvSpPr>
        <p:spPr>
          <a:xfrm>
            <a:off x="759142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9" name="TextBox 368"/>
          <p:cNvSpPr txBox="1"/>
          <p:nvPr/>
        </p:nvSpPr>
        <p:spPr>
          <a:xfrm>
            <a:off x="7591425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70" name="TextBox 369"/>
          <p:cNvSpPr txBox="1"/>
          <p:nvPr/>
        </p:nvSpPr>
        <p:spPr>
          <a:xfrm>
            <a:off x="7800975" y="6072662"/>
            <a:ext cx="781050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Certification</a:t>
            </a:r>
          </a:p>
        </p:txBody>
      </p:sp>
      <p:sp>
        <p:nvSpPr>
          <p:cNvPr id="371" name="TextBox 370"/>
          <p:cNvSpPr txBox="1"/>
          <p:nvPr/>
        </p:nvSpPr>
        <p:spPr>
          <a:xfrm>
            <a:off x="285750" y="6273453"/>
            <a:ext cx="11620500" cy="155156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Note: Market Share indicates the contribution of target revenue in Market</a:t>
            </a:r>
          </a:p>
        </p:txBody>
      </p:sp>
      <p:sp>
        <p:nvSpPr>
          <p:cNvPr id="372" name="TextBox 371"/>
          <p:cNvSpPr txBox="1"/>
          <p:nvPr/>
        </p:nvSpPr>
        <p:spPr>
          <a:xfrm>
            <a:off x="285750" y="6428609"/>
            <a:ext cx="11620500" cy="155156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Revenue represents sales of the company from target market</a:t>
            </a:r>
          </a:p>
        </p:txBody>
      </p:sp>
      <p:sp>
        <p:nvSpPr>
          <p:cNvPr id="373" name="TextBox 37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4" name="Picture 3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2702524"/>
            <a:ext cx="128699" cy="187198"/>
          </a:xfrm>
          <a:prstGeom prst="rect">
            <a:avLst/>
          </a:prstGeom>
        </p:spPr>
      </p:pic>
      <p:pic>
        <p:nvPicPr>
          <p:cNvPr id="375" name="Picture 3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3031091"/>
            <a:ext cx="128699" cy="187198"/>
          </a:xfrm>
          <a:prstGeom prst="rect">
            <a:avLst/>
          </a:prstGeom>
        </p:spPr>
      </p:pic>
      <p:pic>
        <p:nvPicPr>
          <p:cNvPr id="376" name="Picture 3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2" y="3560448"/>
            <a:ext cx="128699" cy="187198"/>
          </a:xfrm>
          <a:prstGeom prst="rect">
            <a:avLst/>
          </a:prstGeom>
        </p:spPr>
      </p:pic>
      <p:pic>
        <p:nvPicPr>
          <p:cNvPr id="377" name="Picture 3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2702524"/>
            <a:ext cx="128699" cy="187198"/>
          </a:xfrm>
          <a:prstGeom prst="rect">
            <a:avLst/>
          </a:prstGeom>
        </p:spPr>
      </p:pic>
      <p:pic>
        <p:nvPicPr>
          <p:cNvPr id="378" name="Picture 3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031091"/>
            <a:ext cx="128699" cy="187198"/>
          </a:xfrm>
          <a:prstGeom prst="rect">
            <a:avLst/>
          </a:prstGeom>
        </p:spPr>
      </p:pic>
      <p:pic>
        <p:nvPicPr>
          <p:cNvPr id="379" name="Picture 3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560448"/>
            <a:ext cx="128699" cy="187198"/>
          </a:xfrm>
          <a:prstGeom prst="rect">
            <a:avLst/>
          </a:prstGeom>
        </p:spPr>
      </p:pic>
      <p:pic>
        <p:nvPicPr>
          <p:cNvPr id="380" name="Picture 3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2702524"/>
            <a:ext cx="128699" cy="187198"/>
          </a:xfrm>
          <a:prstGeom prst="rect">
            <a:avLst/>
          </a:prstGeom>
        </p:spPr>
      </p:pic>
      <p:pic>
        <p:nvPicPr>
          <p:cNvPr id="381" name="Picture 3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3031091"/>
            <a:ext cx="128699" cy="187198"/>
          </a:xfrm>
          <a:prstGeom prst="rect">
            <a:avLst/>
          </a:prstGeom>
        </p:spPr>
      </p:pic>
      <p:pic>
        <p:nvPicPr>
          <p:cNvPr id="382" name="Picture 3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2" y="3560448"/>
            <a:ext cx="128699" cy="187198"/>
          </a:xfrm>
          <a:prstGeom prst="rect">
            <a:avLst/>
          </a:prstGeom>
        </p:spPr>
      </p:pic>
      <p:pic>
        <p:nvPicPr>
          <p:cNvPr id="383" name="Picture 3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2702524"/>
            <a:ext cx="128699" cy="187198"/>
          </a:xfrm>
          <a:prstGeom prst="rect">
            <a:avLst/>
          </a:prstGeom>
        </p:spPr>
      </p:pic>
      <p:pic>
        <p:nvPicPr>
          <p:cNvPr id="384" name="Picture 3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031091"/>
            <a:ext cx="128699" cy="187198"/>
          </a:xfrm>
          <a:prstGeom prst="rect">
            <a:avLst/>
          </a:prstGeom>
        </p:spPr>
      </p:pic>
      <p:pic>
        <p:nvPicPr>
          <p:cNvPr id="385" name="Picture 3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560448"/>
            <a:ext cx="128699" cy="187198"/>
          </a:xfrm>
          <a:prstGeom prst="rect">
            <a:avLst/>
          </a:prstGeom>
        </p:spPr>
      </p:pic>
      <p:pic>
        <p:nvPicPr>
          <p:cNvPr id="386" name="Picture 3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2702524"/>
            <a:ext cx="128699" cy="187198"/>
          </a:xfrm>
          <a:prstGeom prst="rect">
            <a:avLst/>
          </a:prstGeom>
        </p:spPr>
      </p:pic>
      <p:pic>
        <p:nvPicPr>
          <p:cNvPr id="387" name="Picture 3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3031091"/>
            <a:ext cx="128699" cy="187198"/>
          </a:xfrm>
          <a:prstGeom prst="rect">
            <a:avLst/>
          </a:prstGeom>
        </p:spPr>
      </p:pic>
      <p:pic>
        <p:nvPicPr>
          <p:cNvPr id="388" name="Picture 3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2" y="3560448"/>
            <a:ext cx="128699" cy="187198"/>
          </a:xfrm>
          <a:prstGeom prst="rect">
            <a:avLst/>
          </a:prstGeom>
        </p:spPr>
      </p:pic>
      <p:pic>
        <p:nvPicPr>
          <p:cNvPr id="389" name="Picture 3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2702524"/>
            <a:ext cx="128699" cy="187198"/>
          </a:xfrm>
          <a:prstGeom prst="rect">
            <a:avLst/>
          </a:prstGeom>
        </p:spPr>
      </p:pic>
      <p:pic>
        <p:nvPicPr>
          <p:cNvPr id="390" name="Picture 3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031091"/>
            <a:ext cx="128699" cy="187198"/>
          </a:xfrm>
          <a:prstGeom prst="rect">
            <a:avLst/>
          </a:prstGeom>
        </p:spPr>
      </p:pic>
      <p:pic>
        <p:nvPicPr>
          <p:cNvPr id="391" name="Picture 3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560448"/>
            <a:ext cx="128699" cy="187198"/>
          </a:xfrm>
          <a:prstGeom prst="rect">
            <a:avLst/>
          </a:prstGeom>
        </p:spPr>
      </p:pic>
      <p:pic>
        <p:nvPicPr>
          <p:cNvPr id="392" name="Picture 3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2702524"/>
            <a:ext cx="128699" cy="187198"/>
          </a:xfrm>
          <a:prstGeom prst="rect">
            <a:avLst/>
          </a:prstGeom>
        </p:spPr>
      </p:pic>
      <p:pic>
        <p:nvPicPr>
          <p:cNvPr id="393" name="Picture 3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3031091"/>
            <a:ext cx="128699" cy="187198"/>
          </a:xfrm>
          <a:prstGeom prst="rect">
            <a:avLst/>
          </a:prstGeom>
        </p:spPr>
      </p:pic>
      <p:pic>
        <p:nvPicPr>
          <p:cNvPr id="394" name="Picture 3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2" y="3560448"/>
            <a:ext cx="128699" cy="187198"/>
          </a:xfrm>
          <a:prstGeom prst="rect">
            <a:avLst/>
          </a:prstGeom>
        </p:spPr>
      </p:pic>
      <p:pic>
        <p:nvPicPr>
          <p:cNvPr id="395" name="Picture 3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2702524"/>
            <a:ext cx="128699" cy="187198"/>
          </a:xfrm>
          <a:prstGeom prst="rect">
            <a:avLst/>
          </a:prstGeom>
        </p:spPr>
      </p:pic>
      <p:pic>
        <p:nvPicPr>
          <p:cNvPr id="396" name="Picture 3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031091"/>
            <a:ext cx="128699" cy="187198"/>
          </a:xfrm>
          <a:prstGeom prst="rect">
            <a:avLst/>
          </a:prstGeom>
        </p:spPr>
      </p:pic>
      <p:pic>
        <p:nvPicPr>
          <p:cNvPr id="397" name="Picture 3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560448"/>
            <a:ext cx="128699" cy="187198"/>
          </a:xfrm>
          <a:prstGeom prst="rect">
            <a:avLst/>
          </a:prstGeom>
        </p:spPr>
      </p:pic>
      <p:pic>
        <p:nvPicPr>
          <p:cNvPr id="398" name="Picture 3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2702524"/>
            <a:ext cx="128699" cy="187198"/>
          </a:xfrm>
          <a:prstGeom prst="rect">
            <a:avLst/>
          </a:prstGeom>
        </p:spPr>
      </p:pic>
      <p:pic>
        <p:nvPicPr>
          <p:cNvPr id="399" name="Picture 3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3031091"/>
            <a:ext cx="128699" cy="187198"/>
          </a:xfrm>
          <a:prstGeom prst="rect">
            <a:avLst/>
          </a:prstGeom>
        </p:spPr>
      </p:pic>
      <p:pic>
        <p:nvPicPr>
          <p:cNvPr id="400" name="Picture 3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2" y="3560448"/>
            <a:ext cx="128699" cy="187198"/>
          </a:xfrm>
          <a:prstGeom prst="rect">
            <a:avLst/>
          </a:prstGeom>
        </p:spPr>
      </p:pic>
      <p:pic>
        <p:nvPicPr>
          <p:cNvPr id="401" name="Picture 4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2702524"/>
            <a:ext cx="128699" cy="187198"/>
          </a:xfrm>
          <a:prstGeom prst="rect">
            <a:avLst/>
          </a:prstGeom>
        </p:spPr>
      </p:pic>
      <p:pic>
        <p:nvPicPr>
          <p:cNvPr id="402" name="Picture 4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031091"/>
            <a:ext cx="128699" cy="187198"/>
          </a:xfrm>
          <a:prstGeom prst="rect">
            <a:avLst/>
          </a:prstGeom>
        </p:spPr>
      </p:pic>
      <p:pic>
        <p:nvPicPr>
          <p:cNvPr id="403" name="Picture 4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560448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5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Share by Leading Players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Advice for Vendors &amp; Suppliers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Value Share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Share 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Share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Who Shaped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Advice for Market Vendors / Suppliers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Strategic advice for vendors and suppliers on pricing, product, geography, channel and competitive risk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Strategic advice for vendors and suppliers where to compete, how to price, and which risks to manage across the Packaged Muffins Market.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76225" y="1439806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&amp; Margin Strategy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76225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763656"/>
            <a:ext cx="5591175" cy="2115377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191250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324600" y="1439806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Product &amp; Innovation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324600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324600" y="1763656"/>
            <a:ext cx="5591175" cy="2115377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4132227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Geographic &amp; Channel Expansion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456077"/>
            <a:ext cx="5591175" cy="202410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Expand selectively into under-penetrated regions where the leaders are thin, rather than head-on in saturated markets.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Balance retail, hospital/clinic and online channels online is the fastest-shifting route to end customers.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Build reliable distribution and logistics partnerships to convert demand into fulfilled volume.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6191250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324600" y="4132227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&amp; Risk Positioning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324600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6324600" y="4456077"/>
            <a:ext cx="5591175" cy="202410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1773181"/>
            <a:ext cx="323538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Hold price discipline: with the top three players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60765" y="176295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35875" y="1773181"/>
            <a:ext cx="1859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avoid value-destructive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948441"/>
            <a:ext cx="36467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discounting compete on mix and service, not headline price.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176279"/>
            <a:ext cx="55721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toward higher-value formulations (e.g. 'Sweet muffins') to lift blended ASP and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2351539"/>
            <a:ext cx="21896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defend margin as input costs move.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2579377"/>
            <a:ext cx="48162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Set transparent, corridor-based regional pricing to limit grey-market arbitrage.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24600" y="1773181"/>
            <a:ext cx="54954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R&amp;D in the fastest-growing formulations a differentiated portfolio is the clearest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24600" y="1948441"/>
            <a:ext cx="16605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route to out-growing the ~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4254" y="193821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109363" y="1948441"/>
            <a:ext cx="9057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CAGR.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24600" y="2176279"/>
            <a:ext cx="53839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Pursue certification and clinical validation to build switching costs and support premium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24600" y="2351539"/>
            <a:ext cx="7730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positioning.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24600" y="2579377"/>
            <a:ext cx="39314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Localise formats and pack sizes to each channel and geography.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24600" y="4465602"/>
            <a:ext cx="3038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 relentlessly against 'Grupo Bimbo' (~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12030" y="4455378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487139" y="4465602"/>
            <a:ext cx="2219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 match on service and lead on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24600" y="4640861"/>
            <a:ext cx="15603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innovation to take share.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24600" y="4868699"/>
            <a:ext cx="54555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to cut dependence on a few large accounts and single-region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24600" y="5043959"/>
            <a:ext cx="660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exposure.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24600" y="5271797"/>
            <a:ext cx="52301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Stress-test for regulatory, currency and supply shocks; keep flexible capacity and dual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24600" y="5447057"/>
            <a:ext cx="6159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sourcing.</a:t>
            </a:r>
          </a:p>
        </p:txBody>
      </p:sp>
    </p:spTree>
  </p:cSld>
  <p:clrMapOvr>
    <a:masterClrMapping/>
  </p:clrMapOvr>
</p:sld>
</file>

<file path=ppt/slides/slide5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Company Value Share (Global)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company in the global market, 2025, highlighting leadership and the long tail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Target market value share by key companies leadership, concentration and how the competitive mix shifts by region.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54380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73533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 by Key Company (US$ Mn, 2026)</a:t>
            </a:r>
          </a:p>
        </p:txBody>
      </p:sp>
      <p:graphicFrame>
        <p:nvGraphicFramePr>
          <p:cNvPr id="14" name="Chart 13"/>
          <p:cNvGraphicFramePr>
            <a:graphicFrameLocks noGrp="1"/>
          </p:cNvGraphicFramePr>
          <p:nvPr/>
        </p:nvGraphicFramePr>
        <p:xfrm>
          <a:off x="238125" y="1639831"/>
          <a:ext cx="7353300" cy="4877658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049780" y="3878635"/>
            <a:ext cx="15240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7800975" y="1354081"/>
            <a:ext cx="4248150" cy="5220558"/>
          </a:xfrm>
          <a:prstGeom prst="roundRect">
            <a:avLst>
              <a:gd name="adj" fmla="val 17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7934325" y="1439806"/>
            <a:ext cx="39814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7934325" y="1677931"/>
            <a:ext cx="39814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934325" y="1763656"/>
            <a:ext cx="3981450" cy="4734783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33173" y="3678610"/>
            <a:ext cx="523875" cy="762000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634865" y="3914616"/>
            <a:ext cx="430029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100% =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40344" y="4091735"/>
            <a:ext cx="109510" cy="15928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2682868" y="4100056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934325" y="1773181"/>
            <a:ext cx="35731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Packaged Muffins Market is moderately consolidated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934325" y="1948441"/>
            <a:ext cx="22612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globally: the top three players hold ~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44723" y="1938217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319833" y="1948441"/>
            <a:ext cx="15521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value, while a long tail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934325" y="2123701"/>
            <a:ext cx="1507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('Others') accounts for ~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0797" y="21134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565907" y="2123701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934325" y="2351539"/>
            <a:ext cx="17617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'Grupo Bimbo' leads with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45244" y="2341315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820353" y="2351539"/>
            <a:ext cx="18552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ahead of 'McKee Foods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934325" y="2526799"/>
            <a:ext cx="108343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Corporation' at ~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66910" y="251657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142019" y="2526799"/>
            <a:ext cx="26317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two set the competitive benchmark for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934325" y="2702058"/>
            <a:ext cx="14414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pricing and innovation.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934325" y="2929896"/>
            <a:ext cx="23870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Tier 1 players collectively command 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70520" y="2919673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445630" y="2929896"/>
            <a:ext cx="9248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market,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934325" y="3105156"/>
            <a:ext cx="24977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underlining meaningful barriers to entry.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934325" y="3332994"/>
            <a:ext cx="37325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Regional share differs from the global picture use the region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934325" y="3508254"/>
            <a:ext cx="34447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selector to see how leadership shifts across geographies.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934325" y="3736092"/>
            <a:ext cx="37003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gains globally are being driven by capacity expansion,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934325" y="3911352"/>
            <a:ext cx="36592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development and selective M&amp;A among the leading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934325" y="4086612"/>
            <a:ext cx="5403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players.</a:t>
            </a:r>
          </a:p>
        </p:txBody>
      </p:sp>
      <p:sp>
        <p:nvSpPr>
          <p:cNvPr id="48" name="lockshield_14"/>
          <p:cNvSpPr/>
          <p:nvPr/>
        </p:nvSpPr>
        <p:spPr>
          <a:xfrm>
            <a:off x="238125" y="1639831"/>
            <a:ext cx="7353300" cy="4877658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Company Share by Product Type (Top 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company value share within each leading product type, highlighting where leadership differs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leading product types where each player concentrates, and how leadership varies by formulation.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12432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21957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421957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19" name="Rectangle 18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214461" y="2619895"/>
            <a:ext cx="523875" cy="762000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276225" y="5022340"/>
            <a:ext cx="25379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Sweet muffins: 'Grupo Bimbo' leads at ~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763320" y="5012116"/>
            <a:ext cx="134549" cy="195707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2938429" y="5022340"/>
            <a:ext cx="24740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'Rich Products Corporation' (~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361627" y="501211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5536736" y="5022340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871406" y="501211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046515" y="5022340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01971" y="5012116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8777080" y="502234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5250177"/>
            <a:ext cx="2760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Savoury muffins: 'Hostess Brands' leads at ~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5818" y="5239954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3160927" y="5250177"/>
            <a:ext cx="2460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'McKee Foods Corporation' (~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70362" y="5239954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745471" y="5250177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080140" y="5239954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255250" y="5250177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810706" y="5239954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985815" y="5250177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76225" y="5478015"/>
            <a:ext cx="89085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Leadership shifts across formulations a strong position in one product type does not carry over to the others, so product-level targeting is essential.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705853"/>
            <a:ext cx="72189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44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lockshield_16"/>
          <p:cNvSpPr/>
          <p:nvPr/>
        </p:nvSpPr>
        <p:spPr>
          <a:xfrm>
            <a:off x="421957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Company Share by Region (Top 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Company value share within the largest regions, highlighting where leadership shifts across geographies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largest regions where each player concentrates, and how leadership varies by geography.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12432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21957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421957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8105775" y="1299320"/>
            <a:ext cx="39433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201025" y="1356470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8201025" y="1585070"/>
          <a:ext cx="3752850" cy="2869751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14461" y="2619895"/>
            <a:ext cx="523875" cy="7620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35916" y="2619895"/>
            <a:ext cx="523875" cy="76200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6225" y="5022340"/>
            <a:ext cx="25607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North America: 'Grupo Bimbo' leads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86140" y="501211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961249" y="5022340"/>
            <a:ext cx="2460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'McKee Foods Corporation' (~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370684" y="5012116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545793" y="5022340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880463" y="5012116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055572" y="5022340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11028" y="501211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786137" y="502234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250177"/>
            <a:ext cx="21146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Europe: 'Grupo Bimbo' leads at ~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340003" y="5239954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2515112" y="5250177"/>
            <a:ext cx="24740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'Rich Products Corporation' (~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938310" y="5239954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5113420" y="5250177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448089" y="5239954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6623198" y="5250177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78654" y="5239954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353763" y="5250177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78015"/>
            <a:ext cx="29752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South Asia &amp; Pacific: 'Hostess Brands' leads at ~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200614" y="5467792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375723" y="5478015"/>
            <a:ext cx="2460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'McKee Foods Corporation' (~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785158" y="5467792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960267" y="5478015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294937" y="5467792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7470046" y="5478015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25502" y="5467792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200611" y="5478015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5705853"/>
            <a:ext cx="97058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Leadership is not uniform across geographies a strong position in one region does not carry over to the others, so region-level go-to-market planning is essential.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933691"/>
            <a:ext cx="72189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lockshield_16"/>
          <p:cNvSpPr/>
          <p:nvPr/>
        </p:nvSpPr>
        <p:spPr>
          <a:xfrm>
            <a:off x="421957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19"/>
          <p:cNvSpPr/>
          <p:nvPr/>
        </p:nvSpPr>
        <p:spPr>
          <a:xfrm>
            <a:off x="8201025" y="1585070"/>
            <a:ext cx="37528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Who Shaped Growth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Ranking of the players that shaped growth, by value share, growth role and signature move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970754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A framework to identify the companies that most influenced annual Packaged Muffins Market growth, ranked by growth-shaping impact.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619500" y="1189798"/>
            <a:ext cx="4953000" cy="419835"/>
          </a:xfrm>
          <a:prstGeom prst="roundRect">
            <a:avLst>
              <a:gd name="adj" fmla="val 1538"/>
            </a:avLst>
          </a:prstGeom>
          <a:solidFill>
            <a:srgbClr val="F4F8FB"/>
          </a:solidFill>
          <a:ln w="12700">
            <a:solidFill>
              <a:srgbClr val="CFE0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733800" y="1226305"/>
            <a:ext cx="47244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RANKED BY GROWTH-SHAPING IMPACT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33800" y="1399716"/>
            <a:ext cx="47244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Ranked by overall contribution to category growth, not share alone.</a:t>
            </a:r>
          </a:p>
        </p:txBody>
      </p:sp>
      <p:cxnSp>
        <p:nvCxnSpPr>
          <p:cNvPr id="14" name="Connector 13"/>
          <p:cNvCxnSpPr/>
          <p:nvPr/>
        </p:nvCxnSpPr>
        <p:spPr>
          <a:xfrm>
            <a:off x="428625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8743950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523875" y="1792170"/>
            <a:ext cx="11106150" cy="0"/>
          </a:xfrm>
          <a:prstGeom prst="line">
            <a:avLst/>
          </a:prstGeom>
          <a:ln w="25400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16"/>
          <p:cNvSpPr/>
          <p:nvPr/>
        </p:nvSpPr>
        <p:spPr>
          <a:xfrm>
            <a:off x="11630025" y="1728282"/>
            <a:ext cx="171450" cy="127776"/>
          </a:xfrm>
          <a:custGeom>
            <a:avLst/>
            <a:gdLst/>
            <a:ahLst/>
            <a:cxnLst/>
            <a:rect l="l" t="t" r="r" b="b"/>
            <a:pathLst>
              <a:path w="18" h="14">
                <a:moveTo>
                  <a:pt x="0" y="0"/>
                </a:moveTo>
                <a:lnTo>
                  <a:pt x="18" y="7"/>
                </a:lnTo>
                <a:lnTo>
                  <a:pt x="0" y="14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1152525" y="1655267"/>
            <a:ext cx="285750" cy="273805"/>
          </a:xfrm>
          <a:prstGeom prst="ellipse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11525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428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ounded Rectangle 20"/>
          <p:cNvSpPr/>
          <p:nvPr/>
        </p:nvSpPr>
        <p:spPr>
          <a:xfrm>
            <a:off x="1428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Oval 21"/>
          <p:cNvSpPr/>
          <p:nvPr/>
        </p:nvSpPr>
        <p:spPr>
          <a:xfrm>
            <a:off x="2571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571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🏆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238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Grupo Bimbo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286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2381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2381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4286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4286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Market leader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2381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381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286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286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Expanded reach across its core segment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381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381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286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286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New launch</a:t>
            </a:r>
          </a:p>
        </p:txBody>
      </p:sp>
      <p:sp>
        <p:nvSpPr>
          <p:cNvPr id="39" name="Oval 38"/>
          <p:cNvSpPr/>
          <p:nvPr/>
        </p:nvSpPr>
        <p:spPr>
          <a:xfrm>
            <a:off x="3552825" y="1655267"/>
            <a:ext cx="285750" cy="273805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35528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25431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ounded Rectangle 41"/>
          <p:cNvSpPr/>
          <p:nvPr/>
        </p:nvSpPr>
        <p:spPr>
          <a:xfrm>
            <a:off x="25431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35313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26574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26574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9241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McKee Foods Corporation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6384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289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26384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26384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8289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8289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Portfolio expander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26384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6384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8289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289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Drove new customer adoption</a:t>
            </a:r>
          </a:p>
        </p:txBody>
      </p:sp>
      <p:cxnSp>
        <p:nvCxnSpPr>
          <p:cNvPr id="56" name="Connector 55"/>
          <p:cNvCxnSpPr/>
          <p:nvPr/>
        </p:nvCxnSpPr>
        <p:spPr>
          <a:xfrm>
            <a:off x="26384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26384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8289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8289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expansion</a:t>
            </a:r>
          </a:p>
        </p:txBody>
      </p:sp>
      <p:sp>
        <p:nvSpPr>
          <p:cNvPr id="60" name="Oval 59"/>
          <p:cNvSpPr/>
          <p:nvPr/>
        </p:nvSpPr>
        <p:spPr>
          <a:xfrm>
            <a:off x="5953125" y="1655267"/>
            <a:ext cx="285750" cy="273805"/>
          </a:xfrm>
          <a:prstGeom prst="ellipse">
            <a:avLst/>
          </a:prstGeom>
          <a:solidFill>
            <a:srgbClr val="69B1E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59531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49434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ounded Rectangle 62"/>
          <p:cNvSpPr/>
          <p:nvPr/>
        </p:nvSpPr>
        <p:spPr>
          <a:xfrm>
            <a:off x="49434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9B1E0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50577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50577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👥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53244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Hostess Brands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0387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2292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50387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50387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2292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292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69B1E0"/>
                </a:solidFill>
                <a:latin typeface="Calibri"/>
              </a:rPr>
              <a:t>Access builder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50387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TextBox 73"/>
          <p:cNvSpPr txBox="1"/>
          <p:nvPr/>
        </p:nvSpPr>
        <p:spPr>
          <a:xfrm>
            <a:off x="50387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52292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52292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Won through wider channel availability</a:t>
            </a:r>
          </a:p>
        </p:txBody>
      </p:sp>
      <p:cxnSp>
        <p:nvCxnSpPr>
          <p:cNvPr id="77" name="Connector 76"/>
          <p:cNvCxnSpPr/>
          <p:nvPr/>
        </p:nvCxnSpPr>
        <p:spPr>
          <a:xfrm>
            <a:off x="50387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50387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292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2292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Pricing strategy</a:t>
            </a:r>
          </a:p>
        </p:txBody>
      </p:sp>
      <p:sp>
        <p:nvSpPr>
          <p:cNvPr id="81" name="Oval 80"/>
          <p:cNvSpPr/>
          <p:nvPr/>
        </p:nvSpPr>
        <p:spPr>
          <a:xfrm>
            <a:off x="8353425" y="1655267"/>
            <a:ext cx="285750" cy="27380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3534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83" name="Rounded Rectangle 82"/>
          <p:cNvSpPr/>
          <p:nvPr/>
        </p:nvSpPr>
        <p:spPr>
          <a:xfrm>
            <a:off x="73437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ounded Rectangle 83"/>
          <p:cNvSpPr/>
          <p:nvPr/>
        </p:nvSpPr>
        <p:spPr>
          <a:xfrm>
            <a:off x="73437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F3CC2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Oval 84"/>
          <p:cNvSpPr/>
          <p:nvPr/>
        </p:nvSpPr>
        <p:spPr>
          <a:xfrm>
            <a:off x="74580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74580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💎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7247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Rich Products Corporation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4390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76295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74390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74390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295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6295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6F3CC2"/>
                </a:solidFill>
                <a:latin typeface="Calibri"/>
              </a:rPr>
              <a:t>Premiumiser</a:t>
            </a:r>
          </a:p>
        </p:txBody>
      </p:sp>
      <p:cxnSp>
        <p:nvCxnSpPr>
          <p:cNvPr id="94" name="Connector 93"/>
          <p:cNvCxnSpPr/>
          <p:nvPr/>
        </p:nvCxnSpPr>
        <p:spPr>
          <a:xfrm>
            <a:off x="74390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TextBox 94"/>
          <p:cNvSpPr txBox="1"/>
          <p:nvPr/>
        </p:nvSpPr>
        <p:spPr>
          <a:xfrm>
            <a:off x="74390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76295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6295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Supported premium SKU growth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74390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74390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76295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76295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Portfolio/brand investment</a:t>
            </a:r>
          </a:p>
        </p:txBody>
      </p:sp>
      <p:sp>
        <p:nvSpPr>
          <p:cNvPr id="102" name="Oval 101"/>
          <p:cNvSpPr/>
          <p:nvPr/>
        </p:nvSpPr>
        <p:spPr>
          <a:xfrm>
            <a:off x="10753725" y="1655267"/>
            <a:ext cx="285750" cy="273805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107537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104" name="Rounded Rectangle 103"/>
          <p:cNvSpPr/>
          <p:nvPr/>
        </p:nvSpPr>
        <p:spPr>
          <a:xfrm>
            <a:off x="97440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ounded Rectangle 104"/>
          <p:cNvSpPr/>
          <p:nvPr/>
        </p:nvSpPr>
        <p:spPr>
          <a:xfrm>
            <a:off x="97440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86F00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Oval 105"/>
          <p:cNvSpPr/>
          <p:nvPr/>
        </p:nvSpPr>
        <p:spPr>
          <a:xfrm>
            <a:off x="98583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98583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⚡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01250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ARYZTA / Aspire Bakeries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8393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0298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111" name="Connector 110"/>
          <p:cNvCxnSpPr/>
          <p:nvPr/>
        </p:nvCxnSpPr>
        <p:spPr>
          <a:xfrm>
            <a:off x="98393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TextBox 111"/>
          <p:cNvSpPr txBox="1"/>
          <p:nvPr/>
        </p:nvSpPr>
        <p:spPr>
          <a:xfrm>
            <a:off x="98393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0298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00298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Disruptor</a:t>
            </a:r>
          </a:p>
        </p:txBody>
      </p:sp>
      <p:cxnSp>
        <p:nvCxnSpPr>
          <p:cNvPr id="115" name="Connector 114"/>
          <p:cNvCxnSpPr/>
          <p:nvPr/>
        </p:nvCxnSpPr>
        <p:spPr>
          <a:xfrm>
            <a:off x="98393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6" name="TextBox 115"/>
          <p:cNvSpPr txBox="1"/>
          <p:nvPr/>
        </p:nvSpPr>
        <p:spPr>
          <a:xfrm>
            <a:off x="98393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00298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100298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Strengthened end-user and specifier pull</a:t>
            </a:r>
          </a:p>
        </p:txBody>
      </p:sp>
      <p:cxnSp>
        <p:nvCxnSpPr>
          <p:cNvPr id="119" name="Connector 118"/>
          <p:cNvCxnSpPr/>
          <p:nvPr/>
        </p:nvCxnSpPr>
        <p:spPr>
          <a:xfrm>
            <a:off x="98393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TextBox 119"/>
          <p:cNvSpPr txBox="1"/>
          <p:nvPr/>
        </p:nvSpPr>
        <p:spPr>
          <a:xfrm>
            <a:off x="98393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00298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00298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Partnership / acquisition</a:t>
            </a:r>
          </a:p>
        </p:txBody>
      </p:sp>
      <p:sp>
        <p:nvSpPr>
          <p:cNvPr id="123" name="Rounded Rectangle 122"/>
          <p:cNvSpPr/>
          <p:nvPr/>
        </p:nvSpPr>
        <p:spPr>
          <a:xfrm>
            <a:off x="142875" y="4238166"/>
            <a:ext cx="7886700" cy="2391234"/>
          </a:xfrm>
          <a:prstGeom prst="roundRect">
            <a:avLst>
              <a:gd name="adj" fmla="val 1086"/>
            </a:avLst>
          </a:prstGeom>
          <a:solidFill>
            <a:srgbClr val="F7FAFC"/>
          </a:solidFill>
          <a:ln w="12700">
            <a:solidFill>
              <a:srgbClr val="DCE6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142875" y="4311180"/>
            <a:ext cx="78867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HOW TO DECIDE WHO SHAPED GROWTH</a:t>
            </a:r>
          </a:p>
        </p:txBody>
      </p:sp>
      <p:sp>
        <p:nvSpPr>
          <p:cNvPr id="125" name="Oval 124"/>
          <p:cNvSpPr/>
          <p:nvPr/>
        </p:nvSpPr>
        <p:spPr>
          <a:xfrm>
            <a:off x="81534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1534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27622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E72AE"/>
                </a:solidFill>
                <a:latin typeface="Calibri"/>
              </a:rPr>
              <a:t>1. SHARE GAIN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7622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Company gained value or volume share</a:t>
            </a:r>
          </a:p>
        </p:txBody>
      </p:sp>
      <p:sp>
        <p:nvSpPr>
          <p:cNvPr id="129" name="Rounded Rectangle 128"/>
          <p:cNvSpPr/>
          <p:nvPr/>
        </p:nvSpPr>
        <p:spPr>
          <a:xfrm>
            <a:off x="52006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52006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75450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2" name="Oval 131"/>
          <p:cNvSpPr/>
          <p:nvPr/>
        </p:nvSpPr>
        <p:spPr>
          <a:xfrm>
            <a:off x="235077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235077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🏪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81165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35313"/>
                </a:solidFill>
                <a:latin typeface="Calibri"/>
              </a:rPr>
              <a:t>2. DISTRIBUTION EXPANSION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81165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Expanded channel, retail or e-commerce reach</a:t>
            </a:r>
          </a:p>
        </p:txBody>
      </p:sp>
      <p:sp>
        <p:nvSpPr>
          <p:cNvPr id="136" name="Rounded Rectangle 135"/>
          <p:cNvSpPr/>
          <p:nvPr/>
        </p:nvSpPr>
        <p:spPr>
          <a:xfrm>
            <a:off x="205549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205549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A35313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28993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9" name="Oval 138"/>
          <p:cNvSpPr/>
          <p:nvPr/>
        </p:nvSpPr>
        <p:spPr>
          <a:xfrm>
            <a:off x="388620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388620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💡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334708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9B1E0"/>
                </a:solidFill>
                <a:latin typeface="Calibri"/>
              </a:rPr>
              <a:t>3. INNOVATION / LAUNCHES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34708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New SKUs, pack sizes or product improvements</a:t>
            </a:r>
          </a:p>
        </p:txBody>
      </p:sp>
      <p:sp>
        <p:nvSpPr>
          <p:cNvPr id="143" name="Rounded Rectangle 142"/>
          <p:cNvSpPr/>
          <p:nvPr/>
        </p:nvSpPr>
        <p:spPr>
          <a:xfrm>
            <a:off x="359092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359092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9B1E0"/>
                </a:solidFill>
                <a:latin typeface="Calibri"/>
              </a:rPr>
              <a:t> 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482536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46" name="Oval 145"/>
          <p:cNvSpPr/>
          <p:nvPr/>
        </p:nvSpPr>
        <p:spPr>
          <a:xfrm>
            <a:off x="542163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TextBox 146"/>
          <p:cNvSpPr txBox="1"/>
          <p:nvPr/>
        </p:nvSpPr>
        <p:spPr>
          <a:xfrm>
            <a:off x="542163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🤝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88251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F3CC2"/>
                </a:solidFill>
                <a:latin typeface="Calibri"/>
              </a:rPr>
              <a:t>4. BUYER INFLUENCE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488251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Stronger specifier, channel or end-user pull</a:t>
            </a:r>
          </a:p>
        </p:txBody>
      </p:sp>
      <p:sp>
        <p:nvSpPr>
          <p:cNvPr id="150" name="Rounded Rectangle 149"/>
          <p:cNvSpPr/>
          <p:nvPr/>
        </p:nvSpPr>
        <p:spPr>
          <a:xfrm>
            <a:off x="512635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TextBox 150"/>
          <p:cNvSpPr txBox="1"/>
          <p:nvPr/>
        </p:nvSpPr>
        <p:spPr>
          <a:xfrm>
            <a:off x="512635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636079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53" name="Oval 152"/>
          <p:cNvSpPr/>
          <p:nvPr/>
        </p:nvSpPr>
        <p:spPr>
          <a:xfrm>
            <a:off x="695706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5706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💲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641794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86F00"/>
                </a:solidFill>
                <a:latin typeface="Calibri"/>
              </a:rPr>
              <a:t>5. BRAND / PRICING POWER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794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Premiumisation, positioning or pricing execution</a:t>
            </a:r>
          </a:p>
        </p:txBody>
      </p:sp>
      <p:sp>
        <p:nvSpPr>
          <p:cNvPr id="157" name="Rounded Rectangle 156"/>
          <p:cNvSpPr/>
          <p:nvPr/>
        </p:nvSpPr>
        <p:spPr>
          <a:xfrm>
            <a:off x="666178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666178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A86F00"/>
                </a:solidFill>
                <a:latin typeface="Calibri"/>
              </a:rPr>
              <a:t> </a:t>
            </a:r>
          </a:p>
        </p:txBody>
      </p:sp>
      <p:sp>
        <p:nvSpPr>
          <p:cNvPr id="159" name="Rounded Rectangle 158"/>
          <p:cNvSpPr/>
          <p:nvPr/>
        </p:nvSpPr>
        <p:spPr>
          <a:xfrm>
            <a:off x="8191500" y="4238166"/>
            <a:ext cx="3857625" cy="2391234"/>
          </a:xfrm>
          <a:prstGeom prst="roundRect">
            <a:avLst>
              <a:gd name="adj" fmla="val 2222"/>
            </a:avLst>
          </a:prstGeom>
          <a:solidFill>
            <a:srgbClr val="F4FAF9"/>
          </a:solidFill>
          <a:ln w="12700">
            <a:solidFill>
              <a:srgbClr val="CFE3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8191500" y="4311180"/>
            <a:ext cx="3857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6F63"/>
                </a:solidFill>
                <a:latin typeface="Calibri"/>
              </a:rPr>
              <a:t>BEST WAY TO USE THIS SLIDE</a:t>
            </a:r>
          </a:p>
        </p:txBody>
      </p:sp>
      <p:cxnSp>
        <p:nvCxnSpPr>
          <p:cNvPr id="161" name="Connector 160"/>
          <p:cNvCxnSpPr/>
          <p:nvPr/>
        </p:nvCxnSpPr>
        <p:spPr>
          <a:xfrm>
            <a:off x="8343900" y="4548478"/>
            <a:ext cx="3552825" cy="0"/>
          </a:xfrm>
          <a:prstGeom prst="line">
            <a:avLst/>
          </a:prstGeom>
          <a:ln w="12700">
            <a:solidFill>
              <a:srgbClr val="CFE3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2" name="Oval 161"/>
          <p:cNvSpPr/>
          <p:nvPr/>
        </p:nvSpPr>
        <p:spPr>
          <a:xfrm>
            <a:off x="8372475" y="4721889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TextBox 162"/>
          <p:cNvSpPr txBox="1"/>
          <p:nvPr/>
        </p:nvSpPr>
        <p:spPr>
          <a:xfrm>
            <a:off x="8372475" y="4767523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743950" y="4694508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Rank companies by impact on category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8372475" y="5360768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372475" y="5406402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📄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743950" y="5333387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Mention the one move that explains their impact</a:t>
            </a:r>
          </a:p>
        </p:txBody>
      </p:sp>
      <p:sp>
        <p:nvSpPr>
          <p:cNvPr id="168" name="Oval 167"/>
          <p:cNvSpPr/>
          <p:nvPr/>
        </p:nvSpPr>
        <p:spPr>
          <a:xfrm>
            <a:off x="8372475" y="5999647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8372475" y="6045282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🚫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8743950" y="5972267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Do not rely on market share alone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1015" y="6052078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6445" y="6052078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1875" y="6052078"/>
            <a:ext cx="128699" cy="187198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57305" y="6052078"/>
            <a:ext cx="128699" cy="187198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2735" y="6052078"/>
            <a:ext cx="128699" cy="187198"/>
          </a:xfrm>
          <a:prstGeom prst="rect">
            <a:avLst/>
          </a:prstGeom>
        </p:spPr>
      </p:pic>
      <p:sp>
        <p:nvSpPr>
          <p:cNvPr id="177" name="TextBox 176"/>
          <p:cNvSpPr txBox="1"/>
          <p:nvPr/>
        </p:nvSpPr>
        <p:spPr>
          <a:xfrm>
            <a:off x="4572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4083" y="2391038"/>
            <a:ext cx="92663" cy="134782"/>
          </a:xfrm>
          <a:prstGeom prst="rect">
            <a:avLst/>
          </a:prstGeom>
        </p:spPr>
      </p:pic>
      <p:sp>
        <p:nvSpPr>
          <p:cNvPr id="179" name="TextBox 178"/>
          <p:cNvSpPr txBox="1"/>
          <p:nvPr/>
        </p:nvSpPr>
        <p:spPr>
          <a:xfrm>
            <a:off x="28575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94383" y="2391038"/>
            <a:ext cx="92663" cy="134782"/>
          </a:xfrm>
          <a:prstGeom prst="rect">
            <a:avLst/>
          </a:prstGeom>
        </p:spPr>
      </p:pic>
      <p:sp>
        <p:nvSpPr>
          <p:cNvPr id="181" name="TextBox 180"/>
          <p:cNvSpPr txBox="1"/>
          <p:nvPr/>
        </p:nvSpPr>
        <p:spPr>
          <a:xfrm>
            <a:off x="52578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4683" y="2391038"/>
            <a:ext cx="92663" cy="134782"/>
          </a:xfrm>
          <a:prstGeom prst="rect">
            <a:avLst/>
          </a:prstGeom>
        </p:spPr>
      </p:pic>
      <p:sp>
        <p:nvSpPr>
          <p:cNvPr id="183" name="TextBox 182"/>
          <p:cNvSpPr txBox="1"/>
          <p:nvPr/>
        </p:nvSpPr>
        <p:spPr>
          <a:xfrm>
            <a:off x="76581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94983" y="2391038"/>
            <a:ext cx="92663" cy="134782"/>
          </a:xfrm>
          <a:prstGeom prst="rect">
            <a:avLst/>
          </a:prstGeom>
        </p:spPr>
      </p:pic>
      <p:sp>
        <p:nvSpPr>
          <p:cNvPr id="185" name="TextBox 184"/>
          <p:cNvSpPr txBox="1"/>
          <p:nvPr/>
        </p:nvSpPr>
        <p:spPr>
          <a:xfrm>
            <a:off x="100584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5283" y="2391038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5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Grupo Bimbo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Grupo Bimbo Penetration &amp; Win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Grupo Bimbo SWOT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Grupo Bimbo Key Financials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Grupo Bimbo Strategy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Grupo Bimbo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Grupo Bimbo: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8607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26246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Grupo Bimbo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50037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025146" y="5204877"/>
            <a:ext cx="35571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714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'North America' is the largest SOM region; 'Rest of Global'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366747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541856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Grupo Bimbo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Grupo Bimbo: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359287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645037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Grupo Bimbo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597914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01828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90601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27425" y="2314517"/>
            <a:ext cx="199521" cy="290213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5788995"/>
            <a:ext cx="74560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'Rest of Global' shows the highest SAM penetration; lower-penetration regions are the growth headroom.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~95-day sales cycle and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80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Grupo Bimbo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Grupo Bimbo: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Grupo Bimbo: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'North America'.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'Rest of Global',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'Sweet muffins'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5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Grupo Bimbo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Grupo Bimbo's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Grupo Bimbo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Grupo Bimbo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Grupo Bimbo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50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59260"/>
                <a:gridCol w="805438"/>
                <a:gridCol w="805438"/>
                <a:gridCol w="805438"/>
                <a:gridCol w="805438"/>
                <a:gridCol w="80543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Grupo Bimbo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68454"/>
                <a:gridCol w="1380423"/>
                <a:gridCol w="138042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2629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2629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38564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7248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Grupo Bimbo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Grupo Bimbo's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Grupo Bimbo: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global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5519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'Retail' Grupo Bimbo's strongest end-market while scaling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16559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30773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'Rest of Global'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02735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477844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1739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'Sweet muffins' and adjacent high-value lines to lift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0346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2196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'North America' (largest SOM region) and build out under-served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081686"/>
            <a:ext cx="838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geographies.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48478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88788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334125" y="411572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~95-day sales cycle and ~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410549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9560561" y="411572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5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McKee Foods Corporation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McKee Foods Corporation: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8607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33805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McKee Foods Corporation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5888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780998" y="5204877"/>
            <a:ext cx="37071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'Vending'.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70985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'Rest of Global' is the largest SOM region; 'Rest of Global'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323959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499068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McKee Foods Corporation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McKee Foods Corporation: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629688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915438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McKee Foods Corporation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686687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0705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728466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27425" y="2314517"/>
            <a:ext cx="199521" cy="290213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5788995"/>
            <a:ext cx="74560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'Rest of Global' shows the highest SAM penetration; lower-penetration regions are the growth headroom.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~90-day sales cycle and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80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McKee Foods Corporation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McKee Foods Corporation: strengths, weaknesses, opportunities and threats shaping its competitive…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McKee Foods Corporation: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'Rest of Global'.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'Rest of Global',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'Sweet muffins'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5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McKee Foods Corporation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McKee Foods Corporation's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McKee Foods Corporation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McKee Foods Corporation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McKee Foods Corporation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50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59260"/>
                <a:gridCol w="805438"/>
                <a:gridCol w="805438"/>
                <a:gridCol w="805438"/>
                <a:gridCol w="805438"/>
                <a:gridCol w="80543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McKee Foods Corporation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68454"/>
                <a:gridCol w="1380423"/>
                <a:gridCol w="138042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2629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2629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38564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7248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McKee Foods Corporation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McKee Foods Corporation's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McKee Foods Corporation: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global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6197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'Vending' McKee Foods Corporation's strongest end-market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24449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30773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'Rest of Global'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02735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477844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1739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'Sweet muffins' and adjacent high-value lines to lift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0346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1768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'Rest of Global' (largest SOM region) and build out under-served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081686"/>
            <a:ext cx="838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geographies.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48478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88788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334125" y="411572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~90-day sales cycle and ~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410549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9560561" y="411572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5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Hostess Brands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Hostess Brands: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8607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27393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Hostess Brands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964709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139818" y="5204877"/>
            <a:ext cx="37071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'Vending'.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70985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'Rest of Global' is the largest SOM region; 'Rest of Global'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323959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499068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Hostess Brands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Hostess Brands: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900089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8185839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Hostess Brands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775460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95828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550920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27425" y="2314517"/>
            <a:ext cx="199521" cy="290213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5788995"/>
            <a:ext cx="74560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'Rest of Global' shows the highest SAM penetration; lower-penetration regions are the growth headroom.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~85-day sales cycle and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80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Hostess Brands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Hostess Brands: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Hostess Brands: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'Rest of Global'.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'Rest of Global',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'Sweet muffins'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5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Hostess Brands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Hostess Brands's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Hostess Brands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Hostess Brands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Hostess Brands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50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59260"/>
                <a:gridCol w="805438"/>
                <a:gridCol w="805438"/>
                <a:gridCol w="805438"/>
                <a:gridCol w="805438"/>
                <a:gridCol w="80543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Hostess Brands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68454"/>
                <a:gridCol w="1380423"/>
                <a:gridCol w="138042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2629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2629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38564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7248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Hostess Brands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Hostess Brands's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Hostess Brands: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global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381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'Vending' Hostess Brands's strongest end-market while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2090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30773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'Rest of Global'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02735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477844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1739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'Sweet muffins' and adjacent high-value lines to lift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0346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1768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'Rest of Global' (largest SOM region) and build out under-served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081686"/>
            <a:ext cx="838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geographies.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48478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88788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334125" y="411572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~85-day sales cycle and ~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410549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9560561" y="411572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70">
      <a:dk1>
        <a:sysClr val="windowText" lastClr="000000"/>
      </a:dk1>
      <a:lt1>
        <a:sysClr val="window" lastClr="FFFFFF"/>
      </a:lt1>
      <a:dk2>
        <a:srgbClr val="000000"/>
      </a:dk2>
      <a:lt2>
        <a:srgbClr val="F8F8F8"/>
      </a:lt2>
      <a:accent1>
        <a:srgbClr val="3D85C6"/>
      </a:accent1>
      <a:accent2>
        <a:srgbClr val="9E7E0A"/>
      </a:accent2>
      <a:accent3>
        <a:srgbClr val="40315E"/>
      </a:accent3>
      <a:accent4>
        <a:srgbClr val="008189"/>
      </a:accent4>
      <a:accent5>
        <a:srgbClr val="A35313"/>
      </a:accent5>
      <a:accent6>
        <a:srgbClr val="5F5F5F"/>
      </a:accent6>
      <a:hlink>
        <a:srgbClr val="5F5F5F"/>
      </a:hlink>
      <a:folHlink>
        <a:srgbClr val="919191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